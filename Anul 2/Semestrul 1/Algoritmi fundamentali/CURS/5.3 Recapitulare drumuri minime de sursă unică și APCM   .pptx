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Merriweather-italic.fntdata"/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Roboto-italic.fntdata"/><Relationship Id="rId21" Type="http://schemas.openxmlformats.org/officeDocument/2006/relationships/font" Target="fonts/RobotoMono-bold.fntdata"/><Relationship Id="rId3" Type="http://schemas.openxmlformats.org/officeDocument/2006/relationships/presProps" Target="presProps.xml"/><Relationship Id="rId25" Type="http://schemas.openxmlformats.org/officeDocument/2006/relationships/font" Target="fonts/Merriweather-bold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Roboto-bold.fntdata"/><Relationship Id="rId20" Type="http://schemas.openxmlformats.org/officeDocument/2006/relationships/font" Target="fonts/RobotoMono-regular.fntdata"/><Relationship Id="rId2" Type="http://schemas.openxmlformats.org/officeDocument/2006/relationships/viewProps" Target="viewProps.xml"/><Relationship Id="rId16" Type="http://schemas.openxmlformats.org/officeDocument/2006/relationships/font" Target="fonts/Roboto-regular.fntdata"/><Relationship Id="rId29" Type="http://schemas.openxmlformats.org/officeDocument/2006/relationships/customXml" Target="../customXml/item2.xml"/><Relationship Id="rId24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3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28" Type="http://schemas.openxmlformats.org/officeDocument/2006/relationships/customXml" Target="../customXml/item1.xml"/><Relationship Id="rId10" Type="http://schemas.openxmlformats.org/officeDocument/2006/relationships/slide" Target="slides/slide5.xml"/><Relationship Id="rId19" Type="http://schemas.openxmlformats.org/officeDocument/2006/relationships/font" Target="fonts/Roboto-boldItalic.fntdata"/><Relationship Id="rId22" Type="http://schemas.openxmlformats.org/officeDocument/2006/relationships/font" Target="fonts/RobotoMono-italic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font" Target="fonts/Merriweather-boldItalic.fntdata"/><Relationship Id="rId14" Type="http://schemas.openxmlformats.org/officeDocument/2006/relationships/slide" Target="slides/slide9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3" name="Google Shape;23;p5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Google Shape;29;p6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7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8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0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0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719350" y="531725"/>
            <a:ext cx="6066600" cy="17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Concluzii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sursă unică - algoritmi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Algoritmi - G=(V, E) graf orientat</a:t>
            </a:r>
            <a:endParaRPr/>
          </a:p>
        </p:txBody>
      </p:sp>
      <p:cxnSp>
        <p:nvCxnSpPr>
          <p:cNvPr id="78" name="Google Shape;78;p17"/>
          <p:cNvCxnSpPr/>
          <p:nvPr/>
        </p:nvCxnSpPr>
        <p:spPr>
          <a:xfrm>
            <a:off x="2865250" y="798250"/>
            <a:ext cx="0" cy="426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7"/>
          <p:cNvSpPr txBox="1"/>
          <p:nvPr/>
        </p:nvSpPr>
        <p:spPr>
          <a:xfrm>
            <a:off x="82850" y="683525"/>
            <a:ext cx="26886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neponderat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Parcurgere în lățime (BF)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coada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C ← ∅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adauga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(s, C)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17"/>
          <p:cNvCxnSpPr/>
          <p:nvPr/>
        </p:nvCxnSpPr>
        <p:spPr>
          <a:xfrm>
            <a:off x="5989450" y="798250"/>
            <a:ext cx="0" cy="426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17"/>
          <p:cNvSpPr txBox="1"/>
          <p:nvPr/>
        </p:nvSpPr>
        <p:spPr>
          <a:xfrm>
            <a:off x="6145100" y="683525"/>
            <a:ext cx="2950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ponderat fără circuite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DAGS(s)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SortTop ←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sortare_topologica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(G)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2944700" y="683525"/>
            <a:ext cx="2950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ponderat, ponderi &gt; 0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Algoritmul lui Dijkstra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Dijkstra(s)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min-heap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Q ← 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se putea începe doar cu </a:t>
            </a:r>
            <a:r>
              <a:rPr b="1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Q ← {s}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+ vector viz; </a:t>
            </a:r>
            <a:r>
              <a:rPr b="1" i="0" lang="en-GB" sz="10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v∈Q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 ⇔ v nevizitat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17"/>
          <p:cNvCxnSpPr/>
          <p:nvPr/>
        </p:nvCxnSpPr>
        <p:spPr>
          <a:xfrm>
            <a:off x="83275" y="2227475"/>
            <a:ext cx="90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4" name="Google Shape;84;p17"/>
          <p:cNvCxnSpPr/>
          <p:nvPr/>
        </p:nvCxnSpPr>
        <p:spPr>
          <a:xfrm>
            <a:off x="83275" y="2989475"/>
            <a:ext cx="90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5" name="Google Shape;85;p17"/>
          <p:cNvCxnSpPr/>
          <p:nvPr/>
        </p:nvCxnSpPr>
        <p:spPr>
          <a:xfrm>
            <a:off x="83275" y="4513475"/>
            <a:ext cx="90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6" name="Google Shape;86;p17"/>
          <p:cNvCxnSpPr/>
          <p:nvPr/>
        </p:nvCxnSpPr>
        <p:spPr>
          <a:xfrm>
            <a:off x="83275" y="4818275"/>
            <a:ext cx="9024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Algoritmi - G=(V, E) graf orientat</a:t>
            </a:r>
            <a:endParaRPr/>
          </a:p>
        </p:txBody>
      </p:sp>
      <p:cxnSp>
        <p:nvCxnSpPr>
          <p:cNvPr id="92" name="Google Shape;92;p18"/>
          <p:cNvCxnSpPr/>
          <p:nvPr/>
        </p:nvCxnSpPr>
        <p:spPr>
          <a:xfrm>
            <a:off x="2865250" y="798250"/>
            <a:ext cx="0" cy="426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8"/>
          <p:cNvSpPr txBox="1"/>
          <p:nvPr/>
        </p:nvSpPr>
        <p:spPr>
          <a:xfrm>
            <a:off x="82850" y="683525"/>
            <a:ext cx="26886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neponderat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Parcurgere în lățime (BF)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coada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C ← ∅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adauga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(s, C)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u∈V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d[u]=∞; tata[u]=viz[u]=0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viz[s]=1; d[s]=0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18"/>
          <p:cNvCxnSpPr/>
          <p:nvPr/>
        </p:nvCxnSpPr>
        <p:spPr>
          <a:xfrm>
            <a:off x="5989450" y="798250"/>
            <a:ext cx="0" cy="426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18"/>
          <p:cNvSpPr txBox="1"/>
          <p:nvPr/>
        </p:nvSpPr>
        <p:spPr>
          <a:xfrm>
            <a:off x="6145100" y="683525"/>
            <a:ext cx="2950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ponderat fără circuite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DAGS(s)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SortTop ←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sortare_topologica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(G)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u∈V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d[u]=∞; tata[u]=0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2944700" y="683525"/>
            <a:ext cx="2950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ponderat, ponderi &gt; 0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Algoritmul lui Dijkstra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Dijkstra(s)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min-heap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Q ← 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se putea începe doar cu </a:t>
            </a:r>
            <a:r>
              <a:rPr b="1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Q ← {s}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+ vector viz; </a:t>
            </a:r>
            <a:r>
              <a:rPr b="1" i="0" lang="en-GB" sz="10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v∈Q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 ⇔ v nevizitat</a:t>
            </a:r>
            <a:endParaRPr b="0" i="0" sz="10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u∈V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d[u]=∞; tata[u]=0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18"/>
          <p:cNvCxnSpPr/>
          <p:nvPr/>
        </p:nvCxnSpPr>
        <p:spPr>
          <a:xfrm>
            <a:off x="83275" y="2227475"/>
            <a:ext cx="90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8" name="Google Shape;98;p18"/>
          <p:cNvCxnSpPr/>
          <p:nvPr/>
        </p:nvCxnSpPr>
        <p:spPr>
          <a:xfrm>
            <a:off x="83275" y="2989475"/>
            <a:ext cx="90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" name="Google Shape;99;p18"/>
          <p:cNvCxnSpPr/>
          <p:nvPr/>
        </p:nvCxnSpPr>
        <p:spPr>
          <a:xfrm>
            <a:off x="83275" y="4513475"/>
            <a:ext cx="90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0" name="Google Shape;100;p18"/>
          <p:cNvCxnSpPr/>
          <p:nvPr/>
        </p:nvCxnSpPr>
        <p:spPr>
          <a:xfrm>
            <a:off x="83275" y="4818275"/>
            <a:ext cx="9024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Algoritmi - G=(V, E) graf orientat</a:t>
            </a:r>
            <a:endParaRPr/>
          </a:p>
        </p:txBody>
      </p:sp>
      <p:cxnSp>
        <p:nvCxnSpPr>
          <p:cNvPr id="106" name="Google Shape;106;p19"/>
          <p:cNvCxnSpPr/>
          <p:nvPr/>
        </p:nvCxnSpPr>
        <p:spPr>
          <a:xfrm>
            <a:off x="2865250" y="798250"/>
            <a:ext cx="0" cy="426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19"/>
          <p:cNvSpPr txBox="1"/>
          <p:nvPr/>
        </p:nvSpPr>
        <p:spPr>
          <a:xfrm>
            <a:off x="82850" y="683525"/>
            <a:ext cx="26886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neponderat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Parcurgere în lățime (BF)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coada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C ← ∅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adauga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(s, C)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u∈V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d[u]=∞; tata[u]=viz[u]=0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viz[s]=1; d[s]=0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C ≠ ∅</a:t>
            </a:r>
            <a:endParaRPr b="0" i="0" sz="10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u ←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extrage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(C)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uv∈E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19"/>
          <p:cNvCxnSpPr/>
          <p:nvPr/>
        </p:nvCxnSpPr>
        <p:spPr>
          <a:xfrm>
            <a:off x="5989450" y="798250"/>
            <a:ext cx="0" cy="426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19"/>
          <p:cNvSpPr txBox="1"/>
          <p:nvPr/>
        </p:nvSpPr>
        <p:spPr>
          <a:xfrm>
            <a:off x="6145100" y="683525"/>
            <a:ext cx="29508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ponderat fără circuite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DAGS(s)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SortTop ←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sortare_topologica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(G)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u∈V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d[u]=∞; tata[u]=0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u∈SortTop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b="1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uv∈E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2944700" y="683525"/>
            <a:ext cx="29508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ponderat, ponderi &gt; 0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Algoritmul lui Dijkstra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Dijkstra(s)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min-heap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Q ← 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se putea începe doar cu </a:t>
            </a:r>
            <a:r>
              <a:rPr b="1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Q ← {s}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+ vector viz; </a:t>
            </a:r>
            <a:r>
              <a:rPr b="1" i="0" lang="en-GB" sz="10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v∈Q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 ⇔ v nevizitat</a:t>
            </a:r>
            <a:endParaRPr b="0" i="0" sz="10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u∈V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d[u]=∞; tata[u]=0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cât timp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Q ≠ ∅</a:t>
            </a:r>
            <a:endParaRPr b="0" i="0" sz="10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 =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extrage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(Q) vârf cu </a:t>
            </a:r>
            <a:b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  eticheta d minimă</a:t>
            </a:r>
            <a:b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uv∈E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19"/>
          <p:cNvCxnSpPr/>
          <p:nvPr/>
        </p:nvCxnSpPr>
        <p:spPr>
          <a:xfrm>
            <a:off x="83275" y="2227475"/>
            <a:ext cx="90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" name="Google Shape;112;p19"/>
          <p:cNvCxnSpPr/>
          <p:nvPr/>
        </p:nvCxnSpPr>
        <p:spPr>
          <a:xfrm>
            <a:off x="83275" y="2989475"/>
            <a:ext cx="90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3" name="Google Shape;113;p19"/>
          <p:cNvCxnSpPr/>
          <p:nvPr/>
        </p:nvCxnSpPr>
        <p:spPr>
          <a:xfrm>
            <a:off x="83275" y="4513475"/>
            <a:ext cx="90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4" name="Google Shape;114;p19"/>
          <p:cNvCxnSpPr/>
          <p:nvPr/>
        </p:nvCxnSpPr>
        <p:spPr>
          <a:xfrm>
            <a:off x="83275" y="4818275"/>
            <a:ext cx="9024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Algoritmi - G=(V, E) graf orientat</a:t>
            </a:r>
            <a:endParaRPr/>
          </a:p>
        </p:txBody>
      </p:sp>
      <p:cxnSp>
        <p:nvCxnSpPr>
          <p:cNvPr id="120" name="Google Shape;120;p20"/>
          <p:cNvCxnSpPr/>
          <p:nvPr/>
        </p:nvCxnSpPr>
        <p:spPr>
          <a:xfrm>
            <a:off x="2865250" y="798250"/>
            <a:ext cx="0" cy="426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20"/>
          <p:cNvSpPr txBox="1"/>
          <p:nvPr/>
        </p:nvSpPr>
        <p:spPr>
          <a:xfrm>
            <a:off x="82850" y="683525"/>
            <a:ext cx="26886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neponderat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Parcurgere în lățime (BF)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coada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C ← ∅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adauga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(s, C)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u∈V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d[u]=∞; tata[u]=viz[u]=0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viz[s]=1; d[s]=0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C ≠ ∅</a:t>
            </a:r>
            <a:endParaRPr b="0" i="0" sz="10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u ←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extrage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(C)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uv∈E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  </a:t>
            </a: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viz[v] = 0</a:t>
            </a:r>
            <a:endParaRPr b="0" i="0" sz="10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d[v] = d[</a:t>
            </a:r>
            <a:r>
              <a:rPr lang="en-GB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] + 1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tata[v]=u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adauga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(v, C)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viz[v]=1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scrie d, tata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p20"/>
          <p:cNvCxnSpPr/>
          <p:nvPr/>
        </p:nvCxnSpPr>
        <p:spPr>
          <a:xfrm>
            <a:off x="5989450" y="798250"/>
            <a:ext cx="0" cy="426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20"/>
          <p:cNvSpPr txBox="1"/>
          <p:nvPr/>
        </p:nvSpPr>
        <p:spPr>
          <a:xfrm>
            <a:off x="6145100" y="683525"/>
            <a:ext cx="29508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ponderat fără circuite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DAGS(s)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SortTop ←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sortare_topologica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(G)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u∈V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d[u]=∞; tata[u]=0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u∈SortTop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b="1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uv∈E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d[u]+w(u,v) &lt; d[v]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      d[v] = d[u] + w(u,v)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tata[v] = u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scrie d, tata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2944700" y="683525"/>
            <a:ext cx="29508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ponderat, ponderi &gt; 0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Algoritmul lui Dijkstra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Dijkstra(s)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min-heap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Q ← 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se putea începe doar cu </a:t>
            </a:r>
            <a:r>
              <a:rPr b="1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Q ← {s}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+ vector viz; </a:t>
            </a:r>
            <a:r>
              <a:rPr b="1" i="0" lang="en-GB" sz="10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v∈Q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 ⇔ v nevizitat</a:t>
            </a:r>
            <a:endParaRPr b="0" i="0" sz="10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u∈V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d[u]=∞; tata[u]=0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cât timp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Q ≠ ∅</a:t>
            </a:r>
            <a:endParaRPr b="0" i="0" sz="10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 =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extrage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(Q) vârf cu </a:t>
            </a:r>
            <a:b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  eticheta d minimă</a:t>
            </a:r>
            <a:b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uv∈E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n-GB" sz="1000" u="none" cap="none" strike="sng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v∈Q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și d[u]+w(u,v)&lt;d[v]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d[v] = d[u] + w(u,v)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      tata[v] = u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     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adauga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(v, Q) // eventual modifica valoarea daca se poate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scrie d, tata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20"/>
          <p:cNvCxnSpPr/>
          <p:nvPr/>
        </p:nvCxnSpPr>
        <p:spPr>
          <a:xfrm>
            <a:off x="83275" y="2227475"/>
            <a:ext cx="90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" name="Google Shape;126;p20"/>
          <p:cNvCxnSpPr/>
          <p:nvPr/>
        </p:nvCxnSpPr>
        <p:spPr>
          <a:xfrm>
            <a:off x="83275" y="2989475"/>
            <a:ext cx="90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7" name="Google Shape;127;p20"/>
          <p:cNvCxnSpPr/>
          <p:nvPr/>
        </p:nvCxnSpPr>
        <p:spPr>
          <a:xfrm>
            <a:off x="83275" y="4513475"/>
            <a:ext cx="90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8" name="Google Shape;128;p20"/>
          <p:cNvCxnSpPr/>
          <p:nvPr/>
        </p:nvCxnSpPr>
        <p:spPr>
          <a:xfrm>
            <a:off x="83275" y="4818275"/>
            <a:ext cx="9024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Algoritmi - G=(V, E) graf orientat</a:t>
            </a:r>
            <a:endParaRPr/>
          </a:p>
        </p:txBody>
      </p:sp>
      <p:cxnSp>
        <p:nvCxnSpPr>
          <p:cNvPr id="134" name="Google Shape;134;p21"/>
          <p:cNvCxnSpPr/>
          <p:nvPr/>
        </p:nvCxnSpPr>
        <p:spPr>
          <a:xfrm>
            <a:off x="2865250" y="798250"/>
            <a:ext cx="0" cy="426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21"/>
          <p:cNvSpPr txBox="1"/>
          <p:nvPr/>
        </p:nvSpPr>
        <p:spPr>
          <a:xfrm>
            <a:off x="82850" y="683525"/>
            <a:ext cx="26886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neponderat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Parcurgere în lățime (BF)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coada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C ← ∅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adauga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(s, C)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u∈V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d[u]=∞; tata[u]=viz[u]=0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viz[s]=1; d[s]=0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C ≠ ∅</a:t>
            </a:r>
            <a:endParaRPr b="0" i="0" sz="10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u ←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extrage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(C)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uv∈E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  </a:t>
            </a: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viz[v] = 0</a:t>
            </a:r>
            <a:endParaRPr b="0" i="0" sz="10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d[v] = d[</a:t>
            </a:r>
            <a:r>
              <a:rPr lang="en-GB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] + 1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tata[v]=u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adauga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(v, C)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viz[v]=1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scrie d, tata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         </a:t>
            </a: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O(n + m)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p21"/>
          <p:cNvCxnSpPr/>
          <p:nvPr/>
        </p:nvCxnSpPr>
        <p:spPr>
          <a:xfrm>
            <a:off x="5989450" y="798250"/>
            <a:ext cx="0" cy="426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21"/>
          <p:cNvSpPr txBox="1"/>
          <p:nvPr/>
        </p:nvSpPr>
        <p:spPr>
          <a:xfrm>
            <a:off x="6145100" y="683525"/>
            <a:ext cx="29508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ponderat fără circuite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DAGS(s)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SortTop ←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sortare_topologica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(G)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u∈V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d[u]=∞; tata[u]=0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u∈SortTop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b="1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uv∈E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d[u]+w(u,v) &lt; d[v]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      d[v] = d[u] + w(u,v)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tata[v] = u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scrie d, tata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O(n + m)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2944700" y="683525"/>
            <a:ext cx="29508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ponderat, ponderi &gt; 0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Algoritmul lui Dijkstra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Dijkstra(s)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min-heap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Q ← 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se putea începe doar cu </a:t>
            </a:r>
            <a:r>
              <a:rPr b="1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Q ← {s}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+ vector viz; </a:t>
            </a:r>
            <a:r>
              <a:rPr b="1" i="0" lang="en-GB" sz="10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v∈Q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 ⇔ v nevizitat</a:t>
            </a:r>
            <a:endParaRPr b="0" i="0" sz="10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u∈V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d[u]=∞; tata[u]=0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cât timp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Q ≠ ∅</a:t>
            </a:r>
            <a:endParaRPr b="0" i="0" sz="10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 =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extrage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(Q) vârf cu </a:t>
            </a:r>
            <a:b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  eticheta d minimă</a:t>
            </a:r>
            <a:b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uv∈E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n-GB" sz="1000" u="none" cap="none" strike="sng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v∈Q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și d[u]+w(u,v)&lt;d[v]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d[v] = d[u] + w(u,v)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      tata[v] = u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     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repara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(v, Q)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scrie d, tata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  </a:t>
            </a: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 log n)  /  O(n</a:t>
            </a:r>
            <a:r>
              <a:rPr b="1" baseline="3000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 /  O(n log n + m)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21"/>
          <p:cNvCxnSpPr/>
          <p:nvPr/>
        </p:nvCxnSpPr>
        <p:spPr>
          <a:xfrm>
            <a:off x="83275" y="2227475"/>
            <a:ext cx="90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" name="Google Shape;140;p21"/>
          <p:cNvCxnSpPr/>
          <p:nvPr/>
        </p:nvCxnSpPr>
        <p:spPr>
          <a:xfrm>
            <a:off x="83275" y="2989475"/>
            <a:ext cx="90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1" name="Google Shape;141;p21"/>
          <p:cNvCxnSpPr/>
          <p:nvPr/>
        </p:nvCxnSpPr>
        <p:spPr>
          <a:xfrm>
            <a:off x="83275" y="4513475"/>
            <a:ext cx="90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2" name="Google Shape;142;p21"/>
          <p:cNvCxnSpPr/>
          <p:nvPr/>
        </p:nvCxnSpPr>
        <p:spPr>
          <a:xfrm>
            <a:off x="83275" y="4818275"/>
            <a:ext cx="9024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/>
              <a:t>Drumuri minime vs APCM</a:t>
            </a:r>
            <a:endParaRPr sz="2820"/>
          </a:p>
        </p:txBody>
      </p:sp>
      <p:cxnSp>
        <p:nvCxnSpPr>
          <p:cNvPr id="148" name="Google Shape;148;p22"/>
          <p:cNvCxnSpPr/>
          <p:nvPr/>
        </p:nvCxnSpPr>
        <p:spPr>
          <a:xfrm>
            <a:off x="2321650" y="1109625"/>
            <a:ext cx="0" cy="39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9" name="Google Shape;149;p22"/>
          <p:cNvGrpSpPr/>
          <p:nvPr/>
        </p:nvGrpSpPr>
        <p:grpSpPr>
          <a:xfrm>
            <a:off x="228600" y="2087053"/>
            <a:ext cx="1836600" cy="1380875"/>
            <a:chOff x="228600" y="2087053"/>
            <a:chExt cx="1836600" cy="1380875"/>
          </a:xfrm>
        </p:grpSpPr>
        <p:sp>
          <p:nvSpPr>
            <p:cNvPr id="150" name="Google Shape;150;p22"/>
            <p:cNvSpPr/>
            <p:nvPr/>
          </p:nvSpPr>
          <p:spPr>
            <a:xfrm>
              <a:off x="553525" y="2216976"/>
              <a:ext cx="282300" cy="270900"/>
            </a:xfrm>
            <a:prstGeom prst="ellipse">
              <a:avLst/>
            </a:prstGeom>
            <a:noFill/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2"/>
            <p:cNvSpPr/>
            <p:nvPr/>
          </p:nvSpPr>
          <p:spPr>
            <a:xfrm>
              <a:off x="1782900" y="2487342"/>
              <a:ext cx="282300" cy="270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2"/>
            <p:cNvSpPr txBox="1"/>
            <p:nvPr/>
          </p:nvSpPr>
          <p:spPr>
            <a:xfrm>
              <a:off x="1224336" y="2087053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2"/>
            <p:cNvSpPr/>
            <p:nvPr/>
          </p:nvSpPr>
          <p:spPr>
            <a:xfrm>
              <a:off x="228600" y="2797442"/>
              <a:ext cx="282300" cy="270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2"/>
            <p:cNvSpPr/>
            <p:nvPr/>
          </p:nvSpPr>
          <p:spPr>
            <a:xfrm>
              <a:off x="1065725" y="3068342"/>
              <a:ext cx="282300" cy="270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" name="Google Shape;155;p22"/>
            <p:cNvCxnSpPr>
              <a:stCxn id="150" idx="6"/>
              <a:endCxn id="151" idx="1"/>
            </p:cNvCxnSpPr>
            <p:nvPr/>
          </p:nvCxnSpPr>
          <p:spPr>
            <a:xfrm>
              <a:off x="835825" y="2352426"/>
              <a:ext cx="988500" cy="17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2"/>
            <p:cNvCxnSpPr>
              <a:stCxn id="150" idx="3"/>
              <a:endCxn id="153" idx="0"/>
            </p:cNvCxnSpPr>
            <p:nvPr/>
          </p:nvCxnSpPr>
          <p:spPr>
            <a:xfrm flipH="1">
              <a:off x="369867" y="2448204"/>
              <a:ext cx="225000" cy="349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2"/>
            <p:cNvCxnSpPr>
              <a:stCxn id="150" idx="4"/>
              <a:endCxn id="154" idx="0"/>
            </p:cNvCxnSpPr>
            <p:nvPr/>
          </p:nvCxnSpPr>
          <p:spPr>
            <a:xfrm>
              <a:off x="694675" y="2487876"/>
              <a:ext cx="512100" cy="580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2"/>
            <p:cNvCxnSpPr>
              <a:stCxn id="153" idx="5"/>
              <a:endCxn id="154" idx="2"/>
            </p:cNvCxnSpPr>
            <p:nvPr/>
          </p:nvCxnSpPr>
          <p:spPr>
            <a:xfrm>
              <a:off x="469558" y="3028670"/>
              <a:ext cx="596100" cy="175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2"/>
            <p:cNvCxnSpPr>
              <a:stCxn id="151" idx="3"/>
              <a:endCxn id="154" idx="7"/>
            </p:cNvCxnSpPr>
            <p:nvPr/>
          </p:nvCxnSpPr>
          <p:spPr>
            <a:xfrm flipH="1">
              <a:off x="1306742" y="2718570"/>
              <a:ext cx="517500" cy="389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2"/>
            <p:cNvCxnSpPr>
              <a:stCxn id="153" idx="6"/>
              <a:endCxn id="151" idx="2"/>
            </p:cNvCxnSpPr>
            <p:nvPr/>
          </p:nvCxnSpPr>
          <p:spPr>
            <a:xfrm flipH="1" rot="10800000">
              <a:off x="510900" y="2622692"/>
              <a:ext cx="1272000" cy="310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1" name="Google Shape;161;p22"/>
            <p:cNvSpPr txBox="1"/>
            <p:nvPr/>
          </p:nvSpPr>
          <p:spPr>
            <a:xfrm>
              <a:off x="1569236" y="2758253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2"/>
            <p:cNvSpPr txBox="1"/>
            <p:nvPr/>
          </p:nvSpPr>
          <p:spPr>
            <a:xfrm>
              <a:off x="264011" y="2352428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2"/>
            <p:cNvSpPr txBox="1"/>
            <p:nvPr/>
          </p:nvSpPr>
          <p:spPr>
            <a:xfrm>
              <a:off x="588936" y="3067728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2"/>
            <p:cNvSpPr txBox="1"/>
            <p:nvPr/>
          </p:nvSpPr>
          <p:spPr>
            <a:xfrm>
              <a:off x="784974" y="2352428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2"/>
            <p:cNvSpPr txBox="1"/>
            <p:nvPr/>
          </p:nvSpPr>
          <p:spPr>
            <a:xfrm>
              <a:off x="1186549" y="2422703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" name="Google Shape;166;p22"/>
          <p:cNvSpPr/>
          <p:nvPr/>
        </p:nvSpPr>
        <p:spPr>
          <a:xfrm>
            <a:off x="2786825" y="4121139"/>
            <a:ext cx="282300" cy="270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4016200" y="439150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3457636" y="3991215"/>
            <a:ext cx="21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2461900" y="470160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3422225" y="476510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22"/>
          <p:cNvCxnSpPr>
            <a:stCxn id="166" idx="6"/>
            <a:endCxn id="167" idx="1"/>
          </p:cNvCxnSpPr>
          <p:nvPr/>
        </p:nvCxnSpPr>
        <p:spPr>
          <a:xfrm>
            <a:off x="3069125" y="4256589"/>
            <a:ext cx="988500" cy="17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22"/>
          <p:cNvCxnSpPr>
            <a:stCxn id="166" idx="3"/>
            <a:endCxn id="169" idx="0"/>
          </p:cNvCxnSpPr>
          <p:nvPr/>
        </p:nvCxnSpPr>
        <p:spPr>
          <a:xfrm flipH="1">
            <a:off x="2603167" y="4352367"/>
            <a:ext cx="225000" cy="34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22"/>
          <p:cNvCxnSpPr>
            <a:stCxn id="166" idx="5"/>
            <a:endCxn id="170" idx="0"/>
          </p:cNvCxnSpPr>
          <p:nvPr/>
        </p:nvCxnSpPr>
        <p:spPr>
          <a:xfrm>
            <a:off x="3027783" y="4352367"/>
            <a:ext cx="535500" cy="41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22"/>
          <p:cNvSpPr txBox="1"/>
          <p:nvPr/>
        </p:nvSpPr>
        <p:spPr>
          <a:xfrm>
            <a:off x="2496511" y="4256590"/>
            <a:ext cx="21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3063174" y="4392040"/>
            <a:ext cx="21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216900" y="692950"/>
            <a:ext cx="87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Drumuri minime din s ⇒ arbore de drumuri minime (distanțe) din s ≠ APCM - minimizează costul total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22"/>
          <p:cNvCxnSpPr/>
          <p:nvPr/>
        </p:nvCxnSpPr>
        <p:spPr>
          <a:xfrm>
            <a:off x="5750650" y="1109625"/>
            <a:ext cx="0" cy="39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22"/>
          <p:cNvSpPr txBox="1"/>
          <p:nvPr/>
        </p:nvSpPr>
        <p:spPr>
          <a:xfrm>
            <a:off x="4458450" y="4130450"/>
            <a:ext cx="119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arbore al drumurilor minime față de 1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22"/>
          <p:cNvCxnSpPr/>
          <p:nvPr/>
        </p:nvCxnSpPr>
        <p:spPr>
          <a:xfrm>
            <a:off x="157800" y="1714650"/>
            <a:ext cx="882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0" name="Google Shape;180;p22"/>
          <p:cNvCxnSpPr/>
          <p:nvPr/>
        </p:nvCxnSpPr>
        <p:spPr>
          <a:xfrm>
            <a:off x="157800" y="4000650"/>
            <a:ext cx="882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1" name="Google Shape;181;p22"/>
          <p:cNvSpPr/>
          <p:nvPr/>
        </p:nvSpPr>
        <p:spPr>
          <a:xfrm>
            <a:off x="6667800" y="4055876"/>
            <a:ext cx="282300" cy="270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7127225" y="432125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6976761" y="3991215"/>
            <a:ext cx="21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6208375" y="432125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6208375" y="482040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22"/>
          <p:cNvCxnSpPr>
            <a:stCxn id="181" idx="6"/>
            <a:endCxn id="182" idx="1"/>
          </p:cNvCxnSpPr>
          <p:nvPr/>
        </p:nvCxnSpPr>
        <p:spPr>
          <a:xfrm>
            <a:off x="6950100" y="4191326"/>
            <a:ext cx="218400" cy="16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22"/>
          <p:cNvCxnSpPr>
            <a:stCxn id="181" idx="2"/>
            <a:endCxn id="184" idx="7"/>
          </p:cNvCxnSpPr>
          <p:nvPr/>
        </p:nvCxnSpPr>
        <p:spPr>
          <a:xfrm flipH="1">
            <a:off x="6449400" y="4191326"/>
            <a:ext cx="218400" cy="16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22"/>
          <p:cNvCxnSpPr>
            <a:stCxn id="184" idx="4"/>
            <a:endCxn id="185" idx="0"/>
          </p:cNvCxnSpPr>
          <p:nvPr/>
        </p:nvCxnSpPr>
        <p:spPr>
          <a:xfrm>
            <a:off x="6349525" y="4592154"/>
            <a:ext cx="0" cy="22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22"/>
          <p:cNvSpPr txBox="1"/>
          <p:nvPr/>
        </p:nvSpPr>
        <p:spPr>
          <a:xfrm>
            <a:off x="6341675" y="3991223"/>
            <a:ext cx="16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6090149" y="4506190"/>
            <a:ext cx="21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7716550" y="4157500"/>
            <a:ext cx="119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arbore parțial de cost minim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/>
              <a:t>Drumuri minime vs APCM</a:t>
            </a:r>
            <a:endParaRPr sz="2820"/>
          </a:p>
        </p:txBody>
      </p:sp>
      <p:cxnSp>
        <p:nvCxnSpPr>
          <p:cNvPr id="197" name="Google Shape;197;p23"/>
          <p:cNvCxnSpPr/>
          <p:nvPr/>
        </p:nvCxnSpPr>
        <p:spPr>
          <a:xfrm>
            <a:off x="2321650" y="1109625"/>
            <a:ext cx="0" cy="39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8" name="Google Shape;198;p23"/>
          <p:cNvGrpSpPr/>
          <p:nvPr/>
        </p:nvGrpSpPr>
        <p:grpSpPr>
          <a:xfrm>
            <a:off x="228600" y="2087053"/>
            <a:ext cx="1836600" cy="1380875"/>
            <a:chOff x="228600" y="2087053"/>
            <a:chExt cx="1836600" cy="1380875"/>
          </a:xfrm>
        </p:grpSpPr>
        <p:sp>
          <p:nvSpPr>
            <p:cNvPr id="199" name="Google Shape;199;p23"/>
            <p:cNvSpPr/>
            <p:nvPr/>
          </p:nvSpPr>
          <p:spPr>
            <a:xfrm>
              <a:off x="553525" y="2216976"/>
              <a:ext cx="282300" cy="270900"/>
            </a:xfrm>
            <a:prstGeom prst="ellipse">
              <a:avLst/>
            </a:prstGeom>
            <a:noFill/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3"/>
            <p:cNvSpPr/>
            <p:nvPr/>
          </p:nvSpPr>
          <p:spPr>
            <a:xfrm>
              <a:off x="1782900" y="2487342"/>
              <a:ext cx="282300" cy="270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3"/>
            <p:cNvSpPr txBox="1"/>
            <p:nvPr/>
          </p:nvSpPr>
          <p:spPr>
            <a:xfrm>
              <a:off x="1224336" y="2087053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3"/>
            <p:cNvSpPr/>
            <p:nvPr/>
          </p:nvSpPr>
          <p:spPr>
            <a:xfrm>
              <a:off x="228600" y="2797442"/>
              <a:ext cx="282300" cy="270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3"/>
            <p:cNvSpPr/>
            <p:nvPr/>
          </p:nvSpPr>
          <p:spPr>
            <a:xfrm>
              <a:off x="1065725" y="3068342"/>
              <a:ext cx="282300" cy="270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4" name="Google Shape;204;p23"/>
            <p:cNvCxnSpPr>
              <a:stCxn id="199" idx="6"/>
              <a:endCxn id="200" idx="1"/>
            </p:cNvCxnSpPr>
            <p:nvPr/>
          </p:nvCxnSpPr>
          <p:spPr>
            <a:xfrm>
              <a:off x="835825" y="2352426"/>
              <a:ext cx="988500" cy="17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5" name="Google Shape;205;p23"/>
            <p:cNvCxnSpPr>
              <a:stCxn id="199" idx="3"/>
              <a:endCxn id="202" idx="0"/>
            </p:cNvCxnSpPr>
            <p:nvPr/>
          </p:nvCxnSpPr>
          <p:spPr>
            <a:xfrm flipH="1">
              <a:off x="369867" y="2448204"/>
              <a:ext cx="225000" cy="349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6" name="Google Shape;206;p23"/>
            <p:cNvCxnSpPr>
              <a:stCxn id="199" idx="4"/>
              <a:endCxn id="203" idx="0"/>
            </p:cNvCxnSpPr>
            <p:nvPr/>
          </p:nvCxnSpPr>
          <p:spPr>
            <a:xfrm>
              <a:off x="694675" y="2487876"/>
              <a:ext cx="512100" cy="580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7" name="Google Shape;207;p23"/>
            <p:cNvCxnSpPr>
              <a:stCxn id="202" idx="5"/>
              <a:endCxn id="203" idx="2"/>
            </p:cNvCxnSpPr>
            <p:nvPr/>
          </p:nvCxnSpPr>
          <p:spPr>
            <a:xfrm>
              <a:off x="469558" y="3028670"/>
              <a:ext cx="596100" cy="175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8" name="Google Shape;208;p23"/>
            <p:cNvCxnSpPr>
              <a:stCxn id="200" idx="3"/>
              <a:endCxn id="203" idx="7"/>
            </p:cNvCxnSpPr>
            <p:nvPr/>
          </p:nvCxnSpPr>
          <p:spPr>
            <a:xfrm flipH="1">
              <a:off x="1306742" y="2718570"/>
              <a:ext cx="517500" cy="389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9" name="Google Shape;209;p23"/>
            <p:cNvCxnSpPr>
              <a:stCxn id="202" idx="6"/>
              <a:endCxn id="200" idx="2"/>
            </p:cNvCxnSpPr>
            <p:nvPr/>
          </p:nvCxnSpPr>
          <p:spPr>
            <a:xfrm flipH="1" rot="10800000">
              <a:off x="510900" y="2622692"/>
              <a:ext cx="1272000" cy="310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0" name="Google Shape;210;p23"/>
            <p:cNvSpPr txBox="1"/>
            <p:nvPr/>
          </p:nvSpPr>
          <p:spPr>
            <a:xfrm>
              <a:off x="1569236" y="2758253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3"/>
            <p:cNvSpPr txBox="1"/>
            <p:nvPr/>
          </p:nvSpPr>
          <p:spPr>
            <a:xfrm>
              <a:off x="264011" y="2352428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3"/>
            <p:cNvSpPr txBox="1"/>
            <p:nvPr/>
          </p:nvSpPr>
          <p:spPr>
            <a:xfrm>
              <a:off x="588936" y="3067728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3"/>
            <p:cNvSpPr txBox="1"/>
            <p:nvPr/>
          </p:nvSpPr>
          <p:spPr>
            <a:xfrm>
              <a:off x="784974" y="2352428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3"/>
            <p:cNvSpPr txBox="1"/>
            <p:nvPr/>
          </p:nvSpPr>
          <p:spPr>
            <a:xfrm>
              <a:off x="1186549" y="2422703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" name="Google Shape;215;p23"/>
          <p:cNvSpPr/>
          <p:nvPr/>
        </p:nvSpPr>
        <p:spPr>
          <a:xfrm>
            <a:off x="2786825" y="4121139"/>
            <a:ext cx="282300" cy="270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016200" y="439150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457636" y="3991215"/>
            <a:ext cx="21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2461900" y="470160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3422225" y="476510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23"/>
          <p:cNvCxnSpPr>
            <a:stCxn id="215" idx="6"/>
            <a:endCxn id="216" idx="1"/>
          </p:cNvCxnSpPr>
          <p:nvPr/>
        </p:nvCxnSpPr>
        <p:spPr>
          <a:xfrm>
            <a:off x="3069125" y="4256589"/>
            <a:ext cx="988500" cy="17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23"/>
          <p:cNvCxnSpPr>
            <a:stCxn id="215" idx="3"/>
            <a:endCxn id="218" idx="0"/>
          </p:cNvCxnSpPr>
          <p:nvPr/>
        </p:nvCxnSpPr>
        <p:spPr>
          <a:xfrm flipH="1">
            <a:off x="2603167" y="4352367"/>
            <a:ext cx="225000" cy="34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23"/>
          <p:cNvCxnSpPr>
            <a:stCxn id="215" idx="5"/>
            <a:endCxn id="219" idx="0"/>
          </p:cNvCxnSpPr>
          <p:nvPr/>
        </p:nvCxnSpPr>
        <p:spPr>
          <a:xfrm>
            <a:off x="3027783" y="4352367"/>
            <a:ext cx="535500" cy="41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23"/>
          <p:cNvSpPr txBox="1"/>
          <p:nvPr/>
        </p:nvSpPr>
        <p:spPr>
          <a:xfrm>
            <a:off x="2496511" y="4256590"/>
            <a:ext cx="21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3063174" y="4392040"/>
            <a:ext cx="21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216900" y="692950"/>
            <a:ext cx="87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Drumuri minime din s ⇒ arbore de drumuri minime (distanțe) din s ≠ APCM - minimizează costul total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2407600" y="999075"/>
            <a:ext cx="3164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(ne)</a:t>
            </a: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orientat</a:t>
            </a: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ponderat, ponderi &gt; 0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Drumuri minime din s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Algoritmul lui Dijkstra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27" name="Google Shape;227;p23"/>
          <p:cNvCxnSpPr/>
          <p:nvPr/>
        </p:nvCxnSpPr>
        <p:spPr>
          <a:xfrm>
            <a:off x="5750650" y="1109625"/>
            <a:ext cx="0" cy="39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23"/>
          <p:cNvSpPr txBox="1"/>
          <p:nvPr/>
        </p:nvSpPr>
        <p:spPr>
          <a:xfrm>
            <a:off x="4458450" y="4130450"/>
            <a:ext cx="119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arbore al drumurilor minime față de 1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23"/>
          <p:cNvCxnSpPr/>
          <p:nvPr/>
        </p:nvCxnSpPr>
        <p:spPr>
          <a:xfrm>
            <a:off x="157800" y="1714650"/>
            <a:ext cx="882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0" name="Google Shape;230;p23"/>
          <p:cNvCxnSpPr/>
          <p:nvPr/>
        </p:nvCxnSpPr>
        <p:spPr>
          <a:xfrm>
            <a:off x="157800" y="4000650"/>
            <a:ext cx="882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1" name="Google Shape;231;p23"/>
          <p:cNvSpPr txBox="1"/>
          <p:nvPr/>
        </p:nvSpPr>
        <p:spPr>
          <a:xfrm>
            <a:off x="5836600" y="999075"/>
            <a:ext cx="3164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</a:t>
            </a: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neorientat</a:t>
            </a: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ponderat, ponderi reale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Arbore parțial de cost minim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Algoritmul lui Prim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6667800" y="4055876"/>
            <a:ext cx="282300" cy="270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7127225" y="432125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6976761" y="3991215"/>
            <a:ext cx="21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6208375" y="432125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6208375" y="482040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23"/>
          <p:cNvCxnSpPr>
            <a:stCxn id="232" idx="6"/>
            <a:endCxn id="233" idx="1"/>
          </p:cNvCxnSpPr>
          <p:nvPr/>
        </p:nvCxnSpPr>
        <p:spPr>
          <a:xfrm>
            <a:off x="6950100" y="4191326"/>
            <a:ext cx="218400" cy="16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23"/>
          <p:cNvCxnSpPr>
            <a:stCxn id="232" idx="2"/>
            <a:endCxn id="235" idx="7"/>
          </p:cNvCxnSpPr>
          <p:nvPr/>
        </p:nvCxnSpPr>
        <p:spPr>
          <a:xfrm flipH="1">
            <a:off x="6449400" y="4191326"/>
            <a:ext cx="218400" cy="16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23"/>
          <p:cNvCxnSpPr>
            <a:stCxn id="235" idx="4"/>
            <a:endCxn id="236" idx="0"/>
          </p:cNvCxnSpPr>
          <p:nvPr/>
        </p:nvCxnSpPr>
        <p:spPr>
          <a:xfrm>
            <a:off x="6349525" y="4592154"/>
            <a:ext cx="0" cy="22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23"/>
          <p:cNvSpPr txBox="1"/>
          <p:nvPr/>
        </p:nvSpPr>
        <p:spPr>
          <a:xfrm>
            <a:off x="6341675" y="3991223"/>
            <a:ext cx="16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6090149" y="4506190"/>
            <a:ext cx="21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7716550" y="4157500"/>
            <a:ext cx="119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arbore parțial de cost minim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/>
              <a:t>Drumuri minime vs APCM</a:t>
            </a:r>
            <a:endParaRPr sz="2820"/>
          </a:p>
        </p:txBody>
      </p:sp>
      <p:cxnSp>
        <p:nvCxnSpPr>
          <p:cNvPr id="248" name="Google Shape;248;p24"/>
          <p:cNvCxnSpPr/>
          <p:nvPr/>
        </p:nvCxnSpPr>
        <p:spPr>
          <a:xfrm>
            <a:off x="2321650" y="1109625"/>
            <a:ext cx="0" cy="39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9" name="Google Shape;249;p24"/>
          <p:cNvGrpSpPr/>
          <p:nvPr/>
        </p:nvGrpSpPr>
        <p:grpSpPr>
          <a:xfrm>
            <a:off x="228600" y="2087053"/>
            <a:ext cx="1836600" cy="1380875"/>
            <a:chOff x="228600" y="2087053"/>
            <a:chExt cx="1836600" cy="1380875"/>
          </a:xfrm>
        </p:grpSpPr>
        <p:sp>
          <p:nvSpPr>
            <p:cNvPr id="250" name="Google Shape;250;p24"/>
            <p:cNvSpPr/>
            <p:nvPr/>
          </p:nvSpPr>
          <p:spPr>
            <a:xfrm>
              <a:off x="553525" y="2216976"/>
              <a:ext cx="282300" cy="270900"/>
            </a:xfrm>
            <a:prstGeom prst="ellipse">
              <a:avLst/>
            </a:prstGeom>
            <a:noFill/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4"/>
            <p:cNvSpPr/>
            <p:nvPr/>
          </p:nvSpPr>
          <p:spPr>
            <a:xfrm>
              <a:off x="1782900" y="2487342"/>
              <a:ext cx="282300" cy="270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4"/>
            <p:cNvSpPr txBox="1"/>
            <p:nvPr/>
          </p:nvSpPr>
          <p:spPr>
            <a:xfrm>
              <a:off x="1224336" y="2087053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4"/>
            <p:cNvSpPr/>
            <p:nvPr/>
          </p:nvSpPr>
          <p:spPr>
            <a:xfrm>
              <a:off x="228600" y="2797442"/>
              <a:ext cx="282300" cy="270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4"/>
            <p:cNvSpPr/>
            <p:nvPr/>
          </p:nvSpPr>
          <p:spPr>
            <a:xfrm>
              <a:off x="1065725" y="3068342"/>
              <a:ext cx="282300" cy="270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5" name="Google Shape;255;p24"/>
            <p:cNvCxnSpPr>
              <a:stCxn id="250" idx="6"/>
              <a:endCxn id="251" idx="1"/>
            </p:cNvCxnSpPr>
            <p:nvPr/>
          </p:nvCxnSpPr>
          <p:spPr>
            <a:xfrm>
              <a:off x="835825" y="2352426"/>
              <a:ext cx="988500" cy="17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6" name="Google Shape;256;p24"/>
            <p:cNvCxnSpPr>
              <a:stCxn id="250" idx="3"/>
              <a:endCxn id="253" idx="0"/>
            </p:cNvCxnSpPr>
            <p:nvPr/>
          </p:nvCxnSpPr>
          <p:spPr>
            <a:xfrm flipH="1">
              <a:off x="369867" y="2448204"/>
              <a:ext cx="225000" cy="349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7" name="Google Shape;257;p24"/>
            <p:cNvCxnSpPr>
              <a:stCxn id="250" idx="4"/>
              <a:endCxn id="254" idx="0"/>
            </p:cNvCxnSpPr>
            <p:nvPr/>
          </p:nvCxnSpPr>
          <p:spPr>
            <a:xfrm>
              <a:off x="694675" y="2487876"/>
              <a:ext cx="512100" cy="580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8" name="Google Shape;258;p24"/>
            <p:cNvCxnSpPr>
              <a:stCxn id="253" idx="5"/>
              <a:endCxn id="254" idx="2"/>
            </p:cNvCxnSpPr>
            <p:nvPr/>
          </p:nvCxnSpPr>
          <p:spPr>
            <a:xfrm>
              <a:off x="469558" y="3028670"/>
              <a:ext cx="596100" cy="175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9" name="Google Shape;259;p24"/>
            <p:cNvCxnSpPr>
              <a:stCxn id="251" idx="3"/>
              <a:endCxn id="254" idx="7"/>
            </p:cNvCxnSpPr>
            <p:nvPr/>
          </p:nvCxnSpPr>
          <p:spPr>
            <a:xfrm flipH="1">
              <a:off x="1306742" y="2718570"/>
              <a:ext cx="517500" cy="389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0" name="Google Shape;260;p24"/>
            <p:cNvCxnSpPr>
              <a:stCxn id="253" idx="6"/>
              <a:endCxn id="251" idx="2"/>
            </p:cNvCxnSpPr>
            <p:nvPr/>
          </p:nvCxnSpPr>
          <p:spPr>
            <a:xfrm flipH="1" rot="10800000">
              <a:off x="510900" y="2622692"/>
              <a:ext cx="1272000" cy="310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1" name="Google Shape;261;p24"/>
            <p:cNvSpPr txBox="1"/>
            <p:nvPr/>
          </p:nvSpPr>
          <p:spPr>
            <a:xfrm>
              <a:off x="1569236" y="2758253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4"/>
            <p:cNvSpPr txBox="1"/>
            <p:nvPr/>
          </p:nvSpPr>
          <p:spPr>
            <a:xfrm>
              <a:off x="264011" y="2352428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4"/>
            <p:cNvSpPr txBox="1"/>
            <p:nvPr/>
          </p:nvSpPr>
          <p:spPr>
            <a:xfrm>
              <a:off x="588936" y="3067728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4"/>
            <p:cNvSpPr txBox="1"/>
            <p:nvPr/>
          </p:nvSpPr>
          <p:spPr>
            <a:xfrm>
              <a:off x="784974" y="2352428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4"/>
            <p:cNvSpPr txBox="1"/>
            <p:nvPr/>
          </p:nvSpPr>
          <p:spPr>
            <a:xfrm>
              <a:off x="1186549" y="2422703"/>
              <a:ext cx="21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" name="Google Shape;266;p24"/>
          <p:cNvSpPr/>
          <p:nvPr/>
        </p:nvSpPr>
        <p:spPr>
          <a:xfrm>
            <a:off x="2786825" y="4121139"/>
            <a:ext cx="282300" cy="270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4016200" y="439150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3457636" y="3991215"/>
            <a:ext cx="21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2461900" y="470160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3422225" y="476510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" name="Google Shape;271;p24"/>
          <p:cNvCxnSpPr>
            <a:stCxn id="266" idx="6"/>
            <a:endCxn id="267" idx="1"/>
          </p:cNvCxnSpPr>
          <p:nvPr/>
        </p:nvCxnSpPr>
        <p:spPr>
          <a:xfrm>
            <a:off x="3069125" y="4256589"/>
            <a:ext cx="988500" cy="17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24"/>
          <p:cNvCxnSpPr>
            <a:stCxn id="266" idx="3"/>
            <a:endCxn id="269" idx="0"/>
          </p:cNvCxnSpPr>
          <p:nvPr/>
        </p:nvCxnSpPr>
        <p:spPr>
          <a:xfrm flipH="1">
            <a:off x="2603167" y="4352367"/>
            <a:ext cx="225000" cy="34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24"/>
          <p:cNvCxnSpPr>
            <a:stCxn id="266" idx="5"/>
            <a:endCxn id="270" idx="0"/>
          </p:cNvCxnSpPr>
          <p:nvPr/>
        </p:nvCxnSpPr>
        <p:spPr>
          <a:xfrm>
            <a:off x="3027783" y="4352367"/>
            <a:ext cx="535500" cy="41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24"/>
          <p:cNvSpPr txBox="1"/>
          <p:nvPr/>
        </p:nvSpPr>
        <p:spPr>
          <a:xfrm>
            <a:off x="2496511" y="4256590"/>
            <a:ext cx="21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3063174" y="4392040"/>
            <a:ext cx="21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216900" y="692950"/>
            <a:ext cx="87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Drumuri minime din s ⇒ arbore de drumuri minime (distanțe) din s ≠ APCM - minimizează costul total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4"/>
          <p:cNvSpPr txBox="1"/>
          <p:nvPr/>
        </p:nvSpPr>
        <p:spPr>
          <a:xfrm>
            <a:off x="2407600" y="999075"/>
            <a:ext cx="31644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(ne)</a:t>
            </a: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orientat</a:t>
            </a: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ponderat, ponderi &gt; 0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Drumuri minime din s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Algoritmul lui Dijkstra</a:t>
            </a:r>
            <a:endParaRPr b="1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Dijkstra(s)</a:t>
            </a:r>
            <a:endParaRPr b="1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min-heap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Q ← 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u∈V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d[u]=∞; tata[u]=0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cât timp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Q ≠ ∅</a:t>
            </a:r>
            <a:endParaRPr b="0" i="0" sz="10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 =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extrage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(Q) vârf cu </a:t>
            </a:r>
            <a:b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  eticheta d minimă</a:t>
            </a:r>
            <a:b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uv∈E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n-GB" sz="1000" u="none" cap="none" strike="sng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v∈Q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și </a:t>
            </a:r>
            <a:r>
              <a:rPr b="0" i="0" lang="en-GB" sz="10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d[u]+w(u,v)&lt;d[v]</a:t>
            </a:r>
            <a:endParaRPr b="0" i="0" sz="10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d[v] = d[u] + w(u,v)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      tata[v] = u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     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repara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(v, Q)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scrie d, tata</a:t>
            </a:r>
            <a:endParaRPr b="1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78" name="Google Shape;278;p24"/>
          <p:cNvCxnSpPr/>
          <p:nvPr/>
        </p:nvCxnSpPr>
        <p:spPr>
          <a:xfrm>
            <a:off x="5750650" y="1109625"/>
            <a:ext cx="0" cy="39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24"/>
          <p:cNvSpPr txBox="1"/>
          <p:nvPr/>
        </p:nvSpPr>
        <p:spPr>
          <a:xfrm>
            <a:off x="4458450" y="4130450"/>
            <a:ext cx="119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arbore al drumurilor minime față de 1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p24"/>
          <p:cNvCxnSpPr/>
          <p:nvPr/>
        </p:nvCxnSpPr>
        <p:spPr>
          <a:xfrm>
            <a:off x="157800" y="1714650"/>
            <a:ext cx="882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1" name="Google Shape;281;p24"/>
          <p:cNvCxnSpPr/>
          <p:nvPr/>
        </p:nvCxnSpPr>
        <p:spPr>
          <a:xfrm>
            <a:off x="157800" y="4000650"/>
            <a:ext cx="882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2" name="Google Shape;282;p24"/>
          <p:cNvSpPr txBox="1"/>
          <p:nvPr/>
        </p:nvSpPr>
        <p:spPr>
          <a:xfrm>
            <a:off x="5836600" y="999075"/>
            <a:ext cx="31644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- </a:t>
            </a: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neorientat</a:t>
            </a: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ponderat, ponderi reale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Arbore parțial de cost minim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	Algoritmul lui Prim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Prim(s)</a:t>
            </a:r>
            <a:endParaRPr b="1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min-heap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Q ← 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u∈V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d[u]=∞; tata[u]=0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cât timp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Q ≠ ∅</a:t>
            </a:r>
            <a:endParaRPr b="0" i="0" sz="10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 =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extrage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(Q) vârf cu </a:t>
            </a:r>
            <a:b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  eticheta d minimă</a:t>
            </a:r>
            <a:b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fiecare uv∈E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n-GB" sz="10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v∈Q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și </a:t>
            </a:r>
            <a:r>
              <a:rPr b="0" i="0" lang="en-GB" sz="10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w(u,v)&lt;d[v]</a:t>
            </a:r>
            <a:endParaRPr b="0" i="0" sz="10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d[v] = w(u,v)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      tata[v] = u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      </a:t>
            </a:r>
            <a:r>
              <a:rPr b="0" i="0" lang="en-GB" sz="10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repara</a:t>
            </a: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(v, Q)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scrie d, tata, pentru u≠s</a:t>
            </a:r>
            <a:endParaRPr b="1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6667800" y="4055876"/>
            <a:ext cx="282300" cy="270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7127225" y="432125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4"/>
          <p:cNvSpPr txBox="1"/>
          <p:nvPr/>
        </p:nvSpPr>
        <p:spPr>
          <a:xfrm>
            <a:off x="6976761" y="3991215"/>
            <a:ext cx="21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6208375" y="432125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6208375" y="4820404"/>
            <a:ext cx="282300" cy="2709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24"/>
          <p:cNvCxnSpPr>
            <a:stCxn id="283" idx="6"/>
            <a:endCxn id="284" idx="1"/>
          </p:cNvCxnSpPr>
          <p:nvPr/>
        </p:nvCxnSpPr>
        <p:spPr>
          <a:xfrm>
            <a:off x="6950100" y="4191326"/>
            <a:ext cx="218400" cy="16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24"/>
          <p:cNvCxnSpPr>
            <a:stCxn id="283" idx="2"/>
            <a:endCxn id="286" idx="7"/>
          </p:cNvCxnSpPr>
          <p:nvPr/>
        </p:nvCxnSpPr>
        <p:spPr>
          <a:xfrm flipH="1">
            <a:off x="6449400" y="4191326"/>
            <a:ext cx="218400" cy="16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24"/>
          <p:cNvCxnSpPr>
            <a:stCxn id="286" idx="4"/>
            <a:endCxn id="287" idx="0"/>
          </p:cNvCxnSpPr>
          <p:nvPr/>
        </p:nvCxnSpPr>
        <p:spPr>
          <a:xfrm>
            <a:off x="6349525" y="4592154"/>
            <a:ext cx="0" cy="22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24"/>
          <p:cNvSpPr txBox="1"/>
          <p:nvPr/>
        </p:nvSpPr>
        <p:spPr>
          <a:xfrm>
            <a:off x="6341675" y="3991223"/>
            <a:ext cx="16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4"/>
          <p:cNvSpPr txBox="1"/>
          <p:nvPr/>
        </p:nvSpPr>
        <p:spPr>
          <a:xfrm>
            <a:off x="6090149" y="4506190"/>
            <a:ext cx="21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7716550" y="4157500"/>
            <a:ext cx="119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arbore parțial de cost minim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3" ma:contentTypeDescription="Creați un document nou." ma:contentTypeScope="" ma:versionID="5b26d7e5f69bac2af62e29e49cdf0427">
  <xsd:schema xmlns:xsd="http://www.w3.org/2001/XMLSchema" xmlns:xs="http://www.w3.org/2001/XMLSchema" xmlns:p="http://schemas.microsoft.com/office/2006/metadata/properties" xmlns:ns2="97c90f05-350d-4a78-bf08-e84d2709cbc1" targetNamespace="http://schemas.microsoft.com/office/2006/metadata/properties" ma:root="true" ma:fieldsID="93cf751f5f765d8fe52b73c6c71c5142" ns2:_="">
    <xsd:import namespace="97c90f05-350d-4a78-bf08-e84d2709cb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90f05-350d-4a78-bf08-e84d2709c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FC2704C-D336-40C7-8BBB-4D5B3FDE04F7}"/>
</file>

<file path=customXml/itemProps2.xml><?xml version="1.0" encoding="utf-8"?>
<ds:datastoreItem xmlns:ds="http://schemas.openxmlformats.org/officeDocument/2006/customXml" ds:itemID="{29F7DA6D-CC3D-4502-AD01-5AFC57CD8745}"/>
</file>

<file path=customXml/itemProps3.xml><?xml version="1.0" encoding="utf-8"?>
<ds:datastoreItem xmlns:ds="http://schemas.openxmlformats.org/officeDocument/2006/customXml" ds:itemID="{8E0F13F7-5DE8-47AC-B724-3C6DE194C8E1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