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</p:sldIdLst>
  <p:sldSz cy="5143500" cx="9144000"/>
  <p:notesSz cx="6858000" cy="9144000"/>
  <p:embeddedFontLst>
    <p:embeddedFont>
      <p:font typeface="Roboto"/>
      <p:regular r:id="rId79"/>
      <p:bold r:id="rId80"/>
      <p:italic r:id="rId81"/>
      <p:boldItalic r:id="rId82"/>
    </p:embeddedFont>
    <p:embeddedFont>
      <p:font typeface="Merriweather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87" roundtripDataSignature="AMtx7mhlv70ZnKU1T4Hm2UBNJPr0zTuU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84" Type="http://schemas.openxmlformats.org/officeDocument/2006/relationships/font" Target="fonts/Merriweather-bold.fntdata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21" Type="http://schemas.openxmlformats.org/officeDocument/2006/relationships/slide" Target="slides/slide16.xml"/><Relationship Id="rId68" Type="http://schemas.openxmlformats.org/officeDocument/2006/relationships/slide" Target="slides/slide63.xml"/><Relationship Id="rId89" Type="http://schemas.openxmlformats.org/officeDocument/2006/relationships/customXml" Target="../customXml/item2.xml"/><Relationship Id="rId16" Type="http://schemas.openxmlformats.org/officeDocument/2006/relationships/slide" Target="slides/slide11.xml"/><Relationship Id="rId74" Type="http://schemas.openxmlformats.org/officeDocument/2006/relationships/slide" Target="slides/slide69.xml"/><Relationship Id="rId32" Type="http://schemas.openxmlformats.org/officeDocument/2006/relationships/slide" Target="slides/slide27.xml"/><Relationship Id="rId79" Type="http://schemas.openxmlformats.org/officeDocument/2006/relationships/font" Target="fonts/Roboto-regular.fntdata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slide" Target="slides/slide53.xml"/><Relationship Id="rId5" Type="http://schemas.openxmlformats.org/officeDocument/2006/relationships/notesMaster" Target="notesMasters/notesMaster1.xml"/><Relationship Id="rId90" Type="http://schemas.openxmlformats.org/officeDocument/2006/relationships/customXml" Target="../customXml/item3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77" Type="http://schemas.openxmlformats.org/officeDocument/2006/relationships/slide" Target="slides/slide72.xml"/><Relationship Id="rId35" Type="http://schemas.openxmlformats.org/officeDocument/2006/relationships/slide" Target="slides/slide30.xml"/><Relationship Id="rId64" Type="http://schemas.openxmlformats.org/officeDocument/2006/relationships/slide" Target="slides/slide59.xml"/><Relationship Id="rId22" Type="http://schemas.openxmlformats.org/officeDocument/2006/relationships/slide" Target="slides/slide17.xml"/><Relationship Id="rId69" Type="http://schemas.openxmlformats.org/officeDocument/2006/relationships/slide" Target="slides/slide64.xml"/><Relationship Id="rId27" Type="http://schemas.openxmlformats.org/officeDocument/2006/relationships/slide" Target="slides/slide22.xml"/><Relationship Id="rId56" Type="http://schemas.openxmlformats.org/officeDocument/2006/relationships/slide" Target="slides/slide51.xml"/><Relationship Id="rId14" Type="http://schemas.openxmlformats.org/officeDocument/2006/relationships/slide" Target="slides/slide9.xml"/><Relationship Id="rId85" Type="http://schemas.openxmlformats.org/officeDocument/2006/relationships/font" Target="fonts/Merriweather-italic.fntdata"/><Relationship Id="rId80" Type="http://schemas.openxmlformats.org/officeDocument/2006/relationships/font" Target="fonts/Roboto-bold.fntdata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slide" Target="slides/slide62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slide" Target="slides/slide54.xml"/><Relationship Id="rId17" Type="http://schemas.openxmlformats.org/officeDocument/2006/relationships/slide" Target="slides/slide12.xml"/><Relationship Id="rId83" Type="http://schemas.openxmlformats.org/officeDocument/2006/relationships/font" Target="fonts/Merriweather-regular.fntdata"/><Relationship Id="rId41" Type="http://schemas.openxmlformats.org/officeDocument/2006/relationships/slide" Target="slides/slide36.xml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88" Type="http://schemas.openxmlformats.org/officeDocument/2006/relationships/customXml" Target="../customXml/item1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slide" Target="slides/slide52.xml"/><Relationship Id="rId15" Type="http://schemas.openxmlformats.org/officeDocument/2006/relationships/slide" Target="slides/slide10.xml"/><Relationship Id="rId86" Type="http://schemas.openxmlformats.org/officeDocument/2006/relationships/font" Target="fonts/Merriweather-boldItalic.fntdata"/><Relationship Id="rId44" Type="http://schemas.openxmlformats.org/officeDocument/2006/relationships/slide" Target="slides/slide39.xml"/><Relationship Id="rId81" Type="http://schemas.openxmlformats.org/officeDocument/2006/relationships/font" Target="fonts/Roboto-italic.fntdata"/><Relationship Id="rId73" Type="http://schemas.openxmlformats.org/officeDocument/2006/relationships/slide" Target="slides/slide68.xml"/><Relationship Id="rId31" Type="http://schemas.openxmlformats.org/officeDocument/2006/relationships/slide" Target="slides/slide26.xml"/><Relationship Id="rId78" Type="http://schemas.openxmlformats.org/officeDocument/2006/relationships/slide" Target="slides/slide73.xml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76" Type="http://schemas.openxmlformats.org/officeDocument/2006/relationships/slide" Target="slides/slide71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40" Type="http://schemas.openxmlformats.org/officeDocument/2006/relationships/slide" Target="slides/slide35.xml"/><Relationship Id="rId87" Type="http://customschemas.google.com/relationships/presentationmetadata" Target="metadata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24" Type="http://schemas.openxmlformats.org/officeDocument/2006/relationships/slide" Target="slides/slide19.xml"/><Relationship Id="rId82" Type="http://schemas.openxmlformats.org/officeDocument/2006/relationships/font" Target="fonts/Roboto-boldItalic.fntdata"/><Relationship Id="rId61" Type="http://schemas.openxmlformats.org/officeDocument/2006/relationships/slide" Target="slides/slide56.xml"/><Relationship Id="rId19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3" name="Google Shape;543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1" name="Google Shape;55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9" name="Google Shape;55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5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75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75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76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8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78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78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9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79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79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7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7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8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0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80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1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1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2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3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83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83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4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5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85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40.png"/><Relationship Id="rId8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Relationship Id="rId4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8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7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Relationship Id="rId4" Type="http://schemas.openxmlformats.org/officeDocument/2006/relationships/image" Target="../media/image44.png"/><Relationship Id="rId5" Type="http://schemas.openxmlformats.org/officeDocument/2006/relationships/image" Target="../media/image4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5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5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4.png"/><Relationship Id="rId4" Type="http://schemas.openxmlformats.org/officeDocument/2006/relationships/image" Target="../media/image5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6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Noțiuni introductive</a:t>
            </a:r>
            <a:endParaRPr/>
          </a:p>
        </p:txBody>
      </p:sp>
      <p:pic>
        <p:nvPicPr>
          <p:cNvPr id="66" name="Google Shape;6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050" y="1454500"/>
            <a:ext cx="2096925" cy="158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Multiset</a:t>
            </a:r>
            <a:endParaRPr/>
          </a:p>
        </p:txBody>
      </p:sp>
      <p:sp>
        <p:nvSpPr>
          <p:cNvPr id="72" name="Google Shape;72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</a:t>
            </a:r>
            <a:r>
              <a:rPr b="1" lang="en-GB"/>
              <a:t>S</a:t>
            </a:r>
            <a:r>
              <a:rPr lang="en-GB"/>
              <a:t> o mulțime (finită) nevidă.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Multiset: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Intuitiv: O “mulțime” unde elementele se pot repeta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Multiset</a:t>
            </a:r>
            <a:endParaRPr/>
          </a:p>
        </p:txBody>
      </p:sp>
      <p:sp>
        <p:nvSpPr>
          <p:cNvPr id="78" name="Google Shape;7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</a:t>
            </a:r>
            <a:r>
              <a:rPr b="1" lang="en-GB"/>
              <a:t>S</a:t>
            </a:r>
            <a:r>
              <a:rPr lang="en-GB"/>
              <a:t> o mulțime (finită) nevidă.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Multiset: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 = (S, r),  r : S → ℕ 	</a:t>
            </a:r>
            <a:r>
              <a:rPr b="1" lang="en-GB">
                <a:solidFill>
                  <a:schemeClr val="accent1"/>
                </a:solidFill>
              </a:rPr>
              <a:t>funcţie de multiplicitate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Notaţie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 = {x</a:t>
            </a:r>
            <a:r>
              <a:rPr baseline="30000" lang="en-GB"/>
              <a:t>r(x)</a:t>
            </a:r>
            <a:r>
              <a:rPr lang="en-GB"/>
              <a:t> | x ∈ S}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Multiset</a:t>
            </a:r>
            <a:endParaRPr/>
          </a:p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Exemplu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 = {1, 2, 3, 4, 5}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 = {2</a:t>
            </a:r>
            <a:r>
              <a:rPr baseline="30000" lang="en-GB"/>
              <a:t>2</a:t>
            </a:r>
            <a:r>
              <a:rPr lang="en-GB"/>
              <a:t>, 3, 5</a:t>
            </a:r>
            <a:r>
              <a:rPr baseline="30000" lang="en-GB"/>
              <a:t>3</a:t>
            </a: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|R| = 2+1+3 = 6 – </a:t>
            </a:r>
            <a:r>
              <a:rPr b="1" lang="en-GB"/>
              <a:t>suma multiplicităților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1 ∉ 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</a:t>
            </a: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5350" y="1287050"/>
            <a:ext cx="1836400" cy="18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Graf, multigraf</a:t>
            </a:r>
            <a:endParaRPr/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0" r="0" t="4760"/>
          <a:stretch/>
        </p:blipFill>
        <p:spPr>
          <a:xfrm>
            <a:off x="935300" y="878675"/>
            <a:ext cx="3030900" cy="18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973" y="2848650"/>
            <a:ext cx="3030900" cy="197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6"/>
          <p:cNvPicPr preferRelativeResize="0"/>
          <p:nvPr/>
        </p:nvPicPr>
        <p:blipFill rotWithShape="1">
          <a:blip r:embed="rId5">
            <a:alphaModFix/>
          </a:blip>
          <a:srcRect b="3498" l="0" r="0" t="6791"/>
          <a:stretch/>
        </p:blipFill>
        <p:spPr>
          <a:xfrm>
            <a:off x="5137800" y="878675"/>
            <a:ext cx="3346500" cy="17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5600" y="2896760"/>
            <a:ext cx="3030900" cy="187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Graf, multigraf</a:t>
            </a:r>
            <a:endParaRPr/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4760"/>
          <a:stretch/>
        </p:blipFill>
        <p:spPr>
          <a:xfrm>
            <a:off x="935300" y="878675"/>
            <a:ext cx="3030900" cy="187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973" y="2848650"/>
            <a:ext cx="3030900" cy="197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7"/>
          <p:cNvPicPr preferRelativeResize="0"/>
          <p:nvPr/>
        </p:nvPicPr>
        <p:blipFill rotWithShape="1">
          <a:blip r:embed="rId5">
            <a:alphaModFix/>
          </a:blip>
          <a:srcRect b="3498" l="0" r="0" t="6791"/>
          <a:stretch/>
        </p:blipFill>
        <p:spPr>
          <a:xfrm>
            <a:off x="5137800" y="878675"/>
            <a:ext cx="3346500" cy="17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95600" y="2896760"/>
            <a:ext cx="3030900" cy="187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/>
          <p:nvPr>
            <p:ph idx="1" type="body"/>
          </p:nvPr>
        </p:nvSpPr>
        <p:spPr>
          <a:xfrm>
            <a:off x="2038375" y="2495550"/>
            <a:ext cx="6921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Graf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6465000" y="2495550"/>
            <a:ext cx="10734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Multigraf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2038375" y="4508750"/>
            <a:ext cx="6921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Graf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 txBox="1"/>
          <p:nvPr>
            <p:ph idx="1" type="body"/>
          </p:nvPr>
        </p:nvSpPr>
        <p:spPr>
          <a:xfrm>
            <a:off x="6465000" y="4508750"/>
            <a:ext cx="1073400" cy="5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Multigraf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orientat</a:t>
            </a:r>
            <a:endParaRPr/>
          </a:p>
        </p:txBody>
      </p:sp>
      <p:sp>
        <p:nvSpPr>
          <p:cNvPr id="118" name="Google Shape;118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4364" y="1368513"/>
            <a:ext cx="5055275" cy="28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Graf orientat: </a:t>
            </a:r>
            <a:r>
              <a:rPr lang="en-GB"/>
              <a:t>G = (V, E)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 – mulțime finită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E – perechi (ordonate) de 2 elemente distincte din V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 ∈ V – vârf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e = (u, v) = </a:t>
            </a:r>
            <a:r>
              <a:rPr b="1" lang="en-GB"/>
              <a:t>uv</a:t>
            </a:r>
            <a:r>
              <a:rPr lang="en-GB"/>
              <a:t> – arc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u = e</a:t>
            </a:r>
            <a:r>
              <a:rPr baseline="30000" lang="en-GB"/>
              <a:t>-</a:t>
            </a:r>
            <a:r>
              <a:rPr lang="en-GB"/>
              <a:t>   – vârf iniţial / origine / extremitate iniţială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700"/>
              <a:buChar char="⏵"/>
            </a:pPr>
            <a:r>
              <a:rPr lang="en-GB"/>
              <a:t>v = e</a:t>
            </a:r>
            <a:r>
              <a:rPr baseline="30000" lang="en-GB"/>
              <a:t>+</a:t>
            </a:r>
            <a:r>
              <a:rPr lang="en-GB"/>
              <a:t>   – vârf final / terminus / extremitate finală</a:t>
            </a:r>
            <a:endParaRPr/>
          </a:p>
        </p:txBody>
      </p:sp>
      <p:sp>
        <p:nvSpPr>
          <p:cNvPr id="125" name="Google Shape;125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orientat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orientat</a:t>
            </a:r>
            <a:endParaRPr/>
          </a:p>
        </p:txBody>
      </p:sp>
      <p:sp>
        <p:nvSpPr>
          <p:cNvPr id="131" name="Google Shape;131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 = (V, E)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 			–</a:t>
            </a:r>
            <a:r>
              <a:rPr b="1" lang="en-GB"/>
              <a:t> grad interior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– </a:t>
            </a:r>
            <a:r>
              <a:rPr b="1" lang="en-GB"/>
              <a:t>grad exterior</a:t>
            </a:r>
            <a:endParaRPr b="1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–</a:t>
            </a:r>
            <a:r>
              <a:rPr b="1" lang="en-GB"/>
              <a:t> grad</a:t>
            </a:r>
            <a:endParaRPr b="1"/>
          </a:p>
        </p:txBody>
      </p:sp>
      <p:pic>
        <p:nvPicPr>
          <p:cNvPr id="132" name="Google Shape;13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800" y="1359100"/>
            <a:ext cx="615501" cy="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5158" y="1784600"/>
            <a:ext cx="4481686" cy="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0800" y="2235375"/>
            <a:ext cx="615501" cy="36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5146" y="2601948"/>
            <a:ext cx="4597079" cy="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0800" y="3112774"/>
            <a:ext cx="615501" cy="366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45139" y="3479349"/>
            <a:ext cx="2154284" cy="36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336323" y="3112774"/>
            <a:ext cx="3221862" cy="180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orientat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45" name="Google Shape;14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0101" y="1513263"/>
            <a:ext cx="4538550" cy="25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6443875" y="2071925"/>
            <a:ext cx="996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</a:t>
            </a:r>
            <a:r>
              <a:rPr baseline="30000" lang="en-GB"/>
              <a:t>-</a:t>
            </a:r>
            <a:r>
              <a:rPr lang="en-GB"/>
              <a:t>(3) = 2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6443875" y="2695625"/>
            <a:ext cx="1064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</a:t>
            </a:r>
            <a:r>
              <a:rPr baseline="30000" lang="en-GB"/>
              <a:t>+</a:t>
            </a:r>
            <a:r>
              <a:rPr lang="en-GB"/>
              <a:t>(3) = 1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orientat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Are loc relația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925" y="1563825"/>
            <a:ext cx="2655099" cy="5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Multisetul gradelor</a:t>
            </a:r>
            <a:endParaRPr/>
          </a:p>
        </p:txBody>
      </p:sp>
      <p:sp>
        <p:nvSpPr>
          <p:cNvPr id="160" name="Google Shape;160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G orientat, V = {v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..., v</a:t>
            </a:r>
            <a:r>
              <a:rPr baseline="-25000" lang="en-GB"/>
              <a:t>n</a:t>
            </a:r>
            <a:r>
              <a:rPr lang="en-GB"/>
              <a:t>}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Multisetul gradelor </a:t>
            </a:r>
            <a:r>
              <a:rPr b="1" lang="en-GB"/>
              <a:t>interioare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Multisetul gradelor </a:t>
            </a:r>
            <a:r>
              <a:rPr b="1" lang="en-GB"/>
              <a:t>exterioare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1"/>
          </a:p>
        </p:txBody>
      </p:sp>
      <p:pic>
        <p:nvPicPr>
          <p:cNvPr id="161" name="Google Shape;16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850" y="1876825"/>
            <a:ext cx="2803075" cy="39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0848" y="3197223"/>
            <a:ext cx="2803075" cy="398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neorientat</a:t>
            </a:r>
            <a:endParaRPr/>
          </a:p>
        </p:txBody>
      </p:sp>
      <p:sp>
        <p:nvSpPr>
          <p:cNvPr id="168" name="Google Shape;168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69" name="Google Shape;1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8576" y="1393278"/>
            <a:ext cx="4966850" cy="278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neorientat</a:t>
            </a:r>
            <a:endParaRPr/>
          </a:p>
        </p:txBody>
      </p:sp>
      <p:sp>
        <p:nvSpPr>
          <p:cNvPr id="175" name="Google Shape;175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Graf neorientat: G = (V, E) </a:t>
            </a:r>
            <a:r>
              <a:rPr lang="en-GB"/>
              <a:t>  </a:t>
            </a:r>
            <a:endParaRPr/>
          </a:p>
          <a:p>
            <a:pPr indent="-33655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 – mulțime finită</a:t>
            </a:r>
            <a:endParaRPr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E – submulțime de 2 elemente (distincte) din V</a:t>
            </a:r>
            <a:endParaRPr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 ∈ V – vârf / nod</a:t>
            </a:r>
            <a:endParaRPr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e = {u,v} = uv – muchie</a:t>
            </a:r>
            <a:endParaRPr/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u, v   – capete / extremităţi</a:t>
            </a:r>
            <a:endParaRPr sz="16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sz="1600"/>
          </a:p>
          <a:p>
            <a:pPr indent="0" lvl="1" marL="393192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DA2BF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393192" rtl="0" algn="l">
              <a:lnSpc>
                <a:spcPct val="115000"/>
              </a:lnSpc>
              <a:spcBef>
                <a:spcPts val="324"/>
              </a:spcBef>
              <a:spcAft>
                <a:spcPts val="0"/>
              </a:spcAft>
              <a:buClr>
                <a:srgbClr val="2DA2BF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0206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Multigraf neorientat/orientat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8" y="1514650"/>
            <a:ext cx="4138701" cy="21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270" y="1514649"/>
            <a:ext cx="3885679" cy="21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Multigraf</a:t>
            </a:r>
            <a:endParaRPr/>
          </a:p>
        </p:txBody>
      </p:sp>
      <p:sp>
        <p:nvSpPr>
          <p:cNvPr id="189" name="Google Shape;189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 = (V, E, r)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r(e) – </a:t>
            </a:r>
            <a:r>
              <a:rPr b="1" lang="en-GB"/>
              <a:t>multiplicitatea muchiei e</a:t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Multigraf</a:t>
            </a:r>
            <a:endParaRPr/>
          </a:p>
        </p:txBody>
      </p:sp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 = (V, E, r)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r(e) – </a:t>
            </a:r>
            <a:r>
              <a:rPr b="1" lang="en-GB"/>
              <a:t>multiplicitatea muchiei e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 = {u, u} – </a:t>
            </a:r>
            <a:r>
              <a:rPr b="1" lang="en-GB"/>
              <a:t>buclă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e cu r(e) &gt; 1 – </a:t>
            </a:r>
            <a:r>
              <a:rPr b="1" lang="en-GB"/>
              <a:t>muchie multiplă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t/>
            </a:r>
            <a:endParaRPr b="1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 b="1"/>
          </a:p>
        </p:txBody>
      </p:sp>
      <p:pic>
        <p:nvPicPr>
          <p:cNvPr id="196" name="Google Shape;196;p18"/>
          <p:cNvPicPr preferRelativeResize="0"/>
          <p:nvPr/>
        </p:nvPicPr>
        <p:blipFill rotWithShape="1">
          <a:blip r:embed="rId3">
            <a:alphaModFix/>
          </a:blip>
          <a:srcRect b="-6278" l="-3220" r="3218" t="6279"/>
          <a:stretch/>
        </p:blipFill>
        <p:spPr>
          <a:xfrm>
            <a:off x="537613" y="2307888"/>
            <a:ext cx="6276975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Alte noțiuni fundamentale</a:t>
            </a:r>
            <a:endParaRPr/>
          </a:p>
        </p:txBody>
      </p:sp>
      <p:sp>
        <p:nvSpPr>
          <p:cNvPr id="202" name="Google Shape;202;p19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Adiacență. Incidență</a:t>
            </a:r>
            <a:endParaRPr/>
          </a:p>
        </p:txBody>
      </p:sp>
      <p:sp>
        <p:nvSpPr>
          <p:cNvPr id="208" name="Google Shape;208;p20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Adiacență. Incidență</a:t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graf </a:t>
            </a:r>
            <a:r>
              <a:rPr b="1" lang="en-GB"/>
              <a:t>neorientat</a:t>
            </a:r>
            <a:r>
              <a:rPr lang="en-GB"/>
              <a:t>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u și v ∈ V sunt </a:t>
            </a:r>
            <a:r>
              <a:rPr b="1" lang="en-GB"/>
              <a:t>adiacente</a:t>
            </a:r>
            <a:r>
              <a:rPr lang="en-GB"/>
              <a:t> dacă uv ∈ 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un </a:t>
            </a:r>
            <a:r>
              <a:rPr b="1" lang="en-GB"/>
              <a:t>vecin</a:t>
            </a:r>
            <a:r>
              <a:rPr lang="en-GB"/>
              <a:t> al lui u ∈ V este un vârf adiacent cu el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Notație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N</a:t>
            </a:r>
            <a:r>
              <a:rPr baseline="-25000" lang="en-GB"/>
              <a:t>G</a:t>
            </a:r>
            <a:r>
              <a:rPr lang="en-GB"/>
              <a:t>(u) = mulțimea vecinilor lui 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15" name="Google Shape;21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83800" y="2394850"/>
            <a:ext cx="4048506" cy="22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Adiacență. Incidență</a:t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graf </a:t>
            </a:r>
            <a:r>
              <a:rPr b="1" lang="en-GB"/>
              <a:t>neorientat</a:t>
            </a:r>
            <a:r>
              <a:rPr lang="en-GB"/>
              <a:t>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 muchie e ∈ E este </a:t>
            </a:r>
            <a:r>
              <a:rPr b="1" lang="en-GB"/>
              <a:t>incidentă</a:t>
            </a:r>
            <a:r>
              <a:rPr lang="en-GB"/>
              <a:t> cu un vârf u dacă u este extremitate a lui 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Char char="⏵"/>
            </a:pPr>
            <a:r>
              <a:rPr lang="en-GB"/>
              <a:t>e și f ∈</a:t>
            </a:r>
            <a:r>
              <a:rPr b="1" lang="en-GB"/>
              <a:t> </a:t>
            </a:r>
            <a:r>
              <a:rPr lang="en-GB"/>
              <a:t>E sunt </a:t>
            </a:r>
            <a:r>
              <a:rPr b="1" lang="en-GB"/>
              <a:t>adiacente</a:t>
            </a:r>
            <a:r>
              <a:rPr lang="en-GB"/>
              <a:t> dacă există un vârf în care sunt incidente (au o extremitate în comun)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27" name="Google Shape;227;p2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Drum (walk)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Drum simplu (trail)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Drum elementar (path)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Circuit, circuit elementar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Lungimea unui drum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Char char="⏵"/>
            </a:pPr>
            <a:r>
              <a:rPr b="1" lang="en-GB"/>
              <a:t>Distanță între două vârfuri</a:t>
            </a:r>
            <a:endParaRPr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39" name="Google Shape;239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un graf </a:t>
            </a:r>
            <a:r>
              <a:rPr b="1" lang="en-GB"/>
              <a:t>orientat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</a:t>
            </a:r>
            <a:r>
              <a:rPr b="1" lang="en-GB"/>
              <a:t>drum</a:t>
            </a:r>
            <a:r>
              <a:rPr lang="en-GB"/>
              <a:t> este o secvență P de vârfuri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P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unde v</a:t>
            </a:r>
            <a:r>
              <a:rPr baseline="-25000" lang="en-GB"/>
              <a:t>1</a:t>
            </a:r>
            <a:r>
              <a:rPr lang="en-GB"/>
              <a:t>, …, v</a:t>
            </a:r>
            <a:r>
              <a:rPr baseline="-25000" lang="en-GB"/>
              <a:t>k</a:t>
            </a:r>
            <a:r>
              <a:rPr lang="en-GB"/>
              <a:t> ∈ V(G)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cu proprietatea că, între oricare două vârfuri consecutive, există un arc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(v</a:t>
            </a:r>
            <a:r>
              <a:rPr baseline="-25000" lang="en-GB"/>
              <a:t>i</a:t>
            </a:r>
            <a:r>
              <a:rPr lang="en-GB"/>
              <a:t>, v</a:t>
            </a:r>
            <a:r>
              <a:rPr baseline="-25000" lang="en-GB"/>
              <a:t>i+1</a:t>
            </a:r>
            <a:r>
              <a:rPr lang="en-GB"/>
              <a:t>) ∈ E(G),   ∀  i ∈ {1, …, k-1}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45" name="Google Shape;245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un graf </a:t>
            </a:r>
            <a:r>
              <a:rPr b="1" lang="en-GB"/>
              <a:t>orientat</a:t>
            </a:r>
            <a:r>
              <a:rPr lang="en-GB"/>
              <a:t> și fie un </a:t>
            </a:r>
            <a:r>
              <a:rPr b="1" lang="en-GB"/>
              <a:t>drum </a:t>
            </a:r>
            <a:r>
              <a:rPr lang="en-GB"/>
              <a:t>P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].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 este </a:t>
            </a:r>
            <a:r>
              <a:rPr b="1" lang="en-GB" u="sng"/>
              <a:t>drum simplu</a:t>
            </a:r>
            <a:r>
              <a:rPr b="1" lang="en-GB"/>
              <a:t> </a:t>
            </a:r>
            <a:r>
              <a:rPr lang="en-GB"/>
              <a:t>dacă nu conține un </a:t>
            </a:r>
            <a:r>
              <a:rPr b="1" lang="en-GB" u="sng"/>
              <a:t>arc</a:t>
            </a:r>
            <a:r>
              <a:rPr lang="en-GB"/>
              <a:t> de mai multe ori ((v</a:t>
            </a:r>
            <a:r>
              <a:rPr baseline="-25000" lang="en-GB"/>
              <a:t>i</a:t>
            </a:r>
            <a:r>
              <a:rPr lang="en-GB"/>
              <a:t>, v</a:t>
            </a:r>
            <a:r>
              <a:rPr baseline="-25000" lang="en-GB"/>
              <a:t>i+1</a:t>
            </a:r>
            <a:r>
              <a:rPr lang="en-GB"/>
              <a:t>) ≠ (v</a:t>
            </a:r>
            <a:r>
              <a:rPr baseline="-25000" lang="en-GB"/>
              <a:t>j</a:t>
            </a:r>
            <a:r>
              <a:rPr lang="en-GB"/>
              <a:t>, v</a:t>
            </a:r>
            <a:r>
              <a:rPr baseline="-25000" lang="en-GB"/>
              <a:t>j+1</a:t>
            </a:r>
            <a:r>
              <a:rPr lang="en-GB"/>
              <a:t>), ∀  i ≠ j)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 este </a:t>
            </a:r>
            <a:r>
              <a:rPr b="1" lang="en-GB" u="sng"/>
              <a:t>drum elementar</a:t>
            </a:r>
            <a:r>
              <a:rPr lang="en-GB"/>
              <a:t> dacă nu conține un </a:t>
            </a:r>
            <a:r>
              <a:rPr b="1" lang="en-GB" u="sng"/>
              <a:t>vârf</a:t>
            </a:r>
            <a:r>
              <a:rPr lang="en-GB"/>
              <a:t> de mai multe ori (v</a:t>
            </a:r>
            <a:r>
              <a:rPr baseline="-25000" lang="en-GB"/>
              <a:t>i</a:t>
            </a:r>
            <a:r>
              <a:rPr lang="en-GB"/>
              <a:t> ≠ v</a:t>
            </a:r>
            <a:r>
              <a:rPr baseline="-25000" lang="en-GB"/>
              <a:t>j</a:t>
            </a:r>
            <a:r>
              <a:rPr lang="en-GB"/>
              <a:t>,   ∀  i ≠ j)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51" name="Google Shape;251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252" name="Google Shape;25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2726" y="1068938"/>
            <a:ext cx="4538550" cy="25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"/>
          <p:cNvSpPr txBox="1"/>
          <p:nvPr>
            <p:ph idx="1" type="body"/>
          </p:nvPr>
        </p:nvSpPr>
        <p:spPr>
          <a:xfrm>
            <a:off x="2064000" y="3858650"/>
            <a:ext cx="5016000" cy="11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[1, 2, 4, 6, 2, 4] - drum care nu este simplu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[1, 2, 4, 6, 2, 3] - drum simplu care nu este elementar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[1, 2, 4, 6] - drum elementar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59" name="Google Shape;259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Lungimea</a:t>
            </a:r>
            <a:r>
              <a:rPr lang="en-GB"/>
              <a:t> lui P este </a:t>
            </a:r>
            <a:r>
              <a:rPr b="1" lang="en-GB"/>
              <a:t>l(P) = k-1</a:t>
            </a:r>
            <a:r>
              <a:rPr lang="en-GB"/>
              <a:t> (cardinalul multisetului arcelor lui P)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</a:t>
            </a:r>
            <a:r>
              <a:rPr baseline="-25000" lang="en-GB"/>
              <a:t>1</a:t>
            </a:r>
            <a:r>
              <a:rPr lang="en-GB"/>
              <a:t> și v</a:t>
            </a:r>
            <a:r>
              <a:rPr baseline="-25000" lang="en-GB"/>
              <a:t>k</a:t>
            </a:r>
            <a:r>
              <a:rPr lang="en-GB"/>
              <a:t> se numesc </a:t>
            </a:r>
            <a:r>
              <a:rPr b="1" lang="en-GB"/>
              <a:t>capetele / extremitățile</a:t>
            </a:r>
            <a:r>
              <a:rPr lang="en-GB"/>
              <a:t> lui P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Char char="⏵"/>
            </a:pPr>
            <a:r>
              <a:rPr lang="en-GB"/>
              <a:t>P se numește și </a:t>
            </a:r>
            <a:r>
              <a:rPr b="1" lang="en-GB"/>
              <a:t>v</a:t>
            </a:r>
            <a:r>
              <a:rPr b="1" baseline="-25000" lang="en-GB"/>
              <a:t>1</a:t>
            </a:r>
            <a:r>
              <a:rPr b="1" lang="en-GB"/>
              <a:t>-v</a:t>
            </a:r>
            <a:r>
              <a:rPr b="1" baseline="-25000" lang="en-GB"/>
              <a:t>k </a:t>
            </a:r>
            <a:r>
              <a:rPr b="1" lang="en-GB"/>
              <a:t>lanț</a:t>
            </a:r>
            <a:endParaRPr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65" name="Google Shape;265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Notăm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V(P) = {v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</a:t>
            </a:r>
            <a:r>
              <a:rPr lang="en-GB"/>
              <a:t>}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e</a:t>
            </a:r>
            <a:r>
              <a:rPr baseline="-25000" lang="en-GB"/>
              <a:t>i</a:t>
            </a:r>
            <a:r>
              <a:rPr lang="en-GB"/>
              <a:t> = (v</a:t>
            </a:r>
            <a:r>
              <a:rPr baseline="-25000" lang="en-GB"/>
              <a:t>i</a:t>
            </a:r>
            <a:r>
              <a:rPr lang="en-GB"/>
              <a:t>, v</a:t>
            </a:r>
            <a:r>
              <a:rPr baseline="-25000" lang="en-GB"/>
              <a:t>i+1</a:t>
            </a:r>
            <a:r>
              <a:rPr lang="en-GB"/>
              <a:t>)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E(P) = {e</a:t>
            </a:r>
            <a:r>
              <a:rPr baseline="-25000" lang="en-GB"/>
              <a:t>1</a:t>
            </a:r>
            <a:r>
              <a:rPr lang="en-GB"/>
              <a:t>, e</a:t>
            </a:r>
            <a:r>
              <a:rPr baseline="-25000" lang="en-GB"/>
              <a:t>2</a:t>
            </a:r>
            <a:r>
              <a:rPr lang="en-GB"/>
              <a:t>, …, e</a:t>
            </a:r>
            <a:r>
              <a:rPr baseline="-25000" lang="en-GB"/>
              <a:t>k-1</a:t>
            </a:r>
            <a:r>
              <a:rPr lang="en-GB"/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71" name="Google Shape;271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Pentru două vârfuri u și v, definim </a:t>
            </a:r>
            <a:r>
              <a:rPr b="1" lang="en-GB"/>
              <a:t>distanța de la u la v</a:t>
            </a:r>
            <a:r>
              <a:rPr lang="en-GB"/>
              <a:t> astfel: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Reprezintă cea mai mică lungime a unui u-v drum.</a:t>
            </a:r>
            <a:endParaRPr/>
          </a:p>
        </p:txBody>
      </p:sp>
      <p:pic>
        <p:nvPicPr>
          <p:cNvPr id="272" name="Google Shape;27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6187" y="1439096"/>
            <a:ext cx="4291624" cy="91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86175" y="2571748"/>
            <a:ext cx="3746125" cy="209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79" name="Google Shape;279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Pentru două vârfuri u și v, definim </a:t>
            </a:r>
            <a:r>
              <a:rPr b="1" lang="en-GB"/>
              <a:t>distanța de la u la v</a:t>
            </a:r>
            <a:r>
              <a:rPr lang="en-GB"/>
              <a:t> astfel: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Reprezintă cea mai mică lungime a unui u-v drum.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u-v drum de lungime </a:t>
            </a:r>
            <a:r>
              <a:rPr b="1" i="1" lang="en-GB"/>
              <a:t>d</a:t>
            </a:r>
            <a:r>
              <a:rPr b="1" baseline="-25000" i="1" lang="en-GB"/>
              <a:t>G</a:t>
            </a:r>
            <a:r>
              <a:rPr b="1" i="1" lang="en-GB"/>
              <a:t>(u,v)</a:t>
            </a:r>
            <a:r>
              <a:rPr lang="en-GB"/>
              <a:t> se numește </a:t>
            </a:r>
            <a:r>
              <a:rPr b="1" lang="en-GB"/>
              <a:t>drum minim de la u la v</a:t>
            </a:r>
            <a:r>
              <a:rPr lang="en-GB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Vom nota și </a:t>
            </a:r>
            <a:r>
              <a:rPr b="1" i="1" lang="en-GB"/>
              <a:t>d(u,v)</a:t>
            </a:r>
            <a:r>
              <a:rPr lang="en-GB"/>
              <a:t> dacă G se deduce din context.</a:t>
            </a:r>
            <a:endParaRPr/>
          </a:p>
        </p:txBody>
      </p:sp>
      <p:pic>
        <p:nvPicPr>
          <p:cNvPr id="280" name="Google Shape;28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6187" y="1439096"/>
            <a:ext cx="4291624" cy="9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Drumuri. Circuite</a:t>
            </a:r>
            <a:endParaRPr/>
          </a:p>
        </p:txBody>
      </p:sp>
      <p:sp>
        <p:nvSpPr>
          <p:cNvPr id="286" name="Google Shape;286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Un </a:t>
            </a:r>
            <a:r>
              <a:rPr b="1" lang="en-GB"/>
              <a:t>circuit</a:t>
            </a:r>
            <a:r>
              <a:rPr lang="en-GB"/>
              <a:t> este un drum simplu cu capetele identice.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C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, v</a:t>
            </a:r>
            <a:r>
              <a:rPr baseline="-25000" lang="en-GB"/>
              <a:t>1</a:t>
            </a:r>
            <a:r>
              <a:rPr lang="en-GB"/>
              <a:t>]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1700"/>
              <a:buNone/>
            </a:pPr>
            <a:r>
              <a:rPr lang="en-GB"/>
              <a:t>C este </a:t>
            </a:r>
            <a:r>
              <a:rPr b="1" lang="en-GB"/>
              <a:t>circuit simplu</a:t>
            </a:r>
            <a:r>
              <a:rPr lang="en-GB"/>
              <a:t> dacă drumul asociat este simplu.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1700"/>
              <a:buNone/>
            </a:pPr>
            <a:r>
              <a:rPr lang="en-GB"/>
              <a:t>C este </a:t>
            </a:r>
            <a:r>
              <a:rPr b="1" lang="en-GB"/>
              <a:t>circuit elementar </a:t>
            </a:r>
            <a:r>
              <a:rPr lang="en-GB"/>
              <a:t>dacă drumul asociat este elementar.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Notații:	</a:t>
            </a:r>
            <a:r>
              <a:rPr lang="en-GB"/>
              <a:t>V(C), E(C)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Lanțuri. Cicluri</a:t>
            </a:r>
            <a:endParaRPr/>
          </a:p>
        </p:txBody>
      </p:sp>
      <p:sp>
        <p:nvSpPr>
          <p:cNvPr id="292" name="Google Shape;292;p3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Lanțuri. Cicluri</a:t>
            </a:r>
            <a:endParaRPr/>
          </a:p>
        </p:txBody>
      </p:sp>
      <p:sp>
        <p:nvSpPr>
          <p:cNvPr id="298" name="Google Shape;298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Pentru G graf </a:t>
            </a:r>
            <a:r>
              <a:rPr b="1" lang="en-GB"/>
              <a:t>neorientat</a:t>
            </a:r>
            <a:r>
              <a:rPr lang="en-GB"/>
              <a:t>, noțiunile sunt similare.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Un </a:t>
            </a:r>
            <a:r>
              <a:rPr b="1" lang="en-GB"/>
              <a:t>lanț</a:t>
            </a:r>
            <a:r>
              <a:rPr lang="en-GB"/>
              <a:t> este o secvență P de vârfuri cu proprietatea că oricare două vârfuri consecutive sunt adiacente.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P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]</a:t>
            </a:r>
            <a:br>
              <a:rPr lang="en-GB"/>
            </a:b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lanț simplu, lanț elementar, lungimea unui lanț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ciclu, ciclu elementar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Char char="⏵"/>
            </a:pPr>
            <a:r>
              <a:rPr b="1" lang="en-GB"/>
              <a:t>distanță, lanț minim</a:t>
            </a:r>
            <a:endParaRPr b="1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Lanțuri. Cicluri</a:t>
            </a:r>
            <a:endParaRPr/>
          </a:p>
        </p:txBody>
      </p:sp>
      <p:sp>
        <p:nvSpPr>
          <p:cNvPr id="304" name="Google Shape;304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În cazul unui graf simplu, putem descrie un lanț / ciclu doar ca o </a:t>
            </a:r>
            <a:r>
              <a:rPr b="1" lang="en-GB"/>
              <a:t>succesiune de vârfuri</a:t>
            </a:r>
            <a:r>
              <a:rPr lang="en-GB"/>
              <a:t> (fără a mai preciza și muchiile).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P = [v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, …, v</a:t>
            </a:r>
            <a:r>
              <a:rPr baseline="-25000" lang="en-GB"/>
              <a:t>k-1</a:t>
            </a:r>
            <a:r>
              <a:rPr lang="en-GB"/>
              <a:t>, v</a:t>
            </a:r>
            <a:r>
              <a:rPr baseline="-25000" lang="en-GB"/>
              <a:t>k</a:t>
            </a:r>
            <a:r>
              <a:rPr lang="en-GB"/>
              <a:t>]</a:t>
            </a:r>
            <a:endParaRPr/>
          </a:p>
        </p:txBody>
      </p:sp>
      <p:pic>
        <p:nvPicPr>
          <p:cNvPr id="305" name="Google Shape;30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7250" y="2155475"/>
            <a:ext cx="4220375" cy="236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 parțial. Subgraf. Conexitate</a:t>
            </a:r>
            <a:endParaRPr/>
          </a:p>
        </p:txBody>
      </p:sp>
      <p:sp>
        <p:nvSpPr>
          <p:cNvPr id="311" name="Google Shape;311;p3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17" name="Google Shape;317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graf parțial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subgraf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Char char="⏵"/>
            </a:pPr>
            <a:r>
              <a:rPr b="1" lang="en-GB"/>
              <a:t>subgraf indus</a:t>
            </a:r>
            <a:endParaRPr b="1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23" name="Google Shape;323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324" name="Google Shape;32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972225"/>
            <a:ext cx="2622025" cy="19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8"/>
          <p:cNvSpPr/>
          <p:nvPr/>
        </p:nvSpPr>
        <p:spPr>
          <a:xfrm rot="-1837940">
            <a:off x="3203469" y="2134954"/>
            <a:ext cx="836070" cy="700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6" name="Google Shape;326;p38"/>
          <p:cNvSpPr/>
          <p:nvPr/>
        </p:nvSpPr>
        <p:spPr>
          <a:xfrm>
            <a:off x="3243946" y="2965049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7" name="Google Shape;327;p38"/>
          <p:cNvSpPr/>
          <p:nvPr/>
        </p:nvSpPr>
        <p:spPr>
          <a:xfrm rot="2378542">
            <a:off x="3170329" y="3845712"/>
            <a:ext cx="836059" cy="702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28" name="Google Shape;32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179" y="906225"/>
            <a:ext cx="1951950" cy="14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8"/>
          <p:cNvSpPr txBox="1"/>
          <p:nvPr>
            <p:ph idx="1" type="body"/>
          </p:nvPr>
        </p:nvSpPr>
        <p:spPr>
          <a:xfrm>
            <a:off x="7320475" y="1408138"/>
            <a:ext cx="1370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graf parțial</a:t>
            </a:r>
            <a:endParaRPr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35" name="Google Shape;335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336" name="Google Shape;33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972225"/>
            <a:ext cx="2622025" cy="19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9"/>
          <p:cNvSpPr/>
          <p:nvPr/>
        </p:nvSpPr>
        <p:spPr>
          <a:xfrm rot="-1837940">
            <a:off x="3203469" y="2134954"/>
            <a:ext cx="836070" cy="700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38" name="Google Shape;338;p39"/>
          <p:cNvSpPr/>
          <p:nvPr/>
        </p:nvSpPr>
        <p:spPr>
          <a:xfrm>
            <a:off x="3243946" y="2965049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39" name="Google Shape;339;p39"/>
          <p:cNvSpPr/>
          <p:nvPr/>
        </p:nvSpPr>
        <p:spPr>
          <a:xfrm rot="2378542">
            <a:off x="3170329" y="3845712"/>
            <a:ext cx="836059" cy="702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40" name="Google Shape;34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179" y="906225"/>
            <a:ext cx="1951950" cy="14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9"/>
          <p:cNvSpPr txBox="1"/>
          <p:nvPr>
            <p:ph idx="1" type="body"/>
          </p:nvPr>
        </p:nvSpPr>
        <p:spPr>
          <a:xfrm>
            <a:off x="7320475" y="1408138"/>
            <a:ext cx="1370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graf parțial</a:t>
            </a:r>
            <a:endParaRPr b="1"/>
          </a:p>
        </p:txBody>
      </p:sp>
      <p:pic>
        <p:nvPicPr>
          <p:cNvPr id="342" name="Google Shape;34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8623" y="2529003"/>
            <a:ext cx="2175511" cy="9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9"/>
          <p:cNvSpPr txBox="1"/>
          <p:nvPr>
            <p:ph idx="1" type="body"/>
          </p:nvPr>
        </p:nvSpPr>
        <p:spPr>
          <a:xfrm>
            <a:off x="7397575" y="2723450"/>
            <a:ext cx="1370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subgraf</a:t>
            </a:r>
            <a:endParaRPr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49" name="Google Shape;349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350" name="Google Shape;3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972225"/>
            <a:ext cx="2622025" cy="1951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40"/>
          <p:cNvSpPr/>
          <p:nvPr/>
        </p:nvSpPr>
        <p:spPr>
          <a:xfrm rot="-1837940">
            <a:off x="3203469" y="2134954"/>
            <a:ext cx="836070" cy="7007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52" name="Google Shape;352;p40"/>
          <p:cNvSpPr/>
          <p:nvPr/>
        </p:nvSpPr>
        <p:spPr>
          <a:xfrm>
            <a:off x="3243946" y="2965049"/>
            <a:ext cx="836100" cy="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53" name="Google Shape;353;p40"/>
          <p:cNvSpPr/>
          <p:nvPr/>
        </p:nvSpPr>
        <p:spPr>
          <a:xfrm rot="2378542">
            <a:off x="3170329" y="3845712"/>
            <a:ext cx="836059" cy="702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DA2BF"/>
          </a:solidFill>
          <a:ln cap="flat" cmpd="thickThin" w="55000">
            <a:solidFill>
              <a:srgbClr val="2076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354" name="Google Shape;35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2179" y="906225"/>
            <a:ext cx="1951950" cy="14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8623" y="2529003"/>
            <a:ext cx="2175511" cy="9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18000" y="3867375"/>
            <a:ext cx="2320300" cy="10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0"/>
          <p:cNvSpPr txBox="1"/>
          <p:nvPr>
            <p:ph idx="1" type="body"/>
          </p:nvPr>
        </p:nvSpPr>
        <p:spPr>
          <a:xfrm>
            <a:off x="7528525" y="3658125"/>
            <a:ext cx="12843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subgraf indus de {1, 2, 5, 6}</a:t>
            </a:r>
            <a:endParaRPr b="1"/>
          </a:p>
        </p:txBody>
      </p:sp>
      <p:sp>
        <p:nvSpPr>
          <p:cNvPr id="358" name="Google Shape;358;p40"/>
          <p:cNvSpPr txBox="1"/>
          <p:nvPr>
            <p:ph idx="1" type="body"/>
          </p:nvPr>
        </p:nvSpPr>
        <p:spPr>
          <a:xfrm>
            <a:off x="7397575" y="2723450"/>
            <a:ext cx="1370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subgraf</a:t>
            </a:r>
            <a:endParaRPr b="1"/>
          </a:p>
        </p:txBody>
      </p:sp>
      <p:sp>
        <p:nvSpPr>
          <p:cNvPr id="359" name="Google Shape;359;p40"/>
          <p:cNvSpPr txBox="1"/>
          <p:nvPr>
            <p:ph idx="1" type="body"/>
          </p:nvPr>
        </p:nvSpPr>
        <p:spPr>
          <a:xfrm>
            <a:off x="7320475" y="1408138"/>
            <a:ext cx="1370100" cy="4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graf parțial</a:t>
            </a:r>
            <a:endParaRPr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65" name="Google Shape;365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și G</a:t>
            </a:r>
            <a:r>
              <a:rPr baseline="-25000" lang="en-GB"/>
              <a:t>1</a:t>
            </a:r>
            <a:r>
              <a:rPr lang="en-GB"/>
              <a:t> = (V</a:t>
            </a:r>
            <a:r>
              <a:rPr baseline="-25000" lang="en-GB"/>
              <a:t>1</a:t>
            </a:r>
            <a:r>
              <a:rPr lang="en-GB"/>
              <a:t>, E</a:t>
            </a:r>
            <a:r>
              <a:rPr baseline="-25000" lang="en-GB"/>
              <a:t>1</a:t>
            </a:r>
            <a:r>
              <a:rPr lang="en-GB"/>
              <a:t>)  două grafuri.</a:t>
            </a:r>
            <a:endParaRPr/>
          </a:p>
          <a:p>
            <a:pPr indent="-3365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este </a:t>
            </a:r>
            <a:r>
              <a:rPr b="1" lang="en-GB"/>
              <a:t>graf parțial</a:t>
            </a:r>
            <a:r>
              <a:rPr lang="en-GB"/>
              <a:t> al lui G (vom nota G</a:t>
            </a:r>
            <a:r>
              <a:rPr baseline="-25000" lang="en-GB"/>
              <a:t>1</a:t>
            </a:r>
            <a:r>
              <a:rPr lang="en-GB"/>
              <a:t> ≤ G) dacă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V</a:t>
            </a:r>
            <a:r>
              <a:rPr baseline="-25000" lang="en-GB"/>
              <a:t>1</a:t>
            </a:r>
            <a:r>
              <a:rPr lang="en-GB"/>
              <a:t> = V,   E</a:t>
            </a:r>
            <a:r>
              <a:rPr baseline="-25000" lang="en-GB"/>
              <a:t>1</a:t>
            </a:r>
            <a:r>
              <a:rPr lang="en-GB"/>
              <a:t> ⊆ E</a:t>
            </a:r>
            <a:endParaRPr sz="2000">
              <a:solidFill>
                <a:srgbClr val="000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71" name="Google Shape;371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și G</a:t>
            </a:r>
            <a:r>
              <a:rPr baseline="-25000" lang="en-GB"/>
              <a:t>1</a:t>
            </a:r>
            <a:r>
              <a:rPr lang="en-GB"/>
              <a:t> = (V</a:t>
            </a:r>
            <a:r>
              <a:rPr baseline="-25000" lang="en-GB"/>
              <a:t>1</a:t>
            </a:r>
            <a:r>
              <a:rPr lang="en-GB"/>
              <a:t>, E</a:t>
            </a:r>
            <a:r>
              <a:rPr baseline="-25000" lang="en-GB"/>
              <a:t>1</a:t>
            </a:r>
            <a:r>
              <a:rPr lang="en-GB"/>
              <a:t>)  două grafuri.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este </a:t>
            </a:r>
            <a:r>
              <a:rPr b="1" lang="en-GB"/>
              <a:t>graf parțial</a:t>
            </a:r>
            <a:r>
              <a:rPr lang="en-GB"/>
              <a:t> al lui G (vom nota G</a:t>
            </a:r>
            <a:r>
              <a:rPr baseline="-25000" lang="en-GB"/>
              <a:t>1</a:t>
            </a:r>
            <a:r>
              <a:rPr lang="en-GB"/>
              <a:t> ≤ G) dacă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V</a:t>
            </a:r>
            <a:r>
              <a:rPr baseline="-25000" lang="en-GB"/>
              <a:t>1</a:t>
            </a:r>
            <a:r>
              <a:rPr lang="en-GB"/>
              <a:t> = V,   E</a:t>
            </a:r>
            <a:r>
              <a:rPr baseline="-25000" lang="en-GB"/>
              <a:t>1</a:t>
            </a:r>
            <a:r>
              <a:rPr lang="en-GB"/>
              <a:t> ⊆ 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este </a:t>
            </a:r>
            <a:r>
              <a:rPr b="1" lang="en-GB"/>
              <a:t>subgraf</a:t>
            </a:r>
            <a:r>
              <a:rPr lang="en-GB"/>
              <a:t> al lui G (vom nota G</a:t>
            </a:r>
            <a:r>
              <a:rPr baseline="-25000" lang="en-GB"/>
              <a:t>1</a:t>
            </a:r>
            <a:r>
              <a:rPr lang="en-GB"/>
              <a:t> &lt; G) dacă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V</a:t>
            </a:r>
            <a:r>
              <a:rPr baseline="-25000" lang="en-GB"/>
              <a:t>1</a:t>
            </a:r>
            <a:r>
              <a:rPr lang="en-GB"/>
              <a:t> ⊆ V,   E</a:t>
            </a:r>
            <a:r>
              <a:rPr baseline="-25000" lang="en-GB"/>
              <a:t>1</a:t>
            </a:r>
            <a:r>
              <a:rPr lang="en-GB"/>
              <a:t> ⊆ 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parțial. Subgraf</a:t>
            </a:r>
            <a:endParaRPr/>
          </a:p>
        </p:txBody>
      </p:sp>
      <p:sp>
        <p:nvSpPr>
          <p:cNvPr id="377" name="Google Shape;377;p43"/>
          <p:cNvSpPr txBox="1"/>
          <p:nvPr>
            <p:ph idx="1" type="body"/>
          </p:nvPr>
        </p:nvSpPr>
        <p:spPr>
          <a:xfrm>
            <a:off x="311700" y="906225"/>
            <a:ext cx="8520600" cy="39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și G</a:t>
            </a:r>
            <a:r>
              <a:rPr baseline="-25000" lang="en-GB"/>
              <a:t>1</a:t>
            </a:r>
            <a:r>
              <a:rPr lang="en-GB"/>
              <a:t> = (V</a:t>
            </a:r>
            <a:r>
              <a:rPr baseline="-25000" lang="en-GB"/>
              <a:t>1</a:t>
            </a:r>
            <a:r>
              <a:rPr lang="en-GB"/>
              <a:t>, E</a:t>
            </a:r>
            <a:r>
              <a:rPr baseline="-25000" lang="en-GB"/>
              <a:t>1</a:t>
            </a:r>
            <a:r>
              <a:rPr lang="en-GB"/>
              <a:t>)  două grafuri.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este </a:t>
            </a:r>
            <a:r>
              <a:rPr b="1" lang="en-GB"/>
              <a:t>graf parțial</a:t>
            </a:r>
            <a:r>
              <a:rPr lang="en-GB"/>
              <a:t> al lui G (vom nota G</a:t>
            </a:r>
            <a:r>
              <a:rPr baseline="-25000" lang="en-GB"/>
              <a:t>1</a:t>
            </a:r>
            <a:r>
              <a:rPr lang="en-GB"/>
              <a:t> ≤ G) dacă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V</a:t>
            </a:r>
            <a:r>
              <a:rPr baseline="-25000" lang="en-GB"/>
              <a:t>1</a:t>
            </a:r>
            <a:r>
              <a:rPr lang="en-GB"/>
              <a:t> = V,   E</a:t>
            </a:r>
            <a:r>
              <a:rPr baseline="-25000" lang="en-GB"/>
              <a:t>1</a:t>
            </a:r>
            <a:r>
              <a:rPr lang="en-GB"/>
              <a:t> ⊆ 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este </a:t>
            </a:r>
            <a:r>
              <a:rPr b="1" lang="en-GB"/>
              <a:t>subgraf</a:t>
            </a:r>
            <a:r>
              <a:rPr lang="en-GB"/>
              <a:t> al lui G (vom nota G</a:t>
            </a:r>
            <a:r>
              <a:rPr baseline="-25000" lang="en-GB"/>
              <a:t>1</a:t>
            </a:r>
            <a:r>
              <a:rPr lang="en-GB"/>
              <a:t> &lt; G) dacă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	V</a:t>
            </a:r>
            <a:r>
              <a:rPr baseline="-25000" lang="en-GB"/>
              <a:t>1</a:t>
            </a:r>
            <a:r>
              <a:rPr lang="en-GB"/>
              <a:t> ⊆ V,   E</a:t>
            </a:r>
            <a:r>
              <a:rPr baseline="-25000" lang="en-GB"/>
              <a:t>1</a:t>
            </a:r>
            <a:r>
              <a:rPr lang="en-GB"/>
              <a:t> ⊆ 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</a:t>
            </a:r>
            <a:r>
              <a:rPr baseline="-25000" lang="en-GB"/>
              <a:t>1</a:t>
            </a:r>
            <a:r>
              <a:rPr lang="en-GB"/>
              <a:t> = {e | e ∈ E(G), e are ambele extremități în V</a:t>
            </a:r>
            <a:r>
              <a:rPr baseline="-25000" lang="en-GB"/>
              <a:t>1</a:t>
            </a:r>
            <a:r>
              <a:rPr lang="en-GB"/>
              <a:t>}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este </a:t>
            </a:r>
            <a:r>
              <a:rPr b="1" lang="en-GB"/>
              <a:t>subgraf indus de V</a:t>
            </a:r>
            <a:r>
              <a:rPr b="1" baseline="-25000" lang="en-GB"/>
              <a:t>1</a:t>
            </a:r>
            <a:r>
              <a:rPr b="1" lang="en-GB"/>
              <a:t> în G</a:t>
            </a:r>
            <a:r>
              <a:rPr lang="en-GB"/>
              <a:t> (vom nota G</a:t>
            </a:r>
            <a:r>
              <a:rPr baseline="-25000" lang="en-GB"/>
              <a:t>1</a:t>
            </a:r>
            <a:r>
              <a:rPr lang="en-GB"/>
              <a:t> = G[V</a:t>
            </a:r>
            <a:r>
              <a:rPr baseline="-25000" lang="en-GB"/>
              <a:t>1</a:t>
            </a:r>
            <a:r>
              <a:rPr lang="en-GB"/>
              <a:t>]) dacă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V</a:t>
            </a:r>
            <a:r>
              <a:rPr baseline="-25000" lang="en-GB"/>
              <a:t>1</a:t>
            </a:r>
            <a:r>
              <a:rPr lang="en-GB"/>
              <a:t> ⊆ V,   </a:t>
            </a:r>
            <a:r>
              <a:rPr lang="en-GB"/>
              <a:t>E</a:t>
            </a:r>
            <a:r>
              <a:rPr baseline="-25000" lang="en-GB"/>
              <a:t>1</a:t>
            </a:r>
            <a:r>
              <a:rPr lang="en-GB"/>
              <a:t> = {e | e ∈ E(G), e are ambele extremități în V</a:t>
            </a:r>
            <a:r>
              <a:rPr baseline="-25000" lang="en-GB"/>
              <a:t>1</a:t>
            </a:r>
            <a:r>
              <a:rPr lang="en-GB"/>
              <a:t>}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	(toate arcele din E cu extremități în V</a:t>
            </a:r>
            <a:r>
              <a:rPr b="1" baseline="-25000" lang="en-GB"/>
              <a:t>1</a:t>
            </a:r>
            <a:r>
              <a:rPr b="1" lang="en-GB"/>
              <a:t>)</a:t>
            </a:r>
            <a:endParaRPr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383" name="Google Shape;383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graf neorientat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graf conex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1" lang="en-GB"/>
              <a:t>componentă conexă</a:t>
            </a:r>
            <a:endParaRPr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389" name="Google Shape;389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390" name="Google Shape;39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1" y="1523537"/>
            <a:ext cx="1973975" cy="25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97" name="Google Shape;397;p46"/>
          <p:cNvSpPr txBox="1"/>
          <p:nvPr>
            <p:ph idx="1" type="body"/>
          </p:nvPr>
        </p:nvSpPr>
        <p:spPr>
          <a:xfrm>
            <a:off x="6944400" y="2934300"/>
            <a:ext cx="18879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ct val="114864"/>
              <a:buNone/>
            </a:pPr>
            <a:r>
              <a:rPr b="1" lang="en-GB"/>
              <a:t>două componente conexe</a:t>
            </a:r>
            <a:endParaRPr b="1"/>
          </a:p>
        </p:txBody>
      </p:sp>
      <p:grpSp>
        <p:nvGrpSpPr>
          <p:cNvPr id="398" name="Google Shape;398;p46"/>
          <p:cNvGrpSpPr/>
          <p:nvPr/>
        </p:nvGrpSpPr>
        <p:grpSpPr>
          <a:xfrm>
            <a:off x="311700" y="1522875"/>
            <a:ext cx="6699426" cy="2523600"/>
            <a:chOff x="311700" y="1522875"/>
            <a:chExt cx="6699426" cy="2523600"/>
          </a:xfrm>
        </p:grpSpPr>
        <p:pic>
          <p:nvPicPr>
            <p:cNvPr id="399" name="Google Shape;399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1700" y="1522875"/>
              <a:ext cx="6699426" cy="2523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11701" y="1523537"/>
              <a:ext cx="1973975" cy="2522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406" name="Google Shape;406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graf neorientat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 este un </a:t>
            </a:r>
            <a:r>
              <a:rPr b="1" lang="en-GB"/>
              <a:t>graf conex</a:t>
            </a:r>
            <a:r>
              <a:rPr lang="en-GB"/>
              <a:t> dacă, între orice două vârfuri distincte, există un lanț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graf neorientat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 este un </a:t>
            </a:r>
            <a:r>
              <a:rPr b="1" lang="en-GB"/>
              <a:t>graf conex</a:t>
            </a:r>
            <a:r>
              <a:rPr lang="en-GB"/>
              <a:t> dacă, între orice două vârfuri distincte, există un lanț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O </a:t>
            </a:r>
            <a:r>
              <a:rPr b="1" lang="en-GB"/>
              <a:t>componentă conexă</a:t>
            </a:r>
            <a:r>
              <a:rPr lang="en-GB"/>
              <a:t> a lui G este un </a:t>
            </a:r>
            <a:r>
              <a:rPr b="1" lang="en-GB"/>
              <a:t>subgraf indus conex maximal</a:t>
            </a:r>
            <a:r>
              <a:rPr lang="en-GB"/>
              <a:t> (care nu este inclus în alt subgraf conex)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418" name="Google Shape;418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 = (V, E) un graf neorientat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 este un </a:t>
            </a:r>
            <a:r>
              <a:rPr b="1" lang="en-GB"/>
              <a:t>graf conex</a:t>
            </a:r>
            <a:r>
              <a:rPr lang="en-GB"/>
              <a:t> dacă, între orice două vârfuri distincte, există un lanț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 </a:t>
            </a:r>
            <a:r>
              <a:rPr b="1" lang="en-GB"/>
              <a:t>componentă conexă</a:t>
            </a:r>
            <a:r>
              <a:rPr lang="en-GB"/>
              <a:t> a lui G este un </a:t>
            </a:r>
            <a:r>
              <a:rPr b="1" lang="en-GB"/>
              <a:t>subgraf indus conex maximal</a:t>
            </a:r>
            <a:r>
              <a:rPr lang="en-GB"/>
              <a:t> (care nu este inclus în alt subgraf conex)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Pentru cazul orientat - </a:t>
            </a:r>
            <a:r>
              <a:rPr b="1" lang="en-GB"/>
              <a:t>tare-conexitate</a:t>
            </a:r>
            <a:endParaRPr b="1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Conexitate</a:t>
            </a:r>
            <a:endParaRPr/>
          </a:p>
        </p:txBody>
      </p:sp>
      <p:sp>
        <p:nvSpPr>
          <p:cNvPr id="424" name="Google Shape;424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Notații</a:t>
            </a:r>
            <a:endParaRPr b="1"/>
          </a:p>
          <a:p>
            <a:pPr indent="-33655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- v,</a:t>
            </a:r>
            <a:r>
              <a:rPr lang="en-GB"/>
              <a:t> v ∈ V(G)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- e,</a:t>
            </a:r>
            <a:r>
              <a:rPr lang="en-GB"/>
              <a:t> e ∈ E(G)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- V’,</a:t>
            </a:r>
            <a:r>
              <a:rPr lang="en-GB"/>
              <a:t> V’ ⊆ V(G)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- E’,</a:t>
            </a:r>
            <a:r>
              <a:rPr lang="en-GB"/>
              <a:t> E’ ⊆ E(G)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G + e</a:t>
            </a:r>
            <a:endParaRPr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5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Egalitate. Izomorfism</a:t>
            </a:r>
            <a:endParaRPr/>
          </a:p>
        </p:txBody>
      </p:sp>
      <p:sp>
        <p:nvSpPr>
          <p:cNvPr id="430" name="Google Shape;430;p5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Egalitate</a:t>
            </a:r>
            <a:endParaRPr/>
          </a:p>
        </p:txBody>
      </p:sp>
      <p:sp>
        <p:nvSpPr>
          <p:cNvPr id="436" name="Google Shape;436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437" name="Google Shape;4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8800" y="925373"/>
            <a:ext cx="5106400" cy="37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Egalitate?</a:t>
            </a:r>
            <a:endParaRPr/>
          </a:p>
        </p:txBody>
      </p:sp>
      <p:sp>
        <p:nvSpPr>
          <p:cNvPr id="443" name="Google Shape;443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444" name="Google Shape;44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3775" y="927275"/>
            <a:ext cx="4979825" cy="37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50" name="Google Shape;450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2"/>
              <a:buFont typeface="Arial"/>
              <a:buNone/>
            </a:pPr>
            <a:r>
              <a:rPr lang="en-GB"/>
              <a:t>Fie G</a:t>
            </a:r>
            <a:r>
              <a:rPr baseline="-25000" lang="en-GB"/>
              <a:t>1</a:t>
            </a:r>
            <a:r>
              <a:rPr lang="en-GB"/>
              <a:t>, G</a:t>
            </a:r>
            <a:r>
              <a:rPr baseline="-25000" lang="en-GB"/>
              <a:t>2</a:t>
            </a:r>
            <a:r>
              <a:rPr lang="en-GB"/>
              <a:t> două grafuri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= (V</a:t>
            </a:r>
            <a:r>
              <a:rPr baseline="-25000" lang="en-GB"/>
              <a:t>1</a:t>
            </a:r>
            <a:r>
              <a:rPr lang="en-GB"/>
              <a:t>, E</a:t>
            </a:r>
            <a:r>
              <a:rPr baseline="-25000" lang="en-GB"/>
              <a:t>1</a:t>
            </a:r>
            <a:r>
              <a:rPr lang="en-GB"/>
              <a:t>) </a:t>
            </a:r>
            <a:endParaRPr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2</a:t>
            </a:r>
            <a:r>
              <a:rPr lang="en-GB"/>
              <a:t> = (V</a:t>
            </a:r>
            <a:r>
              <a:rPr baseline="-25000" lang="en-GB"/>
              <a:t>2</a:t>
            </a:r>
            <a:r>
              <a:rPr lang="en-GB"/>
              <a:t>, E</a:t>
            </a:r>
            <a:r>
              <a:rPr baseline="-25000" lang="en-GB"/>
              <a:t>2</a:t>
            </a:r>
            <a:r>
              <a:rPr lang="en-GB"/>
              <a:t>)</a:t>
            </a:r>
            <a:endParaRPr/>
          </a:p>
          <a:p>
            <a:pPr indent="0" lvl="0" marL="109728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8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2"/>
              <a:buFont typeface="Arial"/>
              <a:buNone/>
            </a:pPr>
            <a:r>
              <a:rPr lang="en-GB"/>
              <a:t>Grafurile G</a:t>
            </a:r>
            <a:r>
              <a:rPr baseline="-25000" lang="en-GB"/>
              <a:t>1</a:t>
            </a:r>
            <a:r>
              <a:rPr lang="en-GB"/>
              <a:t> și G</a:t>
            </a:r>
            <a:r>
              <a:rPr baseline="-25000" lang="en-GB"/>
              <a:t>2</a:t>
            </a:r>
            <a:r>
              <a:rPr lang="en-GB"/>
              <a:t> sunt </a:t>
            </a:r>
            <a:r>
              <a:rPr b="1" lang="en-GB"/>
              <a:t>izomorfe</a:t>
            </a:r>
            <a:r>
              <a:rPr lang="en-GB"/>
              <a:t> (G</a:t>
            </a:r>
            <a:r>
              <a:rPr baseline="-25000" lang="en-GB"/>
              <a:t>1</a:t>
            </a:r>
            <a:r>
              <a:rPr lang="en-GB"/>
              <a:t> ~ G</a:t>
            </a:r>
            <a:r>
              <a:rPr baseline="-25000" lang="en-GB"/>
              <a:t>2</a:t>
            </a:r>
            <a:r>
              <a:rPr lang="en-GB"/>
              <a:t>)  ⇔  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32"/>
              <a:buFont typeface="Arial"/>
              <a:buNone/>
            </a:pPr>
            <a:r>
              <a:rPr lang="en-GB"/>
              <a:t>există f : V</a:t>
            </a:r>
            <a:r>
              <a:rPr baseline="-25000" lang="en-GB"/>
              <a:t>1</a:t>
            </a:r>
            <a:r>
              <a:rPr lang="en-GB"/>
              <a:t> → V</a:t>
            </a:r>
            <a:r>
              <a:rPr baseline="-25000" lang="en-GB"/>
              <a:t>2</a:t>
            </a:r>
            <a:r>
              <a:rPr lang="en-GB"/>
              <a:t> bijectivă cu </a:t>
            </a:r>
            <a:endParaRPr/>
          </a:p>
          <a:p>
            <a:pPr indent="0" lvl="0" marL="109728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32"/>
              <a:buFont typeface="Arial"/>
              <a:buNone/>
            </a:pPr>
            <a:r>
              <a:rPr lang="en-GB"/>
              <a:t>		  </a:t>
            </a:r>
            <a:r>
              <a:rPr b="1" lang="en-GB"/>
              <a:t>uv ∈ E</a:t>
            </a:r>
            <a:r>
              <a:rPr b="1" baseline="-25000" lang="en-GB"/>
              <a:t>1</a:t>
            </a:r>
            <a:r>
              <a:rPr b="1" lang="en-GB"/>
              <a:t> ⇔  f(u)f(v) ∈ E</a:t>
            </a:r>
            <a:r>
              <a:rPr b="1" baseline="-25000" lang="en-GB"/>
              <a:t>2</a:t>
            </a:r>
            <a:r>
              <a:rPr b="1" lang="en-GB"/>
              <a:t> 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32"/>
              <a:buFont typeface="Arial"/>
              <a:buNone/>
            </a:pPr>
            <a:r>
              <a:rPr lang="en-GB"/>
              <a:t>pentru orice u,v ∈ V</a:t>
            </a:r>
            <a:r>
              <a:rPr baseline="-25000" lang="en-GB"/>
              <a:t>1</a:t>
            </a:r>
            <a:endParaRPr baseline="-25000"/>
          </a:p>
          <a:p>
            <a:pPr indent="0" lvl="0" marL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(f conservă adiacența și neadiacența)</a:t>
            </a:r>
            <a:endParaRPr b="1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56" name="Google Shape;456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Interpretare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Se pot reprezenta în plan prin același desen</a:t>
            </a:r>
            <a:endParaRPr/>
          </a:p>
        </p:txBody>
      </p:sp>
      <p:pic>
        <p:nvPicPr>
          <p:cNvPr id="457" name="Google Shape;45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699" y="1847988"/>
            <a:ext cx="1526975" cy="14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0975" y="2483975"/>
            <a:ext cx="277224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225" y="1833988"/>
            <a:ext cx="1526975" cy="1475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65" name="Google Shape;465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Interpretare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Se pot reprezenta în plan prin același desen</a:t>
            </a:r>
            <a:endParaRPr/>
          </a:p>
        </p:txBody>
      </p:sp>
      <p:pic>
        <p:nvPicPr>
          <p:cNvPr id="466" name="Google Shape;466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0699" y="1847988"/>
            <a:ext cx="1526975" cy="14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90975" y="2483975"/>
            <a:ext cx="277224" cy="17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4225" y="1833988"/>
            <a:ext cx="1526975" cy="147550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6"/>
          <p:cNvSpPr txBox="1"/>
          <p:nvPr>
            <p:ph idx="1" type="body"/>
          </p:nvPr>
        </p:nvSpPr>
        <p:spPr>
          <a:xfrm>
            <a:off x="7772750" y="1907700"/>
            <a:ext cx="594000" cy="13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1785"/>
              <a:buNone/>
            </a:pPr>
            <a:r>
              <a:rPr b="1" lang="en-GB"/>
              <a:t>f: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1785"/>
              <a:buFont typeface="Arial"/>
              <a:buNone/>
            </a:pPr>
            <a:r>
              <a:rPr b="1" lang="en-GB"/>
              <a:t>2 → a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1785"/>
              <a:buFont typeface="Arial"/>
              <a:buNone/>
            </a:pPr>
            <a:r>
              <a:rPr b="1" lang="en-GB"/>
              <a:t>4 → c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51785"/>
              <a:buFont typeface="Arial"/>
              <a:buNone/>
            </a:pPr>
            <a:r>
              <a:rPr b="1" lang="en-GB"/>
              <a:t>1 → b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1785"/>
              <a:buNone/>
            </a:pPr>
            <a:r>
              <a:rPr b="1" lang="en-GB"/>
              <a:t>3 → d</a:t>
            </a:r>
            <a:endParaRPr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75" name="Google Shape;475;p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~ G</a:t>
            </a:r>
            <a:r>
              <a:rPr baseline="-25000" lang="en-GB"/>
              <a:t>2</a:t>
            </a:r>
            <a:r>
              <a:rPr lang="en-GB"/>
              <a:t> ⇒ s(G</a:t>
            </a:r>
            <a:r>
              <a:rPr baseline="-25000" lang="en-GB"/>
              <a:t>1</a:t>
            </a:r>
            <a:r>
              <a:rPr lang="en-GB"/>
              <a:t>) = s(G</a:t>
            </a:r>
            <a:r>
              <a:rPr baseline="-25000" lang="en-GB"/>
              <a:t>2</a:t>
            </a:r>
            <a:r>
              <a:rPr lang="en-GB"/>
              <a:t>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s(G</a:t>
            </a:r>
            <a:r>
              <a:rPr baseline="-25000" lang="en-GB"/>
              <a:t>1</a:t>
            </a:r>
            <a:r>
              <a:rPr lang="en-GB"/>
              <a:t>) = s(G</a:t>
            </a:r>
            <a:r>
              <a:rPr baseline="-25000" lang="en-GB"/>
              <a:t>2</a:t>
            </a:r>
            <a:r>
              <a:rPr lang="en-GB"/>
              <a:t>) ⇒ G</a:t>
            </a:r>
            <a:r>
              <a:rPr baseline="-25000" lang="en-GB"/>
              <a:t>1</a:t>
            </a:r>
            <a:r>
              <a:rPr lang="en-GB"/>
              <a:t> ~ G</a:t>
            </a:r>
            <a:r>
              <a:rPr baseline="-25000" lang="en-GB"/>
              <a:t>2</a:t>
            </a:r>
            <a:r>
              <a:rPr lang="en-GB"/>
              <a:t> ?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81" name="Google Shape;481;p5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</a:t>
            </a:r>
            <a:r>
              <a:rPr baseline="-25000" lang="en-GB"/>
              <a:t>1</a:t>
            </a:r>
            <a:r>
              <a:rPr lang="en-GB"/>
              <a:t> ~ G</a:t>
            </a:r>
            <a:r>
              <a:rPr baseline="-25000" lang="en-GB"/>
              <a:t>2</a:t>
            </a:r>
            <a:r>
              <a:rPr lang="en-GB"/>
              <a:t> ⇒ s(G</a:t>
            </a:r>
            <a:r>
              <a:rPr baseline="-25000" lang="en-GB"/>
              <a:t>1</a:t>
            </a:r>
            <a:r>
              <a:rPr lang="en-GB"/>
              <a:t>) = s(G</a:t>
            </a:r>
            <a:r>
              <a:rPr baseline="-25000" lang="en-GB"/>
              <a:t>2</a:t>
            </a:r>
            <a:r>
              <a:rPr lang="en-GB"/>
              <a:t>)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lang="en-GB"/>
              <a:t>s(G</a:t>
            </a:r>
            <a:r>
              <a:rPr baseline="-25000" lang="en-GB"/>
              <a:t>1</a:t>
            </a:r>
            <a:r>
              <a:rPr lang="en-GB"/>
              <a:t>) = s(G</a:t>
            </a:r>
            <a:r>
              <a:rPr baseline="-25000" lang="en-GB"/>
              <a:t>2</a:t>
            </a:r>
            <a:r>
              <a:rPr lang="en-GB"/>
              <a:t>) ⇒ G</a:t>
            </a:r>
            <a:r>
              <a:rPr baseline="-25000" lang="en-GB"/>
              <a:t>1</a:t>
            </a:r>
            <a:r>
              <a:rPr lang="en-GB"/>
              <a:t> ~ G</a:t>
            </a:r>
            <a:r>
              <a:rPr baseline="-25000" lang="en-GB"/>
              <a:t>2</a:t>
            </a:r>
            <a:r>
              <a:rPr lang="en-GB"/>
              <a:t> 		</a:t>
            </a:r>
            <a:r>
              <a:rPr b="1" lang="en-GB"/>
              <a:t>NU</a:t>
            </a:r>
            <a:endParaRPr b="1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87" name="Google Shape;487;p5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488" name="Google Shape;48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899" y="1047663"/>
            <a:ext cx="4660275" cy="34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59"/>
          <p:cNvSpPr txBox="1"/>
          <p:nvPr>
            <p:ph idx="1" type="body"/>
          </p:nvPr>
        </p:nvSpPr>
        <p:spPr>
          <a:xfrm>
            <a:off x="776700" y="2312703"/>
            <a:ext cx="22206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Izomorfe?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495" name="Google Shape;495;p6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496" name="Google Shape;496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1899" y="1047663"/>
            <a:ext cx="4660275" cy="3474025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60"/>
          <p:cNvSpPr txBox="1"/>
          <p:nvPr>
            <p:ph idx="1" type="body"/>
          </p:nvPr>
        </p:nvSpPr>
        <p:spPr>
          <a:xfrm>
            <a:off x="776700" y="2312703"/>
            <a:ext cx="2220600" cy="13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Izomorfe?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Nu, grafurile nu au aceeași structură.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503" name="Google Shape;503;p6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Care dintre aceste grafuri sunt izomorfe?</a:t>
            </a:r>
            <a:endParaRPr/>
          </a:p>
        </p:txBody>
      </p:sp>
      <p:grpSp>
        <p:nvGrpSpPr>
          <p:cNvPr id="504" name="Google Shape;504;p61"/>
          <p:cNvGrpSpPr/>
          <p:nvPr/>
        </p:nvGrpSpPr>
        <p:grpSpPr>
          <a:xfrm>
            <a:off x="1000238" y="1608113"/>
            <a:ext cx="7143525" cy="2089488"/>
            <a:chOff x="1000238" y="1608113"/>
            <a:chExt cx="7143525" cy="2089488"/>
          </a:xfrm>
        </p:grpSpPr>
        <p:pic>
          <p:nvPicPr>
            <p:cNvPr id="505" name="Google Shape;505;p61"/>
            <p:cNvPicPr preferRelativeResize="0"/>
            <p:nvPr/>
          </p:nvPicPr>
          <p:blipFill rotWithShape="1">
            <a:blip r:embed="rId3">
              <a:alphaModFix/>
            </a:blip>
            <a:srcRect b="49122" l="0" r="0" t="0"/>
            <a:stretch/>
          </p:blipFill>
          <p:spPr>
            <a:xfrm>
              <a:off x="1000238" y="1608125"/>
              <a:ext cx="4378125" cy="2089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61"/>
            <p:cNvPicPr preferRelativeResize="0"/>
            <p:nvPr/>
          </p:nvPicPr>
          <p:blipFill rotWithShape="1">
            <a:blip r:embed="rId3">
              <a:alphaModFix/>
            </a:blip>
            <a:srcRect b="-2488" l="20146" r="29523" t="53078"/>
            <a:stretch/>
          </p:blipFill>
          <p:spPr>
            <a:xfrm>
              <a:off x="5874838" y="1608113"/>
              <a:ext cx="2268925" cy="20894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6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Izomorfism</a:t>
            </a:r>
            <a:endParaRPr/>
          </a:p>
        </p:txBody>
      </p:sp>
      <p:sp>
        <p:nvSpPr>
          <p:cNvPr id="512" name="Google Shape;512;p6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rPr lang="en-GB"/>
              <a:t>Sunt aceste grafuri izomorfe?</a:t>
            </a:r>
            <a:endParaRPr/>
          </a:p>
        </p:txBody>
      </p:sp>
      <p:pic>
        <p:nvPicPr>
          <p:cNvPr id="513" name="Google Shape;51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698375"/>
            <a:ext cx="3851046" cy="1746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1254" y="1698366"/>
            <a:ext cx="3851046" cy="17467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 standard</a:t>
            </a:r>
            <a:endParaRPr/>
          </a:p>
        </p:txBody>
      </p:sp>
      <p:sp>
        <p:nvSpPr>
          <p:cNvPr id="520" name="Google Shape;520;p6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6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526" name="Google Shape;526;p6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527" name="Google Shape;527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706411"/>
            <a:ext cx="4093725" cy="215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1600" y="852375"/>
            <a:ext cx="2091075" cy="386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534" name="Google Shape;534;p6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/>
              <a:t>Un graf </a:t>
            </a:r>
            <a:r>
              <a:rPr b="1" lang="en-GB"/>
              <a:t>neorientat</a:t>
            </a:r>
            <a:r>
              <a:rPr lang="en-GB"/>
              <a:t> G = (V, E) se numește </a:t>
            </a:r>
            <a:r>
              <a:rPr b="1" lang="en-GB"/>
              <a:t>bipartit</a:t>
            </a:r>
            <a:r>
              <a:rPr lang="en-GB"/>
              <a:t> ⇔ există o partiție a lui V în două submulțimi V</a:t>
            </a:r>
            <a:r>
              <a:rPr baseline="-25000" lang="en-GB"/>
              <a:t>1</a:t>
            </a:r>
            <a:r>
              <a:rPr lang="en-GB"/>
              <a:t>, V</a:t>
            </a:r>
            <a:r>
              <a:rPr baseline="-25000" lang="en-GB"/>
              <a:t>2</a:t>
            </a:r>
            <a:r>
              <a:rPr lang="en-GB"/>
              <a:t> (bipartiție):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V = V</a:t>
            </a:r>
            <a:r>
              <a:rPr baseline="-25000" lang="en-GB"/>
              <a:t>1</a:t>
            </a:r>
            <a:r>
              <a:rPr lang="en-GB"/>
              <a:t> ∪ V</a:t>
            </a:r>
            <a:r>
              <a:rPr baseline="-25000" lang="en-GB"/>
              <a:t>2</a:t>
            </a:r>
            <a:endParaRPr baseline="-250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⏵"/>
            </a:pPr>
            <a:r>
              <a:rPr lang="en-GB"/>
              <a:t>V</a:t>
            </a:r>
            <a:r>
              <a:rPr baseline="-25000" lang="en-GB"/>
              <a:t>1</a:t>
            </a:r>
            <a:r>
              <a:rPr lang="en-GB"/>
              <a:t> ∩ V</a:t>
            </a:r>
            <a:r>
              <a:rPr baseline="-25000" lang="en-GB"/>
              <a:t>2</a:t>
            </a:r>
            <a:r>
              <a:rPr lang="en-GB"/>
              <a:t> = ∅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en-GB"/>
              <a:t>astfel încât orice muchie e ∈ E are o extremitate în V</a:t>
            </a:r>
            <a:r>
              <a:rPr baseline="-25000" lang="en-GB"/>
              <a:t>1</a:t>
            </a:r>
            <a:r>
              <a:rPr lang="en-GB"/>
              <a:t> și cealaltă în V</a:t>
            </a:r>
            <a:r>
              <a:rPr baseline="-25000" lang="en-GB"/>
              <a:t>2</a:t>
            </a:r>
            <a:r>
              <a:rPr lang="en-GB"/>
              <a:t>:</a:t>
            </a:r>
            <a:endParaRPr/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/>
              <a:t>|e ∩ V</a:t>
            </a:r>
            <a:r>
              <a:rPr baseline="-25000" lang="en-GB"/>
              <a:t>1</a:t>
            </a:r>
            <a:r>
              <a:rPr lang="en-GB"/>
              <a:t>| = |e ∩ V</a:t>
            </a:r>
            <a:r>
              <a:rPr baseline="-25000" lang="en-GB"/>
              <a:t>2</a:t>
            </a:r>
            <a:r>
              <a:rPr lang="en-GB"/>
              <a:t>| =1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540" name="Google Shape;540;p6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Observație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G = (V, E)</a:t>
            </a:r>
            <a:r>
              <a:rPr b="1" lang="en-GB"/>
              <a:t> bipartit</a:t>
            </a:r>
            <a:r>
              <a:rPr lang="en-GB"/>
              <a:t> ⇔ există o colorare a vârfurilor cu două culori: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 : V → {1, 2}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astfel încât, pentru orice muchie e = xy ∈ E, avem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c(x) ≠ c(y)		</a:t>
            </a:r>
            <a:r>
              <a:rPr b="1" lang="en-GB"/>
              <a:t>(bicolorare)</a:t>
            </a:r>
            <a:endParaRPr b="1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6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bipartit</a:t>
            </a:r>
            <a:endParaRPr/>
          </a:p>
        </p:txBody>
      </p:sp>
      <p:sp>
        <p:nvSpPr>
          <p:cNvPr id="546" name="Google Shape;546;p6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547" name="Google Shape;54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25001" y="1085263"/>
            <a:ext cx="5694001" cy="2972974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67"/>
          <p:cNvSpPr txBox="1"/>
          <p:nvPr>
            <p:ph idx="1" type="body"/>
          </p:nvPr>
        </p:nvSpPr>
        <p:spPr>
          <a:xfrm>
            <a:off x="3512700" y="4421725"/>
            <a:ext cx="21186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Nu este graf bipartit</a:t>
            </a:r>
            <a:endParaRPr b="1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standard</a:t>
            </a:r>
            <a:endParaRPr/>
          </a:p>
        </p:txBody>
      </p:sp>
      <p:sp>
        <p:nvSpPr>
          <p:cNvPr id="554" name="Google Shape;554;p6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P</a:t>
            </a:r>
            <a:r>
              <a:rPr baseline="-25000" lang="en-GB"/>
              <a:t>n</a:t>
            </a:r>
            <a:r>
              <a:rPr lang="en-GB"/>
              <a:t> - lanț elementar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</a:t>
            </a:r>
            <a:r>
              <a:rPr baseline="-25000" lang="en-GB"/>
              <a:t>n</a:t>
            </a:r>
            <a:r>
              <a:rPr lang="en-GB"/>
              <a:t> - ciclu elementar</a:t>
            </a:r>
            <a:endParaRPr/>
          </a:p>
        </p:txBody>
      </p:sp>
      <p:pic>
        <p:nvPicPr>
          <p:cNvPr id="555" name="Google Shape;55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7325" y="1909158"/>
            <a:ext cx="34956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6" name="Google Shape;556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56612" y="3242576"/>
            <a:ext cx="1430775" cy="118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6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standard</a:t>
            </a:r>
            <a:endParaRPr/>
          </a:p>
        </p:txBody>
      </p:sp>
      <p:sp>
        <p:nvSpPr>
          <p:cNvPr id="562" name="Google Shape;562;p6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K</a:t>
            </a:r>
            <a:r>
              <a:rPr baseline="-25000" lang="en-GB"/>
              <a:t>n</a:t>
            </a:r>
            <a:r>
              <a:rPr lang="en-GB"/>
              <a:t> - graf complet de grad n</a:t>
            </a:r>
            <a:endParaRPr/>
          </a:p>
        </p:txBody>
      </p:sp>
      <p:pic>
        <p:nvPicPr>
          <p:cNvPr id="563" name="Google Shape;56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125" y="2282550"/>
            <a:ext cx="4349774" cy="190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standard</a:t>
            </a:r>
            <a:endParaRPr/>
          </a:p>
        </p:txBody>
      </p:sp>
      <p:sp>
        <p:nvSpPr>
          <p:cNvPr id="569" name="Google Shape;569;p7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K</a:t>
            </a:r>
            <a:r>
              <a:rPr baseline="-25000" lang="en-GB"/>
              <a:t>p,q</a:t>
            </a:r>
            <a:r>
              <a:rPr lang="en-GB"/>
              <a:t> - graf bipartit complet</a:t>
            </a:r>
            <a:endParaRPr/>
          </a:p>
        </p:txBody>
      </p:sp>
      <p:pic>
        <p:nvPicPr>
          <p:cNvPr id="570" name="Google Shape;57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1413" y="1749500"/>
            <a:ext cx="2101175" cy="313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7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standard</a:t>
            </a:r>
            <a:endParaRPr/>
          </a:p>
        </p:txBody>
      </p:sp>
      <p:sp>
        <p:nvSpPr>
          <p:cNvPr id="576" name="Google Shape;576;p7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K</a:t>
            </a:r>
            <a:r>
              <a:rPr baseline="-25000" lang="en-GB"/>
              <a:t>3,3</a:t>
            </a:r>
            <a:endParaRPr baseline="-25000"/>
          </a:p>
        </p:txBody>
      </p:sp>
      <p:pic>
        <p:nvPicPr>
          <p:cNvPr id="577" name="Google Shape;577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52274" y="1953573"/>
            <a:ext cx="4839450" cy="207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Graful complementar al unui graf neorientat</a:t>
            </a:r>
            <a:endParaRPr/>
          </a:p>
        </p:txBody>
      </p:sp>
      <p:sp>
        <p:nvSpPr>
          <p:cNvPr id="583" name="Google Shape;583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Fie graful G = (V, E) un graf neorientat.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G = (V, E) 	</a:t>
            </a:r>
            <a:r>
              <a:rPr b="1" lang="en-GB"/>
              <a:t>graful complementar</a:t>
            </a:r>
            <a:r>
              <a:rPr lang="en-GB"/>
              <a:t> al lui G</a:t>
            </a:r>
            <a:endParaRPr/>
          </a:p>
        </p:txBody>
      </p:sp>
      <p:cxnSp>
        <p:nvCxnSpPr>
          <p:cNvPr id="584" name="Google Shape;584;p72"/>
          <p:cNvCxnSpPr/>
          <p:nvPr/>
        </p:nvCxnSpPr>
        <p:spPr>
          <a:xfrm>
            <a:off x="850975" y="1845025"/>
            <a:ext cx="19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72"/>
          <p:cNvCxnSpPr/>
          <p:nvPr/>
        </p:nvCxnSpPr>
        <p:spPr>
          <a:xfrm>
            <a:off x="1536775" y="1845025"/>
            <a:ext cx="19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86" name="Google Shape;586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4003" y="2336628"/>
            <a:ext cx="5895975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72"/>
          <p:cNvSpPr txBox="1"/>
          <p:nvPr>
            <p:ph idx="1" type="body"/>
          </p:nvPr>
        </p:nvSpPr>
        <p:spPr>
          <a:xfrm>
            <a:off x="6641875" y="3994825"/>
            <a:ext cx="34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</a:t>
            </a:r>
            <a:endParaRPr b="1"/>
          </a:p>
        </p:txBody>
      </p:sp>
      <p:sp>
        <p:nvSpPr>
          <p:cNvPr id="588" name="Google Shape;588;p72"/>
          <p:cNvSpPr txBox="1"/>
          <p:nvPr>
            <p:ph idx="1" type="body"/>
          </p:nvPr>
        </p:nvSpPr>
        <p:spPr>
          <a:xfrm>
            <a:off x="2317100" y="3994825"/>
            <a:ext cx="3489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G</a:t>
            </a:r>
            <a:endParaRPr b="1"/>
          </a:p>
        </p:txBody>
      </p:sp>
      <p:cxnSp>
        <p:nvCxnSpPr>
          <p:cNvPr id="589" name="Google Shape;589;p72"/>
          <p:cNvCxnSpPr/>
          <p:nvPr/>
        </p:nvCxnSpPr>
        <p:spPr>
          <a:xfrm>
            <a:off x="6718375" y="4054825"/>
            <a:ext cx="195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4" name="Google Shape;59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13A800-5BDB-4A90-9C4A-1F3997441543}"/>
</file>

<file path=customXml/itemProps2.xml><?xml version="1.0" encoding="utf-8"?>
<ds:datastoreItem xmlns:ds="http://schemas.openxmlformats.org/officeDocument/2006/customXml" ds:itemID="{0BC0609B-B8B9-4ED1-AA8C-2AA5E97853E8}"/>
</file>

<file path=customXml/itemProps3.xml><?xml version="1.0" encoding="utf-8"?>
<ds:datastoreItem xmlns:ds="http://schemas.openxmlformats.org/officeDocument/2006/customXml" ds:itemID="{E95DA3DD-A51D-431C-8165-B01722A58DAD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