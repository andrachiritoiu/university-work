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Roboto Mono"/>
      <p:regular r:id="rId53"/>
      <p:bold r:id="rId54"/>
      <p:italic r:id="rId55"/>
      <p:boldItalic r:id="rId56"/>
    </p:embeddedFont>
    <p:embeddedFont>
      <p:font typeface="Merriweather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814253-6DB6-4FD5-B651-216F1A7BBF0B}">
  <a:tblStyle styleId="{BA814253-6DB6-4FD5-B651-216F1A7BBF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3.xml"/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34" Type="http://schemas.openxmlformats.org/officeDocument/2006/relationships/slide" Target="slides/slide28.xml"/><Relationship Id="rId21" Type="http://schemas.openxmlformats.org/officeDocument/2006/relationships/slide" Target="slides/slide15.xml"/><Relationship Id="rId50" Type="http://schemas.openxmlformats.org/officeDocument/2006/relationships/font" Target="fonts/Roboto-bold.fntdata"/><Relationship Id="rId55" Type="http://schemas.openxmlformats.org/officeDocument/2006/relationships/font" Target="fonts/RobotoMono-italic.fntdata"/><Relationship Id="rId63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24" Type="http://schemas.openxmlformats.org/officeDocument/2006/relationships/slide" Target="slides/slide18.xml"/><Relationship Id="rId53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58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1" Type="http://schemas.openxmlformats.org/officeDocument/2006/relationships/customXml" Target="../customXml/item1.xml"/><Relationship Id="rId19" Type="http://schemas.openxmlformats.org/officeDocument/2006/relationships/slide" Target="slides/slide13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56" Type="http://schemas.openxmlformats.org/officeDocument/2006/relationships/font" Target="fonts/RobotoMono-boldItalic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51" Type="http://schemas.openxmlformats.org/officeDocument/2006/relationships/font" Target="fonts/Roboto-italic.fntdata"/><Relationship Id="rId3" Type="http://schemas.openxmlformats.org/officeDocument/2006/relationships/presProps" Target="presProps.xml"/><Relationship Id="rId46" Type="http://schemas.openxmlformats.org/officeDocument/2006/relationships/slide" Target="slides/slide40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25" Type="http://schemas.openxmlformats.org/officeDocument/2006/relationships/slide" Target="slides/slide19.xml"/><Relationship Id="rId12" Type="http://schemas.openxmlformats.org/officeDocument/2006/relationships/slide" Target="slides/slide6.xml"/><Relationship Id="rId59" Type="http://schemas.openxmlformats.org/officeDocument/2006/relationships/font" Target="fonts/Merriweather-italic.fntdata"/><Relationship Id="rId17" Type="http://schemas.openxmlformats.org/officeDocument/2006/relationships/slide" Target="slides/slide11.xml"/><Relationship Id="rId41" Type="http://schemas.openxmlformats.org/officeDocument/2006/relationships/slide" Target="slides/slide35.xml"/><Relationship Id="rId20" Type="http://schemas.openxmlformats.org/officeDocument/2006/relationships/slide" Target="slides/slide14.xml"/><Relationship Id="rId54" Type="http://schemas.openxmlformats.org/officeDocument/2006/relationships/font" Target="fonts/RobotoMono-bold.fntdata"/><Relationship Id="rId62" Type="http://schemas.openxmlformats.org/officeDocument/2006/relationships/customXml" Target="../customXml/item2.xml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49" Type="http://schemas.openxmlformats.org/officeDocument/2006/relationships/font" Target="fonts/Roboto-regular.fntdata"/><Relationship Id="rId36" Type="http://schemas.openxmlformats.org/officeDocument/2006/relationships/slide" Target="slides/slide30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7" Type="http://schemas.openxmlformats.org/officeDocument/2006/relationships/font" Target="fonts/Merriweather-regular.fntdata"/><Relationship Id="rId15" Type="http://schemas.openxmlformats.org/officeDocument/2006/relationships/slide" Target="slides/slide9.xml"/><Relationship Id="rId44" Type="http://schemas.openxmlformats.org/officeDocument/2006/relationships/slide" Target="slides/slide38.xml"/><Relationship Id="rId31" Type="http://schemas.openxmlformats.org/officeDocument/2006/relationships/slide" Target="slides/slide25.xml"/><Relationship Id="rId60" Type="http://schemas.openxmlformats.org/officeDocument/2006/relationships/font" Target="fonts/Merriweather-boldItalic.fntdata"/><Relationship Id="rId5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4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Drumuri minime de la un vârf s dat la celelalte vârfuri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(de sursă unică)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Ipoteză: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Arcele pot avea și cost </a:t>
            </a:r>
            <a:r>
              <a:rPr lang="en-GB">
                <a:solidFill>
                  <a:srgbClr val="CC0000"/>
                </a:solidFill>
              </a:rPr>
              <a:t>negativ</a:t>
            </a:r>
            <a:endParaRPr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Graful </a:t>
            </a:r>
            <a:r>
              <a:rPr lang="en-GB">
                <a:solidFill>
                  <a:srgbClr val="CC0000"/>
                </a:solidFill>
              </a:rPr>
              <a:t>nu </a:t>
            </a:r>
            <a:r>
              <a:rPr b="0" lang="en-GB"/>
              <a:t>conține circuite de cost negativ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-GB" sz="1500"/>
              <a:t>(dacă există ⇒ algoritmul le va detecta ⇒ nu are soluție)</a:t>
            </a:r>
            <a:endParaRPr b="0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grpSp>
        <p:nvGrpSpPr>
          <p:cNvPr id="91" name="Google Shape;91;p19"/>
          <p:cNvGrpSpPr/>
          <p:nvPr/>
        </p:nvGrpSpPr>
        <p:grpSpPr>
          <a:xfrm>
            <a:off x="2522975" y="1565375"/>
            <a:ext cx="4025250" cy="1376250"/>
            <a:chOff x="2522975" y="1565375"/>
            <a:chExt cx="4025250" cy="1376250"/>
          </a:xfrm>
        </p:grpSpPr>
        <p:sp>
          <p:nvSpPr>
            <p:cNvPr id="92" name="Google Shape;92;p19"/>
            <p:cNvSpPr/>
            <p:nvPr/>
          </p:nvSpPr>
          <p:spPr>
            <a:xfrm>
              <a:off x="2522975" y="1725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3744725" y="1725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9"/>
            <p:cNvSpPr/>
            <p:nvPr/>
          </p:nvSpPr>
          <p:spPr>
            <a:xfrm>
              <a:off x="4966475" y="1725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6188225" y="17253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3162675" y="25816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" name="Google Shape;97;p19"/>
            <p:cNvCxnSpPr>
              <a:stCxn id="92" idx="6"/>
              <a:endCxn id="93" idx="2"/>
            </p:cNvCxnSpPr>
            <p:nvPr/>
          </p:nvCxnSpPr>
          <p:spPr>
            <a:xfrm>
              <a:off x="2882975" y="19053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8" name="Google Shape;98;p19"/>
            <p:cNvCxnSpPr>
              <a:stCxn id="92" idx="5"/>
              <a:endCxn id="96" idx="1"/>
            </p:cNvCxnSpPr>
            <p:nvPr/>
          </p:nvCxnSpPr>
          <p:spPr>
            <a:xfrm>
              <a:off x="2830254" y="20326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9" name="Google Shape;99;p19"/>
            <p:cNvCxnSpPr>
              <a:stCxn id="96" idx="7"/>
              <a:endCxn id="93" idx="3"/>
            </p:cNvCxnSpPr>
            <p:nvPr/>
          </p:nvCxnSpPr>
          <p:spPr>
            <a:xfrm flipH="1" rot="10800000">
              <a:off x="3469954" y="20325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0" name="Google Shape;100;p19"/>
            <p:cNvCxnSpPr>
              <a:stCxn id="93" idx="6"/>
              <a:endCxn id="94" idx="2"/>
            </p:cNvCxnSpPr>
            <p:nvPr/>
          </p:nvCxnSpPr>
          <p:spPr>
            <a:xfrm>
              <a:off x="4104725" y="19053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1" name="Google Shape;101;p19"/>
            <p:cNvCxnSpPr>
              <a:stCxn id="94" idx="3"/>
              <a:endCxn id="96" idx="6"/>
            </p:cNvCxnSpPr>
            <p:nvPr/>
          </p:nvCxnSpPr>
          <p:spPr>
            <a:xfrm flipH="1">
              <a:off x="3522796" y="20326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2" name="Google Shape;102;p19"/>
            <p:cNvCxnSpPr>
              <a:stCxn id="94" idx="6"/>
              <a:endCxn id="95" idx="2"/>
            </p:cNvCxnSpPr>
            <p:nvPr/>
          </p:nvCxnSpPr>
          <p:spPr>
            <a:xfrm>
              <a:off x="5326475" y="19053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" name="Google Shape;103;p19"/>
            <p:cNvSpPr txBox="1"/>
            <p:nvPr/>
          </p:nvSpPr>
          <p:spPr>
            <a:xfrm>
              <a:off x="3150075" y="15653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9"/>
            <p:cNvSpPr txBox="1"/>
            <p:nvPr/>
          </p:nvSpPr>
          <p:spPr>
            <a:xfrm>
              <a:off x="4381950" y="15653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9"/>
            <p:cNvSpPr txBox="1"/>
            <p:nvPr/>
          </p:nvSpPr>
          <p:spPr>
            <a:xfrm>
              <a:off x="5564750" y="15653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9"/>
            <p:cNvSpPr txBox="1"/>
            <p:nvPr/>
          </p:nvSpPr>
          <p:spPr>
            <a:xfrm>
              <a:off x="2665925" y="21970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3289000" y="20735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4266025" y="23198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9"/>
          <p:cNvSpPr txBox="1"/>
          <p:nvPr/>
        </p:nvSpPr>
        <p:spPr>
          <a:xfrm>
            <a:off x="1800600" y="3624475"/>
            <a:ext cx="554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Algoritmul lui Dijkstra - doar pentru ponderi nenegative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Idee:</a:t>
            </a:r>
            <a:r>
              <a:rPr b="0" lang="en-GB"/>
              <a:t> La un pas, relaxăm </a:t>
            </a:r>
            <a:r>
              <a:rPr lang="en-GB"/>
              <a:t>toate arcele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De câte ori?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116" name="Google Shape;116;p20"/>
          <p:cNvSpPr/>
          <p:nvPr/>
        </p:nvSpPr>
        <p:spPr>
          <a:xfrm>
            <a:off x="2262300" y="2371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537175" y="24765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6560175" y="2371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4897925" y="25643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/>
          <p:nvPr/>
        </p:nvSpPr>
        <p:spPr>
          <a:xfrm>
            <a:off x="2495625" y="22773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 rot="5400000">
            <a:off x="4472925" y="-2284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534875" y="1550350"/>
            <a:ext cx="23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s-y drum minim cu ≤ k arce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0"/>
          <p:cNvSpPr/>
          <p:nvPr/>
        </p:nvSpPr>
        <p:spPr>
          <a:xfrm rot="-5400000">
            <a:off x="3328275" y="19068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2239475" y="3226750"/>
            <a:ext cx="25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s-x drum minim cu ≤ k-1 arce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Idee:</a:t>
            </a:r>
            <a:r>
              <a:rPr b="0" lang="en-GB"/>
              <a:t> La un pas, relaxăm </a:t>
            </a:r>
            <a:r>
              <a:rPr lang="en-GB"/>
              <a:t>toate arcele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De câte ori?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P este s-y drum cu ≤ k arce	 ⇒	[s    x] este s-x drum minim cu ≤ k-1 arce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solidFill>
                  <a:schemeClr val="accent5"/>
                </a:solidFill>
              </a:rPr>
              <a:t>Un drum minim are cel mult n-1 arce ⇒ n-1 etape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208300" y="3921350"/>
            <a:ext cx="2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21"/>
          <p:cNvCxnSpPr/>
          <p:nvPr/>
        </p:nvCxnSpPr>
        <p:spPr>
          <a:xfrm>
            <a:off x="4239800" y="4172025"/>
            <a:ext cx="2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>
            <a:off x="2262300" y="2371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537175" y="24765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6560175" y="2371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4897925" y="25643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2495625" y="22773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 rot="5400000">
            <a:off x="4472925" y="-2284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3534875" y="1550350"/>
            <a:ext cx="236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s-y drum minim cu ≤ k arce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/>
          <p:nvPr/>
        </p:nvSpPr>
        <p:spPr>
          <a:xfrm rot="-5400000">
            <a:off x="3328275" y="19068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2239475" y="3226750"/>
            <a:ext cx="25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s-x drum minim cu ≤ k-1 arce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Idee:</a:t>
            </a:r>
            <a:r>
              <a:rPr b="0" lang="en-GB"/>
              <a:t> La un pas, relaxăm </a:t>
            </a:r>
            <a:r>
              <a:rPr lang="en-GB"/>
              <a:t>toate arcele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relaxăm arcele dintr-un vârf selectat u, ci </a:t>
            </a:r>
            <a:r>
              <a:rPr lang="en-GB">
                <a:solidFill>
                  <a:srgbClr val="CC0000"/>
                </a:solidFill>
              </a:rPr>
              <a:t>din toate vârfurile</a:t>
            </a:r>
            <a:r>
              <a:rPr b="0" lang="en-GB"/>
              <a:t>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n-1 etape </a:t>
            </a:r>
            <a:r>
              <a:rPr b="0" lang="en-GB"/>
              <a:t>- după k etape, d[u] ≤ costul minim al unui drum de la s la u cu cel mult k arce (programare dinamică)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⇒ după k etape, sunt corect calculate etichetele d[u] pentru acele vârfuri u pentru care </a:t>
            </a:r>
            <a:r>
              <a:rPr lang="en-GB"/>
              <a:t>există un s-u drum minim cu cel mult k arce</a:t>
            </a:r>
            <a:endParaRPr/>
          </a:p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Notăm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 = costul minim al unui s-x drum cu cel mult k arce</a:t>
            </a:r>
            <a:endParaRPr b="0"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4142175" y="1780713"/>
            <a:ext cx="84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(s, y)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997525" y="323415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(s, x)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2262300" y="2599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4537175" y="2705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560175" y="2599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4897925" y="27929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2495625" y="25059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 rot="5400000">
            <a:off x="4472925" y="1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3"/>
          <p:cNvSpPr/>
          <p:nvPr/>
        </p:nvSpPr>
        <p:spPr>
          <a:xfrm rot="-5400000">
            <a:off x="3328275" y="19830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906225"/>
            <a:ext cx="8520600" cy="41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Notăm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 = costul minim al unui s-x drum cu cel mult k arce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Avem:</a:t>
            </a:r>
            <a:endParaRPr b="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>
                <a:solidFill>
                  <a:srgbClr val="CC0000"/>
                </a:solidFill>
              </a:rPr>
              <a:t>k</a:t>
            </a:r>
            <a:r>
              <a:rPr b="0" lang="en-GB">
                <a:solidFill>
                  <a:srgbClr val="CC0000"/>
                </a:solidFill>
              </a:rPr>
              <a:t>(s, y) = min{ </a:t>
            </a:r>
            <a:r>
              <a:rPr b="0"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>
                <a:solidFill>
                  <a:srgbClr val="CC0000"/>
                </a:solidFill>
              </a:rPr>
              <a:t>k-1</a:t>
            </a:r>
            <a:r>
              <a:rPr b="0" lang="en-GB">
                <a:solidFill>
                  <a:srgbClr val="CC0000"/>
                </a:solidFill>
              </a:rPr>
              <a:t>(s, y),    min{ </a:t>
            </a:r>
            <a:r>
              <a:rPr b="0" lang="en-GB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>
                <a:solidFill>
                  <a:srgbClr val="CC0000"/>
                </a:solidFill>
              </a:rPr>
              <a:t>k-1</a:t>
            </a:r>
            <a:r>
              <a:rPr b="0" lang="en-GB">
                <a:solidFill>
                  <a:srgbClr val="CC0000"/>
                </a:solidFill>
              </a:rPr>
              <a:t>(s, x) + w(xy) | xy ∈ E } } </a:t>
            </a:r>
            <a:endParaRPr b="0"/>
          </a:p>
        </p:txBody>
      </p:sp>
      <p:sp>
        <p:nvSpPr>
          <p:cNvPr id="168" name="Google Shape;168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4142175" y="1780713"/>
            <a:ext cx="84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(s, y)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2997525" y="323415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(s, x)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2262300" y="2599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4537175" y="2705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560175" y="25996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4897925" y="27929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2495625" y="25059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 rot="5400000">
            <a:off x="4472925" y="1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 rot="-5400000">
            <a:off x="3328275" y="19830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2417375" y="2952050"/>
            <a:ext cx="2778850" cy="995950"/>
          </a:xfrm>
          <a:custGeom>
            <a:rect b="b" l="l" r="r" t="t"/>
            <a:pathLst>
              <a:path extrusionOk="0" h="39838" w="111154">
                <a:moveTo>
                  <a:pt x="0" y="0"/>
                </a:moveTo>
                <a:cubicBezTo>
                  <a:pt x="1757" y="5774"/>
                  <a:pt x="-2560" y="28015"/>
                  <a:pt x="10543" y="34642"/>
                </a:cubicBezTo>
                <a:cubicBezTo>
                  <a:pt x="23647" y="41269"/>
                  <a:pt x="61853" y="39561"/>
                  <a:pt x="78621" y="39762"/>
                </a:cubicBezTo>
                <a:cubicBezTo>
                  <a:pt x="95390" y="39963"/>
                  <a:pt x="105732" y="36499"/>
                  <a:pt x="111154" y="3584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5148350" y="35880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24"/>
          <p:cNvCxnSpPr>
            <a:stCxn id="179" idx="6"/>
            <a:endCxn id="173" idx="3"/>
          </p:cNvCxnSpPr>
          <p:nvPr/>
        </p:nvCxnSpPr>
        <p:spPr>
          <a:xfrm flipH="1" rot="10800000">
            <a:off x="5508350" y="2907000"/>
            <a:ext cx="1104600" cy="86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d[u] = ∞; tata[u] = 0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i = 1,n-1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dacă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d[u]+w(u, v) &lt; d[v]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	d[v] = d[u]+w(u, v)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	tata[v] = u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fiecare u∈V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d[u] = ∞; tata[u] = 0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d[s] = 0</a:t>
            </a:r>
            <a:endParaRPr b="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i = 1,n-1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fiecare uv∈E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br>
              <a:rPr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		dacă </a:t>
            </a: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d[u]+w(u, v) &lt; d[v]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	d[v] = d[u]+w(u, v)</a:t>
            </a:r>
            <a:br>
              <a:rPr b="0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lang="en-GB">
                <a:latin typeface="Roboto Mono"/>
                <a:ea typeface="Roboto Mono"/>
                <a:cs typeface="Roboto Mono"/>
                <a:sym typeface="Roboto Mono"/>
              </a:rPr>
              <a:t>			tata[v] = u</a:t>
            </a:r>
            <a:endParaRPr b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Complexitate:</a:t>
            </a:r>
            <a:r>
              <a:rPr b="0" lang="en-GB"/>
              <a:t> O(nm)</a:t>
            </a:r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Optimizări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La un pas, este suficient să relaxăm arcele din vârfuri ale căror etichetă s-a modificat anterior</a:t>
            </a:r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Optimizări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La un pas, este suficient să relaxăm arcele din vârfuri ale căror etichetă s-a modificat anterior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⇒ </a:t>
            </a:r>
            <a:r>
              <a:rPr lang="en-GB"/>
              <a:t>coadă</a:t>
            </a:r>
            <a:r>
              <a:rPr b="0" lang="en-GB"/>
              <a:t> cu vârfurile ale căror etichetă s-a actualizat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 sz="1400"/>
              <a:t>(Detalii - laborator)</a:t>
            </a:r>
            <a:endParaRPr b="0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1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211" name="Google Shape;211;p29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212" name="Google Shape;212;p29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7" name="Google Shape;217;p29"/>
            <p:cNvCxnSpPr>
              <a:stCxn id="212" idx="6"/>
              <a:endCxn id="213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29"/>
            <p:cNvCxnSpPr>
              <a:stCxn id="212" idx="5"/>
              <a:endCxn id="216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" name="Google Shape;219;p29"/>
            <p:cNvCxnSpPr>
              <a:stCxn id="216" idx="7"/>
              <a:endCxn id="213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0" name="Google Shape;220;p29"/>
            <p:cNvCxnSpPr>
              <a:stCxn id="213" idx="6"/>
              <a:endCxn id="214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1" name="Google Shape;221;p29"/>
            <p:cNvCxnSpPr>
              <a:stCxn id="214" idx="3"/>
              <a:endCxn id="216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22" name="Google Shape;222;p29"/>
            <p:cNvCxnSpPr>
              <a:stCxn id="214" idx="6"/>
              <a:endCxn id="215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3" name="Google Shape;223;p29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9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9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9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9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9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29"/>
          <p:cNvSpPr txBox="1"/>
          <p:nvPr/>
        </p:nvSpPr>
        <p:spPr>
          <a:xfrm>
            <a:off x="6423725" y="1058075"/>
            <a:ext cx="109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30" name="Google Shape;230;p29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1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237" name="Google Shape;237;p30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238" name="Google Shape;238;p30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" name="Google Shape;243;p30"/>
            <p:cNvCxnSpPr>
              <a:stCxn id="238" idx="6"/>
              <a:endCxn id="239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4" name="Google Shape;244;p30"/>
            <p:cNvCxnSpPr>
              <a:stCxn id="238" idx="5"/>
              <a:endCxn id="242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5" name="Google Shape;245;p30"/>
            <p:cNvCxnSpPr>
              <a:stCxn id="242" idx="7"/>
              <a:endCxn id="239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6" name="Google Shape;246;p30"/>
            <p:cNvCxnSpPr>
              <a:stCxn id="239" idx="6"/>
              <a:endCxn id="240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7" name="Google Shape;247;p30"/>
            <p:cNvCxnSpPr>
              <a:stCxn id="240" idx="3"/>
              <a:endCxn id="242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8" name="Google Shape;248;p30"/>
            <p:cNvCxnSpPr>
              <a:stCxn id="240" idx="6"/>
              <a:endCxn id="241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9" name="Google Shape;249;p30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0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0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0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0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30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30"/>
          <p:cNvSpPr txBox="1"/>
          <p:nvPr/>
        </p:nvSpPr>
        <p:spPr>
          <a:xfrm>
            <a:off x="6423725" y="1058075"/>
            <a:ext cx="109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6" name="Google Shape;256;p30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∞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262" name="Google Shape;262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1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263" name="Google Shape;263;p31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264" name="Google Shape;264;p31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9" name="Google Shape;269;p31"/>
            <p:cNvCxnSpPr>
              <a:stCxn id="264" idx="6"/>
              <a:endCxn id="265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p31"/>
            <p:cNvCxnSpPr>
              <a:stCxn id="264" idx="5"/>
              <a:endCxn id="268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" name="Google Shape;271;p31"/>
            <p:cNvCxnSpPr>
              <a:stCxn id="268" idx="7"/>
              <a:endCxn id="265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2" name="Google Shape;272;p31"/>
            <p:cNvCxnSpPr>
              <a:stCxn id="265" idx="6"/>
              <a:endCxn id="266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3" name="Google Shape;273;p31"/>
            <p:cNvCxnSpPr>
              <a:stCxn id="266" idx="3"/>
              <a:endCxn id="268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4" name="Google Shape;274;p31"/>
            <p:cNvCxnSpPr>
              <a:stCxn id="266" idx="6"/>
              <a:endCxn id="267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5" name="Google Shape;275;p31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31"/>
          <p:cNvSpPr txBox="1"/>
          <p:nvPr/>
        </p:nvSpPr>
        <p:spPr>
          <a:xfrm>
            <a:off x="6423725" y="1058075"/>
            <a:ext cx="1099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4 5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2" name="Google Shape;282;p31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1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289" name="Google Shape;289;p32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290" name="Google Shape;290;p32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2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2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2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2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5" name="Google Shape;295;p32"/>
            <p:cNvCxnSpPr>
              <a:stCxn id="290" idx="6"/>
              <a:endCxn id="291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6" name="Google Shape;296;p32"/>
            <p:cNvCxnSpPr>
              <a:stCxn id="290" idx="5"/>
              <a:endCxn id="294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7" name="Google Shape;297;p32"/>
            <p:cNvCxnSpPr>
              <a:stCxn id="294" idx="7"/>
              <a:endCxn id="291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8" name="Google Shape;298;p32"/>
            <p:cNvCxnSpPr>
              <a:stCxn id="291" idx="6"/>
              <a:endCxn id="292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9" name="Google Shape;299;p32"/>
            <p:cNvCxnSpPr>
              <a:stCxn id="292" idx="3"/>
              <a:endCxn id="294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0" name="Google Shape;300;p32"/>
            <p:cNvCxnSpPr>
              <a:stCxn id="292" idx="6"/>
              <a:endCxn id="293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1" name="Google Shape;301;p32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2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2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2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2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2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p32"/>
          <p:cNvSpPr txBox="1"/>
          <p:nvPr/>
        </p:nvSpPr>
        <p:spPr>
          <a:xfrm>
            <a:off x="6423725" y="1058075"/>
            <a:ext cx="1099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4 5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08" name="Google Shape;308;p32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314" name="Google Shape;314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2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315" name="Google Shape;315;p33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316" name="Google Shape;316;p33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3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3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1" name="Google Shape;321;p33"/>
            <p:cNvCxnSpPr>
              <a:stCxn id="316" idx="6"/>
              <a:endCxn id="317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2" name="Google Shape;322;p33"/>
            <p:cNvCxnSpPr>
              <a:stCxn id="316" idx="5"/>
              <a:endCxn id="320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3" name="Google Shape;323;p33"/>
            <p:cNvCxnSpPr>
              <a:stCxn id="320" idx="7"/>
              <a:endCxn id="317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4" name="Google Shape;324;p33"/>
            <p:cNvCxnSpPr>
              <a:stCxn id="317" idx="6"/>
              <a:endCxn id="318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5" name="Google Shape;325;p33"/>
            <p:cNvCxnSpPr>
              <a:stCxn id="318" idx="3"/>
              <a:endCxn id="320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6" name="Google Shape;326;p33"/>
            <p:cNvCxnSpPr>
              <a:stCxn id="318" idx="6"/>
              <a:endCxn id="319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27" name="Google Shape;327;p33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3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3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3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3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3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33"/>
          <p:cNvSpPr txBox="1"/>
          <p:nvPr/>
        </p:nvSpPr>
        <p:spPr>
          <a:xfrm>
            <a:off x="6423725" y="1058075"/>
            <a:ext cx="109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34" name="Google Shape;334;p33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335" name="Google Shape;335;p33"/>
          <p:cNvSpPr txBox="1"/>
          <p:nvPr/>
        </p:nvSpPr>
        <p:spPr>
          <a:xfrm>
            <a:off x="3996825" y="2292350"/>
            <a:ext cx="228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nu a fost actualizat la etapa anterioară, le putem ignora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3"/>
          <p:cNvCxnSpPr/>
          <p:nvPr/>
        </p:nvCxnSpPr>
        <p:spPr>
          <a:xfrm flipH="1">
            <a:off x="5851425" y="1885550"/>
            <a:ext cx="745500" cy="406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342" name="Google Shape;342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2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343" name="Google Shape;343;p34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344" name="Google Shape;344;p34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9" name="Google Shape;349;p34"/>
            <p:cNvCxnSpPr>
              <a:stCxn id="344" idx="6"/>
              <a:endCxn id="345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0" name="Google Shape;350;p34"/>
            <p:cNvCxnSpPr>
              <a:stCxn id="344" idx="5"/>
              <a:endCxn id="348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1" name="Google Shape;351;p34"/>
            <p:cNvCxnSpPr>
              <a:stCxn id="348" idx="7"/>
              <a:endCxn id="345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2" name="Google Shape;352;p34"/>
            <p:cNvCxnSpPr>
              <a:stCxn id="345" idx="6"/>
              <a:endCxn id="346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3" name="Google Shape;353;p34"/>
            <p:cNvCxnSpPr>
              <a:stCxn id="346" idx="3"/>
              <a:endCxn id="348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4" name="Google Shape;354;p34"/>
            <p:cNvCxnSpPr>
              <a:stCxn id="346" idx="6"/>
              <a:endCxn id="347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5" name="Google Shape;355;p34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4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4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4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4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4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1" name="Google Shape;361;p34"/>
          <p:cNvSpPr txBox="1"/>
          <p:nvPr/>
        </p:nvSpPr>
        <p:spPr>
          <a:xfrm>
            <a:off x="6423725" y="1058075"/>
            <a:ext cx="1099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62" name="Google Shape;362;p34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2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369" name="Google Shape;369;p35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370" name="Google Shape;370;p35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5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5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35"/>
            <p:cNvCxnSpPr>
              <a:stCxn id="370" idx="6"/>
              <a:endCxn id="371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6" name="Google Shape;376;p35"/>
            <p:cNvCxnSpPr>
              <a:stCxn id="370" idx="5"/>
              <a:endCxn id="374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7" name="Google Shape;377;p35"/>
            <p:cNvCxnSpPr>
              <a:stCxn id="374" idx="7"/>
              <a:endCxn id="371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8" name="Google Shape;378;p35"/>
            <p:cNvCxnSpPr>
              <a:stCxn id="371" idx="6"/>
              <a:endCxn id="372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9" name="Google Shape;379;p35"/>
            <p:cNvCxnSpPr>
              <a:stCxn id="372" idx="3"/>
              <a:endCxn id="374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80" name="Google Shape;380;p35"/>
            <p:cNvCxnSpPr>
              <a:stCxn id="372" idx="6"/>
              <a:endCxn id="373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81" name="Google Shape;381;p35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5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5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5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5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5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35"/>
          <p:cNvSpPr txBox="1"/>
          <p:nvPr/>
        </p:nvSpPr>
        <p:spPr>
          <a:xfrm>
            <a:off x="6423725" y="1058075"/>
            <a:ext cx="1099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88" name="Google Shape;388;p35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394" name="Google Shape;394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2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395" name="Google Shape;395;p36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396" name="Google Shape;396;p36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36"/>
            <p:cNvCxnSpPr>
              <a:stCxn id="396" idx="6"/>
              <a:endCxn id="397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36"/>
            <p:cNvCxnSpPr>
              <a:stCxn id="396" idx="5"/>
              <a:endCxn id="400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3" name="Google Shape;403;p36"/>
            <p:cNvCxnSpPr>
              <a:stCxn id="400" idx="7"/>
              <a:endCxn id="397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4" name="Google Shape;404;p36"/>
            <p:cNvCxnSpPr>
              <a:stCxn id="397" idx="6"/>
              <a:endCxn id="398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5" name="Google Shape;405;p36"/>
            <p:cNvCxnSpPr>
              <a:stCxn id="398" idx="3"/>
              <a:endCxn id="400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6" name="Google Shape;406;p36"/>
            <p:cNvCxnSpPr>
              <a:stCxn id="398" idx="6"/>
              <a:endCxn id="399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7" name="Google Shape;407;p36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36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36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6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6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3" name="Google Shape;413;p36"/>
          <p:cNvSpPr txBox="1"/>
          <p:nvPr/>
        </p:nvSpPr>
        <p:spPr>
          <a:xfrm>
            <a:off x="6423725" y="1058075"/>
            <a:ext cx="1099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4 5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4" name="Google Shape;414;p36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CC0000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420" name="Google Shape;420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2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421" name="Google Shape;421;p37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422" name="Google Shape;422;p37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7" name="Google Shape;427;p37"/>
            <p:cNvCxnSpPr>
              <a:stCxn id="422" idx="6"/>
              <a:endCxn id="423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8" name="Google Shape;428;p37"/>
            <p:cNvCxnSpPr>
              <a:stCxn id="422" idx="5"/>
              <a:endCxn id="426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9" name="Google Shape;429;p37"/>
            <p:cNvCxnSpPr>
              <a:stCxn id="426" idx="7"/>
              <a:endCxn id="423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0" name="Google Shape;430;p37"/>
            <p:cNvCxnSpPr>
              <a:stCxn id="423" idx="6"/>
              <a:endCxn id="424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" name="Google Shape;431;p37"/>
            <p:cNvCxnSpPr>
              <a:stCxn id="424" idx="3"/>
              <a:endCxn id="426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2" name="Google Shape;432;p37"/>
            <p:cNvCxnSpPr>
              <a:stCxn id="424" idx="6"/>
              <a:endCxn id="425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3" name="Google Shape;433;p37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7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7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7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7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7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37"/>
          <p:cNvSpPr txBox="1"/>
          <p:nvPr/>
        </p:nvSpPr>
        <p:spPr>
          <a:xfrm>
            <a:off x="6423725" y="1058075"/>
            <a:ext cx="1099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4 5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40" name="Google Shape;440;p37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Bellman-Ford</a:t>
            </a:r>
            <a:endParaRPr/>
          </a:p>
        </p:txBody>
      </p:sp>
      <p:sp>
        <p:nvSpPr>
          <p:cNvPr id="446" name="Google Shape;446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 sz="2000">
                <a:solidFill>
                  <a:srgbClr val="CC0000"/>
                </a:solidFill>
              </a:rPr>
              <a:t>Etapa 3</a:t>
            </a:r>
            <a:endParaRPr b="0" sz="1800">
              <a:solidFill>
                <a:srgbClr val="CC0000"/>
              </a:solidFill>
            </a:endParaRPr>
          </a:p>
        </p:txBody>
      </p:sp>
      <p:grpSp>
        <p:nvGrpSpPr>
          <p:cNvPr id="447" name="Google Shape;447;p38"/>
          <p:cNvGrpSpPr/>
          <p:nvPr/>
        </p:nvGrpSpPr>
        <p:grpSpPr>
          <a:xfrm>
            <a:off x="465575" y="1489175"/>
            <a:ext cx="4025250" cy="1376250"/>
            <a:chOff x="465575" y="1489175"/>
            <a:chExt cx="4025250" cy="1376250"/>
          </a:xfrm>
        </p:grpSpPr>
        <p:sp>
          <p:nvSpPr>
            <p:cNvPr id="448" name="Google Shape;448;p38"/>
            <p:cNvSpPr/>
            <p:nvPr/>
          </p:nvSpPr>
          <p:spPr>
            <a:xfrm>
              <a:off x="4655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16873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290907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4130825" y="16491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8"/>
            <p:cNvSpPr/>
            <p:nvPr/>
          </p:nvSpPr>
          <p:spPr>
            <a:xfrm>
              <a:off x="1105275" y="25054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3" name="Google Shape;453;p38"/>
            <p:cNvCxnSpPr>
              <a:stCxn id="448" idx="6"/>
              <a:endCxn id="449" idx="2"/>
            </p:cNvCxnSpPr>
            <p:nvPr/>
          </p:nvCxnSpPr>
          <p:spPr>
            <a:xfrm>
              <a:off x="8255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4" name="Google Shape;454;p38"/>
            <p:cNvCxnSpPr>
              <a:stCxn id="448" idx="5"/>
              <a:endCxn id="452" idx="1"/>
            </p:cNvCxnSpPr>
            <p:nvPr/>
          </p:nvCxnSpPr>
          <p:spPr>
            <a:xfrm>
              <a:off x="772854" y="1956404"/>
              <a:ext cx="3852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5" name="Google Shape;455;p38"/>
            <p:cNvCxnSpPr>
              <a:stCxn id="452" idx="7"/>
              <a:endCxn id="449" idx="3"/>
            </p:cNvCxnSpPr>
            <p:nvPr/>
          </p:nvCxnSpPr>
          <p:spPr>
            <a:xfrm flipH="1" rot="10800000">
              <a:off x="1412554" y="1956346"/>
              <a:ext cx="327600" cy="6018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6" name="Google Shape;456;p38"/>
            <p:cNvCxnSpPr>
              <a:stCxn id="449" idx="6"/>
              <a:endCxn id="450" idx="2"/>
            </p:cNvCxnSpPr>
            <p:nvPr/>
          </p:nvCxnSpPr>
          <p:spPr>
            <a:xfrm>
              <a:off x="204732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7" name="Google Shape;457;p38"/>
            <p:cNvCxnSpPr>
              <a:stCxn id="450" idx="3"/>
              <a:endCxn id="452" idx="6"/>
            </p:cNvCxnSpPr>
            <p:nvPr/>
          </p:nvCxnSpPr>
          <p:spPr>
            <a:xfrm flipH="1">
              <a:off x="1465396" y="1956404"/>
              <a:ext cx="1496400" cy="729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58" name="Google Shape;458;p38"/>
            <p:cNvCxnSpPr>
              <a:stCxn id="450" idx="6"/>
              <a:endCxn id="451" idx="2"/>
            </p:cNvCxnSpPr>
            <p:nvPr/>
          </p:nvCxnSpPr>
          <p:spPr>
            <a:xfrm>
              <a:off x="3269075" y="1829125"/>
              <a:ext cx="8619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9" name="Google Shape;459;p38"/>
            <p:cNvSpPr txBox="1"/>
            <p:nvPr/>
          </p:nvSpPr>
          <p:spPr>
            <a:xfrm>
              <a:off x="1092675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8"/>
            <p:cNvSpPr txBox="1"/>
            <p:nvPr/>
          </p:nvSpPr>
          <p:spPr>
            <a:xfrm>
              <a:off x="23245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8"/>
            <p:cNvSpPr txBox="1"/>
            <p:nvPr/>
          </p:nvSpPr>
          <p:spPr>
            <a:xfrm>
              <a:off x="3507350" y="1489175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8"/>
            <p:cNvSpPr txBox="1"/>
            <p:nvPr/>
          </p:nvSpPr>
          <p:spPr>
            <a:xfrm>
              <a:off x="608525" y="21208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8"/>
            <p:cNvSpPr txBox="1"/>
            <p:nvPr/>
          </p:nvSpPr>
          <p:spPr>
            <a:xfrm>
              <a:off x="1231600" y="199730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8"/>
            <p:cNvSpPr txBox="1"/>
            <p:nvPr/>
          </p:nvSpPr>
          <p:spPr>
            <a:xfrm>
              <a:off x="2208625" y="2243650"/>
              <a:ext cx="38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38"/>
          <p:cNvSpPr txBox="1"/>
          <p:nvPr/>
        </p:nvSpPr>
        <p:spPr>
          <a:xfrm>
            <a:off x="6423725" y="1058075"/>
            <a:ext cx="1099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Relaxăm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2 4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4 3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4 5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3 2</a:t>
            </a:r>
            <a:endParaRPr b="1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66" name="Google Shape;466;p38"/>
          <p:cNvGraphicFramePr/>
          <p:nvPr/>
        </p:nvGraphicFramePr>
        <p:xfrm>
          <a:off x="1872000" y="39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{BA814253-6DB6-4FD5-B651-216F1A7BBF0B}</a:tableStyleId>
              </a:tblPr>
              <a:tblGrid>
                <a:gridCol w="900000"/>
                <a:gridCol w="900000"/>
                <a:gridCol w="900000"/>
                <a:gridCol w="900000"/>
                <a:gridCol w="900000"/>
                <a:gridCol w="900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2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3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4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467" name="Google Shape;467;p38"/>
          <p:cNvSpPr txBox="1"/>
          <p:nvPr/>
        </p:nvSpPr>
        <p:spPr>
          <a:xfrm>
            <a:off x="2927250" y="2825750"/>
            <a:ext cx="32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 se mai actualizează nimic - STOP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38"/>
          <p:cNvCxnSpPr/>
          <p:nvPr/>
        </p:nvCxnSpPr>
        <p:spPr>
          <a:xfrm flipH="1">
            <a:off x="4937100" y="2289350"/>
            <a:ext cx="1531800" cy="536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9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Corectitudinea algoritmului Bellman-Ford</a:t>
            </a:r>
            <a:endParaRPr/>
          </a:p>
        </p:txBody>
      </p:sp>
      <p:sp>
        <p:nvSpPr>
          <p:cNvPr id="474" name="Google Shape;474;p39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480" name="Google Shape;480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Lema 1 (comună)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orice u∈V, la orice pas al algoritmului, avem: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dacă d[u] &lt; ∞</a:t>
            </a:r>
            <a:r>
              <a:rPr b="0" lang="en-GB"/>
              <a:t>, există un drum de la s la u în G de cost d[u] și acesta se poate determina din vectorul tata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tata[u] = predecesorul lui u pe un drum de la s la u de cost d[u]</a:t>
            </a:r>
            <a:endParaRPr sz="15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d[u] ≥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lang="en-GB"/>
              <a:t>(s, u)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486" name="Google Shape;486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Lema 1 (comună) - Demonstrație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Inducție după numărul de etape (o etapă = relaxarea tuturor muchiilor)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După k iterații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= costul minim al unui s-x drum cu cel mult k muchii</a:t>
            </a:r>
            <a:endParaRPr b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492" name="Google Shape;492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= costul minim al unui s-x drum cu cel mult k muchii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 = 0:   d[s] = 0 = w([s])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k-1 ⇒ k:   Presupunem că, înainte de iterația k: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  pentru orice 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Eticheta unui vârf y la iterația k se actualizează astfel:</a:t>
            </a:r>
            <a:endParaRPr b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498" name="Google Shape;498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= costul minim al unui s-x drum cu cel mult k muchii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 = 0:   d[s] = 0 = w([s])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k-1 ⇒ k:   Presupunem că, înainte de iterația k: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  pentru orice 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Eticheta unui vârf y la iterația k se actualizează astfel: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d[y] ≤ min{ d[y], min{ d[x]+w(x,y) | xy ∈ E } }</a:t>
            </a:r>
            <a:endParaRPr b="0"/>
          </a:p>
        </p:txBody>
      </p:sp>
      <p:sp>
        <p:nvSpPr>
          <p:cNvPr id="499" name="Google Shape;499;p43"/>
          <p:cNvSpPr txBox="1"/>
          <p:nvPr/>
        </p:nvSpPr>
        <p:spPr>
          <a:xfrm>
            <a:off x="6658300" y="3039900"/>
            <a:ext cx="170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ipoteza de inducție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43"/>
          <p:cNvCxnSpPr>
            <a:stCxn id="499" idx="1"/>
          </p:cNvCxnSpPr>
          <p:nvPr/>
        </p:nvCxnSpPr>
        <p:spPr>
          <a:xfrm flipH="1">
            <a:off x="5080300" y="3240000"/>
            <a:ext cx="1578000" cy="429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506" name="Google Shape;506;p44"/>
          <p:cNvSpPr txBox="1"/>
          <p:nvPr>
            <p:ph idx="1" type="body"/>
          </p:nvPr>
        </p:nvSpPr>
        <p:spPr>
          <a:xfrm>
            <a:off x="311700" y="906225"/>
            <a:ext cx="8520600" cy="4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= costul minim al unui s-x drum cu cel mult k muchii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 = 0:   d[s] = 0 = w([s])</a:t>
            </a:r>
            <a:endParaRPr b="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k-1 ⇒ k:   Presupunem că, înainte de iterația k: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  pentru orice 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Eticheta unui vârf y la iterația k se actualizează astfel: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d[y] ≤ min{ d[y], min{ d[x]+w(x,y) | xy ∈ E }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       ≤ min{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y),  min{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x)+w(x,y)  | xy ∈ E } }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      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y)</a:t>
            </a:r>
            <a:endParaRPr b="0"/>
          </a:p>
        </p:txBody>
      </p:sp>
      <p:sp>
        <p:nvSpPr>
          <p:cNvPr id="507" name="Google Shape;507;p44"/>
          <p:cNvSpPr txBox="1"/>
          <p:nvPr/>
        </p:nvSpPr>
        <p:spPr>
          <a:xfrm>
            <a:off x="6120275" y="2803175"/>
            <a:ext cx="170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ipoteza de inducție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44"/>
          <p:cNvCxnSpPr/>
          <p:nvPr/>
        </p:nvCxnSpPr>
        <p:spPr>
          <a:xfrm flipH="1">
            <a:off x="5080200" y="3132800"/>
            <a:ext cx="1531800" cy="536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514" name="Google Shape;514;p45"/>
          <p:cNvSpPr txBox="1"/>
          <p:nvPr>
            <p:ph idx="1" type="body"/>
          </p:nvPr>
        </p:nvSpPr>
        <p:spPr>
          <a:xfrm>
            <a:off x="311700" y="906225"/>
            <a:ext cx="8520600" cy="4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k-1 ⇒ k:   Presupunem că, înainte de iterația k: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  pentru orice 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2:</a:t>
            </a:r>
            <a:r>
              <a:rPr b="0" lang="en-GB"/>
              <a:t> Fie P un s-y drum cu cost minim printre cele cu cel mult k arce ( w(P)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y)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515" name="Google Shape;515;p45"/>
          <p:cNvSpPr txBox="1"/>
          <p:nvPr/>
        </p:nvSpPr>
        <p:spPr>
          <a:xfrm>
            <a:off x="5970975" y="2999925"/>
            <a:ext cx="15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w(P)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(s, y)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5"/>
          <p:cNvSpPr txBox="1"/>
          <p:nvPr/>
        </p:nvSpPr>
        <p:spPr>
          <a:xfrm>
            <a:off x="4826325" y="445335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(s, x)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5"/>
          <p:cNvSpPr/>
          <p:nvPr/>
        </p:nvSpPr>
        <p:spPr>
          <a:xfrm>
            <a:off x="4091100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5"/>
          <p:cNvSpPr/>
          <p:nvPr/>
        </p:nvSpPr>
        <p:spPr>
          <a:xfrm>
            <a:off x="6365975" y="3924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5"/>
          <p:cNvSpPr/>
          <p:nvPr/>
        </p:nvSpPr>
        <p:spPr>
          <a:xfrm>
            <a:off x="8388975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5"/>
          <p:cNvSpPr/>
          <p:nvPr/>
        </p:nvSpPr>
        <p:spPr>
          <a:xfrm>
            <a:off x="6726725" y="40121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5"/>
          <p:cNvSpPr/>
          <p:nvPr/>
        </p:nvSpPr>
        <p:spPr>
          <a:xfrm>
            <a:off x="4324425" y="37251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5"/>
          <p:cNvSpPr/>
          <p:nvPr/>
        </p:nvSpPr>
        <p:spPr>
          <a:xfrm rot="5400000">
            <a:off x="6301725" y="12193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5"/>
          <p:cNvSpPr/>
          <p:nvPr/>
        </p:nvSpPr>
        <p:spPr>
          <a:xfrm rot="-5400000">
            <a:off x="5157075" y="32022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529" name="Google Shape;529;p46"/>
          <p:cNvSpPr txBox="1"/>
          <p:nvPr>
            <p:ph idx="1" type="body"/>
          </p:nvPr>
        </p:nvSpPr>
        <p:spPr>
          <a:xfrm>
            <a:off x="311700" y="906225"/>
            <a:ext cx="8520600" cy="4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k-1 ⇒ k:   Presupunem că, înainte de iterația k: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  pentru orice x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Varianta 2:</a:t>
            </a:r>
            <a:r>
              <a:rPr b="0" lang="en-GB"/>
              <a:t> Fie P un s-y drum cu cost minim printre cele cu cel mult k arce ( w(P)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y) 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⇒ [s    x] este un s-x drum cu cost minim</a:t>
            </a:r>
            <a:br>
              <a:rPr b="0" lang="en-GB"/>
            </a:br>
            <a:r>
              <a:rPr b="0" lang="en-GB"/>
              <a:t>    printre cele cu cel mult k-1 arce, deci </a:t>
            </a:r>
            <a:br>
              <a:rPr b="0" lang="en-GB"/>
            </a:br>
            <a:r>
              <a:rPr b="0" lang="en-GB"/>
              <a:t>    are cost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⇒ d[x] 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530" name="Google Shape;530;p46"/>
          <p:cNvSpPr txBox="1"/>
          <p:nvPr/>
        </p:nvSpPr>
        <p:spPr>
          <a:xfrm>
            <a:off x="5970975" y="2999925"/>
            <a:ext cx="15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w(P)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(s, y)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6"/>
          <p:cNvSpPr txBox="1"/>
          <p:nvPr/>
        </p:nvSpPr>
        <p:spPr>
          <a:xfrm>
            <a:off x="4826325" y="445335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(s, x)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4091100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6"/>
          <p:cNvSpPr/>
          <p:nvPr/>
        </p:nvSpPr>
        <p:spPr>
          <a:xfrm>
            <a:off x="6365975" y="3924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6"/>
          <p:cNvSpPr/>
          <p:nvPr/>
        </p:nvSpPr>
        <p:spPr>
          <a:xfrm>
            <a:off x="8388975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6"/>
          <p:cNvSpPr/>
          <p:nvPr/>
        </p:nvSpPr>
        <p:spPr>
          <a:xfrm>
            <a:off x="6726725" y="40121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6"/>
          <p:cNvSpPr/>
          <p:nvPr/>
        </p:nvSpPr>
        <p:spPr>
          <a:xfrm>
            <a:off x="4324425" y="37251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6"/>
          <p:cNvSpPr/>
          <p:nvPr/>
        </p:nvSpPr>
        <p:spPr>
          <a:xfrm rot="5400000">
            <a:off x="6301725" y="12193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6"/>
          <p:cNvSpPr/>
          <p:nvPr/>
        </p:nvSpPr>
        <p:spPr>
          <a:xfrm rot="-5400000">
            <a:off x="5157075" y="32022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6"/>
          <p:cNvSpPr txBox="1"/>
          <p:nvPr/>
        </p:nvSpPr>
        <p:spPr>
          <a:xfrm>
            <a:off x="780200" y="2617525"/>
            <a:ext cx="2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p46"/>
          <p:cNvCxnSpPr/>
          <p:nvPr/>
        </p:nvCxnSpPr>
        <p:spPr>
          <a:xfrm>
            <a:off x="811700" y="2868200"/>
            <a:ext cx="2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Corectitudine</a:t>
            </a:r>
            <a:endParaRPr/>
          </a:p>
        </p:txBody>
      </p:sp>
      <p:sp>
        <p:nvSpPr>
          <p:cNvPr id="546" name="Google Shape;546;p47"/>
          <p:cNvSpPr txBox="1"/>
          <p:nvPr>
            <p:ph idx="1" type="body"/>
          </p:nvPr>
        </p:nvSpPr>
        <p:spPr>
          <a:xfrm>
            <a:off x="311700" y="906225"/>
            <a:ext cx="8520600" cy="4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După relaxarea arcului xy: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d[y] ≤ d[x] + w(xy)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≤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k-1</a:t>
            </a:r>
            <a:r>
              <a:rPr b="0" lang="en-GB"/>
              <a:t>(s, x) + w(xy)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= w([s    x]) + w(xy) = w(P) = </a:t>
            </a:r>
            <a:r>
              <a:rPr b="0" lang="en-GB"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lang="en-GB"/>
              <a:t>k</a:t>
            </a:r>
            <a:r>
              <a:rPr b="0" lang="en-GB"/>
              <a:t>(s, y)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  <p:sp>
        <p:nvSpPr>
          <p:cNvPr id="547" name="Google Shape;547;p47"/>
          <p:cNvSpPr txBox="1"/>
          <p:nvPr/>
        </p:nvSpPr>
        <p:spPr>
          <a:xfrm>
            <a:off x="5970975" y="2999925"/>
            <a:ext cx="151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w(P)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0" i="0" lang="en-GB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(s, y)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7"/>
          <p:cNvSpPr txBox="1"/>
          <p:nvPr/>
        </p:nvSpPr>
        <p:spPr>
          <a:xfrm>
            <a:off x="4826325" y="4453350"/>
            <a:ext cx="102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δ</a:t>
            </a:r>
            <a:r>
              <a:rPr b="0" baseline="-2500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k-1</a:t>
            </a:r>
            <a:r>
              <a:rPr b="0" i="0" lang="en-GB" sz="16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(s, x)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7"/>
          <p:cNvSpPr/>
          <p:nvPr/>
        </p:nvSpPr>
        <p:spPr>
          <a:xfrm>
            <a:off x="4091100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47"/>
          <p:cNvSpPr/>
          <p:nvPr/>
        </p:nvSpPr>
        <p:spPr>
          <a:xfrm>
            <a:off x="6365975" y="39243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7"/>
          <p:cNvSpPr/>
          <p:nvPr/>
        </p:nvSpPr>
        <p:spPr>
          <a:xfrm>
            <a:off x="8388975" y="381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7"/>
          <p:cNvSpPr/>
          <p:nvPr/>
        </p:nvSpPr>
        <p:spPr>
          <a:xfrm>
            <a:off x="6726725" y="4012100"/>
            <a:ext cx="1664300" cy="193750"/>
          </a:xfrm>
          <a:custGeom>
            <a:rect b="b" l="l" r="r" t="t"/>
            <a:pathLst>
              <a:path extrusionOk="0" h="7750" w="66572">
                <a:moveTo>
                  <a:pt x="0" y="2711"/>
                </a:moveTo>
                <a:cubicBezTo>
                  <a:pt x="1757" y="2410"/>
                  <a:pt x="5422" y="100"/>
                  <a:pt x="10543" y="903"/>
                </a:cubicBezTo>
                <a:cubicBezTo>
                  <a:pt x="15664" y="1706"/>
                  <a:pt x="24801" y="6777"/>
                  <a:pt x="30725" y="7530"/>
                </a:cubicBezTo>
                <a:cubicBezTo>
                  <a:pt x="36649" y="8283"/>
                  <a:pt x="41319" y="6527"/>
                  <a:pt x="46088" y="5422"/>
                </a:cubicBezTo>
                <a:cubicBezTo>
                  <a:pt x="50858" y="4318"/>
                  <a:pt x="55928" y="1807"/>
                  <a:pt x="59342" y="903"/>
                </a:cubicBezTo>
                <a:cubicBezTo>
                  <a:pt x="62756" y="-1"/>
                  <a:pt x="65367" y="151"/>
                  <a:pt x="66572" y="0"/>
                </a:cubicBezTo>
              </a:path>
            </a:pathLst>
          </a:cu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>
            <a:off x="4324425" y="3725155"/>
            <a:ext cx="2101075" cy="473850"/>
          </a:xfrm>
          <a:custGeom>
            <a:rect b="b" l="l" r="r" t="t"/>
            <a:pathLst>
              <a:path extrusionOk="0" h="18954" w="84043">
                <a:moveTo>
                  <a:pt x="0" y="4058"/>
                </a:moveTo>
                <a:cubicBezTo>
                  <a:pt x="2209" y="4962"/>
                  <a:pt x="7983" y="10134"/>
                  <a:pt x="13254" y="9481"/>
                </a:cubicBezTo>
                <a:cubicBezTo>
                  <a:pt x="18526" y="8829"/>
                  <a:pt x="26910" y="-1313"/>
                  <a:pt x="31629" y="143"/>
                </a:cubicBezTo>
                <a:cubicBezTo>
                  <a:pt x="36348" y="1599"/>
                  <a:pt x="38657" y="16559"/>
                  <a:pt x="41569" y="18216"/>
                </a:cubicBezTo>
                <a:cubicBezTo>
                  <a:pt x="44481" y="19873"/>
                  <a:pt x="45184" y="9983"/>
                  <a:pt x="49100" y="10083"/>
                </a:cubicBezTo>
                <a:cubicBezTo>
                  <a:pt x="53016" y="10184"/>
                  <a:pt x="60647" y="20225"/>
                  <a:pt x="65065" y="18819"/>
                </a:cubicBezTo>
                <a:cubicBezTo>
                  <a:pt x="69483" y="17413"/>
                  <a:pt x="72445" y="3205"/>
                  <a:pt x="75608" y="1649"/>
                </a:cubicBezTo>
                <a:cubicBezTo>
                  <a:pt x="78771" y="93"/>
                  <a:pt x="82637" y="8176"/>
                  <a:pt x="84043" y="94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7"/>
          <p:cNvSpPr/>
          <p:nvPr/>
        </p:nvSpPr>
        <p:spPr>
          <a:xfrm rot="5400000">
            <a:off x="6301725" y="1219350"/>
            <a:ext cx="186600" cy="4684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7"/>
          <p:cNvSpPr/>
          <p:nvPr/>
        </p:nvSpPr>
        <p:spPr>
          <a:xfrm rot="-5400000">
            <a:off x="5157075" y="3202200"/>
            <a:ext cx="186600" cy="2395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7"/>
          <p:cNvSpPr txBox="1"/>
          <p:nvPr/>
        </p:nvSpPr>
        <p:spPr>
          <a:xfrm>
            <a:off x="1846100" y="2168750"/>
            <a:ext cx="26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47"/>
          <p:cNvCxnSpPr/>
          <p:nvPr/>
        </p:nvCxnSpPr>
        <p:spPr>
          <a:xfrm>
            <a:off x="1877600" y="2419425"/>
            <a:ext cx="20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8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63" name="Google Shape;563;p48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69" name="Google Shape;569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Există circuit negativ în G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⇔ dacă algoritmul ar mai face o iterație, s-ar mai actualiza etichete de distanță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⇔ după n-1 iterații, există un arc uv cu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d[v] &gt; d[u] + w(uv)</a:t>
            </a:r>
            <a:endParaRPr b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75" name="Google Shape;575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Arătăm că: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există cicluri negative ⇔ nu se mai fac actualizări la pasul n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81" name="Google Shape;581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Arătăm că: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există cicluri negative ⇔ nu se mai fac actualizări la pasul n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există cicluri negative ⇒ nu se mai fac actualizări la pasul n (din corectitudine)</a:t>
            </a:r>
            <a:endParaRPr b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87" name="Google Shape;587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Arătăm că: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există cicluri negative ⇔ nu se mai fac actualizări la pasul n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există cicluri negative ⇒ nu se mai fac actualizări la pasul n (din corectitudine)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se mai fac actualizări la pasul n, pentru orice ciclu C = [v</a:t>
            </a:r>
            <a:r>
              <a:rPr b="0" baseline="-25000" lang="en-GB"/>
              <a:t>0</a:t>
            </a:r>
            <a:r>
              <a:rPr b="0" lang="en-GB"/>
              <a:t>, …, v</a:t>
            </a:r>
            <a:r>
              <a:rPr b="0" baseline="-25000" lang="en-GB"/>
              <a:t>p</a:t>
            </a:r>
            <a:r>
              <a:rPr b="0" lang="en-GB"/>
              <a:t>, v</a:t>
            </a:r>
            <a:r>
              <a:rPr b="0" baseline="-25000" lang="en-GB"/>
              <a:t>0</a:t>
            </a:r>
            <a:r>
              <a:rPr b="0" lang="en-GB"/>
              <a:t>] ⇒        d[v</a:t>
            </a:r>
            <a:r>
              <a:rPr b="0" baseline="-25000" lang="en-GB"/>
              <a:t>i</a:t>
            </a:r>
            <a:r>
              <a:rPr b="0" lang="en-GB"/>
              <a:t>] ≤ </a:t>
            </a:r>
            <a:r>
              <a:rPr b="0" lang="en-GB"/>
              <a:t>d[v</a:t>
            </a:r>
            <a:r>
              <a:rPr b="0" baseline="-25000" lang="en-GB"/>
              <a:t>i</a:t>
            </a:r>
            <a:r>
              <a:rPr b="0" lang="en-GB"/>
              <a:t>]  + </a:t>
            </a:r>
            <a:r>
              <a:rPr b="0" lang="en-GB"/>
              <a:t>w(v</a:t>
            </a:r>
            <a:r>
              <a:rPr b="0" baseline="-25000" lang="en-GB"/>
              <a:t>i</a:t>
            </a:r>
            <a:r>
              <a:rPr b="0" lang="en-GB"/>
              <a:t>v</a:t>
            </a:r>
            <a:r>
              <a:rPr b="0" baseline="-25000" lang="en-GB"/>
              <a:t>i+1</a:t>
            </a:r>
            <a:r>
              <a:rPr b="0" lang="en-GB"/>
              <a:t>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Însumând pe ciclu:</a:t>
            </a:r>
            <a:endParaRPr b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93" name="Google Shape;593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Demonstrație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Arătăm că: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există cicluri negative ⇔ nu se mai fac actualizări la pasul n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există cicluri negative ⇒ nu se mai fac actualizări la pasul n (din corectitudine)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se mai fac actualizări la pasul n, pentru orice ciclu C = [v</a:t>
            </a:r>
            <a:r>
              <a:rPr b="0" baseline="-25000" lang="en-GB"/>
              <a:t>0</a:t>
            </a:r>
            <a:r>
              <a:rPr b="0" lang="en-GB"/>
              <a:t>, …, v</a:t>
            </a:r>
            <a:r>
              <a:rPr b="0" baseline="-25000" lang="en-GB"/>
              <a:t>p</a:t>
            </a:r>
            <a:r>
              <a:rPr b="0" lang="en-GB"/>
              <a:t>, v</a:t>
            </a:r>
            <a:r>
              <a:rPr b="0" baseline="-25000" lang="en-GB"/>
              <a:t>0</a:t>
            </a:r>
            <a:r>
              <a:rPr b="0" lang="en-GB"/>
              <a:t>] ⇒        d[v</a:t>
            </a:r>
            <a:r>
              <a:rPr b="0" baseline="-25000" lang="en-GB"/>
              <a:t>i</a:t>
            </a:r>
            <a:r>
              <a:rPr b="0" lang="en-GB"/>
              <a:t>] ≤ </a:t>
            </a:r>
            <a:r>
              <a:rPr b="0" lang="en-GB"/>
              <a:t>d[v</a:t>
            </a:r>
            <a:r>
              <a:rPr b="0" baseline="-25000" lang="en-GB"/>
              <a:t>i</a:t>
            </a:r>
            <a:r>
              <a:rPr b="0" lang="en-GB"/>
              <a:t>] + </a:t>
            </a:r>
            <a:r>
              <a:rPr b="0" lang="en-GB"/>
              <a:t>w(v</a:t>
            </a:r>
            <a:r>
              <a:rPr b="0" baseline="-25000" lang="en-GB"/>
              <a:t>i</a:t>
            </a:r>
            <a:r>
              <a:rPr b="0" lang="en-GB"/>
              <a:t>v</a:t>
            </a:r>
            <a:r>
              <a:rPr b="0" baseline="-25000" lang="en-GB"/>
              <a:t>i+1</a:t>
            </a:r>
            <a:r>
              <a:rPr b="0" lang="en-GB"/>
              <a:t>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Însumând pe ciclu: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d[v</a:t>
            </a:r>
            <a:r>
              <a:rPr b="0" baseline="-25000" lang="en-GB"/>
              <a:t>0</a:t>
            </a:r>
            <a:r>
              <a:rPr b="0" lang="en-GB"/>
              <a:t>] + … + d[v</a:t>
            </a:r>
            <a:r>
              <a:rPr b="0" baseline="-25000" lang="en-GB"/>
              <a:t>p</a:t>
            </a:r>
            <a:r>
              <a:rPr b="0" lang="en-GB"/>
              <a:t>] ≤ d[v</a:t>
            </a:r>
            <a:r>
              <a:rPr b="0" baseline="-25000" lang="en-GB"/>
              <a:t>0</a:t>
            </a:r>
            <a:r>
              <a:rPr b="0" lang="en-GB"/>
              <a:t>] + … + d[v</a:t>
            </a:r>
            <a:r>
              <a:rPr b="0" baseline="-25000" lang="en-GB"/>
              <a:t>p</a:t>
            </a:r>
            <a:r>
              <a:rPr b="0" lang="en-GB"/>
              <a:t>] + w(v</a:t>
            </a:r>
            <a:r>
              <a:rPr b="0" baseline="-25000" lang="en-GB"/>
              <a:t>0</a:t>
            </a:r>
            <a:r>
              <a:rPr b="0" lang="en-GB"/>
              <a:t>v</a:t>
            </a:r>
            <a:r>
              <a:rPr b="0" baseline="-25000" lang="en-GB"/>
              <a:t>1</a:t>
            </a:r>
            <a:r>
              <a:rPr b="0" lang="en-GB"/>
              <a:t>) + … + w(v</a:t>
            </a:r>
            <a:r>
              <a:rPr b="0" baseline="-25000" lang="en-GB"/>
              <a:t>p</a:t>
            </a:r>
            <a:r>
              <a:rPr b="0" lang="en-GB"/>
              <a:t>v</a:t>
            </a:r>
            <a:r>
              <a:rPr b="0" baseline="-25000" lang="en-GB"/>
              <a:t>0</a:t>
            </a:r>
            <a:r>
              <a:rPr b="0" lang="en-GB"/>
              <a:t>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⇒ 0 ≤ w(v</a:t>
            </a:r>
            <a:r>
              <a:rPr b="0" baseline="-25000" lang="en-GB"/>
              <a:t>0</a:t>
            </a:r>
            <a:r>
              <a:rPr b="0" lang="en-GB"/>
              <a:t>v</a:t>
            </a:r>
            <a:r>
              <a:rPr b="0" baseline="-25000" lang="en-GB"/>
              <a:t>1</a:t>
            </a:r>
            <a:r>
              <a:rPr b="0" lang="en-GB"/>
              <a:t>) + … + w(v</a:t>
            </a:r>
            <a:r>
              <a:rPr b="0" baseline="-25000" lang="en-GB"/>
              <a:t>p</a:t>
            </a:r>
            <a:r>
              <a:rPr b="0" lang="en-GB"/>
              <a:t>v</a:t>
            </a:r>
            <a:r>
              <a:rPr b="0" baseline="-25000" lang="en-GB"/>
              <a:t>0</a:t>
            </a:r>
            <a:r>
              <a:rPr b="0" lang="en-GB"/>
              <a:t>) = w(C)</a:t>
            </a:r>
            <a:endParaRPr b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599" name="Google Shape;599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Afișarea ciclului negativ detectat - folosind tata:</a:t>
            </a:r>
            <a:endParaRPr b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605" name="Google Shape;605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Afișarea ciclului negativ detectat - folosind tata: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Fie v un vârf al cărei etichetă s-a actualizat la pasul k</a:t>
            </a:r>
            <a:endParaRPr b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Detectarea de circuite negative</a:t>
            </a:r>
            <a:endParaRPr/>
          </a:p>
        </p:txBody>
      </p:sp>
      <p:sp>
        <p:nvSpPr>
          <p:cNvPr id="611" name="Google Shape;611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Afișarea ciclului negativ detectat - folosind tata: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Fie v un vârf al cărei etichetă s-a actualizat la pasul k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Facem n pași înapoi din v, folosind vectorul tata (către s);   </a:t>
            </a:r>
            <a:endParaRPr b="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GB"/>
              <a:t>fie x vârful în care am ajuns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Afișăm ciclul care conține pe x, folosind tata (din x până ajungem iar în x)</a:t>
            </a:r>
            <a:endParaRPr b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5b26d7e5f69bac2af62e29e49cdf0427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93cf751f5f765d8fe52b73c6c71c5142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74621C-5B21-416B-AE4D-656CD2348C74}"/>
</file>

<file path=customXml/itemProps2.xml><?xml version="1.0" encoding="utf-8"?>
<ds:datastoreItem xmlns:ds="http://schemas.openxmlformats.org/officeDocument/2006/customXml" ds:itemID="{0BA3ED06-43D9-4453-A665-69C07B987ADD}"/>
</file>

<file path=customXml/itemProps3.xml><?xml version="1.0" encoding="utf-8"?>
<ds:datastoreItem xmlns:ds="http://schemas.openxmlformats.org/officeDocument/2006/customXml" ds:itemID="{05954C0E-279E-4E29-8799-CC5C95008A52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