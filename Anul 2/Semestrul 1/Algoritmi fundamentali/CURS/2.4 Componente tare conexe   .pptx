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Merriweather-italic.fntdata"/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1" Type="http://schemas.openxmlformats.org/officeDocument/2006/relationships/font" Target="fonts/Roboto-bold.fntdata"/><Relationship Id="rId3" Type="http://schemas.openxmlformats.org/officeDocument/2006/relationships/presProps" Target="presProps.xml"/><Relationship Id="rId25" Type="http://schemas.openxmlformats.org/officeDocument/2006/relationships/font" Target="fonts/Merriweather-bold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0" Type="http://schemas.openxmlformats.org/officeDocument/2006/relationships/font" Target="fonts/Roboto-regular.fntdata"/><Relationship Id="rId2" Type="http://schemas.openxmlformats.org/officeDocument/2006/relationships/viewProps" Target="viewProps.xml"/><Relationship Id="rId16" Type="http://schemas.openxmlformats.org/officeDocument/2006/relationships/slide" Target="slides/slide11.xml"/><Relationship Id="rId29" Type="http://schemas.openxmlformats.org/officeDocument/2006/relationships/customXml" Target="../customXml/item2.xml"/><Relationship Id="rId24" Type="http://schemas.openxmlformats.org/officeDocument/2006/relationships/font" Target="fonts/Merriweather-regular.fntdata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3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28" Type="http://schemas.openxmlformats.org/officeDocument/2006/relationships/customXml" Target="../customXml/item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2" Type="http://schemas.openxmlformats.org/officeDocument/2006/relationships/font" Target="fonts/Roboto-italic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font" Target="fonts/Merriweather-boldItalic.fntdata"/><Relationship Id="rId14" Type="http://schemas.openxmlformats.org/officeDocument/2006/relationships/slide" Target="slides/slide9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3" name="Google Shape;23;p5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Google Shape;29;p6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8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0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0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Componente tare conexe</a:t>
            </a:r>
            <a:endParaRPr/>
          </a:p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Componente tare conexe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Într-un graf </a:t>
            </a:r>
            <a:r>
              <a:rPr b="1" lang="en-GB"/>
              <a:t>orientat</a:t>
            </a:r>
            <a:r>
              <a:rPr lang="en-GB"/>
              <a:t>, avem 2 definiții de conexitate.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Un graf orientat este </a:t>
            </a:r>
            <a:r>
              <a:rPr b="1" lang="en-GB"/>
              <a:t>slab conex</a:t>
            </a:r>
            <a:r>
              <a:rPr lang="en-GB"/>
              <a:t> dacă există un drum de la oricare nod la oricare altul, </a:t>
            </a:r>
            <a:r>
              <a:rPr b="1" lang="en-GB"/>
              <a:t>considerând muchiile grafului neorientate.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Un graf orientat este </a:t>
            </a:r>
            <a:r>
              <a:rPr b="1" lang="en-GB"/>
              <a:t>tare conex</a:t>
            </a:r>
            <a:r>
              <a:rPr lang="en-GB"/>
              <a:t> dacă există un drum de la oricare nod la oricare altul.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Componente tare conexe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906225"/>
            <a:ext cx="8520600" cy="40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Într-un graf </a:t>
            </a:r>
            <a:r>
              <a:rPr b="1" lang="en-GB"/>
              <a:t>orientat</a:t>
            </a:r>
            <a:r>
              <a:rPr lang="en-GB"/>
              <a:t>, avem 2 definiții de conexitate.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Un graf orientat este </a:t>
            </a:r>
            <a:r>
              <a:rPr b="1" lang="en-GB"/>
              <a:t>slab conex</a:t>
            </a:r>
            <a:r>
              <a:rPr lang="en-GB"/>
              <a:t> dacă există un drum de la oricare nod la oricare altul, </a:t>
            </a:r>
            <a:r>
              <a:rPr b="1" lang="en-GB"/>
              <a:t>considerând muchiile grafului neorientate.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Un graf orientat este </a:t>
            </a:r>
            <a:r>
              <a:rPr b="1" lang="en-GB"/>
              <a:t>tare conex</a:t>
            </a:r>
            <a:r>
              <a:rPr lang="en-GB"/>
              <a:t> dacă există un drum de la oricare nod la oricare altul.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Graful este slab conex.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Graful </a:t>
            </a:r>
            <a:r>
              <a:rPr b="1" lang="en-GB"/>
              <a:t>nu</a:t>
            </a:r>
            <a:r>
              <a:rPr lang="en-GB"/>
              <a:t> este tare conex.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nu există drumul s→v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9124" y="3168728"/>
            <a:ext cx="4943175" cy="185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Componente tare conexe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Ce element al grafului ne poate da informații despre componentele tare conexe?</a:t>
            </a:r>
            <a:endParaRPr/>
          </a:p>
        </p:txBody>
      </p:sp>
      <p:grpSp>
        <p:nvGrpSpPr>
          <p:cNvPr id="88" name="Google Shape;88;p17"/>
          <p:cNvGrpSpPr/>
          <p:nvPr/>
        </p:nvGrpSpPr>
        <p:grpSpPr>
          <a:xfrm>
            <a:off x="662750" y="1438375"/>
            <a:ext cx="2008125" cy="3407800"/>
            <a:chOff x="662750" y="1438375"/>
            <a:chExt cx="2008125" cy="3407800"/>
          </a:xfrm>
        </p:grpSpPr>
        <p:sp>
          <p:nvSpPr>
            <p:cNvPr id="89" name="Google Shape;89;p17"/>
            <p:cNvSpPr/>
            <p:nvPr/>
          </p:nvSpPr>
          <p:spPr>
            <a:xfrm>
              <a:off x="662750" y="14383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7"/>
            <p:cNvSpPr/>
            <p:nvPr/>
          </p:nvSpPr>
          <p:spPr>
            <a:xfrm>
              <a:off x="662750" y="21556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1381750" y="1630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7"/>
            <p:cNvSpPr/>
            <p:nvPr/>
          </p:nvSpPr>
          <p:spPr>
            <a:xfrm>
              <a:off x="2310875" y="158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7"/>
            <p:cNvSpPr/>
            <p:nvPr/>
          </p:nvSpPr>
          <p:spPr>
            <a:xfrm>
              <a:off x="775350" y="37424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2310875" y="2921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1651825" y="23917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2310875" y="36288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7"/>
            <p:cNvSpPr/>
            <p:nvPr/>
          </p:nvSpPr>
          <p:spPr>
            <a:xfrm>
              <a:off x="1291825" y="44861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951825" y="2921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1950875" y="41716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" name="Google Shape;100;p17"/>
            <p:cNvCxnSpPr>
              <a:stCxn id="89" idx="4"/>
              <a:endCxn id="90" idx="0"/>
            </p:cNvCxnSpPr>
            <p:nvPr/>
          </p:nvCxnSpPr>
          <p:spPr>
            <a:xfrm>
              <a:off x="842750" y="1798375"/>
              <a:ext cx="0" cy="357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1" name="Google Shape;101;p17"/>
            <p:cNvCxnSpPr>
              <a:stCxn id="90" idx="7"/>
              <a:endCxn id="91" idx="3"/>
            </p:cNvCxnSpPr>
            <p:nvPr/>
          </p:nvCxnSpPr>
          <p:spPr>
            <a:xfrm flipH="1" rot="10800000">
              <a:off x="970029" y="1937421"/>
              <a:ext cx="464400" cy="270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2" name="Google Shape;102;p17"/>
            <p:cNvCxnSpPr>
              <a:stCxn id="91" idx="7"/>
              <a:endCxn id="92" idx="1"/>
            </p:cNvCxnSpPr>
            <p:nvPr/>
          </p:nvCxnSpPr>
          <p:spPr>
            <a:xfrm flipH="1" rot="10800000">
              <a:off x="1689029" y="1639446"/>
              <a:ext cx="674700" cy="43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3" name="Google Shape;103;p17"/>
            <p:cNvCxnSpPr>
              <a:stCxn id="92" idx="2"/>
              <a:endCxn id="91" idx="6"/>
            </p:cNvCxnSpPr>
            <p:nvPr/>
          </p:nvCxnSpPr>
          <p:spPr>
            <a:xfrm flipH="1">
              <a:off x="1741775" y="1766850"/>
              <a:ext cx="569100" cy="43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4" name="Google Shape;104;p17"/>
            <p:cNvCxnSpPr>
              <a:stCxn id="90" idx="6"/>
              <a:endCxn id="95" idx="1"/>
            </p:cNvCxnSpPr>
            <p:nvPr/>
          </p:nvCxnSpPr>
          <p:spPr>
            <a:xfrm>
              <a:off x="1022750" y="2335600"/>
              <a:ext cx="681900" cy="108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5" name="Google Shape;105;p17"/>
            <p:cNvCxnSpPr>
              <a:stCxn id="95" idx="3"/>
              <a:endCxn id="98" idx="7"/>
            </p:cNvCxnSpPr>
            <p:nvPr/>
          </p:nvCxnSpPr>
          <p:spPr>
            <a:xfrm flipH="1">
              <a:off x="1259046" y="2699029"/>
              <a:ext cx="445500" cy="275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6" name="Google Shape;106;p17"/>
            <p:cNvCxnSpPr>
              <a:stCxn id="98" idx="0"/>
              <a:endCxn id="90" idx="4"/>
            </p:cNvCxnSpPr>
            <p:nvPr/>
          </p:nvCxnSpPr>
          <p:spPr>
            <a:xfrm rot="10800000">
              <a:off x="842625" y="2515675"/>
              <a:ext cx="289200" cy="405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7" name="Google Shape;107;p17"/>
            <p:cNvCxnSpPr>
              <a:stCxn id="95" idx="5"/>
              <a:endCxn id="94" idx="1"/>
            </p:cNvCxnSpPr>
            <p:nvPr/>
          </p:nvCxnSpPr>
          <p:spPr>
            <a:xfrm>
              <a:off x="1959104" y="2699029"/>
              <a:ext cx="404400" cy="275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8" name="Google Shape;108;p17"/>
            <p:cNvCxnSpPr>
              <a:endCxn id="93" idx="7"/>
            </p:cNvCxnSpPr>
            <p:nvPr/>
          </p:nvCxnSpPr>
          <p:spPr>
            <a:xfrm flipH="1">
              <a:off x="1082629" y="2751746"/>
              <a:ext cx="749100" cy="104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9" name="Google Shape;109;p17"/>
            <p:cNvCxnSpPr>
              <a:stCxn id="96" idx="7"/>
              <a:endCxn id="94" idx="5"/>
            </p:cNvCxnSpPr>
            <p:nvPr/>
          </p:nvCxnSpPr>
          <p:spPr>
            <a:xfrm rot="10800000">
              <a:off x="2618154" y="3228896"/>
              <a:ext cx="0" cy="452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0" name="Google Shape;110;p17"/>
            <p:cNvCxnSpPr>
              <a:stCxn id="94" idx="4"/>
              <a:endCxn id="96" idx="0"/>
            </p:cNvCxnSpPr>
            <p:nvPr/>
          </p:nvCxnSpPr>
          <p:spPr>
            <a:xfrm>
              <a:off x="2490875" y="3281575"/>
              <a:ext cx="0" cy="34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1" name="Google Shape;111;p17"/>
            <p:cNvCxnSpPr>
              <a:stCxn id="96" idx="3"/>
              <a:endCxn id="99" idx="7"/>
            </p:cNvCxnSpPr>
            <p:nvPr/>
          </p:nvCxnSpPr>
          <p:spPr>
            <a:xfrm flipH="1">
              <a:off x="2258296" y="3936154"/>
              <a:ext cx="105300" cy="288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2" name="Google Shape;112;p17"/>
            <p:cNvCxnSpPr>
              <a:stCxn id="99" idx="3"/>
              <a:endCxn id="97" idx="7"/>
            </p:cNvCxnSpPr>
            <p:nvPr/>
          </p:nvCxnSpPr>
          <p:spPr>
            <a:xfrm flipH="1">
              <a:off x="1599196" y="4478954"/>
              <a:ext cx="404400" cy="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3" name="Google Shape;113;p17"/>
            <p:cNvCxnSpPr>
              <a:stCxn id="99" idx="1"/>
              <a:endCxn id="93" idx="6"/>
            </p:cNvCxnSpPr>
            <p:nvPr/>
          </p:nvCxnSpPr>
          <p:spPr>
            <a:xfrm rot="10800000">
              <a:off x="1135396" y="3922296"/>
              <a:ext cx="868200" cy="302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4" name="Google Shape;114;p17"/>
            <p:cNvCxnSpPr>
              <a:stCxn id="97" idx="1"/>
              <a:endCxn id="93" idx="5"/>
            </p:cNvCxnSpPr>
            <p:nvPr/>
          </p:nvCxnSpPr>
          <p:spPr>
            <a:xfrm rot="10800000">
              <a:off x="1082646" y="4049596"/>
              <a:ext cx="261900" cy="489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Componente tare conexe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Ce element al grafului ne poate da informații despre componentele tare conexe?</a:t>
            </a:r>
            <a:endParaRPr/>
          </a:p>
        </p:txBody>
      </p:sp>
      <p:grpSp>
        <p:nvGrpSpPr>
          <p:cNvPr id="121" name="Google Shape;121;p18"/>
          <p:cNvGrpSpPr/>
          <p:nvPr/>
        </p:nvGrpSpPr>
        <p:grpSpPr>
          <a:xfrm>
            <a:off x="662750" y="1438375"/>
            <a:ext cx="2008125" cy="3407800"/>
            <a:chOff x="662750" y="1438375"/>
            <a:chExt cx="2008125" cy="3407800"/>
          </a:xfrm>
        </p:grpSpPr>
        <p:sp>
          <p:nvSpPr>
            <p:cNvPr id="122" name="Google Shape;122;p18"/>
            <p:cNvSpPr/>
            <p:nvPr/>
          </p:nvSpPr>
          <p:spPr>
            <a:xfrm>
              <a:off x="662750" y="14383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8"/>
            <p:cNvSpPr/>
            <p:nvPr/>
          </p:nvSpPr>
          <p:spPr>
            <a:xfrm>
              <a:off x="662750" y="21556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8"/>
            <p:cNvSpPr/>
            <p:nvPr/>
          </p:nvSpPr>
          <p:spPr>
            <a:xfrm>
              <a:off x="1381750" y="1630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8"/>
            <p:cNvSpPr/>
            <p:nvPr/>
          </p:nvSpPr>
          <p:spPr>
            <a:xfrm>
              <a:off x="2310875" y="158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775350" y="37424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2310875" y="2921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1651825" y="23917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2310875" y="36288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1291825" y="44861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951825" y="2921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1950875" y="41716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3" name="Google Shape;133;p18"/>
            <p:cNvCxnSpPr>
              <a:stCxn id="122" idx="4"/>
              <a:endCxn id="123" idx="0"/>
            </p:cNvCxnSpPr>
            <p:nvPr/>
          </p:nvCxnSpPr>
          <p:spPr>
            <a:xfrm>
              <a:off x="842750" y="1798375"/>
              <a:ext cx="0" cy="3573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4" name="Google Shape;134;p18"/>
            <p:cNvCxnSpPr>
              <a:stCxn id="123" idx="7"/>
              <a:endCxn id="124" idx="3"/>
            </p:cNvCxnSpPr>
            <p:nvPr/>
          </p:nvCxnSpPr>
          <p:spPr>
            <a:xfrm flipH="1" rot="10800000">
              <a:off x="970029" y="1937421"/>
              <a:ext cx="464400" cy="2709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5" name="Google Shape;135;p18"/>
            <p:cNvCxnSpPr>
              <a:stCxn id="124" idx="7"/>
              <a:endCxn id="125" idx="1"/>
            </p:cNvCxnSpPr>
            <p:nvPr/>
          </p:nvCxnSpPr>
          <p:spPr>
            <a:xfrm flipH="1" rot="10800000">
              <a:off x="1689029" y="1639446"/>
              <a:ext cx="674700" cy="43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6" name="Google Shape;136;p18"/>
            <p:cNvCxnSpPr>
              <a:stCxn id="125" idx="2"/>
              <a:endCxn id="124" idx="6"/>
            </p:cNvCxnSpPr>
            <p:nvPr/>
          </p:nvCxnSpPr>
          <p:spPr>
            <a:xfrm flipH="1">
              <a:off x="1741775" y="1766850"/>
              <a:ext cx="569100" cy="43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7" name="Google Shape;137;p18"/>
            <p:cNvCxnSpPr>
              <a:stCxn id="123" idx="6"/>
              <a:endCxn id="128" idx="1"/>
            </p:cNvCxnSpPr>
            <p:nvPr/>
          </p:nvCxnSpPr>
          <p:spPr>
            <a:xfrm>
              <a:off x="1022750" y="2335600"/>
              <a:ext cx="681900" cy="108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8" name="Google Shape;138;p18"/>
            <p:cNvCxnSpPr>
              <a:stCxn id="128" idx="3"/>
              <a:endCxn id="131" idx="7"/>
            </p:cNvCxnSpPr>
            <p:nvPr/>
          </p:nvCxnSpPr>
          <p:spPr>
            <a:xfrm flipH="1">
              <a:off x="1259046" y="2699029"/>
              <a:ext cx="445500" cy="275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9" name="Google Shape;139;p18"/>
            <p:cNvCxnSpPr>
              <a:stCxn id="131" idx="0"/>
              <a:endCxn id="123" idx="4"/>
            </p:cNvCxnSpPr>
            <p:nvPr/>
          </p:nvCxnSpPr>
          <p:spPr>
            <a:xfrm rot="10800000">
              <a:off x="842625" y="2515675"/>
              <a:ext cx="289200" cy="405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0" name="Google Shape;140;p18"/>
            <p:cNvCxnSpPr>
              <a:stCxn id="128" idx="5"/>
              <a:endCxn id="127" idx="1"/>
            </p:cNvCxnSpPr>
            <p:nvPr/>
          </p:nvCxnSpPr>
          <p:spPr>
            <a:xfrm>
              <a:off x="1959104" y="2699029"/>
              <a:ext cx="404400" cy="2754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1" name="Google Shape;141;p18"/>
            <p:cNvCxnSpPr>
              <a:endCxn id="126" idx="7"/>
            </p:cNvCxnSpPr>
            <p:nvPr/>
          </p:nvCxnSpPr>
          <p:spPr>
            <a:xfrm flipH="1">
              <a:off x="1082629" y="2751746"/>
              <a:ext cx="749100" cy="10434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2" name="Google Shape;142;p18"/>
            <p:cNvCxnSpPr>
              <a:stCxn id="129" idx="7"/>
              <a:endCxn id="127" idx="5"/>
            </p:cNvCxnSpPr>
            <p:nvPr/>
          </p:nvCxnSpPr>
          <p:spPr>
            <a:xfrm rot="10800000">
              <a:off x="2618154" y="3228896"/>
              <a:ext cx="0" cy="452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3" name="Google Shape;143;p18"/>
            <p:cNvCxnSpPr>
              <a:stCxn id="127" idx="4"/>
              <a:endCxn id="129" idx="0"/>
            </p:cNvCxnSpPr>
            <p:nvPr/>
          </p:nvCxnSpPr>
          <p:spPr>
            <a:xfrm>
              <a:off x="2490875" y="3281575"/>
              <a:ext cx="0" cy="34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4" name="Google Shape;144;p18"/>
            <p:cNvCxnSpPr>
              <a:stCxn id="129" idx="3"/>
              <a:endCxn id="132" idx="7"/>
            </p:cNvCxnSpPr>
            <p:nvPr/>
          </p:nvCxnSpPr>
          <p:spPr>
            <a:xfrm flipH="1">
              <a:off x="2258296" y="3936154"/>
              <a:ext cx="105300" cy="288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5" name="Google Shape;145;p18"/>
            <p:cNvCxnSpPr>
              <a:stCxn id="132" idx="3"/>
              <a:endCxn id="130" idx="7"/>
            </p:cNvCxnSpPr>
            <p:nvPr/>
          </p:nvCxnSpPr>
          <p:spPr>
            <a:xfrm flipH="1">
              <a:off x="1599196" y="4478954"/>
              <a:ext cx="404400" cy="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6" name="Google Shape;146;p18"/>
            <p:cNvCxnSpPr>
              <a:stCxn id="132" idx="1"/>
              <a:endCxn id="126" idx="6"/>
            </p:cNvCxnSpPr>
            <p:nvPr/>
          </p:nvCxnSpPr>
          <p:spPr>
            <a:xfrm rot="10800000">
              <a:off x="1135396" y="3922296"/>
              <a:ext cx="868200" cy="302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7" name="Google Shape;147;p18"/>
            <p:cNvCxnSpPr>
              <a:stCxn id="130" idx="1"/>
              <a:endCxn id="126" idx="5"/>
            </p:cNvCxnSpPr>
            <p:nvPr/>
          </p:nvCxnSpPr>
          <p:spPr>
            <a:xfrm rot="10800000">
              <a:off x="1082646" y="4049596"/>
              <a:ext cx="261900" cy="489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48" name="Google Shape;148;p18"/>
          <p:cNvGrpSpPr/>
          <p:nvPr/>
        </p:nvGrpSpPr>
        <p:grpSpPr>
          <a:xfrm>
            <a:off x="5615750" y="1438375"/>
            <a:ext cx="2008125" cy="3407800"/>
            <a:chOff x="5615750" y="1438375"/>
            <a:chExt cx="2008125" cy="3407800"/>
          </a:xfrm>
        </p:grpSpPr>
        <p:sp>
          <p:nvSpPr>
            <p:cNvPr id="149" name="Google Shape;149;p18"/>
            <p:cNvSpPr/>
            <p:nvPr/>
          </p:nvSpPr>
          <p:spPr>
            <a:xfrm>
              <a:off x="5615750" y="14383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5615750" y="21556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6334750" y="1630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7263875" y="158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5728350" y="37424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8"/>
            <p:cNvSpPr/>
            <p:nvPr/>
          </p:nvSpPr>
          <p:spPr>
            <a:xfrm>
              <a:off x="7263875" y="2921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6604825" y="23917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7263875" y="36288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6244825" y="44861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5904825" y="2921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6903875" y="41716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0" name="Google Shape;160;p18"/>
            <p:cNvCxnSpPr>
              <a:stCxn id="151" idx="7"/>
              <a:endCxn id="152" idx="1"/>
            </p:cNvCxnSpPr>
            <p:nvPr/>
          </p:nvCxnSpPr>
          <p:spPr>
            <a:xfrm flipH="1" rot="10800000">
              <a:off x="6642029" y="1639446"/>
              <a:ext cx="674700" cy="43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1" name="Google Shape;161;p18"/>
            <p:cNvCxnSpPr>
              <a:stCxn id="152" idx="2"/>
              <a:endCxn id="151" idx="6"/>
            </p:cNvCxnSpPr>
            <p:nvPr/>
          </p:nvCxnSpPr>
          <p:spPr>
            <a:xfrm flipH="1">
              <a:off x="6694775" y="1766850"/>
              <a:ext cx="569100" cy="43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2" name="Google Shape;162;p18"/>
            <p:cNvCxnSpPr>
              <a:stCxn id="150" idx="6"/>
              <a:endCxn id="155" idx="1"/>
            </p:cNvCxnSpPr>
            <p:nvPr/>
          </p:nvCxnSpPr>
          <p:spPr>
            <a:xfrm>
              <a:off x="5975750" y="2335600"/>
              <a:ext cx="681900" cy="108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3" name="Google Shape;163;p18"/>
            <p:cNvCxnSpPr>
              <a:stCxn id="155" idx="3"/>
              <a:endCxn id="158" idx="7"/>
            </p:cNvCxnSpPr>
            <p:nvPr/>
          </p:nvCxnSpPr>
          <p:spPr>
            <a:xfrm flipH="1">
              <a:off x="6212046" y="2699029"/>
              <a:ext cx="445500" cy="275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4" name="Google Shape;164;p18"/>
            <p:cNvCxnSpPr>
              <a:stCxn id="158" idx="0"/>
              <a:endCxn id="150" idx="4"/>
            </p:cNvCxnSpPr>
            <p:nvPr/>
          </p:nvCxnSpPr>
          <p:spPr>
            <a:xfrm rot="10800000">
              <a:off x="5795625" y="2515675"/>
              <a:ext cx="289200" cy="405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5" name="Google Shape;165;p18"/>
            <p:cNvCxnSpPr>
              <a:stCxn id="156" idx="7"/>
              <a:endCxn id="154" idx="5"/>
            </p:cNvCxnSpPr>
            <p:nvPr/>
          </p:nvCxnSpPr>
          <p:spPr>
            <a:xfrm rot="10800000">
              <a:off x="7571154" y="3228896"/>
              <a:ext cx="0" cy="452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6" name="Google Shape;166;p18"/>
            <p:cNvCxnSpPr>
              <a:stCxn id="154" idx="4"/>
              <a:endCxn id="156" idx="0"/>
            </p:cNvCxnSpPr>
            <p:nvPr/>
          </p:nvCxnSpPr>
          <p:spPr>
            <a:xfrm>
              <a:off x="7443875" y="3281575"/>
              <a:ext cx="0" cy="34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7" name="Google Shape;167;p18"/>
            <p:cNvCxnSpPr>
              <a:stCxn id="156" idx="3"/>
              <a:endCxn id="159" idx="7"/>
            </p:cNvCxnSpPr>
            <p:nvPr/>
          </p:nvCxnSpPr>
          <p:spPr>
            <a:xfrm flipH="1">
              <a:off x="7211296" y="3936154"/>
              <a:ext cx="105300" cy="288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8" name="Google Shape;168;p18"/>
            <p:cNvCxnSpPr>
              <a:stCxn id="159" idx="3"/>
              <a:endCxn id="157" idx="7"/>
            </p:cNvCxnSpPr>
            <p:nvPr/>
          </p:nvCxnSpPr>
          <p:spPr>
            <a:xfrm flipH="1">
              <a:off x="6552196" y="4478954"/>
              <a:ext cx="404400" cy="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9" name="Google Shape;169;p18"/>
            <p:cNvCxnSpPr>
              <a:stCxn id="159" idx="1"/>
              <a:endCxn id="153" idx="6"/>
            </p:cNvCxnSpPr>
            <p:nvPr/>
          </p:nvCxnSpPr>
          <p:spPr>
            <a:xfrm rot="10800000">
              <a:off x="6088396" y="3922296"/>
              <a:ext cx="868200" cy="302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0" name="Google Shape;170;p18"/>
            <p:cNvCxnSpPr>
              <a:stCxn id="157" idx="1"/>
              <a:endCxn id="153" idx="5"/>
            </p:cNvCxnSpPr>
            <p:nvPr/>
          </p:nvCxnSpPr>
          <p:spPr>
            <a:xfrm rot="10800000">
              <a:off x="6035646" y="4049596"/>
              <a:ext cx="261900" cy="489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Componente tare conexe</a:t>
            </a:r>
            <a:endParaRPr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177" name="Google Shape;177;p19"/>
          <p:cNvGrpSpPr/>
          <p:nvPr/>
        </p:nvGrpSpPr>
        <p:grpSpPr>
          <a:xfrm>
            <a:off x="311700" y="1025975"/>
            <a:ext cx="2487200" cy="3724075"/>
            <a:chOff x="311700" y="1025975"/>
            <a:chExt cx="2487200" cy="3724075"/>
          </a:xfrm>
        </p:grpSpPr>
        <p:sp>
          <p:nvSpPr>
            <p:cNvPr id="178" name="Google Shape;178;p19"/>
            <p:cNvSpPr/>
            <p:nvPr/>
          </p:nvSpPr>
          <p:spPr>
            <a:xfrm>
              <a:off x="459400" y="10259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1994575" y="21847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1245150" y="43900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9"/>
            <p:cNvSpPr/>
            <p:nvPr/>
          </p:nvSpPr>
          <p:spPr>
            <a:xfrm>
              <a:off x="706825" y="30270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1245150" y="143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2438900" y="30270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311700" y="18247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1898125" y="3672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6" name="Google Shape;186;p19"/>
            <p:cNvCxnSpPr>
              <a:stCxn id="184" idx="0"/>
              <a:endCxn id="178" idx="4"/>
            </p:cNvCxnSpPr>
            <p:nvPr/>
          </p:nvCxnSpPr>
          <p:spPr>
            <a:xfrm flipH="1" rot="10800000">
              <a:off x="491700" y="1385875"/>
              <a:ext cx="147600" cy="438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7" name="Google Shape;187;p19"/>
            <p:cNvCxnSpPr>
              <a:stCxn id="178" idx="6"/>
              <a:endCxn id="182" idx="1"/>
            </p:cNvCxnSpPr>
            <p:nvPr/>
          </p:nvCxnSpPr>
          <p:spPr>
            <a:xfrm>
              <a:off x="819400" y="1205975"/>
              <a:ext cx="478500" cy="282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8" name="Google Shape;188;p19"/>
            <p:cNvCxnSpPr>
              <a:stCxn id="182" idx="3"/>
              <a:endCxn id="184" idx="6"/>
            </p:cNvCxnSpPr>
            <p:nvPr/>
          </p:nvCxnSpPr>
          <p:spPr>
            <a:xfrm flipH="1">
              <a:off x="671771" y="1743504"/>
              <a:ext cx="626100" cy="26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9" name="Google Shape;189;p19"/>
            <p:cNvCxnSpPr>
              <a:stCxn id="182" idx="5"/>
              <a:endCxn id="179" idx="1"/>
            </p:cNvCxnSpPr>
            <p:nvPr/>
          </p:nvCxnSpPr>
          <p:spPr>
            <a:xfrm>
              <a:off x="1552429" y="1743504"/>
              <a:ext cx="495000" cy="494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0" name="Google Shape;190;p19"/>
            <p:cNvCxnSpPr>
              <a:endCxn id="181" idx="0"/>
            </p:cNvCxnSpPr>
            <p:nvPr/>
          </p:nvCxnSpPr>
          <p:spPr>
            <a:xfrm flipH="1">
              <a:off x="886825" y="1796100"/>
              <a:ext cx="538200" cy="1230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1" name="Google Shape;191;p19"/>
            <p:cNvCxnSpPr>
              <a:stCxn id="179" idx="4"/>
              <a:endCxn id="183" idx="1"/>
            </p:cNvCxnSpPr>
            <p:nvPr/>
          </p:nvCxnSpPr>
          <p:spPr>
            <a:xfrm>
              <a:off x="2174575" y="2544775"/>
              <a:ext cx="317100" cy="53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2" name="Google Shape;192;p19"/>
            <p:cNvCxnSpPr>
              <a:stCxn id="183" idx="0"/>
              <a:endCxn id="179" idx="5"/>
            </p:cNvCxnSpPr>
            <p:nvPr/>
          </p:nvCxnSpPr>
          <p:spPr>
            <a:xfrm rot="10800000">
              <a:off x="2301800" y="2492100"/>
              <a:ext cx="317100" cy="53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3" name="Google Shape;193;p19"/>
            <p:cNvCxnSpPr>
              <a:stCxn id="181" idx="6"/>
              <a:endCxn id="183" idx="2"/>
            </p:cNvCxnSpPr>
            <p:nvPr/>
          </p:nvCxnSpPr>
          <p:spPr>
            <a:xfrm>
              <a:off x="1066825" y="3207000"/>
              <a:ext cx="13722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4" name="Google Shape;194;p19"/>
            <p:cNvCxnSpPr>
              <a:stCxn id="183" idx="3"/>
              <a:endCxn id="185" idx="7"/>
            </p:cNvCxnSpPr>
            <p:nvPr/>
          </p:nvCxnSpPr>
          <p:spPr>
            <a:xfrm flipH="1">
              <a:off x="2205421" y="3334279"/>
              <a:ext cx="286200" cy="390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5" name="Google Shape;195;p19"/>
            <p:cNvCxnSpPr>
              <a:endCxn id="180" idx="7"/>
            </p:cNvCxnSpPr>
            <p:nvPr/>
          </p:nvCxnSpPr>
          <p:spPr>
            <a:xfrm flipH="1">
              <a:off x="1552429" y="3979571"/>
              <a:ext cx="398400" cy="463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6" name="Google Shape;196;p19"/>
            <p:cNvCxnSpPr>
              <a:stCxn id="180" idx="1"/>
              <a:endCxn id="181" idx="4"/>
            </p:cNvCxnSpPr>
            <p:nvPr/>
          </p:nvCxnSpPr>
          <p:spPr>
            <a:xfrm rot="10800000">
              <a:off x="886871" y="3387071"/>
              <a:ext cx="411000" cy="1055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7" name="Google Shape;197;p19"/>
            <p:cNvCxnSpPr>
              <a:stCxn id="185" idx="1"/>
              <a:endCxn id="181" idx="5"/>
            </p:cNvCxnSpPr>
            <p:nvPr/>
          </p:nvCxnSpPr>
          <p:spPr>
            <a:xfrm rot="10800000">
              <a:off x="1014246" y="3334346"/>
              <a:ext cx="936600" cy="390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Componente tare conexe</a:t>
            </a:r>
            <a:endParaRPr/>
          </a:p>
        </p:txBody>
      </p:sp>
      <p:sp>
        <p:nvSpPr>
          <p:cNvPr id="203" name="Google Shape;203;p2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204" name="Google Shape;204;p20"/>
          <p:cNvGrpSpPr/>
          <p:nvPr/>
        </p:nvGrpSpPr>
        <p:grpSpPr>
          <a:xfrm>
            <a:off x="311700" y="1025975"/>
            <a:ext cx="2487200" cy="3724075"/>
            <a:chOff x="311700" y="1025975"/>
            <a:chExt cx="2487200" cy="3724075"/>
          </a:xfrm>
        </p:grpSpPr>
        <p:sp>
          <p:nvSpPr>
            <p:cNvPr id="205" name="Google Shape;205;p20"/>
            <p:cNvSpPr/>
            <p:nvPr/>
          </p:nvSpPr>
          <p:spPr>
            <a:xfrm>
              <a:off x="459400" y="10259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1994575" y="21847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1245150" y="43900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706825" y="30270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1245150" y="143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2438900" y="30270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0"/>
            <p:cNvSpPr/>
            <p:nvPr/>
          </p:nvSpPr>
          <p:spPr>
            <a:xfrm>
              <a:off x="311700" y="18247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1898125" y="3672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3" name="Google Shape;213;p20"/>
            <p:cNvCxnSpPr>
              <a:stCxn id="211" idx="0"/>
              <a:endCxn id="205" idx="4"/>
            </p:cNvCxnSpPr>
            <p:nvPr/>
          </p:nvCxnSpPr>
          <p:spPr>
            <a:xfrm flipH="1" rot="10800000">
              <a:off x="491700" y="1385875"/>
              <a:ext cx="147600" cy="438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4" name="Google Shape;214;p20"/>
            <p:cNvCxnSpPr>
              <a:stCxn id="205" idx="6"/>
              <a:endCxn id="209" idx="1"/>
            </p:cNvCxnSpPr>
            <p:nvPr/>
          </p:nvCxnSpPr>
          <p:spPr>
            <a:xfrm>
              <a:off x="819400" y="1205975"/>
              <a:ext cx="478500" cy="282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5" name="Google Shape;215;p20"/>
            <p:cNvCxnSpPr>
              <a:stCxn id="209" idx="3"/>
              <a:endCxn id="211" idx="6"/>
            </p:cNvCxnSpPr>
            <p:nvPr/>
          </p:nvCxnSpPr>
          <p:spPr>
            <a:xfrm flipH="1">
              <a:off x="671771" y="1743504"/>
              <a:ext cx="626100" cy="26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6" name="Google Shape;216;p20"/>
            <p:cNvCxnSpPr>
              <a:stCxn id="209" idx="5"/>
              <a:endCxn id="206" idx="1"/>
            </p:cNvCxnSpPr>
            <p:nvPr/>
          </p:nvCxnSpPr>
          <p:spPr>
            <a:xfrm>
              <a:off x="1552429" y="1743504"/>
              <a:ext cx="495000" cy="4941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7" name="Google Shape;217;p20"/>
            <p:cNvCxnSpPr>
              <a:endCxn id="208" idx="0"/>
            </p:cNvCxnSpPr>
            <p:nvPr/>
          </p:nvCxnSpPr>
          <p:spPr>
            <a:xfrm flipH="1">
              <a:off x="886825" y="1796100"/>
              <a:ext cx="538200" cy="12309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8" name="Google Shape;218;p20"/>
            <p:cNvCxnSpPr>
              <a:stCxn id="206" idx="4"/>
              <a:endCxn id="210" idx="1"/>
            </p:cNvCxnSpPr>
            <p:nvPr/>
          </p:nvCxnSpPr>
          <p:spPr>
            <a:xfrm>
              <a:off x="2174575" y="2544775"/>
              <a:ext cx="317100" cy="53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9" name="Google Shape;219;p20"/>
            <p:cNvCxnSpPr>
              <a:stCxn id="210" idx="0"/>
              <a:endCxn id="206" idx="5"/>
            </p:cNvCxnSpPr>
            <p:nvPr/>
          </p:nvCxnSpPr>
          <p:spPr>
            <a:xfrm rot="10800000">
              <a:off x="2301800" y="2492100"/>
              <a:ext cx="317100" cy="53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0" name="Google Shape;220;p20"/>
            <p:cNvCxnSpPr>
              <a:stCxn id="208" idx="6"/>
              <a:endCxn id="210" idx="2"/>
            </p:cNvCxnSpPr>
            <p:nvPr/>
          </p:nvCxnSpPr>
          <p:spPr>
            <a:xfrm>
              <a:off x="1066825" y="3207000"/>
              <a:ext cx="13722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1" name="Google Shape;221;p20"/>
            <p:cNvCxnSpPr>
              <a:stCxn id="210" idx="3"/>
              <a:endCxn id="212" idx="7"/>
            </p:cNvCxnSpPr>
            <p:nvPr/>
          </p:nvCxnSpPr>
          <p:spPr>
            <a:xfrm flipH="1">
              <a:off x="2205421" y="3334279"/>
              <a:ext cx="286200" cy="390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2" name="Google Shape;222;p20"/>
            <p:cNvCxnSpPr>
              <a:endCxn id="207" idx="7"/>
            </p:cNvCxnSpPr>
            <p:nvPr/>
          </p:nvCxnSpPr>
          <p:spPr>
            <a:xfrm flipH="1">
              <a:off x="1552429" y="3979571"/>
              <a:ext cx="398400" cy="463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3" name="Google Shape;223;p20"/>
            <p:cNvCxnSpPr>
              <a:stCxn id="207" idx="1"/>
              <a:endCxn id="208" idx="4"/>
            </p:cNvCxnSpPr>
            <p:nvPr/>
          </p:nvCxnSpPr>
          <p:spPr>
            <a:xfrm rot="10800000">
              <a:off x="886871" y="3387071"/>
              <a:ext cx="411000" cy="1055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4" name="Google Shape;224;p20"/>
            <p:cNvCxnSpPr>
              <a:stCxn id="212" idx="1"/>
              <a:endCxn id="208" idx="5"/>
            </p:cNvCxnSpPr>
            <p:nvPr/>
          </p:nvCxnSpPr>
          <p:spPr>
            <a:xfrm rot="10800000">
              <a:off x="1014246" y="3334346"/>
              <a:ext cx="936600" cy="390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225" name="Google Shape;225;p20"/>
          <p:cNvGrpSpPr/>
          <p:nvPr/>
        </p:nvGrpSpPr>
        <p:grpSpPr>
          <a:xfrm>
            <a:off x="5188500" y="1025975"/>
            <a:ext cx="2487200" cy="3724075"/>
            <a:chOff x="5188500" y="1025975"/>
            <a:chExt cx="2487200" cy="3724075"/>
          </a:xfrm>
        </p:grpSpPr>
        <p:sp>
          <p:nvSpPr>
            <p:cNvPr id="226" name="Google Shape;226;p20"/>
            <p:cNvSpPr/>
            <p:nvPr/>
          </p:nvSpPr>
          <p:spPr>
            <a:xfrm>
              <a:off x="5336200" y="10259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6871375" y="21847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6121950" y="43900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5583625" y="30270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0"/>
            <p:cNvSpPr/>
            <p:nvPr/>
          </p:nvSpPr>
          <p:spPr>
            <a:xfrm>
              <a:off x="6121950" y="143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0"/>
            <p:cNvSpPr/>
            <p:nvPr/>
          </p:nvSpPr>
          <p:spPr>
            <a:xfrm>
              <a:off x="7315700" y="30270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5188500" y="18247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6774925" y="3672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4" name="Google Shape;234;p20"/>
            <p:cNvCxnSpPr>
              <a:stCxn id="232" idx="0"/>
              <a:endCxn id="226" idx="4"/>
            </p:cNvCxnSpPr>
            <p:nvPr/>
          </p:nvCxnSpPr>
          <p:spPr>
            <a:xfrm flipH="1" rot="10800000">
              <a:off x="5368500" y="1385875"/>
              <a:ext cx="147600" cy="438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5" name="Google Shape;235;p20"/>
            <p:cNvCxnSpPr>
              <a:stCxn id="226" idx="6"/>
              <a:endCxn id="230" idx="1"/>
            </p:cNvCxnSpPr>
            <p:nvPr/>
          </p:nvCxnSpPr>
          <p:spPr>
            <a:xfrm>
              <a:off x="5696200" y="1205975"/>
              <a:ext cx="478500" cy="282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6" name="Google Shape;236;p20"/>
            <p:cNvCxnSpPr>
              <a:stCxn id="230" idx="3"/>
              <a:endCxn id="232" idx="6"/>
            </p:cNvCxnSpPr>
            <p:nvPr/>
          </p:nvCxnSpPr>
          <p:spPr>
            <a:xfrm flipH="1">
              <a:off x="5548571" y="1743504"/>
              <a:ext cx="626100" cy="26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7" name="Google Shape;237;p20"/>
            <p:cNvCxnSpPr>
              <a:stCxn id="227" idx="4"/>
              <a:endCxn id="231" idx="1"/>
            </p:cNvCxnSpPr>
            <p:nvPr/>
          </p:nvCxnSpPr>
          <p:spPr>
            <a:xfrm>
              <a:off x="7051375" y="2544775"/>
              <a:ext cx="317100" cy="53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8" name="Google Shape;238;p20"/>
            <p:cNvCxnSpPr>
              <a:stCxn id="231" idx="0"/>
              <a:endCxn id="227" idx="5"/>
            </p:cNvCxnSpPr>
            <p:nvPr/>
          </p:nvCxnSpPr>
          <p:spPr>
            <a:xfrm rot="10800000">
              <a:off x="7178600" y="2492100"/>
              <a:ext cx="317100" cy="53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9" name="Google Shape;239;p20"/>
            <p:cNvCxnSpPr>
              <a:stCxn id="229" idx="6"/>
              <a:endCxn id="231" idx="2"/>
            </p:cNvCxnSpPr>
            <p:nvPr/>
          </p:nvCxnSpPr>
          <p:spPr>
            <a:xfrm>
              <a:off x="5943625" y="3207000"/>
              <a:ext cx="13722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0" name="Google Shape;240;p20"/>
            <p:cNvCxnSpPr>
              <a:stCxn id="231" idx="3"/>
              <a:endCxn id="233" idx="7"/>
            </p:cNvCxnSpPr>
            <p:nvPr/>
          </p:nvCxnSpPr>
          <p:spPr>
            <a:xfrm flipH="1">
              <a:off x="7082221" y="3334279"/>
              <a:ext cx="286200" cy="390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1" name="Google Shape;241;p20"/>
            <p:cNvCxnSpPr>
              <a:endCxn id="228" idx="7"/>
            </p:cNvCxnSpPr>
            <p:nvPr/>
          </p:nvCxnSpPr>
          <p:spPr>
            <a:xfrm flipH="1">
              <a:off x="6429229" y="3979571"/>
              <a:ext cx="398400" cy="463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2" name="Google Shape;242;p20"/>
            <p:cNvCxnSpPr>
              <a:stCxn id="228" idx="1"/>
              <a:endCxn id="229" idx="4"/>
            </p:cNvCxnSpPr>
            <p:nvPr/>
          </p:nvCxnSpPr>
          <p:spPr>
            <a:xfrm rot="10800000">
              <a:off x="5763671" y="3387071"/>
              <a:ext cx="411000" cy="1055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3" name="Google Shape;243;p20"/>
            <p:cNvCxnSpPr>
              <a:stCxn id="233" idx="1"/>
              <a:endCxn id="229" idx="5"/>
            </p:cNvCxnSpPr>
            <p:nvPr/>
          </p:nvCxnSpPr>
          <p:spPr>
            <a:xfrm rot="10800000">
              <a:off x="5891046" y="3334346"/>
              <a:ext cx="936600" cy="390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Componente tare conexe</a:t>
            </a:r>
            <a:endParaRPr/>
          </a:p>
        </p:txBody>
      </p:sp>
      <p:sp>
        <p:nvSpPr>
          <p:cNvPr id="249" name="Google Shape;249;p2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Observație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Componentele tare conexe ale lui G = componentele tare conexe ale lui G</a:t>
            </a:r>
            <a:r>
              <a:rPr baseline="30000" lang="en-GB"/>
              <a:t>T</a:t>
            </a:r>
            <a:endParaRPr/>
          </a:p>
        </p:txBody>
      </p:sp>
      <p:grpSp>
        <p:nvGrpSpPr>
          <p:cNvPr id="250" name="Google Shape;250;p21"/>
          <p:cNvGrpSpPr/>
          <p:nvPr/>
        </p:nvGrpSpPr>
        <p:grpSpPr>
          <a:xfrm>
            <a:off x="1329425" y="1789450"/>
            <a:ext cx="5998075" cy="3275575"/>
            <a:chOff x="1329425" y="1789450"/>
            <a:chExt cx="5998075" cy="3275575"/>
          </a:xfrm>
        </p:grpSpPr>
        <p:sp>
          <p:nvSpPr>
            <p:cNvPr id="251" name="Google Shape;251;p21"/>
            <p:cNvSpPr/>
            <p:nvPr/>
          </p:nvSpPr>
          <p:spPr>
            <a:xfrm>
              <a:off x="1575875" y="28340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2820100" y="3115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1"/>
            <p:cNvSpPr/>
            <p:nvPr/>
          </p:nvSpPr>
          <p:spPr>
            <a:xfrm>
              <a:off x="3381725" y="19729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4106500" y="19729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4786438" y="39292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5398513" y="24996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1"/>
            <p:cNvSpPr/>
            <p:nvPr/>
          </p:nvSpPr>
          <p:spPr>
            <a:xfrm>
              <a:off x="3588125" y="3168363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5795675" y="3240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1"/>
            <p:cNvSpPr/>
            <p:nvPr/>
          </p:nvSpPr>
          <p:spPr>
            <a:xfrm>
              <a:off x="5637875" y="46204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1"/>
            <p:cNvSpPr/>
            <p:nvPr/>
          </p:nvSpPr>
          <p:spPr>
            <a:xfrm>
              <a:off x="3149075" y="3876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6752150" y="37270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2" name="Google Shape;262;p21"/>
            <p:cNvCxnSpPr>
              <a:stCxn id="251" idx="6"/>
              <a:endCxn id="252" idx="2"/>
            </p:cNvCxnSpPr>
            <p:nvPr/>
          </p:nvCxnSpPr>
          <p:spPr>
            <a:xfrm>
              <a:off x="1935875" y="3014025"/>
              <a:ext cx="884100" cy="2817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3" name="Google Shape;263;p21"/>
            <p:cNvCxnSpPr>
              <a:stCxn id="252" idx="7"/>
              <a:endCxn id="253" idx="3"/>
            </p:cNvCxnSpPr>
            <p:nvPr/>
          </p:nvCxnSpPr>
          <p:spPr>
            <a:xfrm flipH="1" rot="10800000">
              <a:off x="3127379" y="2280371"/>
              <a:ext cx="307200" cy="8880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4" name="Google Shape;264;p21"/>
            <p:cNvCxnSpPr>
              <a:stCxn id="253" idx="7"/>
              <a:endCxn id="254" idx="1"/>
            </p:cNvCxnSpPr>
            <p:nvPr/>
          </p:nvCxnSpPr>
          <p:spPr>
            <a:xfrm>
              <a:off x="3689004" y="2025671"/>
              <a:ext cx="4701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5" name="Google Shape;265;p21"/>
            <p:cNvCxnSpPr>
              <a:stCxn id="254" idx="2"/>
              <a:endCxn id="253" idx="6"/>
            </p:cNvCxnSpPr>
            <p:nvPr/>
          </p:nvCxnSpPr>
          <p:spPr>
            <a:xfrm rot="10800000">
              <a:off x="3741700" y="2152950"/>
              <a:ext cx="364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6" name="Google Shape;266;p21"/>
            <p:cNvCxnSpPr>
              <a:stCxn id="252" idx="6"/>
              <a:endCxn id="257" idx="1"/>
            </p:cNvCxnSpPr>
            <p:nvPr/>
          </p:nvCxnSpPr>
          <p:spPr>
            <a:xfrm flipH="1" rot="10800000">
              <a:off x="3180100" y="3220950"/>
              <a:ext cx="460800" cy="74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7" name="Google Shape;267;p21"/>
            <p:cNvCxnSpPr>
              <a:stCxn id="257" idx="3"/>
              <a:endCxn id="260" idx="7"/>
            </p:cNvCxnSpPr>
            <p:nvPr/>
          </p:nvCxnSpPr>
          <p:spPr>
            <a:xfrm flipH="1">
              <a:off x="3456346" y="3475642"/>
              <a:ext cx="184500" cy="453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8" name="Google Shape;268;p21"/>
            <p:cNvCxnSpPr>
              <a:stCxn id="260" idx="1"/>
              <a:endCxn id="252" idx="4"/>
            </p:cNvCxnSpPr>
            <p:nvPr/>
          </p:nvCxnSpPr>
          <p:spPr>
            <a:xfrm rot="10800000">
              <a:off x="3000196" y="3475771"/>
              <a:ext cx="201600" cy="453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9" name="Google Shape;269;p21"/>
            <p:cNvCxnSpPr>
              <a:stCxn id="257" idx="6"/>
              <a:endCxn id="256" idx="2"/>
            </p:cNvCxnSpPr>
            <p:nvPr/>
          </p:nvCxnSpPr>
          <p:spPr>
            <a:xfrm flipH="1" rot="10800000">
              <a:off x="3948125" y="2679663"/>
              <a:ext cx="1450500" cy="6687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0" name="Google Shape;270;p21"/>
            <p:cNvCxnSpPr>
              <a:stCxn id="257" idx="5"/>
              <a:endCxn id="255" idx="1"/>
            </p:cNvCxnSpPr>
            <p:nvPr/>
          </p:nvCxnSpPr>
          <p:spPr>
            <a:xfrm>
              <a:off x="3895404" y="3475642"/>
              <a:ext cx="943800" cy="5064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1" name="Google Shape;271;p21"/>
            <p:cNvCxnSpPr>
              <a:stCxn id="258" idx="0"/>
              <a:endCxn id="256" idx="5"/>
            </p:cNvCxnSpPr>
            <p:nvPr/>
          </p:nvCxnSpPr>
          <p:spPr>
            <a:xfrm rot="10800000">
              <a:off x="5705675" y="2807025"/>
              <a:ext cx="270000" cy="43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2" name="Google Shape;272;p21"/>
            <p:cNvCxnSpPr>
              <a:stCxn id="256" idx="4"/>
              <a:endCxn id="258" idx="1"/>
            </p:cNvCxnSpPr>
            <p:nvPr/>
          </p:nvCxnSpPr>
          <p:spPr>
            <a:xfrm>
              <a:off x="5578513" y="2859600"/>
              <a:ext cx="270000" cy="43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3" name="Google Shape;273;p21"/>
            <p:cNvCxnSpPr>
              <a:stCxn id="258" idx="5"/>
              <a:endCxn id="261" idx="0"/>
            </p:cNvCxnSpPr>
            <p:nvPr/>
          </p:nvCxnSpPr>
          <p:spPr>
            <a:xfrm>
              <a:off x="6102954" y="3548104"/>
              <a:ext cx="829200" cy="178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4" name="Google Shape;274;p21"/>
            <p:cNvCxnSpPr>
              <a:stCxn id="261" idx="3"/>
              <a:endCxn id="259" idx="7"/>
            </p:cNvCxnSpPr>
            <p:nvPr/>
          </p:nvCxnSpPr>
          <p:spPr>
            <a:xfrm flipH="1">
              <a:off x="5945071" y="4034304"/>
              <a:ext cx="859800" cy="638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5" name="Google Shape;275;p21"/>
            <p:cNvCxnSpPr>
              <a:stCxn id="261" idx="1"/>
              <a:endCxn id="255" idx="6"/>
            </p:cNvCxnSpPr>
            <p:nvPr/>
          </p:nvCxnSpPr>
          <p:spPr>
            <a:xfrm flipH="1">
              <a:off x="5146471" y="3779746"/>
              <a:ext cx="1658400" cy="329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6" name="Google Shape;276;p21"/>
            <p:cNvCxnSpPr>
              <a:stCxn id="259" idx="1"/>
              <a:endCxn id="255" idx="5"/>
            </p:cNvCxnSpPr>
            <p:nvPr/>
          </p:nvCxnSpPr>
          <p:spPr>
            <a:xfrm rot="10800000">
              <a:off x="5093596" y="4236646"/>
              <a:ext cx="597000" cy="436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7" name="Google Shape;277;p21"/>
            <p:cNvCxnSpPr>
              <a:stCxn id="255" idx="7"/>
              <a:endCxn id="258" idx="2"/>
            </p:cNvCxnSpPr>
            <p:nvPr/>
          </p:nvCxnSpPr>
          <p:spPr>
            <a:xfrm flipH="1" rot="10800000">
              <a:off x="5093717" y="3420971"/>
              <a:ext cx="702000" cy="561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78" name="Google Shape;278;p21"/>
            <p:cNvSpPr/>
            <p:nvPr/>
          </p:nvSpPr>
          <p:spPr>
            <a:xfrm>
              <a:off x="1329425" y="2588775"/>
              <a:ext cx="852900" cy="8505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2957350" y="1789450"/>
              <a:ext cx="1933500" cy="8505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1"/>
            <p:cNvSpPr/>
            <p:nvPr/>
          </p:nvSpPr>
          <p:spPr>
            <a:xfrm>
              <a:off x="2434475" y="2882400"/>
              <a:ext cx="1789200" cy="1510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1"/>
            <p:cNvSpPr/>
            <p:nvPr/>
          </p:nvSpPr>
          <p:spPr>
            <a:xfrm>
              <a:off x="4572000" y="2340125"/>
              <a:ext cx="2755500" cy="27249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2" name="Google Shape;282;p21"/>
          <p:cNvSpPr txBox="1"/>
          <p:nvPr/>
        </p:nvSpPr>
        <p:spPr>
          <a:xfrm>
            <a:off x="8050325" y="2576925"/>
            <a:ext cx="39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2"/>
          <p:cNvSpPr/>
          <p:nvPr/>
        </p:nvSpPr>
        <p:spPr>
          <a:xfrm>
            <a:off x="4572000" y="2340125"/>
            <a:ext cx="2755500" cy="2724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2434475" y="2882400"/>
            <a:ext cx="1789200" cy="1510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Componente tare conexe</a:t>
            </a:r>
            <a:endParaRPr/>
          </a:p>
        </p:txBody>
      </p:sp>
      <p:sp>
        <p:nvSpPr>
          <p:cNvPr id="290" name="Google Shape;290;p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Observație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Componentele tare conexe ale lui G = componentele tare conexe ale lui G</a:t>
            </a:r>
            <a:r>
              <a:rPr baseline="30000" lang="en-GB"/>
              <a:t>T</a:t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1575875" y="2834025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2820100" y="3115650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3381725" y="1972950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4106500" y="1972950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4786438" y="3929250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5398513" y="2499600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3588125" y="3168363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5795675" y="3240825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5637875" y="4620425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3149075" y="3876650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6752150" y="3727025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" name="Google Shape;302;p22"/>
          <p:cNvCxnSpPr>
            <a:stCxn id="291" idx="6"/>
            <a:endCxn id="292" idx="2"/>
          </p:cNvCxnSpPr>
          <p:nvPr/>
        </p:nvCxnSpPr>
        <p:spPr>
          <a:xfrm>
            <a:off x="1935875" y="3014025"/>
            <a:ext cx="884100" cy="2817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03" name="Google Shape;303;p22"/>
          <p:cNvCxnSpPr>
            <a:stCxn id="292" idx="7"/>
            <a:endCxn id="293" idx="3"/>
          </p:cNvCxnSpPr>
          <p:nvPr/>
        </p:nvCxnSpPr>
        <p:spPr>
          <a:xfrm flipH="1" rot="10800000">
            <a:off x="3127379" y="2280371"/>
            <a:ext cx="307200" cy="888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04" name="Google Shape;304;p22"/>
          <p:cNvCxnSpPr>
            <a:stCxn id="293" idx="7"/>
            <a:endCxn id="294" idx="1"/>
          </p:cNvCxnSpPr>
          <p:nvPr/>
        </p:nvCxnSpPr>
        <p:spPr>
          <a:xfrm>
            <a:off x="3689004" y="2025671"/>
            <a:ext cx="470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5" name="Google Shape;305;p22"/>
          <p:cNvCxnSpPr>
            <a:stCxn id="294" idx="2"/>
            <a:endCxn id="293" idx="6"/>
          </p:cNvCxnSpPr>
          <p:nvPr/>
        </p:nvCxnSpPr>
        <p:spPr>
          <a:xfrm rot="10800000">
            <a:off x="3741700" y="2152950"/>
            <a:ext cx="364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6" name="Google Shape;306;p22"/>
          <p:cNvCxnSpPr>
            <a:stCxn id="292" idx="6"/>
            <a:endCxn id="297" idx="1"/>
          </p:cNvCxnSpPr>
          <p:nvPr/>
        </p:nvCxnSpPr>
        <p:spPr>
          <a:xfrm flipH="1" rot="10800000">
            <a:off x="3180100" y="3220950"/>
            <a:ext cx="460800" cy="7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07" name="Google Shape;307;p22"/>
          <p:cNvCxnSpPr>
            <a:stCxn id="297" idx="3"/>
            <a:endCxn id="300" idx="7"/>
          </p:cNvCxnSpPr>
          <p:nvPr/>
        </p:nvCxnSpPr>
        <p:spPr>
          <a:xfrm flipH="1">
            <a:off x="3456346" y="3475642"/>
            <a:ext cx="184500" cy="45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08" name="Google Shape;308;p22"/>
          <p:cNvCxnSpPr>
            <a:stCxn id="300" idx="1"/>
            <a:endCxn id="292" idx="4"/>
          </p:cNvCxnSpPr>
          <p:nvPr/>
        </p:nvCxnSpPr>
        <p:spPr>
          <a:xfrm rot="10800000">
            <a:off x="3000196" y="3475771"/>
            <a:ext cx="201600" cy="45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09" name="Google Shape;309;p22"/>
          <p:cNvCxnSpPr>
            <a:stCxn id="297" idx="6"/>
            <a:endCxn id="296" idx="2"/>
          </p:cNvCxnSpPr>
          <p:nvPr/>
        </p:nvCxnSpPr>
        <p:spPr>
          <a:xfrm flipH="1" rot="10800000">
            <a:off x="3948125" y="2679663"/>
            <a:ext cx="1450500" cy="6687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10" name="Google Shape;310;p22"/>
          <p:cNvCxnSpPr>
            <a:stCxn id="297" idx="5"/>
            <a:endCxn id="295" idx="1"/>
          </p:cNvCxnSpPr>
          <p:nvPr/>
        </p:nvCxnSpPr>
        <p:spPr>
          <a:xfrm>
            <a:off x="3895404" y="3475642"/>
            <a:ext cx="943800" cy="506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11" name="Google Shape;311;p22"/>
          <p:cNvCxnSpPr>
            <a:stCxn id="298" idx="0"/>
            <a:endCxn id="296" idx="5"/>
          </p:cNvCxnSpPr>
          <p:nvPr/>
        </p:nvCxnSpPr>
        <p:spPr>
          <a:xfrm rot="10800000">
            <a:off x="5705675" y="2807025"/>
            <a:ext cx="270000" cy="43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2" name="Google Shape;312;p22"/>
          <p:cNvCxnSpPr>
            <a:stCxn id="296" idx="4"/>
            <a:endCxn id="298" idx="1"/>
          </p:cNvCxnSpPr>
          <p:nvPr/>
        </p:nvCxnSpPr>
        <p:spPr>
          <a:xfrm>
            <a:off x="5578513" y="2859600"/>
            <a:ext cx="270000" cy="43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" name="Google Shape;313;p22"/>
          <p:cNvCxnSpPr>
            <a:stCxn id="298" idx="5"/>
            <a:endCxn id="301" idx="0"/>
          </p:cNvCxnSpPr>
          <p:nvPr/>
        </p:nvCxnSpPr>
        <p:spPr>
          <a:xfrm>
            <a:off x="6102954" y="3548104"/>
            <a:ext cx="829200" cy="178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14" name="Google Shape;314;p22"/>
          <p:cNvCxnSpPr>
            <a:stCxn id="301" idx="3"/>
            <a:endCxn id="299" idx="7"/>
          </p:cNvCxnSpPr>
          <p:nvPr/>
        </p:nvCxnSpPr>
        <p:spPr>
          <a:xfrm flipH="1">
            <a:off x="5945071" y="4034304"/>
            <a:ext cx="859800" cy="63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15" name="Google Shape;315;p22"/>
          <p:cNvCxnSpPr>
            <a:stCxn id="301" idx="1"/>
            <a:endCxn id="295" idx="6"/>
          </p:cNvCxnSpPr>
          <p:nvPr/>
        </p:nvCxnSpPr>
        <p:spPr>
          <a:xfrm flipH="1">
            <a:off x="5146471" y="3779746"/>
            <a:ext cx="1658400" cy="32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16" name="Google Shape;316;p22"/>
          <p:cNvCxnSpPr>
            <a:stCxn id="299" idx="1"/>
            <a:endCxn id="295" idx="5"/>
          </p:cNvCxnSpPr>
          <p:nvPr/>
        </p:nvCxnSpPr>
        <p:spPr>
          <a:xfrm rot="10800000">
            <a:off x="5093596" y="4236646"/>
            <a:ext cx="597000" cy="43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17" name="Google Shape;317;p22"/>
          <p:cNvCxnSpPr>
            <a:stCxn id="295" idx="7"/>
            <a:endCxn id="298" idx="2"/>
          </p:cNvCxnSpPr>
          <p:nvPr/>
        </p:nvCxnSpPr>
        <p:spPr>
          <a:xfrm flipH="1" rot="10800000">
            <a:off x="5093717" y="3420971"/>
            <a:ext cx="702000" cy="56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318" name="Google Shape;318;p22"/>
          <p:cNvSpPr/>
          <p:nvPr/>
        </p:nvSpPr>
        <p:spPr>
          <a:xfrm>
            <a:off x="1329425" y="2588775"/>
            <a:ext cx="852900" cy="850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2957350" y="1789450"/>
            <a:ext cx="1933500" cy="850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8050325" y="2576925"/>
            <a:ext cx="504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baseline="3000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Algoritm</a:t>
            </a:r>
            <a:endParaRPr/>
          </a:p>
        </p:txBody>
      </p:sp>
      <p:sp>
        <p:nvSpPr>
          <p:cNvPr id="326" name="Google Shape;326;p23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Componente tare conexe - Algoritm</a:t>
            </a:r>
            <a:endParaRPr/>
          </a:p>
        </p:txBody>
      </p:sp>
      <p:sp>
        <p:nvSpPr>
          <p:cNvPr id="332" name="Google Shape;332;p2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Următorul algoritm de timp liniar (adică </a:t>
            </a:r>
            <a:r>
              <a:rPr b="1" lang="en-GB"/>
              <a:t>O</a:t>
            </a:r>
            <a:r>
              <a:rPr b="1" lang="en-GB"/>
              <a:t>(V+E)</a:t>
            </a:r>
            <a:r>
              <a:rPr lang="en-GB"/>
              <a:t>) determină componentele tare conexe ale unui graf orientat G = (V, E), folosind două căutări în adâncime, una în G și una în G</a:t>
            </a:r>
            <a:r>
              <a:rPr baseline="30000" lang="en-GB"/>
              <a:t>T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Componente-Tare-Conexe(G)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AutoNum type="arabicPeriod"/>
            </a:pPr>
            <a:r>
              <a:rPr lang="en-GB"/>
              <a:t>apelează CA(G) pentru a calcula timpii de terminare f[u] pentru fiecare vârf u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rabicPeriod"/>
            </a:pPr>
            <a:r>
              <a:rPr lang="en-GB"/>
              <a:t>calculează G</a:t>
            </a:r>
            <a:r>
              <a:rPr baseline="30000" lang="en-GB"/>
              <a:t>T</a:t>
            </a:r>
            <a:endParaRPr baseline="3000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rabicPeriod"/>
            </a:pPr>
            <a:r>
              <a:rPr lang="en-GB"/>
              <a:t>apelează CA(G</a:t>
            </a:r>
            <a:r>
              <a:rPr baseline="30000" lang="en-GB"/>
              <a:t>T</a:t>
            </a:r>
            <a:r>
              <a:rPr lang="en-GB"/>
              <a:t>), dar, în bucla principală a lui CA, consideră vârfurile în ordinea </a:t>
            </a:r>
            <a:r>
              <a:rPr b="1" lang="en-GB"/>
              <a:t>descrescătoare</a:t>
            </a:r>
            <a:r>
              <a:rPr lang="en-GB"/>
              <a:t> a timpilor f[u] (calculați la linia 1)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AutoNum type="arabicPeriod"/>
            </a:pPr>
            <a:r>
              <a:rPr lang="en-GB"/>
              <a:t>afișează vârfurile fiecărui arbore din pădurea de adâncime din pasul 3 ca o componentă tare conexă separată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Componente tare conexe - Algoritm Kosaraju</a:t>
            </a:r>
            <a:endParaRPr/>
          </a:p>
        </p:txBody>
      </p:sp>
      <p:sp>
        <p:nvSpPr>
          <p:cNvPr id="338" name="Google Shape;338;p25"/>
          <p:cNvSpPr txBox="1"/>
          <p:nvPr>
            <p:ph idx="1" type="body"/>
          </p:nvPr>
        </p:nvSpPr>
        <p:spPr>
          <a:xfrm>
            <a:off x="311700" y="906225"/>
            <a:ext cx="8520600" cy="4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Următorul algoritm de timp liniar (adică </a:t>
            </a:r>
            <a:r>
              <a:rPr b="1" lang="en-GB"/>
              <a:t>θ(V+E)</a:t>
            </a:r>
            <a:r>
              <a:rPr lang="en-GB"/>
              <a:t>) determină componentele tare conexe ale unui graf orientat G = (V, E), folosind două căutări în adâncime, una în G și una în G</a:t>
            </a:r>
            <a:r>
              <a:rPr baseline="30000" lang="en-GB"/>
              <a:t>T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Componente-Tare-Conexe(G)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AutoNum type="arabicPeriod"/>
            </a:pPr>
            <a:r>
              <a:rPr lang="en-GB"/>
              <a:t>apelează CA(G) pentru a calcula timpii de terminare f[u] pentru fiecare vârf u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rabicPeriod"/>
            </a:pPr>
            <a:r>
              <a:rPr lang="en-GB"/>
              <a:t>calculează G</a:t>
            </a:r>
            <a:r>
              <a:rPr baseline="30000" lang="en-GB"/>
              <a:t>T</a:t>
            </a:r>
            <a:endParaRPr baseline="3000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rabicPeriod"/>
            </a:pPr>
            <a:r>
              <a:rPr lang="en-GB"/>
              <a:t>apelează CA(G</a:t>
            </a:r>
            <a:r>
              <a:rPr baseline="30000" lang="en-GB"/>
              <a:t>T</a:t>
            </a:r>
            <a:r>
              <a:rPr lang="en-GB"/>
              <a:t>), dar, în bucla principală a lui CA, consideră vârfurile în ordinea </a:t>
            </a:r>
            <a:r>
              <a:rPr b="1" lang="en-GB"/>
              <a:t>descrescătoare</a:t>
            </a:r>
            <a:r>
              <a:rPr lang="en-GB"/>
              <a:t> a timpilor f[u] (calculați la linia 1)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rabicPeriod"/>
            </a:pPr>
            <a:r>
              <a:rPr lang="en-GB"/>
              <a:t>afișează vârfurile fiecărui arbore din pădurea de adâncime din pasul 3 ca o componentă tare conexă separată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br>
              <a:rPr lang="en-GB" sz="1100"/>
            </a:br>
            <a:r>
              <a:rPr lang="en-GB" sz="1100"/>
              <a:t>90-100p pe infoarena :)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Componente tare conexe - Schiță demonstrație</a:t>
            </a:r>
            <a:endParaRPr/>
          </a:p>
        </p:txBody>
      </p:sp>
      <p:sp>
        <p:nvSpPr>
          <p:cNvPr id="344" name="Google Shape;344;p2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Lemă:</a:t>
            </a:r>
            <a:r>
              <a:rPr lang="en-GB"/>
              <a:t> Dacă două vârfuri se află în aceeași componentă tare conexă, atunci niciun drum între ele nu părăsește, vreodată, această componentă tare conexă.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Demonstrație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u și v două noduri din componenta tare conexă.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Presupunem că există w în afara componentei și există drum u→v prin w.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Atunci avem drum de la u la w, dar avem și drumul w→v→u, deci și drum de la w la u.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Deci, w este în componenta tare conexă.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0" ma:contentTypeDescription="Creați un document nou." ma:contentTypeScope="" ma:versionID="ed5cb2434b61330c8c2af58f5b1608a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b545e5bd6bfcf038c3a879c46f0f3c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C88142E-49F9-47F3-BA70-0C2BF610A8F1}"/>
</file>

<file path=customXml/itemProps2.xml><?xml version="1.0" encoding="utf-8"?>
<ds:datastoreItem xmlns:ds="http://schemas.openxmlformats.org/officeDocument/2006/customXml" ds:itemID="{06A6A8A0-CA46-42D2-99A7-278BF0E7ACFA}"/>
</file>

<file path=customXml/itemProps3.xml><?xml version="1.0" encoding="utf-8"?>
<ds:datastoreItem xmlns:ds="http://schemas.openxmlformats.org/officeDocument/2006/customXml" ds:itemID="{BA24817B-09F9-4DF6-A0BD-2A789F6471DD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