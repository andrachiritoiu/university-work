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  <p:embeddedFont>
      <p:font typeface="Roboto Mono"/>
      <p:regular r:id="rId59"/>
      <p:bold r:id="rId60"/>
      <p:italic r:id="rId61"/>
      <p:boldItalic r:id="rId62"/>
    </p:embeddedFont>
    <p:embeddedFont>
      <p:font typeface="Merriweather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ij330MgNXwKDGicu3Xb1EPeaRg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Merriweather-regular.fntdata"/><Relationship Id="rId21" Type="http://schemas.openxmlformats.org/officeDocument/2006/relationships/slide" Target="slides/slide16.xml"/><Relationship Id="rId68" Type="http://schemas.openxmlformats.org/officeDocument/2006/relationships/customXml" Target="../customXml/item1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66" Type="http://schemas.openxmlformats.org/officeDocument/2006/relationships/font" Target="fonts/Merriweather-boldItalic.fntdata"/><Relationship Id="rId24" Type="http://schemas.openxmlformats.org/officeDocument/2006/relationships/slide" Target="slides/slide19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1" Type="http://schemas.openxmlformats.org/officeDocument/2006/relationships/font" Target="fonts/RobotoMono-italic.fntdata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64" Type="http://schemas.openxmlformats.org/officeDocument/2006/relationships/font" Target="fonts/Merriweather-bold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56" Type="http://schemas.openxmlformats.org/officeDocument/2006/relationships/font" Target="fonts/Roboto-bold.fntdata"/><Relationship Id="rId14" Type="http://schemas.openxmlformats.org/officeDocument/2006/relationships/slide" Target="slides/slide9.xml"/><Relationship Id="rId69" Type="http://schemas.openxmlformats.org/officeDocument/2006/relationships/customXml" Target="../customXml/item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customschemas.google.com/relationships/presentationmetadata" Target="metadata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62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70" Type="http://schemas.openxmlformats.org/officeDocument/2006/relationships/customXml" Target="../customXml/item3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font" Target="fonts/Roboto-italic.fntdata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31" Type="http://schemas.openxmlformats.org/officeDocument/2006/relationships/slide" Target="slides/slide26.xml"/><Relationship Id="rId65" Type="http://schemas.openxmlformats.org/officeDocument/2006/relationships/font" Target="fonts/Merriweather-italic.fntdata"/><Relationship Id="rId60" Type="http://schemas.openxmlformats.org/officeDocument/2006/relationships/font" Target="fonts/RobotoMono-bold.fntdata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5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2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4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4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5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55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5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5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5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6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Sortarea topologică</a:t>
            </a:r>
            <a:endParaRPr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</a:t>
            </a:r>
            <a:r>
              <a:rPr b="1" lang="en-GB"/>
              <a:t>graf orientat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Sortarea topologică a lui G</a:t>
            </a:r>
            <a:r>
              <a:rPr lang="en-GB"/>
              <a:t> = ordonarea vârfurilor astfel încât, dacă uv ∈ E, atunci u se află</a:t>
            </a:r>
            <a:endParaRPr/>
          </a:p>
          <a:p>
            <a:pPr indent="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 Înaintea lui v în ordonare.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Nu este neapărat unică!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 - Aplicații</a:t>
            </a:r>
            <a:endParaRPr/>
          </a:p>
        </p:txBody>
      </p:sp>
      <p:sp>
        <p:nvSpPr>
          <p:cNvPr id="78" name="Google Shape;7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Ordinea de calcul în proiecte în care intervin relații de dependență / precedență (</a:t>
            </a:r>
            <a:r>
              <a:rPr b="1" lang="en-GB"/>
              <a:t>exemplu</a:t>
            </a:r>
            <a:r>
              <a:rPr lang="en-GB"/>
              <a:t>: calcul de formule, ordinea de compilare când clasele/pachetele depind unele de altele)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Detecție de deadlock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Determinarea de drumuri critice</a:t>
            </a:r>
            <a:endParaRPr/>
          </a:p>
        </p:txBody>
      </p:sp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6600" y="3108288"/>
            <a:ext cx="2009775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756150" y="2492700"/>
            <a:ext cx="323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Activitatea 5 depinde de activitatea 4, deci trebuie să se desfășoare după ea</a:t>
            </a:r>
            <a:endParaRPr b="0" i="0" sz="14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7274" y="3294262"/>
            <a:ext cx="3101399" cy="9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5549375" y="2600400"/>
            <a:ext cx="25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Formulele din celulele B2..D2</a:t>
            </a:r>
            <a:endParaRPr b="0" i="0" sz="14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441288" y="4552675"/>
            <a:ext cx="38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 ce ordine trebuie executate activitățile?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823375" y="4444975"/>
            <a:ext cx="400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 ce ordine se evaluează formulele?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Probleme: dacă există dependențe circulare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 - Aplicații</a:t>
            </a:r>
            <a:endParaRPr/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planificarea de proiecte, ordinea de execuție a unor operații: compilarea pachetelor, ordinea de calcul a formulelor din excel etc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Char char="⏵"/>
            </a:pPr>
            <a:r>
              <a:rPr lang="en-GB"/>
              <a:t>determinarea de drumuri minime în grafuri fără circuite</a:t>
            </a:r>
            <a:endParaRPr/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1313" y="2122688"/>
            <a:ext cx="2009775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4816638" y="2584563"/>
            <a:ext cx="38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 ce ordine trebuie executate activitățile?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499" y="3670787"/>
            <a:ext cx="3101399" cy="9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4816650" y="3839000"/>
            <a:ext cx="400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 ce ordine se evaluează formulele?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Probleme: dacă există dependențe circulare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</a:t>
            </a:r>
            <a:r>
              <a:rPr b="1" lang="en-GB"/>
              <a:t>graf orientat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Sortarea topologică a lui G</a:t>
            </a:r>
            <a:r>
              <a:rPr lang="en-GB"/>
              <a:t> = </a:t>
            </a:r>
            <a:br>
              <a:rPr lang="en-GB"/>
            </a:br>
            <a:r>
              <a:rPr lang="en-GB"/>
              <a:t>	ordonarea vârfurilor astfel încât, dacă uv ∈ E, atunci u se află înaintea lui v în ordonare.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101" name="Google Shape;101;p5"/>
          <p:cNvGrpSpPr/>
          <p:nvPr/>
        </p:nvGrpSpPr>
        <p:grpSpPr>
          <a:xfrm>
            <a:off x="3108662" y="2903100"/>
            <a:ext cx="2926685" cy="1901389"/>
            <a:chOff x="3108663" y="2903100"/>
            <a:chExt cx="2926685" cy="1901389"/>
          </a:xfrm>
        </p:grpSpPr>
        <p:sp>
          <p:nvSpPr>
            <p:cNvPr id="102" name="Google Shape;102;p5"/>
            <p:cNvSpPr/>
            <p:nvPr/>
          </p:nvSpPr>
          <p:spPr>
            <a:xfrm>
              <a:off x="3108663" y="4126802"/>
              <a:ext cx="352500" cy="378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506719" y="3993085"/>
              <a:ext cx="352500" cy="378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4395755" y="2903100"/>
              <a:ext cx="352500" cy="378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4395755" y="4426489"/>
              <a:ext cx="352500" cy="378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682848" y="2997655"/>
              <a:ext cx="352500" cy="378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3108663" y="3257971"/>
              <a:ext cx="352500" cy="378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" name="Google Shape;108;p5"/>
            <p:cNvCxnSpPr>
              <a:stCxn id="107" idx="7"/>
              <a:endCxn id="104" idx="2"/>
            </p:cNvCxnSpPr>
            <p:nvPr/>
          </p:nvCxnSpPr>
          <p:spPr>
            <a:xfrm flipH="1" rot="10800000">
              <a:off x="3409541" y="3092228"/>
              <a:ext cx="986100" cy="22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9" name="Google Shape;109;p5"/>
            <p:cNvCxnSpPr>
              <a:stCxn id="107" idx="5"/>
              <a:endCxn id="103" idx="2"/>
            </p:cNvCxnSpPr>
            <p:nvPr/>
          </p:nvCxnSpPr>
          <p:spPr>
            <a:xfrm>
              <a:off x="3409541" y="3580614"/>
              <a:ext cx="2097300" cy="60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0" name="Google Shape;110;p5"/>
            <p:cNvCxnSpPr>
              <a:stCxn id="102" idx="7"/>
              <a:endCxn id="104" idx="3"/>
            </p:cNvCxnSpPr>
            <p:nvPr/>
          </p:nvCxnSpPr>
          <p:spPr>
            <a:xfrm flipH="1" rot="10800000">
              <a:off x="3409541" y="3225759"/>
              <a:ext cx="1037700" cy="95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" name="Google Shape;111;p5"/>
            <p:cNvCxnSpPr>
              <a:stCxn id="102" idx="6"/>
              <a:endCxn id="105" idx="2"/>
            </p:cNvCxnSpPr>
            <p:nvPr/>
          </p:nvCxnSpPr>
          <p:spPr>
            <a:xfrm>
              <a:off x="3461163" y="4315802"/>
              <a:ext cx="934500" cy="299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2" name="Google Shape;112;p5"/>
            <p:cNvCxnSpPr>
              <a:stCxn id="105" idx="6"/>
              <a:endCxn id="103" idx="3"/>
            </p:cNvCxnSpPr>
            <p:nvPr/>
          </p:nvCxnSpPr>
          <p:spPr>
            <a:xfrm flipH="1" rot="10800000">
              <a:off x="4748255" y="4315789"/>
              <a:ext cx="810000" cy="299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" name="Google Shape;113;p5"/>
            <p:cNvCxnSpPr>
              <a:stCxn id="104" idx="5"/>
              <a:endCxn id="103" idx="1"/>
            </p:cNvCxnSpPr>
            <p:nvPr/>
          </p:nvCxnSpPr>
          <p:spPr>
            <a:xfrm>
              <a:off x="4696633" y="3225743"/>
              <a:ext cx="861600" cy="8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4" name="Google Shape;114;p5"/>
            <p:cNvCxnSpPr>
              <a:stCxn id="104" idx="6"/>
              <a:endCxn id="106" idx="2"/>
            </p:cNvCxnSpPr>
            <p:nvPr/>
          </p:nvCxnSpPr>
          <p:spPr>
            <a:xfrm>
              <a:off x="4748255" y="3092100"/>
              <a:ext cx="934500" cy="94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5" name="Google Shape;115;p5"/>
            <p:cNvCxnSpPr>
              <a:stCxn id="106" idx="4"/>
              <a:endCxn id="103" idx="0"/>
            </p:cNvCxnSpPr>
            <p:nvPr/>
          </p:nvCxnSpPr>
          <p:spPr>
            <a:xfrm flipH="1">
              <a:off x="5682998" y="3375655"/>
              <a:ext cx="176100" cy="617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</a:t>
            </a:r>
            <a:r>
              <a:rPr b="1" lang="en-GB"/>
              <a:t>graf orientat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Sortarea topologică a lui G</a:t>
            </a:r>
            <a:r>
              <a:rPr lang="en-GB"/>
              <a:t> = </a:t>
            </a:r>
            <a:br>
              <a:rPr lang="en-GB"/>
            </a:br>
            <a:r>
              <a:rPr lang="en-GB"/>
              <a:t>	ordonarea vârfurilor astfel încât, dacă uv ∈ E, atunci u se află înaintea lui v în ordonare.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Propoziție.</a:t>
            </a:r>
            <a:r>
              <a:rPr lang="en-GB"/>
              <a:t> Dacă G este aciclic, atunci G are o sortare topologică.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</a:t>
            </a:r>
            <a:r>
              <a:rPr b="1" lang="en-GB"/>
              <a:t>graf orientat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Sortarea topologică a lui G</a:t>
            </a:r>
            <a:r>
              <a:rPr lang="en-GB"/>
              <a:t> = </a:t>
            </a:r>
            <a:br>
              <a:rPr lang="en-GB"/>
            </a:br>
            <a:r>
              <a:rPr lang="en-GB"/>
              <a:t>	ordonarea vârfurilor astfel încât, dacă uv ∈ E, atunci u se află înaintea lui v în ordonare.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Propoziție.</a:t>
            </a:r>
            <a:r>
              <a:rPr lang="en-GB"/>
              <a:t> Dacă G este aciclic, atunci G are o sortare topologică.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Demonstrație ⇒ Algoritm?</a:t>
            </a:r>
            <a:endParaRPr/>
          </a:p>
        </p:txBody>
      </p:sp>
      <p:grpSp>
        <p:nvGrpSpPr>
          <p:cNvPr id="128" name="Google Shape;128;p7"/>
          <p:cNvGrpSpPr/>
          <p:nvPr/>
        </p:nvGrpSpPr>
        <p:grpSpPr>
          <a:xfrm>
            <a:off x="6415800" y="2773400"/>
            <a:ext cx="2215375" cy="2204400"/>
            <a:chOff x="6415800" y="2773400"/>
            <a:chExt cx="2215375" cy="2204400"/>
          </a:xfrm>
        </p:grpSpPr>
        <p:pic>
          <p:nvPicPr>
            <p:cNvPr id="129" name="Google Shape;12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15800" y="2773400"/>
              <a:ext cx="2215375" cy="220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7"/>
            <p:cNvSpPr txBox="1"/>
            <p:nvPr/>
          </p:nvSpPr>
          <p:spPr>
            <a:xfrm>
              <a:off x="7604900" y="2954150"/>
              <a:ext cx="716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Liceu? </a:t>
              </a:r>
              <a:b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</a:t>
            </a:r>
            <a:r>
              <a:rPr b="1" lang="en-GB"/>
              <a:t>graf orientat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Sortarea topologică a lui G</a:t>
            </a:r>
            <a:r>
              <a:rPr lang="en-GB"/>
              <a:t> = </a:t>
            </a:r>
            <a:br>
              <a:rPr lang="en-GB"/>
            </a:br>
            <a:r>
              <a:rPr lang="en-GB"/>
              <a:t>	ordonarea vârfurilor astfel încât, dacă uv ∈ E, atunci u se află înaintea lui v în ordonare.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Propoziție.</a:t>
            </a:r>
            <a:r>
              <a:rPr lang="en-GB"/>
              <a:t> Dacă G este aciclic, atunci G are o sortare topologică.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Demonstrație ⇒ Algoritm?</a:t>
            </a:r>
            <a:br>
              <a:rPr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Care poate fi primul nod în sortarea topologică?</a:t>
            </a:r>
            <a:endParaRPr b="1"/>
          </a:p>
        </p:txBody>
      </p:sp>
      <p:grpSp>
        <p:nvGrpSpPr>
          <p:cNvPr id="137" name="Google Shape;137;p8"/>
          <p:cNvGrpSpPr/>
          <p:nvPr/>
        </p:nvGrpSpPr>
        <p:grpSpPr>
          <a:xfrm>
            <a:off x="6415800" y="2773400"/>
            <a:ext cx="2215375" cy="2204400"/>
            <a:chOff x="6415800" y="2773400"/>
            <a:chExt cx="2215375" cy="2204400"/>
          </a:xfrm>
        </p:grpSpPr>
        <p:pic>
          <p:nvPicPr>
            <p:cNvPr id="138" name="Google Shape;13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15800" y="2773400"/>
              <a:ext cx="2215375" cy="220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8"/>
            <p:cNvSpPr txBox="1"/>
            <p:nvPr/>
          </p:nvSpPr>
          <p:spPr>
            <a:xfrm>
              <a:off x="7604900" y="2954150"/>
              <a:ext cx="716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Liceu? </a:t>
              </a:r>
              <a:b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</a:t>
            </a:r>
            <a:endParaRPr/>
          </a:p>
        </p:txBody>
      </p:sp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</a:t>
            </a:r>
            <a:r>
              <a:rPr b="1" lang="en-GB"/>
              <a:t>graf orientat.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Lemă.</a:t>
            </a:r>
            <a:r>
              <a:rPr lang="en-GB"/>
              <a:t> Dacă G este aciclic, atunci G are cel puţin un vârf v cu gradul intern 0 ( d</a:t>
            </a:r>
            <a:r>
              <a:rPr baseline="30000" lang="en-GB"/>
              <a:t>-</a:t>
            </a:r>
            <a:r>
              <a:rPr lang="en-GB"/>
              <a:t>(v) = 0 ).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Pseudocod</a:t>
            </a:r>
            <a:endParaRPr/>
          </a:p>
        </p:txBody>
      </p:sp>
      <p:sp>
        <p:nvSpPr>
          <p:cNvPr id="151" name="Google Shape;151;p10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 - Pseudocod</a:t>
            </a:r>
            <a:endParaRPr/>
          </a:p>
        </p:txBody>
      </p:sp>
      <p:sp>
        <p:nvSpPr>
          <p:cNvPr id="157" name="Google Shape;157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 |V(G)|&gt;0 execută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alege v cu d</a:t>
            </a:r>
            <a:r>
              <a:rPr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(v)=0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adauga v in ordonare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G ← G - v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Corectitudine: </a:t>
            </a:r>
            <a:r>
              <a:rPr lang="en-GB"/>
              <a:t>rezultă din </a:t>
            </a:r>
            <a:r>
              <a:rPr b="1" lang="en-GB"/>
              <a:t>Lemă</a:t>
            </a:r>
            <a:r>
              <a:rPr lang="en-GB"/>
              <a:t> + inducție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 - Pseudocod</a:t>
            </a:r>
            <a:endParaRPr/>
          </a:p>
        </p:txBody>
      </p:sp>
      <p:sp>
        <p:nvSpPr>
          <p:cNvPr id="163" name="Google Shape;163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 |V(G)|&gt;0 execută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alege v cu d</a:t>
            </a:r>
            <a:r>
              <a:rPr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(v)=0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adauga v in ordonare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G ← G - v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Implementare? Complexitate? </a:t>
            </a:r>
            <a:endParaRPr/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8" y="2891475"/>
            <a:ext cx="965325" cy="1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 - Pseudocod</a:t>
            </a:r>
            <a:endParaRPr/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 |V(G)|&gt;0 execută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alege v cu d</a:t>
            </a:r>
            <a:r>
              <a:rPr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(v)=0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adauga v in ordonare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G ← G - v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Implementare - similar BF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pornim cu </a:t>
            </a:r>
            <a:r>
              <a:rPr lang="en-GB" u="sng"/>
              <a:t>toate</a:t>
            </a:r>
            <a:r>
              <a:rPr lang="en-GB"/>
              <a:t> vârfurile cu grad intern 0 și le adăugăm într-o coadă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 - Pseudocod</a:t>
            </a:r>
            <a:endParaRPr/>
          </a:p>
        </p:txBody>
      </p:sp>
      <p:sp>
        <p:nvSpPr>
          <p:cNvPr id="176" name="Google Shape;176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 |V(G)|&gt;0 execută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alege v cu d</a:t>
            </a:r>
            <a:r>
              <a:rPr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(v)=0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adauga v in ordonare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G ← G - v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Implementare - similar BF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pornim cu </a:t>
            </a:r>
            <a:r>
              <a:rPr lang="en-GB" u="sng"/>
              <a:t>toate</a:t>
            </a:r>
            <a:r>
              <a:rPr lang="en-GB"/>
              <a:t> vârfurile cu grad intern 0 și le adăugăm într-o coadă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repetăm: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extragem un vârf din coadă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îl eliminăm din graf (</a:t>
            </a:r>
            <a:r>
              <a:rPr b="1" lang="en-GB"/>
              <a:t>scădem gradele interne ale vecinilor, nu îl eliminăm din reprezentare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Sortarea topologică - Pseudocod</a:t>
            </a:r>
            <a:endParaRPr/>
          </a:p>
        </p:txBody>
      </p:sp>
      <p:sp>
        <p:nvSpPr>
          <p:cNvPr id="182" name="Google Shape;182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cât timp |V(G)|&gt;0 execută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alege v cu d</a:t>
            </a:r>
            <a:r>
              <a:rPr baseline="30000" lang="en-GB" sz="14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(v)=0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adauga v in ordonare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G ← G - v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Implementare - similar BF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pornim cu </a:t>
            </a:r>
            <a:r>
              <a:rPr lang="en-GB" u="sng"/>
              <a:t>toate</a:t>
            </a:r>
            <a:r>
              <a:rPr lang="en-GB"/>
              <a:t> vârfurile cu grad intern 0 și le adăugăm într-o coadă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repetăm: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extragem un vârf din coadă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îl eliminăm din graf (</a:t>
            </a:r>
            <a:r>
              <a:rPr b="1" lang="en-GB"/>
              <a:t>scădem gradele interne ale vecinilor, nu îl eliminăm din reprezentare</a:t>
            </a:r>
            <a:r>
              <a:rPr lang="en-GB"/>
              <a:t>)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adăugăm în coadă vecinii al căror grad intern devine 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188" name="Google Shape;188;p1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195" name="Google Shape;195;p17"/>
          <p:cNvCxnSpPr>
            <a:stCxn id="196" idx="5"/>
          </p:cNvCxnSpPr>
          <p:nvPr/>
        </p:nvCxnSpPr>
        <p:spPr>
          <a:xfrm>
            <a:off x="6051880" y="2670814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7" name="Google Shape;197;p17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198" name="Google Shape;198;p17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Google Shape;203;p17"/>
            <p:cNvCxnSpPr>
              <a:stCxn id="202" idx="7"/>
              <a:endCxn id="199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4" name="Google Shape;204;p17"/>
            <p:cNvCxnSpPr>
              <a:stCxn id="202" idx="5"/>
              <a:endCxn id="196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5" name="Google Shape;205;p17"/>
            <p:cNvCxnSpPr>
              <a:stCxn id="198" idx="7"/>
              <a:endCxn id="199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6" name="Google Shape;206;p17"/>
            <p:cNvCxnSpPr>
              <a:stCxn id="198" idx="6"/>
              <a:endCxn id="200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" name="Google Shape;207;p17"/>
            <p:cNvCxnSpPr>
              <a:stCxn id="200" idx="6"/>
              <a:endCxn id="196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" name="Google Shape;208;p17"/>
            <p:cNvCxnSpPr>
              <a:stCxn id="199" idx="5"/>
              <a:endCxn id="196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9" name="Google Shape;209;p17"/>
            <p:cNvCxnSpPr>
              <a:stCxn id="199" idx="6"/>
              <a:endCxn id="201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17"/>
            <p:cNvCxnSpPr>
              <a:stCxn id="201" idx="4"/>
              <a:endCxn id="196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103575" y="3467700"/>
            <a:ext cx="716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1  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18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19" name="Google Shape;219;p18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" name="Google Shape;225;p18"/>
            <p:cNvCxnSpPr>
              <a:stCxn id="224" idx="7"/>
              <a:endCxn id="221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6" name="Google Shape;226;p18"/>
            <p:cNvCxnSpPr>
              <a:stCxn id="224" idx="5"/>
              <a:endCxn id="220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7" name="Google Shape;227;p18"/>
            <p:cNvCxnSpPr>
              <a:stCxn id="219" idx="7"/>
              <a:endCxn id="221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8" name="Google Shape;228;p18"/>
            <p:cNvCxnSpPr>
              <a:stCxn id="219" idx="6"/>
              <a:endCxn id="222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9" name="Google Shape;229;p18"/>
            <p:cNvCxnSpPr>
              <a:stCxn id="222" idx="6"/>
              <a:endCxn id="220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0" name="Google Shape;230;p18"/>
            <p:cNvCxnSpPr>
              <a:stCxn id="221" idx="5"/>
              <a:endCxn id="220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1" name="Google Shape;231;p18"/>
            <p:cNvCxnSpPr>
              <a:stCxn id="221" idx="6"/>
              <a:endCxn id="223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2" name="Google Shape;232;p18"/>
            <p:cNvCxnSpPr>
              <a:stCxn id="223" idx="4"/>
              <a:endCxn id="220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38" name="Google Shape;238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p19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41" name="Google Shape;241;p19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7" name="Google Shape;247;p19"/>
            <p:cNvCxnSpPr>
              <a:stCxn id="246" idx="7"/>
              <a:endCxn id="243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8" name="Google Shape;248;p19"/>
            <p:cNvCxnSpPr>
              <a:stCxn id="246" idx="5"/>
              <a:endCxn id="242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9" name="Google Shape;249;p19"/>
            <p:cNvCxnSpPr>
              <a:stCxn id="241" idx="7"/>
              <a:endCxn id="243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0" name="Google Shape;250;p19"/>
            <p:cNvCxnSpPr>
              <a:stCxn id="241" idx="6"/>
              <a:endCxn id="244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1" name="Google Shape;251;p19"/>
            <p:cNvCxnSpPr>
              <a:stCxn id="244" idx="6"/>
              <a:endCxn id="242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2" name="Google Shape;252;p19"/>
            <p:cNvCxnSpPr>
              <a:stCxn id="243" idx="5"/>
              <a:endCxn id="242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3" name="Google Shape;253;p19"/>
            <p:cNvCxnSpPr>
              <a:stCxn id="243" idx="6"/>
              <a:endCxn id="245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4" name="Google Shape;254;p19"/>
            <p:cNvCxnSpPr>
              <a:stCxn id="245" idx="4"/>
              <a:endCxn id="242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60" name="Google Shape;260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20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63" name="Google Shape;263;p20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20"/>
            <p:cNvCxnSpPr>
              <a:stCxn id="267" idx="7"/>
              <a:endCxn id="264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9" name="Google Shape;269;p20"/>
            <p:cNvCxnSpPr>
              <a:stCxn id="267" idx="5"/>
              <a:endCxn id="263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0" name="Google Shape;270;p20"/>
            <p:cNvCxnSpPr>
              <a:stCxn id="265" idx="6"/>
              <a:endCxn id="263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1" name="Google Shape;271;p20"/>
            <p:cNvCxnSpPr>
              <a:stCxn id="264" idx="5"/>
              <a:endCxn id="263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2" name="Google Shape;272;p20"/>
            <p:cNvCxnSpPr>
              <a:stCxn id="264" idx="6"/>
              <a:endCxn id="266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3" name="Google Shape;273;p20"/>
            <p:cNvCxnSpPr>
              <a:stCxn id="266" idx="4"/>
              <a:endCxn id="263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21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282" name="Google Shape;282;p21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" name="Google Shape;287;p21"/>
            <p:cNvCxnSpPr>
              <a:stCxn id="286" idx="7"/>
              <a:endCxn id="283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8" name="Google Shape;288;p21"/>
            <p:cNvCxnSpPr>
              <a:stCxn id="286" idx="5"/>
              <a:endCxn id="282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9" name="Google Shape;289;p21"/>
            <p:cNvCxnSpPr>
              <a:stCxn id="284" idx="6"/>
              <a:endCxn id="282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0" name="Google Shape;290;p21"/>
            <p:cNvCxnSpPr>
              <a:stCxn id="283" idx="5"/>
              <a:endCxn id="282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1" name="Google Shape;291;p21"/>
            <p:cNvCxnSpPr>
              <a:stCxn id="283" idx="6"/>
              <a:endCxn id="285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2" name="Google Shape;292;p21"/>
            <p:cNvCxnSpPr>
              <a:stCxn id="285" idx="4"/>
              <a:endCxn id="282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298" name="Google Shape;298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3   6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22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301" name="Google Shape;301;p22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p22"/>
            <p:cNvCxnSpPr>
              <a:stCxn id="305" idx="7"/>
              <a:endCxn id="302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7" name="Google Shape;307;p22"/>
            <p:cNvCxnSpPr>
              <a:stCxn id="305" idx="5"/>
              <a:endCxn id="301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8" name="Google Shape;308;p22"/>
            <p:cNvCxnSpPr>
              <a:stCxn id="303" idx="6"/>
              <a:endCxn id="301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9" name="Google Shape;309;p22"/>
            <p:cNvCxnSpPr>
              <a:stCxn id="302" idx="5"/>
              <a:endCxn id="301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0" name="Google Shape;310;p22"/>
            <p:cNvCxnSpPr>
              <a:stCxn id="302" idx="6"/>
              <a:endCxn id="304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1" name="Google Shape;311;p22"/>
            <p:cNvCxnSpPr>
              <a:stCxn id="304" idx="4"/>
              <a:endCxn id="301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17" name="Google Shape;317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23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320" name="Google Shape;320;p23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3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5" name="Google Shape;325;p23"/>
            <p:cNvCxnSpPr>
              <a:stCxn id="324" idx="7"/>
              <a:endCxn id="321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6" name="Google Shape;326;p23"/>
            <p:cNvCxnSpPr>
              <a:stCxn id="324" idx="5"/>
              <a:endCxn id="320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7" name="Google Shape;327;p23"/>
            <p:cNvCxnSpPr>
              <a:stCxn id="322" idx="6"/>
              <a:endCxn id="320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8" name="Google Shape;328;p23"/>
            <p:cNvCxnSpPr>
              <a:stCxn id="321" idx="5"/>
              <a:endCxn id="320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9" name="Google Shape;329;p23"/>
            <p:cNvCxnSpPr>
              <a:stCxn id="321" idx="6"/>
              <a:endCxn id="323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0" name="Google Shape;330;p23"/>
            <p:cNvCxnSpPr>
              <a:stCxn id="323" idx="4"/>
              <a:endCxn id="320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36" name="Google Shape;336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8" name="Google Shape;338;p24"/>
          <p:cNvGrpSpPr/>
          <p:nvPr/>
        </p:nvGrpSpPr>
        <p:grpSpPr>
          <a:xfrm>
            <a:off x="4360951" y="1031050"/>
            <a:ext cx="1963702" cy="2207088"/>
            <a:chOff x="4360951" y="1031050"/>
            <a:chExt cx="1963702" cy="2207088"/>
          </a:xfrm>
        </p:grpSpPr>
        <p:sp>
          <p:nvSpPr>
            <p:cNvPr id="339" name="Google Shape;339;p24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24"/>
            <p:cNvCxnSpPr>
              <a:stCxn id="341" idx="6"/>
              <a:endCxn id="339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4" name="Google Shape;344;p24"/>
            <p:cNvCxnSpPr>
              <a:stCxn id="340" idx="5"/>
              <a:endCxn id="339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5" name="Google Shape;345;p24"/>
            <p:cNvCxnSpPr>
              <a:stCxn id="340" idx="6"/>
              <a:endCxn id="342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6" name="Google Shape;346;p24"/>
            <p:cNvCxnSpPr>
              <a:stCxn id="342" idx="4"/>
              <a:endCxn id="339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52" name="Google Shape;352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6   5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p25"/>
          <p:cNvGrpSpPr/>
          <p:nvPr/>
        </p:nvGrpSpPr>
        <p:grpSpPr>
          <a:xfrm>
            <a:off x="4360951" y="1031050"/>
            <a:ext cx="1963702" cy="2207088"/>
            <a:chOff x="4360951" y="1031050"/>
            <a:chExt cx="1963702" cy="2207088"/>
          </a:xfrm>
        </p:grpSpPr>
        <p:sp>
          <p:nvSpPr>
            <p:cNvPr id="355" name="Google Shape;355;p25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9" name="Google Shape;359;p25"/>
            <p:cNvCxnSpPr>
              <a:stCxn id="357" idx="6"/>
              <a:endCxn id="355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0" name="Google Shape;360;p25"/>
            <p:cNvCxnSpPr>
              <a:stCxn id="356" idx="5"/>
              <a:endCxn id="355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1" name="Google Shape;361;p25"/>
            <p:cNvCxnSpPr>
              <a:stCxn id="356" idx="6"/>
              <a:endCxn id="358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2" name="Google Shape;362;p25"/>
            <p:cNvCxnSpPr>
              <a:stCxn id="358" idx="4"/>
              <a:endCxn id="355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68" name="Google Shape;368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26"/>
          <p:cNvGrpSpPr/>
          <p:nvPr/>
        </p:nvGrpSpPr>
        <p:grpSpPr>
          <a:xfrm>
            <a:off x="4360951" y="1031050"/>
            <a:ext cx="1963702" cy="2207088"/>
            <a:chOff x="4360951" y="1031050"/>
            <a:chExt cx="1963702" cy="2207088"/>
          </a:xfrm>
        </p:grpSpPr>
        <p:sp>
          <p:nvSpPr>
            <p:cNvPr id="371" name="Google Shape;371;p26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26"/>
            <p:cNvCxnSpPr>
              <a:stCxn id="373" idx="6"/>
              <a:endCxn id="371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6" name="Google Shape;376;p26"/>
            <p:cNvCxnSpPr>
              <a:stCxn id="372" idx="5"/>
              <a:endCxn id="371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7" name="Google Shape;377;p26"/>
            <p:cNvCxnSpPr>
              <a:stCxn id="372" idx="6"/>
              <a:endCxn id="374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8" name="Google Shape;378;p26"/>
            <p:cNvCxnSpPr>
              <a:stCxn id="374" idx="4"/>
              <a:endCxn id="371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84" name="Google Shape;384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27"/>
          <p:cNvGrpSpPr/>
          <p:nvPr/>
        </p:nvGrpSpPr>
        <p:grpSpPr>
          <a:xfrm>
            <a:off x="4360951" y="1031050"/>
            <a:ext cx="1963702" cy="1704039"/>
            <a:chOff x="4360951" y="1031050"/>
            <a:chExt cx="1963702" cy="1704039"/>
          </a:xfrm>
        </p:grpSpPr>
        <p:sp>
          <p:nvSpPr>
            <p:cNvPr id="387" name="Google Shape;387;p27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0" name="Google Shape;390;p27"/>
            <p:cNvCxnSpPr>
              <a:stCxn id="388" idx="5"/>
              <a:endCxn id="387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91" name="Google Shape;391;p27"/>
            <p:cNvCxnSpPr>
              <a:stCxn id="388" idx="6"/>
              <a:endCxn id="389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92" name="Google Shape;392;p27"/>
            <p:cNvCxnSpPr>
              <a:stCxn id="389" idx="4"/>
              <a:endCxn id="387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398" name="Google Shape;398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0" name="Google Shape;400;p28"/>
          <p:cNvGrpSpPr/>
          <p:nvPr/>
        </p:nvGrpSpPr>
        <p:grpSpPr>
          <a:xfrm>
            <a:off x="4360951" y="1031050"/>
            <a:ext cx="1963702" cy="1704039"/>
            <a:chOff x="4360951" y="1031050"/>
            <a:chExt cx="1963702" cy="1704039"/>
          </a:xfrm>
        </p:grpSpPr>
        <p:sp>
          <p:nvSpPr>
            <p:cNvPr id="401" name="Google Shape;401;p28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4" name="Google Shape;404;p28"/>
            <p:cNvCxnSpPr>
              <a:stCxn id="402" idx="5"/>
              <a:endCxn id="401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5" name="Google Shape;405;p28"/>
            <p:cNvCxnSpPr>
              <a:stCxn id="402" idx="6"/>
              <a:endCxn id="403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6" name="Google Shape;406;p28"/>
            <p:cNvCxnSpPr>
              <a:stCxn id="403" idx="4"/>
              <a:endCxn id="401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12" name="Google Shape;412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29"/>
          <p:cNvGrpSpPr/>
          <p:nvPr/>
        </p:nvGrpSpPr>
        <p:grpSpPr>
          <a:xfrm>
            <a:off x="4360951" y="1031050"/>
            <a:ext cx="1963702" cy="1704039"/>
            <a:chOff x="4360951" y="1031050"/>
            <a:chExt cx="1963702" cy="1704039"/>
          </a:xfrm>
        </p:grpSpPr>
        <p:sp>
          <p:nvSpPr>
            <p:cNvPr id="415" name="Google Shape;415;p29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8" name="Google Shape;418;p29"/>
            <p:cNvCxnSpPr>
              <a:stCxn id="416" idx="5"/>
              <a:endCxn id="415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9" name="Google Shape;419;p29"/>
            <p:cNvCxnSpPr>
              <a:stCxn id="416" idx="6"/>
              <a:endCxn id="417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0" name="Google Shape;420;p29"/>
            <p:cNvCxnSpPr>
              <a:stCxn id="417" idx="4"/>
              <a:endCxn id="415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26" name="Google Shape;426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8" name="Google Shape;428;p30"/>
          <p:cNvGrpSpPr/>
          <p:nvPr/>
        </p:nvGrpSpPr>
        <p:grpSpPr>
          <a:xfrm>
            <a:off x="5691595" y="1140800"/>
            <a:ext cx="633058" cy="1594289"/>
            <a:chOff x="5691595" y="1140800"/>
            <a:chExt cx="633058" cy="1594289"/>
          </a:xfrm>
        </p:grpSpPr>
        <p:sp>
          <p:nvSpPr>
            <p:cNvPr id="429" name="Google Shape;429;p30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30"/>
            <p:cNvCxnSpPr>
              <a:stCxn id="430" idx="4"/>
              <a:endCxn id="429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37" name="Google Shape;437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p31"/>
          <p:cNvGrpSpPr/>
          <p:nvPr/>
        </p:nvGrpSpPr>
        <p:grpSpPr>
          <a:xfrm>
            <a:off x="5691595" y="1140800"/>
            <a:ext cx="633058" cy="1594289"/>
            <a:chOff x="5691595" y="1140800"/>
            <a:chExt cx="633058" cy="1594289"/>
          </a:xfrm>
        </p:grpSpPr>
        <p:sp>
          <p:nvSpPr>
            <p:cNvPr id="440" name="Google Shape;440;p31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2" name="Google Shape;442;p31"/>
            <p:cNvCxnSpPr>
              <a:stCxn id="441" idx="4"/>
              <a:endCxn id="440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48" name="Google Shape;448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p32"/>
          <p:cNvGrpSpPr/>
          <p:nvPr/>
        </p:nvGrpSpPr>
        <p:grpSpPr>
          <a:xfrm>
            <a:off x="5691595" y="1140800"/>
            <a:ext cx="633058" cy="1594289"/>
            <a:chOff x="5691595" y="1140800"/>
            <a:chExt cx="633058" cy="1594289"/>
          </a:xfrm>
        </p:grpSpPr>
        <p:sp>
          <p:nvSpPr>
            <p:cNvPr id="451" name="Google Shape;451;p32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3" name="Google Shape;453;p32"/>
            <p:cNvCxnSpPr>
              <a:stCxn id="452" idx="4"/>
              <a:endCxn id="451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59" name="Google Shape;459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5691595" y="2296189"/>
            <a:ext cx="422100" cy="4389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67" name="Google Shape;467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5691595" y="2296189"/>
            <a:ext cx="422100" cy="4389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75" name="Google Shape;475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76" name="Google Shape;476;p35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5"/>
          <p:cNvSpPr/>
          <p:nvPr/>
        </p:nvSpPr>
        <p:spPr>
          <a:xfrm>
            <a:off x="5691595" y="2296189"/>
            <a:ext cx="422100" cy="4389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83" name="Google Shape;483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84" name="Google Shape;484;p36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Exemplu</a:t>
            </a:r>
            <a:endParaRPr/>
          </a:p>
        </p:txBody>
      </p:sp>
      <p:sp>
        <p:nvSpPr>
          <p:cNvPr id="490" name="Google Shape;490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91" name="Google Shape;491;p37"/>
          <p:cNvSpPr txBox="1"/>
          <p:nvPr/>
        </p:nvSpPr>
        <p:spPr>
          <a:xfrm>
            <a:off x="1103575" y="3467700"/>
            <a:ext cx="716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SORTARE TOPOLOGICĂ:  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6   5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2" name="Google Shape;492;p37"/>
          <p:cNvGrpSpPr/>
          <p:nvPr/>
        </p:nvGrpSpPr>
        <p:grpSpPr>
          <a:xfrm>
            <a:off x="2819350" y="1031050"/>
            <a:ext cx="3505303" cy="2207088"/>
            <a:chOff x="2819350" y="1031050"/>
            <a:chExt cx="3505303" cy="2207088"/>
          </a:xfrm>
        </p:grpSpPr>
        <p:sp>
          <p:nvSpPr>
            <p:cNvPr id="493" name="Google Shape;493;p37"/>
            <p:cNvSpPr/>
            <p:nvPr/>
          </p:nvSpPr>
          <p:spPr>
            <a:xfrm>
              <a:off x="2819350" y="2451393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5691595" y="2296189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4360951" y="103105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4360951" y="2799238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5902553" y="1140800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2819350" y="1442946"/>
              <a:ext cx="422100" cy="4389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9" name="Google Shape;499;p37"/>
            <p:cNvCxnSpPr>
              <a:stCxn id="498" idx="7"/>
              <a:endCxn id="495" idx="2"/>
            </p:cNvCxnSpPr>
            <p:nvPr/>
          </p:nvCxnSpPr>
          <p:spPr>
            <a:xfrm flipH="1" rot="10800000">
              <a:off x="3179635" y="1250421"/>
              <a:ext cx="1181400" cy="2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0" name="Google Shape;500;p37"/>
            <p:cNvCxnSpPr>
              <a:stCxn id="498" idx="5"/>
              <a:endCxn id="494" idx="2"/>
            </p:cNvCxnSpPr>
            <p:nvPr/>
          </p:nvCxnSpPr>
          <p:spPr>
            <a:xfrm>
              <a:off x="3179635" y="1817571"/>
              <a:ext cx="2511900" cy="69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1" name="Google Shape;501;p37"/>
            <p:cNvCxnSpPr>
              <a:stCxn id="493" idx="7"/>
              <a:endCxn id="495" idx="3"/>
            </p:cNvCxnSpPr>
            <p:nvPr/>
          </p:nvCxnSpPr>
          <p:spPr>
            <a:xfrm flipH="1" rot="10800000">
              <a:off x="3179635" y="1405668"/>
              <a:ext cx="1243200" cy="111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2" name="Google Shape;502;p37"/>
            <p:cNvCxnSpPr>
              <a:stCxn id="493" idx="6"/>
              <a:endCxn id="496" idx="2"/>
            </p:cNvCxnSpPr>
            <p:nvPr/>
          </p:nvCxnSpPr>
          <p:spPr>
            <a:xfrm>
              <a:off x="3241450" y="2670843"/>
              <a:ext cx="1119600" cy="3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3" name="Google Shape;503;p37"/>
            <p:cNvCxnSpPr>
              <a:stCxn id="496" idx="6"/>
              <a:endCxn id="494" idx="3"/>
            </p:cNvCxnSpPr>
            <p:nvPr/>
          </p:nvCxnSpPr>
          <p:spPr>
            <a:xfrm flipH="1" rot="10800000">
              <a:off x="4783051" y="2670688"/>
              <a:ext cx="970500" cy="34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4" name="Google Shape;504;p37"/>
            <p:cNvCxnSpPr>
              <a:stCxn id="495" idx="5"/>
              <a:endCxn id="494" idx="1"/>
            </p:cNvCxnSpPr>
            <p:nvPr/>
          </p:nvCxnSpPr>
          <p:spPr>
            <a:xfrm>
              <a:off x="4721236" y="1405675"/>
              <a:ext cx="1032300" cy="9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5" name="Google Shape;505;p37"/>
            <p:cNvCxnSpPr>
              <a:stCxn id="495" idx="6"/>
              <a:endCxn id="497" idx="2"/>
            </p:cNvCxnSpPr>
            <p:nvPr/>
          </p:nvCxnSpPr>
          <p:spPr>
            <a:xfrm>
              <a:off x="4783051" y="1250500"/>
              <a:ext cx="1119600" cy="109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6" name="Google Shape;506;p37"/>
            <p:cNvCxnSpPr>
              <a:stCxn id="497" idx="4"/>
              <a:endCxn id="494" idx="0"/>
            </p:cNvCxnSpPr>
            <p:nvPr/>
          </p:nvCxnSpPr>
          <p:spPr>
            <a:xfrm flipH="1">
              <a:off x="5902703" y="1579700"/>
              <a:ext cx="210900" cy="71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8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</a:t>
            </a:r>
            <a:endParaRPr/>
          </a:p>
        </p:txBody>
      </p:sp>
      <p:sp>
        <p:nvSpPr>
          <p:cNvPr id="512" name="Google Shape;512;p38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Algoritm</a:t>
            </a:r>
            <a:endParaRPr/>
          </a:p>
        </p:txBody>
      </p:sp>
      <p:sp>
        <p:nvSpPr>
          <p:cNvPr id="518" name="Google Shape;518;p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adauga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 C toate varfurile v cu 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[v]=0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Algoritm</a:t>
            </a:r>
            <a:endParaRPr/>
          </a:p>
        </p:txBody>
      </p:sp>
      <p:sp>
        <p:nvSpPr>
          <p:cNvPr id="524" name="Google Shape;524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adauga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 C toate varfurile v cu 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[v]=0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cat timp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i ←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extrage(C)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adauga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 in sortare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ij ∈ 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Algoritm</a:t>
            </a:r>
            <a:endParaRPr/>
          </a:p>
        </p:txBody>
      </p:sp>
      <p:sp>
        <p:nvSpPr>
          <p:cNvPr id="530" name="Google Shape;530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adauga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 C toate varfurile v cu 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[v]=0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cat timp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i ←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extrage(C)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adauga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 in sortare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ij ∈ 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[j] = 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[j] - 1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coada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C ← ∅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adauga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 C toate varfurile v cu 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[v]=0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cat timp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i ←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extrage(C)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adauga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 in sortare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ij ∈ 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[j] = 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[j] - 1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daca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d</a:t>
            </a:r>
            <a:r>
              <a:rPr baseline="30000" lang="en-GB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[j] = 0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	adauga(j, C)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6" name="Google Shape;536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Algoritm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Ce se întâmplă dacă graful conține, totuși, circuite?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	Cum detectăm acest lucru pe parcursul algoritmului?</a:t>
            </a:r>
            <a:endParaRPr b="1"/>
          </a:p>
        </p:txBody>
      </p:sp>
      <p:sp>
        <p:nvSpPr>
          <p:cNvPr id="542" name="Google Shape;542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Algoritm</a:t>
            </a:r>
            <a:endParaRPr/>
          </a:p>
        </p:txBody>
      </p:sp>
      <p:pic>
        <p:nvPicPr>
          <p:cNvPr id="543" name="Google Shape;54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5"/>
            <a:ext cx="930550" cy="143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Alt algoritm</a:t>
            </a:r>
            <a:endParaRPr/>
          </a:p>
        </p:txBody>
      </p:sp>
      <p:sp>
        <p:nvSpPr>
          <p:cNvPr id="549" name="Google Shape;549;p4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Alt algoritm</a:t>
            </a:r>
            <a:endParaRPr/>
          </a:p>
        </p:txBody>
      </p:sp>
      <p:sp>
        <p:nvSpPr>
          <p:cNvPr id="555" name="Google Shape;555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Suplimentar</a:t>
            </a: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Există un algoritm bazat pe DF, pornind de la următoarea </a:t>
            </a:r>
            <a:r>
              <a:rPr b="1" lang="en-GB"/>
              <a:t>observație: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dacă</a:t>
            </a:r>
            <a:r>
              <a:rPr b="1" lang="en-GB"/>
              <a:t> f[u]</a:t>
            </a:r>
            <a:r>
              <a:rPr lang="en-GB"/>
              <a:t> = momentul la care a fost </a:t>
            </a:r>
            <a:r>
              <a:rPr b="1" lang="en-GB" u="sng"/>
              <a:t>finalizat</a:t>
            </a:r>
            <a:r>
              <a:rPr lang="en-GB"/>
              <a:t> vârful u în parcurgerea DF, avem:</a:t>
            </a:r>
            <a:endParaRPr/>
          </a:p>
          <a:p>
            <a:pPr indent="457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uv ∈ E  ⇒  f[u] &gt; f[v]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Alt algoritm</a:t>
            </a:r>
            <a:endParaRPr/>
          </a:p>
        </p:txBody>
      </p:sp>
      <p:sp>
        <p:nvSpPr>
          <p:cNvPr id="561" name="Google Shape;561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Suplimentar</a:t>
            </a: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Există un algoritm bazat pe DF, pornind de la următoarea </a:t>
            </a:r>
            <a:r>
              <a:rPr b="1" lang="en-GB"/>
              <a:t>observație: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dacă</a:t>
            </a:r>
            <a:r>
              <a:rPr b="1" lang="en-GB"/>
              <a:t> f[u]</a:t>
            </a:r>
            <a:r>
              <a:rPr lang="en-GB"/>
              <a:t> = momentul la care a fost </a:t>
            </a:r>
            <a:r>
              <a:rPr b="1" lang="en-GB" u="sng"/>
              <a:t>finalizat</a:t>
            </a:r>
            <a:r>
              <a:rPr lang="en-GB"/>
              <a:t> vârful u în parcurgerea DF, avem:</a:t>
            </a:r>
            <a:endParaRPr/>
          </a:p>
          <a:p>
            <a:pPr indent="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uv ∈ E  ⇒  f[u] &gt; f[v]</a:t>
            </a:r>
            <a:br>
              <a:rPr lang="en-GB"/>
            </a:b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atunci sortarea topologică = sortare descrescătoare în raport cu </a:t>
            </a:r>
            <a:r>
              <a:rPr b="1" lang="en-GB"/>
              <a:t>final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Alt algoritm</a:t>
            </a:r>
            <a:endParaRPr/>
          </a:p>
        </p:txBody>
      </p:sp>
      <p:sp>
        <p:nvSpPr>
          <p:cNvPr id="567" name="Google Shape;567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Dacă</a:t>
            </a:r>
            <a:r>
              <a:rPr b="1" lang="en-GB"/>
              <a:t> f[u]</a:t>
            </a:r>
            <a:r>
              <a:rPr lang="en-GB"/>
              <a:t> = momentul la care a fost </a:t>
            </a:r>
            <a:r>
              <a:rPr b="1" lang="en-GB" u="sng"/>
              <a:t>finalizat</a:t>
            </a:r>
            <a:r>
              <a:rPr lang="en-GB"/>
              <a:t> vârful u în parcurgerea DF, avem: uv ∈ E  ⇒  f[u] &gt; f[v]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atunci sortarea topologică = sortare descrescătoare în raport cu </a:t>
            </a:r>
            <a:r>
              <a:rPr b="1" lang="en-GB"/>
              <a:t>final</a:t>
            </a:r>
            <a:endParaRPr b="1"/>
          </a:p>
        </p:txBody>
      </p:sp>
      <p:pic>
        <p:nvPicPr>
          <p:cNvPr id="568" name="Google Shape;56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187" y="2016600"/>
            <a:ext cx="5283625" cy="301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Sortare topologică - Alt algoritm</a:t>
            </a:r>
            <a:endParaRPr/>
          </a:p>
        </p:txBody>
      </p:sp>
      <p:sp>
        <p:nvSpPr>
          <p:cNvPr id="574" name="Google Shape;574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Dacă</a:t>
            </a:r>
            <a:r>
              <a:rPr b="1" lang="en-GB"/>
              <a:t> f[u]</a:t>
            </a:r>
            <a:r>
              <a:rPr lang="en-GB"/>
              <a:t> = momentul la care a fost </a:t>
            </a:r>
            <a:r>
              <a:rPr b="1" lang="en-GB" u="sng"/>
              <a:t>finalizat</a:t>
            </a:r>
            <a:r>
              <a:rPr lang="en-GB"/>
              <a:t> vârful u în parcurgerea DF, avem: uv ∈ E  ⇒  f[u] &gt; f[v]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atunci sortarea topologică = sortare descrescătoare în raport cu </a:t>
            </a:r>
            <a:r>
              <a:rPr b="1" lang="en-GB"/>
              <a:t>final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Sortare_Topologică(G)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apelează CA(G) pentru a calcula timpii de terminare f[v] pentru fiecare vârf v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pe măsură ce fiecare vârf este terminat, inserează în capul unei liste înlănțuite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AutoNum type="arabicPeriod"/>
            </a:pPr>
            <a:r>
              <a:rPr lang="en-GB"/>
              <a:t>returnează lista înlănțuită de vârfuri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0D2D93-C3B7-4039-A126-E67B77F80CB6}"/>
</file>

<file path=customXml/itemProps2.xml><?xml version="1.0" encoding="utf-8"?>
<ds:datastoreItem xmlns:ds="http://schemas.openxmlformats.org/officeDocument/2006/customXml" ds:itemID="{B65DDDC5-453E-4B22-8B6E-FA3741455B31}"/>
</file>

<file path=customXml/itemProps3.xml><?xml version="1.0" encoding="utf-8"?>
<ds:datastoreItem xmlns:ds="http://schemas.openxmlformats.org/officeDocument/2006/customXml" ds:itemID="{4A722848-5067-4924-A09C-A40FB8F2D5FF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