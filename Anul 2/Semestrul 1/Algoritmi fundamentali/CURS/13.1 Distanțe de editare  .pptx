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 Medium"/>
      <p:regular r:id="rId40"/>
      <p:bold r:id="rId41"/>
      <p:italic r:id="rId42"/>
      <p:boldItalic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  <p:embeddedFont>
      <p:font typeface="Merriweather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22675A-D292-4349-88B2-FD580C4FFCB8}">
  <a:tblStyle styleId="{7922675A-D292-4349-88B2-FD580C4FFCB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42" Type="http://schemas.openxmlformats.org/officeDocument/2006/relationships/font" Target="fonts/RobotoMonoMedium-italic.fntdata"/><Relationship Id="rId47" Type="http://schemas.openxmlformats.org/officeDocument/2006/relationships/font" Target="fonts/Roboto-boldItalic.fntdata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50" Type="http://schemas.openxmlformats.org/officeDocument/2006/relationships/font" Target="fonts/RobotoMono-italic.fntdata"/><Relationship Id="rId55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font" Target="fonts/RobotoMonoMedium-regular.fntdata"/><Relationship Id="rId45" Type="http://schemas.openxmlformats.org/officeDocument/2006/relationships/font" Target="fonts/Roboto-bold.fntdata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24" Type="http://schemas.openxmlformats.org/officeDocument/2006/relationships/slide" Target="slides/slide18.xml"/><Relationship Id="rId53" Type="http://schemas.openxmlformats.org/officeDocument/2006/relationships/font" Target="fonts/Merriweather-bold.fntdata"/><Relationship Id="rId11" Type="http://schemas.openxmlformats.org/officeDocument/2006/relationships/slide" Target="slides/slide5.xml"/><Relationship Id="rId58" Type="http://schemas.openxmlformats.org/officeDocument/2006/relationships/customXml" Target="../customXml/item3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43" Type="http://schemas.openxmlformats.org/officeDocument/2006/relationships/font" Target="fonts/RobotoMonoMedium-boldItalic.fntdata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regular.fntdata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14" Type="http://schemas.openxmlformats.org/officeDocument/2006/relationships/slide" Target="slides/slide8.xml"/><Relationship Id="rId56" Type="http://schemas.openxmlformats.org/officeDocument/2006/relationships/customXml" Target="../customXml/item1.xml"/><Relationship Id="rId8" Type="http://schemas.openxmlformats.org/officeDocument/2006/relationships/slide" Target="slides/slide2.xml"/><Relationship Id="rId51" Type="http://schemas.openxmlformats.org/officeDocument/2006/relationships/font" Target="fonts/RobotoMono-boldItalic.fntdata"/><Relationship Id="rId3" Type="http://schemas.openxmlformats.org/officeDocument/2006/relationships/presProps" Target="presProps.xml"/><Relationship Id="rId46" Type="http://schemas.openxmlformats.org/officeDocument/2006/relationships/font" Target="fonts/Roboto-italic.fntdata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41" Type="http://schemas.openxmlformats.org/officeDocument/2006/relationships/font" Target="fonts/RobotoMonoMedium-bold.fntdata"/><Relationship Id="rId20" Type="http://schemas.openxmlformats.org/officeDocument/2006/relationships/slide" Target="slides/slide14.xml"/><Relationship Id="rId54" Type="http://schemas.openxmlformats.org/officeDocument/2006/relationships/font" Target="fonts/Merriweather-italic.fntdata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font" Target="fonts/RobotoMono-bold.fntdata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5" Type="http://schemas.openxmlformats.org/officeDocument/2006/relationships/slide" Target="slides/slide9.xml"/><Relationship Id="rId57" Type="http://schemas.openxmlformats.org/officeDocument/2006/relationships/customXml" Target="../customXml/item2.xml"/><Relationship Id="rId44" Type="http://schemas.openxmlformats.org/officeDocument/2006/relationships/font" Target="fonts/Roboto-regular.fntdata"/><Relationship Id="rId31" Type="http://schemas.openxmlformats.org/officeDocument/2006/relationships/slide" Target="slides/slide25.xml"/><Relationship Id="rId52" Type="http://schemas.openxmlformats.org/officeDocument/2006/relationships/font" Target="fonts/Merriweather-regular.fntdata"/><Relationship Id="rId10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93320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dau două șiruri de caractere s</a:t>
            </a:r>
            <a:r>
              <a:rPr b="0" baseline="-25000" lang="en-GB"/>
              <a:t>1</a:t>
            </a:r>
            <a:r>
              <a:rPr b="0" lang="en-GB"/>
              <a:t> și s</a:t>
            </a:r>
            <a:r>
              <a:rPr b="0" baseline="-25000" lang="en-GB"/>
              <a:t>2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Distanța de editare</a:t>
            </a:r>
            <a:r>
              <a:rPr b="0" lang="en-GB"/>
              <a:t> - numărul minim de operații (inserări, modificări, ștergeri de caractere etc) necesar pentru a transforma șirul s</a:t>
            </a:r>
            <a:r>
              <a:rPr b="0" baseline="-25000" lang="en-GB"/>
              <a:t>1</a:t>
            </a:r>
            <a:r>
              <a:rPr b="0" lang="en-GB"/>
              <a:t> în șirul s</a:t>
            </a:r>
            <a:r>
              <a:rPr b="0" baseline="-25000" lang="en-GB"/>
              <a:t>2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Distanța de editare Levenshtein</a:t>
            </a:r>
            <a:r>
              <a:rPr b="0" lang="en-GB"/>
              <a:t> - sunt permise operații de inserare, modificare și ștergere.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Distanța de la 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care</a:t>
            </a:r>
            <a:r>
              <a:rPr b="0" lang="en-GB"/>
              <a:t> la 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antet</a:t>
            </a:r>
            <a:r>
              <a:rPr b="0" lang="en-GB"/>
              <a:t> este 4.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care			are			  ane		    	ante			antet</a:t>
            </a:r>
            <a:endParaRPr b="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cxnSp>
        <p:nvCxnSpPr>
          <p:cNvPr id="80" name="Google Shape;80;p17"/>
          <p:cNvCxnSpPr/>
          <p:nvPr/>
        </p:nvCxnSpPr>
        <p:spPr>
          <a:xfrm>
            <a:off x="1013225" y="3862675"/>
            <a:ext cx="115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17"/>
          <p:cNvCxnSpPr/>
          <p:nvPr/>
        </p:nvCxnSpPr>
        <p:spPr>
          <a:xfrm>
            <a:off x="2721375" y="3862675"/>
            <a:ext cx="101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17"/>
          <p:cNvCxnSpPr/>
          <p:nvPr/>
        </p:nvCxnSpPr>
        <p:spPr>
          <a:xfrm>
            <a:off x="4321575" y="3862675"/>
            <a:ext cx="146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" name="Google Shape;83;p17"/>
          <p:cNvCxnSpPr/>
          <p:nvPr/>
        </p:nvCxnSpPr>
        <p:spPr>
          <a:xfrm>
            <a:off x="6455175" y="3862675"/>
            <a:ext cx="120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" name="Google Shape;84;p17"/>
          <p:cNvSpPr txBox="1"/>
          <p:nvPr/>
        </p:nvSpPr>
        <p:spPr>
          <a:xfrm>
            <a:off x="1050275" y="3862675"/>
            <a:ext cx="108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ștergem c</a:t>
            </a:r>
            <a:endParaRPr b="1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650475" y="3862675"/>
            <a:ext cx="10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modificăm r ↔ n</a:t>
            </a:r>
            <a:endParaRPr b="1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509975" y="3862675"/>
            <a:ext cx="108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inserăm t</a:t>
            </a:r>
            <a:endParaRPr b="1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491175" y="3862675"/>
            <a:ext cx="108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inserăm t</a:t>
            </a:r>
            <a:endParaRPr b="1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La fiecare nepotrivire a unui caracter cu cel din destinație, avem 3 operații posibile.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analizăm, pe rând, fiecare variantă ⇒ backtracking ⇒ </a:t>
            </a:r>
            <a:r>
              <a:rPr lang="en-GB"/>
              <a:t>ineficient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Soluție - Programare dinamică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Principiu de optimalitate: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Considerăm o transformare cu număr minim de operații: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…x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endParaRPr b="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		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…y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m</a:t>
            </a:r>
            <a:endParaRPr b="0" baseline="-25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Evidențiem ultima operație.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…x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  ⇒  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…y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m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Evidențiem ultima operație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lang="en-GB" sz="1500"/>
              <a:t>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endParaRPr baseline="-2500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15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906225"/>
            <a:ext cx="86919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…x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  ⇒  y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y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…y</a:t>
            </a:r>
            <a:r>
              <a:rPr b="0" baseline="-25000" lang="en-GB" sz="1400">
                <a:latin typeface="Roboto Mono Medium"/>
                <a:ea typeface="Roboto Mono Medium"/>
                <a:cs typeface="Roboto Mono Medium"/>
                <a:sym typeface="Roboto Mono Medium"/>
              </a:rPr>
              <a:t>m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Evidențiem ultima operație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lang="en-GB" sz="1500"/>
              <a:t>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endParaRPr baseline="-2500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15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Roboto Mono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>
                <a:solidFill>
                  <a:srgbClr val="CC0000"/>
                </a:solidFill>
              </a:rPr>
              <a:t>a fost șters</a:t>
            </a:r>
            <a:r>
              <a:rPr b="0" lang="en-GB" sz="1500"/>
              <a:t> 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aseline="-25000" lang="en-GB" sz="1500"/>
              <a:t> </a:t>
            </a:r>
            <a:r>
              <a:rPr b="0" lang="en-GB" sz="1500"/>
              <a:t>(după care se șterge x</a:t>
            </a:r>
            <a:r>
              <a:rPr b="0" baseline="-25000" lang="en-GB" sz="1500"/>
              <a:t>n</a:t>
            </a:r>
            <a:r>
              <a:rPr b="0" lang="en-GB" sz="1500"/>
              <a:t>)</a:t>
            </a:r>
            <a:endParaRPr b="0" sz="15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 sz="1500"/>
              <a:t>	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ștergem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b="0" sz="150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3333"/>
              <a:buNone/>
            </a:pP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…x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  ⇒  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…y</a:t>
            </a:r>
            <a:r>
              <a:rPr b="0" baseline="-25000" lang="en-GB" sz="1500">
                <a:latin typeface="Roboto Mono Medium"/>
                <a:ea typeface="Roboto Mono Medium"/>
                <a:cs typeface="Roboto Mono Medium"/>
                <a:sym typeface="Roboto Mono Medium"/>
              </a:rPr>
              <a:t>m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6250"/>
              <a:buNone/>
            </a:pPr>
            <a:r>
              <a:rPr lang="en-GB"/>
              <a:t>Evidențiem ultima operație</a:t>
            </a:r>
            <a:endParaRPr/>
          </a:p>
          <a:p>
            <a:pPr indent="-31670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lang="en-GB" sz="1500"/>
              <a:t>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endParaRPr baseline="-2500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3333"/>
              <a:buNone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15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670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ono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>
                <a:solidFill>
                  <a:srgbClr val="CC0000"/>
                </a:solidFill>
              </a:rPr>
              <a:t>a fost șters</a:t>
            </a:r>
            <a:r>
              <a:rPr b="0" lang="en-GB" sz="1500"/>
              <a:t> 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aseline="-25000" lang="en-GB" sz="1500"/>
              <a:t> </a:t>
            </a:r>
            <a:r>
              <a:rPr b="0" lang="en-GB" sz="1500"/>
              <a:t>(după care se șterge x</a:t>
            </a:r>
            <a:r>
              <a:rPr b="0" baseline="-25000" lang="en-GB" sz="1500"/>
              <a:t>n</a:t>
            </a:r>
            <a:r>
              <a:rPr b="0" lang="en-GB" sz="1500"/>
              <a:t>)</a:t>
            </a:r>
            <a:endParaRPr b="0" sz="15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3333"/>
              <a:buNone/>
            </a:pPr>
            <a:r>
              <a:rPr b="0" lang="en-GB" sz="1500"/>
              <a:t>	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ștergem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b="0" sz="1500"/>
          </a:p>
          <a:p>
            <a:pPr indent="-31670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ono"/>
              <a:buChar char="⏵"/>
            </a:pP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500">
                <a:solidFill>
                  <a:srgbClr val="CC0000"/>
                </a:solidFill>
              </a:rPr>
              <a:t>a fost modificat în y</a:t>
            </a:r>
            <a:r>
              <a:rPr baseline="-25000" lang="en-GB" sz="1500">
                <a:solidFill>
                  <a:srgbClr val="CC0000"/>
                </a:solidFill>
              </a:rPr>
              <a:t>m</a:t>
            </a:r>
            <a:r>
              <a:rPr b="0" lang="en-GB" sz="1500"/>
              <a:t> - problema se reduce la a transforma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500"/>
              <a:t> în 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baseline="-25000" lang="en-GB" sz="1500"/>
              <a:t> </a:t>
            </a:r>
            <a:r>
              <a:rPr b="0" lang="en-GB" sz="1500"/>
              <a:t>(după care se modifică x</a:t>
            </a:r>
            <a:r>
              <a:rPr b="0" baseline="-25000" lang="en-GB" sz="1500"/>
              <a:t>n </a:t>
            </a:r>
            <a:r>
              <a:rPr b="0" lang="en-GB" sz="1500"/>
              <a:t>în y</a:t>
            </a:r>
            <a:r>
              <a:rPr b="0" baseline="-25000" lang="en-GB" sz="1500"/>
              <a:t>m</a:t>
            </a:r>
            <a:r>
              <a:rPr b="0" lang="en-GB" sz="1500"/>
              <a:t>)</a:t>
            </a:r>
            <a:endParaRPr b="0" sz="15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3333"/>
              <a:buNone/>
            </a:pPr>
            <a:r>
              <a:rPr b="0" lang="en-GB" sz="1500"/>
              <a:t>	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500">
                <a:solidFill>
                  <a:srgbClr val="CC0000"/>
                </a:solidFill>
              </a:rPr>
              <a:t> ⇒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modificăm x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 </a:t>
            </a:r>
            <a:r>
              <a:rPr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↔ y</a:t>
            </a:r>
            <a:r>
              <a:rPr baseline="-25000" lang="en-GB" sz="15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b="0" baseline="-25000" sz="15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ct val="121428"/>
              <a:buNone/>
            </a:pPr>
            <a:r>
              <a:t/>
            </a:r>
            <a:endParaRPr b="0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63"/>
              <a:buNone/>
            </a:pP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…x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  ⇒  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1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2</a:t>
            </a:r>
            <a:r>
              <a:rPr b="0" lang="en-GB">
                <a:latin typeface="Roboto Mono Medium"/>
                <a:ea typeface="Roboto Mono Medium"/>
                <a:cs typeface="Roboto Mono Medium"/>
                <a:sym typeface="Roboto Mono Medium"/>
              </a:rPr>
              <a:t>…y</a:t>
            </a:r>
            <a:r>
              <a:rPr b="0" baseline="-25000" lang="en-GB">
                <a:latin typeface="Roboto Mono Medium"/>
                <a:ea typeface="Roboto Mono Medium"/>
                <a:cs typeface="Roboto Mono Medium"/>
                <a:sym typeface="Roboto Mono Medium"/>
              </a:rPr>
              <a:t>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63"/>
              <a:buNone/>
            </a:pPr>
            <a:r>
              <a:rPr lang="en-GB"/>
              <a:t>Evidențiem ultima operație</a:t>
            </a:r>
            <a:endParaRPr/>
          </a:p>
          <a:p>
            <a:pPr indent="-31630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81"/>
              <a:buChar char="⏵"/>
            </a:pP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="0" baseline="-25000" lang="en-GB" sz="1381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lang="en-GB" sz="1381"/>
              <a:t>- problema se reduce la a transforma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381"/>
              <a:t> în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endParaRPr baseline="-25000" sz="1381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63"/>
              <a:buNone/>
            </a:pP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381">
                <a:solidFill>
                  <a:srgbClr val="CC0000"/>
                </a:solidFill>
              </a:rPr>
              <a:t> ⇒ 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138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630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81"/>
              <a:buFont typeface="Roboto Mono"/>
              <a:buChar char="⏵"/>
            </a:pP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81">
                <a:solidFill>
                  <a:srgbClr val="CC0000"/>
                </a:solidFill>
              </a:rPr>
              <a:t>a fost șters</a:t>
            </a:r>
            <a:r>
              <a:rPr b="0" lang="en-GB" sz="1381"/>
              <a:t> - problema se reduce la a transforma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381"/>
              <a:t> în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baseline="-25000" lang="en-GB" sz="1381"/>
              <a:t> </a:t>
            </a:r>
            <a:r>
              <a:rPr b="0" lang="en-GB" sz="1381"/>
              <a:t>(după care se șterge x</a:t>
            </a:r>
            <a:r>
              <a:rPr b="0" baseline="-25000" lang="en-GB" sz="1381"/>
              <a:t>n</a:t>
            </a:r>
            <a:r>
              <a:rPr b="0" lang="en-GB" sz="1381"/>
              <a:t>)</a:t>
            </a:r>
            <a:endParaRPr b="0" sz="1381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63"/>
              <a:buNone/>
            </a:pPr>
            <a:r>
              <a:rPr b="0" lang="en-GB" sz="1381"/>
              <a:t>	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381">
                <a:solidFill>
                  <a:srgbClr val="CC0000"/>
                </a:solidFill>
              </a:rPr>
              <a:t> ⇒ 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ștergem 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b="0" sz="1381"/>
          </a:p>
          <a:p>
            <a:pPr indent="-31630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81"/>
              <a:buFont typeface="Roboto Mono"/>
              <a:buChar char="⏵"/>
            </a:pP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81">
                <a:solidFill>
                  <a:srgbClr val="CC0000"/>
                </a:solidFill>
              </a:rPr>
              <a:t>a fost modificat în y</a:t>
            </a:r>
            <a:r>
              <a:rPr baseline="-25000" lang="en-GB" sz="1381">
                <a:solidFill>
                  <a:srgbClr val="CC0000"/>
                </a:solidFill>
              </a:rPr>
              <a:t>m</a:t>
            </a:r>
            <a:r>
              <a:rPr b="0" lang="en-GB" sz="1381"/>
              <a:t> - problema se reduce la a transforma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b="0" lang="en-GB" sz="1381"/>
              <a:t> în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baseline="-25000" lang="en-GB" sz="1381"/>
              <a:t> </a:t>
            </a:r>
            <a:r>
              <a:rPr b="0" lang="en-GB" sz="1381"/>
              <a:t>(după care se modifică x</a:t>
            </a:r>
            <a:r>
              <a:rPr b="0" baseline="-25000" lang="en-GB" sz="1381"/>
              <a:t>n </a:t>
            </a:r>
            <a:r>
              <a:rPr b="0" lang="en-GB" sz="1381"/>
              <a:t>în y</a:t>
            </a:r>
            <a:r>
              <a:rPr b="0" baseline="-25000" lang="en-GB" sz="1381"/>
              <a:t>m</a:t>
            </a:r>
            <a:r>
              <a:rPr b="0" lang="en-GB" sz="1381"/>
              <a:t>)</a:t>
            </a:r>
            <a:endParaRPr b="0" sz="1381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63"/>
              <a:buNone/>
            </a:pPr>
            <a:r>
              <a:rPr b="0" lang="en-GB" sz="1381"/>
              <a:t>	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n-1</a:t>
            </a:r>
            <a:r>
              <a:rPr lang="en-GB" sz="1381">
                <a:solidFill>
                  <a:srgbClr val="CC0000"/>
                </a:solidFill>
              </a:rPr>
              <a:t> ⇒ 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modificăm 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 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↔ 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b="0" baseline="-25000" sz="1381"/>
          </a:p>
          <a:p>
            <a:pPr indent="-31630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81"/>
              <a:buFont typeface="Roboto Mono"/>
              <a:buChar char="⏵"/>
            </a:pPr>
            <a:r>
              <a:rPr lang="en-GB" sz="1381">
                <a:solidFill>
                  <a:srgbClr val="CC0000"/>
                </a:solidFill>
              </a:rPr>
              <a:t>a fost inserat y</a:t>
            </a:r>
            <a:r>
              <a:rPr baseline="-25000" lang="en-GB" sz="1381">
                <a:solidFill>
                  <a:srgbClr val="CC0000"/>
                </a:solidFill>
              </a:rPr>
              <a:t>m</a:t>
            </a:r>
            <a:r>
              <a:rPr b="0" lang="en-GB" sz="1381"/>
              <a:t> - problema se reduce la a transforma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b="0" lang="en-GB" sz="1381"/>
              <a:t> în 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baseline="-25000" lang="en-GB" sz="1381"/>
              <a:t> </a:t>
            </a:r>
            <a:r>
              <a:rPr b="0" lang="en-GB" sz="1381"/>
              <a:t>(după care se inserează y</a:t>
            </a:r>
            <a:r>
              <a:rPr b="0" baseline="-25000" lang="en-GB" sz="1381"/>
              <a:t>m</a:t>
            </a:r>
            <a:r>
              <a:rPr b="0" lang="en-GB" sz="1381"/>
              <a:t>)</a:t>
            </a:r>
            <a:endParaRPr b="0" sz="1381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63"/>
              <a:buNone/>
            </a:pPr>
            <a:r>
              <a:rPr b="0" lang="en-GB" sz="1381"/>
              <a:t>	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GB" sz="1381">
                <a:solidFill>
                  <a:srgbClr val="CC0000"/>
                </a:solidFill>
              </a:rPr>
              <a:t> ⇒ 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m-1</a:t>
            </a:r>
            <a:r>
              <a:rPr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) + inserăm y</a:t>
            </a:r>
            <a:r>
              <a:rPr baseline="-25000" lang="en-GB" sz="1381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b="0" sz="138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Avem, deci, 4 cazuri. Problema se reduce la a trasforma un prefix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/>
              <a:t> al primului cuvânt într-un prefix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/>
              <a:t> al celui de-al doilea cuvânt (subprobleme PD).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: (x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) + ștergem 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) + modificăm 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 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↔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0" baseline="-2500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500">
                <a:latin typeface="Roboto Mono"/>
                <a:ea typeface="Roboto Mono"/>
                <a:cs typeface="Roboto Mono"/>
                <a:sym typeface="Roboto Mono"/>
              </a:rPr>
              <a:t>) + inserăm y</a:t>
            </a:r>
            <a:r>
              <a:rPr b="0" baseline="-25000" lang="en-GB" sz="15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0" baseline="-25000"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906225"/>
            <a:ext cx="8520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Subprobleme: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c[i][j]</a:t>
            </a:r>
            <a:r>
              <a:rPr b="0" lang="en-GB"/>
              <a:t> = 	numărul minim de operații de inserare, ștergere, modificare pentru a </a:t>
            </a:r>
            <a:br>
              <a:rPr b="0" lang="en-GB"/>
            </a:br>
            <a:r>
              <a:rPr b="0" lang="en-GB"/>
              <a:t>			transforma x</a:t>
            </a:r>
            <a:r>
              <a:rPr b="0" baseline="-25000" lang="en-GB"/>
              <a:t>1</a:t>
            </a:r>
            <a:r>
              <a:rPr b="0" lang="en-GB"/>
              <a:t>…x</a:t>
            </a:r>
            <a:r>
              <a:rPr b="0" baseline="-25000" lang="en-GB"/>
              <a:t>i</a:t>
            </a:r>
            <a:r>
              <a:rPr b="0" lang="en-GB"/>
              <a:t> în y</a:t>
            </a:r>
            <a:r>
              <a:rPr b="0" baseline="-25000" lang="en-GB"/>
              <a:t>1</a:t>
            </a:r>
            <a:r>
              <a:rPr b="0" lang="en-GB"/>
              <a:t>…y</a:t>
            </a:r>
            <a:r>
              <a:rPr b="0" baseline="-25000" lang="en-GB"/>
              <a:t>j</a:t>
            </a:r>
            <a:endParaRPr b="0" baseline="-25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Relații de recurență </a:t>
            </a:r>
            <a:r>
              <a:rPr b="0" lang="en-GB"/>
              <a:t>- corespund cazurilor:</a:t>
            </a:r>
            <a:endParaRPr b="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⏵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=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: (x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) + păstrăm 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⏵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) + ștergem 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⏵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) + modificăm 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↔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0" baseline="-2500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⏵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⇒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j-1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) + inserăm 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0"/>
          </a:p>
        </p:txBody>
      </p:sp>
      <p:pic>
        <p:nvPicPr>
          <p:cNvPr descr="c[i][j]= \left\{&#10;\begin{array}{ll}&#10;      c[i-1][j-1], daca \; x_i=y_j \\&#10;      1 + min\{c[i-1][j], c[i-1][j-1], c[i][j-1]\}, altfel \\&#10;\end{array} &#10;\right." id="136" name="Google Shape;136;p25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850" y="3825950"/>
            <a:ext cx="5842300" cy="59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5"/>
          <p:cNvCxnSpPr/>
          <p:nvPr/>
        </p:nvCxnSpPr>
        <p:spPr>
          <a:xfrm rot="10800000">
            <a:off x="40097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25"/>
          <p:cNvCxnSpPr/>
          <p:nvPr/>
        </p:nvCxnSpPr>
        <p:spPr>
          <a:xfrm rot="10800000">
            <a:off x="51527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25"/>
          <p:cNvCxnSpPr/>
          <p:nvPr/>
        </p:nvCxnSpPr>
        <p:spPr>
          <a:xfrm rot="10800000">
            <a:off x="62957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25"/>
          <p:cNvSpPr txBox="1"/>
          <p:nvPr/>
        </p:nvSpPr>
        <p:spPr>
          <a:xfrm>
            <a:off x="34687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ștergem 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46117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↔ 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7547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inserăm 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Soluția:</a:t>
            </a:r>
            <a:r>
              <a:rPr lang="en-GB"/>
              <a:t>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c[n][m]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Ce valori din c știm direct: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c[0][0] = 0 </a:t>
            </a:r>
            <a:r>
              <a:rPr b="0" lang="en-GB"/>
              <a:t>(ambele cuvinte sunt vide)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i = 0 sau j = 0</a:t>
            </a:r>
            <a:r>
              <a:rPr b="0" lang="en-GB"/>
              <a:t> (unul din cuvinte este vid):	</a:t>
            </a:r>
            <a:endParaRPr b="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…x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i-1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⇒ secvență vidă </a:t>
            </a:r>
            <a:r>
              <a:rPr lang="en-GB"/>
              <a:t> 	prin i ștergeri succesive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secvență vidă ⇒ y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…y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-GB"/>
              <a:t>  	prin j inserări succesive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c[0][0] = 0</a:t>
            </a:r>
            <a:endParaRPr b="0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		c[i][0] = 1 + c[i-1][0] = i, pentru i = 1,...,n</a:t>
            </a:r>
            <a:endParaRPr b="0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		c[0][j] = 1 + c[0][j-1] = j, pentru j = 1,...,m</a:t>
            </a:r>
            <a:endParaRPr b="0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Ordine de calcul a matricei: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i = 0,…,n; j = 0,…,m 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155" name="Google Shape;155;p27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2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27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498375" y="3821000"/>
            <a:ext cx="2288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0: c[0][j] = j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 = 0: c[i][0] = i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= care ⇒ s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=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164" name="Google Shape;164;p28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8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98375" y="3821000"/>
            <a:ext cx="82248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1, j = 1: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s1[i] = c, s2[j] = a - sunt diferite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⇒ 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= care ⇒ s</a:t>
            </a:r>
            <a:r>
              <a:rPr b="0" baseline="-25000" lang="en-GB"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=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173" name="Google Shape;173;p29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9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498375" y="3821000"/>
            <a:ext cx="82248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1, j = 1: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s1[i] = c, s2[j] = a - sunt diferite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1 + min(c[i-1][j], c[i][j-1], c[i-1][j-1]) = 1 + 0 = 1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30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498375" y="3821000"/>
            <a:ext cx="822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1 + min(c[i-1][j], c[i][j-1], c[i-1][j-1])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85" name="Google Shape;185;p30"/>
          <p:cNvCxnSpPr/>
          <p:nvPr/>
        </p:nvCxnSpPr>
        <p:spPr>
          <a:xfrm rot="10800000">
            <a:off x="4442325" y="2426825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30"/>
          <p:cNvSpPr txBox="1"/>
          <p:nvPr/>
        </p:nvSpPr>
        <p:spPr>
          <a:xfrm>
            <a:off x="4815475" y="2226725"/>
            <a:ext cx="3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nu aparține cuvântului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30"/>
          <p:cNvCxnSpPr/>
          <p:nvPr/>
        </p:nvCxnSpPr>
        <p:spPr>
          <a:xfrm flipH="1">
            <a:off x="5190775" y="2595350"/>
            <a:ext cx="620100" cy="13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194" name="Google Shape;194;p31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31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498375" y="3821000"/>
            <a:ext cx="82248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2, j = 1: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s1[i] = a, s2[j] = a - sunt egale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c[i-1][j-1] = 1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97" name="Google Shape;197;p31"/>
          <p:cNvCxnSpPr/>
          <p:nvPr/>
        </p:nvCxnSpPr>
        <p:spPr>
          <a:xfrm rot="10800000">
            <a:off x="4442325" y="2426825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31"/>
          <p:cNvSpPr txBox="1"/>
          <p:nvPr/>
        </p:nvSpPr>
        <p:spPr>
          <a:xfrm>
            <a:off x="4815475" y="2226725"/>
            <a:ext cx="3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 aparține cuvântului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05" name="Google Shape;205;p32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32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498375" y="3821000"/>
            <a:ext cx="822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1 + min(c[i-1][j], c[i][j-1], c[i-1][j-1])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08" name="Google Shape;208;p32"/>
          <p:cNvCxnSpPr/>
          <p:nvPr/>
        </p:nvCxnSpPr>
        <p:spPr>
          <a:xfrm rot="10800000">
            <a:off x="4442325" y="2807825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15" name="Google Shape;215;p33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33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498375" y="3821000"/>
            <a:ext cx="82248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3, j = 1: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s1[i] = r, s2[j] = a - sunt diferite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1 + min(c[i-1][j], c[i][j-1], c[i-1][j-1]) = 1 + 1 = 2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24" name="Google Shape;224;p34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34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498375" y="3821000"/>
            <a:ext cx="822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c[i][j] = 1 + min(c[i-1][j], c[i][j-1], c[i-1][j-1])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 rot="10800000">
            <a:off x="4442325" y="314840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34"/>
          <p:cNvSpPr txBox="1"/>
          <p:nvPr/>
        </p:nvSpPr>
        <p:spPr>
          <a:xfrm>
            <a:off x="4815475" y="2948300"/>
            <a:ext cx="3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 aparține cuvântului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35" name="Google Shape;235;p35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35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498375" y="3821000"/>
            <a:ext cx="82248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4, j = 4: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s1[i] = e, s2[j] = e - sunt egale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c[i][j] = c[i-1][j-1] = 3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44" name="Google Shape;244;p36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36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5608175" y="1885575"/>
            <a:ext cx="25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Soluția:  c[4][5] = 4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53" name="Google Shape;253;p37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37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5608175" y="1885575"/>
            <a:ext cx="3303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Soluția:  c[4][5] = 4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 determinăm operațiile?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62" name="Google Shape;262;p38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38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4970275" y="1848825"/>
            <a:ext cx="401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Soluția:  c[4][5] = 4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 determinăm operațiile?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Mergând succesiv înapoi de la (4, 5) în celula pentru care s-a obținut egalitatea în relația de recurență: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[i][j]= \left\{&#10;\begin{array}{ll}&#10;      c[i-1][j-1], daca \; x_i=y_j \\&#10;      1 + min\{c[i-1][j], c[i-1][j-1], c[i][j-1]\}, altfel \\&#10;\end{array} &#10;\right." id="265" name="Google Shape;265;p38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3250" y="3825950"/>
            <a:ext cx="5842300" cy="59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38"/>
          <p:cNvCxnSpPr/>
          <p:nvPr/>
        </p:nvCxnSpPr>
        <p:spPr>
          <a:xfrm rot="10800000">
            <a:off x="41621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38"/>
          <p:cNvCxnSpPr/>
          <p:nvPr/>
        </p:nvCxnSpPr>
        <p:spPr>
          <a:xfrm rot="10800000">
            <a:off x="53051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38"/>
          <p:cNvCxnSpPr/>
          <p:nvPr/>
        </p:nvCxnSpPr>
        <p:spPr>
          <a:xfrm rot="10800000">
            <a:off x="6448175" y="4476800"/>
            <a:ext cx="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38"/>
          <p:cNvSpPr txBox="1"/>
          <p:nvPr/>
        </p:nvSpPr>
        <p:spPr>
          <a:xfrm>
            <a:off x="36211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ștergem 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47641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↔ 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5907125" y="4667475"/>
            <a:ext cx="10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inserăm 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78" name="Google Shape;278;p39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39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4894075" y="21536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Soluția:  c[4][5] =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9"/>
          <p:cNvSpPr txBox="1"/>
          <p:nvPr/>
        </p:nvSpPr>
        <p:spPr>
          <a:xfrm>
            <a:off x="311700" y="3782350"/>
            <a:ext cx="874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s1[4] != s2[5] 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c[4][5] 	= 1 + min(c[4][4], c[3][5], c[3][4])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= 1 + c[4][4] ⇒</a:t>
            </a:r>
            <a:r>
              <a:rPr b="1"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(4,5) s-a obținut din (4,4) prin inserarea</a:t>
            </a: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						caracterului s2[5] = t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88" name="Google Shape;288;p40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40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4685100" y="3348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311700" y="3858550"/>
            <a:ext cx="874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s1[4] = s2[4] 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c[4][4] 	= c[3][3]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și nu s-a făcut nicio operație (păstrăm e)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92" name="Google Shape;292;p40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298" name="Google Shape;298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299" name="Google Shape;299;p41"/>
          <p:cNvGraphicFramePr/>
          <p:nvPr/>
        </p:nvGraphicFramePr>
        <p:xfrm>
          <a:off x="1408850" y="124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41"/>
          <p:cNvSpPr txBox="1"/>
          <p:nvPr/>
        </p:nvSpPr>
        <p:spPr>
          <a:xfrm>
            <a:off x="928875" y="23732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1"/>
          <p:cNvSpPr txBox="1"/>
          <p:nvPr/>
        </p:nvSpPr>
        <p:spPr>
          <a:xfrm>
            <a:off x="4685100" y="31961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235500" y="3629950"/>
            <a:ext cx="8741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s1[3] != s2[3] 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c[3][3] 	= 1 + min(c[2][3], c[3][2], c[2][2])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= 1 + c[3][2] = 1 + c[2][2] ⇒</a:t>
            </a:r>
            <a:r>
              <a:rPr b="1"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!! soluția nu este unică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⇒ alegem u										una: c[3][3] = 1 + c[3][2] ⇒ (3,3)										s-a obținut din (3,2) prin inserarea 										</a:t>
            </a: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aracterului s2[3] = t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03" name="Google Shape;303;p41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p41"/>
          <p:cNvCxnSpPr/>
          <p:nvPr/>
        </p:nvCxnSpPr>
        <p:spPr>
          <a:xfrm rot="10800000">
            <a:off x="3431125" y="3262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41"/>
          <p:cNvSpPr txBox="1"/>
          <p:nvPr/>
        </p:nvSpPr>
        <p:spPr>
          <a:xfrm>
            <a:off x="4685100" y="28151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312" name="Google Shape;312;p42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42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4685100" y="3348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311700" y="3858550"/>
            <a:ext cx="8802300" cy="1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s1[3] != s2[2] 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c[3][2] 	= 1 + min(c[2][2], c[3][1], c[2][1])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= 1 + c[2][1] ⇒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(3,2) s-a obținut din (2,1) prin modificarea 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s1[3] = r ↔ s2[2] = n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16" name="Google Shape;316;p42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42"/>
          <p:cNvCxnSpPr/>
          <p:nvPr/>
        </p:nvCxnSpPr>
        <p:spPr>
          <a:xfrm rot="10800000">
            <a:off x="3431125" y="3262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42"/>
          <p:cNvSpPr txBox="1"/>
          <p:nvPr/>
        </p:nvSpPr>
        <p:spPr>
          <a:xfrm>
            <a:off x="4685100" y="2967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t,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42"/>
          <p:cNvCxnSpPr/>
          <p:nvPr/>
        </p:nvCxnSpPr>
        <p:spPr>
          <a:xfrm rot="10800000">
            <a:off x="2930075" y="326280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326" name="Google Shape;326;p43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43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4685100" y="3348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311700" y="3858550"/>
            <a:ext cx="880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s1[2] = s2[1] ⇒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c[2][1] 	= c[1][0]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și nu s-a făcut nicio operație (păstrăm a)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30" name="Google Shape;330;p43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43"/>
          <p:cNvCxnSpPr/>
          <p:nvPr/>
        </p:nvCxnSpPr>
        <p:spPr>
          <a:xfrm rot="10800000">
            <a:off x="3431125" y="3262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p43"/>
          <p:cNvSpPr txBox="1"/>
          <p:nvPr/>
        </p:nvSpPr>
        <p:spPr>
          <a:xfrm>
            <a:off x="4685100" y="2967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t,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43"/>
          <p:cNvCxnSpPr/>
          <p:nvPr/>
        </p:nvCxnSpPr>
        <p:spPr>
          <a:xfrm rot="10800000">
            <a:off x="2930075" y="326280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43"/>
          <p:cNvCxnSpPr/>
          <p:nvPr/>
        </p:nvCxnSpPr>
        <p:spPr>
          <a:xfrm rot="10800000">
            <a:off x="2592925" y="2881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43"/>
          <p:cNvSpPr txBox="1"/>
          <p:nvPr/>
        </p:nvSpPr>
        <p:spPr>
          <a:xfrm>
            <a:off x="4685100" y="26170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modificăm r ↔ n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342" name="Google Shape;342;p44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44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4685100" y="3348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311700" y="3858550"/>
            <a:ext cx="880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= 1, j = 0:</a:t>
            </a:r>
            <a:endParaRPr b="1" i="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Deoarece</a:t>
            </a:r>
            <a:r>
              <a:rPr b="0" i="0" lang="en-GB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j = 0, c[1][0] = 1 + c[0][0]</a:t>
            </a:r>
            <a:r>
              <a:rPr b="0" i="0" lang="en-GB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corespunzător unei ștergeri → a caracterului</a:t>
            </a:r>
            <a:r>
              <a:rPr b="0" i="0" lang="en-GB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s1[i] = c</a:t>
            </a:r>
            <a:endParaRPr b="0" i="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46" name="Google Shape;346;p44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44"/>
          <p:cNvCxnSpPr/>
          <p:nvPr/>
        </p:nvCxnSpPr>
        <p:spPr>
          <a:xfrm rot="10800000">
            <a:off x="3431125" y="3262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44"/>
          <p:cNvSpPr txBox="1"/>
          <p:nvPr/>
        </p:nvSpPr>
        <p:spPr>
          <a:xfrm>
            <a:off x="4685100" y="2967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t,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44"/>
          <p:cNvCxnSpPr/>
          <p:nvPr/>
        </p:nvCxnSpPr>
        <p:spPr>
          <a:xfrm rot="10800000">
            <a:off x="2930075" y="326280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44"/>
          <p:cNvCxnSpPr/>
          <p:nvPr/>
        </p:nvCxnSpPr>
        <p:spPr>
          <a:xfrm rot="10800000">
            <a:off x="2592925" y="2881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44"/>
          <p:cNvSpPr txBox="1"/>
          <p:nvPr/>
        </p:nvSpPr>
        <p:spPr>
          <a:xfrm>
            <a:off x="4685100" y="26170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modificăm r ↔ n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 rot="10800000">
            <a:off x="2162700" y="25163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44"/>
          <p:cNvSpPr txBox="1"/>
          <p:nvPr/>
        </p:nvSpPr>
        <p:spPr>
          <a:xfrm>
            <a:off x="4685100" y="22168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a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59" name="Google Shape;359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r>
              <a:rPr b="0" lang="en-GB"/>
              <a:t>  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care ⇒ antet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aphicFrame>
        <p:nvGraphicFramePr>
          <p:cNvPr id="360" name="Google Shape;360;p45"/>
          <p:cNvGraphicFramePr/>
          <p:nvPr/>
        </p:nvGraphicFramePr>
        <p:xfrm>
          <a:off x="1408850" y="13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{7922675A-D292-4349-88B2-FD580C4FFCB8}</a:tableStyleId>
              </a:tblPr>
              <a:tblGrid>
                <a:gridCol w="428175"/>
                <a:gridCol w="428175"/>
                <a:gridCol w="428175"/>
                <a:gridCol w="428175"/>
                <a:gridCol w="428175"/>
                <a:gridCol w="428175"/>
                <a:gridCol w="428175"/>
              </a:tblGrid>
              <a:tr h="6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n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t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0</a:t>
                      </a:r>
                      <a:r>
                        <a:rPr lang="en-GB" sz="1000" u="none" cap="none" strike="noStrike">
                          <a:solidFill>
                            <a:schemeClr val="lt1"/>
                          </a:solidFill>
                        </a:rPr>
                        <a:t> ?</a:t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accent5"/>
                          </a:solidFill>
                        </a:rPr>
                        <a:t>0</a:t>
                      </a:r>
                      <a:endParaRPr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1 c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2 a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3 r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solidFill>
                            <a:srgbClr val="CC0000"/>
                          </a:solidFill>
                        </a:rPr>
                        <a:t>4 e</a:t>
                      </a:r>
                      <a:endParaRPr sz="10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1" name="Google Shape;361;p45"/>
          <p:cNvSpPr txBox="1"/>
          <p:nvPr/>
        </p:nvSpPr>
        <p:spPr>
          <a:xfrm>
            <a:off x="1005075" y="2678000"/>
            <a:ext cx="3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 txBox="1"/>
          <p:nvPr/>
        </p:nvSpPr>
        <p:spPr>
          <a:xfrm>
            <a:off x="4685100" y="3348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45"/>
          <p:cNvCxnSpPr/>
          <p:nvPr/>
        </p:nvCxnSpPr>
        <p:spPr>
          <a:xfrm rot="10800000">
            <a:off x="3795250" y="362675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45"/>
          <p:cNvCxnSpPr/>
          <p:nvPr/>
        </p:nvCxnSpPr>
        <p:spPr>
          <a:xfrm rot="10800000">
            <a:off x="3431125" y="3262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45"/>
          <p:cNvSpPr txBox="1"/>
          <p:nvPr/>
        </p:nvSpPr>
        <p:spPr>
          <a:xfrm>
            <a:off x="4685100" y="296750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inserăm t,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45"/>
          <p:cNvCxnSpPr/>
          <p:nvPr/>
        </p:nvCxnSpPr>
        <p:spPr>
          <a:xfrm rot="10800000">
            <a:off x="2930075" y="3262800"/>
            <a:ext cx="35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45"/>
          <p:cNvCxnSpPr/>
          <p:nvPr/>
        </p:nvCxnSpPr>
        <p:spPr>
          <a:xfrm rot="10800000">
            <a:off x="2592925" y="28818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8" name="Google Shape;368;p45"/>
          <p:cNvSpPr txBox="1"/>
          <p:nvPr/>
        </p:nvSpPr>
        <p:spPr>
          <a:xfrm>
            <a:off x="4685100" y="26170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modificăm r ↔ n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69" name="Google Shape;369;p45"/>
          <p:cNvCxnSpPr/>
          <p:nvPr/>
        </p:nvCxnSpPr>
        <p:spPr>
          <a:xfrm rot="10800000">
            <a:off x="2162700" y="2516300"/>
            <a:ext cx="209100" cy="1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45"/>
          <p:cNvSpPr txBox="1"/>
          <p:nvPr/>
        </p:nvSpPr>
        <p:spPr>
          <a:xfrm>
            <a:off x="4685100" y="2216825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păstrăm a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5"/>
          <p:cNvCxnSpPr/>
          <p:nvPr/>
        </p:nvCxnSpPr>
        <p:spPr>
          <a:xfrm rot="10800000">
            <a:off x="2029050" y="2162963"/>
            <a:ext cx="0" cy="2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45"/>
          <p:cNvSpPr txBox="1"/>
          <p:nvPr/>
        </p:nvSpPr>
        <p:spPr>
          <a:xfrm>
            <a:off x="4685100" y="1885550"/>
            <a:ext cx="40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ștergem c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78" name="Google Shape;378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Complexitate?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Distanțe de editare</a:t>
            </a:r>
            <a:endParaRPr/>
          </a:p>
        </p:txBody>
      </p:sp>
      <p:sp>
        <p:nvSpPr>
          <p:cNvPr id="384" name="Google Shape;384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Complexitate?	O(nm)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F56F46-04D9-45BE-8365-A943E16A0FB8}"/>
</file>

<file path=customXml/itemProps2.xml><?xml version="1.0" encoding="utf-8"?>
<ds:datastoreItem xmlns:ds="http://schemas.openxmlformats.org/officeDocument/2006/customXml" ds:itemID="{1CDEAAD6-14A1-428A-A45B-57E7F2955FC2}"/>
</file>

<file path=customXml/itemProps3.xml><?xml version="1.0" encoding="utf-8"?>
<ds:datastoreItem xmlns:ds="http://schemas.openxmlformats.org/officeDocument/2006/customXml" ds:itemID="{DE44716C-F88C-40FC-AF23-06BDE1B8881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