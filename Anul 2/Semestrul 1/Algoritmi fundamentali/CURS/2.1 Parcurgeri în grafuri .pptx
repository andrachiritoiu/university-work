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oboto"/>
      <p:regular r:id="rId56"/>
      <p:bold r:id="rId57"/>
      <p:italic r:id="rId58"/>
      <p:boldItalic r:id="rId59"/>
    </p:embeddedFont>
    <p:embeddedFont>
      <p:font typeface="Roboto Mono"/>
      <p:regular r:id="rId60"/>
      <p:bold r:id="rId61"/>
      <p:italic r:id="rId62"/>
      <p:boldItalic r:id="rId63"/>
    </p:embeddedFont>
    <p:embeddedFont>
      <p:font typeface="Merriweath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RobotoMono-boldItalic.fntdata"/><Relationship Id="rId21" Type="http://schemas.openxmlformats.org/officeDocument/2006/relationships/slide" Target="slides/slide16.xml"/><Relationship Id="rId68" Type="http://schemas.openxmlformats.org/officeDocument/2006/relationships/customXml" Target="../customXml/item1.xml"/><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66" Type="http://schemas.openxmlformats.org/officeDocument/2006/relationships/font" Target="fonts/Merriweather-italic.fntdata"/><Relationship Id="rId24" Type="http://schemas.openxmlformats.org/officeDocument/2006/relationships/slide" Target="slides/slide19.xml"/><Relationship Id="rId53" Type="http://schemas.openxmlformats.org/officeDocument/2006/relationships/slide" Target="slides/slide48.xml"/><Relationship Id="rId11" Type="http://schemas.openxmlformats.org/officeDocument/2006/relationships/slide" Target="slides/slide6.xml"/><Relationship Id="rId58" Type="http://schemas.openxmlformats.org/officeDocument/2006/relationships/font" Target="fonts/Roboto-italic.fntdata"/><Relationship Id="rId5" Type="http://schemas.openxmlformats.org/officeDocument/2006/relationships/notesMaster" Target="notesMasters/notesMaster1.xml"/><Relationship Id="rId61" Type="http://schemas.openxmlformats.org/officeDocument/2006/relationships/font" Target="fonts/RobotoMono-bold.fntdata"/><Relationship Id="rId19" Type="http://schemas.openxmlformats.org/officeDocument/2006/relationships/slide" Target="slides/slide14.xml"/><Relationship Id="rId43" Type="http://schemas.openxmlformats.org/officeDocument/2006/relationships/slide" Target="slides/slide38.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64" Type="http://schemas.openxmlformats.org/officeDocument/2006/relationships/font" Target="fonts/Merriweather-regular.fntdata"/><Relationship Id="rId22" Type="http://schemas.openxmlformats.org/officeDocument/2006/relationships/slide" Target="slides/slide17.xml"/><Relationship Id="rId27" Type="http://schemas.openxmlformats.org/officeDocument/2006/relationships/slide" Target="slides/slide22.xml"/><Relationship Id="rId56" Type="http://schemas.openxmlformats.org/officeDocument/2006/relationships/font" Target="fonts/Roboto-regular.fntdata"/><Relationship Id="rId14" Type="http://schemas.openxmlformats.org/officeDocument/2006/relationships/slide" Target="slides/slide9.xml"/><Relationship Id="rId69" Type="http://schemas.openxmlformats.org/officeDocument/2006/relationships/customXml" Target="../customXml/item2.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67" Type="http://schemas.openxmlformats.org/officeDocument/2006/relationships/font" Target="fonts/Merriweather-boldItalic.fntdata"/><Relationship Id="rId25" Type="http://schemas.openxmlformats.org/officeDocument/2006/relationships/slide" Target="slides/slide20.xml"/><Relationship Id="rId12" Type="http://schemas.openxmlformats.org/officeDocument/2006/relationships/slide" Target="slides/slide7.xml"/><Relationship Id="rId59" Type="http://schemas.openxmlformats.org/officeDocument/2006/relationships/font" Target="fonts/Roboto-boldItalic.fntdata"/><Relationship Id="rId17" Type="http://schemas.openxmlformats.org/officeDocument/2006/relationships/slide" Target="slides/slide12.xml"/><Relationship Id="rId41" Type="http://schemas.openxmlformats.org/officeDocument/2006/relationships/slide" Target="slides/slide36.xml"/><Relationship Id="rId62" Type="http://schemas.openxmlformats.org/officeDocument/2006/relationships/font" Target="fonts/RobotoMono-italic.fntdata"/><Relationship Id="rId20" Type="http://schemas.openxmlformats.org/officeDocument/2006/relationships/slide" Target="slides/slide15.xml"/><Relationship Id="rId54" Type="http://schemas.openxmlformats.org/officeDocument/2006/relationships/slide" Target="slides/slide49.xml"/><Relationship Id="rId70" Type="http://schemas.openxmlformats.org/officeDocument/2006/relationships/customXml" Target="../customXml/item3.xml"/><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57" Type="http://schemas.openxmlformats.org/officeDocument/2006/relationships/font" Target="fonts/Roboto-bold.fntdata"/><Relationship Id="rId15" Type="http://schemas.openxmlformats.org/officeDocument/2006/relationships/slide" Target="slides/slide10.xml"/><Relationship Id="rId44" Type="http://schemas.openxmlformats.org/officeDocument/2006/relationships/slide" Target="slides/slide39.xml"/><Relationship Id="rId31" Type="http://schemas.openxmlformats.org/officeDocument/2006/relationships/slide" Target="slides/slide26.xml"/><Relationship Id="rId65" Type="http://schemas.openxmlformats.org/officeDocument/2006/relationships/font" Target="fonts/Merriweather-bold.fntdata"/><Relationship Id="rId60" Type="http://schemas.openxmlformats.org/officeDocument/2006/relationships/font" Target="fonts/RobotoMono-regular.fntdata"/><Relationship Id="rId52" Type="http://schemas.openxmlformats.org/officeDocument/2006/relationships/slide" Target="slides/slide47.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39" Type="http://schemas.openxmlformats.org/officeDocument/2006/relationships/slide" Target="slides/slide34.xml"/><Relationship Id="rId13" Type="http://schemas.openxmlformats.org/officeDocument/2006/relationships/slide" Target="slides/slide8.xml"/><Relationship Id="rId18" Type="http://schemas.openxmlformats.org/officeDocument/2006/relationships/slide" Target="slides/slide13.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719350" y="531725"/>
            <a:ext cx="6066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3600"/>
              <a:buNone/>
              <a:defRPr sz="3600">
                <a:solidFill>
                  <a:schemeClr val="dk1"/>
                </a:solidFill>
              </a:defRPr>
            </a:lvl1pPr>
            <a:lvl2pPr lvl="1" algn="l">
              <a:lnSpc>
                <a:spcPct val="100000"/>
              </a:lnSpc>
              <a:spcBef>
                <a:spcPts val="0"/>
              </a:spcBef>
              <a:spcAft>
                <a:spcPts val="0"/>
              </a:spcAft>
              <a:buClr>
                <a:schemeClr val="dk1"/>
              </a:buClr>
              <a:buSzPts val="3600"/>
              <a:buNone/>
              <a:defRPr sz="3600">
                <a:solidFill>
                  <a:schemeClr val="dk1"/>
                </a:solidFill>
              </a:defRPr>
            </a:lvl2pPr>
            <a:lvl3pPr lvl="2" algn="l">
              <a:lnSpc>
                <a:spcPct val="100000"/>
              </a:lnSpc>
              <a:spcBef>
                <a:spcPts val="0"/>
              </a:spcBef>
              <a:spcAft>
                <a:spcPts val="0"/>
              </a:spcAft>
              <a:buClr>
                <a:schemeClr val="dk1"/>
              </a:buClr>
              <a:buSzPts val="3600"/>
              <a:buNone/>
              <a:defRPr sz="3600">
                <a:solidFill>
                  <a:schemeClr val="dk1"/>
                </a:solidFill>
              </a:defRPr>
            </a:lvl3pPr>
            <a:lvl4pPr lvl="3" algn="l">
              <a:lnSpc>
                <a:spcPct val="100000"/>
              </a:lnSpc>
              <a:spcBef>
                <a:spcPts val="0"/>
              </a:spcBef>
              <a:spcAft>
                <a:spcPts val="0"/>
              </a:spcAft>
              <a:buClr>
                <a:schemeClr val="dk1"/>
              </a:buClr>
              <a:buSzPts val="3600"/>
              <a:buNone/>
              <a:defRPr sz="3600">
                <a:solidFill>
                  <a:schemeClr val="dk1"/>
                </a:solidFill>
              </a:defRPr>
            </a:lvl4pPr>
            <a:lvl5pPr lvl="4" algn="l">
              <a:lnSpc>
                <a:spcPct val="100000"/>
              </a:lnSpc>
              <a:spcBef>
                <a:spcPts val="0"/>
              </a:spcBef>
              <a:spcAft>
                <a:spcPts val="0"/>
              </a:spcAft>
              <a:buClr>
                <a:schemeClr val="dk1"/>
              </a:buClr>
              <a:buSzPts val="3600"/>
              <a:buNone/>
              <a:defRPr sz="3600">
                <a:solidFill>
                  <a:schemeClr val="dk1"/>
                </a:solidFill>
              </a:defRPr>
            </a:lvl5pPr>
            <a:lvl6pPr lvl="5" algn="l">
              <a:lnSpc>
                <a:spcPct val="100000"/>
              </a:lnSpc>
              <a:spcBef>
                <a:spcPts val="0"/>
              </a:spcBef>
              <a:spcAft>
                <a:spcPts val="0"/>
              </a:spcAft>
              <a:buClr>
                <a:schemeClr val="dk1"/>
              </a:buClr>
              <a:buSzPts val="3600"/>
              <a:buNone/>
              <a:defRPr sz="3600">
                <a:solidFill>
                  <a:schemeClr val="dk1"/>
                </a:solidFill>
              </a:defRPr>
            </a:lvl6pPr>
            <a:lvl7pPr lvl="6" algn="l">
              <a:lnSpc>
                <a:spcPct val="100000"/>
              </a:lnSpc>
              <a:spcBef>
                <a:spcPts val="0"/>
              </a:spcBef>
              <a:spcAft>
                <a:spcPts val="0"/>
              </a:spcAft>
              <a:buClr>
                <a:schemeClr val="dk1"/>
              </a:buClr>
              <a:buSzPts val="3600"/>
              <a:buNone/>
              <a:defRPr sz="3600">
                <a:solidFill>
                  <a:schemeClr val="dk1"/>
                </a:solidFill>
              </a:defRPr>
            </a:lvl7pPr>
            <a:lvl8pPr lvl="7" algn="l">
              <a:lnSpc>
                <a:spcPct val="100000"/>
              </a:lnSpc>
              <a:spcBef>
                <a:spcPts val="0"/>
              </a:spcBef>
              <a:spcAft>
                <a:spcPts val="0"/>
              </a:spcAft>
              <a:buClr>
                <a:schemeClr val="dk1"/>
              </a:buClr>
              <a:buSzPts val="3600"/>
              <a:buNone/>
              <a:defRPr sz="3600">
                <a:solidFill>
                  <a:schemeClr val="dk1"/>
                </a:solidFill>
              </a:defRPr>
            </a:lvl8pPr>
            <a:lvl9pPr lvl="8" algn="l">
              <a:lnSpc>
                <a:spcPct val="100000"/>
              </a:lnSpc>
              <a:spcBef>
                <a:spcPts val="0"/>
              </a:spcBef>
              <a:spcAft>
                <a:spcPts val="0"/>
              </a:spcAft>
              <a:buClr>
                <a:schemeClr val="dk1"/>
              </a:buClr>
              <a:buSzPts val="3600"/>
              <a:buNone/>
              <a:defRPr sz="3600">
                <a:solidFill>
                  <a:schemeClr val="dk1"/>
                </a:solidFill>
              </a:defRPr>
            </a:lvl9pPr>
          </a:lstStyle>
          <a:p/>
        </p:txBody>
      </p:sp>
      <p:sp>
        <p:nvSpPr>
          <p:cNvPr id="12" name="Google Shape;12;p2"/>
          <p:cNvSpPr txBox="1"/>
          <p:nvPr>
            <p:ph idx="1" type="subTitle"/>
          </p:nvPr>
        </p:nvSpPr>
        <p:spPr>
          <a:xfrm>
            <a:off x="719350" y="1862585"/>
            <a:ext cx="4242600" cy="738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itleOnly">
  <p:cSld name="TITLE_ONLY">
    <p:spTree>
      <p:nvGrpSpPr>
        <p:cNvPr id="14" name="Shape 14"/>
        <p:cNvGrpSpPr/>
        <p:nvPr/>
      </p:nvGrpSpPr>
      <p:grpSpPr>
        <a:xfrm>
          <a:off x="0" y="0"/>
          <a:ext cx="0" cy="0"/>
          <a:chOff x="0" y="0"/>
          <a:chExt cx="0" cy="0"/>
        </a:xfrm>
      </p:grpSpPr>
      <p:sp>
        <p:nvSpPr>
          <p:cNvPr id="15" name="Google Shape;15;p3"/>
          <p:cNvSpPr/>
          <p:nvPr/>
        </p:nvSpPr>
        <p:spPr>
          <a:xfrm>
            <a:off x="0" y="0"/>
            <a:ext cx="9144000" cy="759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18" name="Google Shape;18;p3"/>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lvl1pPr indent="-336550" lvl="0" marL="457200" algn="l">
              <a:lnSpc>
                <a:spcPct val="115000"/>
              </a:lnSpc>
              <a:spcBef>
                <a:spcPts val="0"/>
              </a:spcBef>
              <a:spcAft>
                <a:spcPts val="0"/>
              </a:spcAft>
              <a:buClr>
                <a:schemeClr val="dk1"/>
              </a:buClr>
              <a:buSzPts val="1700"/>
              <a:buFont typeface="Arial"/>
              <a:buChar char="⏵"/>
              <a:defRPr sz="1600">
                <a:solidFill>
                  <a:schemeClr val="dk1"/>
                </a:solidFill>
                <a:latin typeface="Arial"/>
                <a:ea typeface="Arial"/>
                <a:cs typeface="Arial"/>
                <a:sym typeface="Arial"/>
              </a:defRPr>
            </a:lvl1pPr>
            <a:lvl2pPr indent="-304800" lvl="1" marL="914400" algn="l">
              <a:lnSpc>
                <a:spcPct val="115000"/>
              </a:lnSpc>
              <a:spcBef>
                <a:spcPts val="0"/>
              </a:spcBef>
              <a:spcAft>
                <a:spcPts val="0"/>
              </a:spcAft>
              <a:buClr>
                <a:schemeClr val="dk1"/>
              </a:buClr>
              <a:buSzPts val="1200"/>
              <a:buFont typeface="Arial"/>
              <a:buChar char="○"/>
              <a:defRPr sz="1400">
                <a:solidFill>
                  <a:schemeClr val="dk1"/>
                </a:solidFill>
                <a:latin typeface="Arial"/>
                <a:ea typeface="Arial"/>
                <a:cs typeface="Arial"/>
                <a:sym typeface="Arial"/>
              </a:defRPr>
            </a:lvl2pPr>
            <a:lvl3pPr indent="-304800" lvl="2" marL="1371600" algn="l">
              <a:lnSpc>
                <a:spcPct val="115000"/>
              </a:lnSpc>
              <a:spcBef>
                <a:spcPts val="0"/>
              </a:spcBef>
              <a:spcAft>
                <a:spcPts val="0"/>
              </a:spcAft>
              <a:buClr>
                <a:schemeClr val="dk1"/>
              </a:buClr>
              <a:buSzPts val="1200"/>
              <a:buFont typeface="Arial"/>
              <a:buChar char="■"/>
              <a:defRPr sz="1200">
                <a:solidFill>
                  <a:schemeClr val="dk1"/>
                </a:solidFill>
                <a:latin typeface="Arial"/>
                <a:ea typeface="Arial"/>
                <a:cs typeface="Arial"/>
                <a:sym typeface="Arial"/>
              </a:defRPr>
            </a:lvl3pPr>
            <a:lvl4pPr indent="-298450" lvl="3" marL="18288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4pPr>
            <a:lvl5pPr indent="-298450" lvl="4" marL="22860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5pPr>
            <a:lvl6pPr indent="-298450" lvl="5" marL="27432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6pPr>
            <a:lvl7pPr indent="-298450" lvl="6" marL="32004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7pPr>
            <a:lvl8pPr indent="-298450" lvl="7" marL="36576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8pPr>
            <a:lvl9pPr indent="-298450" lvl="8" marL="4114800" algn="l">
              <a:lnSpc>
                <a:spcPct val="115000"/>
              </a:lnSpc>
              <a:spcBef>
                <a:spcPts val="0"/>
              </a:spcBef>
              <a:spcAft>
                <a:spcPts val="0"/>
              </a:spcAft>
              <a:buClr>
                <a:schemeClr val="dk1"/>
              </a:buClr>
              <a:buSzPts val="1100"/>
              <a:buFont typeface="Arial"/>
              <a:buChar char="■"/>
              <a:defRPr>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1" name="Shape 21"/>
        <p:cNvGrpSpPr/>
        <p:nvPr/>
      </p:nvGrpSpPr>
      <p:grpSpPr>
        <a:xfrm>
          <a:off x="0" y="0"/>
          <a:ext cx="0" cy="0"/>
          <a:chOff x="0" y="0"/>
          <a:chExt cx="0" cy="0"/>
        </a:xfrm>
      </p:grpSpPr>
      <p:sp>
        <p:nvSpPr>
          <p:cNvPr id="22" name="Google Shape;22;p5"/>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3" name="Google Shape;23;p5"/>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4" name="Google Shape;24;p5"/>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25" name="Google Shape;2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ides" type="tx">
  <p:cSld name="TITLE_AND_BODY">
    <p:spTree>
      <p:nvGrpSpPr>
        <p:cNvPr id="26" name="Shape 26"/>
        <p:cNvGrpSpPr/>
        <p:nvPr/>
      </p:nvGrpSpPr>
      <p:grpSpPr>
        <a:xfrm>
          <a:off x="0" y="0"/>
          <a:ext cx="0" cy="0"/>
          <a:chOff x="0" y="0"/>
          <a:chExt cx="0" cy="0"/>
        </a:xfrm>
      </p:grpSpPr>
      <p:sp>
        <p:nvSpPr>
          <p:cNvPr id="27" name="Google Shape;27;p6"/>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6"/>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9" name="Google Shape;29;p6"/>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0" name="Google Shape;30;p6"/>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1" name="Google Shape;31;p6"/>
          <p:cNvSpPr txBox="1"/>
          <p:nvPr>
            <p:ph idx="1" type="body"/>
          </p:nvPr>
        </p:nvSpPr>
        <p:spPr>
          <a:xfrm>
            <a:off x="4644675" y="500925"/>
            <a:ext cx="4166400" cy="4098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7"/>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6" name="Google Shape;36;p7"/>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7" name="Google Shape;37;p7"/>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8"/>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8"/>
          <p:cNvSpPr txBox="1"/>
          <p:nvPr>
            <p:ph type="title"/>
          </p:nvPr>
        </p:nvSpPr>
        <p:spPr>
          <a:xfrm>
            <a:off x="311725" y="500925"/>
            <a:ext cx="3127500" cy="1829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2" name="Google Shape;42;p8"/>
          <p:cNvSpPr txBox="1"/>
          <p:nvPr>
            <p:ph idx="1" type="body"/>
          </p:nvPr>
        </p:nvSpPr>
        <p:spPr>
          <a:xfrm>
            <a:off x="311700" y="2390650"/>
            <a:ext cx="3127500" cy="229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43" name="Google Shape;4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4" name="Shape 44"/>
        <p:cNvGrpSpPr/>
        <p:nvPr/>
      </p:nvGrpSpPr>
      <p:grpSpPr>
        <a:xfrm>
          <a:off x="0" y="0"/>
          <a:ext cx="0" cy="0"/>
          <a:chOff x="0" y="0"/>
          <a:chExt cx="0" cy="0"/>
        </a:xfrm>
      </p:grpSpPr>
      <p:sp>
        <p:nvSpPr>
          <p:cNvPr id="45" name="Google Shape;45;p9"/>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46" name="Google Shape;4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10"/>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0"/>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0" name="Google Shape;50;p10"/>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51" name="Google Shape;51;p10"/>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2" name="Google Shape;5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1"/>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1"/>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6" name="Google Shape;5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7" name="Shape 57"/>
        <p:cNvGrpSpPr/>
        <p:nvPr/>
      </p:nvGrpSpPr>
      <p:grpSpPr>
        <a:xfrm>
          <a:off x="0" y="0"/>
          <a:ext cx="0" cy="0"/>
          <a:chOff x="0" y="0"/>
          <a:chExt cx="0" cy="0"/>
        </a:xfrm>
      </p:grpSpPr>
      <p:sp>
        <p:nvSpPr>
          <p:cNvPr id="58" name="Google Shape;58;p12"/>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59" name="Google Shape;59;p12"/>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60" name="Google Shape;6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33.png"/><Relationship Id="rId5"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3"/>
          <p:cNvSpPr txBox="1"/>
          <p:nvPr>
            <p:ph type="ctrTitle"/>
          </p:nvPr>
        </p:nvSpPr>
        <p:spPr>
          <a:xfrm>
            <a:off x="719350" y="531725"/>
            <a:ext cx="6066600" cy="1282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Reprezentări ale grafurilor. Parcurgeri în grafuri</a:t>
            </a:r>
            <a:endParaRPr/>
          </a:p>
        </p:txBody>
      </p:sp>
      <p:sp>
        <p:nvSpPr>
          <p:cNvPr id="66" name="Google Shape;66;p13"/>
          <p:cNvSpPr txBox="1"/>
          <p:nvPr>
            <p:ph idx="1" type="subTitle"/>
          </p:nvPr>
        </p:nvSpPr>
        <p:spPr>
          <a:xfrm>
            <a:off x="719350" y="1862585"/>
            <a:ext cx="4242600" cy="73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ctrTitle"/>
          </p:nvPr>
        </p:nvSpPr>
        <p:spPr>
          <a:xfrm>
            <a:off x="719350" y="531725"/>
            <a:ext cx="6066600" cy="1282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GB"/>
              <a:t>Reprezentări</a:t>
            </a:r>
            <a:endParaRPr/>
          </a:p>
        </p:txBody>
      </p:sp>
      <p:sp>
        <p:nvSpPr>
          <p:cNvPr id="72" name="Google Shape;72;p14"/>
          <p:cNvSpPr txBox="1"/>
          <p:nvPr>
            <p:ph idx="1" type="subTitle"/>
          </p:nvPr>
        </p:nvSpPr>
        <p:spPr>
          <a:xfrm>
            <a:off x="719350" y="1862585"/>
            <a:ext cx="4242600" cy="73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78" name="Google Shape;78;p15"/>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rPr lang="en-GB"/>
              <a:t>Ce reprezentări ale grafurilor cunoașteți?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84" name="Google Shape;84;p16"/>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Ce reprezentări ale grafurilor cunoașteți?</a:t>
            </a:r>
            <a:endParaRPr/>
          </a:p>
          <a:p>
            <a:pPr indent="-336550" lvl="0" marL="457200" rtl="0" algn="l">
              <a:lnSpc>
                <a:spcPct val="115000"/>
              </a:lnSpc>
              <a:spcBef>
                <a:spcPts val="1200"/>
              </a:spcBef>
              <a:spcAft>
                <a:spcPts val="0"/>
              </a:spcAft>
              <a:buSzPts val="1700"/>
              <a:buChar char="⏵"/>
            </a:pPr>
            <a:r>
              <a:rPr lang="en-GB"/>
              <a:t>matrice de adiacență</a:t>
            </a:r>
            <a:endParaRPr/>
          </a:p>
          <a:p>
            <a:pPr indent="-336550" lvl="0" marL="457200" rtl="0" algn="l">
              <a:lnSpc>
                <a:spcPct val="115000"/>
              </a:lnSpc>
              <a:spcBef>
                <a:spcPts val="0"/>
              </a:spcBef>
              <a:spcAft>
                <a:spcPts val="0"/>
              </a:spcAft>
              <a:buSzPts val="1700"/>
              <a:buChar char="⏵"/>
            </a:pPr>
            <a:r>
              <a:rPr lang="en-GB"/>
              <a:t>liste de adiacență</a:t>
            </a:r>
            <a:endParaRPr/>
          </a:p>
          <a:p>
            <a:pPr indent="-336550" lvl="0" marL="457200" rtl="0" algn="l">
              <a:lnSpc>
                <a:spcPct val="115000"/>
              </a:lnSpc>
              <a:spcBef>
                <a:spcPts val="0"/>
              </a:spcBef>
              <a:spcAft>
                <a:spcPts val="0"/>
              </a:spcAft>
              <a:buSzPts val="1700"/>
              <a:buChar char="⏵"/>
            </a:pPr>
            <a:r>
              <a:rPr lang="en-GB"/>
              <a:t>lista de muchii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90" name="Google Shape;90;p17"/>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Ce reprezentări ale grafurilor cunoașteți?</a:t>
            </a:r>
            <a:endParaRPr/>
          </a:p>
          <a:p>
            <a:pPr indent="-336550" lvl="0" marL="457200" rtl="0" algn="l">
              <a:lnSpc>
                <a:spcPct val="115000"/>
              </a:lnSpc>
              <a:spcBef>
                <a:spcPts val="1200"/>
              </a:spcBef>
              <a:spcAft>
                <a:spcPts val="0"/>
              </a:spcAft>
              <a:buSzPts val="1700"/>
              <a:buChar char="⏵"/>
            </a:pPr>
            <a:r>
              <a:rPr lang="en-GB"/>
              <a:t>matrice de adiacență</a:t>
            </a:r>
            <a:endParaRPr/>
          </a:p>
          <a:p>
            <a:pPr indent="-304800" lvl="1" marL="914400" rtl="0" algn="l">
              <a:lnSpc>
                <a:spcPct val="115000"/>
              </a:lnSpc>
              <a:spcBef>
                <a:spcPts val="0"/>
              </a:spcBef>
              <a:spcAft>
                <a:spcPts val="0"/>
              </a:spcAft>
              <a:buSzPts val="1200"/>
              <a:buChar char="○"/>
            </a:pPr>
            <a:r>
              <a:rPr lang="en-GB"/>
              <a:t>într-un graf </a:t>
            </a:r>
            <a:r>
              <a:rPr b="1" lang="en-GB"/>
              <a:t>orientat</a:t>
            </a:r>
            <a:r>
              <a:rPr lang="en-GB"/>
              <a:t>, matricea în general nu este simetrică</a:t>
            </a:r>
            <a:endParaRPr/>
          </a:p>
        </p:txBody>
      </p:sp>
      <p:pic>
        <p:nvPicPr>
          <p:cNvPr id="91" name="Google Shape;91;p17"/>
          <p:cNvPicPr preferRelativeResize="0"/>
          <p:nvPr/>
        </p:nvPicPr>
        <p:blipFill rotWithShape="1">
          <a:blip r:embed="rId3">
            <a:alphaModFix/>
          </a:blip>
          <a:srcRect b="0" l="0" r="0" t="0"/>
          <a:stretch/>
        </p:blipFill>
        <p:spPr>
          <a:xfrm>
            <a:off x="6411400" y="1152513"/>
            <a:ext cx="1924050" cy="1419225"/>
          </a:xfrm>
          <a:prstGeom prst="rect">
            <a:avLst/>
          </a:prstGeom>
          <a:noFill/>
          <a:ln>
            <a:noFill/>
          </a:ln>
        </p:spPr>
      </p:pic>
      <p:pic>
        <p:nvPicPr>
          <p:cNvPr id="92" name="Google Shape;92;p17"/>
          <p:cNvPicPr preferRelativeResize="0"/>
          <p:nvPr/>
        </p:nvPicPr>
        <p:blipFill rotWithShape="1">
          <a:blip r:embed="rId4">
            <a:alphaModFix/>
          </a:blip>
          <a:srcRect b="0" l="0" r="0" t="0"/>
          <a:stretch/>
        </p:blipFill>
        <p:spPr>
          <a:xfrm>
            <a:off x="2206288" y="2122675"/>
            <a:ext cx="1285875" cy="1323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98" name="Google Shape;98;p18"/>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Ce reprezentări ale grafurilor cunoașteți?</a:t>
            </a:r>
            <a:endParaRPr/>
          </a:p>
          <a:p>
            <a:pPr indent="-336550" lvl="0" marL="457200" rtl="0" algn="l">
              <a:lnSpc>
                <a:spcPct val="115000"/>
              </a:lnSpc>
              <a:spcBef>
                <a:spcPts val="1200"/>
              </a:spcBef>
              <a:spcAft>
                <a:spcPts val="0"/>
              </a:spcAft>
              <a:buSzPts val="1700"/>
              <a:buChar char="⏵"/>
            </a:pPr>
            <a:r>
              <a:rPr lang="en-GB"/>
              <a:t>liste de adiacență</a:t>
            </a:r>
            <a:endParaRPr/>
          </a:p>
          <a:p>
            <a:pPr indent="0" lvl="0" marL="0" rtl="0" algn="l">
              <a:lnSpc>
                <a:spcPct val="115000"/>
              </a:lnSpc>
              <a:spcBef>
                <a:spcPts val="1200"/>
              </a:spcBef>
              <a:spcAft>
                <a:spcPts val="1200"/>
              </a:spcAft>
              <a:buSzPts val="1700"/>
              <a:buNone/>
            </a:pPr>
            <a:r>
              <a:t/>
            </a:r>
            <a:endParaRPr/>
          </a:p>
        </p:txBody>
      </p:sp>
      <p:pic>
        <p:nvPicPr>
          <p:cNvPr id="99" name="Google Shape;99;p18"/>
          <p:cNvPicPr preferRelativeResize="0"/>
          <p:nvPr/>
        </p:nvPicPr>
        <p:blipFill rotWithShape="1">
          <a:blip r:embed="rId3">
            <a:alphaModFix/>
          </a:blip>
          <a:srcRect b="0" l="0" r="0" t="0"/>
          <a:stretch/>
        </p:blipFill>
        <p:spPr>
          <a:xfrm>
            <a:off x="6411400" y="1152513"/>
            <a:ext cx="1924050" cy="1419225"/>
          </a:xfrm>
          <a:prstGeom prst="rect">
            <a:avLst/>
          </a:prstGeom>
          <a:noFill/>
          <a:ln>
            <a:noFill/>
          </a:ln>
        </p:spPr>
      </p:pic>
      <p:pic>
        <p:nvPicPr>
          <p:cNvPr id="100" name="Google Shape;100;p18"/>
          <p:cNvPicPr preferRelativeResize="0"/>
          <p:nvPr/>
        </p:nvPicPr>
        <p:blipFill rotWithShape="1">
          <a:blip r:embed="rId4">
            <a:alphaModFix/>
          </a:blip>
          <a:srcRect b="0" l="0" r="0" t="0"/>
          <a:stretch/>
        </p:blipFill>
        <p:spPr>
          <a:xfrm>
            <a:off x="1081688" y="2062138"/>
            <a:ext cx="3667125" cy="1666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106" name="Google Shape;106;p19"/>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Ce reprezentări ale grafurilor cunoașteți?</a:t>
            </a:r>
            <a:endParaRPr/>
          </a:p>
          <a:p>
            <a:pPr indent="-336550" lvl="0" marL="457200" rtl="0" algn="l">
              <a:lnSpc>
                <a:spcPct val="115000"/>
              </a:lnSpc>
              <a:spcBef>
                <a:spcPts val="1200"/>
              </a:spcBef>
              <a:spcAft>
                <a:spcPts val="0"/>
              </a:spcAft>
              <a:buSzPts val="1700"/>
              <a:buChar char="⏵"/>
            </a:pPr>
            <a:r>
              <a:rPr lang="en-GB"/>
              <a:t>liste de muchii</a:t>
            </a:r>
            <a:endParaRPr/>
          </a:p>
          <a:p>
            <a:pPr indent="-304800" lvl="1" marL="914400" rtl="0" algn="l">
              <a:lnSpc>
                <a:spcPct val="115000"/>
              </a:lnSpc>
              <a:spcBef>
                <a:spcPts val="0"/>
              </a:spcBef>
              <a:spcAft>
                <a:spcPts val="0"/>
              </a:spcAft>
              <a:buSzPts val="1200"/>
              <a:buChar char="○"/>
            </a:pPr>
            <a:r>
              <a:rPr lang="en-GB"/>
              <a:t>[(1,2), (1,5), (2,5), (2,4), (2,3), (3,4), (4,5)]</a:t>
            </a:r>
            <a:endParaRPr/>
          </a:p>
        </p:txBody>
      </p:sp>
      <p:pic>
        <p:nvPicPr>
          <p:cNvPr id="107" name="Google Shape;107;p19"/>
          <p:cNvPicPr preferRelativeResize="0"/>
          <p:nvPr/>
        </p:nvPicPr>
        <p:blipFill rotWithShape="1">
          <a:blip r:embed="rId3">
            <a:alphaModFix/>
          </a:blip>
          <a:srcRect b="0" l="0" r="0" t="0"/>
          <a:stretch/>
        </p:blipFill>
        <p:spPr>
          <a:xfrm>
            <a:off x="6411400" y="1152513"/>
            <a:ext cx="1924050" cy="141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113" name="Google Shape;113;p20"/>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700"/>
              <a:buNone/>
            </a:pPr>
            <a:r>
              <a:rPr lang="en-GB"/>
              <a:t>De ce avem mai multe reprezentări?</a:t>
            </a:r>
            <a:endParaRPr/>
          </a:p>
          <a:p>
            <a:pPr indent="-336550" lvl="0" marL="457200" rtl="0" algn="l">
              <a:lnSpc>
                <a:spcPct val="115000"/>
              </a:lnSpc>
              <a:spcBef>
                <a:spcPts val="1200"/>
              </a:spcBef>
              <a:spcAft>
                <a:spcPts val="0"/>
              </a:spcAft>
              <a:buSzPts val="1700"/>
              <a:buChar char="⏵"/>
            </a:pPr>
            <a:r>
              <a:rPr lang="en-GB"/>
              <a:t>Modul cum reprezentăm influențează complexitatea timp a algoritmilor implementați</a:t>
            </a:r>
            <a:endParaRPr/>
          </a:p>
          <a:p>
            <a:pPr indent="-304800" lvl="1" marL="914400" rtl="0" algn="l">
              <a:lnSpc>
                <a:spcPct val="115000"/>
              </a:lnSpc>
              <a:spcBef>
                <a:spcPts val="0"/>
              </a:spcBef>
              <a:spcAft>
                <a:spcPts val="0"/>
              </a:spcAft>
              <a:buSzPts val="1200"/>
              <a:buChar char="○"/>
            </a:pPr>
            <a:r>
              <a:rPr lang="en-GB"/>
              <a:t>Exemplu DF:</a:t>
            </a:r>
            <a:endParaRPr/>
          </a:p>
          <a:p>
            <a:pPr indent="-304800" lvl="2" marL="1371600" rtl="0" algn="l">
              <a:lnSpc>
                <a:spcPct val="115000"/>
              </a:lnSpc>
              <a:spcBef>
                <a:spcPts val="0"/>
              </a:spcBef>
              <a:spcAft>
                <a:spcPts val="0"/>
              </a:spcAft>
              <a:buSzPts val="1200"/>
              <a:buChar char="■"/>
            </a:pPr>
            <a:r>
              <a:rPr lang="en-GB"/>
              <a:t>O(n</a:t>
            </a:r>
            <a:r>
              <a:rPr baseline="30000" lang="en-GB"/>
              <a:t>2</a:t>
            </a:r>
            <a:r>
              <a:rPr lang="en-GB"/>
              <a:t>) matrice de adiacență</a:t>
            </a:r>
            <a:endParaRPr/>
          </a:p>
          <a:p>
            <a:pPr indent="-304800" lvl="2" marL="1371600" rtl="0" algn="l">
              <a:lnSpc>
                <a:spcPct val="115000"/>
              </a:lnSpc>
              <a:spcBef>
                <a:spcPts val="0"/>
              </a:spcBef>
              <a:spcAft>
                <a:spcPts val="0"/>
              </a:spcAft>
              <a:buSzPts val="1200"/>
              <a:buChar char="■"/>
            </a:pPr>
            <a:r>
              <a:rPr lang="en-GB"/>
              <a:t>O(n+m) lista de vecini</a:t>
            </a:r>
            <a:endParaRPr/>
          </a:p>
          <a:p>
            <a:pPr indent="-304800" lvl="2" marL="1371600" rtl="0" algn="l">
              <a:lnSpc>
                <a:spcPct val="115000"/>
              </a:lnSpc>
              <a:spcBef>
                <a:spcPts val="0"/>
              </a:spcBef>
              <a:spcAft>
                <a:spcPts val="0"/>
              </a:spcAft>
              <a:buSzPts val="1200"/>
              <a:buChar char="■"/>
            </a:pPr>
            <a:r>
              <a:rPr lang="en-GB"/>
              <a:t>O(m) lista de muchii</a:t>
            </a:r>
            <a:endParaRPr/>
          </a:p>
          <a:p>
            <a:pPr indent="-336550" lvl="0" marL="457200" rtl="0" algn="l">
              <a:lnSpc>
                <a:spcPct val="115000"/>
              </a:lnSpc>
              <a:spcBef>
                <a:spcPts val="0"/>
              </a:spcBef>
              <a:spcAft>
                <a:spcPts val="0"/>
              </a:spcAft>
              <a:buSzPts val="1700"/>
              <a:buChar char="⏵"/>
            </a:pPr>
            <a:r>
              <a:rPr lang="en-GB"/>
              <a:t>Student:</a:t>
            </a:r>
            <a:endParaRPr/>
          </a:p>
          <a:p>
            <a:pPr indent="-304800" lvl="1" marL="914400" rtl="0" algn="l">
              <a:lnSpc>
                <a:spcPct val="115000"/>
              </a:lnSpc>
              <a:spcBef>
                <a:spcPts val="0"/>
              </a:spcBef>
              <a:spcAft>
                <a:spcPts val="0"/>
              </a:spcAft>
              <a:buSzPts val="1200"/>
              <a:buChar char="○"/>
            </a:pPr>
            <a:r>
              <a:rPr lang="en-GB"/>
              <a:t>În funcție de graful reprezentat, unele reprezentări consumă mai multă, respectiv mai puțină  memorie</a:t>
            </a:r>
            <a:endParaRPr/>
          </a:p>
          <a:p>
            <a:pPr indent="-304800" lvl="1" marL="914400" rtl="0" algn="l">
              <a:lnSpc>
                <a:spcPct val="115000"/>
              </a:lnSpc>
              <a:spcBef>
                <a:spcPts val="0"/>
              </a:spcBef>
              <a:spcAft>
                <a:spcPts val="0"/>
              </a:spcAft>
              <a:buSzPts val="1200"/>
              <a:buChar char="○"/>
            </a:pPr>
            <a:r>
              <a:rPr lang="en-GB"/>
              <a:t>Memorie consumată:</a:t>
            </a:r>
            <a:endParaRPr/>
          </a:p>
          <a:p>
            <a:pPr indent="-304800" lvl="2" marL="1371600" rtl="0" algn="l">
              <a:lnSpc>
                <a:spcPct val="115000"/>
              </a:lnSpc>
              <a:spcBef>
                <a:spcPts val="0"/>
              </a:spcBef>
              <a:spcAft>
                <a:spcPts val="0"/>
              </a:spcAft>
              <a:buSzPts val="1200"/>
              <a:buChar char="■"/>
            </a:pPr>
            <a:r>
              <a:rPr lang="en-GB"/>
              <a:t>Matrice de adiacență O(n</a:t>
            </a:r>
            <a:r>
              <a:rPr baseline="30000" lang="en-GB"/>
              <a:t>2</a:t>
            </a:r>
            <a:r>
              <a:rPr lang="en-GB"/>
              <a:t>)</a:t>
            </a:r>
            <a:endParaRPr/>
          </a:p>
          <a:p>
            <a:pPr indent="-304800" lvl="2" marL="1371600" rtl="0" algn="l">
              <a:lnSpc>
                <a:spcPct val="115000"/>
              </a:lnSpc>
              <a:spcBef>
                <a:spcPts val="0"/>
              </a:spcBef>
              <a:spcAft>
                <a:spcPts val="0"/>
              </a:spcAft>
              <a:buSzPts val="1200"/>
              <a:buChar char="■"/>
            </a:pPr>
            <a:r>
              <a:rPr lang="en-GB"/>
              <a:t>Lista de vecini: O(n+m)</a:t>
            </a:r>
            <a:endParaRPr/>
          </a:p>
          <a:p>
            <a:pPr indent="-304800" lvl="2" marL="1371600" rtl="0" algn="l">
              <a:lnSpc>
                <a:spcPct val="115000"/>
              </a:lnSpc>
              <a:spcBef>
                <a:spcPts val="0"/>
              </a:spcBef>
              <a:spcAft>
                <a:spcPts val="0"/>
              </a:spcAft>
              <a:buSzPts val="1200"/>
              <a:buChar char="■"/>
            </a:pPr>
            <a:r>
              <a:rPr lang="en-GB"/>
              <a:t>Lista de muchii: O(m)</a:t>
            </a:r>
            <a:endParaRPr/>
          </a:p>
          <a:p>
            <a:pPr indent="-304800" lvl="1" marL="914400" rtl="0" algn="l">
              <a:lnSpc>
                <a:spcPct val="115000"/>
              </a:lnSpc>
              <a:spcBef>
                <a:spcPts val="0"/>
              </a:spcBef>
              <a:spcAft>
                <a:spcPts val="0"/>
              </a:spcAft>
              <a:buSzPts val="1200"/>
              <a:buChar char="○"/>
            </a:pPr>
            <a:r>
              <a:rPr lang="en-GB"/>
              <a:t>Dacă avem graf dens (aproape complet), matricea de adiacență nu va mai fi rea … pentru că m~n</a:t>
            </a:r>
            <a:r>
              <a:rPr baseline="30000" lang="en-GB"/>
              <a:t>2</a:t>
            </a:r>
            <a:endParaRPr baseline="30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Reprezentări	</a:t>
            </a:r>
            <a:endParaRPr/>
          </a:p>
        </p:txBody>
      </p:sp>
      <p:sp>
        <p:nvSpPr>
          <p:cNvPr id="119" name="Google Shape;119;p21"/>
          <p:cNvSpPr txBox="1"/>
          <p:nvPr>
            <p:ph idx="1" type="body"/>
          </p:nvPr>
        </p:nvSpPr>
        <p:spPr>
          <a:xfrm>
            <a:off x="311700" y="906225"/>
            <a:ext cx="8574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b="1" lang="en-GB"/>
              <a:t>Graful Transpus</a:t>
            </a:r>
            <a:endParaRPr b="1"/>
          </a:p>
          <a:p>
            <a:pPr indent="0" lvl="0" marL="0" rtl="0" algn="l">
              <a:lnSpc>
                <a:spcPct val="115000"/>
              </a:lnSpc>
              <a:spcBef>
                <a:spcPts val="1200"/>
              </a:spcBef>
              <a:spcAft>
                <a:spcPts val="0"/>
              </a:spcAft>
              <a:buSzPts val="1700"/>
              <a:buNone/>
            </a:pPr>
            <a:r>
              <a:rPr lang="en-GB"/>
              <a:t>Fie G = (V, E) un graf </a:t>
            </a:r>
            <a:r>
              <a:rPr b="1" lang="en-GB"/>
              <a:t>orientat</a:t>
            </a:r>
            <a:r>
              <a:rPr lang="en-GB"/>
              <a:t>. Se numește </a:t>
            </a:r>
            <a:r>
              <a:rPr b="1" lang="en-GB"/>
              <a:t>graf transpus</a:t>
            </a:r>
            <a:r>
              <a:rPr lang="en-GB"/>
              <a:t> al lui G graful orientat G</a:t>
            </a:r>
            <a:r>
              <a:rPr baseline="30000" lang="en-GB"/>
              <a:t>T</a:t>
            </a:r>
            <a:r>
              <a:rPr lang="en-GB"/>
              <a:t> = (V, E</a:t>
            </a:r>
            <a:r>
              <a:rPr baseline="30000" lang="en-GB"/>
              <a:t>T</a:t>
            </a:r>
            <a:r>
              <a:rPr lang="en-GB"/>
              <a:t>) având aceeași mulțime de noduri, iar E</a:t>
            </a:r>
            <a:r>
              <a:rPr baseline="30000" lang="en-GB"/>
              <a:t>T</a:t>
            </a:r>
            <a:r>
              <a:rPr lang="en-GB"/>
              <a:t> = {(y, x) | (x, y) ∈ E}.</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rPr lang="en-GB"/>
              <a:t>Practic, sensul arcelor se schimbă, pentru toate arcele din graful G.</a:t>
            </a:r>
            <a:endParaRPr/>
          </a:p>
          <a:p>
            <a:pPr indent="0" lvl="0" marL="0" rtl="0" algn="l">
              <a:lnSpc>
                <a:spcPct val="115000"/>
              </a:lnSpc>
              <a:spcBef>
                <a:spcPts val="1200"/>
              </a:spcBef>
              <a:spcAft>
                <a:spcPts val="1200"/>
              </a:spcAft>
              <a:buSzPts val="1700"/>
              <a:buNone/>
            </a:pPr>
            <a:r>
              <a:t/>
            </a:r>
            <a:endParaRPr/>
          </a:p>
        </p:txBody>
      </p:sp>
      <p:pic>
        <p:nvPicPr>
          <p:cNvPr id="120" name="Google Shape;120;p21"/>
          <p:cNvPicPr preferRelativeResize="0"/>
          <p:nvPr/>
        </p:nvPicPr>
        <p:blipFill rotWithShape="1">
          <a:blip r:embed="rId3">
            <a:alphaModFix/>
          </a:blip>
          <a:srcRect b="0" l="0" r="0" t="0"/>
          <a:stretch/>
        </p:blipFill>
        <p:spPr>
          <a:xfrm>
            <a:off x="987857" y="3703900"/>
            <a:ext cx="2732875" cy="1165725"/>
          </a:xfrm>
          <a:prstGeom prst="rect">
            <a:avLst/>
          </a:prstGeom>
          <a:noFill/>
          <a:ln>
            <a:noFill/>
          </a:ln>
        </p:spPr>
      </p:pic>
      <p:pic>
        <p:nvPicPr>
          <p:cNvPr id="121" name="Google Shape;121;p21"/>
          <p:cNvPicPr preferRelativeResize="0"/>
          <p:nvPr/>
        </p:nvPicPr>
        <p:blipFill rotWithShape="1">
          <a:blip r:embed="rId4">
            <a:alphaModFix/>
          </a:blip>
          <a:srcRect b="0" l="0" r="0" t="0"/>
          <a:stretch/>
        </p:blipFill>
        <p:spPr>
          <a:xfrm>
            <a:off x="5235416" y="3703895"/>
            <a:ext cx="2770709" cy="1165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ctrTitle"/>
          </p:nvPr>
        </p:nvSpPr>
        <p:spPr>
          <a:xfrm>
            <a:off x="719350" y="531725"/>
            <a:ext cx="6066600" cy="1282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GB"/>
              <a:t>Parcurgeri</a:t>
            </a:r>
            <a:endParaRPr/>
          </a:p>
        </p:txBody>
      </p:sp>
      <p:sp>
        <p:nvSpPr>
          <p:cNvPr id="127" name="Google Shape;127;p22"/>
          <p:cNvSpPr txBox="1"/>
          <p:nvPr>
            <p:ph idx="1" type="subTitle"/>
          </p:nvPr>
        </p:nvSpPr>
        <p:spPr>
          <a:xfrm>
            <a:off x="719350" y="1862585"/>
            <a:ext cx="4242600" cy="73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(BFS)</a:t>
            </a:r>
            <a:endParaRPr/>
          </a:p>
        </p:txBody>
      </p:sp>
      <p:sp>
        <p:nvSpPr>
          <p:cNvPr id="133" name="Google Shape;133;p23"/>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Dat fiind un graf G = (V, E) şi un nod sursă s, </a:t>
            </a:r>
            <a:r>
              <a:rPr b="1" lang="en-GB"/>
              <a:t>căutarea în lăţime</a:t>
            </a:r>
            <a:r>
              <a:rPr lang="en-GB"/>
              <a:t> explorează sistematic muchiile lui G pentru a “descoperi” fiecare nod care este accesibil din s.</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rPr lang="en-GB"/>
              <a:t>De asemenea, algoritmul găsește distanța minimă de la sursa s la toate nodurile din graf.</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1200"/>
              </a:spcAft>
              <a:buSzPts val="17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(BFS)</a:t>
            </a:r>
            <a:endParaRPr/>
          </a:p>
        </p:txBody>
      </p:sp>
      <p:sp>
        <p:nvSpPr>
          <p:cNvPr id="139" name="Google Shape;139;p24"/>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AutoNum type="arabicPeriod"/>
            </a:pPr>
            <a:r>
              <a:rPr lang="en-GB"/>
              <a:t>Se începe explorarea dintr-un nod nevizitat, care se adaugă într-o coadă</a:t>
            </a:r>
            <a:endParaRPr/>
          </a:p>
          <a:p>
            <a:pPr indent="-336550" lvl="0" marL="457200" rtl="0" algn="l">
              <a:lnSpc>
                <a:spcPct val="115000"/>
              </a:lnSpc>
              <a:spcBef>
                <a:spcPts val="1000"/>
              </a:spcBef>
              <a:spcAft>
                <a:spcPts val="0"/>
              </a:spcAft>
              <a:buSzPts val="1700"/>
              <a:buAutoNum type="arabicPeriod"/>
            </a:pPr>
            <a:r>
              <a:rPr lang="en-GB"/>
              <a:t>Cât timp există elemente în coadă</a:t>
            </a:r>
            <a:endParaRPr/>
          </a:p>
          <a:p>
            <a:pPr indent="-304800" lvl="1" marL="914400" rtl="0" algn="l">
              <a:lnSpc>
                <a:spcPct val="115000"/>
              </a:lnSpc>
              <a:spcBef>
                <a:spcPts val="1000"/>
              </a:spcBef>
              <a:spcAft>
                <a:spcPts val="0"/>
              </a:spcAft>
              <a:buSzPts val="1200"/>
              <a:buAutoNum type="alphaLcPeriod"/>
            </a:pPr>
            <a:r>
              <a:rPr lang="en-GB"/>
              <a:t>Se scoate din coadă</a:t>
            </a:r>
            <a:endParaRPr/>
          </a:p>
          <a:p>
            <a:pPr indent="-304800" lvl="1" marL="914400" rtl="0" algn="l">
              <a:lnSpc>
                <a:spcPct val="115000"/>
              </a:lnSpc>
              <a:spcBef>
                <a:spcPts val="1000"/>
              </a:spcBef>
              <a:spcAft>
                <a:spcPts val="0"/>
              </a:spcAft>
              <a:buSzPts val="1200"/>
              <a:buAutoNum type="alphaLcPeriod"/>
            </a:pPr>
            <a:r>
              <a:rPr lang="en-GB"/>
              <a:t>Se pun în coadă toți vecinii nevizitați</a:t>
            </a:r>
            <a:endParaRPr/>
          </a:p>
          <a:p>
            <a:pPr indent="0" lvl="0" marL="0" rtl="0" algn="l">
              <a:lnSpc>
                <a:spcPct val="115000"/>
              </a:lnSpc>
              <a:spcBef>
                <a:spcPts val="1000"/>
              </a:spcBef>
              <a:spcAft>
                <a:spcPts val="1200"/>
              </a:spcAft>
              <a:buSzPts val="17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Exemplu</a:t>
            </a:r>
            <a:endParaRPr/>
          </a:p>
        </p:txBody>
      </p:sp>
      <p:sp>
        <p:nvSpPr>
          <p:cNvPr id="145" name="Google Shape;145;p25"/>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146" name="Google Shape;146;p25"/>
          <p:cNvPicPr preferRelativeResize="0"/>
          <p:nvPr/>
        </p:nvPicPr>
        <p:blipFill rotWithShape="1">
          <a:blip r:embed="rId3">
            <a:alphaModFix/>
          </a:blip>
          <a:srcRect b="0" l="0" r="0" t="0"/>
          <a:stretch/>
        </p:blipFill>
        <p:spPr>
          <a:xfrm>
            <a:off x="4855827" y="1132151"/>
            <a:ext cx="3722074" cy="1496075"/>
          </a:xfrm>
          <a:prstGeom prst="rect">
            <a:avLst/>
          </a:prstGeom>
          <a:noFill/>
          <a:ln>
            <a:noFill/>
          </a:ln>
        </p:spPr>
      </p:pic>
      <p:pic>
        <p:nvPicPr>
          <p:cNvPr id="147" name="Google Shape;147;p25"/>
          <p:cNvPicPr preferRelativeResize="0"/>
          <p:nvPr/>
        </p:nvPicPr>
        <p:blipFill rotWithShape="1">
          <a:blip r:embed="rId4">
            <a:alphaModFix/>
          </a:blip>
          <a:srcRect b="0" l="0" r="0" t="0"/>
          <a:stretch/>
        </p:blipFill>
        <p:spPr>
          <a:xfrm>
            <a:off x="597601" y="1132151"/>
            <a:ext cx="3447499" cy="1496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Exemplu</a:t>
            </a:r>
            <a:endParaRPr/>
          </a:p>
        </p:txBody>
      </p:sp>
      <p:sp>
        <p:nvSpPr>
          <p:cNvPr id="153" name="Google Shape;153;p26"/>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154" name="Google Shape;154;p26"/>
          <p:cNvPicPr preferRelativeResize="0"/>
          <p:nvPr/>
        </p:nvPicPr>
        <p:blipFill rotWithShape="1">
          <a:blip r:embed="rId3">
            <a:alphaModFix/>
          </a:blip>
          <a:srcRect b="0" l="0" r="0" t="0"/>
          <a:stretch/>
        </p:blipFill>
        <p:spPr>
          <a:xfrm>
            <a:off x="597601" y="1132151"/>
            <a:ext cx="3447499" cy="1496075"/>
          </a:xfrm>
          <a:prstGeom prst="rect">
            <a:avLst/>
          </a:prstGeom>
          <a:noFill/>
          <a:ln>
            <a:noFill/>
          </a:ln>
        </p:spPr>
      </p:pic>
      <p:pic>
        <p:nvPicPr>
          <p:cNvPr id="155" name="Google Shape;155;p26"/>
          <p:cNvPicPr preferRelativeResize="0"/>
          <p:nvPr/>
        </p:nvPicPr>
        <p:blipFill rotWithShape="1">
          <a:blip r:embed="rId4">
            <a:alphaModFix/>
          </a:blip>
          <a:srcRect b="0" l="0" r="0" t="0"/>
          <a:stretch/>
        </p:blipFill>
        <p:spPr>
          <a:xfrm>
            <a:off x="4855827" y="1132151"/>
            <a:ext cx="3722074" cy="1496075"/>
          </a:xfrm>
          <a:prstGeom prst="rect">
            <a:avLst/>
          </a:prstGeom>
          <a:noFill/>
          <a:ln>
            <a:noFill/>
          </a:ln>
        </p:spPr>
      </p:pic>
      <p:pic>
        <p:nvPicPr>
          <p:cNvPr id="156" name="Google Shape;156;p26"/>
          <p:cNvPicPr preferRelativeResize="0"/>
          <p:nvPr/>
        </p:nvPicPr>
        <p:blipFill rotWithShape="1">
          <a:blip r:embed="rId5">
            <a:alphaModFix/>
          </a:blip>
          <a:srcRect b="0" l="0" r="0" t="0"/>
          <a:stretch/>
        </p:blipFill>
        <p:spPr>
          <a:xfrm>
            <a:off x="311695" y="2986275"/>
            <a:ext cx="4119873" cy="1496075"/>
          </a:xfrm>
          <a:prstGeom prst="rect">
            <a:avLst/>
          </a:prstGeom>
          <a:noFill/>
          <a:ln>
            <a:noFill/>
          </a:ln>
        </p:spPr>
      </p:pic>
      <p:pic>
        <p:nvPicPr>
          <p:cNvPr id="157" name="Google Shape;157;p26"/>
          <p:cNvPicPr preferRelativeResize="0"/>
          <p:nvPr/>
        </p:nvPicPr>
        <p:blipFill rotWithShape="1">
          <a:blip r:embed="rId6">
            <a:alphaModFix/>
          </a:blip>
          <a:srcRect b="0" l="0" r="0" t="0"/>
          <a:stretch/>
        </p:blipFill>
        <p:spPr>
          <a:xfrm>
            <a:off x="4625684" y="2948620"/>
            <a:ext cx="4206610" cy="1496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Exemplu</a:t>
            </a:r>
            <a:endParaRPr/>
          </a:p>
        </p:txBody>
      </p:sp>
      <p:sp>
        <p:nvSpPr>
          <p:cNvPr id="163" name="Google Shape;163;p27"/>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164" name="Google Shape;164;p27"/>
          <p:cNvPicPr preferRelativeResize="0"/>
          <p:nvPr/>
        </p:nvPicPr>
        <p:blipFill rotWithShape="1">
          <a:blip r:embed="rId3">
            <a:alphaModFix/>
          </a:blip>
          <a:srcRect b="0" l="0" r="0" t="0"/>
          <a:stretch/>
        </p:blipFill>
        <p:spPr>
          <a:xfrm>
            <a:off x="311695" y="943875"/>
            <a:ext cx="4119873" cy="1496075"/>
          </a:xfrm>
          <a:prstGeom prst="rect">
            <a:avLst/>
          </a:prstGeom>
          <a:noFill/>
          <a:ln>
            <a:noFill/>
          </a:ln>
        </p:spPr>
      </p:pic>
      <p:pic>
        <p:nvPicPr>
          <p:cNvPr id="165" name="Google Shape;165;p27"/>
          <p:cNvPicPr preferRelativeResize="0"/>
          <p:nvPr/>
        </p:nvPicPr>
        <p:blipFill rotWithShape="1">
          <a:blip r:embed="rId4">
            <a:alphaModFix/>
          </a:blip>
          <a:srcRect b="0" l="0" r="0" t="0"/>
          <a:stretch/>
        </p:blipFill>
        <p:spPr>
          <a:xfrm>
            <a:off x="4625684" y="906220"/>
            <a:ext cx="4206610" cy="1496075"/>
          </a:xfrm>
          <a:prstGeom prst="rect">
            <a:avLst/>
          </a:prstGeom>
          <a:noFill/>
          <a:ln>
            <a:noFill/>
          </a:ln>
        </p:spPr>
      </p:pic>
      <p:pic>
        <p:nvPicPr>
          <p:cNvPr id="166" name="Google Shape;166;p27"/>
          <p:cNvPicPr preferRelativeResize="0"/>
          <p:nvPr/>
        </p:nvPicPr>
        <p:blipFill rotWithShape="1">
          <a:blip r:embed="rId5">
            <a:alphaModFix/>
          </a:blip>
          <a:srcRect b="0" l="0" r="0" t="0"/>
          <a:stretch/>
        </p:blipFill>
        <p:spPr>
          <a:xfrm>
            <a:off x="311690" y="3097500"/>
            <a:ext cx="4286831" cy="1496075"/>
          </a:xfrm>
          <a:prstGeom prst="rect">
            <a:avLst/>
          </a:prstGeom>
          <a:noFill/>
          <a:ln>
            <a:noFill/>
          </a:ln>
        </p:spPr>
      </p:pic>
      <p:pic>
        <p:nvPicPr>
          <p:cNvPr id="167" name="Google Shape;167;p27"/>
          <p:cNvPicPr preferRelativeResize="0"/>
          <p:nvPr/>
        </p:nvPicPr>
        <p:blipFill rotWithShape="1">
          <a:blip r:embed="rId6">
            <a:alphaModFix/>
          </a:blip>
          <a:srcRect b="0" l="0" r="0" t="0"/>
          <a:stretch/>
        </p:blipFill>
        <p:spPr>
          <a:xfrm>
            <a:off x="4691549" y="3007125"/>
            <a:ext cx="4170875" cy="1496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Exemplu</a:t>
            </a:r>
            <a:endParaRPr/>
          </a:p>
        </p:txBody>
      </p:sp>
      <p:sp>
        <p:nvSpPr>
          <p:cNvPr id="173" name="Google Shape;173;p28"/>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174" name="Google Shape;174;p28"/>
          <p:cNvPicPr preferRelativeResize="0"/>
          <p:nvPr/>
        </p:nvPicPr>
        <p:blipFill rotWithShape="1">
          <a:blip r:embed="rId3">
            <a:alphaModFix/>
          </a:blip>
          <a:srcRect b="0" l="0" r="0" t="0"/>
          <a:stretch/>
        </p:blipFill>
        <p:spPr>
          <a:xfrm>
            <a:off x="1046398" y="976447"/>
            <a:ext cx="3305841" cy="1162454"/>
          </a:xfrm>
          <a:prstGeom prst="rect">
            <a:avLst/>
          </a:prstGeom>
          <a:noFill/>
          <a:ln>
            <a:noFill/>
          </a:ln>
        </p:spPr>
      </p:pic>
      <p:pic>
        <p:nvPicPr>
          <p:cNvPr id="175" name="Google Shape;175;p28"/>
          <p:cNvPicPr preferRelativeResize="0"/>
          <p:nvPr/>
        </p:nvPicPr>
        <p:blipFill rotWithShape="1">
          <a:blip r:embed="rId4">
            <a:alphaModFix/>
          </a:blip>
          <a:srcRect b="0" l="0" r="0" t="0"/>
          <a:stretch/>
        </p:blipFill>
        <p:spPr>
          <a:xfrm>
            <a:off x="4881178" y="906225"/>
            <a:ext cx="3216419" cy="1162453"/>
          </a:xfrm>
          <a:prstGeom prst="rect">
            <a:avLst/>
          </a:prstGeom>
          <a:noFill/>
          <a:ln>
            <a:noFill/>
          </a:ln>
        </p:spPr>
      </p:pic>
      <p:pic>
        <p:nvPicPr>
          <p:cNvPr id="176" name="Google Shape;176;p28"/>
          <p:cNvPicPr preferRelativeResize="0"/>
          <p:nvPr/>
        </p:nvPicPr>
        <p:blipFill rotWithShape="1">
          <a:blip r:embed="rId5">
            <a:alphaModFix/>
          </a:blip>
          <a:srcRect b="0" l="0" r="0" t="3400"/>
          <a:stretch/>
        </p:blipFill>
        <p:spPr>
          <a:xfrm>
            <a:off x="1157925" y="2507750"/>
            <a:ext cx="3082801" cy="1122925"/>
          </a:xfrm>
          <a:prstGeom prst="rect">
            <a:avLst/>
          </a:prstGeom>
          <a:noFill/>
          <a:ln>
            <a:noFill/>
          </a:ln>
        </p:spPr>
      </p:pic>
      <p:pic>
        <p:nvPicPr>
          <p:cNvPr id="177" name="Google Shape;177;p28"/>
          <p:cNvPicPr preferRelativeResize="0"/>
          <p:nvPr/>
        </p:nvPicPr>
        <p:blipFill rotWithShape="1">
          <a:blip r:embed="rId6">
            <a:alphaModFix/>
          </a:blip>
          <a:srcRect b="0" l="0" r="0" t="3400"/>
          <a:stretch/>
        </p:blipFill>
        <p:spPr>
          <a:xfrm>
            <a:off x="5027675" y="2507750"/>
            <a:ext cx="2727651" cy="1122925"/>
          </a:xfrm>
          <a:prstGeom prst="rect">
            <a:avLst/>
          </a:prstGeom>
          <a:noFill/>
          <a:ln>
            <a:noFill/>
          </a:ln>
        </p:spPr>
      </p:pic>
      <p:pic>
        <p:nvPicPr>
          <p:cNvPr id="178" name="Google Shape;178;p28"/>
          <p:cNvPicPr preferRelativeResize="0"/>
          <p:nvPr/>
        </p:nvPicPr>
        <p:blipFill rotWithShape="1">
          <a:blip r:embed="rId7">
            <a:alphaModFix/>
          </a:blip>
          <a:srcRect b="0" l="0" r="0" t="0"/>
          <a:stretch/>
        </p:blipFill>
        <p:spPr>
          <a:xfrm>
            <a:off x="3191885" y="3737044"/>
            <a:ext cx="2760240" cy="1162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Algoritm</a:t>
            </a:r>
            <a:endParaRPr/>
          </a:p>
        </p:txBody>
      </p:sp>
      <p:sp>
        <p:nvSpPr>
          <p:cNvPr id="184" name="Google Shape;184;p29"/>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Să scriem împreună pseudocodul:</a:t>
            </a:r>
            <a:endParaRPr/>
          </a:p>
          <a:p>
            <a:pPr indent="0" lvl="0" marL="0" rtl="0" algn="l">
              <a:lnSpc>
                <a:spcPct val="115000"/>
              </a:lnSpc>
              <a:spcBef>
                <a:spcPts val="1200"/>
              </a:spcBef>
              <a:spcAft>
                <a:spcPts val="1200"/>
              </a:spcAft>
              <a:buSzPts val="17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Algoritm</a:t>
            </a:r>
            <a:endParaRPr/>
          </a:p>
        </p:txBody>
      </p:sp>
      <p:sp>
        <p:nvSpPr>
          <p:cNvPr id="190" name="Google Shape;190;p30"/>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Algoritm Cormen: </a:t>
            </a:r>
            <a:endParaRPr/>
          </a:p>
          <a:p>
            <a:pPr indent="0" lvl="0" marL="0" rtl="0" algn="l">
              <a:lnSpc>
                <a:spcPct val="115000"/>
              </a:lnSpc>
              <a:spcBef>
                <a:spcPts val="1200"/>
              </a:spcBef>
              <a:spcAft>
                <a:spcPts val="1200"/>
              </a:spcAft>
              <a:buSzPts val="1700"/>
              <a:buNone/>
            </a:pPr>
            <a:r>
              <a:rPr lang="en-GB"/>
              <a:t>P</a:t>
            </a:r>
            <a:r>
              <a:rPr baseline="-25000" lang="en-GB" sz="2300"/>
              <a:t>i </a:t>
            </a:r>
            <a:r>
              <a:rPr lang="en-GB"/>
              <a:t>→ tată</a:t>
            </a:r>
            <a:endParaRPr/>
          </a:p>
        </p:txBody>
      </p:sp>
      <p:pic>
        <p:nvPicPr>
          <p:cNvPr id="191" name="Google Shape;191;p30"/>
          <p:cNvPicPr preferRelativeResize="0"/>
          <p:nvPr/>
        </p:nvPicPr>
        <p:blipFill rotWithShape="1">
          <a:blip r:embed="rId3">
            <a:alphaModFix/>
          </a:blip>
          <a:srcRect b="0" l="0" r="0" t="0"/>
          <a:stretch/>
        </p:blipFill>
        <p:spPr>
          <a:xfrm>
            <a:off x="3857326" y="906213"/>
            <a:ext cx="3914549" cy="4146624"/>
          </a:xfrm>
          <a:prstGeom prst="rect">
            <a:avLst/>
          </a:prstGeom>
          <a:noFill/>
          <a:ln>
            <a:noFill/>
          </a:ln>
        </p:spPr>
      </p:pic>
      <p:grpSp>
        <p:nvGrpSpPr>
          <p:cNvPr id="192" name="Google Shape;192;p30"/>
          <p:cNvGrpSpPr/>
          <p:nvPr/>
        </p:nvGrpSpPr>
        <p:grpSpPr>
          <a:xfrm>
            <a:off x="670730" y="1707108"/>
            <a:ext cx="2527356" cy="2663372"/>
            <a:chOff x="670730" y="1707108"/>
            <a:chExt cx="2527356" cy="2663372"/>
          </a:xfrm>
        </p:grpSpPr>
        <p:sp>
          <p:nvSpPr>
            <p:cNvPr id="193" name="Google Shape;193;p30"/>
            <p:cNvSpPr/>
            <p:nvPr/>
          </p:nvSpPr>
          <p:spPr>
            <a:xfrm>
              <a:off x="1730375" y="3115727"/>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a:t>
              </a:r>
              <a:endParaRPr b="0" i="0" sz="1400" u="none" cap="none" strike="noStrike">
                <a:solidFill>
                  <a:srgbClr val="000000"/>
                </a:solidFill>
                <a:latin typeface="Arial"/>
                <a:ea typeface="Arial"/>
                <a:cs typeface="Arial"/>
                <a:sym typeface="Arial"/>
              </a:endParaRPr>
            </a:p>
          </p:txBody>
        </p:sp>
        <p:sp>
          <p:nvSpPr>
            <p:cNvPr id="194" name="Google Shape;194;p30"/>
            <p:cNvSpPr/>
            <p:nvPr/>
          </p:nvSpPr>
          <p:spPr>
            <a:xfrm>
              <a:off x="1156794" y="238276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a:t>
              </a:r>
              <a:endParaRPr b="0" i="0" sz="1400" u="none" cap="none" strike="noStrike">
                <a:solidFill>
                  <a:srgbClr val="000000"/>
                </a:solidFill>
                <a:latin typeface="Arial"/>
                <a:ea typeface="Arial"/>
                <a:cs typeface="Arial"/>
                <a:sym typeface="Arial"/>
              </a:endParaRPr>
            </a:p>
          </p:txBody>
        </p:sp>
        <p:sp>
          <p:nvSpPr>
            <p:cNvPr id="195" name="Google Shape;195;p30"/>
            <p:cNvSpPr/>
            <p:nvPr/>
          </p:nvSpPr>
          <p:spPr>
            <a:xfrm>
              <a:off x="2304105" y="238275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w</a:t>
              </a:r>
              <a:endParaRPr b="0" i="0" sz="1400" u="none" cap="none" strike="noStrike">
                <a:solidFill>
                  <a:srgbClr val="000000"/>
                </a:solidFill>
                <a:latin typeface="Arial"/>
                <a:ea typeface="Arial"/>
                <a:cs typeface="Arial"/>
                <a:sym typeface="Arial"/>
              </a:endParaRPr>
            </a:p>
          </p:txBody>
        </p:sp>
        <p:sp>
          <p:nvSpPr>
            <p:cNvPr id="196" name="Google Shape;196;p30"/>
            <p:cNvSpPr/>
            <p:nvPr/>
          </p:nvSpPr>
          <p:spPr>
            <a:xfrm>
              <a:off x="670730" y="3096664"/>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197" name="Google Shape;197;p30"/>
            <p:cNvSpPr/>
            <p:nvPr/>
          </p:nvSpPr>
          <p:spPr>
            <a:xfrm>
              <a:off x="2845586" y="31156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198" name="Google Shape;198;p30"/>
            <p:cNvSpPr/>
            <p:nvPr/>
          </p:nvSpPr>
          <p:spPr>
            <a:xfrm>
              <a:off x="1675113" y="1707108"/>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cxnSp>
          <p:nvCxnSpPr>
            <p:cNvPr id="199" name="Google Shape;199;p30"/>
            <p:cNvCxnSpPr>
              <a:stCxn id="198" idx="5"/>
              <a:endCxn id="195" idx="1"/>
            </p:cNvCxnSpPr>
            <p:nvPr/>
          </p:nvCxnSpPr>
          <p:spPr>
            <a:xfrm>
              <a:off x="1975991" y="2029751"/>
              <a:ext cx="379800" cy="408300"/>
            </a:xfrm>
            <a:prstGeom prst="straightConnector1">
              <a:avLst/>
            </a:prstGeom>
            <a:noFill/>
            <a:ln cap="flat" cmpd="sng" w="19050">
              <a:solidFill>
                <a:srgbClr val="666666"/>
              </a:solidFill>
              <a:prstDash val="solid"/>
              <a:round/>
              <a:headEnd len="sm" w="sm" type="none"/>
              <a:tailEnd len="sm" w="sm" type="none"/>
            </a:ln>
          </p:spPr>
        </p:cxnSp>
        <p:cxnSp>
          <p:nvCxnSpPr>
            <p:cNvPr id="200" name="Google Shape;200;p30"/>
            <p:cNvCxnSpPr>
              <a:stCxn id="198" idx="3"/>
              <a:endCxn id="194" idx="7"/>
            </p:cNvCxnSpPr>
            <p:nvPr/>
          </p:nvCxnSpPr>
          <p:spPr>
            <a:xfrm flipH="1">
              <a:off x="1457635" y="2029751"/>
              <a:ext cx="269100" cy="408300"/>
            </a:xfrm>
            <a:prstGeom prst="straightConnector1">
              <a:avLst/>
            </a:prstGeom>
            <a:noFill/>
            <a:ln cap="flat" cmpd="sng" w="19050">
              <a:solidFill>
                <a:srgbClr val="666666"/>
              </a:solidFill>
              <a:prstDash val="solid"/>
              <a:round/>
              <a:headEnd len="sm" w="sm" type="none"/>
              <a:tailEnd len="sm" w="sm" type="none"/>
            </a:ln>
          </p:spPr>
        </p:cxnSp>
        <p:cxnSp>
          <p:nvCxnSpPr>
            <p:cNvPr id="201" name="Google Shape;201;p30"/>
            <p:cNvCxnSpPr>
              <a:stCxn id="193" idx="7"/>
              <a:endCxn id="195" idx="3"/>
            </p:cNvCxnSpPr>
            <p:nvPr/>
          </p:nvCxnSpPr>
          <p:spPr>
            <a:xfrm flipH="1" rot="10800000">
              <a:off x="2031253" y="2705484"/>
              <a:ext cx="324600" cy="465600"/>
            </a:xfrm>
            <a:prstGeom prst="straightConnector1">
              <a:avLst/>
            </a:prstGeom>
            <a:noFill/>
            <a:ln cap="flat" cmpd="sng" w="19050">
              <a:solidFill>
                <a:srgbClr val="666666"/>
              </a:solidFill>
              <a:prstDash val="solid"/>
              <a:round/>
              <a:headEnd len="sm" w="sm" type="none"/>
              <a:tailEnd len="sm" w="sm" type="none"/>
            </a:ln>
          </p:spPr>
        </p:cxnSp>
        <p:cxnSp>
          <p:nvCxnSpPr>
            <p:cNvPr id="202" name="Google Shape;202;p30"/>
            <p:cNvCxnSpPr>
              <a:stCxn id="196" idx="7"/>
              <a:endCxn id="194" idx="3"/>
            </p:cNvCxnSpPr>
            <p:nvPr/>
          </p:nvCxnSpPr>
          <p:spPr>
            <a:xfrm flipH="1" rot="10800000">
              <a:off x="971608" y="2705321"/>
              <a:ext cx="236700" cy="446700"/>
            </a:xfrm>
            <a:prstGeom prst="straightConnector1">
              <a:avLst/>
            </a:prstGeom>
            <a:noFill/>
            <a:ln cap="flat" cmpd="sng" w="19050">
              <a:solidFill>
                <a:srgbClr val="666666"/>
              </a:solidFill>
              <a:prstDash val="solid"/>
              <a:round/>
              <a:headEnd len="sm" w="sm" type="none"/>
              <a:tailEnd len="sm" w="sm" type="none"/>
            </a:ln>
          </p:spPr>
        </p:cxnSp>
        <p:cxnSp>
          <p:nvCxnSpPr>
            <p:cNvPr id="203" name="Google Shape;203;p30"/>
            <p:cNvCxnSpPr>
              <a:stCxn id="193" idx="4"/>
              <a:endCxn id="204" idx="0"/>
            </p:cNvCxnSpPr>
            <p:nvPr/>
          </p:nvCxnSpPr>
          <p:spPr>
            <a:xfrm>
              <a:off x="1906625" y="3493727"/>
              <a:ext cx="0" cy="498900"/>
            </a:xfrm>
            <a:prstGeom prst="straightConnector1">
              <a:avLst/>
            </a:prstGeom>
            <a:noFill/>
            <a:ln cap="flat" cmpd="sng" w="19050">
              <a:solidFill>
                <a:srgbClr val="666666"/>
              </a:solidFill>
              <a:prstDash val="solid"/>
              <a:round/>
              <a:headEnd len="sm" w="sm" type="none"/>
              <a:tailEnd len="sm" w="sm" type="none"/>
            </a:ln>
          </p:spPr>
        </p:cxnSp>
        <p:cxnSp>
          <p:nvCxnSpPr>
            <p:cNvPr id="205" name="Google Shape;205;p30"/>
            <p:cNvCxnSpPr>
              <a:stCxn id="195" idx="5"/>
              <a:endCxn id="197" idx="1"/>
            </p:cNvCxnSpPr>
            <p:nvPr/>
          </p:nvCxnSpPr>
          <p:spPr>
            <a:xfrm>
              <a:off x="2604983" y="2705393"/>
              <a:ext cx="292200" cy="465600"/>
            </a:xfrm>
            <a:prstGeom prst="straightConnector1">
              <a:avLst/>
            </a:prstGeom>
            <a:noFill/>
            <a:ln cap="flat" cmpd="sng" w="19050">
              <a:solidFill>
                <a:srgbClr val="666666"/>
              </a:solidFill>
              <a:prstDash val="solid"/>
              <a:round/>
              <a:headEnd len="sm" w="sm" type="none"/>
              <a:tailEnd len="sm" w="sm" type="none"/>
            </a:ln>
          </p:spPr>
        </p:cxnSp>
        <p:cxnSp>
          <p:nvCxnSpPr>
            <p:cNvPr id="206" name="Google Shape;206;p30"/>
            <p:cNvCxnSpPr>
              <a:stCxn id="197" idx="4"/>
              <a:endCxn id="207" idx="0"/>
            </p:cNvCxnSpPr>
            <p:nvPr/>
          </p:nvCxnSpPr>
          <p:spPr>
            <a:xfrm>
              <a:off x="3021836" y="3493680"/>
              <a:ext cx="0" cy="498900"/>
            </a:xfrm>
            <a:prstGeom prst="straightConnector1">
              <a:avLst/>
            </a:prstGeom>
            <a:noFill/>
            <a:ln cap="flat" cmpd="sng" w="19050">
              <a:solidFill>
                <a:srgbClr val="666666"/>
              </a:solidFill>
              <a:prstDash val="solid"/>
              <a:round/>
              <a:headEnd len="sm" w="sm" type="none"/>
              <a:tailEnd len="sm" w="sm" type="none"/>
            </a:ln>
          </p:spPr>
        </p:cxnSp>
        <p:sp>
          <p:nvSpPr>
            <p:cNvPr id="204" name="Google Shape;204;p30"/>
            <p:cNvSpPr/>
            <p:nvPr/>
          </p:nvSpPr>
          <p:spPr>
            <a:xfrm>
              <a:off x="1730386" y="39924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u</a:t>
              </a:r>
              <a:endParaRPr b="0" i="0" sz="1400" u="none" cap="none" strike="noStrike">
                <a:solidFill>
                  <a:srgbClr val="000000"/>
                </a:solidFill>
                <a:latin typeface="Arial"/>
                <a:ea typeface="Arial"/>
                <a:cs typeface="Arial"/>
                <a:sym typeface="Arial"/>
              </a:endParaRPr>
            </a:p>
          </p:txBody>
        </p:sp>
        <p:sp>
          <p:nvSpPr>
            <p:cNvPr id="207" name="Google Shape;207;p30"/>
            <p:cNvSpPr/>
            <p:nvPr/>
          </p:nvSpPr>
          <p:spPr>
            <a:xfrm>
              <a:off x="2845586" y="39924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Complexitate</a:t>
            </a:r>
            <a:endParaRPr/>
          </a:p>
        </p:txBody>
      </p:sp>
      <p:sp>
        <p:nvSpPr>
          <p:cNvPr id="213" name="Google Shape;213;p31"/>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Care este complexitatea algoritmului?</a:t>
            </a:r>
            <a:endParaRPr/>
          </a:p>
          <a:p>
            <a:pPr indent="0" lvl="0" marL="0" rtl="0" algn="l">
              <a:lnSpc>
                <a:spcPct val="115000"/>
              </a:lnSpc>
              <a:spcBef>
                <a:spcPts val="1200"/>
              </a:spcBef>
              <a:spcAft>
                <a:spcPts val="1200"/>
              </a:spcAft>
              <a:buSzPts val="17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Complexitate</a:t>
            </a:r>
            <a:endParaRPr/>
          </a:p>
        </p:txBody>
      </p:sp>
      <p:sp>
        <p:nvSpPr>
          <p:cNvPr id="219" name="Google Shape;219;p32"/>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Care este complexitatea algoritmului?</a:t>
            </a:r>
            <a:endParaRPr/>
          </a:p>
          <a:p>
            <a:pPr indent="-336550" lvl="0" marL="457200" rtl="0" algn="l">
              <a:lnSpc>
                <a:spcPct val="115000"/>
              </a:lnSpc>
              <a:spcBef>
                <a:spcPts val="1200"/>
              </a:spcBef>
              <a:spcAft>
                <a:spcPts val="0"/>
              </a:spcAft>
              <a:buSzPts val="1700"/>
              <a:buChar char="⏵"/>
            </a:pPr>
            <a:r>
              <a:rPr lang="en-GB"/>
              <a:t>O(V+E) sau O(n+m)</a:t>
            </a:r>
            <a:endParaRPr/>
          </a:p>
          <a:p>
            <a:pPr indent="-304800" lvl="1" marL="914400" rtl="0" algn="l">
              <a:lnSpc>
                <a:spcPct val="115000"/>
              </a:lnSpc>
              <a:spcBef>
                <a:spcPts val="0"/>
              </a:spcBef>
              <a:spcAft>
                <a:spcPts val="0"/>
              </a:spcAft>
              <a:buSzPts val="1200"/>
              <a:buChar char="○"/>
            </a:pPr>
            <a:r>
              <a:rPr lang="en-GB"/>
              <a:t>unde </a:t>
            </a:r>
            <a:endParaRPr/>
          </a:p>
          <a:p>
            <a:pPr indent="-304800" lvl="2" marL="1371600" rtl="0" algn="l">
              <a:lnSpc>
                <a:spcPct val="115000"/>
              </a:lnSpc>
              <a:spcBef>
                <a:spcPts val="0"/>
              </a:spcBef>
              <a:spcAft>
                <a:spcPts val="0"/>
              </a:spcAft>
              <a:buSzPts val="1200"/>
              <a:buChar char="■"/>
            </a:pPr>
            <a:r>
              <a:rPr lang="en-GB"/>
              <a:t>V = n = numărul de noduri</a:t>
            </a:r>
            <a:endParaRPr/>
          </a:p>
          <a:p>
            <a:pPr indent="-304800" lvl="2" marL="1371600" rtl="0" algn="l">
              <a:lnSpc>
                <a:spcPct val="115000"/>
              </a:lnSpc>
              <a:spcBef>
                <a:spcPts val="0"/>
              </a:spcBef>
              <a:spcAft>
                <a:spcPts val="0"/>
              </a:spcAft>
              <a:buSzPts val="1200"/>
              <a:buChar char="■"/>
            </a:pPr>
            <a:r>
              <a:rPr lang="en-GB"/>
              <a:t>E = m = numărul de muchii</a:t>
            </a:r>
            <a:endParaRPr/>
          </a:p>
          <a:p>
            <a:pPr indent="0" lvl="0" marL="0" rtl="0" algn="l">
              <a:lnSpc>
                <a:spcPct val="115000"/>
              </a:lnSpc>
              <a:spcBef>
                <a:spcPts val="1200"/>
              </a:spcBef>
              <a:spcAft>
                <a:spcPts val="1200"/>
              </a:spcAft>
              <a:buSzPts val="17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Aplicații</a:t>
            </a:r>
            <a:endParaRPr/>
          </a:p>
        </p:txBody>
      </p:sp>
      <p:sp>
        <p:nvSpPr>
          <p:cNvPr id="225" name="Google Shape;225;p33"/>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b="1" lang="en-GB"/>
              <a:t>Ieșirea din labirint într-un număr minim de pași</a:t>
            </a:r>
            <a:endParaRPr b="1"/>
          </a:p>
          <a:p>
            <a:pPr indent="0" lvl="0" marL="0" rtl="0" algn="l">
              <a:lnSpc>
                <a:spcPct val="115000"/>
              </a:lnSpc>
              <a:spcBef>
                <a:spcPts val="1200"/>
              </a:spcBef>
              <a:spcAft>
                <a:spcPts val="0"/>
              </a:spcAft>
              <a:buSzPts val="1700"/>
              <a:buNone/>
            </a:pPr>
            <a:r>
              <a:rPr lang="en-GB"/>
              <a:t>0 0 → punct de pornire</a:t>
            </a:r>
            <a:endParaRPr/>
          </a:p>
          <a:p>
            <a:pPr indent="0" lvl="0" marL="0" rtl="0" algn="l">
              <a:lnSpc>
                <a:spcPct val="115000"/>
              </a:lnSpc>
              <a:spcBef>
                <a:spcPts val="1200"/>
              </a:spcBef>
              <a:spcAft>
                <a:spcPts val="0"/>
              </a:spcAft>
              <a:buSzPts val="1700"/>
              <a:buNone/>
            </a:pPr>
            <a:r>
              <a:rPr lang="en-GB"/>
              <a:t>0 7 → punct de ieșire</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rPr lang="en-GB" sz="1100">
                <a:solidFill>
                  <a:srgbClr val="FF0000"/>
                </a:solidFill>
                <a:highlight>
                  <a:srgbClr val="EFEFEF"/>
                </a:highlight>
                <a:latin typeface="Roboto Mono"/>
                <a:ea typeface="Roboto Mono"/>
                <a:cs typeface="Roboto Mono"/>
                <a:sym typeface="Roboto Mono"/>
              </a:rPr>
              <a:t>0</a:t>
            </a:r>
            <a:r>
              <a:rPr lang="en-GB" sz="1100">
                <a:highlight>
                  <a:srgbClr val="EFEFEF"/>
                </a:highlight>
                <a:latin typeface="Roboto Mono"/>
                <a:ea typeface="Roboto Mono"/>
                <a:cs typeface="Roboto Mono"/>
                <a:sym typeface="Roboto Mono"/>
              </a:rPr>
              <a:t>  0  0  0  0  0 -1 </a:t>
            </a:r>
            <a:r>
              <a:rPr lang="en-GB" sz="1100">
                <a:solidFill>
                  <a:srgbClr val="E69138"/>
                </a:solidFill>
                <a:highlight>
                  <a:srgbClr val="EFEFEF"/>
                </a:highlight>
                <a:latin typeface="Roboto Mono"/>
                <a:ea typeface="Roboto Mono"/>
                <a:cs typeface="Roboto Mono"/>
                <a:sym typeface="Roboto Mono"/>
              </a:rPr>
              <a:t>0</a:t>
            </a:r>
            <a:endParaRPr sz="1100">
              <a:solidFill>
                <a:srgbClr val="E69138"/>
              </a:solidFill>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0 -1 -1 -1 -1 -1 -1 0</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0  0  0  0  0  0 -1 0</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-1 -1 -1 -1 -1 0 -1 0</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1200"/>
              </a:spcAft>
              <a:buSzPts val="1700"/>
              <a:buNone/>
            </a:pPr>
            <a:r>
              <a:rPr lang="en-GB" sz="1100">
                <a:highlight>
                  <a:srgbClr val="EFEFEF"/>
                </a:highlight>
                <a:latin typeface="Roboto Mono"/>
                <a:ea typeface="Roboto Mono"/>
                <a:cs typeface="Roboto Mono"/>
                <a:sym typeface="Roboto Mono"/>
              </a:rPr>
              <a:t>0   0  0  0 -1 0  0 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Aplicații</a:t>
            </a:r>
            <a:endParaRPr/>
          </a:p>
        </p:txBody>
      </p:sp>
      <p:sp>
        <p:nvSpPr>
          <p:cNvPr id="231" name="Google Shape;231;p34"/>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b="1" lang="en-GB"/>
              <a:t>Ieșirea din labirint într-un număr minim de pași</a:t>
            </a:r>
            <a:endParaRPr b="1"/>
          </a:p>
          <a:p>
            <a:pPr indent="0" lvl="0" marL="0" rtl="0" algn="l">
              <a:lnSpc>
                <a:spcPct val="115000"/>
              </a:lnSpc>
              <a:spcBef>
                <a:spcPts val="1200"/>
              </a:spcBef>
              <a:spcAft>
                <a:spcPts val="0"/>
              </a:spcAft>
              <a:buSzPts val="1700"/>
              <a:buNone/>
            </a:pPr>
            <a:r>
              <a:rPr lang="en-GB"/>
              <a:t>0 0 → punct de pornire</a:t>
            </a:r>
            <a:endParaRPr/>
          </a:p>
          <a:p>
            <a:pPr indent="0" lvl="0" marL="0" rtl="0" algn="l">
              <a:lnSpc>
                <a:spcPct val="115000"/>
              </a:lnSpc>
              <a:spcBef>
                <a:spcPts val="1200"/>
              </a:spcBef>
              <a:spcAft>
                <a:spcPts val="0"/>
              </a:spcAft>
              <a:buSzPts val="1700"/>
              <a:buNone/>
            </a:pPr>
            <a:r>
              <a:rPr lang="en-GB"/>
              <a:t>0 7 → punct de ieșire</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0  1  2  3  4  5 -1 15</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1 -1 -1 -1 -1 -1 -1 14</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2  3  4  5  6  7 -1 13</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0"/>
              </a:spcAft>
              <a:buSzPts val="1700"/>
              <a:buNone/>
            </a:pPr>
            <a:r>
              <a:rPr lang="en-GB" sz="1100">
                <a:highlight>
                  <a:srgbClr val="EFEFEF"/>
                </a:highlight>
                <a:latin typeface="Roboto Mono"/>
                <a:ea typeface="Roboto Mono"/>
                <a:cs typeface="Roboto Mono"/>
                <a:sym typeface="Roboto Mono"/>
              </a:rPr>
              <a:t>-1 -1 -1 -1 -1 8 -1 12</a:t>
            </a:r>
            <a:endParaRPr sz="1100">
              <a:highlight>
                <a:srgbClr val="EFEFEF"/>
              </a:highlight>
              <a:latin typeface="Roboto Mono"/>
              <a:ea typeface="Roboto Mono"/>
              <a:cs typeface="Roboto Mono"/>
              <a:sym typeface="Roboto Mono"/>
            </a:endParaRPr>
          </a:p>
          <a:p>
            <a:pPr indent="0" lvl="0" marL="0" rtl="0" algn="l">
              <a:lnSpc>
                <a:spcPct val="115000"/>
              </a:lnSpc>
              <a:spcBef>
                <a:spcPts val="1200"/>
              </a:spcBef>
              <a:spcAft>
                <a:spcPts val="1200"/>
              </a:spcAft>
              <a:buSzPts val="1700"/>
              <a:buNone/>
            </a:pPr>
            <a:r>
              <a:rPr lang="en-GB" sz="1100">
                <a:highlight>
                  <a:srgbClr val="EFEFEF"/>
                </a:highlight>
                <a:latin typeface="Roboto Mono"/>
                <a:ea typeface="Roboto Mono"/>
                <a:cs typeface="Roboto Mono"/>
                <a:sym typeface="Roboto Mono"/>
              </a:rPr>
              <a:t>0  0  0  0 -1 9  10 11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lățime - Aplicații</a:t>
            </a:r>
            <a:endParaRPr/>
          </a:p>
        </p:txBody>
      </p:sp>
      <p:sp>
        <p:nvSpPr>
          <p:cNvPr id="237" name="Google Shape;237;p35"/>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b="1" lang="en-GB"/>
              <a:t>Drum de lungime minimă a calului pe tabla de șah</a:t>
            </a:r>
            <a:endParaRPr b="1"/>
          </a:p>
          <a:p>
            <a:pPr indent="0" lvl="0" marL="0" rtl="0" algn="l">
              <a:lnSpc>
                <a:spcPct val="115000"/>
              </a:lnSpc>
              <a:spcBef>
                <a:spcPts val="1200"/>
              </a:spcBef>
              <a:spcAft>
                <a:spcPts val="1200"/>
              </a:spcAft>
              <a:buSzPts val="1700"/>
              <a:buNone/>
            </a:pPr>
            <a:r>
              <a:t/>
            </a:r>
            <a:endParaRPr/>
          </a:p>
        </p:txBody>
      </p:sp>
      <p:pic>
        <p:nvPicPr>
          <p:cNvPr id="238" name="Google Shape;238;p35"/>
          <p:cNvPicPr preferRelativeResize="0"/>
          <p:nvPr/>
        </p:nvPicPr>
        <p:blipFill rotWithShape="1">
          <a:blip r:embed="rId3">
            <a:alphaModFix/>
          </a:blip>
          <a:srcRect b="0" l="0" r="0" t="0"/>
          <a:stretch/>
        </p:blipFill>
        <p:spPr>
          <a:xfrm>
            <a:off x="3024563" y="1521925"/>
            <a:ext cx="3094865" cy="3081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(DFS)</a:t>
            </a:r>
            <a:endParaRPr/>
          </a:p>
        </p:txBody>
      </p:sp>
      <p:sp>
        <p:nvSpPr>
          <p:cNvPr id="244" name="Google Shape;244;p36"/>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AutoNum type="arabicPeriod"/>
            </a:pPr>
            <a:r>
              <a:rPr lang="en-GB"/>
              <a:t>Se începe explorarea dintr-un nod nevizitat</a:t>
            </a:r>
            <a:endParaRPr/>
          </a:p>
          <a:p>
            <a:pPr indent="-336550" lvl="0" marL="457200" rtl="0" algn="l">
              <a:lnSpc>
                <a:spcPct val="115000"/>
              </a:lnSpc>
              <a:spcBef>
                <a:spcPts val="1000"/>
              </a:spcBef>
              <a:spcAft>
                <a:spcPts val="0"/>
              </a:spcAft>
              <a:buSzPts val="1700"/>
              <a:buAutoNum type="arabicPeriod"/>
            </a:pPr>
            <a:r>
              <a:rPr lang="en-GB"/>
              <a:t>Se caută un vecin nevizitat, care devine nodul curent.</a:t>
            </a:r>
            <a:br>
              <a:rPr lang="en-GB"/>
            </a:br>
            <a:r>
              <a:rPr lang="en-GB"/>
              <a:t>Cât timp nodul curent are un vecin nevizitat, repetăm pasul 2 (intrăm în adâncime)</a:t>
            </a:r>
            <a:endParaRPr/>
          </a:p>
          <a:p>
            <a:pPr indent="-336550" lvl="0" marL="457200" rtl="0" algn="l">
              <a:lnSpc>
                <a:spcPct val="115000"/>
              </a:lnSpc>
              <a:spcBef>
                <a:spcPts val="1000"/>
              </a:spcBef>
              <a:spcAft>
                <a:spcPts val="0"/>
              </a:spcAft>
              <a:buSzPts val="1700"/>
              <a:buAutoNum type="arabicPeriod"/>
            </a:pPr>
            <a:r>
              <a:rPr lang="en-GB"/>
              <a:t>Când nodul curent nu are niciun vecin nevizitat, ne întoarcem la strămoșii lui (tatăl, bunicul etc), până găsim un nod care are vecini nevizitați și reluăm pasul 2</a:t>
            </a:r>
            <a:endParaRPr/>
          </a:p>
          <a:p>
            <a:pPr indent="-336550" lvl="0" marL="457200" rtl="0" algn="l">
              <a:lnSpc>
                <a:spcPct val="115000"/>
              </a:lnSpc>
              <a:spcBef>
                <a:spcPts val="1000"/>
              </a:spcBef>
              <a:spcAft>
                <a:spcPts val="0"/>
              </a:spcAft>
              <a:buSzPts val="1700"/>
              <a:buAutoNum type="arabicPeriod"/>
            </a:pPr>
            <a:r>
              <a:rPr lang="en-GB"/>
              <a:t>Dacă există noduri nevizitate, reluăm pasul 1</a:t>
            </a:r>
            <a:endParaRPr/>
          </a:p>
          <a:p>
            <a:pPr indent="0" lvl="0" marL="0" rtl="0" algn="l">
              <a:lnSpc>
                <a:spcPct val="115000"/>
              </a:lnSpc>
              <a:spcBef>
                <a:spcPts val="1000"/>
              </a:spcBef>
              <a:spcAft>
                <a:spcPts val="0"/>
              </a:spcAft>
              <a:buSzPts val="1700"/>
              <a:buNone/>
            </a:pPr>
            <a:r>
              <a:t/>
            </a:r>
            <a:endParaRPr/>
          </a:p>
          <a:p>
            <a:pPr indent="0" lvl="0" marL="0" rtl="0" algn="l">
              <a:lnSpc>
                <a:spcPct val="115000"/>
              </a:lnSpc>
              <a:spcBef>
                <a:spcPts val="1200"/>
              </a:spcBef>
              <a:spcAft>
                <a:spcPts val="0"/>
              </a:spcAft>
              <a:buSzPts val="1700"/>
              <a:buNone/>
            </a:pPr>
            <a:r>
              <a:rPr lang="en-GB"/>
              <a:t>Când se întâmplă pasul 4?</a:t>
            </a:r>
            <a:endParaRPr/>
          </a:p>
          <a:p>
            <a:pPr indent="0" lvl="0" marL="457200" rtl="0" algn="l">
              <a:lnSpc>
                <a:spcPct val="115000"/>
              </a:lnSpc>
              <a:spcBef>
                <a:spcPts val="1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(DFS)</a:t>
            </a:r>
            <a:endParaRPr/>
          </a:p>
        </p:txBody>
      </p:sp>
      <p:sp>
        <p:nvSpPr>
          <p:cNvPr id="250" name="Google Shape;250;p37"/>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AutoNum type="arabicPeriod"/>
            </a:pPr>
            <a:r>
              <a:rPr lang="en-GB"/>
              <a:t>Se începe explorarea dintr-un nod nevizitat</a:t>
            </a:r>
            <a:endParaRPr/>
          </a:p>
          <a:p>
            <a:pPr indent="-336550" lvl="0" marL="457200" rtl="0" algn="l">
              <a:lnSpc>
                <a:spcPct val="115000"/>
              </a:lnSpc>
              <a:spcBef>
                <a:spcPts val="1000"/>
              </a:spcBef>
              <a:spcAft>
                <a:spcPts val="0"/>
              </a:spcAft>
              <a:buSzPts val="1700"/>
              <a:buAutoNum type="arabicPeriod"/>
            </a:pPr>
            <a:r>
              <a:rPr lang="en-GB"/>
              <a:t>Se caută un vecin nevizitat, care devine nodul curent.</a:t>
            </a:r>
            <a:br>
              <a:rPr lang="en-GB"/>
            </a:br>
            <a:r>
              <a:rPr lang="en-GB"/>
              <a:t>Cât timp nodul curent are un vecin nevizitat, repetăm pasul 2 (intrăm în adâncime)</a:t>
            </a:r>
            <a:endParaRPr/>
          </a:p>
          <a:p>
            <a:pPr indent="-336550" lvl="0" marL="457200" rtl="0" algn="l">
              <a:lnSpc>
                <a:spcPct val="115000"/>
              </a:lnSpc>
              <a:spcBef>
                <a:spcPts val="1000"/>
              </a:spcBef>
              <a:spcAft>
                <a:spcPts val="0"/>
              </a:spcAft>
              <a:buSzPts val="1700"/>
              <a:buAutoNum type="arabicPeriod"/>
            </a:pPr>
            <a:r>
              <a:rPr lang="en-GB"/>
              <a:t>Când nodul curent nu are niciun vecin nevizitat, ne întoarcem la strămoșii lui (tatăl, bunicul etc), până găsim un nod care are vecini nevizitați și reluăm pasul 2</a:t>
            </a:r>
            <a:endParaRPr/>
          </a:p>
          <a:p>
            <a:pPr indent="-336550" lvl="0" marL="457200" rtl="0" algn="l">
              <a:lnSpc>
                <a:spcPct val="115000"/>
              </a:lnSpc>
              <a:spcBef>
                <a:spcPts val="1000"/>
              </a:spcBef>
              <a:spcAft>
                <a:spcPts val="0"/>
              </a:spcAft>
              <a:buSzPts val="1700"/>
              <a:buAutoNum type="arabicPeriod"/>
            </a:pPr>
            <a:r>
              <a:rPr lang="en-GB"/>
              <a:t>Dacă există noduri nevizitate, reluăm pasul 1</a:t>
            </a:r>
            <a:endParaRPr/>
          </a:p>
          <a:p>
            <a:pPr indent="0" lvl="0" marL="0" rtl="0" algn="l">
              <a:lnSpc>
                <a:spcPct val="115000"/>
              </a:lnSpc>
              <a:spcBef>
                <a:spcPts val="1000"/>
              </a:spcBef>
              <a:spcAft>
                <a:spcPts val="0"/>
              </a:spcAft>
              <a:buSzPts val="1700"/>
              <a:buNone/>
            </a:pPr>
            <a:r>
              <a:t/>
            </a:r>
            <a:endParaRPr/>
          </a:p>
          <a:p>
            <a:pPr indent="0" lvl="0" marL="0" rtl="0" algn="l">
              <a:lnSpc>
                <a:spcPct val="115000"/>
              </a:lnSpc>
              <a:spcBef>
                <a:spcPts val="1200"/>
              </a:spcBef>
              <a:spcAft>
                <a:spcPts val="0"/>
              </a:spcAft>
              <a:buSzPts val="1700"/>
              <a:buNone/>
            </a:pPr>
            <a:r>
              <a:rPr lang="en-GB"/>
              <a:t>Când se întâmplă pasul 4?</a:t>
            </a:r>
            <a:endParaRPr/>
          </a:p>
          <a:p>
            <a:pPr indent="-336550" lvl="0" marL="457200" rtl="0" algn="l">
              <a:lnSpc>
                <a:spcPct val="115000"/>
              </a:lnSpc>
              <a:spcBef>
                <a:spcPts val="1200"/>
              </a:spcBef>
              <a:spcAft>
                <a:spcPts val="0"/>
              </a:spcAft>
              <a:buSzPts val="1700"/>
              <a:buChar char="⏵"/>
            </a:pPr>
            <a:r>
              <a:rPr lang="en-GB"/>
              <a:t>Când graful are mai multe componente conexe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Cu timpi de intrare și ieșire</a:t>
            </a:r>
            <a:endParaRPr/>
          </a:p>
        </p:txBody>
      </p:sp>
      <p:sp>
        <p:nvSpPr>
          <p:cNvPr id="256" name="Google Shape;256;p38"/>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Pentru o parcurgere în adâncime, este uneori util să ținem minte cronologia parcurgerii.</a:t>
            </a:r>
            <a:endParaRPr/>
          </a:p>
          <a:p>
            <a:pPr indent="0" lvl="0" marL="0" rtl="0" algn="l">
              <a:lnSpc>
                <a:spcPct val="115000"/>
              </a:lnSpc>
              <a:spcBef>
                <a:spcPts val="1200"/>
              </a:spcBef>
              <a:spcAft>
                <a:spcPts val="0"/>
              </a:spcAft>
              <a:buSzPts val="1700"/>
              <a:buNone/>
            </a:pPr>
            <a:r>
              <a:t/>
            </a:r>
            <a:endParaRPr/>
          </a:p>
          <a:p>
            <a:pPr indent="-336550" lvl="0" marL="457200" rtl="0" algn="l">
              <a:lnSpc>
                <a:spcPct val="115000"/>
              </a:lnSpc>
              <a:spcBef>
                <a:spcPts val="1200"/>
              </a:spcBef>
              <a:spcAft>
                <a:spcPts val="0"/>
              </a:spcAft>
              <a:buSzPts val="1700"/>
              <a:buChar char="⏵"/>
            </a:pPr>
            <a:r>
              <a:rPr lang="en-GB"/>
              <a:t>De fiecare dată când ajungem într-un nod sau când terminăm de vizitat toți vecinii, incrementăm un contor și ținem minte aceste informații</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1200"/>
              </a:spcAft>
              <a:buSzPts val="1700"/>
              <a:buNone/>
            </a:pPr>
            <a:r>
              <a:rPr b="1" lang="en-GB"/>
              <a:t>Observație:</a:t>
            </a:r>
            <a:r>
              <a:rPr lang="en-GB"/>
              <a:t> O să existe situații în care cronologia va fi un pic diferită, cum s-a întâmplat la RMQ → LCA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262" name="Google Shape;262;p39"/>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263" name="Google Shape;263;p39"/>
          <p:cNvPicPr preferRelativeResize="0"/>
          <p:nvPr/>
        </p:nvPicPr>
        <p:blipFill rotWithShape="1">
          <a:blip r:embed="rId3">
            <a:alphaModFix/>
          </a:blip>
          <a:srcRect b="0" l="0" r="0" t="0"/>
          <a:stretch/>
        </p:blipFill>
        <p:spPr>
          <a:xfrm>
            <a:off x="311700" y="906225"/>
            <a:ext cx="3830200" cy="1708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269" name="Google Shape;269;p40"/>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270" name="Google Shape;270;p40"/>
          <p:cNvPicPr preferRelativeResize="0"/>
          <p:nvPr/>
        </p:nvPicPr>
        <p:blipFill rotWithShape="1">
          <a:blip r:embed="rId3">
            <a:alphaModFix/>
          </a:blip>
          <a:srcRect b="0" l="0" r="0" t="0"/>
          <a:stretch/>
        </p:blipFill>
        <p:spPr>
          <a:xfrm>
            <a:off x="311700" y="906225"/>
            <a:ext cx="3830200" cy="1708600"/>
          </a:xfrm>
          <a:prstGeom prst="rect">
            <a:avLst/>
          </a:prstGeom>
          <a:noFill/>
          <a:ln>
            <a:noFill/>
          </a:ln>
        </p:spPr>
      </p:pic>
      <p:pic>
        <p:nvPicPr>
          <p:cNvPr id="271" name="Google Shape;271;p40"/>
          <p:cNvPicPr preferRelativeResize="0"/>
          <p:nvPr/>
        </p:nvPicPr>
        <p:blipFill rotWithShape="1">
          <a:blip r:embed="rId4">
            <a:alphaModFix/>
          </a:blip>
          <a:srcRect b="0" l="0" r="0" t="0"/>
          <a:stretch/>
        </p:blipFill>
        <p:spPr>
          <a:xfrm>
            <a:off x="4670919" y="906225"/>
            <a:ext cx="4161381" cy="1708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277" name="Google Shape;277;p41"/>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278" name="Google Shape;278;p41"/>
          <p:cNvPicPr preferRelativeResize="0"/>
          <p:nvPr/>
        </p:nvPicPr>
        <p:blipFill rotWithShape="1">
          <a:blip r:embed="rId3">
            <a:alphaModFix/>
          </a:blip>
          <a:srcRect b="0" l="0" r="0" t="0"/>
          <a:stretch/>
        </p:blipFill>
        <p:spPr>
          <a:xfrm>
            <a:off x="311700" y="906225"/>
            <a:ext cx="3830200" cy="1708600"/>
          </a:xfrm>
          <a:prstGeom prst="rect">
            <a:avLst/>
          </a:prstGeom>
          <a:noFill/>
          <a:ln>
            <a:noFill/>
          </a:ln>
        </p:spPr>
      </p:pic>
      <p:pic>
        <p:nvPicPr>
          <p:cNvPr id="279" name="Google Shape;279;p41"/>
          <p:cNvPicPr preferRelativeResize="0"/>
          <p:nvPr/>
        </p:nvPicPr>
        <p:blipFill rotWithShape="1">
          <a:blip r:embed="rId4">
            <a:alphaModFix/>
          </a:blip>
          <a:srcRect b="0" l="0" r="0" t="0"/>
          <a:stretch/>
        </p:blipFill>
        <p:spPr>
          <a:xfrm>
            <a:off x="4670919" y="906225"/>
            <a:ext cx="4161381" cy="1708600"/>
          </a:xfrm>
          <a:prstGeom prst="rect">
            <a:avLst/>
          </a:prstGeom>
          <a:noFill/>
          <a:ln>
            <a:noFill/>
          </a:ln>
        </p:spPr>
      </p:pic>
      <p:pic>
        <p:nvPicPr>
          <p:cNvPr id="280" name="Google Shape;280;p41"/>
          <p:cNvPicPr preferRelativeResize="0"/>
          <p:nvPr/>
        </p:nvPicPr>
        <p:blipFill rotWithShape="1">
          <a:blip r:embed="rId5">
            <a:alphaModFix/>
          </a:blip>
          <a:srcRect b="0" l="0" r="0" t="0"/>
          <a:stretch/>
        </p:blipFill>
        <p:spPr>
          <a:xfrm>
            <a:off x="311693" y="2954521"/>
            <a:ext cx="4106852" cy="1708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286" name="Google Shape;286;p42"/>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287" name="Google Shape;287;p42"/>
          <p:cNvPicPr preferRelativeResize="0"/>
          <p:nvPr/>
        </p:nvPicPr>
        <p:blipFill rotWithShape="1">
          <a:blip r:embed="rId3">
            <a:alphaModFix/>
          </a:blip>
          <a:srcRect b="0" l="0" r="0" t="0"/>
          <a:stretch/>
        </p:blipFill>
        <p:spPr>
          <a:xfrm>
            <a:off x="311700" y="906225"/>
            <a:ext cx="3830200" cy="1708600"/>
          </a:xfrm>
          <a:prstGeom prst="rect">
            <a:avLst/>
          </a:prstGeom>
          <a:noFill/>
          <a:ln>
            <a:noFill/>
          </a:ln>
        </p:spPr>
      </p:pic>
      <p:pic>
        <p:nvPicPr>
          <p:cNvPr id="288" name="Google Shape;288;p42"/>
          <p:cNvPicPr preferRelativeResize="0"/>
          <p:nvPr/>
        </p:nvPicPr>
        <p:blipFill rotWithShape="1">
          <a:blip r:embed="rId4">
            <a:alphaModFix/>
          </a:blip>
          <a:srcRect b="0" l="0" r="0" t="0"/>
          <a:stretch/>
        </p:blipFill>
        <p:spPr>
          <a:xfrm>
            <a:off x="4670919" y="906225"/>
            <a:ext cx="4161381" cy="1708600"/>
          </a:xfrm>
          <a:prstGeom prst="rect">
            <a:avLst/>
          </a:prstGeom>
          <a:noFill/>
          <a:ln>
            <a:noFill/>
          </a:ln>
        </p:spPr>
      </p:pic>
      <p:pic>
        <p:nvPicPr>
          <p:cNvPr id="289" name="Google Shape;289;p42"/>
          <p:cNvPicPr preferRelativeResize="0"/>
          <p:nvPr/>
        </p:nvPicPr>
        <p:blipFill rotWithShape="1">
          <a:blip r:embed="rId5">
            <a:alphaModFix/>
          </a:blip>
          <a:srcRect b="0" l="0" r="0" t="0"/>
          <a:stretch/>
        </p:blipFill>
        <p:spPr>
          <a:xfrm>
            <a:off x="311693" y="2954521"/>
            <a:ext cx="4106852" cy="1708600"/>
          </a:xfrm>
          <a:prstGeom prst="rect">
            <a:avLst/>
          </a:prstGeom>
          <a:noFill/>
          <a:ln>
            <a:noFill/>
          </a:ln>
        </p:spPr>
      </p:pic>
      <p:pic>
        <p:nvPicPr>
          <p:cNvPr id="290" name="Google Shape;290;p42"/>
          <p:cNvPicPr preferRelativeResize="0"/>
          <p:nvPr/>
        </p:nvPicPr>
        <p:blipFill rotWithShape="1">
          <a:blip r:embed="rId6">
            <a:alphaModFix/>
          </a:blip>
          <a:srcRect b="0" l="0" r="0" t="0"/>
          <a:stretch/>
        </p:blipFill>
        <p:spPr>
          <a:xfrm>
            <a:off x="4724915" y="2954525"/>
            <a:ext cx="4053381" cy="1708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296" name="Google Shape;296;p43"/>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297" name="Google Shape;297;p43"/>
          <p:cNvPicPr preferRelativeResize="0"/>
          <p:nvPr/>
        </p:nvPicPr>
        <p:blipFill rotWithShape="1">
          <a:blip r:embed="rId3">
            <a:alphaModFix/>
          </a:blip>
          <a:srcRect b="0" l="0" r="0" t="0"/>
          <a:stretch/>
        </p:blipFill>
        <p:spPr>
          <a:xfrm>
            <a:off x="311690" y="906225"/>
            <a:ext cx="4053381" cy="1708600"/>
          </a:xfrm>
          <a:prstGeom prst="rect">
            <a:avLst/>
          </a:prstGeom>
          <a:noFill/>
          <a:ln>
            <a:noFill/>
          </a:ln>
        </p:spPr>
      </p:pic>
      <p:pic>
        <p:nvPicPr>
          <p:cNvPr id="298" name="Google Shape;298;p43"/>
          <p:cNvPicPr preferRelativeResize="0"/>
          <p:nvPr/>
        </p:nvPicPr>
        <p:blipFill rotWithShape="1">
          <a:blip r:embed="rId4">
            <a:alphaModFix/>
          </a:blip>
          <a:srcRect b="0" l="0" r="0" t="0"/>
          <a:stretch/>
        </p:blipFill>
        <p:spPr>
          <a:xfrm>
            <a:off x="4594972" y="906221"/>
            <a:ext cx="4237327" cy="1708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304" name="Google Shape;304;p44"/>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305" name="Google Shape;305;p44"/>
          <p:cNvPicPr preferRelativeResize="0"/>
          <p:nvPr/>
        </p:nvPicPr>
        <p:blipFill rotWithShape="1">
          <a:blip r:embed="rId3">
            <a:alphaModFix/>
          </a:blip>
          <a:srcRect b="0" l="0" r="0" t="0"/>
          <a:stretch/>
        </p:blipFill>
        <p:spPr>
          <a:xfrm>
            <a:off x="311690" y="906225"/>
            <a:ext cx="4053381" cy="1708600"/>
          </a:xfrm>
          <a:prstGeom prst="rect">
            <a:avLst/>
          </a:prstGeom>
          <a:noFill/>
          <a:ln>
            <a:noFill/>
          </a:ln>
        </p:spPr>
      </p:pic>
      <p:pic>
        <p:nvPicPr>
          <p:cNvPr id="306" name="Google Shape;306;p44"/>
          <p:cNvPicPr preferRelativeResize="0"/>
          <p:nvPr/>
        </p:nvPicPr>
        <p:blipFill rotWithShape="1">
          <a:blip r:embed="rId4">
            <a:alphaModFix/>
          </a:blip>
          <a:srcRect b="0" l="0" r="0" t="0"/>
          <a:stretch/>
        </p:blipFill>
        <p:spPr>
          <a:xfrm>
            <a:off x="4594972" y="906221"/>
            <a:ext cx="4237327" cy="1708600"/>
          </a:xfrm>
          <a:prstGeom prst="rect">
            <a:avLst/>
          </a:prstGeom>
          <a:noFill/>
          <a:ln>
            <a:noFill/>
          </a:ln>
        </p:spPr>
      </p:pic>
      <p:pic>
        <p:nvPicPr>
          <p:cNvPr id="307" name="Google Shape;307;p44"/>
          <p:cNvPicPr preferRelativeResize="0"/>
          <p:nvPr/>
        </p:nvPicPr>
        <p:blipFill rotWithShape="1">
          <a:blip r:embed="rId5">
            <a:alphaModFix/>
          </a:blip>
          <a:srcRect b="0" l="0" r="0" t="0"/>
          <a:stretch/>
        </p:blipFill>
        <p:spPr>
          <a:xfrm>
            <a:off x="311712" y="2954525"/>
            <a:ext cx="4254183" cy="1708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5"/>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313" name="Google Shape;313;p45"/>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314" name="Google Shape;314;p45"/>
          <p:cNvPicPr preferRelativeResize="0"/>
          <p:nvPr/>
        </p:nvPicPr>
        <p:blipFill rotWithShape="1">
          <a:blip r:embed="rId3">
            <a:alphaModFix/>
          </a:blip>
          <a:srcRect b="0" l="0" r="0" t="0"/>
          <a:stretch/>
        </p:blipFill>
        <p:spPr>
          <a:xfrm>
            <a:off x="311690" y="906225"/>
            <a:ext cx="4053381" cy="1708600"/>
          </a:xfrm>
          <a:prstGeom prst="rect">
            <a:avLst/>
          </a:prstGeom>
          <a:noFill/>
          <a:ln>
            <a:noFill/>
          </a:ln>
        </p:spPr>
      </p:pic>
      <p:pic>
        <p:nvPicPr>
          <p:cNvPr id="315" name="Google Shape;315;p45"/>
          <p:cNvPicPr preferRelativeResize="0"/>
          <p:nvPr/>
        </p:nvPicPr>
        <p:blipFill rotWithShape="1">
          <a:blip r:embed="rId4">
            <a:alphaModFix/>
          </a:blip>
          <a:srcRect b="0" l="0" r="0" t="0"/>
          <a:stretch/>
        </p:blipFill>
        <p:spPr>
          <a:xfrm>
            <a:off x="4594972" y="906221"/>
            <a:ext cx="4237327" cy="1708600"/>
          </a:xfrm>
          <a:prstGeom prst="rect">
            <a:avLst/>
          </a:prstGeom>
          <a:noFill/>
          <a:ln>
            <a:noFill/>
          </a:ln>
        </p:spPr>
      </p:pic>
      <p:pic>
        <p:nvPicPr>
          <p:cNvPr id="316" name="Google Shape;316;p45"/>
          <p:cNvPicPr preferRelativeResize="0"/>
          <p:nvPr/>
        </p:nvPicPr>
        <p:blipFill rotWithShape="1">
          <a:blip r:embed="rId5">
            <a:alphaModFix/>
          </a:blip>
          <a:srcRect b="0" l="0" r="0" t="0"/>
          <a:stretch/>
        </p:blipFill>
        <p:spPr>
          <a:xfrm>
            <a:off x="311712" y="2954525"/>
            <a:ext cx="4254183" cy="1708600"/>
          </a:xfrm>
          <a:prstGeom prst="rect">
            <a:avLst/>
          </a:prstGeom>
          <a:noFill/>
          <a:ln>
            <a:noFill/>
          </a:ln>
        </p:spPr>
      </p:pic>
      <p:pic>
        <p:nvPicPr>
          <p:cNvPr id="317" name="Google Shape;317;p45"/>
          <p:cNvPicPr preferRelativeResize="0"/>
          <p:nvPr/>
        </p:nvPicPr>
        <p:blipFill rotWithShape="1">
          <a:blip r:embed="rId6">
            <a:alphaModFix/>
          </a:blip>
          <a:srcRect b="0" l="0" r="0" t="0"/>
          <a:stretch/>
        </p:blipFill>
        <p:spPr>
          <a:xfrm>
            <a:off x="5011351" y="2954525"/>
            <a:ext cx="3820945" cy="1708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6"/>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Exemplu</a:t>
            </a:r>
            <a:endParaRPr/>
          </a:p>
        </p:txBody>
      </p:sp>
      <p:sp>
        <p:nvSpPr>
          <p:cNvPr id="323" name="Google Shape;323;p46"/>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t/>
            </a:r>
            <a:endParaRPr/>
          </a:p>
        </p:txBody>
      </p:sp>
      <p:pic>
        <p:nvPicPr>
          <p:cNvPr id="324" name="Google Shape;324;p46"/>
          <p:cNvPicPr preferRelativeResize="0"/>
          <p:nvPr/>
        </p:nvPicPr>
        <p:blipFill rotWithShape="1">
          <a:blip r:embed="rId3">
            <a:alphaModFix/>
          </a:blip>
          <a:srcRect b="0" l="0" r="0" t="0"/>
          <a:stretch/>
        </p:blipFill>
        <p:spPr>
          <a:xfrm>
            <a:off x="311701" y="906225"/>
            <a:ext cx="3820945" cy="1708600"/>
          </a:xfrm>
          <a:prstGeom prst="rect">
            <a:avLst/>
          </a:prstGeom>
          <a:noFill/>
          <a:ln>
            <a:noFill/>
          </a:ln>
        </p:spPr>
      </p:pic>
      <p:pic>
        <p:nvPicPr>
          <p:cNvPr id="325" name="Google Shape;325;p46"/>
          <p:cNvPicPr preferRelativeResize="0"/>
          <p:nvPr/>
        </p:nvPicPr>
        <p:blipFill rotWithShape="1">
          <a:blip r:embed="rId4">
            <a:alphaModFix/>
          </a:blip>
          <a:srcRect b="0" l="0" r="0" t="0"/>
          <a:stretch/>
        </p:blipFill>
        <p:spPr>
          <a:xfrm>
            <a:off x="4957066" y="906225"/>
            <a:ext cx="3875228" cy="1708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7"/>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Algoritm</a:t>
            </a:r>
            <a:endParaRPr/>
          </a:p>
        </p:txBody>
      </p:sp>
      <p:sp>
        <p:nvSpPr>
          <p:cNvPr id="331" name="Google Shape;331;p47"/>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rPr lang="en-GB"/>
              <a:t>Să scriem împreună pseudocodul: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Algoritm</a:t>
            </a:r>
            <a:endParaRPr/>
          </a:p>
        </p:txBody>
      </p:sp>
      <p:sp>
        <p:nvSpPr>
          <p:cNvPr id="337" name="Google Shape;337;p48"/>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rPr lang="en-GB"/>
              <a:t>Algoritm Cormen:</a:t>
            </a:r>
            <a:endParaRPr/>
          </a:p>
        </p:txBody>
      </p:sp>
      <p:pic>
        <p:nvPicPr>
          <p:cNvPr id="338" name="Google Shape;338;p48"/>
          <p:cNvPicPr preferRelativeResize="0"/>
          <p:nvPr/>
        </p:nvPicPr>
        <p:blipFill rotWithShape="1">
          <a:blip r:embed="rId3">
            <a:alphaModFix/>
          </a:blip>
          <a:srcRect b="0" l="0" r="0" t="0"/>
          <a:stretch/>
        </p:blipFill>
        <p:spPr>
          <a:xfrm>
            <a:off x="1114562" y="1339200"/>
            <a:ext cx="6914874" cy="3670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Complexitate</a:t>
            </a:r>
            <a:endParaRPr/>
          </a:p>
        </p:txBody>
      </p:sp>
      <p:sp>
        <p:nvSpPr>
          <p:cNvPr id="344" name="Google Shape;344;p49"/>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700"/>
              <a:buNone/>
            </a:pPr>
            <a:r>
              <a:rPr lang="en-GB"/>
              <a:t>Care este complexitatea algoritmului?</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0"/>
          <p:cNvSpPr txBox="1"/>
          <p:nvPr>
            <p:ph type="title"/>
          </p:nvPr>
        </p:nvSpPr>
        <p:spPr>
          <a:xfrm>
            <a:off x="311700" y="5277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a:t>Parcurgerea în adâncime - Complexitate</a:t>
            </a:r>
            <a:endParaRPr/>
          </a:p>
        </p:txBody>
      </p:sp>
      <p:sp>
        <p:nvSpPr>
          <p:cNvPr id="350" name="Google Shape;350;p50"/>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lang="en-GB"/>
              <a:t>Care este complexitatea algoritmului?</a:t>
            </a:r>
            <a:endParaRPr/>
          </a:p>
          <a:p>
            <a:pPr indent="-336550" lvl="0" marL="457200" rtl="0" algn="l">
              <a:lnSpc>
                <a:spcPct val="115000"/>
              </a:lnSpc>
              <a:spcBef>
                <a:spcPts val="1200"/>
              </a:spcBef>
              <a:spcAft>
                <a:spcPts val="0"/>
              </a:spcAft>
              <a:buSzPts val="1700"/>
              <a:buChar char="⏵"/>
            </a:pPr>
            <a:r>
              <a:rPr lang="en-GB"/>
              <a:t>O(V+E) sau O(n+m)</a:t>
            </a:r>
            <a:endParaRPr/>
          </a:p>
          <a:p>
            <a:pPr indent="-304800" lvl="1" marL="914400" rtl="0" algn="l">
              <a:lnSpc>
                <a:spcPct val="115000"/>
              </a:lnSpc>
              <a:spcBef>
                <a:spcPts val="0"/>
              </a:spcBef>
              <a:spcAft>
                <a:spcPts val="0"/>
              </a:spcAft>
              <a:buSzPts val="1200"/>
              <a:buChar char="○"/>
            </a:pPr>
            <a:r>
              <a:rPr lang="en-GB"/>
              <a:t>unde </a:t>
            </a:r>
            <a:endParaRPr/>
          </a:p>
          <a:p>
            <a:pPr indent="-304800" lvl="2" marL="1371600" rtl="0" algn="l">
              <a:lnSpc>
                <a:spcPct val="115000"/>
              </a:lnSpc>
              <a:spcBef>
                <a:spcPts val="0"/>
              </a:spcBef>
              <a:spcAft>
                <a:spcPts val="0"/>
              </a:spcAft>
              <a:buSzPts val="1200"/>
              <a:buChar char="■"/>
            </a:pPr>
            <a:r>
              <a:rPr lang="en-GB"/>
              <a:t>V = n = numărul de noduri</a:t>
            </a:r>
            <a:endParaRPr/>
          </a:p>
          <a:p>
            <a:pPr indent="-304800" lvl="2" marL="1371600" rtl="0" algn="l">
              <a:lnSpc>
                <a:spcPct val="115000"/>
              </a:lnSpc>
              <a:spcBef>
                <a:spcPts val="0"/>
              </a:spcBef>
              <a:spcAft>
                <a:spcPts val="0"/>
              </a:spcAft>
              <a:buSzPts val="1200"/>
              <a:buChar char="■"/>
            </a:pPr>
            <a:r>
              <a:rPr lang="en-GB"/>
              <a:t>E = m = numărul de muchii</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1"/>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Teorema parantezelor</a:t>
            </a:r>
            <a:endParaRPr/>
          </a:p>
        </p:txBody>
      </p:sp>
      <p:sp>
        <p:nvSpPr>
          <p:cNvPr id="356" name="Google Shape;356;p51"/>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700"/>
              <a:buNone/>
            </a:pPr>
            <a:r>
              <a:rPr b="1" lang="en-GB"/>
              <a:t>Teorema parantezelor</a:t>
            </a:r>
            <a:endParaRPr/>
          </a:p>
          <a:p>
            <a:pPr indent="0" lvl="0" marL="0" rtl="0" algn="l">
              <a:lnSpc>
                <a:spcPct val="115000"/>
              </a:lnSpc>
              <a:spcBef>
                <a:spcPts val="1200"/>
              </a:spcBef>
              <a:spcAft>
                <a:spcPts val="0"/>
              </a:spcAft>
              <a:buSzPts val="1700"/>
              <a:buNone/>
            </a:pPr>
            <a:r>
              <a:rPr lang="en-GB"/>
              <a:t>În orice căutare în adâncime a unui graf (orientat sau neorientat) G = (V, E), pentru oricare două vârfuri u şi v, exact una din următoarele trei condiţii este adevărată:</a:t>
            </a:r>
            <a:endParaRPr/>
          </a:p>
          <a:p>
            <a:pPr indent="-336550" lvl="0" marL="457200" rtl="0" algn="l">
              <a:lnSpc>
                <a:spcPct val="115000"/>
              </a:lnSpc>
              <a:spcBef>
                <a:spcPts val="1200"/>
              </a:spcBef>
              <a:spcAft>
                <a:spcPts val="0"/>
              </a:spcAft>
              <a:buSzPts val="1700"/>
              <a:buChar char="⏵"/>
            </a:pPr>
            <a:r>
              <a:rPr lang="en-GB"/>
              <a:t>intervalele [d[u], f[u]] şi [d[v], f[v]] sunt total disjuncte</a:t>
            </a:r>
            <a:endParaRPr/>
          </a:p>
          <a:p>
            <a:pPr indent="-336550" lvl="0" marL="457200" rtl="0" algn="l">
              <a:lnSpc>
                <a:spcPct val="115000"/>
              </a:lnSpc>
              <a:spcBef>
                <a:spcPts val="1200"/>
              </a:spcBef>
              <a:spcAft>
                <a:spcPts val="0"/>
              </a:spcAft>
              <a:buSzPts val="1700"/>
              <a:buChar char="⏵"/>
            </a:pPr>
            <a:r>
              <a:rPr lang="en-GB"/>
              <a:t>intervalul [d[u], f[u]] este conţinut, în întregime, în intervalul [d[v], f[v]], iar u este un descendent al lui v în arborele de adâncime</a:t>
            </a:r>
            <a:endParaRPr/>
          </a:p>
          <a:p>
            <a:pPr indent="-336550" lvl="0" marL="457200" rtl="0" algn="l">
              <a:lnSpc>
                <a:spcPct val="115000"/>
              </a:lnSpc>
              <a:spcBef>
                <a:spcPts val="1000"/>
              </a:spcBef>
              <a:spcAft>
                <a:spcPts val="1200"/>
              </a:spcAft>
              <a:buSzPts val="1700"/>
              <a:buChar char="⏵"/>
            </a:pPr>
            <a:r>
              <a:rPr lang="en-GB"/>
              <a:t>intervalul [d[v], f[v]] este conţinut, în întregime, în intervalul [d[u], f[u]], iar v este un descendent al lui u în arborele de adâncime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2"/>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Teorema parantezelor</a:t>
            </a:r>
            <a:endParaRPr/>
          </a:p>
        </p:txBody>
      </p:sp>
      <p:sp>
        <p:nvSpPr>
          <p:cNvPr id="362" name="Google Shape;362;p52"/>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700"/>
              <a:buNone/>
            </a:pPr>
            <a:r>
              <a:rPr b="1" lang="en-GB"/>
              <a:t>Teorema parantezelor: Demonstrație</a:t>
            </a:r>
            <a:endParaRPr b="1"/>
          </a:p>
          <a:p>
            <a:pPr indent="0" lvl="0" marL="0" rtl="0" algn="l">
              <a:lnSpc>
                <a:spcPct val="115000"/>
              </a:lnSpc>
              <a:spcBef>
                <a:spcPts val="1200"/>
              </a:spcBef>
              <a:spcAft>
                <a:spcPts val="0"/>
              </a:spcAft>
              <a:buSzPts val="1700"/>
              <a:buNone/>
            </a:pPr>
            <a:r>
              <a:rPr lang="en-GB"/>
              <a:t>Începem cu cazul în care d[u] &lt; d[v]. </a:t>
            </a:r>
            <a:br>
              <a:rPr lang="en-GB"/>
            </a:br>
            <a:r>
              <a:rPr lang="en-GB"/>
              <a:t>În funcţie de valoarea de adevăr a inegalităţii d[v] &lt; f[u], există două subcazuri care trebuie considerate. </a:t>
            </a:r>
            <a:endParaRPr/>
          </a:p>
          <a:p>
            <a:pPr indent="-336550" lvl="0" marL="457200" rtl="0" algn="l">
              <a:lnSpc>
                <a:spcPct val="115000"/>
              </a:lnSpc>
              <a:spcBef>
                <a:spcPts val="1200"/>
              </a:spcBef>
              <a:spcAft>
                <a:spcPts val="0"/>
              </a:spcAft>
              <a:buSzPts val="1700"/>
              <a:buAutoNum type="arabicPeriod"/>
            </a:pPr>
            <a:r>
              <a:rPr b="1" lang="en-GB"/>
              <a:t>În primul subcaz:</a:t>
            </a:r>
            <a:r>
              <a:rPr lang="en-GB"/>
              <a:t> d[v] &lt; f[u], deci v a fost descoperit, în timp ce u era încă gri. Aceasta implică faptul că v este un descendent al lui u. Mai mult, deoarece v a fost descoperit înaintea lui u, toate muchiile care pleacă din el sunt explorate, iar v este terminat, înainte ca algoritmul să revină pentru a-l termina pe u. De aceea, în acest caz, intervalul [d[v], f[v]] este conţinut în întregime în intervalul [d[u], f[u]]. </a:t>
            </a:r>
            <a:endParaRPr/>
          </a:p>
          <a:p>
            <a:pPr indent="-336550" lvl="0" marL="457200" rtl="0" algn="l">
              <a:lnSpc>
                <a:spcPct val="115000"/>
              </a:lnSpc>
              <a:spcBef>
                <a:spcPts val="0"/>
              </a:spcBef>
              <a:spcAft>
                <a:spcPts val="0"/>
              </a:spcAft>
              <a:buSzPts val="1700"/>
              <a:buAutoNum type="arabicPeriod"/>
            </a:pPr>
            <a:r>
              <a:rPr b="1" lang="en-GB"/>
              <a:t>În celălalt subcaz:</a:t>
            </a:r>
            <a:r>
              <a:rPr lang="en-GB"/>
              <a:t> f[u] &lt; d[v] şi din inegalitatea d[u] &lt; f[u]  implică faptul că intervalele [d[u], f[u]] şi [d[v], f[v]] sunt disjuncte.</a:t>
            </a:r>
            <a:endParaRPr/>
          </a:p>
          <a:p>
            <a:pPr indent="0" lvl="0" marL="0" rtl="0" algn="l">
              <a:lnSpc>
                <a:spcPct val="115000"/>
              </a:lnSpc>
              <a:spcBef>
                <a:spcPts val="1200"/>
              </a:spcBef>
              <a:spcAft>
                <a:spcPts val="1200"/>
              </a:spcAft>
              <a:buSzPts val="1700"/>
              <a:buNone/>
            </a:pPr>
            <a:r>
              <a:rPr lang="en-GB"/>
              <a:t>Cazul în care d[v] &lt; d[u] este similar, inversând rolurile lui u şi v în argumentaţia de mai sus.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3"/>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Teorema parantezelor</a:t>
            </a:r>
            <a:endParaRPr/>
          </a:p>
        </p:txBody>
      </p:sp>
      <p:sp>
        <p:nvSpPr>
          <p:cNvPr id="368" name="Google Shape;368;p53"/>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b="1" lang="en-GB"/>
              <a:t>Corolarul 23.7 (Interclasarea intervalelor descendenților)</a:t>
            </a:r>
            <a:endParaRPr b="1"/>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1200"/>
              </a:spcAft>
              <a:buSzPts val="1700"/>
              <a:buNone/>
            </a:pPr>
            <a:r>
              <a:rPr lang="en-GB"/>
              <a:t>Vârful v este un descendent al lui u în pădurea de adâncime pentru un graf G orientat sau neorientat </a:t>
            </a:r>
            <a:r>
              <a:rPr b="1" lang="en-GB"/>
              <a:t>dacă şi numai dacă</a:t>
            </a:r>
            <a:r>
              <a:rPr lang="en-GB"/>
              <a:t> d[u] &lt; d[v] &lt; f[v] &lt; f[u].</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4"/>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Teorema parantezelor</a:t>
            </a:r>
            <a:endParaRPr/>
          </a:p>
        </p:txBody>
      </p:sp>
      <p:sp>
        <p:nvSpPr>
          <p:cNvPr id="374" name="Google Shape;374;p54"/>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1200"/>
              </a:spcAft>
              <a:buSzPts val="1700"/>
              <a:buNone/>
            </a:pPr>
            <a:r>
              <a:rPr lang="en-GB"/>
              <a:t>Diagrama b exemplifică foarte bine</a:t>
            </a:r>
            <a:br>
              <a:rPr lang="en-GB"/>
            </a:br>
            <a:r>
              <a:rPr lang="en-GB"/>
              <a:t>teorema anterioară.</a:t>
            </a:r>
            <a:endParaRPr/>
          </a:p>
        </p:txBody>
      </p:sp>
      <p:pic>
        <p:nvPicPr>
          <p:cNvPr id="375" name="Google Shape;375;p54"/>
          <p:cNvPicPr preferRelativeResize="0"/>
          <p:nvPr/>
        </p:nvPicPr>
        <p:blipFill rotWithShape="1">
          <a:blip r:embed="rId3">
            <a:alphaModFix/>
          </a:blip>
          <a:srcRect b="0" l="0" r="0" t="0"/>
          <a:stretch/>
        </p:blipFill>
        <p:spPr>
          <a:xfrm>
            <a:off x="311700" y="906221"/>
            <a:ext cx="3696075" cy="1390650"/>
          </a:xfrm>
          <a:prstGeom prst="rect">
            <a:avLst/>
          </a:prstGeom>
          <a:noFill/>
          <a:ln>
            <a:noFill/>
          </a:ln>
        </p:spPr>
      </p:pic>
      <p:pic>
        <p:nvPicPr>
          <p:cNvPr id="376" name="Google Shape;376;p54"/>
          <p:cNvPicPr preferRelativeResize="0"/>
          <p:nvPr/>
        </p:nvPicPr>
        <p:blipFill rotWithShape="1">
          <a:blip r:embed="rId4">
            <a:alphaModFix/>
          </a:blip>
          <a:srcRect b="0" l="0" r="0" t="0"/>
          <a:stretch/>
        </p:blipFill>
        <p:spPr>
          <a:xfrm>
            <a:off x="3923525" y="2237475"/>
            <a:ext cx="4908775" cy="24256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5"/>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Teorema parantezelor</a:t>
            </a:r>
            <a:endParaRPr/>
          </a:p>
        </p:txBody>
      </p:sp>
      <p:sp>
        <p:nvSpPr>
          <p:cNvPr id="382" name="Google Shape;382;p55"/>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0"/>
              </a:spcAft>
              <a:buSzPts val="1700"/>
              <a:buNone/>
            </a:pPr>
            <a:r>
              <a:t/>
            </a:r>
            <a:endParaRPr/>
          </a:p>
          <a:p>
            <a:pPr indent="0" lvl="0" marL="0" rtl="0" algn="l">
              <a:lnSpc>
                <a:spcPct val="115000"/>
              </a:lnSpc>
              <a:spcBef>
                <a:spcPts val="1200"/>
              </a:spcBef>
              <a:spcAft>
                <a:spcPts val="1200"/>
              </a:spcAft>
              <a:buSzPts val="1700"/>
              <a:buNone/>
            </a:pPr>
            <a:r>
              <a:rPr lang="en-GB"/>
              <a:t>Diagrama c exemplifică muchiile de </a:t>
            </a:r>
            <a:br>
              <a:rPr lang="en-GB"/>
            </a:br>
            <a:r>
              <a:rPr lang="en-GB"/>
              <a:t>întoarcere despre care vom vorbi imediat.</a:t>
            </a:r>
            <a:endParaRPr/>
          </a:p>
        </p:txBody>
      </p:sp>
      <p:pic>
        <p:nvPicPr>
          <p:cNvPr id="383" name="Google Shape;383;p55"/>
          <p:cNvPicPr preferRelativeResize="0"/>
          <p:nvPr/>
        </p:nvPicPr>
        <p:blipFill rotWithShape="1">
          <a:blip r:embed="rId3">
            <a:alphaModFix/>
          </a:blip>
          <a:srcRect b="0" l="0" r="0" t="0"/>
          <a:stretch/>
        </p:blipFill>
        <p:spPr>
          <a:xfrm>
            <a:off x="311700" y="906221"/>
            <a:ext cx="3696075" cy="1390650"/>
          </a:xfrm>
          <a:prstGeom prst="rect">
            <a:avLst/>
          </a:prstGeom>
          <a:noFill/>
          <a:ln>
            <a:noFill/>
          </a:ln>
        </p:spPr>
      </p:pic>
      <p:pic>
        <p:nvPicPr>
          <p:cNvPr id="384" name="Google Shape;384;p55"/>
          <p:cNvPicPr preferRelativeResize="0"/>
          <p:nvPr/>
        </p:nvPicPr>
        <p:blipFill rotWithShape="1">
          <a:blip r:embed="rId4">
            <a:alphaModFix/>
          </a:blip>
          <a:srcRect b="0" l="0" r="0" t="0"/>
          <a:stretch/>
        </p:blipFill>
        <p:spPr>
          <a:xfrm>
            <a:off x="4404575" y="2374250"/>
            <a:ext cx="4427726" cy="23399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6"/>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390" name="Google Shape;390;p56"/>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b="1" lang="en-GB"/>
              <a:t>Clasificarea muchiilor</a:t>
            </a:r>
            <a:endParaRPr/>
          </a:p>
          <a:p>
            <a:pPr indent="-336550" lvl="0" marL="457200" rtl="0" algn="l">
              <a:lnSpc>
                <a:spcPct val="115000"/>
              </a:lnSpc>
              <a:spcBef>
                <a:spcPts val="1200"/>
              </a:spcBef>
              <a:spcAft>
                <a:spcPts val="0"/>
              </a:spcAft>
              <a:buSzPts val="1700"/>
              <a:buAutoNum type="arabicPeriod"/>
            </a:pPr>
            <a:r>
              <a:rPr b="1" lang="en-GB"/>
              <a:t>Muchiile de arbore</a:t>
            </a:r>
            <a:r>
              <a:rPr lang="en-GB"/>
              <a:t> sunt muchii din pădurea de adâncime Gπ. Muchia (u, v) este o muchie de arbore dacă v a fost descoperit explorând muchia (u, v).</a:t>
            </a:r>
            <a:endParaRPr/>
          </a:p>
          <a:p>
            <a:pPr indent="-336550" lvl="0" marL="457200" rtl="0" algn="l">
              <a:lnSpc>
                <a:spcPct val="115000"/>
              </a:lnSpc>
              <a:spcBef>
                <a:spcPts val="0"/>
              </a:spcBef>
              <a:spcAft>
                <a:spcPts val="0"/>
              </a:spcAft>
              <a:buSzPts val="1700"/>
              <a:buAutoNum type="arabicPeriod"/>
            </a:pPr>
            <a:r>
              <a:rPr b="1" lang="en-GB"/>
              <a:t>Muchiile înapoi</a:t>
            </a:r>
            <a:r>
              <a:rPr lang="en-GB"/>
              <a:t> sunt acele muchii (u, v) care unesc un vârf u cu un strămoş v într-un arbore de adâncime. Buclele (muchii de la un vârf la el însuşi) care pot apărea într-un graf orientat sunt considerate muchii înapoi.</a:t>
            </a:r>
            <a:endParaRPr/>
          </a:p>
          <a:p>
            <a:pPr indent="-336550" lvl="0" marL="457200" rtl="0" algn="l">
              <a:lnSpc>
                <a:spcPct val="115000"/>
              </a:lnSpc>
              <a:spcBef>
                <a:spcPts val="0"/>
              </a:spcBef>
              <a:spcAft>
                <a:spcPts val="0"/>
              </a:spcAft>
              <a:buSzPts val="1700"/>
              <a:buAutoNum type="arabicPeriod"/>
            </a:pPr>
            <a:r>
              <a:rPr b="1" lang="en-GB"/>
              <a:t>Muchiile înainte</a:t>
            </a:r>
            <a:r>
              <a:rPr lang="en-GB"/>
              <a:t> sunt acele muchii (u, v) ce nu sunt muchii de arbore şi conectează un vârf u cu un descendent v într-un arbore de adâncime.</a:t>
            </a:r>
            <a:endParaRPr/>
          </a:p>
          <a:p>
            <a:pPr indent="-336550" lvl="0" marL="457200" rtl="0" algn="l">
              <a:lnSpc>
                <a:spcPct val="115000"/>
              </a:lnSpc>
              <a:spcBef>
                <a:spcPts val="0"/>
              </a:spcBef>
              <a:spcAft>
                <a:spcPts val="0"/>
              </a:spcAft>
              <a:buSzPts val="1700"/>
              <a:buAutoNum type="arabicPeriod"/>
            </a:pPr>
            <a:r>
              <a:rPr b="1" lang="en-GB"/>
              <a:t>Muchiile transversale</a:t>
            </a:r>
            <a:r>
              <a:rPr lang="en-GB"/>
              <a:t> sunt toate celelalte muchii. Ele pot uni vârfuri din acelaşi arbore de adâncime, cu condiţia ca unul să nu fie strămoşul celuilalt, sau pot uni vârfuri din arbori de adâncime diferiţi.</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7"/>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396" name="Google Shape;396;p57"/>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b="1" lang="en-GB"/>
              <a:t>Clasificarea muchiilor</a:t>
            </a:r>
            <a:endParaRPr/>
          </a:p>
          <a:p>
            <a:pPr indent="-336550" lvl="0" marL="457200" rtl="0" algn="l">
              <a:lnSpc>
                <a:spcPct val="115000"/>
              </a:lnSpc>
              <a:spcBef>
                <a:spcPts val="1200"/>
              </a:spcBef>
              <a:spcAft>
                <a:spcPts val="0"/>
              </a:spcAft>
              <a:buSzPts val="1700"/>
              <a:buAutoNum type="arabicPeriod"/>
            </a:pPr>
            <a:r>
              <a:rPr b="1" lang="en-GB"/>
              <a:t>Muchiile de arbore</a:t>
            </a:r>
            <a:r>
              <a:rPr lang="en-GB"/>
              <a:t> sunt muchii din pădurea de adâncime Gπ. Muchia (u, v) este o muchie de arbore dacă v a fost descoperit explorând muchia (u, v).</a:t>
            </a:r>
            <a:endParaRPr/>
          </a:p>
          <a:p>
            <a:pPr indent="-336550" lvl="0" marL="457200" rtl="0" algn="l">
              <a:lnSpc>
                <a:spcPct val="115000"/>
              </a:lnSpc>
              <a:spcBef>
                <a:spcPts val="0"/>
              </a:spcBef>
              <a:spcAft>
                <a:spcPts val="0"/>
              </a:spcAft>
              <a:buSzPts val="1700"/>
              <a:buAutoNum type="arabicPeriod"/>
            </a:pPr>
            <a:r>
              <a:rPr b="1" lang="en-GB"/>
              <a:t>Muchiile înapoi</a:t>
            </a:r>
            <a:r>
              <a:rPr lang="en-GB"/>
              <a:t> sunt acele muchii (u, v) care unesc un vârf u cu un strămoş v într-un arbore de adâncime. Buclele (muchii de la un vârf la el însuşi) care pot apărea într-un graf orientat sunt considerate muchii înapoi.</a:t>
            </a:r>
            <a:endParaRPr/>
          </a:p>
          <a:p>
            <a:pPr indent="-336550" lvl="0" marL="457200" rtl="0" algn="l">
              <a:lnSpc>
                <a:spcPct val="115000"/>
              </a:lnSpc>
              <a:spcBef>
                <a:spcPts val="0"/>
              </a:spcBef>
              <a:spcAft>
                <a:spcPts val="0"/>
              </a:spcAft>
              <a:buSzPts val="1700"/>
              <a:buAutoNum type="arabicPeriod"/>
            </a:pPr>
            <a:r>
              <a:rPr b="1" lang="en-GB"/>
              <a:t>Muchiile înainte</a:t>
            </a:r>
            <a:r>
              <a:rPr lang="en-GB"/>
              <a:t> sunt acele muchii (u, v) ce nu sunt muchii de arbore şi conectează un vârf u cu un descendent v într-un arbore de adâncime.</a:t>
            </a:r>
            <a:endParaRPr/>
          </a:p>
          <a:p>
            <a:pPr indent="-336550" lvl="0" marL="457200" rtl="0" algn="l">
              <a:lnSpc>
                <a:spcPct val="115000"/>
              </a:lnSpc>
              <a:spcBef>
                <a:spcPts val="0"/>
              </a:spcBef>
              <a:spcAft>
                <a:spcPts val="0"/>
              </a:spcAft>
              <a:buSzPts val="1700"/>
              <a:buAutoNum type="arabicPeriod"/>
            </a:pPr>
            <a:r>
              <a:rPr b="1" lang="en-GB"/>
              <a:t>Muchiile transversale</a:t>
            </a:r>
            <a:r>
              <a:rPr lang="en-GB"/>
              <a:t> sunt toate celelalte muchii. </a:t>
            </a:r>
            <a:br>
              <a:rPr lang="en-GB"/>
            </a:br>
            <a:r>
              <a:rPr lang="en-GB"/>
              <a:t>Ele pot uni vârfuri din acelaşi arbore de adâncime, </a:t>
            </a:r>
            <a:br>
              <a:rPr lang="en-GB"/>
            </a:br>
            <a:r>
              <a:rPr lang="en-GB"/>
              <a:t>cu condiţia ca unul să nu fie strămoşul celuilalt, </a:t>
            </a:r>
            <a:br>
              <a:rPr lang="en-GB"/>
            </a:br>
            <a:r>
              <a:rPr lang="en-GB"/>
              <a:t>sau pot uni vârfuri din arbori de adâncime diferiţi.</a:t>
            </a:r>
            <a:endParaRPr/>
          </a:p>
        </p:txBody>
      </p:sp>
      <p:pic>
        <p:nvPicPr>
          <p:cNvPr id="397" name="Google Shape;397;p57"/>
          <p:cNvPicPr preferRelativeResize="0"/>
          <p:nvPr/>
        </p:nvPicPr>
        <p:blipFill rotWithShape="1">
          <a:blip r:embed="rId3">
            <a:alphaModFix/>
          </a:blip>
          <a:srcRect b="0" l="0" r="0" t="0"/>
          <a:stretch/>
        </p:blipFill>
        <p:spPr>
          <a:xfrm>
            <a:off x="5763150" y="3308075"/>
            <a:ext cx="3159524" cy="16697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8"/>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403" name="Google Shape;403;p58"/>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lang="en-GB"/>
              <a:t>Într-un graf neorientat nu vom avea toate cele 4 categorii de muchii.</a:t>
            </a:r>
            <a:endParaRPr/>
          </a:p>
          <a:p>
            <a:pPr indent="0" lvl="0" marL="0" rtl="0" algn="l">
              <a:lnSpc>
                <a:spcPct val="115000"/>
              </a:lnSpc>
              <a:spcBef>
                <a:spcPts val="1200"/>
              </a:spcBef>
              <a:spcAft>
                <a:spcPts val="0"/>
              </a:spcAft>
              <a:buSzPts val="1700"/>
              <a:buNone/>
            </a:pPr>
            <a:r>
              <a:rPr b="1" lang="en-GB"/>
              <a:t>Ce categorii vom avea?</a:t>
            </a:r>
            <a:endParaRPr b="1"/>
          </a:p>
          <a:p>
            <a:pPr indent="0" lvl="0" marL="0" rtl="0" algn="l">
              <a:lnSpc>
                <a:spcPct val="115000"/>
              </a:lnSpc>
              <a:spcBef>
                <a:spcPts val="1200"/>
              </a:spcBef>
              <a:spcAft>
                <a:spcPts val="0"/>
              </a:spcAft>
              <a:buSzPts val="1700"/>
              <a:buNone/>
            </a:pPr>
            <a:r>
              <a:t/>
            </a:r>
            <a:endParaRPr b="1"/>
          </a:p>
          <a:p>
            <a:pPr indent="0" lvl="0" marL="0" rtl="0" algn="l">
              <a:lnSpc>
                <a:spcPct val="115000"/>
              </a:lnSpc>
              <a:spcBef>
                <a:spcPts val="1200"/>
              </a:spcBef>
              <a:spcAft>
                <a:spcPts val="1200"/>
              </a:spcAft>
              <a:buSzPts val="1700"/>
              <a:buNone/>
            </a:pPr>
            <a:r>
              <a:t/>
            </a:r>
            <a:endParaRPr b="1"/>
          </a:p>
        </p:txBody>
      </p:sp>
      <p:grpSp>
        <p:nvGrpSpPr>
          <p:cNvPr id="404" name="Google Shape;404;p58"/>
          <p:cNvGrpSpPr/>
          <p:nvPr/>
        </p:nvGrpSpPr>
        <p:grpSpPr>
          <a:xfrm>
            <a:off x="3013448" y="1718530"/>
            <a:ext cx="3117125" cy="2564470"/>
            <a:chOff x="3013448" y="1718530"/>
            <a:chExt cx="3117125" cy="2564470"/>
          </a:xfrm>
        </p:grpSpPr>
        <p:sp>
          <p:nvSpPr>
            <p:cNvPr id="405" name="Google Shape;405;p58"/>
            <p:cNvSpPr/>
            <p:nvPr/>
          </p:nvSpPr>
          <p:spPr>
            <a:xfrm>
              <a:off x="3865698" y="171853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06" name="Google Shape;406;p58"/>
            <p:cNvSpPr/>
            <p:nvPr/>
          </p:nvSpPr>
          <p:spPr>
            <a:xfrm>
              <a:off x="4742823" y="24260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07" name="Google Shape;407;p58"/>
            <p:cNvSpPr/>
            <p:nvPr/>
          </p:nvSpPr>
          <p:spPr>
            <a:xfrm>
              <a:off x="5268573" y="34959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08" name="Google Shape;408;p58"/>
            <p:cNvSpPr/>
            <p:nvPr/>
          </p:nvSpPr>
          <p:spPr>
            <a:xfrm>
              <a:off x="3954723" y="31385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09" name="Google Shape;409;p58"/>
            <p:cNvSpPr/>
            <p:nvPr/>
          </p:nvSpPr>
          <p:spPr>
            <a:xfrm>
              <a:off x="3013448" y="24260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10" name="Google Shape;410;p58"/>
            <p:cNvSpPr/>
            <p:nvPr/>
          </p:nvSpPr>
          <p:spPr>
            <a:xfrm>
              <a:off x="5778073" y="2760580"/>
              <a:ext cx="352500" cy="3780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11" name="Google Shape;411;p58"/>
            <p:cNvCxnSpPr>
              <a:endCxn id="406" idx="1"/>
            </p:cNvCxnSpPr>
            <p:nvPr/>
          </p:nvCxnSpPr>
          <p:spPr>
            <a:xfrm>
              <a:off x="4194145" y="2029337"/>
              <a:ext cx="600300" cy="452100"/>
            </a:xfrm>
            <a:prstGeom prst="straightConnector1">
              <a:avLst/>
            </a:prstGeom>
            <a:noFill/>
            <a:ln cap="flat" cmpd="sng" w="19050">
              <a:solidFill>
                <a:schemeClr val="dk2"/>
              </a:solidFill>
              <a:prstDash val="solid"/>
              <a:round/>
              <a:headEnd len="sm" w="sm" type="none"/>
              <a:tailEnd len="sm" w="sm" type="none"/>
            </a:ln>
          </p:spPr>
        </p:cxnSp>
        <p:cxnSp>
          <p:nvCxnSpPr>
            <p:cNvPr id="412" name="Google Shape;412;p58"/>
            <p:cNvCxnSpPr>
              <a:stCxn id="405" idx="3"/>
              <a:endCxn id="409" idx="7"/>
            </p:cNvCxnSpPr>
            <p:nvPr/>
          </p:nvCxnSpPr>
          <p:spPr>
            <a:xfrm flipH="1">
              <a:off x="3314320" y="2041173"/>
              <a:ext cx="603000" cy="440400"/>
            </a:xfrm>
            <a:prstGeom prst="straightConnector1">
              <a:avLst/>
            </a:prstGeom>
            <a:noFill/>
            <a:ln cap="flat" cmpd="sng" w="19050">
              <a:solidFill>
                <a:schemeClr val="dk2"/>
              </a:solidFill>
              <a:prstDash val="solid"/>
              <a:round/>
              <a:headEnd len="sm" w="sm" type="none"/>
              <a:tailEnd len="sm" w="sm" type="none"/>
            </a:ln>
          </p:spPr>
        </p:cxnSp>
        <p:cxnSp>
          <p:nvCxnSpPr>
            <p:cNvPr id="413" name="Google Shape;413;p58"/>
            <p:cNvCxnSpPr>
              <a:stCxn id="406" idx="3"/>
              <a:endCxn id="408" idx="7"/>
            </p:cNvCxnSpPr>
            <p:nvPr/>
          </p:nvCxnSpPr>
          <p:spPr>
            <a:xfrm flipH="1">
              <a:off x="4255645" y="2748723"/>
              <a:ext cx="538800" cy="445200"/>
            </a:xfrm>
            <a:prstGeom prst="straightConnector1">
              <a:avLst/>
            </a:prstGeom>
            <a:noFill/>
            <a:ln cap="flat" cmpd="sng" w="19050">
              <a:solidFill>
                <a:schemeClr val="dk2"/>
              </a:solidFill>
              <a:prstDash val="solid"/>
              <a:round/>
              <a:headEnd len="sm" w="sm" type="none"/>
              <a:tailEnd len="sm" w="sm" type="none"/>
            </a:ln>
          </p:spPr>
        </p:cxnSp>
        <p:cxnSp>
          <p:nvCxnSpPr>
            <p:cNvPr id="414" name="Google Shape;414;p58"/>
            <p:cNvCxnSpPr>
              <a:stCxn id="408" idx="6"/>
              <a:endCxn id="407" idx="2"/>
            </p:cNvCxnSpPr>
            <p:nvPr/>
          </p:nvCxnSpPr>
          <p:spPr>
            <a:xfrm>
              <a:off x="4307223" y="3327580"/>
              <a:ext cx="961500" cy="357300"/>
            </a:xfrm>
            <a:prstGeom prst="straightConnector1">
              <a:avLst/>
            </a:prstGeom>
            <a:noFill/>
            <a:ln cap="flat" cmpd="sng" w="19050">
              <a:solidFill>
                <a:schemeClr val="dk2"/>
              </a:solidFill>
              <a:prstDash val="solid"/>
              <a:round/>
              <a:headEnd len="sm" w="sm" type="none"/>
              <a:tailEnd len="sm" w="sm" type="none"/>
            </a:ln>
          </p:spPr>
        </p:cxnSp>
        <p:cxnSp>
          <p:nvCxnSpPr>
            <p:cNvPr id="415" name="Google Shape;415;p58"/>
            <p:cNvCxnSpPr>
              <a:stCxn id="406" idx="5"/>
              <a:endCxn id="407" idx="0"/>
            </p:cNvCxnSpPr>
            <p:nvPr/>
          </p:nvCxnSpPr>
          <p:spPr>
            <a:xfrm>
              <a:off x="5043701" y="2748723"/>
              <a:ext cx="401100" cy="747300"/>
            </a:xfrm>
            <a:prstGeom prst="straightConnector1">
              <a:avLst/>
            </a:prstGeom>
            <a:noFill/>
            <a:ln cap="flat" cmpd="sng" w="19050">
              <a:solidFill>
                <a:schemeClr val="dk2"/>
              </a:solidFill>
              <a:prstDash val="solid"/>
              <a:round/>
              <a:headEnd len="sm" w="sm" type="none"/>
              <a:tailEnd len="sm" w="sm" type="none"/>
            </a:ln>
          </p:spPr>
        </p:cxnSp>
        <p:cxnSp>
          <p:nvCxnSpPr>
            <p:cNvPr id="416" name="Google Shape;416;p58"/>
            <p:cNvCxnSpPr>
              <a:stCxn id="406" idx="6"/>
              <a:endCxn id="410" idx="1"/>
            </p:cNvCxnSpPr>
            <p:nvPr/>
          </p:nvCxnSpPr>
          <p:spPr>
            <a:xfrm>
              <a:off x="5095323" y="2615080"/>
              <a:ext cx="734400" cy="201000"/>
            </a:xfrm>
            <a:prstGeom prst="straightConnector1">
              <a:avLst/>
            </a:prstGeom>
            <a:noFill/>
            <a:ln cap="flat" cmpd="sng" w="19050">
              <a:solidFill>
                <a:schemeClr val="dk2"/>
              </a:solidFill>
              <a:prstDash val="solid"/>
              <a:round/>
              <a:headEnd len="sm" w="sm" type="none"/>
              <a:tailEnd len="sm" w="sm" type="none"/>
            </a:ln>
          </p:spPr>
        </p:cxnSp>
        <p:sp>
          <p:nvSpPr>
            <p:cNvPr id="417" name="Google Shape;417;p58"/>
            <p:cNvSpPr/>
            <p:nvPr/>
          </p:nvSpPr>
          <p:spPr>
            <a:xfrm>
              <a:off x="3190688" y="2816075"/>
              <a:ext cx="2145050" cy="1466925"/>
            </a:xfrm>
            <a:custGeom>
              <a:rect b="b" l="l" r="r" t="t"/>
              <a:pathLst>
                <a:path extrusionOk="0" h="58677" w="85802">
                  <a:moveTo>
                    <a:pt x="85802" y="41056"/>
                  </a:moveTo>
                  <a:cubicBezTo>
                    <a:pt x="76115" y="43747"/>
                    <a:pt x="41978" y="64044"/>
                    <a:pt x="27678" y="57201"/>
                  </a:cubicBezTo>
                  <a:cubicBezTo>
                    <a:pt x="13378" y="50358"/>
                    <a:pt x="4613" y="9534"/>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9"/>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423" name="Google Shape;423;p59"/>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lang="en-GB"/>
              <a:t>Într-un graf neorientat nu vom avea toate cele 4 categorii de muchii.</a:t>
            </a:r>
            <a:endParaRPr/>
          </a:p>
          <a:p>
            <a:pPr indent="0" lvl="0" marL="0" rtl="0" algn="l">
              <a:lnSpc>
                <a:spcPct val="115000"/>
              </a:lnSpc>
              <a:spcBef>
                <a:spcPts val="1200"/>
              </a:spcBef>
              <a:spcAft>
                <a:spcPts val="0"/>
              </a:spcAft>
              <a:buSzPts val="1700"/>
              <a:buNone/>
            </a:pPr>
            <a:r>
              <a:rPr b="1" lang="en-GB"/>
              <a:t>Ce categorii vom avea?</a:t>
            </a:r>
            <a:endParaRPr b="1"/>
          </a:p>
          <a:p>
            <a:pPr indent="-336550" lvl="0" marL="457200" rtl="0" algn="l">
              <a:lnSpc>
                <a:spcPct val="115000"/>
              </a:lnSpc>
              <a:spcBef>
                <a:spcPts val="1200"/>
              </a:spcBef>
              <a:spcAft>
                <a:spcPts val="0"/>
              </a:spcAft>
              <a:buSzPts val="1700"/>
              <a:buChar char="⏵"/>
            </a:pPr>
            <a:r>
              <a:rPr lang="en-GB"/>
              <a:t>doar primele două categorii (muchii de arbore și muchii înapoi)</a:t>
            </a:r>
            <a:endParaRPr/>
          </a:p>
          <a:p>
            <a:pPr indent="0" lvl="0" marL="0" rtl="0" algn="l">
              <a:lnSpc>
                <a:spcPct val="115000"/>
              </a:lnSpc>
              <a:spcBef>
                <a:spcPts val="1200"/>
              </a:spcBef>
              <a:spcAft>
                <a:spcPts val="1200"/>
              </a:spcAft>
              <a:buSzPts val="1700"/>
              <a:buNone/>
            </a:pPr>
            <a:r>
              <a:t/>
            </a:r>
            <a:endParaRPr/>
          </a:p>
        </p:txBody>
      </p:sp>
      <p:grpSp>
        <p:nvGrpSpPr>
          <p:cNvPr id="424" name="Google Shape;424;p59"/>
          <p:cNvGrpSpPr/>
          <p:nvPr/>
        </p:nvGrpSpPr>
        <p:grpSpPr>
          <a:xfrm>
            <a:off x="1918175" y="2475926"/>
            <a:ext cx="2305948" cy="1897187"/>
            <a:chOff x="1918175" y="2475926"/>
            <a:chExt cx="2305948" cy="1897187"/>
          </a:xfrm>
        </p:grpSpPr>
        <p:sp>
          <p:nvSpPr>
            <p:cNvPr id="425" name="Google Shape;425;p59"/>
            <p:cNvSpPr/>
            <p:nvPr/>
          </p:nvSpPr>
          <p:spPr>
            <a:xfrm>
              <a:off x="2548663" y="247592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26" name="Google Shape;426;p59"/>
            <p:cNvSpPr/>
            <p:nvPr/>
          </p:nvSpPr>
          <p:spPr>
            <a:xfrm>
              <a:off x="3197553" y="29993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27" name="Google Shape;427;p59"/>
            <p:cNvSpPr/>
            <p:nvPr/>
          </p:nvSpPr>
          <p:spPr>
            <a:xfrm>
              <a:off x="3586499" y="3790870"/>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28" name="Google Shape;428;p59"/>
            <p:cNvSpPr/>
            <p:nvPr/>
          </p:nvSpPr>
          <p:spPr>
            <a:xfrm>
              <a:off x="2614523" y="3526468"/>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29" name="Google Shape;429;p59"/>
            <p:cNvSpPr/>
            <p:nvPr/>
          </p:nvSpPr>
          <p:spPr>
            <a:xfrm>
              <a:off x="1918175" y="29993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30" name="Google Shape;430;p59"/>
            <p:cNvSpPr/>
            <p:nvPr/>
          </p:nvSpPr>
          <p:spPr>
            <a:xfrm>
              <a:off x="3963423" y="3246827"/>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31" name="Google Shape;431;p59"/>
            <p:cNvCxnSpPr>
              <a:endCxn id="426" idx="1"/>
            </p:cNvCxnSpPr>
            <p:nvPr/>
          </p:nvCxnSpPr>
          <p:spPr>
            <a:xfrm>
              <a:off x="2791732" y="2705812"/>
              <a:ext cx="444000" cy="334500"/>
            </a:xfrm>
            <a:prstGeom prst="straightConnector1">
              <a:avLst/>
            </a:prstGeom>
            <a:noFill/>
            <a:ln cap="flat" cmpd="sng" w="19050">
              <a:solidFill>
                <a:schemeClr val="dk2"/>
              </a:solidFill>
              <a:prstDash val="solid"/>
              <a:round/>
              <a:headEnd len="sm" w="sm" type="none"/>
              <a:tailEnd len="sm" w="sm" type="none"/>
            </a:ln>
          </p:spPr>
        </p:cxnSp>
        <p:cxnSp>
          <p:nvCxnSpPr>
            <p:cNvPr id="432" name="Google Shape;432;p59"/>
            <p:cNvCxnSpPr>
              <a:stCxn id="425" idx="3"/>
              <a:endCxn id="429" idx="7"/>
            </p:cNvCxnSpPr>
            <p:nvPr/>
          </p:nvCxnSpPr>
          <p:spPr>
            <a:xfrm flipH="1">
              <a:off x="2140742" y="2714580"/>
              <a:ext cx="446100" cy="325800"/>
            </a:xfrm>
            <a:prstGeom prst="straightConnector1">
              <a:avLst/>
            </a:prstGeom>
            <a:noFill/>
            <a:ln cap="flat" cmpd="sng" w="19050">
              <a:solidFill>
                <a:schemeClr val="dk2"/>
              </a:solidFill>
              <a:prstDash val="solid"/>
              <a:round/>
              <a:headEnd len="sm" w="sm" type="none"/>
              <a:tailEnd len="sm" w="sm" type="none"/>
            </a:ln>
          </p:spPr>
        </p:cxnSp>
        <p:cxnSp>
          <p:nvCxnSpPr>
            <p:cNvPr id="433" name="Google Shape;433;p59"/>
            <p:cNvCxnSpPr>
              <a:stCxn id="426" idx="3"/>
              <a:endCxn id="428" idx="7"/>
            </p:cNvCxnSpPr>
            <p:nvPr/>
          </p:nvCxnSpPr>
          <p:spPr>
            <a:xfrm flipH="1">
              <a:off x="2837032" y="3238020"/>
              <a:ext cx="398700" cy="329400"/>
            </a:xfrm>
            <a:prstGeom prst="straightConnector1">
              <a:avLst/>
            </a:prstGeom>
            <a:noFill/>
            <a:ln cap="flat" cmpd="sng" w="19050">
              <a:solidFill>
                <a:schemeClr val="dk2"/>
              </a:solidFill>
              <a:prstDash val="solid"/>
              <a:round/>
              <a:headEnd len="sm" w="sm" type="none"/>
              <a:tailEnd len="sm" w="sm" type="none"/>
            </a:ln>
          </p:spPr>
        </p:cxnSp>
        <p:cxnSp>
          <p:nvCxnSpPr>
            <p:cNvPr id="434" name="Google Shape;434;p59"/>
            <p:cNvCxnSpPr>
              <a:stCxn id="428" idx="6"/>
              <a:endCxn id="427" idx="2"/>
            </p:cNvCxnSpPr>
            <p:nvPr/>
          </p:nvCxnSpPr>
          <p:spPr>
            <a:xfrm>
              <a:off x="2875223" y="3666268"/>
              <a:ext cx="711300" cy="264300"/>
            </a:xfrm>
            <a:prstGeom prst="straightConnector1">
              <a:avLst/>
            </a:prstGeom>
            <a:noFill/>
            <a:ln cap="flat" cmpd="sng" w="19050">
              <a:solidFill>
                <a:schemeClr val="dk2"/>
              </a:solidFill>
              <a:prstDash val="solid"/>
              <a:round/>
              <a:headEnd len="sm" w="sm" type="none"/>
              <a:tailEnd len="sm" w="sm" type="none"/>
            </a:ln>
          </p:spPr>
        </p:cxnSp>
        <p:cxnSp>
          <p:nvCxnSpPr>
            <p:cNvPr id="435" name="Google Shape;435;p59"/>
            <p:cNvCxnSpPr>
              <a:stCxn id="426" idx="5"/>
              <a:endCxn id="427" idx="0"/>
            </p:cNvCxnSpPr>
            <p:nvPr/>
          </p:nvCxnSpPr>
          <p:spPr>
            <a:xfrm>
              <a:off x="3420074" y="3238020"/>
              <a:ext cx="296700" cy="552900"/>
            </a:xfrm>
            <a:prstGeom prst="straightConnector1">
              <a:avLst/>
            </a:prstGeom>
            <a:noFill/>
            <a:ln cap="flat" cmpd="sng" w="19050">
              <a:solidFill>
                <a:schemeClr val="dk2"/>
              </a:solidFill>
              <a:prstDash val="solid"/>
              <a:round/>
              <a:headEnd len="sm" w="sm" type="none"/>
              <a:tailEnd len="sm" w="sm" type="none"/>
            </a:ln>
          </p:spPr>
        </p:cxnSp>
        <p:cxnSp>
          <p:nvCxnSpPr>
            <p:cNvPr id="436" name="Google Shape;436;p59"/>
            <p:cNvCxnSpPr>
              <a:stCxn id="426" idx="6"/>
              <a:endCxn id="430" idx="1"/>
            </p:cNvCxnSpPr>
            <p:nvPr/>
          </p:nvCxnSpPr>
          <p:spPr>
            <a:xfrm>
              <a:off x="3458253" y="3139166"/>
              <a:ext cx="543300" cy="148500"/>
            </a:xfrm>
            <a:prstGeom prst="straightConnector1">
              <a:avLst/>
            </a:prstGeom>
            <a:noFill/>
            <a:ln cap="flat" cmpd="sng" w="19050">
              <a:solidFill>
                <a:schemeClr val="dk2"/>
              </a:solidFill>
              <a:prstDash val="solid"/>
              <a:round/>
              <a:headEnd len="sm" w="sm" type="none"/>
              <a:tailEnd len="sm" w="sm" type="none"/>
            </a:ln>
          </p:spPr>
        </p:cxnSp>
        <p:sp>
          <p:nvSpPr>
            <p:cNvPr id="437" name="Google Shape;437;p59"/>
            <p:cNvSpPr/>
            <p:nvPr/>
          </p:nvSpPr>
          <p:spPr>
            <a:xfrm>
              <a:off x="2049295" y="3287882"/>
              <a:ext cx="1586908" cy="1085231"/>
            </a:xfrm>
            <a:custGeom>
              <a:rect b="b" l="l" r="r" t="t"/>
              <a:pathLst>
                <a:path extrusionOk="0" h="58677" w="85802">
                  <a:moveTo>
                    <a:pt x="85802" y="41056"/>
                  </a:moveTo>
                  <a:cubicBezTo>
                    <a:pt x="76115" y="43747"/>
                    <a:pt x="41978" y="64044"/>
                    <a:pt x="27678" y="57201"/>
                  </a:cubicBezTo>
                  <a:cubicBezTo>
                    <a:pt x="13378" y="50358"/>
                    <a:pt x="4613" y="9534"/>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 name="Google Shape;438;p59"/>
          <p:cNvGrpSpPr/>
          <p:nvPr/>
        </p:nvGrpSpPr>
        <p:grpSpPr>
          <a:xfrm>
            <a:off x="5117573" y="2388764"/>
            <a:ext cx="1692377" cy="2071504"/>
            <a:chOff x="5117573" y="2388764"/>
            <a:chExt cx="1692377" cy="2071504"/>
          </a:xfrm>
        </p:grpSpPr>
        <p:sp>
          <p:nvSpPr>
            <p:cNvPr id="439" name="Google Shape;439;p59"/>
            <p:cNvSpPr/>
            <p:nvPr/>
          </p:nvSpPr>
          <p:spPr>
            <a:xfrm>
              <a:off x="5840088" y="2388764"/>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40" name="Google Shape;440;p59"/>
            <p:cNvSpPr/>
            <p:nvPr/>
          </p:nvSpPr>
          <p:spPr>
            <a:xfrm>
              <a:off x="5840103" y="3016904"/>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41" name="Google Shape;441;p59"/>
            <p:cNvSpPr/>
            <p:nvPr/>
          </p:nvSpPr>
          <p:spPr>
            <a:xfrm>
              <a:off x="5510699" y="3607820"/>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42" name="Google Shape;442;p59"/>
            <p:cNvSpPr/>
            <p:nvPr/>
          </p:nvSpPr>
          <p:spPr>
            <a:xfrm>
              <a:off x="5117573" y="4180668"/>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43" name="Google Shape;443;p59"/>
            <p:cNvSpPr/>
            <p:nvPr/>
          </p:nvSpPr>
          <p:spPr>
            <a:xfrm>
              <a:off x="5840100" y="41806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44" name="Google Shape;444;p59"/>
            <p:cNvSpPr/>
            <p:nvPr/>
          </p:nvSpPr>
          <p:spPr>
            <a:xfrm>
              <a:off x="6291173" y="3607827"/>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45" name="Google Shape;445;p59"/>
            <p:cNvCxnSpPr>
              <a:stCxn id="439" idx="4"/>
              <a:endCxn id="440" idx="0"/>
            </p:cNvCxnSpPr>
            <p:nvPr/>
          </p:nvCxnSpPr>
          <p:spPr>
            <a:xfrm>
              <a:off x="5970438" y="2668364"/>
              <a:ext cx="0" cy="348600"/>
            </a:xfrm>
            <a:prstGeom prst="straightConnector1">
              <a:avLst/>
            </a:prstGeom>
            <a:noFill/>
            <a:ln cap="flat" cmpd="sng" w="19050">
              <a:solidFill>
                <a:schemeClr val="dk2"/>
              </a:solidFill>
              <a:prstDash val="solid"/>
              <a:round/>
              <a:headEnd len="sm" w="sm" type="none"/>
              <a:tailEnd len="sm" w="sm" type="none"/>
            </a:ln>
          </p:spPr>
        </p:cxnSp>
        <p:cxnSp>
          <p:nvCxnSpPr>
            <p:cNvPr id="446" name="Google Shape;446;p59"/>
            <p:cNvCxnSpPr>
              <a:stCxn id="442" idx="7"/>
              <a:endCxn id="441" idx="3"/>
            </p:cNvCxnSpPr>
            <p:nvPr/>
          </p:nvCxnSpPr>
          <p:spPr>
            <a:xfrm flipH="1" rot="10800000">
              <a:off x="5340094" y="3846614"/>
              <a:ext cx="208800" cy="375000"/>
            </a:xfrm>
            <a:prstGeom prst="straightConnector1">
              <a:avLst/>
            </a:prstGeom>
            <a:noFill/>
            <a:ln cap="flat" cmpd="sng" w="19050">
              <a:solidFill>
                <a:schemeClr val="dk2"/>
              </a:solidFill>
              <a:prstDash val="solid"/>
              <a:round/>
              <a:headEnd len="sm" w="sm" type="none"/>
              <a:tailEnd len="sm" w="sm" type="none"/>
            </a:ln>
          </p:spPr>
        </p:cxnSp>
        <p:cxnSp>
          <p:nvCxnSpPr>
            <p:cNvPr id="447" name="Google Shape;447;p59"/>
            <p:cNvCxnSpPr>
              <a:stCxn id="440" idx="3"/>
              <a:endCxn id="441" idx="0"/>
            </p:cNvCxnSpPr>
            <p:nvPr/>
          </p:nvCxnSpPr>
          <p:spPr>
            <a:xfrm flipH="1">
              <a:off x="5640982" y="3255558"/>
              <a:ext cx="237300" cy="352200"/>
            </a:xfrm>
            <a:prstGeom prst="straightConnector1">
              <a:avLst/>
            </a:prstGeom>
            <a:noFill/>
            <a:ln cap="flat" cmpd="sng" w="19050">
              <a:solidFill>
                <a:schemeClr val="dk2"/>
              </a:solidFill>
              <a:prstDash val="solid"/>
              <a:round/>
              <a:headEnd len="sm" w="sm" type="none"/>
              <a:tailEnd len="sm" w="sm" type="none"/>
            </a:ln>
          </p:spPr>
        </p:cxnSp>
        <p:cxnSp>
          <p:nvCxnSpPr>
            <p:cNvPr id="448" name="Google Shape;448;p59"/>
            <p:cNvCxnSpPr>
              <a:stCxn id="440" idx="5"/>
              <a:endCxn id="444" idx="1"/>
            </p:cNvCxnSpPr>
            <p:nvPr/>
          </p:nvCxnSpPr>
          <p:spPr>
            <a:xfrm>
              <a:off x="6062624" y="3255558"/>
              <a:ext cx="266700" cy="393300"/>
            </a:xfrm>
            <a:prstGeom prst="straightConnector1">
              <a:avLst/>
            </a:prstGeom>
            <a:noFill/>
            <a:ln cap="flat" cmpd="sng" w="19050">
              <a:solidFill>
                <a:schemeClr val="dk2"/>
              </a:solidFill>
              <a:prstDash val="solid"/>
              <a:round/>
              <a:headEnd len="sm" w="sm" type="none"/>
              <a:tailEnd len="sm" w="sm" type="none"/>
            </a:ln>
          </p:spPr>
        </p:cxnSp>
        <p:cxnSp>
          <p:nvCxnSpPr>
            <p:cNvPr id="449" name="Google Shape;449;p59"/>
            <p:cNvCxnSpPr>
              <a:stCxn id="441" idx="5"/>
              <a:endCxn id="443" idx="1"/>
            </p:cNvCxnSpPr>
            <p:nvPr/>
          </p:nvCxnSpPr>
          <p:spPr>
            <a:xfrm>
              <a:off x="5733220" y="3846474"/>
              <a:ext cx="145200" cy="375000"/>
            </a:xfrm>
            <a:prstGeom prst="straightConnector1">
              <a:avLst/>
            </a:prstGeom>
            <a:noFill/>
            <a:ln cap="flat" cmpd="sng" w="19050">
              <a:solidFill>
                <a:schemeClr val="dk2"/>
              </a:solidFill>
              <a:prstDash val="solid"/>
              <a:round/>
              <a:headEnd len="sm" w="sm" type="none"/>
              <a:tailEnd len="sm" w="sm" type="none"/>
            </a:ln>
          </p:spPr>
        </p:cxnSp>
        <p:sp>
          <p:nvSpPr>
            <p:cNvPr id="450" name="Google Shape;450;p59"/>
            <p:cNvSpPr/>
            <p:nvPr/>
          </p:nvSpPr>
          <p:spPr>
            <a:xfrm>
              <a:off x="5130148" y="3107425"/>
              <a:ext cx="713325" cy="1117200"/>
            </a:xfrm>
            <a:custGeom>
              <a:rect b="b" l="l" r="r" t="t"/>
              <a:pathLst>
                <a:path extrusionOk="0" h="44688" w="28533">
                  <a:moveTo>
                    <a:pt x="1101" y="44688"/>
                  </a:moveTo>
                  <a:cubicBezTo>
                    <a:pt x="1322" y="40190"/>
                    <a:pt x="-2143" y="25146"/>
                    <a:pt x="2429" y="17698"/>
                  </a:cubicBezTo>
                  <a:cubicBezTo>
                    <a:pt x="7001" y="10250"/>
                    <a:pt x="24182" y="2950"/>
                    <a:pt x="28533" y="0"/>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9"/>
            <p:cNvSpPr/>
            <p:nvPr/>
          </p:nvSpPr>
          <p:spPr>
            <a:xfrm>
              <a:off x="6108950" y="2510125"/>
              <a:ext cx="701000" cy="1791925"/>
            </a:xfrm>
            <a:custGeom>
              <a:rect b="b" l="l" r="r" t="t"/>
              <a:pathLst>
                <a:path extrusionOk="0" h="71677" w="28040">
                  <a:moveTo>
                    <a:pt x="0" y="71677"/>
                  </a:moveTo>
                  <a:cubicBezTo>
                    <a:pt x="4498" y="68506"/>
                    <a:pt x="23598" y="62017"/>
                    <a:pt x="26990" y="52652"/>
                  </a:cubicBezTo>
                  <a:cubicBezTo>
                    <a:pt x="30382" y="43287"/>
                    <a:pt x="24851" y="24261"/>
                    <a:pt x="20353" y="15486"/>
                  </a:cubicBezTo>
                  <a:cubicBezTo>
                    <a:pt x="15855" y="6711"/>
                    <a:pt x="3392" y="2581"/>
                    <a:pt x="0" y="0"/>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0"/>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457" name="Google Shape;457;p60"/>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lang="en-GB"/>
              <a:t>Într-un graf neorientat vom avea un ciclu dacă găsim ce fel de muchie?</a:t>
            </a:r>
            <a:endParaRPr/>
          </a:p>
          <a:p>
            <a:pPr indent="0" lvl="0" marL="0" rtl="0" algn="l">
              <a:lnSpc>
                <a:spcPct val="115000"/>
              </a:lnSpc>
              <a:spcBef>
                <a:spcPts val="1200"/>
              </a:spcBef>
              <a:spcAft>
                <a:spcPts val="1200"/>
              </a:spcAft>
              <a:buSzPts val="17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1"/>
          <p:cNvSpPr txBox="1"/>
          <p:nvPr>
            <p:ph type="title"/>
          </p:nvPr>
        </p:nvSpPr>
        <p:spPr>
          <a:xfrm>
            <a:off x="311700" y="52775"/>
            <a:ext cx="8755200" cy="623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Parcurgerea în adâncime - Clasificarea muchiilor</a:t>
            </a:r>
            <a:endParaRPr/>
          </a:p>
        </p:txBody>
      </p:sp>
      <p:sp>
        <p:nvSpPr>
          <p:cNvPr id="463" name="Google Shape;463;p61"/>
          <p:cNvSpPr txBox="1"/>
          <p:nvPr>
            <p:ph idx="1" type="body"/>
          </p:nvPr>
        </p:nvSpPr>
        <p:spPr>
          <a:xfrm>
            <a:off x="311700" y="906225"/>
            <a:ext cx="8520600" cy="375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000"/>
              </a:spcBef>
              <a:spcAft>
                <a:spcPts val="0"/>
              </a:spcAft>
              <a:buSzPts val="1700"/>
              <a:buNone/>
            </a:pPr>
            <a:r>
              <a:rPr lang="en-GB"/>
              <a:t>Într-un graf neorientat vom avea un ciclu dacă găsim ce fel de muchie?</a:t>
            </a:r>
            <a:endParaRPr/>
          </a:p>
          <a:p>
            <a:pPr indent="-336550" lvl="0" marL="457200" rtl="0" algn="l">
              <a:lnSpc>
                <a:spcPct val="115000"/>
              </a:lnSpc>
              <a:spcBef>
                <a:spcPts val="1200"/>
              </a:spcBef>
              <a:spcAft>
                <a:spcPts val="0"/>
              </a:spcAft>
              <a:buSzPts val="1700"/>
              <a:buChar char="⏵"/>
            </a:pPr>
            <a:r>
              <a:rPr lang="en-GB"/>
              <a:t>muchie înapoi</a:t>
            </a:r>
            <a:endParaRPr/>
          </a:p>
          <a:p>
            <a:pPr indent="0" lvl="0" marL="457200" rtl="0" algn="l">
              <a:lnSpc>
                <a:spcPct val="115000"/>
              </a:lnSpc>
              <a:spcBef>
                <a:spcPts val="1200"/>
              </a:spcBef>
              <a:spcAft>
                <a:spcPts val="1200"/>
              </a:spcAft>
              <a:buSzPts val="1700"/>
              <a:buNone/>
            </a:pPr>
            <a:r>
              <a:t/>
            </a:r>
            <a:endParaRPr/>
          </a:p>
        </p:txBody>
      </p:sp>
      <p:grpSp>
        <p:nvGrpSpPr>
          <p:cNvPr id="464" name="Google Shape;464;p61"/>
          <p:cNvGrpSpPr/>
          <p:nvPr/>
        </p:nvGrpSpPr>
        <p:grpSpPr>
          <a:xfrm>
            <a:off x="1918175" y="2475926"/>
            <a:ext cx="2305948" cy="1897187"/>
            <a:chOff x="1918175" y="2475926"/>
            <a:chExt cx="2305948" cy="1897187"/>
          </a:xfrm>
        </p:grpSpPr>
        <p:sp>
          <p:nvSpPr>
            <p:cNvPr id="465" name="Google Shape;465;p61"/>
            <p:cNvSpPr/>
            <p:nvPr/>
          </p:nvSpPr>
          <p:spPr>
            <a:xfrm>
              <a:off x="2548663" y="247592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66" name="Google Shape;466;p61"/>
            <p:cNvSpPr/>
            <p:nvPr/>
          </p:nvSpPr>
          <p:spPr>
            <a:xfrm>
              <a:off x="3197553" y="29993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67" name="Google Shape;467;p61"/>
            <p:cNvSpPr/>
            <p:nvPr/>
          </p:nvSpPr>
          <p:spPr>
            <a:xfrm>
              <a:off x="3586499" y="3790870"/>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68" name="Google Shape;468;p61"/>
            <p:cNvSpPr/>
            <p:nvPr/>
          </p:nvSpPr>
          <p:spPr>
            <a:xfrm>
              <a:off x="2614523" y="3526468"/>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69" name="Google Shape;469;p61"/>
            <p:cNvSpPr/>
            <p:nvPr/>
          </p:nvSpPr>
          <p:spPr>
            <a:xfrm>
              <a:off x="1918175" y="29993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70" name="Google Shape;470;p61"/>
            <p:cNvSpPr/>
            <p:nvPr/>
          </p:nvSpPr>
          <p:spPr>
            <a:xfrm>
              <a:off x="3963423" y="3246827"/>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71" name="Google Shape;471;p61"/>
            <p:cNvCxnSpPr>
              <a:endCxn id="466" idx="1"/>
            </p:cNvCxnSpPr>
            <p:nvPr/>
          </p:nvCxnSpPr>
          <p:spPr>
            <a:xfrm>
              <a:off x="2791732" y="2705812"/>
              <a:ext cx="444000" cy="334500"/>
            </a:xfrm>
            <a:prstGeom prst="straightConnector1">
              <a:avLst/>
            </a:prstGeom>
            <a:noFill/>
            <a:ln cap="flat" cmpd="sng" w="19050">
              <a:solidFill>
                <a:schemeClr val="dk2"/>
              </a:solidFill>
              <a:prstDash val="solid"/>
              <a:round/>
              <a:headEnd len="sm" w="sm" type="none"/>
              <a:tailEnd len="sm" w="sm" type="none"/>
            </a:ln>
          </p:spPr>
        </p:cxnSp>
        <p:cxnSp>
          <p:nvCxnSpPr>
            <p:cNvPr id="472" name="Google Shape;472;p61"/>
            <p:cNvCxnSpPr>
              <a:stCxn id="465" idx="3"/>
              <a:endCxn id="469" idx="7"/>
            </p:cNvCxnSpPr>
            <p:nvPr/>
          </p:nvCxnSpPr>
          <p:spPr>
            <a:xfrm flipH="1">
              <a:off x="2140742" y="2714580"/>
              <a:ext cx="446100" cy="325800"/>
            </a:xfrm>
            <a:prstGeom prst="straightConnector1">
              <a:avLst/>
            </a:prstGeom>
            <a:noFill/>
            <a:ln cap="flat" cmpd="sng" w="19050">
              <a:solidFill>
                <a:schemeClr val="dk2"/>
              </a:solidFill>
              <a:prstDash val="solid"/>
              <a:round/>
              <a:headEnd len="sm" w="sm" type="none"/>
              <a:tailEnd len="sm" w="sm" type="none"/>
            </a:ln>
          </p:spPr>
        </p:cxnSp>
        <p:cxnSp>
          <p:nvCxnSpPr>
            <p:cNvPr id="473" name="Google Shape;473;p61"/>
            <p:cNvCxnSpPr>
              <a:stCxn id="466" idx="3"/>
              <a:endCxn id="468" idx="7"/>
            </p:cNvCxnSpPr>
            <p:nvPr/>
          </p:nvCxnSpPr>
          <p:spPr>
            <a:xfrm flipH="1">
              <a:off x="2837032" y="3238020"/>
              <a:ext cx="398700" cy="329400"/>
            </a:xfrm>
            <a:prstGeom prst="straightConnector1">
              <a:avLst/>
            </a:prstGeom>
            <a:noFill/>
            <a:ln cap="flat" cmpd="sng" w="19050">
              <a:solidFill>
                <a:schemeClr val="dk2"/>
              </a:solidFill>
              <a:prstDash val="solid"/>
              <a:round/>
              <a:headEnd len="sm" w="sm" type="none"/>
              <a:tailEnd len="sm" w="sm" type="none"/>
            </a:ln>
          </p:spPr>
        </p:cxnSp>
        <p:cxnSp>
          <p:nvCxnSpPr>
            <p:cNvPr id="474" name="Google Shape;474;p61"/>
            <p:cNvCxnSpPr>
              <a:stCxn id="468" idx="6"/>
              <a:endCxn id="467" idx="2"/>
            </p:cNvCxnSpPr>
            <p:nvPr/>
          </p:nvCxnSpPr>
          <p:spPr>
            <a:xfrm>
              <a:off x="2875223" y="3666268"/>
              <a:ext cx="711300" cy="264300"/>
            </a:xfrm>
            <a:prstGeom prst="straightConnector1">
              <a:avLst/>
            </a:prstGeom>
            <a:noFill/>
            <a:ln cap="flat" cmpd="sng" w="19050">
              <a:solidFill>
                <a:schemeClr val="dk2"/>
              </a:solidFill>
              <a:prstDash val="solid"/>
              <a:round/>
              <a:headEnd len="sm" w="sm" type="none"/>
              <a:tailEnd len="sm" w="sm" type="none"/>
            </a:ln>
          </p:spPr>
        </p:cxnSp>
        <p:cxnSp>
          <p:nvCxnSpPr>
            <p:cNvPr id="475" name="Google Shape;475;p61"/>
            <p:cNvCxnSpPr>
              <a:stCxn id="466" idx="5"/>
              <a:endCxn id="467" idx="0"/>
            </p:cNvCxnSpPr>
            <p:nvPr/>
          </p:nvCxnSpPr>
          <p:spPr>
            <a:xfrm>
              <a:off x="3420074" y="3238020"/>
              <a:ext cx="296700" cy="552900"/>
            </a:xfrm>
            <a:prstGeom prst="straightConnector1">
              <a:avLst/>
            </a:prstGeom>
            <a:noFill/>
            <a:ln cap="flat" cmpd="sng" w="19050">
              <a:solidFill>
                <a:schemeClr val="dk2"/>
              </a:solidFill>
              <a:prstDash val="solid"/>
              <a:round/>
              <a:headEnd len="sm" w="sm" type="none"/>
              <a:tailEnd len="sm" w="sm" type="none"/>
            </a:ln>
          </p:spPr>
        </p:cxnSp>
        <p:cxnSp>
          <p:nvCxnSpPr>
            <p:cNvPr id="476" name="Google Shape;476;p61"/>
            <p:cNvCxnSpPr>
              <a:stCxn id="466" idx="6"/>
              <a:endCxn id="470" idx="1"/>
            </p:cNvCxnSpPr>
            <p:nvPr/>
          </p:nvCxnSpPr>
          <p:spPr>
            <a:xfrm>
              <a:off x="3458253" y="3139166"/>
              <a:ext cx="543300" cy="148500"/>
            </a:xfrm>
            <a:prstGeom prst="straightConnector1">
              <a:avLst/>
            </a:prstGeom>
            <a:noFill/>
            <a:ln cap="flat" cmpd="sng" w="19050">
              <a:solidFill>
                <a:schemeClr val="dk2"/>
              </a:solidFill>
              <a:prstDash val="solid"/>
              <a:round/>
              <a:headEnd len="sm" w="sm" type="none"/>
              <a:tailEnd len="sm" w="sm" type="none"/>
            </a:ln>
          </p:spPr>
        </p:cxnSp>
        <p:sp>
          <p:nvSpPr>
            <p:cNvPr id="477" name="Google Shape;477;p61"/>
            <p:cNvSpPr/>
            <p:nvPr/>
          </p:nvSpPr>
          <p:spPr>
            <a:xfrm>
              <a:off x="2049295" y="3287882"/>
              <a:ext cx="1586908" cy="1085231"/>
            </a:xfrm>
            <a:custGeom>
              <a:rect b="b" l="l" r="r" t="t"/>
              <a:pathLst>
                <a:path extrusionOk="0" h="58677" w="85802">
                  <a:moveTo>
                    <a:pt x="85802" y="41056"/>
                  </a:moveTo>
                  <a:cubicBezTo>
                    <a:pt x="76115" y="43747"/>
                    <a:pt x="41978" y="64044"/>
                    <a:pt x="27678" y="57201"/>
                  </a:cubicBezTo>
                  <a:cubicBezTo>
                    <a:pt x="13378" y="50358"/>
                    <a:pt x="4613" y="9534"/>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 name="Google Shape;478;p61"/>
          <p:cNvGrpSpPr/>
          <p:nvPr/>
        </p:nvGrpSpPr>
        <p:grpSpPr>
          <a:xfrm>
            <a:off x="5117573" y="2388764"/>
            <a:ext cx="1692377" cy="2071504"/>
            <a:chOff x="5117573" y="2388764"/>
            <a:chExt cx="1692377" cy="2071504"/>
          </a:xfrm>
        </p:grpSpPr>
        <p:sp>
          <p:nvSpPr>
            <p:cNvPr id="479" name="Google Shape;479;p61"/>
            <p:cNvSpPr/>
            <p:nvPr/>
          </p:nvSpPr>
          <p:spPr>
            <a:xfrm>
              <a:off x="5840088" y="2388764"/>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80" name="Google Shape;480;p61"/>
            <p:cNvSpPr/>
            <p:nvPr/>
          </p:nvSpPr>
          <p:spPr>
            <a:xfrm>
              <a:off x="5840103" y="3016904"/>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81" name="Google Shape;481;p61"/>
            <p:cNvSpPr/>
            <p:nvPr/>
          </p:nvSpPr>
          <p:spPr>
            <a:xfrm>
              <a:off x="5510699" y="3607820"/>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82" name="Google Shape;482;p61"/>
            <p:cNvSpPr/>
            <p:nvPr/>
          </p:nvSpPr>
          <p:spPr>
            <a:xfrm>
              <a:off x="5117573" y="4180668"/>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83" name="Google Shape;483;p61"/>
            <p:cNvSpPr/>
            <p:nvPr/>
          </p:nvSpPr>
          <p:spPr>
            <a:xfrm>
              <a:off x="5840100" y="4180666"/>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84" name="Google Shape;484;p61"/>
            <p:cNvSpPr/>
            <p:nvPr/>
          </p:nvSpPr>
          <p:spPr>
            <a:xfrm>
              <a:off x="6291173" y="3607827"/>
              <a:ext cx="260700" cy="279600"/>
            </a:xfrm>
            <a:prstGeom prst="ellipse">
              <a:avLst/>
            </a:prstGeom>
            <a:noFill/>
            <a:ln cap="flat" cmpd="sng" w="28575">
              <a:solidFill>
                <a:srgbClr val="009384"/>
              </a:solidFill>
              <a:prstDash val="solid"/>
              <a:round/>
              <a:headEnd len="sm" w="sm" type="none"/>
              <a:tailEnd len="sm" w="sm" type="none"/>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85" name="Google Shape;485;p61"/>
            <p:cNvCxnSpPr>
              <a:stCxn id="479" idx="4"/>
              <a:endCxn id="480" idx="0"/>
            </p:cNvCxnSpPr>
            <p:nvPr/>
          </p:nvCxnSpPr>
          <p:spPr>
            <a:xfrm>
              <a:off x="5970438" y="2668364"/>
              <a:ext cx="0" cy="348600"/>
            </a:xfrm>
            <a:prstGeom prst="straightConnector1">
              <a:avLst/>
            </a:prstGeom>
            <a:noFill/>
            <a:ln cap="flat" cmpd="sng" w="19050">
              <a:solidFill>
                <a:schemeClr val="dk2"/>
              </a:solidFill>
              <a:prstDash val="solid"/>
              <a:round/>
              <a:headEnd len="sm" w="sm" type="none"/>
              <a:tailEnd len="sm" w="sm" type="none"/>
            </a:ln>
          </p:spPr>
        </p:cxnSp>
        <p:cxnSp>
          <p:nvCxnSpPr>
            <p:cNvPr id="486" name="Google Shape;486;p61"/>
            <p:cNvCxnSpPr>
              <a:stCxn id="482" idx="7"/>
              <a:endCxn id="481" idx="3"/>
            </p:cNvCxnSpPr>
            <p:nvPr/>
          </p:nvCxnSpPr>
          <p:spPr>
            <a:xfrm flipH="1" rot="10800000">
              <a:off x="5340094" y="3846614"/>
              <a:ext cx="208800" cy="375000"/>
            </a:xfrm>
            <a:prstGeom prst="straightConnector1">
              <a:avLst/>
            </a:prstGeom>
            <a:noFill/>
            <a:ln cap="flat" cmpd="sng" w="19050">
              <a:solidFill>
                <a:schemeClr val="dk2"/>
              </a:solidFill>
              <a:prstDash val="solid"/>
              <a:round/>
              <a:headEnd len="sm" w="sm" type="none"/>
              <a:tailEnd len="sm" w="sm" type="none"/>
            </a:ln>
          </p:spPr>
        </p:cxnSp>
        <p:cxnSp>
          <p:nvCxnSpPr>
            <p:cNvPr id="487" name="Google Shape;487;p61"/>
            <p:cNvCxnSpPr>
              <a:stCxn id="480" idx="3"/>
              <a:endCxn id="481" idx="0"/>
            </p:cNvCxnSpPr>
            <p:nvPr/>
          </p:nvCxnSpPr>
          <p:spPr>
            <a:xfrm flipH="1">
              <a:off x="5640982" y="3255558"/>
              <a:ext cx="237300" cy="352200"/>
            </a:xfrm>
            <a:prstGeom prst="straightConnector1">
              <a:avLst/>
            </a:prstGeom>
            <a:noFill/>
            <a:ln cap="flat" cmpd="sng" w="19050">
              <a:solidFill>
                <a:schemeClr val="dk2"/>
              </a:solidFill>
              <a:prstDash val="solid"/>
              <a:round/>
              <a:headEnd len="sm" w="sm" type="none"/>
              <a:tailEnd len="sm" w="sm" type="none"/>
            </a:ln>
          </p:spPr>
        </p:cxnSp>
        <p:cxnSp>
          <p:nvCxnSpPr>
            <p:cNvPr id="488" name="Google Shape;488;p61"/>
            <p:cNvCxnSpPr>
              <a:stCxn id="480" idx="5"/>
              <a:endCxn id="484" idx="1"/>
            </p:cNvCxnSpPr>
            <p:nvPr/>
          </p:nvCxnSpPr>
          <p:spPr>
            <a:xfrm>
              <a:off x="6062624" y="3255558"/>
              <a:ext cx="266700" cy="393300"/>
            </a:xfrm>
            <a:prstGeom prst="straightConnector1">
              <a:avLst/>
            </a:prstGeom>
            <a:noFill/>
            <a:ln cap="flat" cmpd="sng" w="19050">
              <a:solidFill>
                <a:schemeClr val="dk2"/>
              </a:solidFill>
              <a:prstDash val="solid"/>
              <a:round/>
              <a:headEnd len="sm" w="sm" type="none"/>
              <a:tailEnd len="sm" w="sm" type="none"/>
            </a:ln>
          </p:spPr>
        </p:cxnSp>
        <p:cxnSp>
          <p:nvCxnSpPr>
            <p:cNvPr id="489" name="Google Shape;489;p61"/>
            <p:cNvCxnSpPr>
              <a:stCxn id="481" idx="5"/>
              <a:endCxn id="483" idx="1"/>
            </p:cNvCxnSpPr>
            <p:nvPr/>
          </p:nvCxnSpPr>
          <p:spPr>
            <a:xfrm>
              <a:off x="5733220" y="3846474"/>
              <a:ext cx="145200" cy="375000"/>
            </a:xfrm>
            <a:prstGeom prst="straightConnector1">
              <a:avLst/>
            </a:prstGeom>
            <a:noFill/>
            <a:ln cap="flat" cmpd="sng" w="19050">
              <a:solidFill>
                <a:schemeClr val="dk2"/>
              </a:solidFill>
              <a:prstDash val="solid"/>
              <a:round/>
              <a:headEnd len="sm" w="sm" type="none"/>
              <a:tailEnd len="sm" w="sm" type="none"/>
            </a:ln>
          </p:spPr>
        </p:cxnSp>
        <p:sp>
          <p:nvSpPr>
            <p:cNvPr id="490" name="Google Shape;490;p61"/>
            <p:cNvSpPr/>
            <p:nvPr/>
          </p:nvSpPr>
          <p:spPr>
            <a:xfrm>
              <a:off x="5130148" y="3107425"/>
              <a:ext cx="713325" cy="1117200"/>
            </a:xfrm>
            <a:custGeom>
              <a:rect b="b" l="l" r="r" t="t"/>
              <a:pathLst>
                <a:path extrusionOk="0" h="44688" w="28533">
                  <a:moveTo>
                    <a:pt x="1101" y="44688"/>
                  </a:moveTo>
                  <a:cubicBezTo>
                    <a:pt x="1322" y="40190"/>
                    <a:pt x="-2143" y="25146"/>
                    <a:pt x="2429" y="17698"/>
                  </a:cubicBezTo>
                  <a:cubicBezTo>
                    <a:pt x="7001" y="10250"/>
                    <a:pt x="24182" y="2950"/>
                    <a:pt x="28533" y="0"/>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1"/>
            <p:cNvSpPr/>
            <p:nvPr/>
          </p:nvSpPr>
          <p:spPr>
            <a:xfrm>
              <a:off x="6108950" y="2510125"/>
              <a:ext cx="701000" cy="1791925"/>
            </a:xfrm>
            <a:custGeom>
              <a:rect b="b" l="l" r="r" t="t"/>
              <a:pathLst>
                <a:path extrusionOk="0" h="71677" w="28040">
                  <a:moveTo>
                    <a:pt x="0" y="71677"/>
                  </a:moveTo>
                  <a:cubicBezTo>
                    <a:pt x="4498" y="68506"/>
                    <a:pt x="23598" y="62017"/>
                    <a:pt x="26990" y="52652"/>
                  </a:cubicBezTo>
                  <a:cubicBezTo>
                    <a:pt x="30382" y="43287"/>
                    <a:pt x="24851" y="24261"/>
                    <a:pt x="20353" y="15486"/>
                  </a:cubicBezTo>
                  <a:cubicBezTo>
                    <a:pt x="15855" y="6711"/>
                    <a:pt x="3392" y="2581"/>
                    <a:pt x="0" y="0"/>
                  </a:cubicBezTo>
                </a:path>
              </a:pathLst>
            </a:cu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62"/>
          <p:cNvPicPr preferRelativeResize="0"/>
          <p:nvPr/>
        </p:nvPicPr>
        <p:blipFill rotWithShape="1">
          <a:blip r:embed="rId3">
            <a:alphaModFix/>
          </a:blip>
          <a:srcRect b="0" l="0" r="0" t="0"/>
          <a:stretch/>
        </p:blipFill>
        <p:spPr>
          <a:xfrm>
            <a:off x="3349800" y="1525950"/>
            <a:ext cx="2444400" cy="2091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0D94DE34D6134AB4DB1DB59F5B5DAF" ma:contentTypeVersion="0" ma:contentTypeDescription="Creați un document nou." ma:contentTypeScope="" ma:versionID="ed5cb2434b61330c8c2af58f5b1608a2">
  <xsd:schema xmlns:xsd="http://www.w3.org/2001/XMLSchema" xmlns:xs="http://www.w3.org/2001/XMLSchema" xmlns:p="http://schemas.microsoft.com/office/2006/metadata/properties" targetNamespace="http://schemas.microsoft.com/office/2006/metadata/properties" ma:root="true" ma:fieldsID="0b545e5bd6bfcf038c3a879c46f0f3c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 de conținut"/>
        <xsd:element ref="dc:title" minOccurs="0" maxOccurs="1" ma:index="4" ma:displayName="Titlu"/>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9DB8B4-E834-4A9E-9CC4-D6F21FB4EF40}"/>
</file>

<file path=customXml/itemProps2.xml><?xml version="1.0" encoding="utf-8"?>
<ds:datastoreItem xmlns:ds="http://schemas.openxmlformats.org/officeDocument/2006/customXml" ds:itemID="{B50C74ED-E8B2-4D33-8B9F-03CC445505BF}"/>
</file>

<file path=customXml/itemProps3.xml><?xml version="1.0" encoding="utf-8"?>
<ds:datastoreItem xmlns:ds="http://schemas.openxmlformats.org/officeDocument/2006/customXml" ds:itemID="{3D0336B3-3897-493E-9161-C3C3D2E41F9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0x010100810D94DE34D6134AB4DB1DB59F5B5DAF</vt:lpwstr>
  </property>
</Properties>
</file>