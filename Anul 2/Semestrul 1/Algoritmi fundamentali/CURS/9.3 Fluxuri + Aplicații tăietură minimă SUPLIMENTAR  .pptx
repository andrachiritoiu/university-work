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embeddedFontLst>
    <p:embeddedFont>
      <p:font typeface="Roboto"/>
      <p:regular r:id="rId56"/>
      <p:bold r:id="rId57"/>
      <p:italic r:id="rId58"/>
      <p:boldItalic r:id="rId59"/>
    </p:embeddedFont>
    <p:embeddedFont>
      <p:font typeface="Roboto Mono"/>
      <p:regular r:id="rId60"/>
      <p:bold r:id="rId61"/>
      <p:italic r:id="rId62"/>
      <p:boldItalic r:id="rId63"/>
    </p:embeddedFont>
    <p:embeddedFont>
      <p:font typeface="Merriweather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8" roundtripDataSignature="AMtx7mi6BiHrh/Op68dJoCKMLhDpIGHP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5A327F-5AAE-4821-8F19-42E9A16C883B}">
  <a:tblStyle styleId="{735A327F-5AAE-4821-8F19-42E9A16C883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68" Type="http://customschemas.google.com/relationships/presentationmetadata" Target="metadata"/><Relationship Id="rId7" Type="http://schemas.openxmlformats.org/officeDocument/2006/relationships/slide" Target="slides/slide1.xml"/><Relationship Id="rId71" Type="http://schemas.openxmlformats.org/officeDocument/2006/relationships/customXml" Target="../customXml/item3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66" Type="http://schemas.openxmlformats.org/officeDocument/2006/relationships/font" Target="fonts/Merriweather-italic.fntdata"/><Relationship Id="rId24" Type="http://schemas.openxmlformats.org/officeDocument/2006/relationships/slide" Target="slides/slide18.xml"/><Relationship Id="rId53" Type="http://schemas.openxmlformats.org/officeDocument/2006/relationships/slide" Target="slides/slide47.xml"/><Relationship Id="rId11" Type="http://schemas.openxmlformats.org/officeDocument/2006/relationships/slide" Target="slides/slide5.xml"/><Relationship Id="rId58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1" Type="http://schemas.openxmlformats.org/officeDocument/2006/relationships/font" Target="fonts/RobotoMono-bold.fntdata"/><Relationship Id="rId19" Type="http://schemas.openxmlformats.org/officeDocument/2006/relationships/slide" Target="slides/slide13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64" Type="http://schemas.openxmlformats.org/officeDocument/2006/relationships/font" Target="fonts/Merriweather-regular.fntdata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56" Type="http://schemas.openxmlformats.org/officeDocument/2006/relationships/font" Target="fonts/Roboto-regular.fntdata"/><Relationship Id="rId14" Type="http://schemas.openxmlformats.org/officeDocument/2006/relationships/slide" Target="slides/slide8.xml"/><Relationship Id="rId69" Type="http://schemas.openxmlformats.org/officeDocument/2006/relationships/customXml" Target="../customXml/item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presProps" Target="presProps.xml"/><Relationship Id="rId46" Type="http://schemas.openxmlformats.org/officeDocument/2006/relationships/slide" Target="slides/slide40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67" Type="http://schemas.openxmlformats.org/officeDocument/2006/relationships/font" Target="fonts/Merriweather-boldItalic.fntdata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59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41" Type="http://schemas.openxmlformats.org/officeDocument/2006/relationships/slide" Target="slides/slide35.xml"/><Relationship Id="rId62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54" Type="http://schemas.openxmlformats.org/officeDocument/2006/relationships/slide" Target="slides/slide48.xml"/><Relationship Id="rId70" Type="http://schemas.openxmlformats.org/officeDocument/2006/relationships/customXml" Target="../customXml/item2.xml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slide" Target="slides/slide43.xml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7" Type="http://schemas.openxmlformats.org/officeDocument/2006/relationships/font" Target="fonts/Roboto-bold.fntdata"/><Relationship Id="rId15" Type="http://schemas.openxmlformats.org/officeDocument/2006/relationships/slide" Target="slides/slide9.xml"/><Relationship Id="rId44" Type="http://schemas.openxmlformats.org/officeDocument/2006/relationships/slide" Target="slides/slide38.xml"/><Relationship Id="rId31" Type="http://schemas.openxmlformats.org/officeDocument/2006/relationships/slide" Target="slides/slide25.xml"/><Relationship Id="rId65" Type="http://schemas.openxmlformats.org/officeDocument/2006/relationships/font" Target="fonts/Merriweather-bold.fntdata"/><Relationship Id="rId60" Type="http://schemas.openxmlformats.org/officeDocument/2006/relationships/font" Target="fonts/RobotoMono-regular.fntdata"/><Relationship Id="rId52" Type="http://schemas.openxmlformats.org/officeDocument/2006/relationships/slide" Target="slides/slide46.xml"/><Relationship Id="rId10" Type="http://schemas.openxmlformats.org/officeDocument/2006/relationships/slide" Target="slides/slide4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39" Type="http://schemas.openxmlformats.org/officeDocument/2006/relationships/slide" Target="slides/slide3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5" name="Google Shape;73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3" name="Google Shape;84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5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2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4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5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55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5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6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56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6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5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5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6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62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ourses.engr.illinois.edu/cs473/sp2013/w/lec/19_add_notes.pdf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docs.opencv.org/3.4/d8/d83/tutorial_py_grabcut.html" TargetMode="External"/><Relationship Id="rId4" Type="http://schemas.openxmlformats.org/officeDocument/2006/relationships/image" Target="../media/image2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Aplicații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Problema determinării unei tăieturi minime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Determinarea unui flux maxim ⇒ determinarea unei tăieturi minime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Aplicații</a:t>
            </a:r>
            <a:endParaRPr b="0"/>
          </a:p>
          <a:p>
            <a:pPr indent="-3111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b="1" lang="en-GB" sz="1500"/>
              <a:t>arce</a:t>
            </a:r>
            <a:r>
              <a:rPr b="0" lang="en-GB" sz="1500"/>
              <a:t> = poduri</a:t>
            </a:r>
            <a:endParaRPr b="0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GB" sz="1500"/>
              <a:t>capacitate </a:t>
            </a:r>
            <a:r>
              <a:rPr lang="en-GB" sz="1500"/>
              <a:t>= costul dărâmării podului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-GB" sz="1500"/>
              <a:t>Ce poduri trebuie dărâmate a</a:t>
            </a:r>
            <a:r>
              <a:rPr lang="en-GB" sz="1500"/>
              <a:t>.î. teritoriul sursă să nu mai fie conectat cu destinația, iar costul distrugerilor să fie minim?</a:t>
            </a:r>
            <a:endParaRPr b="0" sz="1500"/>
          </a:p>
        </p:txBody>
      </p:sp>
      <p:grpSp>
        <p:nvGrpSpPr>
          <p:cNvPr id="79" name="Google Shape;79;p2"/>
          <p:cNvGrpSpPr/>
          <p:nvPr/>
        </p:nvGrpSpPr>
        <p:grpSpPr>
          <a:xfrm>
            <a:off x="2715600" y="3147850"/>
            <a:ext cx="3712800" cy="1904750"/>
            <a:chOff x="2715600" y="3147850"/>
            <a:chExt cx="3712800" cy="1904750"/>
          </a:xfrm>
        </p:grpSpPr>
        <p:sp>
          <p:nvSpPr>
            <p:cNvPr id="80" name="Google Shape;80;p2"/>
            <p:cNvSpPr/>
            <p:nvPr/>
          </p:nvSpPr>
          <p:spPr>
            <a:xfrm>
              <a:off x="27156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22365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628900" y="45209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22365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628900" y="33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068400" y="39374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" name="Google Shape;86;p2"/>
            <p:cNvCxnSpPr>
              <a:stCxn id="80" idx="7"/>
              <a:endCxn id="84" idx="2"/>
            </p:cNvCxnSpPr>
            <p:nvPr/>
          </p:nvCxnSpPr>
          <p:spPr>
            <a:xfrm flipH="1" rot="10800000">
              <a:off x="3022879" y="3499671"/>
              <a:ext cx="6060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7" name="Google Shape;87;p2"/>
            <p:cNvCxnSpPr>
              <a:stCxn id="84" idx="6"/>
              <a:endCxn id="83" idx="2"/>
            </p:cNvCxnSpPr>
            <p:nvPr/>
          </p:nvCxnSpPr>
          <p:spPr>
            <a:xfrm>
              <a:off x="3988900" y="349955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8" name="Google Shape;88;p2"/>
            <p:cNvCxnSpPr>
              <a:stCxn id="83" idx="6"/>
              <a:endCxn id="85" idx="1"/>
            </p:cNvCxnSpPr>
            <p:nvPr/>
          </p:nvCxnSpPr>
          <p:spPr>
            <a:xfrm>
              <a:off x="5583650" y="3499550"/>
              <a:ext cx="5376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9" name="Google Shape;89;p2"/>
            <p:cNvCxnSpPr>
              <a:stCxn id="80" idx="5"/>
              <a:endCxn id="82" idx="2"/>
            </p:cNvCxnSpPr>
            <p:nvPr/>
          </p:nvCxnSpPr>
          <p:spPr>
            <a:xfrm>
              <a:off x="3022879" y="4244729"/>
              <a:ext cx="606000" cy="456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" name="Google Shape;90;p2"/>
            <p:cNvCxnSpPr>
              <a:stCxn id="82" idx="6"/>
              <a:endCxn id="81" idx="2"/>
            </p:cNvCxnSpPr>
            <p:nvPr/>
          </p:nvCxnSpPr>
          <p:spPr>
            <a:xfrm>
              <a:off x="3988900" y="4700900"/>
              <a:ext cx="123480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" name="Google Shape;91;p2"/>
            <p:cNvCxnSpPr>
              <a:stCxn id="81" idx="6"/>
              <a:endCxn id="85" idx="3"/>
            </p:cNvCxnSpPr>
            <p:nvPr/>
          </p:nvCxnSpPr>
          <p:spPr>
            <a:xfrm flipH="1" rot="10800000">
              <a:off x="5583650" y="4244600"/>
              <a:ext cx="537600" cy="456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" name="Google Shape;92;p2"/>
            <p:cNvCxnSpPr>
              <a:stCxn id="84" idx="5"/>
              <a:endCxn id="81" idx="1"/>
            </p:cNvCxnSpPr>
            <p:nvPr/>
          </p:nvCxnSpPr>
          <p:spPr>
            <a:xfrm>
              <a:off x="3936179" y="3626829"/>
              <a:ext cx="1340100" cy="946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3" name="Google Shape;93;p2"/>
            <p:cNvSpPr txBox="1"/>
            <p:nvPr/>
          </p:nvSpPr>
          <p:spPr>
            <a:xfrm>
              <a:off x="4510900" y="31478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5820050" y="43997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3022875" y="34995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3022875" y="43351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5820050" y="343495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4545625" y="3789975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4455675" y="4652400"/>
              <a:ext cx="30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31394D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Tăietură minimă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715600" y="2337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223650" y="2920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628900" y="2920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223650" y="1719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628900" y="17193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068400" y="2337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3"/>
          <p:cNvCxnSpPr>
            <a:stCxn id="106" idx="7"/>
            <a:endCxn id="110" idx="2"/>
          </p:cNvCxnSpPr>
          <p:nvPr/>
        </p:nvCxnSpPr>
        <p:spPr>
          <a:xfrm flipH="1" rot="10800000">
            <a:off x="3022879" y="1899471"/>
            <a:ext cx="606000" cy="49050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3"/>
          <p:cNvCxnSpPr>
            <a:stCxn id="110" idx="6"/>
            <a:endCxn id="109" idx="2"/>
          </p:cNvCxnSpPr>
          <p:nvPr/>
        </p:nvCxnSpPr>
        <p:spPr>
          <a:xfrm>
            <a:off x="3988900" y="1899350"/>
            <a:ext cx="1234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3"/>
          <p:cNvCxnSpPr>
            <a:stCxn id="109" idx="6"/>
            <a:endCxn id="111" idx="1"/>
          </p:cNvCxnSpPr>
          <p:nvPr/>
        </p:nvCxnSpPr>
        <p:spPr>
          <a:xfrm>
            <a:off x="5583650" y="1899350"/>
            <a:ext cx="5376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3"/>
          <p:cNvCxnSpPr>
            <a:stCxn id="106" idx="5"/>
            <a:endCxn id="108" idx="2"/>
          </p:cNvCxnSpPr>
          <p:nvPr/>
        </p:nvCxnSpPr>
        <p:spPr>
          <a:xfrm>
            <a:off x="3022879" y="2644529"/>
            <a:ext cx="606000" cy="45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3"/>
          <p:cNvCxnSpPr>
            <a:stCxn id="108" idx="6"/>
            <a:endCxn id="107" idx="2"/>
          </p:cNvCxnSpPr>
          <p:nvPr/>
        </p:nvCxnSpPr>
        <p:spPr>
          <a:xfrm>
            <a:off x="3988900" y="3100700"/>
            <a:ext cx="1234800" cy="0"/>
          </a:xfrm>
          <a:prstGeom prst="straightConnector1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3"/>
          <p:cNvCxnSpPr>
            <a:stCxn id="107" idx="6"/>
            <a:endCxn id="111" idx="3"/>
          </p:cNvCxnSpPr>
          <p:nvPr/>
        </p:nvCxnSpPr>
        <p:spPr>
          <a:xfrm flipH="1" rot="10800000">
            <a:off x="5583650" y="2644400"/>
            <a:ext cx="537600" cy="45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3"/>
          <p:cNvCxnSpPr>
            <a:stCxn id="110" idx="5"/>
            <a:endCxn id="107" idx="1"/>
          </p:cNvCxnSpPr>
          <p:nvPr/>
        </p:nvCxnSpPr>
        <p:spPr>
          <a:xfrm>
            <a:off x="3936179" y="2026629"/>
            <a:ext cx="1340100" cy="94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" name="Google Shape;119;p3"/>
          <p:cNvSpPr txBox="1"/>
          <p:nvPr/>
        </p:nvSpPr>
        <p:spPr>
          <a:xfrm>
            <a:off x="4337475" y="15324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820050" y="2799550"/>
            <a:ext cx="94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2786400" y="27349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 / 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5820050" y="1834750"/>
            <a:ext cx="6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545625" y="2189775"/>
            <a:ext cx="5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337475" y="306740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786475" y="1899350"/>
            <a:ext cx="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6 / 6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Planificare activități proiecte</a:t>
            </a:r>
            <a:endParaRPr/>
          </a:p>
        </p:txBody>
      </p:sp>
      <p:sp>
        <p:nvSpPr>
          <p:cNvPr id="131" name="Google Shape;131;p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un proiect cu n activități, numerotate 1, …, n, se cunosc: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profitul p</a:t>
            </a:r>
            <a:r>
              <a:rPr baseline="-25000" lang="en-GB" sz="1500"/>
              <a:t>i</a:t>
            </a:r>
            <a:r>
              <a:rPr lang="en-GB" sz="1500"/>
              <a:t> - care poate fi și &lt; 0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un proiect cu n activități, numerotate 1, …, n, se cunosc: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profitul p</a:t>
            </a:r>
            <a:r>
              <a:rPr baseline="-25000" lang="en-GB" sz="1500"/>
              <a:t>i</a:t>
            </a:r>
            <a:r>
              <a:rPr lang="en-GB" sz="1500"/>
              <a:t> - care poate fi și &lt; 0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perechi (i, j) = activitatea i </a:t>
            </a:r>
            <a:r>
              <a:rPr b="1" lang="en-GB" sz="1500"/>
              <a:t>depinde de</a:t>
            </a:r>
            <a:r>
              <a:rPr lang="en-GB" sz="1500"/>
              <a:t> activitatea j</a:t>
            </a:r>
            <a:br>
              <a:rPr lang="en-GB" sz="1500"/>
            </a:br>
            <a:r>
              <a:rPr lang="en-GB" sz="1500"/>
              <a:t>(activitatea i nu poate fi efectuată decât dacă se efectuează j)</a:t>
            </a:r>
            <a:endParaRPr b="0" sz="150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Pentru un proiect cu n activități, numerotate 1, …, n, se cunosc: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profitul p</a:t>
            </a:r>
            <a:r>
              <a:rPr baseline="-25000" lang="en-GB" sz="1500"/>
              <a:t>i</a:t>
            </a:r>
            <a:r>
              <a:rPr lang="en-GB" sz="1500"/>
              <a:t> - care poate fi și &lt; 0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perechi (i, j) = activitatea i </a:t>
            </a:r>
            <a:r>
              <a:rPr b="1" lang="en-GB" sz="1500"/>
              <a:t>depinde de</a:t>
            </a:r>
            <a:r>
              <a:rPr lang="en-GB" sz="1500"/>
              <a:t> activitatea j</a:t>
            </a:r>
            <a:br>
              <a:rPr lang="en-GB" sz="1500"/>
            </a:br>
            <a:r>
              <a:rPr lang="en-GB" sz="1500"/>
              <a:t>(activitatea i nu poate fi efectuată decât dacă se efectuează j)</a:t>
            </a:r>
            <a:endParaRPr b="0" sz="15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cere:</a:t>
            </a:r>
            <a:r>
              <a:rPr b="0" lang="en-GB"/>
              <a:t> să se selecteze o mulțime de activități realizabile A de profit maxim.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O mulțime de activități este realizabilă dacă</a:t>
            </a:r>
            <a:endParaRPr b="0"/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C0000"/>
              </a:buClr>
              <a:buSzPts val="1400"/>
              <a:buChar char="○"/>
            </a:pPr>
            <a:r>
              <a:rPr b="1" lang="en-GB" sz="1600">
                <a:solidFill>
                  <a:srgbClr val="CC0000"/>
                </a:solidFill>
              </a:rPr>
              <a:t>i ∈ A, i depinde de j  ⇒  j ∈ A</a:t>
            </a:r>
            <a:endParaRPr b="1" sz="16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Notații pentru o mulțime A de activități:</a:t>
            </a: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 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t/>
            </a:r>
            <a:endParaRPr b="0"/>
          </a:p>
        </p:txBody>
      </p:sp>
      <p:pic>
        <p:nvPicPr>
          <p:cNvPr descr="castig(A) = \sum\limits_{i \in A, p_i \geq 0} p_i" id="156" name="Google Shape;156;p8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850" y="1698875"/>
            <a:ext cx="2071676" cy="46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rdere(A) = \sum\limits_{i \in A, p_i &lt; 0} (-p_i)" id="157" name="Google Shape;157;p8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850" y="2524600"/>
            <a:ext cx="2611556" cy="46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fit(A) = castig(A) - pierdere(A)" id="158" name="Google Shape;158;p8" title="MathEquation,#31394d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850" y="3378625"/>
            <a:ext cx="3323800" cy="24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_{tot} = castig(\{1, ..., n\})" id="159" name="Google Shape;159;p8" title="MathEquation,#31394d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850" y="4228825"/>
            <a:ext cx="2215742" cy="2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311700" y="906225"/>
            <a:ext cx="85206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n = 6 activități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Dependențe indicate de graful alăturat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Soluție: A = {2, 4, 5, 6},  profit(A) = 12</a:t>
            </a:r>
            <a:br>
              <a:rPr lang="en-GB"/>
            </a:br>
            <a:r>
              <a:rPr b="0" lang="en-GB"/>
              <a:t>					(câștig(A) = 17, pierdere(A) = 5)</a:t>
            </a:r>
            <a:endParaRPr b="0"/>
          </a:p>
        </p:txBody>
      </p:sp>
      <p:graphicFrame>
        <p:nvGraphicFramePr>
          <p:cNvPr id="166" name="Google Shape;166;p9"/>
          <p:cNvGraphicFramePr/>
          <p:nvPr/>
        </p:nvGraphicFramePr>
        <p:xfrm>
          <a:off x="2313825" y="126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{735A327F-5AAE-4821-8F19-42E9A16C883B}</a:tableStyleId>
              </a:tblPr>
              <a:tblGrid>
                <a:gridCol w="535475"/>
                <a:gridCol w="535475"/>
              </a:tblGrid>
              <a:tr h="29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nr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profit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-5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-12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7" name="Google Shape;167;p9"/>
          <p:cNvSpPr/>
          <p:nvPr/>
        </p:nvSpPr>
        <p:spPr>
          <a:xfrm>
            <a:off x="6753100" y="11859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896100" y="11859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753100" y="2024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753100" y="3014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7896100" y="263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753100" y="378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9"/>
          <p:cNvCxnSpPr>
            <a:stCxn id="167" idx="6"/>
            <a:endCxn id="168" idx="2"/>
          </p:cNvCxnSpPr>
          <p:nvPr/>
        </p:nvCxnSpPr>
        <p:spPr>
          <a:xfrm>
            <a:off x="7113100" y="136595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9"/>
          <p:cNvCxnSpPr>
            <a:stCxn id="167" idx="4"/>
            <a:endCxn id="169" idx="0"/>
          </p:cNvCxnSpPr>
          <p:nvPr/>
        </p:nvCxnSpPr>
        <p:spPr>
          <a:xfrm>
            <a:off x="6933100" y="154595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9"/>
          <p:cNvCxnSpPr>
            <a:stCxn id="170" idx="0"/>
            <a:endCxn id="169" idx="4"/>
          </p:cNvCxnSpPr>
          <p:nvPr/>
        </p:nvCxnSpPr>
        <p:spPr>
          <a:xfrm rot="10800000">
            <a:off x="6933100" y="238415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9"/>
          <p:cNvCxnSpPr>
            <a:stCxn id="169" idx="6"/>
            <a:endCxn id="171" idx="1"/>
          </p:cNvCxnSpPr>
          <p:nvPr/>
        </p:nvCxnSpPr>
        <p:spPr>
          <a:xfrm>
            <a:off x="7113100" y="220415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9"/>
          <p:cNvCxnSpPr>
            <a:stCxn id="171" idx="4"/>
            <a:endCxn id="172" idx="7"/>
          </p:cNvCxnSpPr>
          <p:nvPr/>
        </p:nvCxnSpPr>
        <p:spPr>
          <a:xfrm flipH="1">
            <a:off x="7060300" y="299375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p9"/>
          <p:cNvSpPr txBox="1"/>
          <p:nvPr/>
        </p:nvSpPr>
        <p:spPr>
          <a:xfrm>
            <a:off x="6334900" y="11859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6411100" y="20241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6411100" y="30147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6411100" y="37767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8239900" y="11859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8239900" y="26337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1314900" y="1597650"/>
            <a:ext cx="2708400" cy="2501100"/>
          </a:xfrm>
          <a:prstGeom prst="ellipse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Trebuie să împărțim activitățile în două: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124900" y="1597650"/>
            <a:ext cx="2708400" cy="2501100"/>
          </a:xfrm>
          <a:prstGeom prst="ellipse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2507250" y="2556450"/>
            <a:ext cx="32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640600" y="2556450"/>
            <a:ext cx="167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{1, …, n} - 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5731075" y="2655700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10"/>
          <p:cNvCxnSpPr/>
          <p:nvPr/>
        </p:nvCxnSpPr>
        <p:spPr>
          <a:xfrm rot="10800000">
            <a:off x="4572000" y="3498575"/>
            <a:ext cx="0" cy="6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10"/>
          <p:cNvSpPr txBox="1"/>
          <p:nvPr/>
        </p:nvSpPr>
        <p:spPr>
          <a:xfrm>
            <a:off x="2637300" y="4279450"/>
            <a:ext cx="38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pierderi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în profit minime (față de C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1314900" y="1597650"/>
            <a:ext cx="2708400" cy="2501100"/>
          </a:xfrm>
          <a:prstGeom prst="ellipse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203" name="Google Shape;203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Asociem problemei o rețea și reducem determinarea lui A la determinarea unei tăieturi minime în rețea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5124900" y="1597650"/>
            <a:ext cx="2708400" cy="2501100"/>
          </a:xfrm>
          <a:prstGeom prst="ellipse">
            <a:avLst/>
          </a:prstGeom>
          <a:noFill/>
          <a:ln cap="flat" cmpd="sng" w="19050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2507250" y="1718250"/>
            <a:ext cx="32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5640600" y="1718250"/>
            <a:ext cx="167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{1, …, n} - 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5731075" y="1817500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11"/>
          <p:cNvCxnSpPr/>
          <p:nvPr/>
        </p:nvCxnSpPr>
        <p:spPr>
          <a:xfrm rot="10800000">
            <a:off x="4572000" y="3498575"/>
            <a:ext cx="0" cy="6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11"/>
          <p:cNvSpPr/>
          <p:nvPr/>
        </p:nvSpPr>
        <p:spPr>
          <a:xfrm>
            <a:off x="1650025" y="2668200"/>
            <a:ext cx="291300" cy="291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2660675" y="3300075"/>
            <a:ext cx="291300" cy="291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841025" y="2363400"/>
            <a:ext cx="291300" cy="291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851675" y="2987550"/>
            <a:ext cx="291300" cy="2913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1"/>
          <p:cNvCxnSpPr>
            <a:stCxn id="209" idx="5"/>
            <a:endCxn id="210" idx="2"/>
          </p:cNvCxnSpPr>
          <p:nvPr/>
        </p:nvCxnSpPr>
        <p:spPr>
          <a:xfrm>
            <a:off x="1898665" y="2916840"/>
            <a:ext cx="762000" cy="528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11"/>
          <p:cNvCxnSpPr>
            <a:stCxn id="209" idx="7"/>
            <a:endCxn id="211" idx="2"/>
          </p:cNvCxnSpPr>
          <p:nvPr/>
        </p:nvCxnSpPr>
        <p:spPr>
          <a:xfrm flipH="1" rot="10800000">
            <a:off x="1898665" y="2508960"/>
            <a:ext cx="3942300" cy="201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p11"/>
          <p:cNvCxnSpPr>
            <a:stCxn id="211" idx="6"/>
            <a:endCxn id="212" idx="1"/>
          </p:cNvCxnSpPr>
          <p:nvPr/>
        </p:nvCxnSpPr>
        <p:spPr>
          <a:xfrm>
            <a:off x="6132325" y="2509050"/>
            <a:ext cx="762000" cy="521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16" name="Google Shape;216;p11"/>
          <p:cNvCxnSpPr>
            <a:stCxn id="210" idx="6"/>
            <a:endCxn id="212" idx="3"/>
          </p:cNvCxnSpPr>
          <p:nvPr/>
        </p:nvCxnSpPr>
        <p:spPr>
          <a:xfrm flipH="1" rot="10800000">
            <a:off x="2951975" y="3236325"/>
            <a:ext cx="3942300" cy="2094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11"/>
          <p:cNvSpPr txBox="1"/>
          <p:nvPr/>
        </p:nvSpPr>
        <p:spPr>
          <a:xfrm>
            <a:off x="4231050" y="21493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≥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4231050" y="29875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1640250" y="29875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≥ 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6288450" y="2454150"/>
            <a:ext cx="68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775075" y="3872500"/>
            <a:ext cx="109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selectate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7252075" y="3872500"/>
            <a:ext cx="12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neselectate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2332500" y="4279450"/>
            <a:ext cx="450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pierderi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în profit minime (față de C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</a:t>
            </a: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⇔ capacitatea tăieturii trebuie să fie minimă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229" name="Google Shape;229;p12"/>
          <p:cNvSpPr txBox="1"/>
          <p:nvPr>
            <p:ph idx="1" type="body"/>
          </p:nvPr>
        </p:nvSpPr>
        <p:spPr>
          <a:xfrm>
            <a:off x="311700" y="906225"/>
            <a:ext cx="85206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n = 6 activități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Dependențe indicate de graful alăturat</a:t>
            </a:r>
            <a:endParaRPr b="0"/>
          </a:p>
        </p:txBody>
      </p:sp>
      <p:graphicFrame>
        <p:nvGraphicFramePr>
          <p:cNvPr id="230" name="Google Shape;230;p12"/>
          <p:cNvGraphicFramePr/>
          <p:nvPr/>
        </p:nvGraphicFramePr>
        <p:xfrm>
          <a:off x="2313825" y="126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{735A327F-5AAE-4821-8F19-42E9A16C883B}</a:tableStyleId>
              </a:tblPr>
              <a:tblGrid>
                <a:gridCol w="535475"/>
                <a:gridCol w="535475"/>
              </a:tblGrid>
              <a:tr h="29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nr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GB" sz="1000" u="none" cap="none" strike="noStrike"/>
                        <a:t>profit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11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-5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-12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4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6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" name="Google Shape;231;p12"/>
          <p:cNvSpPr/>
          <p:nvPr/>
        </p:nvSpPr>
        <p:spPr>
          <a:xfrm>
            <a:off x="6753100" y="11859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7896100" y="11859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753100" y="2024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753100" y="3014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896100" y="2633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753100" y="378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12"/>
          <p:cNvCxnSpPr>
            <a:stCxn id="231" idx="6"/>
            <a:endCxn id="232" idx="2"/>
          </p:cNvCxnSpPr>
          <p:nvPr/>
        </p:nvCxnSpPr>
        <p:spPr>
          <a:xfrm>
            <a:off x="7113100" y="136595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12"/>
          <p:cNvCxnSpPr>
            <a:stCxn id="231" idx="4"/>
            <a:endCxn id="233" idx="0"/>
          </p:cNvCxnSpPr>
          <p:nvPr/>
        </p:nvCxnSpPr>
        <p:spPr>
          <a:xfrm>
            <a:off x="6933100" y="154595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12"/>
          <p:cNvCxnSpPr>
            <a:stCxn id="234" idx="0"/>
            <a:endCxn id="233" idx="4"/>
          </p:cNvCxnSpPr>
          <p:nvPr/>
        </p:nvCxnSpPr>
        <p:spPr>
          <a:xfrm rot="10800000">
            <a:off x="6933100" y="238415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12"/>
          <p:cNvCxnSpPr>
            <a:stCxn id="233" idx="6"/>
            <a:endCxn id="235" idx="1"/>
          </p:cNvCxnSpPr>
          <p:nvPr/>
        </p:nvCxnSpPr>
        <p:spPr>
          <a:xfrm>
            <a:off x="7113100" y="220415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12"/>
          <p:cNvCxnSpPr>
            <a:stCxn id="235" idx="4"/>
            <a:endCxn id="236" idx="7"/>
          </p:cNvCxnSpPr>
          <p:nvPr/>
        </p:nvCxnSpPr>
        <p:spPr>
          <a:xfrm flipH="1">
            <a:off x="7060300" y="299375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12"/>
          <p:cNvSpPr txBox="1"/>
          <p:nvPr/>
        </p:nvSpPr>
        <p:spPr>
          <a:xfrm>
            <a:off x="6334900" y="11859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6411100" y="20241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6411100" y="30147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6411100" y="37767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8239900" y="11859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8239900" y="26337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253" name="Google Shape;253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Asociem grafului o rețea de transport</a:t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3"/>
          <p:cNvCxnSpPr>
            <a:stCxn id="254" idx="6"/>
            <a:endCxn id="255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p13"/>
          <p:cNvCxnSpPr>
            <a:stCxn id="254" idx="4"/>
            <a:endCxn id="256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13"/>
          <p:cNvCxnSpPr>
            <a:stCxn id="257" idx="0"/>
            <a:endCxn id="256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13"/>
          <p:cNvCxnSpPr>
            <a:stCxn id="256" idx="6"/>
            <a:endCxn id="258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13"/>
          <p:cNvCxnSpPr>
            <a:stCxn id="258" idx="4"/>
            <a:endCxn id="259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13"/>
          <p:cNvSpPr txBox="1"/>
          <p:nvPr/>
        </p:nvSpPr>
        <p:spPr>
          <a:xfrm>
            <a:off x="3372150" y="1602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3448350" y="2364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3448350" y="3507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3448350" y="41935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5277150" y="1602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5277150" y="3126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276" name="Google Shape;276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Adăugăm o sursă și o destinație</a:t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14"/>
          <p:cNvCxnSpPr>
            <a:stCxn id="277" idx="6"/>
            <a:endCxn id="278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p14"/>
          <p:cNvCxnSpPr>
            <a:stCxn id="277" idx="4"/>
            <a:endCxn id="279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p14"/>
          <p:cNvCxnSpPr>
            <a:stCxn id="280" idx="0"/>
            <a:endCxn id="279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14"/>
          <p:cNvCxnSpPr>
            <a:stCxn id="279" idx="6"/>
            <a:endCxn id="281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" name="Google Shape;287;p14"/>
          <p:cNvCxnSpPr>
            <a:stCxn id="281" idx="4"/>
            <a:endCxn id="282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14"/>
          <p:cNvSpPr txBox="1"/>
          <p:nvPr/>
        </p:nvSpPr>
        <p:spPr>
          <a:xfrm>
            <a:off x="3372150" y="1602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3448350" y="2364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0" name="Google Shape;290;p14"/>
          <p:cNvSpPr txBox="1"/>
          <p:nvPr/>
        </p:nvSpPr>
        <p:spPr>
          <a:xfrm>
            <a:off x="3448350" y="3507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3448350" y="41935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5277150" y="1602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5277150" y="3126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Unim s cu activități cu profit ≥ 0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5277150" y="1602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5277150" y="3126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3" name="Google Shape;303;p15"/>
          <p:cNvSpPr txBox="1"/>
          <p:nvPr/>
        </p:nvSpPr>
        <p:spPr>
          <a:xfrm>
            <a:off x="3448350" y="41935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3448350" y="3507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3448350" y="2364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6" name="Google Shape;306;p15"/>
          <p:cNvSpPr txBox="1"/>
          <p:nvPr/>
        </p:nvSpPr>
        <p:spPr>
          <a:xfrm>
            <a:off x="3372150" y="1602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7" name="Google Shape;307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5"/>
          <p:cNvCxnSpPr>
            <a:stCxn id="308" idx="6"/>
            <a:endCxn id="309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5"/>
          <p:cNvCxnSpPr>
            <a:stCxn id="308" idx="4"/>
            <a:endCxn id="310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15"/>
          <p:cNvCxnSpPr>
            <a:stCxn id="311" idx="0"/>
            <a:endCxn id="310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15"/>
          <p:cNvCxnSpPr>
            <a:stCxn id="310" idx="6"/>
            <a:endCxn id="312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p15"/>
          <p:cNvCxnSpPr>
            <a:stCxn id="312" idx="4"/>
            <a:endCxn id="313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p15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15"/>
          <p:cNvCxnSpPr>
            <a:stCxn id="319" idx="7"/>
            <a:endCxn id="308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2" name="Google Shape;322;p15"/>
          <p:cNvCxnSpPr>
            <a:stCxn id="319" idx="6"/>
            <a:endCxn id="310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" name="Google Shape;323;p15"/>
          <p:cNvCxnSpPr>
            <a:stCxn id="319" idx="5"/>
            <a:endCxn id="311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4" name="Google Shape;324;p15"/>
          <p:cNvCxnSpPr>
            <a:stCxn id="319" idx="4"/>
            <a:endCxn id="313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Unim activitățile cu profit &lt; 0 cu t</a:t>
            </a:r>
            <a:endParaRPr/>
          </a:p>
        </p:txBody>
      </p:sp>
      <p:sp>
        <p:nvSpPr>
          <p:cNvPr id="330" name="Google Shape;330;p16"/>
          <p:cNvSpPr txBox="1"/>
          <p:nvPr/>
        </p:nvSpPr>
        <p:spPr>
          <a:xfrm>
            <a:off x="5277150" y="1602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5277150" y="3126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3448350" y="41935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3448350" y="3507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3448350" y="2364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3372150" y="16027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6" name="Google Shape;336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16"/>
          <p:cNvCxnSpPr>
            <a:stCxn id="337" idx="6"/>
            <a:endCxn id="338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" name="Google Shape;344;p16"/>
          <p:cNvCxnSpPr>
            <a:stCxn id="337" idx="4"/>
            <a:endCxn id="339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" name="Google Shape;345;p16"/>
          <p:cNvCxnSpPr>
            <a:stCxn id="340" idx="0"/>
            <a:endCxn id="339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p16"/>
          <p:cNvCxnSpPr>
            <a:stCxn id="339" idx="6"/>
            <a:endCxn id="341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16"/>
          <p:cNvCxnSpPr>
            <a:stCxn id="341" idx="4"/>
            <a:endCxn id="342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16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16"/>
          <p:cNvCxnSpPr>
            <a:stCxn id="348" idx="7"/>
            <a:endCxn id="337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p16"/>
          <p:cNvCxnSpPr>
            <a:stCxn id="348" idx="6"/>
            <a:endCxn id="339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" name="Google Shape;352;p16"/>
          <p:cNvCxnSpPr>
            <a:stCxn id="348" idx="5"/>
            <a:endCxn id="340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p16"/>
          <p:cNvCxnSpPr>
            <a:stCxn id="348" idx="4"/>
            <a:endCxn id="342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16"/>
          <p:cNvCxnSpPr>
            <a:stCxn id="338" idx="6"/>
            <a:endCxn id="349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16"/>
          <p:cNvCxnSpPr>
            <a:stCxn id="341" idx="6"/>
            <a:endCxn id="349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c(sx) = profitul lui x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5277150" y="1602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5277150" y="31267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2299650" y="37388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2518075" y="33054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2569650" y="25054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2259200" y="20171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7" name="Google Shape;367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17"/>
          <p:cNvCxnSpPr>
            <a:stCxn id="368" idx="6"/>
            <a:endCxn id="369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p17"/>
          <p:cNvCxnSpPr>
            <a:stCxn id="368" idx="4"/>
            <a:endCxn id="370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6" name="Google Shape;376;p17"/>
          <p:cNvCxnSpPr>
            <a:stCxn id="371" idx="0"/>
            <a:endCxn id="370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17"/>
          <p:cNvCxnSpPr>
            <a:stCxn id="370" idx="6"/>
            <a:endCxn id="372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17"/>
          <p:cNvCxnSpPr>
            <a:stCxn id="372" idx="4"/>
            <a:endCxn id="373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9" name="Google Shape;379;p17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7"/>
          <p:cNvCxnSpPr>
            <a:stCxn id="379" idx="7"/>
            <a:endCxn id="368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17"/>
          <p:cNvCxnSpPr>
            <a:stCxn id="379" idx="6"/>
            <a:endCxn id="370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" name="Google Shape;383;p17"/>
          <p:cNvCxnSpPr>
            <a:stCxn id="379" idx="5"/>
            <a:endCxn id="371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" name="Google Shape;384;p17"/>
          <p:cNvCxnSpPr>
            <a:stCxn id="379" idx="4"/>
            <a:endCxn id="373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" name="Google Shape;385;p17"/>
          <p:cNvCxnSpPr>
            <a:stCxn id="369" idx="6"/>
            <a:endCxn id="380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6" name="Google Shape;386;p17"/>
          <p:cNvCxnSpPr>
            <a:stCxn id="372" idx="6"/>
            <a:endCxn id="380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c(yt) = modulul profitului lui y</a:t>
            </a:r>
            <a:endParaRPr/>
          </a:p>
        </p:txBody>
      </p:sp>
      <p:sp>
        <p:nvSpPr>
          <p:cNvPr id="392" name="Google Shape;392;p18"/>
          <p:cNvSpPr txBox="1"/>
          <p:nvPr/>
        </p:nvSpPr>
        <p:spPr>
          <a:xfrm>
            <a:off x="6092850" y="20171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3" name="Google Shape;393;p18"/>
          <p:cNvSpPr txBox="1"/>
          <p:nvPr/>
        </p:nvSpPr>
        <p:spPr>
          <a:xfrm>
            <a:off x="6044475" y="31033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2299650" y="37388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2518075" y="33054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2569650" y="25054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2259200" y="20171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8" name="Google Shape;398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18"/>
          <p:cNvCxnSpPr>
            <a:stCxn id="399" idx="6"/>
            <a:endCxn id="400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p18"/>
          <p:cNvCxnSpPr>
            <a:stCxn id="399" idx="4"/>
            <a:endCxn id="401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7" name="Google Shape;407;p18"/>
          <p:cNvCxnSpPr>
            <a:stCxn id="402" idx="0"/>
            <a:endCxn id="401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8" name="Google Shape;408;p18"/>
          <p:cNvCxnSpPr>
            <a:stCxn id="401" idx="6"/>
            <a:endCxn id="403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18"/>
          <p:cNvCxnSpPr>
            <a:stCxn id="403" idx="4"/>
            <a:endCxn id="404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0" name="Google Shape;410;p18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18"/>
          <p:cNvCxnSpPr>
            <a:stCxn id="410" idx="7"/>
            <a:endCxn id="399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3" name="Google Shape;413;p18"/>
          <p:cNvCxnSpPr>
            <a:stCxn id="410" idx="6"/>
            <a:endCxn id="401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4" name="Google Shape;414;p18"/>
          <p:cNvCxnSpPr>
            <a:stCxn id="410" idx="5"/>
            <a:endCxn id="402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5" name="Google Shape;415;p18"/>
          <p:cNvCxnSpPr>
            <a:stCxn id="410" idx="4"/>
            <a:endCxn id="404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p18"/>
          <p:cNvCxnSpPr>
            <a:stCxn id="400" idx="6"/>
            <a:endCxn id="411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p18"/>
          <p:cNvCxnSpPr>
            <a:stCxn id="403" idx="6"/>
            <a:endCxn id="411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Restul capacităților = ∞ - pentru a ne asigura că A este realizabilă</a:t>
            </a:r>
            <a:endParaRPr/>
          </a:p>
        </p:txBody>
      </p:sp>
      <p:sp>
        <p:nvSpPr>
          <p:cNvPr id="423" name="Google Shape;423;p19"/>
          <p:cNvSpPr txBox="1"/>
          <p:nvPr/>
        </p:nvSpPr>
        <p:spPr>
          <a:xfrm>
            <a:off x="6092850" y="20171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4" name="Google Shape;424;p19"/>
          <p:cNvSpPr txBox="1"/>
          <p:nvPr/>
        </p:nvSpPr>
        <p:spPr>
          <a:xfrm>
            <a:off x="6044475" y="31033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5" name="Google Shape;425;p19"/>
          <p:cNvSpPr txBox="1"/>
          <p:nvPr/>
        </p:nvSpPr>
        <p:spPr>
          <a:xfrm>
            <a:off x="2299650" y="37388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6" name="Google Shape;426;p19"/>
          <p:cNvSpPr txBox="1"/>
          <p:nvPr/>
        </p:nvSpPr>
        <p:spPr>
          <a:xfrm>
            <a:off x="2518075" y="33054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2569650" y="25054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8" name="Google Shape;428;p19"/>
          <p:cNvSpPr txBox="1"/>
          <p:nvPr/>
        </p:nvSpPr>
        <p:spPr>
          <a:xfrm>
            <a:off x="2259200" y="20171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9" name="Google Shape;429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19"/>
          <p:cNvCxnSpPr>
            <a:stCxn id="430" idx="6"/>
            <a:endCxn id="431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19"/>
          <p:cNvCxnSpPr>
            <a:stCxn id="430" idx="4"/>
            <a:endCxn id="432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19"/>
          <p:cNvCxnSpPr>
            <a:stCxn id="433" idx="0"/>
            <a:endCxn id="432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19"/>
          <p:cNvCxnSpPr>
            <a:stCxn id="432" idx="6"/>
            <a:endCxn id="434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19"/>
          <p:cNvCxnSpPr>
            <a:stCxn id="434" idx="4"/>
            <a:endCxn id="435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1" name="Google Shape;441;p19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19"/>
          <p:cNvCxnSpPr>
            <a:stCxn id="441" idx="7"/>
            <a:endCxn id="430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19"/>
          <p:cNvCxnSpPr>
            <a:stCxn id="441" idx="6"/>
            <a:endCxn id="432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19"/>
          <p:cNvCxnSpPr>
            <a:stCxn id="441" idx="5"/>
            <a:endCxn id="433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19"/>
          <p:cNvCxnSpPr>
            <a:stCxn id="441" idx="4"/>
            <a:endCxn id="435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19"/>
          <p:cNvCxnSpPr>
            <a:stCxn id="431" idx="6"/>
            <a:endCxn id="442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8" name="Google Shape;448;p19"/>
          <p:cNvCxnSpPr>
            <a:stCxn id="434" idx="6"/>
            <a:endCxn id="442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p19"/>
          <p:cNvSpPr txBox="1"/>
          <p:nvPr/>
        </p:nvSpPr>
        <p:spPr>
          <a:xfrm>
            <a:off x="4362900" y="14635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0" name="Google Shape;450;p19"/>
          <p:cNvSpPr txBox="1"/>
          <p:nvPr/>
        </p:nvSpPr>
        <p:spPr>
          <a:xfrm>
            <a:off x="3981900" y="19207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4439100" y="25303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3981900" y="29113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4515300" y="37495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Capacitatea unei tăieturi finite = suma de module de profit</a:t>
            </a:r>
            <a:endParaRPr/>
          </a:p>
        </p:txBody>
      </p:sp>
      <p:sp>
        <p:nvSpPr>
          <p:cNvPr id="459" name="Google Shape;459;p20"/>
          <p:cNvSpPr txBox="1"/>
          <p:nvPr/>
        </p:nvSpPr>
        <p:spPr>
          <a:xfrm>
            <a:off x="6092850" y="20171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0" name="Google Shape;460;p20"/>
          <p:cNvSpPr txBox="1"/>
          <p:nvPr/>
        </p:nvSpPr>
        <p:spPr>
          <a:xfrm>
            <a:off x="6044475" y="31033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1" name="Google Shape;461;p20"/>
          <p:cNvSpPr txBox="1"/>
          <p:nvPr/>
        </p:nvSpPr>
        <p:spPr>
          <a:xfrm>
            <a:off x="2299650" y="37388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2" name="Google Shape;462;p20"/>
          <p:cNvSpPr txBox="1"/>
          <p:nvPr/>
        </p:nvSpPr>
        <p:spPr>
          <a:xfrm>
            <a:off x="2518075" y="33054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2569650" y="25054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2259200" y="20171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5" name="Google Shape;465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20"/>
          <p:cNvCxnSpPr>
            <a:stCxn id="466" idx="6"/>
            <a:endCxn id="467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3" name="Google Shape;473;p20"/>
          <p:cNvCxnSpPr>
            <a:stCxn id="466" idx="4"/>
            <a:endCxn id="468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4" name="Google Shape;474;p20"/>
          <p:cNvCxnSpPr>
            <a:stCxn id="469" idx="0"/>
            <a:endCxn id="468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5" name="Google Shape;475;p20"/>
          <p:cNvCxnSpPr>
            <a:stCxn id="468" idx="6"/>
            <a:endCxn id="470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0"/>
          <p:cNvCxnSpPr>
            <a:stCxn id="470" idx="4"/>
            <a:endCxn id="471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20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20"/>
          <p:cNvCxnSpPr>
            <a:stCxn id="477" idx="7"/>
            <a:endCxn id="466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0" name="Google Shape;480;p20"/>
          <p:cNvCxnSpPr>
            <a:stCxn id="477" idx="6"/>
            <a:endCxn id="468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0"/>
          <p:cNvCxnSpPr>
            <a:stCxn id="477" idx="5"/>
            <a:endCxn id="469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0"/>
          <p:cNvCxnSpPr>
            <a:stCxn id="477" idx="4"/>
            <a:endCxn id="471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3" name="Google Shape;483;p20"/>
          <p:cNvCxnSpPr>
            <a:stCxn id="467" idx="6"/>
            <a:endCxn id="478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4" name="Google Shape;484;p20"/>
          <p:cNvCxnSpPr>
            <a:stCxn id="470" idx="6"/>
            <a:endCxn id="478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5" name="Google Shape;485;p20"/>
          <p:cNvSpPr txBox="1"/>
          <p:nvPr/>
        </p:nvSpPr>
        <p:spPr>
          <a:xfrm>
            <a:off x="4362900" y="14635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3981900" y="19207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7" name="Google Shape;487;p20"/>
          <p:cNvSpPr txBox="1"/>
          <p:nvPr/>
        </p:nvSpPr>
        <p:spPr>
          <a:xfrm>
            <a:off x="4439100" y="25303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8" name="Google Shape;488;p20"/>
          <p:cNvSpPr txBox="1"/>
          <p:nvPr/>
        </p:nvSpPr>
        <p:spPr>
          <a:xfrm>
            <a:off x="3981900" y="29113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4515300" y="37495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0" name="Google Shape;490;p20"/>
          <p:cNvSpPr txBox="1"/>
          <p:nvPr/>
        </p:nvSpPr>
        <p:spPr>
          <a:xfrm>
            <a:off x="4547250" y="4558000"/>
            <a:ext cx="11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6895925" y="175465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815329" y="2322802"/>
            <a:ext cx="4757350" cy="2325450"/>
          </a:xfrm>
          <a:custGeom>
            <a:rect b="b" l="l" r="r" t="t"/>
            <a:pathLst>
              <a:path extrusionOk="0" h="93018" w="190294">
                <a:moveTo>
                  <a:pt x="14036" y="8475"/>
                </a:moveTo>
                <a:cubicBezTo>
                  <a:pt x="4059" y="13374"/>
                  <a:pt x="-1334" y="23306"/>
                  <a:pt x="284" y="30856"/>
                </a:cubicBezTo>
                <a:cubicBezTo>
                  <a:pt x="1902" y="38406"/>
                  <a:pt x="6710" y="43708"/>
                  <a:pt x="23743" y="53775"/>
                </a:cubicBezTo>
                <a:cubicBezTo>
                  <a:pt x="40776" y="63842"/>
                  <a:pt x="76953" y="86672"/>
                  <a:pt x="102480" y="91256"/>
                </a:cubicBezTo>
                <a:cubicBezTo>
                  <a:pt x="128007" y="95840"/>
                  <a:pt x="162882" y="91121"/>
                  <a:pt x="176903" y="81279"/>
                </a:cubicBezTo>
                <a:cubicBezTo>
                  <a:pt x="190925" y="71437"/>
                  <a:pt x="193530" y="45237"/>
                  <a:pt x="186609" y="32204"/>
                </a:cubicBezTo>
                <a:cubicBezTo>
                  <a:pt x="179688" y="19171"/>
                  <a:pt x="156454" y="8205"/>
                  <a:pt x="135377" y="3082"/>
                </a:cubicBezTo>
                <a:cubicBezTo>
                  <a:pt x="114300" y="-2041"/>
                  <a:pt x="80370" y="565"/>
                  <a:pt x="60146" y="1464"/>
                </a:cubicBezTo>
                <a:cubicBezTo>
                  <a:pt x="39923" y="2363"/>
                  <a:pt x="24013" y="3576"/>
                  <a:pt x="14036" y="8475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3475048" y="1332992"/>
            <a:ext cx="4246575" cy="1996550"/>
          </a:xfrm>
          <a:custGeom>
            <a:rect b="b" l="l" r="r" t="t"/>
            <a:pathLst>
              <a:path extrusionOk="0" h="79862" w="169863">
                <a:moveTo>
                  <a:pt x="115544" y="24338"/>
                </a:moveTo>
                <a:cubicBezTo>
                  <a:pt x="100938" y="16743"/>
                  <a:pt x="85298" y="7215"/>
                  <a:pt x="67277" y="3575"/>
                </a:cubicBezTo>
                <a:cubicBezTo>
                  <a:pt x="49256" y="-65"/>
                  <a:pt x="17258" y="-1727"/>
                  <a:pt x="7416" y="2497"/>
                </a:cubicBezTo>
                <a:cubicBezTo>
                  <a:pt x="-2426" y="6722"/>
                  <a:pt x="-2785" y="21687"/>
                  <a:pt x="8225" y="28922"/>
                </a:cubicBezTo>
                <a:cubicBezTo>
                  <a:pt x="19236" y="36158"/>
                  <a:pt x="51278" y="37731"/>
                  <a:pt x="73479" y="45910"/>
                </a:cubicBezTo>
                <a:cubicBezTo>
                  <a:pt x="95680" y="54089"/>
                  <a:pt x="125431" y="73459"/>
                  <a:pt x="141430" y="77998"/>
                </a:cubicBezTo>
                <a:cubicBezTo>
                  <a:pt x="157429" y="82537"/>
                  <a:pt x="167226" y="77953"/>
                  <a:pt x="169473" y="73144"/>
                </a:cubicBezTo>
                <a:cubicBezTo>
                  <a:pt x="171720" y="68335"/>
                  <a:pt x="163900" y="57280"/>
                  <a:pt x="154912" y="49146"/>
                </a:cubicBezTo>
                <a:cubicBezTo>
                  <a:pt x="145924" y="41012"/>
                  <a:pt x="130150" y="31933"/>
                  <a:pt x="115544" y="24338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499" name="Google Shape;499;p21"/>
          <p:cNvSpPr txBox="1"/>
          <p:nvPr>
            <p:ph idx="1" type="body"/>
          </p:nvPr>
        </p:nvSpPr>
        <p:spPr>
          <a:xfrm>
            <a:off x="311700" y="906225"/>
            <a:ext cx="85935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Orice s-t tăietură în rețea este de forma </a:t>
            </a:r>
            <a:r>
              <a:rPr b="0" lang="en-GB"/>
              <a:t>  K</a:t>
            </a:r>
            <a:r>
              <a:rPr b="0" baseline="-25000" lang="en-GB"/>
              <a:t>A</a:t>
            </a:r>
            <a:r>
              <a:rPr b="0" lang="en-GB"/>
              <a:t> = (A ∪ {s}, A ∪ {t})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Fie A o mulțime de activități.</a:t>
            </a:r>
            <a:br>
              <a:rPr lang="en-GB"/>
            </a:br>
            <a:r>
              <a:rPr lang="en-GB"/>
              <a:t>Dacă c(K</a:t>
            </a:r>
            <a:r>
              <a:rPr baseline="-25000" lang="en-GB"/>
              <a:t>A</a:t>
            </a:r>
            <a:r>
              <a:rPr lang="en-GB"/>
              <a:t>) &lt; ∞, atunci A este o mulțime de activități realizabilă.</a:t>
            </a:r>
            <a:endParaRPr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0" lang="en-GB" sz="1500"/>
              <a:t>dacă i ∈ A și i depinde de j, atunci ij are capacitate ∞, deci nu aparține tăieturii; rezultă că j este tot în A</a:t>
            </a:r>
            <a:endParaRPr b="0" sz="15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5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/>
              <a:t>Fie A o mulțime de activități.</a:t>
            </a:r>
            <a:br>
              <a:rPr lang="en-GB"/>
            </a:br>
            <a:r>
              <a:rPr lang="en-GB"/>
              <a:t>	A este realizabilă  ⇔  s-t tăietura corespunzătoare K</a:t>
            </a:r>
            <a:r>
              <a:rPr baseline="-25000" lang="en-GB"/>
              <a:t>A</a:t>
            </a:r>
            <a:r>
              <a:rPr lang="en-GB"/>
              <a:t> are capacitate finită</a:t>
            </a:r>
            <a:endParaRPr/>
          </a:p>
        </p:txBody>
      </p:sp>
      <p:cxnSp>
        <p:nvCxnSpPr>
          <p:cNvPr id="500" name="Google Shape;500;p21"/>
          <p:cNvCxnSpPr/>
          <p:nvPr/>
        </p:nvCxnSpPr>
        <p:spPr>
          <a:xfrm>
            <a:off x="6049350" y="1013000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Propoziție: </a:t>
            </a:r>
            <a:r>
              <a:rPr b="0" lang="en-GB"/>
              <a:t>Dacă K</a:t>
            </a:r>
            <a:r>
              <a:rPr b="0" baseline="-25000" lang="en-GB"/>
              <a:t>A</a:t>
            </a:r>
            <a:r>
              <a:rPr b="0" lang="en-GB"/>
              <a:t> este o s-t tăietură de capacitate finită, avem </a:t>
            </a:r>
            <a:br>
              <a:rPr b="0" lang="en-GB"/>
            </a:br>
            <a:r>
              <a:rPr b="0" lang="en-GB"/>
              <a:t>			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profit(A) = C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tot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- c(K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6092850" y="23219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6044475" y="34081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2299650" y="40436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2518075" y="36102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2569650" y="281020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2259200" y="2321950"/>
            <a:ext cx="41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12" name="Google Shape;512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3790350" y="1907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4933350" y="1907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790350" y="2745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3790350" y="37363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4933350" y="33553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3790350" y="45029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22"/>
          <p:cNvCxnSpPr>
            <a:stCxn id="513" idx="6"/>
            <a:endCxn id="514" idx="2"/>
          </p:cNvCxnSpPr>
          <p:nvPr/>
        </p:nvCxnSpPr>
        <p:spPr>
          <a:xfrm>
            <a:off x="4150350" y="20875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0" name="Google Shape;520;p22"/>
          <p:cNvCxnSpPr>
            <a:stCxn id="513" idx="4"/>
            <a:endCxn id="515" idx="0"/>
          </p:cNvCxnSpPr>
          <p:nvPr/>
        </p:nvCxnSpPr>
        <p:spPr>
          <a:xfrm>
            <a:off x="3970350" y="22675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22"/>
          <p:cNvCxnSpPr>
            <a:stCxn id="516" idx="0"/>
            <a:endCxn id="515" idx="4"/>
          </p:cNvCxnSpPr>
          <p:nvPr/>
        </p:nvCxnSpPr>
        <p:spPr>
          <a:xfrm rot="10800000">
            <a:off x="3970350" y="31057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2" name="Google Shape;522;p22"/>
          <p:cNvCxnSpPr>
            <a:stCxn id="515" idx="6"/>
            <a:endCxn id="517" idx="1"/>
          </p:cNvCxnSpPr>
          <p:nvPr/>
        </p:nvCxnSpPr>
        <p:spPr>
          <a:xfrm>
            <a:off x="4150350" y="29257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22"/>
          <p:cNvCxnSpPr>
            <a:stCxn id="517" idx="4"/>
            <a:endCxn id="518" idx="7"/>
          </p:cNvCxnSpPr>
          <p:nvPr/>
        </p:nvCxnSpPr>
        <p:spPr>
          <a:xfrm flipH="1">
            <a:off x="4097550" y="37153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4" name="Google Shape;524;p22"/>
          <p:cNvSpPr/>
          <p:nvPr/>
        </p:nvSpPr>
        <p:spPr>
          <a:xfrm>
            <a:off x="1047150" y="3126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7143150" y="3126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22"/>
          <p:cNvCxnSpPr>
            <a:stCxn id="524" idx="7"/>
            <a:endCxn id="513" idx="2"/>
          </p:cNvCxnSpPr>
          <p:nvPr/>
        </p:nvCxnSpPr>
        <p:spPr>
          <a:xfrm flipH="1" rot="10800000">
            <a:off x="1354429" y="20874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7" name="Google Shape;527;p22"/>
          <p:cNvCxnSpPr>
            <a:stCxn id="524" idx="6"/>
            <a:endCxn id="515" idx="2"/>
          </p:cNvCxnSpPr>
          <p:nvPr/>
        </p:nvCxnSpPr>
        <p:spPr>
          <a:xfrm flipH="1" rot="10800000">
            <a:off x="1407150" y="29257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8" name="Google Shape;528;p22"/>
          <p:cNvCxnSpPr>
            <a:stCxn id="524" idx="5"/>
            <a:endCxn id="516" idx="2"/>
          </p:cNvCxnSpPr>
          <p:nvPr/>
        </p:nvCxnSpPr>
        <p:spPr>
          <a:xfrm>
            <a:off x="1354429" y="34339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9" name="Google Shape;529;p22"/>
          <p:cNvCxnSpPr>
            <a:stCxn id="524" idx="4"/>
            <a:endCxn id="518" idx="2"/>
          </p:cNvCxnSpPr>
          <p:nvPr/>
        </p:nvCxnSpPr>
        <p:spPr>
          <a:xfrm>
            <a:off x="1227150" y="34867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0" name="Google Shape;530;p22"/>
          <p:cNvCxnSpPr>
            <a:stCxn id="514" idx="6"/>
            <a:endCxn id="525" idx="1"/>
          </p:cNvCxnSpPr>
          <p:nvPr/>
        </p:nvCxnSpPr>
        <p:spPr>
          <a:xfrm>
            <a:off x="5293350" y="20875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1" name="Google Shape;531;p22"/>
          <p:cNvCxnSpPr>
            <a:stCxn id="517" idx="6"/>
            <a:endCxn id="525" idx="2"/>
          </p:cNvCxnSpPr>
          <p:nvPr/>
        </p:nvCxnSpPr>
        <p:spPr>
          <a:xfrm flipH="1" rot="10800000">
            <a:off x="5293350" y="33067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2" name="Google Shape;532;p22"/>
          <p:cNvSpPr txBox="1"/>
          <p:nvPr/>
        </p:nvSpPr>
        <p:spPr>
          <a:xfrm>
            <a:off x="4362900" y="17683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3" name="Google Shape;533;p22"/>
          <p:cNvSpPr txBox="1"/>
          <p:nvPr/>
        </p:nvSpPr>
        <p:spPr>
          <a:xfrm>
            <a:off x="3981900" y="22255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4" name="Google Shape;534;p22"/>
          <p:cNvSpPr txBox="1"/>
          <p:nvPr/>
        </p:nvSpPr>
        <p:spPr>
          <a:xfrm>
            <a:off x="4439100" y="28351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5" name="Google Shape;535;p22"/>
          <p:cNvSpPr txBox="1"/>
          <p:nvPr/>
        </p:nvSpPr>
        <p:spPr>
          <a:xfrm>
            <a:off x="3981900" y="32161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6" name="Google Shape;536;p22"/>
          <p:cNvSpPr txBox="1"/>
          <p:nvPr/>
        </p:nvSpPr>
        <p:spPr>
          <a:xfrm>
            <a:off x="4515300" y="4054325"/>
            <a:ext cx="41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4933500" y="4714500"/>
            <a:ext cx="11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8" name="Google Shape;538;p22"/>
          <p:cNvSpPr txBox="1"/>
          <p:nvPr/>
        </p:nvSpPr>
        <p:spPr>
          <a:xfrm>
            <a:off x="6895925" y="205945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815329" y="2627602"/>
            <a:ext cx="4757350" cy="2325450"/>
          </a:xfrm>
          <a:custGeom>
            <a:rect b="b" l="l" r="r" t="t"/>
            <a:pathLst>
              <a:path extrusionOk="0" h="93018" w="190294">
                <a:moveTo>
                  <a:pt x="14036" y="8475"/>
                </a:moveTo>
                <a:cubicBezTo>
                  <a:pt x="4059" y="13374"/>
                  <a:pt x="-1334" y="23306"/>
                  <a:pt x="284" y="30856"/>
                </a:cubicBezTo>
                <a:cubicBezTo>
                  <a:pt x="1902" y="38406"/>
                  <a:pt x="6710" y="43708"/>
                  <a:pt x="23743" y="53775"/>
                </a:cubicBezTo>
                <a:cubicBezTo>
                  <a:pt x="40776" y="63842"/>
                  <a:pt x="76953" y="86672"/>
                  <a:pt x="102480" y="91256"/>
                </a:cubicBezTo>
                <a:cubicBezTo>
                  <a:pt x="128007" y="95840"/>
                  <a:pt x="162882" y="91121"/>
                  <a:pt x="176903" y="81279"/>
                </a:cubicBezTo>
                <a:cubicBezTo>
                  <a:pt x="190925" y="71437"/>
                  <a:pt x="193530" y="45237"/>
                  <a:pt x="186609" y="32204"/>
                </a:cubicBezTo>
                <a:cubicBezTo>
                  <a:pt x="179688" y="19171"/>
                  <a:pt x="156454" y="8205"/>
                  <a:pt x="135377" y="3082"/>
                </a:cubicBezTo>
                <a:cubicBezTo>
                  <a:pt x="114300" y="-2041"/>
                  <a:pt x="80370" y="565"/>
                  <a:pt x="60146" y="1464"/>
                </a:cubicBezTo>
                <a:cubicBezTo>
                  <a:pt x="39923" y="2363"/>
                  <a:pt x="24013" y="3576"/>
                  <a:pt x="14036" y="8475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3475048" y="1637792"/>
            <a:ext cx="4246575" cy="1996550"/>
          </a:xfrm>
          <a:custGeom>
            <a:rect b="b" l="l" r="r" t="t"/>
            <a:pathLst>
              <a:path extrusionOk="0" h="79862" w="169863">
                <a:moveTo>
                  <a:pt x="115544" y="24338"/>
                </a:moveTo>
                <a:cubicBezTo>
                  <a:pt x="100938" y="16743"/>
                  <a:pt x="85298" y="7215"/>
                  <a:pt x="67277" y="3575"/>
                </a:cubicBezTo>
                <a:cubicBezTo>
                  <a:pt x="49256" y="-65"/>
                  <a:pt x="17258" y="-1727"/>
                  <a:pt x="7416" y="2497"/>
                </a:cubicBezTo>
                <a:cubicBezTo>
                  <a:pt x="-2426" y="6722"/>
                  <a:pt x="-2785" y="21687"/>
                  <a:pt x="8225" y="28922"/>
                </a:cubicBezTo>
                <a:cubicBezTo>
                  <a:pt x="19236" y="36158"/>
                  <a:pt x="51278" y="37731"/>
                  <a:pt x="73479" y="45910"/>
                </a:cubicBezTo>
                <a:cubicBezTo>
                  <a:pt x="95680" y="54089"/>
                  <a:pt x="125431" y="73459"/>
                  <a:pt x="141430" y="77998"/>
                </a:cubicBezTo>
                <a:cubicBezTo>
                  <a:pt x="157429" y="82537"/>
                  <a:pt x="167226" y="77953"/>
                  <a:pt x="169473" y="73144"/>
                </a:cubicBezTo>
                <a:cubicBezTo>
                  <a:pt x="171720" y="68335"/>
                  <a:pt x="163900" y="57280"/>
                  <a:pt x="154912" y="49146"/>
                </a:cubicBezTo>
                <a:cubicBezTo>
                  <a:pt x="145924" y="41012"/>
                  <a:pt x="130150" y="31933"/>
                  <a:pt x="115544" y="24338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546" name="Google Shape;546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Justificare:</a:t>
            </a:r>
            <a:br>
              <a:rPr lang="en-GB"/>
            </a:br>
            <a:r>
              <a:rPr b="0" lang="en-GB"/>
              <a:t>Avem  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profit(A) 	= castig(A) - pierdere(A)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= C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tot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- castig(A) - pierdere(A)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547" name="Google Shape;547;p23"/>
          <p:cNvCxnSpPr/>
          <p:nvPr/>
        </p:nvCxnSpPr>
        <p:spPr>
          <a:xfrm>
            <a:off x="3791075" y="1563750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553" name="Google Shape;553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Justificare:</a:t>
            </a:r>
            <a:br>
              <a:rPr lang="en-GB"/>
            </a:br>
            <a:r>
              <a:rPr b="0" lang="en-GB"/>
              <a:t>Avem  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profit(A) 	= castig(A) - pierdere(A)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= C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tot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- castig(A) - pierdere(A)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7143150" y="2669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2113950" y="2669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3104550" y="3279100"/>
            <a:ext cx="239100" cy="239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6000150" y="2288500"/>
            <a:ext cx="239100" cy="239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8" name="Google Shape;558;p24"/>
          <p:cNvCxnSpPr>
            <a:stCxn id="555" idx="6"/>
            <a:endCxn id="557" idx="2"/>
          </p:cNvCxnSpPr>
          <p:nvPr/>
        </p:nvCxnSpPr>
        <p:spPr>
          <a:xfrm flipH="1" rot="10800000">
            <a:off x="2473950" y="2408200"/>
            <a:ext cx="3526200" cy="441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9" name="Google Shape;559;p24"/>
          <p:cNvCxnSpPr>
            <a:stCxn id="556" idx="6"/>
            <a:endCxn id="554" idx="2"/>
          </p:cNvCxnSpPr>
          <p:nvPr/>
        </p:nvCxnSpPr>
        <p:spPr>
          <a:xfrm flipH="1" rot="10800000">
            <a:off x="3343650" y="2849350"/>
            <a:ext cx="3799500" cy="54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0" name="Google Shape;560;p24"/>
          <p:cNvSpPr/>
          <p:nvPr/>
        </p:nvSpPr>
        <p:spPr>
          <a:xfrm>
            <a:off x="1846608" y="2530830"/>
            <a:ext cx="1832350" cy="1208025"/>
          </a:xfrm>
          <a:custGeom>
            <a:rect b="b" l="l" r="r" t="t"/>
            <a:pathLst>
              <a:path extrusionOk="0" h="48321" w="73294">
                <a:moveTo>
                  <a:pt x="41545" y="11609"/>
                </a:moveTo>
                <a:cubicBezTo>
                  <a:pt x="31568" y="6396"/>
                  <a:pt x="18400" y="-345"/>
                  <a:pt x="11614" y="14"/>
                </a:cubicBezTo>
                <a:cubicBezTo>
                  <a:pt x="4828" y="374"/>
                  <a:pt x="-2498" y="7879"/>
                  <a:pt x="828" y="13766"/>
                </a:cubicBezTo>
                <a:cubicBezTo>
                  <a:pt x="4154" y="19653"/>
                  <a:pt x="20737" y="29586"/>
                  <a:pt x="31568" y="35338"/>
                </a:cubicBezTo>
                <a:cubicBezTo>
                  <a:pt x="42399" y="41091"/>
                  <a:pt x="59162" y="48955"/>
                  <a:pt x="65813" y="48281"/>
                </a:cubicBezTo>
                <a:cubicBezTo>
                  <a:pt x="72464" y="47607"/>
                  <a:pt x="75520" y="37405"/>
                  <a:pt x="71475" y="31293"/>
                </a:cubicBezTo>
                <a:cubicBezTo>
                  <a:pt x="67430" y="25181"/>
                  <a:pt x="51522" y="16822"/>
                  <a:pt x="41545" y="11609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5779583" y="2072488"/>
            <a:ext cx="1923500" cy="1095800"/>
          </a:xfrm>
          <a:custGeom>
            <a:rect b="b" l="l" r="r" t="t"/>
            <a:pathLst>
              <a:path extrusionOk="0" h="43832" w="76940">
                <a:moveTo>
                  <a:pt x="48710" y="12415"/>
                </a:moveTo>
                <a:cubicBezTo>
                  <a:pt x="38185" y="7749"/>
                  <a:pt x="20746" y="-795"/>
                  <a:pt x="12791" y="59"/>
                </a:cubicBezTo>
                <a:cubicBezTo>
                  <a:pt x="4836" y="913"/>
                  <a:pt x="-2757" y="11299"/>
                  <a:pt x="982" y="17538"/>
                </a:cubicBezTo>
                <a:cubicBezTo>
                  <a:pt x="4721" y="23777"/>
                  <a:pt x="24127" y="33178"/>
                  <a:pt x="35227" y="37492"/>
                </a:cubicBezTo>
                <a:cubicBezTo>
                  <a:pt x="46328" y="41806"/>
                  <a:pt x="60799" y="44997"/>
                  <a:pt x="67585" y="43424"/>
                </a:cubicBezTo>
                <a:cubicBezTo>
                  <a:pt x="74371" y="41851"/>
                  <a:pt x="79090" y="33222"/>
                  <a:pt x="75944" y="28054"/>
                </a:cubicBezTo>
                <a:cubicBezTo>
                  <a:pt x="72798" y="22886"/>
                  <a:pt x="59236" y="17081"/>
                  <a:pt x="48710" y="12415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4"/>
          <p:cNvSpPr txBox="1"/>
          <p:nvPr/>
        </p:nvSpPr>
        <p:spPr>
          <a:xfrm>
            <a:off x="7353125" y="221185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3" name="Google Shape;563;p24"/>
          <p:cNvSpPr txBox="1"/>
          <p:nvPr/>
        </p:nvSpPr>
        <p:spPr>
          <a:xfrm>
            <a:off x="876125" y="3050050"/>
            <a:ext cx="130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4025250" y="3279100"/>
            <a:ext cx="3165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Activități cu profit negativ, care au fost selectate </a:t>
            </a:r>
            <a:r>
              <a:rPr b="1" i="0" lang="en-GB" sz="10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(pierdere(A))</a:t>
            </a:r>
            <a:endParaRPr b="1" i="0" sz="1000" u="none" cap="none" strike="noStrike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2557225" y="1826500"/>
            <a:ext cx="3165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Activități cu profit pozitiv, care nu au fost selectate </a:t>
            </a:r>
            <a:r>
              <a:rPr b="1" i="0" lang="en-GB" sz="10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(castig(complement(A))</a:t>
            </a:r>
            <a:endParaRPr b="1" i="0" sz="1000" u="none" cap="none" strike="noStrike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24"/>
          <p:cNvCxnSpPr/>
          <p:nvPr/>
        </p:nvCxnSpPr>
        <p:spPr>
          <a:xfrm>
            <a:off x="3862675" y="2382875"/>
            <a:ext cx="101100" cy="1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7" name="Google Shape;567;p24"/>
          <p:cNvCxnSpPr/>
          <p:nvPr/>
        </p:nvCxnSpPr>
        <p:spPr>
          <a:xfrm flipH="1" rot="10800000">
            <a:off x="5136750" y="3178250"/>
            <a:ext cx="1080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c(K_A) =" id="568" name="Google Shape;568;p24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25" y="3974225"/>
            <a:ext cx="954700" cy="3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" name="Google Shape;569;p24"/>
          <p:cNvCxnSpPr/>
          <p:nvPr/>
        </p:nvCxnSpPr>
        <p:spPr>
          <a:xfrm>
            <a:off x="3791075" y="1563750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575" name="Google Shape;575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Justificare:</a:t>
            </a:r>
            <a:br>
              <a:rPr lang="en-GB"/>
            </a:br>
            <a:r>
              <a:rPr b="0" lang="en-GB"/>
              <a:t>Avem  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profit(A) 	= castig(A) - pierdere(A)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	= C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tot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- castig(A) - pierdere(A)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7143150" y="2669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2113950" y="2669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3104550" y="3279100"/>
            <a:ext cx="239100" cy="239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6000150" y="2288500"/>
            <a:ext cx="239100" cy="2391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25"/>
          <p:cNvCxnSpPr>
            <a:stCxn id="577" idx="6"/>
            <a:endCxn id="579" idx="2"/>
          </p:cNvCxnSpPr>
          <p:nvPr/>
        </p:nvCxnSpPr>
        <p:spPr>
          <a:xfrm flipH="1" rot="10800000">
            <a:off x="2473950" y="2408200"/>
            <a:ext cx="3526200" cy="4413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25"/>
          <p:cNvCxnSpPr>
            <a:stCxn id="578" idx="6"/>
            <a:endCxn id="576" idx="2"/>
          </p:cNvCxnSpPr>
          <p:nvPr/>
        </p:nvCxnSpPr>
        <p:spPr>
          <a:xfrm flipH="1" rot="10800000">
            <a:off x="3343650" y="2849350"/>
            <a:ext cx="3799500" cy="549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2" name="Google Shape;582;p25"/>
          <p:cNvSpPr/>
          <p:nvPr/>
        </p:nvSpPr>
        <p:spPr>
          <a:xfrm>
            <a:off x="1846608" y="2530830"/>
            <a:ext cx="1832350" cy="1208025"/>
          </a:xfrm>
          <a:custGeom>
            <a:rect b="b" l="l" r="r" t="t"/>
            <a:pathLst>
              <a:path extrusionOk="0" h="48321" w="73294">
                <a:moveTo>
                  <a:pt x="41545" y="11609"/>
                </a:moveTo>
                <a:cubicBezTo>
                  <a:pt x="31568" y="6396"/>
                  <a:pt x="18400" y="-345"/>
                  <a:pt x="11614" y="14"/>
                </a:cubicBezTo>
                <a:cubicBezTo>
                  <a:pt x="4828" y="374"/>
                  <a:pt x="-2498" y="7879"/>
                  <a:pt x="828" y="13766"/>
                </a:cubicBezTo>
                <a:cubicBezTo>
                  <a:pt x="4154" y="19653"/>
                  <a:pt x="20737" y="29586"/>
                  <a:pt x="31568" y="35338"/>
                </a:cubicBezTo>
                <a:cubicBezTo>
                  <a:pt x="42399" y="41091"/>
                  <a:pt x="59162" y="48955"/>
                  <a:pt x="65813" y="48281"/>
                </a:cubicBezTo>
                <a:cubicBezTo>
                  <a:pt x="72464" y="47607"/>
                  <a:pt x="75520" y="37405"/>
                  <a:pt x="71475" y="31293"/>
                </a:cubicBezTo>
                <a:cubicBezTo>
                  <a:pt x="67430" y="25181"/>
                  <a:pt x="51522" y="16822"/>
                  <a:pt x="41545" y="11609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5779583" y="2072488"/>
            <a:ext cx="1923500" cy="1095800"/>
          </a:xfrm>
          <a:custGeom>
            <a:rect b="b" l="l" r="r" t="t"/>
            <a:pathLst>
              <a:path extrusionOk="0" h="43832" w="76940">
                <a:moveTo>
                  <a:pt x="48710" y="12415"/>
                </a:moveTo>
                <a:cubicBezTo>
                  <a:pt x="38185" y="7749"/>
                  <a:pt x="20746" y="-795"/>
                  <a:pt x="12791" y="59"/>
                </a:cubicBezTo>
                <a:cubicBezTo>
                  <a:pt x="4836" y="913"/>
                  <a:pt x="-2757" y="11299"/>
                  <a:pt x="982" y="17538"/>
                </a:cubicBezTo>
                <a:cubicBezTo>
                  <a:pt x="4721" y="23777"/>
                  <a:pt x="24127" y="33178"/>
                  <a:pt x="35227" y="37492"/>
                </a:cubicBezTo>
                <a:cubicBezTo>
                  <a:pt x="46328" y="41806"/>
                  <a:pt x="60799" y="44997"/>
                  <a:pt x="67585" y="43424"/>
                </a:cubicBezTo>
                <a:cubicBezTo>
                  <a:pt x="74371" y="41851"/>
                  <a:pt x="79090" y="33222"/>
                  <a:pt x="75944" y="28054"/>
                </a:cubicBezTo>
                <a:cubicBezTo>
                  <a:pt x="72798" y="22886"/>
                  <a:pt x="59236" y="17081"/>
                  <a:pt x="48710" y="12415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5"/>
          <p:cNvSpPr txBox="1"/>
          <p:nvPr/>
        </p:nvSpPr>
        <p:spPr>
          <a:xfrm>
            <a:off x="7353125" y="221185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5" name="Google Shape;585;p25"/>
          <p:cNvSpPr txBox="1"/>
          <p:nvPr/>
        </p:nvSpPr>
        <p:spPr>
          <a:xfrm>
            <a:off x="876125" y="3050050"/>
            <a:ext cx="130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= 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6" name="Google Shape;586;p25"/>
          <p:cNvSpPr txBox="1"/>
          <p:nvPr/>
        </p:nvSpPr>
        <p:spPr>
          <a:xfrm>
            <a:off x="4025250" y="3279100"/>
            <a:ext cx="3165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Activități cu profit negativ, care au fost selectate </a:t>
            </a:r>
            <a:r>
              <a:rPr b="1" i="0" lang="en-GB" sz="10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(pierdere(A))</a:t>
            </a:r>
            <a:endParaRPr b="1" i="0" sz="1000" u="none" cap="none" strike="noStrike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5"/>
          <p:cNvSpPr txBox="1"/>
          <p:nvPr/>
        </p:nvSpPr>
        <p:spPr>
          <a:xfrm>
            <a:off x="2557225" y="1826500"/>
            <a:ext cx="3165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Activități cu profit pozitiv, care nu au fost selectate </a:t>
            </a:r>
            <a:r>
              <a:rPr b="1" i="0" lang="en-GB" sz="10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(castig(complement(A))</a:t>
            </a:r>
            <a:endParaRPr b="1" i="0" sz="1000" u="none" cap="none" strike="noStrike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25"/>
          <p:cNvCxnSpPr/>
          <p:nvPr/>
        </p:nvCxnSpPr>
        <p:spPr>
          <a:xfrm>
            <a:off x="3862675" y="2382875"/>
            <a:ext cx="101100" cy="19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9" name="Google Shape;589;p25"/>
          <p:cNvCxnSpPr/>
          <p:nvPr/>
        </p:nvCxnSpPr>
        <p:spPr>
          <a:xfrm flipH="1" rot="10800000">
            <a:off x="5136750" y="3178250"/>
            <a:ext cx="108000" cy="16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c(K_A) =" id="590" name="Google Shape;590;p25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25" y="3974225"/>
            <a:ext cx="954700" cy="3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^+(A) + c^+(s) = \sum\limits_{i \in A, p_i &lt; 0}(-p_i) + \sum\limits_{i \in A, p_i &gt; 0}p_i" id="591" name="Google Shape;591;p25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6000" y="3971607"/>
            <a:ext cx="4694426" cy="55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2" name="Google Shape;592;p25"/>
          <p:cNvCxnSpPr/>
          <p:nvPr/>
        </p:nvCxnSpPr>
        <p:spPr>
          <a:xfrm>
            <a:off x="5474225" y="4284650"/>
            <a:ext cx="12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= pierdere(A) + castig(A)" id="593" name="Google Shape;593;p25" title="MathEquation,#31394d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8925" y="4594600"/>
            <a:ext cx="2647000" cy="274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4" name="Google Shape;594;p25"/>
          <p:cNvCxnSpPr/>
          <p:nvPr/>
        </p:nvCxnSpPr>
        <p:spPr>
          <a:xfrm>
            <a:off x="3721625" y="4589450"/>
            <a:ext cx="12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25"/>
          <p:cNvCxnSpPr/>
          <p:nvPr/>
        </p:nvCxnSpPr>
        <p:spPr>
          <a:xfrm>
            <a:off x="3791075" y="1563750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601" name="Google Shape;601;p26"/>
          <p:cNvSpPr txBox="1"/>
          <p:nvPr>
            <p:ph idx="1" type="body"/>
          </p:nvPr>
        </p:nvSpPr>
        <p:spPr>
          <a:xfrm>
            <a:off x="311700" y="906225"/>
            <a:ext cx="8520600" cy="4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Propoziție:</a:t>
            </a:r>
            <a:r>
              <a:rPr b="0" lang="en-GB"/>
              <a:t> Dacă K</a:t>
            </a:r>
            <a:r>
              <a:rPr b="0" baseline="-25000" lang="en-GB"/>
              <a:t>A</a:t>
            </a:r>
            <a:r>
              <a:rPr b="0" lang="en-GB"/>
              <a:t> este o s-t tăietură de capacitate finită, avem </a:t>
            </a:r>
            <a:br>
              <a:rPr b="0" lang="en-GB"/>
            </a:br>
            <a:r>
              <a:rPr b="0" lang="en-GB"/>
              <a:t>						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profit(A) = C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tot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- c(K</a:t>
            </a:r>
            <a:r>
              <a:rPr baseline="-25000" lang="en-GB" sz="1400"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Corolar: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Mulțimea de activități realizabile A este de </a:t>
            </a:r>
            <a:r>
              <a:rPr lang="en-GB"/>
              <a:t>profit maxim</a:t>
            </a:r>
            <a:r>
              <a:rPr b="0" lang="en-GB"/>
              <a:t> ⇔ </a:t>
            </a:r>
            <a:br>
              <a:rPr b="0" lang="en-GB"/>
            </a:br>
            <a:r>
              <a:rPr lang="en-GB"/>
              <a:t>tăietura K</a:t>
            </a:r>
            <a:r>
              <a:rPr baseline="-25000" lang="en-GB"/>
              <a:t>A</a:t>
            </a:r>
            <a:r>
              <a:rPr lang="en-GB"/>
              <a:t> </a:t>
            </a:r>
            <a:r>
              <a:rPr b="0" lang="en-GB"/>
              <a:t>= (A ∪ {s}, A ∪ {t}) este de </a:t>
            </a:r>
            <a:r>
              <a:rPr lang="en-GB"/>
              <a:t>capacitate minimă</a:t>
            </a:r>
            <a:r>
              <a:rPr b="0" lang="en-GB"/>
              <a:t> în rețeaua asociată</a:t>
            </a:r>
            <a:br>
              <a:rPr b="0" lang="en-GB"/>
            </a:b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A determina o mulțime de activități de profit maxim se reduce, astfel, la a determina o tăietură minimă în rețeaua asociată.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			</a:t>
            </a:r>
            <a:br>
              <a:rPr lang="en-GB">
                <a:solidFill>
                  <a:srgbClr val="CC0000"/>
                </a:solidFill>
              </a:rPr>
            </a:br>
            <a:r>
              <a:rPr lang="en-GB">
                <a:solidFill>
                  <a:srgbClr val="CC0000"/>
                </a:solidFill>
              </a:rPr>
              <a:t>			</a:t>
            </a:r>
            <a:r>
              <a:rPr lang="en-GB"/>
              <a:t>Cum o determinăm?</a:t>
            </a:r>
            <a:endParaRPr/>
          </a:p>
        </p:txBody>
      </p:sp>
      <p:cxnSp>
        <p:nvCxnSpPr>
          <p:cNvPr id="602" name="Google Shape;602;p26"/>
          <p:cNvCxnSpPr/>
          <p:nvPr/>
        </p:nvCxnSpPr>
        <p:spPr>
          <a:xfrm>
            <a:off x="2925925" y="2784675"/>
            <a:ext cx="12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03" name="Google Shape;6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575" y="4062150"/>
            <a:ext cx="655200" cy="100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Determinăm un flux maxim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6092850" y="2017150"/>
            <a:ext cx="7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0" name="Google Shape;610;p27"/>
          <p:cNvSpPr txBox="1"/>
          <p:nvPr/>
        </p:nvSpPr>
        <p:spPr>
          <a:xfrm>
            <a:off x="6044475" y="31033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5/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1" name="Google Shape;611;p27"/>
          <p:cNvSpPr txBox="1"/>
          <p:nvPr/>
        </p:nvSpPr>
        <p:spPr>
          <a:xfrm>
            <a:off x="2130200" y="3738850"/>
            <a:ext cx="58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2" name="Google Shape;612;p27"/>
          <p:cNvSpPr txBox="1"/>
          <p:nvPr/>
        </p:nvSpPr>
        <p:spPr>
          <a:xfrm>
            <a:off x="2441575" y="33054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3" name="Google Shape;613;p27"/>
          <p:cNvSpPr txBox="1"/>
          <p:nvPr/>
        </p:nvSpPr>
        <p:spPr>
          <a:xfrm>
            <a:off x="2493150" y="25054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1961675" y="2017150"/>
            <a:ext cx="71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5" name="Google Shape;615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27"/>
          <p:cNvCxnSpPr>
            <a:stCxn id="616" idx="6"/>
            <a:endCxn id="617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27"/>
          <p:cNvCxnSpPr>
            <a:stCxn id="616" idx="4"/>
            <a:endCxn id="618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27"/>
          <p:cNvCxnSpPr>
            <a:stCxn id="619" idx="0"/>
            <a:endCxn id="618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5" name="Google Shape;625;p27"/>
          <p:cNvCxnSpPr>
            <a:stCxn id="618" idx="6"/>
            <a:endCxn id="620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6" name="Google Shape;626;p27"/>
          <p:cNvCxnSpPr>
            <a:stCxn id="620" idx="4"/>
            <a:endCxn id="621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7" name="Google Shape;627;p27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27"/>
          <p:cNvCxnSpPr>
            <a:stCxn id="627" idx="7"/>
            <a:endCxn id="616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0" name="Google Shape;630;p27"/>
          <p:cNvCxnSpPr>
            <a:stCxn id="627" idx="6"/>
            <a:endCxn id="618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1" name="Google Shape;631;p27"/>
          <p:cNvCxnSpPr>
            <a:stCxn id="627" idx="5"/>
            <a:endCxn id="619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2" name="Google Shape;632;p27"/>
          <p:cNvCxnSpPr>
            <a:stCxn id="627" idx="4"/>
            <a:endCxn id="621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3" name="Google Shape;633;p27"/>
          <p:cNvCxnSpPr>
            <a:stCxn id="617" idx="6"/>
            <a:endCxn id="628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4" name="Google Shape;634;p27"/>
          <p:cNvCxnSpPr>
            <a:stCxn id="620" idx="6"/>
            <a:endCxn id="628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5" name="Google Shape;635;p27"/>
          <p:cNvSpPr txBox="1"/>
          <p:nvPr/>
        </p:nvSpPr>
        <p:spPr>
          <a:xfrm>
            <a:off x="4193400" y="1463525"/>
            <a:ext cx="66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3981900" y="19207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7" name="Google Shape;637;p27"/>
          <p:cNvSpPr txBox="1"/>
          <p:nvPr/>
        </p:nvSpPr>
        <p:spPr>
          <a:xfrm>
            <a:off x="4439100" y="25303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8" name="Google Shape;638;p27"/>
          <p:cNvSpPr txBox="1"/>
          <p:nvPr/>
        </p:nvSpPr>
        <p:spPr>
          <a:xfrm>
            <a:off x="3981900" y="29113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9" name="Google Shape;639;p27"/>
          <p:cNvSpPr txBox="1"/>
          <p:nvPr/>
        </p:nvSpPr>
        <p:spPr>
          <a:xfrm>
            <a:off x="4515300" y="37495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Determinăm vârfurile accesibile din s prin lanțuri f-nesaturate</a:t>
            </a:r>
            <a:endParaRPr/>
          </a:p>
        </p:txBody>
      </p:sp>
      <p:sp>
        <p:nvSpPr>
          <p:cNvPr id="645" name="Google Shape;645;p28"/>
          <p:cNvSpPr txBox="1"/>
          <p:nvPr/>
        </p:nvSpPr>
        <p:spPr>
          <a:xfrm>
            <a:off x="6092850" y="2017150"/>
            <a:ext cx="7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6" name="Google Shape;646;p28"/>
          <p:cNvSpPr txBox="1"/>
          <p:nvPr/>
        </p:nvSpPr>
        <p:spPr>
          <a:xfrm>
            <a:off x="6044475" y="31033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5/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7" name="Google Shape;647;p28"/>
          <p:cNvSpPr txBox="1"/>
          <p:nvPr/>
        </p:nvSpPr>
        <p:spPr>
          <a:xfrm>
            <a:off x="2130200" y="3738850"/>
            <a:ext cx="58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8" name="Google Shape;648;p28"/>
          <p:cNvSpPr txBox="1"/>
          <p:nvPr/>
        </p:nvSpPr>
        <p:spPr>
          <a:xfrm>
            <a:off x="2441575" y="33054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9" name="Google Shape;649;p28"/>
          <p:cNvSpPr txBox="1"/>
          <p:nvPr/>
        </p:nvSpPr>
        <p:spPr>
          <a:xfrm>
            <a:off x="2493150" y="25054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1961675" y="2017150"/>
            <a:ext cx="71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1" name="Google Shape;651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8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8" name="Google Shape;658;p28"/>
          <p:cNvCxnSpPr>
            <a:stCxn id="652" idx="6"/>
            <a:endCxn id="653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9" name="Google Shape;659;p28"/>
          <p:cNvCxnSpPr>
            <a:stCxn id="652" idx="4"/>
            <a:endCxn id="654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0" name="Google Shape;660;p28"/>
          <p:cNvCxnSpPr>
            <a:stCxn id="655" idx="0"/>
            <a:endCxn id="654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1" name="Google Shape;661;p28"/>
          <p:cNvCxnSpPr>
            <a:stCxn id="654" idx="6"/>
            <a:endCxn id="656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2" name="Google Shape;662;p28"/>
          <p:cNvCxnSpPr>
            <a:stCxn id="656" idx="4"/>
            <a:endCxn id="657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3" name="Google Shape;663;p28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5" name="Google Shape;665;p28"/>
          <p:cNvCxnSpPr>
            <a:stCxn id="663" idx="7"/>
            <a:endCxn id="652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6" name="Google Shape;666;p28"/>
          <p:cNvCxnSpPr>
            <a:stCxn id="663" idx="6"/>
            <a:endCxn id="654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7" name="Google Shape;667;p28"/>
          <p:cNvCxnSpPr>
            <a:stCxn id="663" idx="5"/>
            <a:endCxn id="655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8" name="Google Shape;668;p28"/>
          <p:cNvCxnSpPr>
            <a:stCxn id="663" idx="4"/>
            <a:endCxn id="657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69" name="Google Shape;669;p28"/>
          <p:cNvCxnSpPr>
            <a:stCxn id="653" idx="6"/>
            <a:endCxn id="664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0" name="Google Shape;670;p28"/>
          <p:cNvCxnSpPr>
            <a:stCxn id="656" idx="6"/>
            <a:endCxn id="664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1" name="Google Shape;671;p28"/>
          <p:cNvSpPr txBox="1"/>
          <p:nvPr/>
        </p:nvSpPr>
        <p:spPr>
          <a:xfrm>
            <a:off x="4193400" y="1463525"/>
            <a:ext cx="66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2" name="Google Shape;672;p28"/>
          <p:cNvSpPr txBox="1"/>
          <p:nvPr/>
        </p:nvSpPr>
        <p:spPr>
          <a:xfrm>
            <a:off x="3981900" y="19207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3" name="Google Shape;673;p28"/>
          <p:cNvSpPr txBox="1"/>
          <p:nvPr/>
        </p:nvSpPr>
        <p:spPr>
          <a:xfrm>
            <a:off x="4439100" y="25303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4" name="Google Shape;674;p28"/>
          <p:cNvSpPr txBox="1"/>
          <p:nvPr/>
        </p:nvSpPr>
        <p:spPr>
          <a:xfrm>
            <a:off x="3981900" y="29113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5" name="Google Shape;675;p28"/>
          <p:cNvSpPr txBox="1"/>
          <p:nvPr/>
        </p:nvSpPr>
        <p:spPr>
          <a:xfrm>
            <a:off x="4515300" y="37495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9"/>
          <p:cNvSpPr txBox="1"/>
          <p:nvPr/>
        </p:nvSpPr>
        <p:spPr>
          <a:xfrm>
            <a:off x="6092850" y="2017150"/>
            <a:ext cx="7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1" name="Google Shape;681;p29"/>
          <p:cNvSpPr txBox="1"/>
          <p:nvPr/>
        </p:nvSpPr>
        <p:spPr>
          <a:xfrm>
            <a:off x="6044475" y="31033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5/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b="1" i="0" sz="12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2" name="Google Shape;682;p29"/>
          <p:cNvSpPr txBox="1"/>
          <p:nvPr/>
        </p:nvSpPr>
        <p:spPr>
          <a:xfrm>
            <a:off x="2130200" y="3738850"/>
            <a:ext cx="58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3" name="Google Shape;683;p29"/>
          <p:cNvSpPr txBox="1"/>
          <p:nvPr/>
        </p:nvSpPr>
        <p:spPr>
          <a:xfrm>
            <a:off x="2441575" y="330545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4" name="Google Shape;684;p29"/>
          <p:cNvSpPr txBox="1"/>
          <p:nvPr/>
        </p:nvSpPr>
        <p:spPr>
          <a:xfrm>
            <a:off x="2493150" y="2505400"/>
            <a:ext cx="4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3/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5" name="Google Shape;685;p29"/>
          <p:cNvSpPr txBox="1"/>
          <p:nvPr/>
        </p:nvSpPr>
        <p:spPr>
          <a:xfrm>
            <a:off x="1961675" y="2017150"/>
            <a:ext cx="71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200" u="none" cap="none" strike="noStrike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6" name="Google Shape;686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687" name="Google Shape;687;p29"/>
          <p:cNvSpPr/>
          <p:nvPr/>
        </p:nvSpPr>
        <p:spPr>
          <a:xfrm>
            <a:off x="3790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9"/>
          <p:cNvSpPr/>
          <p:nvPr/>
        </p:nvSpPr>
        <p:spPr>
          <a:xfrm>
            <a:off x="4933350" y="16027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3790350" y="24409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9"/>
          <p:cNvSpPr/>
          <p:nvPr/>
        </p:nvSpPr>
        <p:spPr>
          <a:xfrm>
            <a:off x="3790350" y="34315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9"/>
          <p:cNvSpPr/>
          <p:nvPr/>
        </p:nvSpPr>
        <p:spPr>
          <a:xfrm>
            <a:off x="4933350" y="30505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9"/>
          <p:cNvSpPr/>
          <p:nvPr/>
        </p:nvSpPr>
        <p:spPr>
          <a:xfrm>
            <a:off x="3790350" y="419815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p29"/>
          <p:cNvCxnSpPr>
            <a:stCxn id="687" idx="6"/>
            <a:endCxn id="688" idx="2"/>
          </p:cNvCxnSpPr>
          <p:nvPr/>
        </p:nvCxnSpPr>
        <p:spPr>
          <a:xfrm>
            <a:off x="4150350" y="1782700"/>
            <a:ext cx="783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4" name="Google Shape;694;p29"/>
          <p:cNvCxnSpPr>
            <a:stCxn id="687" idx="4"/>
            <a:endCxn id="689" idx="0"/>
          </p:cNvCxnSpPr>
          <p:nvPr/>
        </p:nvCxnSpPr>
        <p:spPr>
          <a:xfrm>
            <a:off x="3970350" y="1962700"/>
            <a:ext cx="0" cy="47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5" name="Google Shape;695;p29"/>
          <p:cNvCxnSpPr>
            <a:stCxn id="690" idx="0"/>
            <a:endCxn id="689" idx="4"/>
          </p:cNvCxnSpPr>
          <p:nvPr/>
        </p:nvCxnSpPr>
        <p:spPr>
          <a:xfrm rot="10800000">
            <a:off x="3970350" y="2800900"/>
            <a:ext cx="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6" name="Google Shape;696;p29"/>
          <p:cNvCxnSpPr>
            <a:stCxn id="689" idx="6"/>
            <a:endCxn id="691" idx="1"/>
          </p:cNvCxnSpPr>
          <p:nvPr/>
        </p:nvCxnSpPr>
        <p:spPr>
          <a:xfrm>
            <a:off x="4150350" y="2620900"/>
            <a:ext cx="835800" cy="4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7" name="Google Shape;697;p29"/>
          <p:cNvCxnSpPr>
            <a:stCxn id="691" idx="4"/>
            <a:endCxn id="692" idx="7"/>
          </p:cNvCxnSpPr>
          <p:nvPr/>
        </p:nvCxnSpPr>
        <p:spPr>
          <a:xfrm flipH="1">
            <a:off x="4097550" y="3410500"/>
            <a:ext cx="1015800" cy="84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8" name="Google Shape;698;p29"/>
          <p:cNvSpPr/>
          <p:nvPr/>
        </p:nvSpPr>
        <p:spPr>
          <a:xfrm>
            <a:off x="1047150" y="2821900"/>
            <a:ext cx="360000" cy="360000"/>
          </a:xfrm>
          <a:prstGeom prst="ellipse">
            <a:avLst/>
          </a:prstGeom>
          <a:solidFill>
            <a:srgbClr val="CFE2F3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9"/>
          <p:cNvSpPr/>
          <p:nvPr/>
        </p:nvSpPr>
        <p:spPr>
          <a:xfrm>
            <a:off x="7143150" y="28219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0" name="Google Shape;700;p29"/>
          <p:cNvCxnSpPr>
            <a:stCxn id="698" idx="7"/>
            <a:endCxn id="687" idx="2"/>
          </p:cNvCxnSpPr>
          <p:nvPr/>
        </p:nvCxnSpPr>
        <p:spPr>
          <a:xfrm flipH="1" rot="10800000">
            <a:off x="1354429" y="1782621"/>
            <a:ext cx="2436000" cy="1092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1" name="Google Shape;701;p29"/>
          <p:cNvCxnSpPr>
            <a:stCxn id="698" idx="6"/>
            <a:endCxn id="689" idx="2"/>
          </p:cNvCxnSpPr>
          <p:nvPr/>
        </p:nvCxnSpPr>
        <p:spPr>
          <a:xfrm flipH="1" rot="10800000">
            <a:off x="1407150" y="2620900"/>
            <a:ext cx="2383200" cy="381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2" name="Google Shape;702;p29"/>
          <p:cNvCxnSpPr>
            <a:stCxn id="698" idx="5"/>
            <a:endCxn id="690" idx="2"/>
          </p:cNvCxnSpPr>
          <p:nvPr/>
        </p:nvCxnSpPr>
        <p:spPr>
          <a:xfrm>
            <a:off x="1354429" y="3129179"/>
            <a:ext cx="2436000" cy="482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3" name="Google Shape;703;p29"/>
          <p:cNvCxnSpPr>
            <a:stCxn id="698" idx="4"/>
            <a:endCxn id="692" idx="2"/>
          </p:cNvCxnSpPr>
          <p:nvPr/>
        </p:nvCxnSpPr>
        <p:spPr>
          <a:xfrm>
            <a:off x="1227150" y="3181900"/>
            <a:ext cx="2563200" cy="11964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4" name="Google Shape;704;p29"/>
          <p:cNvCxnSpPr>
            <a:stCxn id="688" idx="6"/>
            <a:endCxn id="699" idx="1"/>
          </p:cNvCxnSpPr>
          <p:nvPr/>
        </p:nvCxnSpPr>
        <p:spPr>
          <a:xfrm>
            <a:off x="5293350" y="1782700"/>
            <a:ext cx="1902600" cy="1092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5" name="Google Shape;705;p29"/>
          <p:cNvCxnSpPr>
            <a:stCxn id="691" idx="6"/>
            <a:endCxn id="699" idx="2"/>
          </p:cNvCxnSpPr>
          <p:nvPr/>
        </p:nvCxnSpPr>
        <p:spPr>
          <a:xfrm flipH="1" rot="10800000">
            <a:off x="5293350" y="3001900"/>
            <a:ext cx="1849800" cy="2286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6" name="Google Shape;706;p29"/>
          <p:cNvSpPr txBox="1"/>
          <p:nvPr/>
        </p:nvSpPr>
        <p:spPr>
          <a:xfrm>
            <a:off x="4193400" y="1463525"/>
            <a:ext cx="66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11/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7" name="Google Shape;707;p29"/>
          <p:cNvSpPr txBox="1"/>
          <p:nvPr/>
        </p:nvSpPr>
        <p:spPr>
          <a:xfrm>
            <a:off x="3981900" y="19207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8" name="Google Shape;708;p29"/>
          <p:cNvSpPr txBox="1"/>
          <p:nvPr/>
        </p:nvSpPr>
        <p:spPr>
          <a:xfrm>
            <a:off x="4439100" y="25303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5/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9" name="Google Shape;709;p29"/>
          <p:cNvSpPr txBox="1"/>
          <p:nvPr/>
        </p:nvSpPr>
        <p:spPr>
          <a:xfrm>
            <a:off x="3981900" y="29113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0" name="Google Shape;710;p29"/>
          <p:cNvSpPr txBox="1"/>
          <p:nvPr/>
        </p:nvSpPr>
        <p:spPr>
          <a:xfrm>
            <a:off x="4515300" y="3749525"/>
            <a:ext cx="5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0/</a:t>
            </a: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 b="1" i="0" sz="12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1" name="Google Shape;711;p29"/>
          <p:cNvSpPr txBox="1"/>
          <p:nvPr/>
        </p:nvSpPr>
        <p:spPr>
          <a:xfrm>
            <a:off x="4547250" y="4558000"/>
            <a:ext cx="11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2" name="Google Shape;712;p29"/>
          <p:cNvSpPr txBox="1"/>
          <p:nvPr/>
        </p:nvSpPr>
        <p:spPr>
          <a:xfrm>
            <a:off x="6895925" y="1754650"/>
            <a:ext cx="12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neselectate</a:t>
            </a:r>
            <a:endParaRPr b="1" i="0" sz="1000" u="none" cap="none" strike="noStrike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3" name="Google Shape;713;p29"/>
          <p:cNvSpPr/>
          <p:nvPr/>
        </p:nvSpPr>
        <p:spPr>
          <a:xfrm>
            <a:off x="815329" y="2322802"/>
            <a:ext cx="4757350" cy="2325450"/>
          </a:xfrm>
          <a:custGeom>
            <a:rect b="b" l="l" r="r" t="t"/>
            <a:pathLst>
              <a:path extrusionOk="0" h="93018" w="190294">
                <a:moveTo>
                  <a:pt x="14036" y="8475"/>
                </a:moveTo>
                <a:cubicBezTo>
                  <a:pt x="4059" y="13374"/>
                  <a:pt x="-1334" y="23306"/>
                  <a:pt x="284" y="30856"/>
                </a:cubicBezTo>
                <a:cubicBezTo>
                  <a:pt x="1902" y="38406"/>
                  <a:pt x="6710" y="43708"/>
                  <a:pt x="23743" y="53775"/>
                </a:cubicBezTo>
                <a:cubicBezTo>
                  <a:pt x="40776" y="63842"/>
                  <a:pt x="76953" y="86672"/>
                  <a:pt x="102480" y="91256"/>
                </a:cubicBezTo>
                <a:cubicBezTo>
                  <a:pt x="128007" y="95840"/>
                  <a:pt x="162882" y="91121"/>
                  <a:pt x="176903" y="81279"/>
                </a:cubicBezTo>
                <a:cubicBezTo>
                  <a:pt x="190925" y="71437"/>
                  <a:pt x="193530" y="45237"/>
                  <a:pt x="186609" y="32204"/>
                </a:cubicBezTo>
                <a:cubicBezTo>
                  <a:pt x="179688" y="19171"/>
                  <a:pt x="156454" y="8205"/>
                  <a:pt x="135377" y="3082"/>
                </a:cubicBezTo>
                <a:cubicBezTo>
                  <a:pt x="114300" y="-2041"/>
                  <a:pt x="80370" y="565"/>
                  <a:pt x="60146" y="1464"/>
                </a:cubicBezTo>
                <a:cubicBezTo>
                  <a:pt x="39923" y="2363"/>
                  <a:pt x="24013" y="3576"/>
                  <a:pt x="14036" y="8475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9"/>
          <p:cNvSpPr/>
          <p:nvPr/>
        </p:nvSpPr>
        <p:spPr>
          <a:xfrm>
            <a:off x="3475048" y="1332992"/>
            <a:ext cx="4246575" cy="1996550"/>
          </a:xfrm>
          <a:custGeom>
            <a:rect b="b" l="l" r="r" t="t"/>
            <a:pathLst>
              <a:path extrusionOk="0" h="79862" w="169863">
                <a:moveTo>
                  <a:pt x="115544" y="24338"/>
                </a:moveTo>
                <a:cubicBezTo>
                  <a:pt x="100938" y="16743"/>
                  <a:pt x="85298" y="7215"/>
                  <a:pt x="67277" y="3575"/>
                </a:cubicBezTo>
                <a:cubicBezTo>
                  <a:pt x="49256" y="-65"/>
                  <a:pt x="17258" y="-1727"/>
                  <a:pt x="7416" y="2497"/>
                </a:cubicBezTo>
                <a:cubicBezTo>
                  <a:pt x="-2426" y="6722"/>
                  <a:pt x="-2785" y="21687"/>
                  <a:pt x="8225" y="28922"/>
                </a:cubicBezTo>
                <a:cubicBezTo>
                  <a:pt x="19236" y="36158"/>
                  <a:pt x="51278" y="37731"/>
                  <a:pt x="73479" y="45910"/>
                </a:cubicBezTo>
                <a:cubicBezTo>
                  <a:pt x="95680" y="54089"/>
                  <a:pt x="125431" y="73459"/>
                  <a:pt x="141430" y="77998"/>
                </a:cubicBezTo>
                <a:cubicBezTo>
                  <a:pt x="157429" y="82537"/>
                  <a:pt x="167226" y="77953"/>
                  <a:pt x="169473" y="73144"/>
                </a:cubicBezTo>
                <a:cubicBezTo>
                  <a:pt x="171720" y="68335"/>
                  <a:pt x="163900" y="57280"/>
                  <a:pt x="154912" y="49146"/>
                </a:cubicBezTo>
                <a:cubicBezTo>
                  <a:pt x="145924" y="41012"/>
                  <a:pt x="130150" y="31933"/>
                  <a:pt x="115544" y="24338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720" name="Google Shape;720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determinare a unei mulțimi de activități cu profit maxim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K=(X,Y) tăietură minimă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 de planificare</a:t>
            </a:r>
            <a:endParaRPr/>
          </a:p>
        </p:txBody>
      </p:sp>
      <p:sp>
        <p:nvSpPr>
          <p:cNvPr id="726" name="Google Shape;726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Algoritm de determinare a unei mulțimi de activități cu profit maxim</a:t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Construim N rețeaua de transport asociată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Determinăm K=(X,Y) tăietură minimă în N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C0000"/>
              </a:buClr>
              <a:buSzPts val="1400"/>
              <a:buFont typeface="Roboto Mono"/>
              <a:buAutoNum type="arabicPeriod"/>
            </a:pPr>
            <a:r>
              <a:rPr b="0" lang="en-GB" sz="1400">
                <a:latin typeface="Roboto Mono"/>
                <a:ea typeface="Roboto Mono"/>
                <a:cs typeface="Roboto Mono"/>
                <a:sym typeface="Roboto Mono"/>
              </a:rPr>
              <a:t>A = X - {s}</a:t>
            </a:r>
            <a:endParaRPr b="0"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32" name="Google Shape;732;p3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38" name="Google Shape;738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Medicină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rPr lang="en-GB" sz="1000"/>
              <a:t>Spatially Varying Color Distributions for Interactive Multi-Label Segmentation </a:t>
            </a:r>
            <a:r>
              <a:rPr b="0" lang="en-GB" sz="1000"/>
              <a:t>(C. Nieuwenhuis, D. Cremers), In IEEE Transactions on Pattern Analysis and Machine Intelligence, volume 35, 2013</a:t>
            </a:r>
            <a:endParaRPr sz="1000"/>
          </a:p>
        </p:txBody>
      </p:sp>
      <p:pic>
        <p:nvPicPr>
          <p:cNvPr id="739" name="Google Shape;7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808" y="1609370"/>
            <a:ext cx="2847750" cy="19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8068" y="1225889"/>
            <a:ext cx="1080119" cy="24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46" name="Google Shape;746;p34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- decidem, pentru fiecare pixel, dacă aparține fundalului (este în background) sau prim planului (este în foreground)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 sz="1000" u="sng">
                <a:solidFill>
                  <a:schemeClr val="hlink"/>
                </a:solidFill>
                <a:hlinkClick r:id="rId3"/>
              </a:rPr>
              <a:t>https://courses.engr.illinois.edu/cs473/sp2013/w/lec/19_add_notes.pdf</a:t>
            </a:r>
            <a:r>
              <a:rPr b="0" lang="en-GB" sz="1000"/>
              <a:t> </a:t>
            </a:r>
            <a:endParaRPr b="0" sz="1000"/>
          </a:p>
        </p:txBody>
      </p:sp>
      <p:pic>
        <p:nvPicPr>
          <p:cNvPr id="747" name="Google Shape;7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674" y="1890850"/>
            <a:ext cx="3201875" cy="214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8150" y="1866150"/>
            <a:ext cx="3213625" cy="21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54" name="Google Shape;754;p35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pixeli vecini</a:t>
            </a:r>
            <a:r>
              <a:rPr b="0" lang="en-GB"/>
              <a:t>  ⇒  o imagine poate fi privită ca un graf grid de pixeli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vârfuri = pixeli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muchii = pixeli vecini</a:t>
            </a:r>
            <a:endParaRPr sz="1500"/>
          </a:p>
        </p:txBody>
      </p:sp>
      <p:pic>
        <p:nvPicPr>
          <p:cNvPr id="755" name="Google Shape;7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7000" y="2300671"/>
            <a:ext cx="2450000" cy="17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61" name="Google Shape;761;p36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Date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pentru fiecare </a:t>
            </a:r>
            <a:r>
              <a:rPr b="1" lang="en-GB" sz="1500"/>
              <a:t>pixel </a:t>
            </a:r>
            <a:r>
              <a:rPr lang="en-GB" sz="1500"/>
              <a:t>i:</a:t>
            </a:r>
            <a:br>
              <a:rPr lang="en-GB" sz="1500"/>
            </a:br>
            <a:r>
              <a:rPr lang="en-GB" sz="1500"/>
              <a:t>	f</a:t>
            </a:r>
            <a:r>
              <a:rPr baseline="-25000" lang="en-GB" sz="1500"/>
              <a:t>i</a:t>
            </a:r>
            <a:r>
              <a:rPr lang="en-GB" sz="1500"/>
              <a:t> = probabilitatea ca i ∈ foreground</a:t>
            </a:r>
            <a:br>
              <a:rPr lang="en-GB" sz="1500"/>
            </a:br>
            <a:r>
              <a:rPr lang="en-GB" sz="1500"/>
              <a:t>	b</a:t>
            </a:r>
            <a:r>
              <a:rPr baseline="-25000" lang="en-GB" sz="1500"/>
              <a:t>i</a:t>
            </a:r>
            <a:r>
              <a:rPr lang="en-GB" sz="1500"/>
              <a:t> = probabilitatea ca i ∈ background</a:t>
            </a:r>
            <a:endParaRPr sz="1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67" name="Google Shape;767;p37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Date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pentru fiecare </a:t>
            </a:r>
            <a:r>
              <a:rPr b="1" lang="en-GB" sz="1500"/>
              <a:t>pixel </a:t>
            </a:r>
            <a:r>
              <a:rPr lang="en-GB" sz="1500"/>
              <a:t>i:</a:t>
            </a:r>
            <a:br>
              <a:rPr lang="en-GB" sz="1500"/>
            </a:br>
            <a:r>
              <a:rPr lang="en-GB" sz="1500"/>
              <a:t>	f</a:t>
            </a:r>
            <a:r>
              <a:rPr baseline="-25000" lang="en-GB" sz="1500"/>
              <a:t>i</a:t>
            </a:r>
            <a:r>
              <a:rPr lang="en-GB" sz="1500"/>
              <a:t> = probabilitatea ca i ∈ foreground</a:t>
            </a:r>
            <a:br>
              <a:rPr lang="en-GB" sz="1500"/>
            </a:br>
            <a:r>
              <a:rPr lang="en-GB" sz="1500"/>
              <a:t>	b</a:t>
            </a:r>
            <a:r>
              <a:rPr baseline="-25000" lang="en-GB" sz="1500"/>
              <a:t>i</a:t>
            </a:r>
            <a:r>
              <a:rPr lang="en-GB" sz="1500"/>
              <a:t> = probabilitatea ca i ∈ background</a:t>
            </a:r>
            <a:br>
              <a:rPr lang="en-GB" sz="1500"/>
            </a:b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pentru fiecare </a:t>
            </a:r>
            <a:r>
              <a:rPr b="1" lang="en-GB" sz="1500"/>
              <a:t>pereche de pixeli vecini </a:t>
            </a:r>
            <a:r>
              <a:rPr lang="en-GB" sz="1500"/>
              <a:t>(i, j):</a:t>
            </a:r>
            <a:br>
              <a:rPr lang="en-GB" sz="1500"/>
            </a:br>
            <a:r>
              <a:rPr lang="en-GB" sz="1500"/>
              <a:t>	p</a:t>
            </a:r>
            <a:r>
              <a:rPr baseline="-25000" lang="en-GB" sz="1500"/>
              <a:t>ij</a:t>
            </a:r>
            <a:r>
              <a:rPr lang="en-GB" sz="1500"/>
              <a:t> = </a:t>
            </a:r>
            <a:r>
              <a:rPr b="1" lang="en-GB" sz="1500"/>
              <a:t>penalizarea de separare</a:t>
            </a:r>
            <a:r>
              <a:rPr lang="en-GB" sz="1500"/>
              <a:t> = pentru plasarea lui i și j în regiuni diferite (unul în </a:t>
            </a:r>
            <a:br>
              <a:rPr lang="en-GB" sz="1500"/>
            </a:br>
            <a:r>
              <a:rPr lang="en-GB" sz="1500"/>
              <a:t>		foreground și altul în background)</a:t>
            </a:r>
            <a:endParaRPr sz="15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73" name="Google Shape;773;p38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Se cere</a:t>
            </a:r>
            <a:r>
              <a:rPr b="0" lang="en-GB"/>
              <a:t> o partiționare a pixelilor în două mulțimi F și B (corespunzătoare pixelilor din foreground / background), care să maximizeze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pic>
        <p:nvPicPr>
          <p:cNvPr descr="q(F, B) = \sum\limits_{i \in F}f_i + \sum\limits_{i \in B}b_i - \sum\limits_{\;\;\;\;\; ij \in E \\ |F \;\cap\; \{i,j\}| = 1}p_{ij}" id="774" name="Google Shape;774;p38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338" y="2333700"/>
            <a:ext cx="4455324" cy="8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80" name="Google Shape;780;p39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pic>
        <p:nvPicPr>
          <p:cNvPr descr="q(F, B) = &#10;\sum\limits_{i}(f_i + b_i)  - \sum\limits_{i \in F}b_i - \sum\limits_{j \in B}f_j - \sum\limits_{\;\;\;\;\; ij \in E \\ |F \;\cap\; \{i,j\}| = 1}p_{ij}" id="781" name="Google Shape;781;p39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950" y="1836575"/>
            <a:ext cx="6037568" cy="8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87" name="Google Shape;787;p40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Problema se reduce la a minimiza</a:t>
            </a:r>
            <a:endParaRPr/>
          </a:p>
        </p:txBody>
      </p:sp>
      <p:pic>
        <p:nvPicPr>
          <p:cNvPr descr="q(F, B) = &#10;\sum\limits_{i}(f_i + b_i)  - \sum\limits_{i \in F}b_i - \sum\limits_{j \in B}f_j - \sum\limits_{\;\;\;\;\; ij \in E \\ |F \;\cap\; \{i,j\}| = 1}p_{ij}" id="788" name="Google Shape;788;p40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950" y="1836575"/>
            <a:ext cx="6037568" cy="80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(F, B) = &#10;\sum\limits_{i \in F}b_i + \sum\limits_{j \in B}f_j + \sum\limits_{\;\;\;\;\; ij \in E \\ |F \;\cap\; \{i,j\}| = 1}p_{ij}" id="789" name="Google Shape;789;p40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950" y="3486450"/>
            <a:ext cx="4486246" cy="80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0"/>
          <p:cNvSpPr/>
          <p:nvPr/>
        </p:nvSpPr>
        <p:spPr>
          <a:xfrm rot="-5400000">
            <a:off x="5392350" y="882025"/>
            <a:ext cx="162600" cy="3606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796" name="Google Shape;796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Asociem problemei o rețea 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797" name="Google Shape;7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000" y="2072071"/>
            <a:ext cx="2450000" cy="17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41"/>
          <p:cNvSpPr/>
          <p:nvPr/>
        </p:nvSpPr>
        <p:spPr>
          <a:xfrm>
            <a:off x="3842350" y="2772200"/>
            <a:ext cx="1103100" cy="15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0873" y="877738"/>
            <a:ext cx="2786950" cy="40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41"/>
          <p:cNvSpPr txBox="1"/>
          <p:nvPr/>
        </p:nvSpPr>
        <p:spPr>
          <a:xfrm>
            <a:off x="509175" y="4441175"/>
            <a:ext cx="413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Jon Kleinberg, Éva Tardos,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Design</a:t>
            </a: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Addison-Wesley, 2005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806" name="Google Shape;806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Asociem problemei o rețea 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807" name="Google Shape;80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000" y="2072071"/>
            <a:ext cx="2450000" cy="17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2"/>
          <p:cNvSpPr/>
          <p:nvPr/>
        </p:nvSpPr>
        <p:spPr>
          <a:xfrm>
            <a:off x="3842350" y="2772200"/>
            <a:ext cx="1103100" cy="15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3000" y="2072071"/>
            <a:ext cx="2450000" cy="17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2"/>
          <p:cNvSpPr/>
          <p:nvPr/>
        </p:nvSpPr>
        <p:spPr>
          <a:xfrm>
            <a:off x="6609750" y="1297900"/>
            <a:ext cx="286200" cy="2862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2"/>
          <p:cNvSpPr/>
          <p:nvPr/>
        </p:nvSpPr>
        <p:spPr>
          <a:xfrm>
            <a:off x="6609750" y="4345900"/>
            <a:ext cx="286200" cy="2862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42"/>
          <p:cNvCxnSpPr>
            <a:stCxn id="810" idx="4"/>
          </p:cNvCxnSpPr>
          <p:nvPr/>
        </p:nvCxnSpPr>
        <p:spPr>
          <a:xfrm>
            <a:off x="6752850" y="1584100"/>
            <a:ext cx="446400" cy="93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3" name="Google Shape;813;p42"/>
          <p:cNvCxnSpPr/>
          <p:nvPr/>
        </p:nvCxnSpPr>
        <p:spPr>
          <a:xfrm>
            <a:off x="7298225" y="2571750"/>
            <a:ext cx="26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4" name="Google Shape;814;p42"/>
          <p:cNvCxnSpPr>
            <a:endCxn id="811" idx="0"/>
          </p:cNvCxnSpPr>
          <p:nvPr/>
        </p:nvCxnSpPr>
        <p:spPr>
          <a:xfrm flipH="1">
            <a:off x="6752850" y="2630800"/>
            <a:ext cx="467700" cy="171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5" name="Google Shape;815;p42"/>
          <p:cNvSpPr txBox="1"/>
          <p:nvPr/>
        </p:nvSpPr>
        <p:spPr>
          <a:xfrm>
            <a:off x="6838525" y="1584100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6" name="Google Shape;816;p42"/>
          <p:cNvSpPr txBox="1"/>
          <p:nvPr/>
        </p:nvSpPr>
        <p:spPr>
          <a:xfrm>
            <a:off x="7195175" y="2171550"/>
            <a:ext cx="4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ij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7" name="Google Shape;817;p42"/>
          <p:cNvSpPr txBox="1"/>
          <p:nvPr/>
        </p:nvSpPr>
        <p:spPr>
          <a:xfrm>
            <a:off x="6795625" y="3836313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823" name="Google Shape;823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Delimitarea regiunii de foreground / background</a:t>
            </a:r>
            <a:r>
              <a:rPr b="0" lang="en-GB"/>
              <a:t> 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Rețeaua N</a:t>
            </a:r>
            <a:endParaRPr b="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noduri noi s, t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arce s-i, c(si) = f</a:t>
            </a:r>
            <a:r>
              <a:rPr baseline="-25000" lang="en-GB" sz="1500"/>
              <a:t>i</a:t>
            </a:r>
            <a:r>
              <a:rPr lang="en-GB" sz="1500"/>
              <a:t> , pentru orice i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arce i-t, c(it) = b</a:t>
            </a:r>
            <a:r>
              <a:rPr baseline="-25000" lang="en-GB" sz="1500"/>
              <a:t>i</a:t>
            </a:r>
            <a:r>
              <a:rPr lang="en-GB" sz="1500"/>
              <a:t> , pentru orice i</a:t>
            </a:r>
            <a:endParaRPr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se înlocuiește muchie ij cu 2 arce</a:t>
            </a:r>
            <a:br>
              <a:rPr lang="en-GB" sz="1500"/>
            </a:br>
            <a:r>
              <a:rPr lang="en-GB" sz="1500"/>
              <a:t>		c(ij) = c(ji) = p</a:t>
            </a:r>
            <a:r>
              <a:rPr baseline="-25000" lang="en-GB" sz="1500"/>
              <a:t>ij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824" name="Google Shape;824;p43"/>
          <p:cNvGrpSpPr/>
          <p:nvPr/>
        </p:nvGrpSpPr>
        <p:grpSpPr>
          <a:xfrm>
            <a:off x="3857400" y="3462525"/>
            <a:ext cx="2648400" cy="1353000"/>
            <a:chOff x="2190150" y="3279100"/>
            <a:chExt cx="2648400" cy="1353000"/>
          </a:xfrm>
        </p:grpSpPr>
        <p:sp>
          <p:nvSpPr>
            <p:cNvPr id="825" name="Google Shape;825;p43"/>
            <p:cNvSpPr/>
            <p:nvPr/>
          </p:nvSpPr>
          <p:spPr>
            <a:xfrm>
              <a:off x="2190150" y="3812500"/>
              <a:ext cx="286200" cy="2862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3"/>
            <p:cNvSpPr/>
            <p:nvPr/>
          </p:nvSpPr>
          <p:spPr>
            <a:xfrm>
              <a:off x="4552350" y="3812500"/>
              <a:ext cx="286200" cy="2862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3"/>
            <p:cNvSpPr/>
            <p:nvPr/>
          </p:nvSpPr>
          <p:spPr>
            <a:xfrm>
              <a:off x="3409350" y="3279100"/>
              <a:ext cx="286200" cy="2862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3409350" y="4345900"/>
              <a:ext cx="286200" cy="2862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9" name="Google Shape;829;p43"/>
            <p:cNvCxnSpPr>
              <a:stCxn id="825" idx="7"/>
              <a:endCxn id="827" idx="2"/>
            </p:cNvCxnSpPr>
            <p:nvPr/>
          </p:nvCxnSpPr>
          <p:spPr>
            <a:xfrm flipH="1" rot="10800000">
              <a:off x="2434437" y="3422113"/>
              <a:ext cx="975000" cy="43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0" name="Google Shape;830;p43"/>
            <p:cNvCxnSpPr>
              <a:stCxn id="825" idx="5"/>
              <a:endCxn id="828" idx="2"/>
            </p:cNvCxnSpPr>
            <p:nvPr/>
          </p:nvCxnSpPr>
          <p:spPr>
            <a:xfrm>
              <a:off x="2434437" y="4056787"/>
              <a:ext cx="975000" cy="43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1" name="Google Shape;831;p43"/>
            <p:cNvCxnSpPr>
              <a:stCxn id="827" idx="6"/>
              <a:endCxn id="826" idx="1"/>
            </p:cNvCxnSpPr>
            <p:nvPr/>
          </p:nvCxnSpPr>
          <p:spPr>
            <a:xfrm>
              <a:off x="3695550" y="3422200"/>
              <a:ext cx="898800" cy="43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2" name="Google Shape;832;p43"/>
            <p:cNvCxnSpPr>
              <a:stCxn id="828" idx="6"/>
              <a:endCxn id="826" idx="3"/>
            </p:cNvCxnSpPr>
            <p:nvPr/>
          </p:nvCxnSpPr>
          <p:spPr>
            <a:xfrm flipH="1" rot="10800000">
              <a:off x="3695550" y="4056700"/>
              <a:ext cx="898800" cy="432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3" name="Google Shape;833;p43"/>
            <p:cNvCxnSpPr>
              <a:stCxn id="827" idx="3"/>
              <a:endCxn id="828" idx="1"/>
            </p:cNvCxnSpPr>
            <p:nvPr/>
          </p:nvCxnSpPr>
          <p:spPr>
            <a:xfrm>
              <a:off x="3451263" y="3523387"/>
              <a:ext cx="0" cy="86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34" name="Google Shape;834;p43"/>
            <p:cNvCxnSpPr>
              <a:stCxn id="828" idx="7"/>
              <a:endCxn id="827" idx="5"/>
            </p:cNvCxnSpPr>
            <p:nvPr/>
          </p:nvCxnSpPr>
          <p:spPr>
            <a:xfrm rot="10800000">
              <a:off x="3653637" y="3523513"/>
              <a:ext cx="0" cy="864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35" name="Google Shape;835;p43"/>
            <p:cNvSpPr txBox="1"/>
            <p:nvPr/>
          </p:nvSpPr>
          <p:spPr>
            <a:xfrm>
              <a:off x="2495125" y="4098700"/>
              <a:ext cx="38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</a:t>
              </a:r>
              <a:endParaRPr b="1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36" name="Google Shape;836;p43"/>
            <p:cNvSpPr txBox="1"/>
            <p:nvPr/>
          </p:nvSpPr>
          <p:spPr>
            <a:xfrm>
              <a:off x="2495125" y="3336700"/>
              <a:ext cx="38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endParaRPr b="1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37" name="Google Shape;837;p43"/>
            <p:cNvSpPr txBox="1"/>
            <p:nvPr/>
          </p:nvSpPr>
          <p:spPr>
            <a:xfrm>
              <a:off x="4052425" y="3302913"/>
              <a:ext cx="38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</a:t>
              </a:r>
              <a:endParaRPr b="1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38" name="Google Shape;838;p43"/>
            <p:cNvSpPr txBox="1"/>
            <p:nvPr/>
          </p:nvSpPr>
          <p:spPr>
            <a:xfrm>
              <a:off x="4052425" y="4217313"/>
              <a:ext cx="38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</a:t>
              </a:r>
              <a:endParaRPr b="1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39" name="Google Shape;839;p43"/>
            <p:cNvSpPr txBox="1"/>
            <p:nvPr/>
          </p:nvSpPr>
          <p:spPr>
            <a:xfrm>
              <a:off x="3080375" y="3695550"/>
              <a:ext cx="467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ij</a:t>
              </a:r>
              <a:endParaRPr b="1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40" name="Google Shape;840;p43"/>
            <p:cNvSpPr txBox="1"/>
            <p:nvPr/>
          </p:nvSpPr>
          <p:spPr>
            <a:xfrm>
              <a:off x="3613775" y="3695550"/>
              <a:ext cx="467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ji</a:t>
              </a:r>
              <a:endParaRPr b="1" i="0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K = (X, Y) tăietură în N,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avem capacitatea:</a:t>
            </a:r>
            <a:endParaRPr b="0"/>
          </a:p>
        </p:txBody>
      </p:sp>
      <p:sp>
        <p:nvSpPr>
          <p:cNvPr id="846" name="Google Shape;846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pic>
        <p:nvPicPr>
          <p:cNvPr id="847" name="Google Shape;847;p44"/>
          <p:cNvPicPr preferRelativeResize="0"/>
          <p:nvPr/>
        </p:nvPicPr>
        <p:blipFill rotWithShape="1">
          <a:blip r:embed="rId3">
            <a:alphaModFix amt="29000"/>
          </a:blip>
          <a:srcRect b="0" l="0" r="0" t="0"/>
          <a:stretch/>
        </p:blipFill>
        <p:spPr>
          <a:xfrm>
            <a:off x="2940636" y="1950225"/>
            <a:ext cx="3262725" cy="23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44"/>
          <p:cNvSpPr/>
          <p:nvPr/>
        </p:nvSpPr>
        <p:spPr>
          <a:xfrm>
            <a:off x="2733736" y="1788657"/>
            <a:ext cx="3770350" cy="3139125"/>
          </a:xfrm>
          <a:custGeom>
            <a:rect b="b" l="l" r="r" t="t"/>
            <a:pathLst>
              <a:path extrusionOk="0" h="125565" w="150814">
                <a:moveTo>
                  <a:pt x="10308" y="4265"/>
                </a:moveTo>
                <a:cubicBezTo>
                  <a:pt x="3896" y="9828"/>
                  <a:pt x="2670" y="27084"/>
                  <a:pt x="1256" y="40756"/>
                </a:cubicBezTo>
                <a:cubicBezTo>
                  <a:pt x="-158" y="54428"/>
                  <a:pt x="-865" y="74277"/>
                  <a:pt x="1822" y="86299"/>
                </a:cubicBezTo>
                <a:cubicBezTo>
                  <a:pt x="4509" y="98321"/>
                  <a:pt x="4462" y="106384"/>
                  <a:pt x="17380" y="112890"/>
                </a:cubicBezTo>
                <a:cubicBezTo>
                  <a:pt x="30298" y="119396"/>
                  <a:pt x="58916" y="126986"/>
                  <a:pt x="79330" y="125336"/>
                </a:cubicBezTo>
                <a:cubicBezTo>
                  <a:pt x="99744" y="123686"/>
                  <a:pt x="128315" y="121753"/>
                  <a:pt x="139866" y="102989"/>
                </a:cubicBezTo>
                <a:cubicBezTo>
                  <a:pt x="151417" y="84225"/>
                  <a:pt x="152878" y="29347"/>
                  <a:pt x="148635" y="12751"/>
                </a:cubicBezTo>
                <a:cubicBezTo>
                  <a:pt x="144392" y="-3844"/>
                  <a:pt x="121526" y="2756"/>
                  <a:pt x="114407" y="3416"/>
                </a:cubicBezTo>
                <a:cubicBezTo>
                  <a:pt x="107288" y="4076"/>
                  <a:pt x="104317" y="12893"/>
                  <a:pt x="105920" y="16712"/>
                </a:cubicBezTo>
                <a:cubicBezTo>
                  <a:pt x="107523" y="20531"/>
                  <a:pt x="121526" y="18644"/>
                  <a:pt x="124025" y="26329"/>
                </a:cubicBezTo>
                <a:cubicBezTo>
                  <a:pt x="126524" y="34014"/>
                  <a:pt x="134020" y="56598"/>
                  <a:pt x="120913" y="62821"/>
                </a:cubicBezTo>
                <a:cubicBezTo>
                  <a:pt x="107806" y="69044"/>
                  <a:pt x="58916" y="72910"/>
                  <a:pt x="45385" y="63669"/>
                </a:cubicBezTo>
                <a:cubicBezTo>
                  <a:pt x="31854" y="54428"/>
                  <a:pt x="45573" y="17278"/>
                  <a:pt x="39727" y="7377"/>
                </a:cubicBezTo>
                <a:cubicBezTo>
                  <a:pt x="33881" y="-2524"/>
                  <a:pt x="16720" y="-1298"/>
                  <a:pt x="10308" y="4265"/>
                </a:cubicBezTo>
                <a:close/>
              </a:path>
            </a:pathLst>
          </a:custGeom>
          <a:noFill/>
          <a:ln cap="flat" cmpd="sng" w="28575">
            <a:solidFill>
              <a:srgbClr val="F1C23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4"/>
          <p:cNvSpPr/>
          <p:nvPr/>
        </p:nvSpPr>
        <p:spPr>
          <a:xfrm>
            <a:off x="3836417" y="1265021"/>
            <a:ext cx="1977325" cy="2152350"/>
          </a:xfrm>
          <a:custGeom>
            <a:rect b="b" l="l" r="r" t="t"/>
            <a:pathLst>
              <a:path extrusionOk="0" h="86094" w="79093">
                <a:moveTo>
                  <a:pt x="29564" y="34"/>
                </a:moveTo>
                <a:cubicBezTo>
                  <a:pt x="24001" y="223"/>
                  <a:pt x="17966" y="647"/>
                  <a:pt x="13723" y="4560"/>
                </a:cubicBezTo>
                <a:cubicBezTo>
                  <a:pt x="9480" y="8473"/>
                  <a:pt x="6322" y="12717"/>
                  <a:pt x="4106" y="23513"/>
                </a:cubicBezTo>
                <a:cubicBezTo>
                  <a:pt x="1890" y="34310"/>
                  <a:pt x="-1128" y="59156"/>
                  <a:pt x="428" y="69339"/>
                </a:cubicBezTo>
                <a:cubicBezTo>
                  <a:pt x="1984" y="79523"/>
                  <a:pt x="6227" y="81974"/>
                  <a:pt x="13440" y="84614"/>
                </a:cubicBezTo>
                <a:cubicBezTo>
                  <a:pt x="20653" y="87254"/>
                  <a:pt x="33949" y="85652"/>
                  <a:pt x="43708" y="85180"/>
                </a:cubicBezTo>
                <a:cubicBezTo>
                  <a:pt x="53467" y="84709"/>
                  <a:pt x="66103" y="84190"/>
                  <a:pt x="71996" y="81785"/>
                </a:cubicBezTo>
                <a:cubicBezTo>
                  <a:pt x="77889" y="79381"/>
                  <a:pt x="78785" y="76222"/>
                  <a:pt x="79068" y="70753"/>
                </a:cubicBezTo>
                <a:cubicBezTo>
                  <a:pt x="79351" y="65284"/>
                  <a:pt x="77182" y="53545"/>
                  <a:pt x="73693" y="48972"/>
                </a:cubicBezTo>
                <a:cubicBezTo>
                  <a:pt x="70204" y="44399"/>
                  <a:pt x="61058" y="48406"/>
                  <a:pt x="58135" y="43314"/>
                </a:cubicBezTo>
                <a:cubicBezTo>
                  <a:pt x="55212" y="38222"/>
                  <a:pt x="57994" y="25069"/>
                  <a:pt x="56155" y="18421"/>
                </a:cubicBezTo>
                <a:cubicBezTo>
                  <a:pt x="54316" y="11774"/>
                  <a:pt x="51535" y="6494"/>
                  <a:pt x="47103" y="3429"/>
                </a:cubicBezTo>
                <a:cubicBezTo>
                  <a:pt x="42671" y="365"/>
                  <a:pt x="35127" y="-154"/>
                  <a:pt x="29564" y="34"/>
                </a:cubicBezTo>
                <a:close/>
              </a:path>
            </a:pathLst>
          </a:custGeom>
          <a:noFill/>
          <a:ln cap="flat" cmpd="sng" w="2857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4"/>
          <p:cNvSpPr/>
          <p:nvPr/>
        </p:nvSpPr>
        <p:spPr>
          <a:xfrm>
            <a:off x="4428913" y="1450300"/>
            <a:ext cx="286200" cy="2862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4"/>
          <p:cNvSpPr/>
          <p:nvPr/>
        </p:nvSpPr>
        <p:spPr>
          <a:xfrm>
            <a:off x="4428925" y="4547100"/>
            <a:ext cx="286200" cy="2862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4"/>
          <p:cNvSpPr txBox="1"/>
          <p:nvPr/>
        </p:nvSpPr>
        <p:spPr>
          <a:xfrm>
            <a:off x="4129975" y="1676025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3" name="Google Shape;853;p44"/>
          <p:cNvSpPr txBox="1"/>
          <p:nvPr/>
        </p:nvSpPr>
        <p:spPr>
          <a:xfrm>
            <a:off x="4605625" y="4146888"/>
            <a:ext cx="3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54" name="Google Shape;854;p44"/>
          <p:cNvCxnSpPr>
            <a:stCxn id="850" idx="4"/>
          </p:cNvCxnSpPr>
          <p:nvPr/>
        </p:nvCxnSpPr>
        <p:spPr>
          <a:xfrm flipH="1">
            <a:off x="3627913" y="1736500"/>
            <a:ext cx="944100" cy="185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5" name="Google Shape;855;p44"/>
          <p:cNvCxnSpPr>
            <a:endCxn id="851" idx="0"/>
          </p:cNvCxnSpPr>
          <p:nvPr/>
        </p:nvCxnSpPr>
        <p:spPr>
          <a:xfrm flipH="1">
            <a:off x="4572025" y="2680200"/>
            <a:ext cx="449100" cy="18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6" name="Google Shape;856;p44"/>
          <p:cNvSpPr txBox="1"/>
          <p:nvPr/>
        </p:nvSpPr>
        <p:spPr>
          <a:xfrm>
            <a:off x="5561625" y="2171550"/>
            <a:ext cx="4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ij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57" name="Google Shape;857;p44"/>
          <p:cNvCxnSpPr/>
          <p:nvPr/>
        </p:nvCxnSpPr>
        <p:spPr>
          <a:xfrm>
            <a:off x="5636325" y="2623675"/>
            <a:ext cx="31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8" name="Google Shape;858;p44"/>
          <p:cNvCxnSpPr/>
          <p:nvPr/>
        </p:nvCxnSpPr>
        <p:spPr>
          <a:xfrm flipH="1">
            <a:off x="5318150" y="1449750"/>
            <a:ext cx="990000" cy="1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9" name="Google Shape;859;p44"/>
          <p:cNvSpPr txBox="1"/>
          <p:nvPr/>
        </p:nvSpPr>
        <p:spPr>
          <a:xfrm>
            <a:off x="6423050" y="1217250"/>
            <a:ext cx="10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 ∪ {s}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0" name="Google Shape;860;p44"/>
          <p:cNvSpPr txBox="1"/>
          <p:nvPr/>
        </p:nvSpPr>
        <p:spPr>
          <a:xfrm>
            <a:off x="6949375" y="4114425"/>
            <a:ext cx="10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 ∪ {t}</a:t>
            </a:r>
            <a:endParaRPr b="1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61" name="Google Shape;861;p44"/>
          <p:cNvCxnSpPr/>
          <p:nvPr/>
        </p:nvCxnSpPr>
        <p:spPr>
          <a:xfrm rot="10800000">
            <a:off x="6520325" y="3910825"/>
            <a:ext cx="678900" cy="2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Pentru K = (X, Y) tăietură în N,  F = X - {s},  B = Y - {t} 	avem</a:t>
            </a:r>
            <a:endParaRPr b="0"/>
          </a:p>
        </p:txBody>
      </p:sp>
      <p:sp>
        <p:nvSpPr>
          <p:cNvPr id="867" name="Google Shape;867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pic>
        <p:nvPicPr>
          <p:cNvPr descr="c(X, Y) = ?" id="868" name="Google Shape;868;p45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00" y="1668975"/>
            <a:ext cx="1258800" cy="3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Pentru K = (X, Y) tăietură în N, 	F = X - {s}, B = Y - {t} 	avem</a:t>
            </a:r>
            <a:endParaRPr b="0"/>
          </a:p>
        </p:txBody>
      </p:sp>
      <p:sp>
        <p:nvSpPr>
          <p:cNvPr id="874" name="Google Shape;874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pic>
        <p:nvPicPr>
          <p:cNvPr descr="c(X, Y) = &#10;\sum\limits_{i \in F}c(it) + \sum\limits_{j \in B}c(sj) + \sum\limits_{\;\;\;\;\; ij \in E \\ |F \;\cap\; \{i,j\}| = 1}c(ij)" id="875" name="Google Shape;875;p46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00" y="1676000"/>
            <a:ext cx="5300334" cy="8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Pentru K = (X, Y) tăietură în N, 	F = X - {s}, B = Y - {t} 	avem</a:t>
            </a:r>
            <a:endParaRPr b="0"/>
          </a:p>
        </p:txBody>
      </p:sp>
      <p:sp>
        <p:nvSpPr>
          <p:cNvPr id="881" name="Google Shape;881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pic>
        <p:nvPicPr>
          <p:cNvPr descr="c(X, Y) = &#10;\sum\limits_{i \in F}c(it) + \sum\limits_{j \in B}c(sj) + \sum\limits_{\;\;\;\;\; ij \in E \\ |F \;\cap\; \{i,j\}| = 1}c(ij)" id="882" name="Google Shape;882;p47" title="MathEquation,#31394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00" y="1676000"/>
            <a:ext cx="5300334" cy="80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= &#10;\sum\limits_{i \in F}b_i + \sum\limits_{j \in B}f_j + \sum\limits_{\;\;\;\;\; ij \in E \\ |F \;\cap\; \{i,j\}| = 1}p_{ij} = r(F, B)" id="883" name="Google Shape;883;p47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9200" y="2927825"/>
            <a:ext cx="4750666" cy="8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Segmentarea imaginilor</a:t>
            </a:r>
            <a:endParaRPr/>
          </a:p>
        </p:txBody>
      </p:sp>
      <p:sp>
        <p:nvSpPr>
          <p:cNvPr id="889" name="Google Shape;889;p48"/>
          <p:cNvSpPr txBox="1"/>
          <p:nvPr>
            <p:ph idx="1" type="body"/>
          </p:nvPr>
        </p:nvSpPr>
        <p:spPr>
          <a:xfrm>
            <a:off x="311700" y="906225"/>
            <a:ext cx="8520600" cy="40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Concluzii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Pentru K = (X, Y) tăietură în N,  F = X - {s},  B = Y - {t}  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Rezultă:</a:t>
            </a:r>
            <a:br>
              <a:rPr b="0" lang="en-GB"/>
            </a:br>
            <a:r>
              <a:rPr lang="en-GB">
                <a:solidFill>
                  <a:srgbClr val="CC0000"/>
                </a:solidFill>
              </a:rPr>
              <a:t>determinarea unei segmentări care maximizează măsura de performanță q</a:t>
            </a:r>
            <a:r>
              <a:rPr lang="en-GB"/>
              <a:t> </a:t>
            </a:r>
            <a:r>
              <a:rPr b="0" lang="en-GB"/>
              <a:t>(adică a unei partiții (F, B) a mulțimii pixelilor, cu r(F, B) minimă)  ⇔</a:t>
            </a:r>
            <a:br>
              <a:rPr b="0" lang="en-GB"/>
            </a:br>
            <a:r>
              <a:rPr lang="en-GB">
                <a:solidFill>
                  <a:srgbClr val="CC0000"/>
                </a:solidFill>
              </a:rPr>
              <a:t>determinarea unei tăieturi (X, Y) de capacitate minimă:  F = X - {s}, B = Y - {t}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 sz="1200" u="sng">
                <a:solidFill>
                  <a:schemeClr val="hlink"/>
                </a:solidFill>
                <a:hlinkClick r:id="rId3"/>
              </a:rPr>
              <a:t>https://docs.opencv.org/3.4/d8/d83/tutorial_py_grabcut.html</a:t>
            </a:r>
            <a:r>
              <a:rPr lang="en-GB" sz="1200">
                <a:solidFill>
                  <a:srgbClr val="CC0000"/>
                </a:solidFill>
              </a:rPr>
              <a:t> </a:t>
            </a:r>
            <a:endParaRPr sz="1200">
              <a:solidFill>
                <a:srgbClr val="CC0000"/>
              </a:solidFill>
            </a:endParaRPr>
          </a:p>
        </p:txBody>
      </p:sp>
      <p:pic>
        <p:nvPicPr>
          <p:cNvPr descr="c(X, Y) = r(F, B)" id="890" name="Google Shape;890;p48" title="MathEquation,#31394d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4275" y="1919675"/>
            <a:ext cx="1788676" cy="2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1CA564-54FB-4605-8765-DD3C014D45F0}"/>
</file>

<file path=customXml/itemProps2.xml><?xml version="1.0" encoding="utf-8"?>
<ds:datastoreItem xmlns:ds="http://schemas.openxmlformats.org/officeDocument/2006/customXml" ds:itemID="{3BDF6569-4DBC-49A2-B2CC-73F69167FD4C}"/>
</file>

<file path=customXml/itemProps3.xml><?xml version="1.0" encoding="utf-8"?>
<ds:datastoreItem xmlns:ds="http://schemas.openxmlformats.org/officeDocument/2006/customXml" ds:itemID="{0CD0EB23-6B6E-408C-8BD4-665B99C7B7E4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