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presentation.xml" ContentType="application/vnd.openxmlformats-officedocument.presentationml.presentation.main+xml"/>
  <Override PartName="/ppt/metadata" ContentType="application/binary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2" Type="http://schemas.openxmlformats.org/officeDocument/2006/relationships/custom-properties" Target="docProps/custom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</p:sldIdLst>
  <p:sldSz cy="5143500" cx="9144000"/>
  <p:notesSz cx="6858000" cy="9144000"/>
  <p:embeddedFontLst>
    <p:embeddedFont>
      <p:font typeface="Roboto"/>
      <p:regular r:id="rId44"/>
      <p:bold r:id="rId45"/>
      <p:italic r:id="rId46"/>
      <p:boldItalic r:id="rId47"/>
    </p:embeddedFont>
    <p:embeddedFont>
      <p:font typeface="Roboto Mono Light"/>
      <p:regular r:id="rId48"/>
      <p:bold r:id="rId49"/>
      <p:italic r:id="rId50"/>
      <p:boldItalic r:id="rId51"/>
    </p:embeddedFont>
    <p:embeddedFont>
      <p:font typeface="Roboto Mono"/>
      <p:regular r:id="rId52"/>
      <p:bold r:id="rId53"/>
      <p:italic r:id="rId54"/>
      <p:boldItalic r:id="rId55"/>
    </p:embeddedFont>
    <p:embeddedFont>
      <p:font typeface="Merriweather"/>
      <p:regular r:id="rId56"/>
      <p:bold r:id="rId57"/>
      <p:italic r:id="rId58"/>
      <p:boldItalic r:id="rId5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60" roundtripDataSignature="AMtx7miGKqRN/6GWGnCmMzo9zIsaSL7ZL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slide" Target="slides/slide34.xml"/><Relationship Id="rId26" Type="http://schemas.openxmlformats.org/officeDocument/2006/relationships/slide" Target="slides/slide21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42" Type="http://schemas.openxmlformats.org/officeDocument/2006/relationships/slide" Target="slides/slide37.xml"/><Relationship Id="rId47" Type="http://schemas.openxmlformats.org/officeDocument/2006/relationships/font" Target="fonts/Roboto-boldItalic.fntdata"/><Relationship Id="rId34" Type="http://schemas.openxmlformats.org/officeDocument/2006/relationships/slide" Target="slides/slide29.xml"/><Relationship Id="rId21" Type="http://schemas.openxmlformats.org/officeDocument/2006/relationships/slide" Target="slides/slide16.xml"/><Relationship Id="rId50" Type="http://schemas.openxmlformats.org/officeDocument/2006/relationships/font" Target="fonts/RobotoMonoLight-italic.fntdata"/><Relationship Id="rId55" Type="http://schemas.openxmlformats.org/officeDocument/2006/relationships/font" Target="fonts/RobotoMono-boldItalic.fntdata"/><Relationship Id="rId63" Type="http://schemas.openxmlformats.org/officeDocument/2006/relationships/customXml" Target="../customXml/item3.xml"/><Relationship Id="rId7" Type="http://schemas.openxmlformats.org/officeDocument/2006/relationships/slide" Target="slides/slide2.xml"/><Relationship Id="rId2" Type="http://schemas.openxmlformats.org/officeDocument/2006/relationships/viewProps" Target="viewProps.xml"/><Relationship Id="rId29" Type="http://schemas.openxmlformats.org/officeDocument/2006/relationships/slide" Target="slides/slide24.xml"/><Relationship Id="rId16" Type="http://schemas.openxmlformats.org/officeDocument/2006/relationships/slide" Target="slides/slide11.xml"/><Relationship Id="rId40" Type="http://schemas.openxmlformats.org/officeDocument/2006/relationships/slide" Target="slides/slide35.xml"/><Relationship Id="rId45" Type="http://schemas.openxmlformats.org/officeDocument/2006/relationships/font" Target="fonts/Roboto-bold.fntdata"/><Relationship Id="rId32" Type="http://schemas.openxmlformats.org/officeDocument/2006/relationships/slide" Target="slides/slide27.xml"/><Relationship Id="rId37" Type="http://schemas.openxmlformats.org/officeDocument/2006/relationships/slide" Target="slides/slide32.xml"/><Relationship Id="rId24" Type="http://schemas.openxmlformats.org/officeDocument/2006/relationships/slide" Target="slides/slide19.xml"/><Relationship Id="rId53" Type="http://schemas.openxmlformats.org/officeDocument/2006/relationships/font" Target="fonts/RobotoMono-bold.fntdata"/><Relationship Id="rId11" Type="http://schemas.openxmlformats.org/officeDocument/2006/relationships/slide" Target="slides/slide6.xml"/><Relationship Id="rId58" Type="http://schemas.openxmlformats.org/officeDocument/2006/relationships/font" Target="fonts/Merriweather-italic.fntdata"/><Relationship Id="rId5" Type="http://schemas.openxmlformats.org/officeDocument/2006/relationships/notesMaster" Target="notesMasters/notesMaster1.xml"/><Relationship Id="rId61" Type="http://schemas.openxmlformats.org/officeDocument/2006/relationships/customXml" Target="../customXml/item1.xml"/><Relationship Id="rId19" Type="http://schemas.openxmlformats.org/officeDocument/2006/relationships/slide" Target="slides/slide14.xml"/><Relationship Id="rId43" Type="http://schemas.openxmlformats.org/officeDocument/2006/relationships/slide" Target="slides/slide38.xml"/><Relationship Id="rId48" Type="http://schemas.openxmlformats.org/officeDocument/2006/relationships/font" Target="fonts/RobotoMonoLight-regular.fntdata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56" Type="http://schemas.openxmlformats.org/officeDocument/2006/relationships/font" Target="fonts/Merriweather-regular.fntdata"/><Relationship Id="rId14" Type="http://schemas.openxmlformats.org/officeDocument/2006/relationships/slide" Target="slides/slide9.xml"/><Relationship Id="rId8" Type="http://schemas.openxmlformats.org/officeDocument/2006/relationships/slide" Target="slides/slide3.xml"/><Relationship Id="rId51" Type="http://schemas.openxmlformats.org/officeDocument/2006/relationships/font" Target="fonts/RobotoMonoLight-boldItalic.fntdata"/><Relationship Id="rId3" Type="http://schemas.openxmlformats.org/officeDocument/2006/relationships/presProps" Target="presProps.xml"/><Relationship Id="rId46" Type="http://schemas.openxmlformats.org/officeDocument/2006/relationships/font" Target="fonts/Roboto-italic.fntdata"/><Relationship Id="rId33" Type="http://schemas.openxmlformats.org/officeDocument/2006/relationships/slide" Target="slides/slide28.xml"/><Relationship Id="rId38" Type="http://schemas.openxmlformats.org/officeDocument/2006/relationships/slide" Target="slides/slide33.xml"/><Relationship Id="rId25" Type="http://schemas.openxmlformats.org/officeDocument/2006/relationships/slide" Target="slides/slide20.xml"/><Relationship Id="rId12" Type="http://schemas.openxmlformats.org/officeDocument/2006/relationships/slide" Target="slides/slide7.xml"/><Relationship Id="rId59" Type="http://schemas.openxmlformats.org/officeDocument/2006/relationships/font" Target="fonts/Merriweather-boldItalic.fntdata"/><Relationship Id="rId17" Type="http://schemas.openxmlformats.org/officeDocument/2006/relationships/slide" Target="slides/slide12.xml"/><Relationship Id="rId41" Type="http://schemas.openxmlformats.org/officeDocument/2006/relationships/slide" Target="slides/slide36.xml"/><Relationship Id="rId20" Type="http://schemas.openxmlformats.org/officeDocument/2006/relationships/slide" Target="slides/slide15.xml"/><Relationship Id="rId54" Type="http://schemas.openxmlformats.org/officeDocument/2006/relationships/font" Target="fonts/RobotoMono-italic.fntdata"/><Relationship Id="rId62" Type="http://schemas.openxmlformats.org/officeDocument/2006/relationships/customXml" Target="../customXml/item2.xml"/><Relationship Id="rId1" Type="http://schemas.openxmlformats.org/officeDocument/2006/relationships/theme" Target="theme/theme2.xml"/><Relationship Id="rId6" Type="http://schemas.openxmlformats.org/officeDocument/2006/relationships/slide" Target="slides/slide1.xml"/><Relationship Id="rId49" Type="http://schemas.openxmlformats.org/officeDocument/2006/relationships/font" Target="fonts/RobotoMonoLight-bold.fntdata"/><Relationship Id="rId36" Type="http://schemas.openxmlformats.org/officeDocument/2006/relationships/slide" Target="slides/slide31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57" Type="http://schemas.openxmlformats.org/officeDocument/2006/relationships/font" Target="fonts/Merriweather-bold.fntdata"/><Relationship Id="rId15" Type="http://schemas.openxmlformats.org/officeDocument/2006/relationships/slide" Target="slides/slide10.xml"/><Relationship Id="rId44" Type="http://schemas.openxmlformats.org/officeDocument/2006/relationships/font" Target="fonts/Roboto-regular.fntdata"/><Relationship Id="rId31" Type="http://schemas.openxmlformats.org/officeDocument/2006/relationships/slide" Target="slides/slide26.xml"/><Relationship Id="rId60" Type="http://customschemas.google.com/relationships/presentationmetadata" Target="metadata"/><Relationship Id="rId52" Type="http://schemas.openxmlformats.org/officeDocument/2006/relationships/font" Target="fonts/RobotoMono-regular.fntdata"/><Relationship Id="rId10" Type="http://schemas.openxmlformats.org/officeDocument/2006/relationships/slide" Target="slides/slide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4" name="Google Shape;8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8" name="Google Shape;12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4" name="Google Shape;14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8" name="Google Shape;15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4" name="Google Shape;164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0" name="Google Shape;170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6" name="Google Shape;17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0" name="Google Shape;2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5" name="Google Shape;215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2" name="Google Shape;242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4" name="Google Shape;254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0" name="Google Shape;260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0" name="Google Shape;280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8" name="Google Shape;32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6" name="Google Shape;356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3" name="Google Shape;363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1" name="Google Shape;391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0"/>
          <p:cNvSpPr/>
          <p:nvPr/>
        </p:nvSpPr>
        <p:spPr>
          <a:xfrm>
            <a:off x="-125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11" name="Google Shape;11;p40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" name="Google Shape;12;p40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 sz="16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itleOnly">
  <p:cSld name="TITLE_ONL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1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4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4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8" name="Google Shape;18;p4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d slide">
  <p:cSld name="CUSTOM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349800" y="1525950"/>
            <a:ext cx="2444400" cy="209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3"/>
          <p:cNvSpPr/>
          <p:nvPr/>
        </p:nvSpPr>
        <p:spPr>
          <a:xfrm>
            <a:off x="0" y="48099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</p:sp>
      <p:sp>
        <p:nvSpPr>
          <p:cNvPr id="23" name="Google Shape;23;p43"/>
          <p:cNvSpPr/>
          <p:nvPr/>
        </p:nvSpPr>
        <p:spPr>
          <a:xfrm>
            <a:off x="0" y="0"/>
            <a:ext cx="9144250" cy="4398100"/>
          </a:xfrm>
          <a:custGeom>
            <a:rect b="b" l="l" r="r" t="t"/>
            <a:pathLst>
              <a:path extrusionOk="0" h="175924" w="365770">
                <a:moveTo>
                  <a:pt x="0" y="0"/>
                </a:moveTo>
                <a:lnTo>
                  <a:pt x="365770" y="0"/>
                </a:lnTo>
                <a:lnTo>
                  <a:pt x="365760" y="70914"/>
                </a:lnTo>
                <a:lnTo>
                  <a:pt x="0" y="175924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</p:sp>
      <p:sp>
        <p:nvSpPr>
          <p:cNvPr id="24" name="Google Shape;24;p43"/>
          <p:cNvSpPr txBox="1"/>
          <p:nvPr>
            <p:ph type="title"/>
          </p:nvPr>
        </p:nvSpPr>
        <p:spPr>
          <a:xfrm>
            <a:off x="311700" y="539725"/>
            <a:ext cx="8520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5" name="Google Shape;25;p4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sides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4"/>
          <p:cNvSpPr/>
          <p:nvPr/>
        </p:nvSpPr>
        <p:spPr>
          <a:xfrm>
            <a:off x="0" y="0"/>
            <a:ext cx="4314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4"/>
          <p:cNvSpPr/>
          <p:nvPr/>
        </p:nvSpPr>
        <p:spPr>
          <a:xfrm>
            <a:off x="0" y="44125"/>
            <a:ext cx="4313625" cy="4399375"/>
          </a:xfrm>
          <a:custGeom>
            <a:rect b="b" l="l" r="r" t="t"/>
            <a:pathLst>
              <a:path extrusionOk="0" h="175975" w="172545">
                <a:moveTo>
                  <a:pt x="0" y="157"/>
                </a:moveTo>
                <a:lnTo>
                  <a:pt x="172419" y="0"/>
                </a:lnTo>
                <a:lnTo>
                  <a:pt x="172545" y="126541"/>
                </a:lnTo>
                <a:lnTo>
                  <a:pt x="0" y="175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</p:sp>
      <p:sp>
        <p:nvSpPr>
          <p:cNvPr id="29" name="Google Shape;29;p44"/>
          <p:cNvSpPr/>
          <p:nvPr/>
        </p:nvSpPr>
        <p:spPr>
          <a:xfrm>
            <a:off x="-125" y="0"/>
            <a:ext cx="4316900" cy="4395600"/>
          </a:xfrm>
          <a:custGeom>
            <a:rect b="b" l="l" r="r" t="t"/>
            <a:pathLst>
              <a:path extrusionOk="0" h="175824" w="172676">
                <a:moveTo>
                  <a:pt x="0" y="6"/>
                </a:moveTo>
                <a:lnTo>
                  <a:pt x="172676" y="0"/>
                </a:lnTo>
                <a:lnTo>
                  <a:pt x="172562" y="126442"/>
                </a:lnTo>
                <a:lnTo>
                  <a:pt x="0" y="175824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sp>
        <p:nvSpPr>
          <p:cNvPr id="30" name="Google Shape;30;p44"/>
          <p:cNvSpPr txBox="1"/>
          <p:nvPr>
            <p:ph type="title"/>
          </p:nvPr>
        </p:nvSpPr>
        <p:spPr>
          <a:xfrm>
            <a:off x="311725" y="500925"/>
            <a:ext cx="3706500" cy="25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1" name="Google Shape;31;p44"/>
          <p:cNvSpPr txBox="1"/>
          <p:nvPr>
            <p:ph idx="1" type="body"/>
          </p:nvPr>
        </p:nvSpPr>
        <p:spPr>
          <a:xfrm>
            <a:off x="4644675" y="500925"/>
            <a:ext cx="4166400" cy="40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2" name="Google Shape;32;p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45"/>
          <p:cNvSpPr/>
          <p:nvPr/>
        </p:nvSpPr>
        <p:spPr>
          <a:xfrm>
            <a:off x="0" y="0"/>
            <a:ext cx="9144000" cy="759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" name="Google Shape;36;p4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7" name="Google Shape;37;p45"/>
          <p:cNvSpPr txBox="1"/>
          <p:nvPr>
            <p:ph idx="1" type="body"/>
          </p:nvPr>
        </p:nvSpPr>
        <p:spPr>
          <a:xfrm>
            <a:off x="311700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38" name="Google Shape;38;p45"/>
          <p:cNvSpPr txBox="1"/>
          <p:nvPr>
            <p:ph idx="2" type="body"/>
          </p:nvPr>
        </p:nvSpPr>
        <p:spPr>
          <a:xfrm>
            <a:off x="4677525" y="906325"/>
            <a:ext cx="40152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46"/>
          <p:cNvSpPr/>
          <p:nvPr/>
        </p:nvSpPr>
        <p:spPr>
          <a:xfrm>
            <a:off x="0" y="0"/>
            <a:ext cx="37644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6"/>
          <p:cNvSpPr txBox="1"/>
          <p:nvPr>
            <p:ph type="title"/>
          </p:nvPr>
        </p:nvSpPr>
        <p:spPr>
          <a:xfrm>
            <a:off x="311725" y="500925"/>
            <a:ext cx="3127500" cy="18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" name="Google Shape;42;p46"/>
          <p:cNvSpPr txBox="1"/>
          <p:nvPr>
            <p:ph idx="1" type="body"/>
          </p:nvPr>
        </p:nvSpPr>
        <p:spPr>
          <a:xfrm>
            <a:off x="311700" y="2390650"/>
            <a:ext cx="3127500" cy="229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43" name="Google Shape;43;p4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47"/>
          <p:cNvSpPr txBox="1"/>
          <p:nvPr>
            <p:ph type="title"/>
          </p:nvPr>
        </p:nvSpPr>
        <p:spPr>
          <a:xfrm>
            <a:off x="311675" y="798600"/>
            <a:ext cx="6247800" cy="354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" name="Google Shape;46;p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48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48"/>
          <p:cNvSpPr txBox="1"/>
          <p:nvPr>
            <p:ph type="title"/>
          </p:nvPr>
        </p:nvSpPr>
        <p:spPr>
          <a:xfrm>
            <a:off x="311300" y="500925"/>
            <a:ext cx="3704400" cy="204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0" name="Google Shape;50;p48"/>
          <p:cNvSpPr txBox="1"/>
          <p:nvPr>
            <p:ph idx="1" type="subTitle"/>
          </p:nvPr>
        </p:nvSpPr>
        <p:spPr>
          <a:xfrm>
            <a:off x="304800" y="2626725"/>
            <a:ext cx="3704400" cy="92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600"/>
              <a:buNone/>
              <a:defRPr sz="16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51" name="Google Shape;51;p48"/>
          <p:cNvSpPr txBox="1"/>
          <p:nvPr>
            <p:ph idx="2" type="body"/>
          </p:nvPr>
        </p:nvSpPr>
        <p:spPr>
          <a:xfrm>
            <a:off x="4879025" y="500925"/>
            <a:ext cx="3954000" cy="411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" name="Google Shape;52;p4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49"/>
          <p:cNvSpPr/>
          <p:nvPr/>
        </p:nvSpPr>
        <p:spPr>
          <a:xfrm>
            <a:off x="0" y="4369000"/>
            <a:ext cx="9144000" cy="7743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49"/>
          <p:cNvSpPr txBox="1"/>
          <p:nvPr>
            <p:ph idx="1" type="body"/>
          </p:nvPr>
        </p:nvSpPr>
        <p:spPr>
          <a:xfrm>
            <a:off x="311700" y="4521400"/>
            <a:ext cx="7979400" cy="46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Merriweather"/>
              <a:buNone/>
              <a:defRPr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</a:lstStyle>
          <a:p/>
        </p:txBody>
      </p:sp>
      <p:sp>
        <p:nvSpPr>
          <p:cNvPr id="56" name="Google Shape;56;p4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0"/>
          <p:cNvSpPr txBox="1"/>
          <p:nvPr>
            <p:ph hasCustomPrompt="1" type="title"/>
          </p:nvPr>
        </p:nvSpPr>
        <p:spPr>
          <a:xfrm>
            <a:off x="311750" y="831175"/>
            <a:ext cx="5334900" cy="1244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0"/>
              <a:buNone/>
              <a:defRPr sz="10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50"/>
          <p:cNvSpPr txBox="1"/>
          <p:nvPr>
            <p:ph idx="1" type="body"/>
          </p:nvPr>
        </p:nvSpPr>
        <p:spPr>
          <a:xfrm>
            <a:off x="311700" y="2121425"/>
            <a:ext cx="5334900" cy="94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300"/>
              <a:buChar char="●"/>
              <a:defRPr>
                <a:solidFill>
                  <a:schemeClr val="accent2"/>
                </a:solidFill>
              </a:defRPr>
            </a:lvl1pPr>
            <a:lvl2pPr indent="-29845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2pPr>
            <a:lvl3pPr indent="-29845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●"/>
              <a:defRPr>
                <a:solidFill>
                  <a:schemeClr val="accent2"/>
                </a:solidFill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○"/>
              <a:defRPr>
                <a:solidFill>
                  <a:schemeClr val="accent2"/>
                </a:solidFill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100"/>
              <a:buChar char="■"/>
              <a:defRPr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60" name="Google Shape;60;p5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5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3" name="Google Shape;63;p51"/>
          <p:cNvSpPr txBox="1"/>
          <p:nvPr>
            <p:ph idx="1" type="body"/>
          </p:nvPr>
        </p:nvSpPr>
        <p:spPr>
          <a:xfrm>
            <a:off x="311700" y="280000"/>
            <a:ext cx="8520600" cy="438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3655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Arial"/>
              <a:buChar char="⏵"/>
              <a:defRPr b="1"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●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○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■"/>
              <a:defRPr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BLANK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5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BLANK_2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theme" Target="../theme/theme2.xml"/><Relationship Id="rId1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aradig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Merriweather"/>
              <a:buNone/>
              <a:defRPr b="0" i="0" sz="2800" u="none" cap="none" strike="noStrike">
                <a:solidFill>
                  <a:schemeClr val="accent1"/>
                </a:solidFill>
                <a:latin typeface="Merriweather"/>
                <a:ea typeface="Merriweather"/>
                <a:cs typeface="Merriweather"/>
                <a:sym typeface="Merriweather"/>
              </a:defRPr>
            </a:lvl9pPr>
          </a:lstStyle>
          <a:p/>
        </p:txBody>
      </p:sp>
      <p:sp>
        <p:nvSpPr>
          <p:cNvPr id="7" name="Google Shape;7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Roboto"/>
              <a:buChar char="●"/>
              <a:defRPr b="0" i="0" sz="13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29845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29845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29845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29845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29845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29845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●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29845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○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29845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Roboto"/>
              <a:buChar char="■"/>
              <a:defRPr b="0" i="0" sz="11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3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1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hyperlink" Target="https://ro.wikipedia.org/wiki/Dodecaedru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Relationship Id="rId4" Type="http://schemas.openxmlformats.org/officeDocument/2006/relationships/image" Target="../media/image1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hyperlink" Target="https://www.infoarena.ro/ciclu-hamiltonian-in-graf-dens" TargetMode="Externa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3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6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6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6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>
            <p:ph type="ctrTitle"/>
          </p:nvPr>
        </p:nvSpPr>
        <p:spPr>
          <a:xfrm>
            <a:off x="719350" y="531725"/>
            <a:ext cx="6066600" cy="12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GB"/>
              <a:t>Grafuri Hamiltoniene</a:t>
            </a:r>
            <a:endParaRPr/>
          </a:p>
        </p:txBody>
      </p:sp>
      <p:sp>
        <p:nvSpPr>
          <p:cNvPr id="73" name="Google Shape;73;p1"/>
          <p:cNvSpPr txBox="1"/>
          <p:nvPr>
            <p:ph idx="1" type="subTitle"/>
          </p:nvPr>
        </p:nvSpPr>
        <p:spPr>
          <a:xfrm>
            <a:off x="719350" y="1862585"/>
            <a:ext cx="4242600" cy="73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Definiții</a:t>
            </a:r>
            <a:endParaRPr/>
          </a:p>
        </p:txBody>
      </p:sp>
      <p:sp>
        <p:nvSpPr>
          <p:cNvPr id="79" name="Google Shape;79;p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</a:t>
            </a:r>
            <a:r>
              <a:rPr lang="en-GB"/>
              <a:t>ciclu hamiltonian</a:t>
            </a:r>
            <a:r>
              <a:rPr b="0" lang="en-GB"/>
              <a:t> este un ciclu care conține toate nodurile grafului.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graf este </a:t>
            </a:r>
            <a:r>
              <a:rPr lang="en-GB"/>
              <a:t>hamiltonian</a:t>
            </a:r>
            <a:r>
              <a:rPr b="0" lang="en-GB"/>
              <a:t> dacă admite un </a:t>
            </a:r>
            <a:r>
              <a:rPr lang="en-GB"/>
              <a:t>ciclu hamiltonian.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80" name="Google Shape;8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363" y="1738938"/>
            <a:ext cx="210502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650" y="2150372"/>
            <a:ext cx="2971600" cy="2101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Definiții</a:t>
            </a:r>
            <a:endParaRPr/>
          </a:p>
        </p:txBody>
      </p:sp>
      <p:sp>
        <p:nvSpPr>
          <p:cNvPr id="87" name="Google Shape;87;p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</a:t>
            </a:r>
            <a:r>
              <a:rPr lang="en-GB"/>
              <a:t>ciclu hamiltonian</a:t>
            </a:r>
            <a:r>
              <a:rPr b="0" lang="en-GB"/>
              <a:t> este un ciclu care conține toate nodurile grafului.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Un graf este </a:t>
            </a:r>
            <a:r>
              <a:rPr lang="en-GB"/>
              <a:t>hamiltonian</a:t>
            </a:r>
            <a:r>
              <a:rPr b="0" lang="en-GB"/>
              <a:t> dacă admite un </a:t>
            </a:r>
            <a:r>
              <a:rPr lang="en-GB"/>
              <a:t>ciclu hamiltonian.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88" name="Google Shape;8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0363" y="1738938"/>
            <a:ext cx="210502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27650" y="2150372"/>
            <a:ext cx="2971600" cy="210132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3"/>
          <p:cNvSpPr txBox="1"/>
          <p:nvPr/>
        </p:nvSpPr>
        <p:spPr>
          <a:xfrm>
            <a:off x="1489900" y="4547650"/>
            <a:ext cx="24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Ciclu hamiltonian ACDBEA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3"/>
          <p:cNvSpPr txBox="1"/>
          <p:nvPr/>
        </p:nvSpPr>
        <p:spPr>
          <a:xfrm>
            <a:off x="5539338" y="4547650"/>
            <a:ext cx="24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 avem ciclu hamiltonian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Istorie</a:t>
            </a:r>
            <a:endParaRPr/>
          </a:p>
        </p:txBody>
      </p:sp>
      <p:sp>
        <p:nvSpPr>
          <p:cNvPr id="97" name="Google Shape;97;p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Ciclul Hamiltonian a fost numit după Sir William Rowan Hamilton, care în 1856-1857, a inventat un joc, care cerea găsirea unui ciclu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Jocul a fost numit ”jocul Icosian” și cerea găsirea unui ciclu Hamiltonian într-un dodecaedru.</a:t>
            </a:r>
            <a:endParaRPr b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Jocul icosian</a:t>
            </a:r>
            <a:endParaRPr/>
          </a:p>
        </p:txBody>
      </p:sp>
      <p:sp>
        <p:nvSpPr>
          <p:cNvPr id="103" name="Google Shape;103;p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1856 - Hamilton - </a:t>
            </a:r>
            <a:r>
              <a:rPr b="0" i="1" lang="en-GB"/>
              <a:t>”voiaj în jurul lumii”</a:t>
            </a:r>
            <a:endParaRPr b="0" i="1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Există un traseu închis pe muchiile dodecaedrului care să treacă prin fiecare vârf o singură dată?</a:t>
            </a:r>
            <a:endParaRPr b="0"/>
          </a:p>
        </p:txBody>
      </p:sp>
      <p:pic>
        <p:nvPicPr>
          <p:cNvPr id="104" name="Google Shape;10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12900" y="1901525"/>
            <a:ext cx="2518200" cy="25182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5"/>
          <p:cNvSpPr txBox="1"/>
          <p:nvPr>
            <p:ph idx="1" type="body"/>
          </p:nvPr>
        </p:nvSpPr>
        <p:spPr>
          <a:xfrm>
            <a:off x="3215100" y="4590050"/>
            <a:ext cx="2713800" cy="3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ct val="170000"/>
              <a:buNone/>
            </a:pPr>
            <a:r>
              <a:rPr lang="en-GB" u="sng">
                <a:solidFill>
                  <a:schemeClr val="hlink"/>
                </a:solidFill>
                <a:hlinkClick r:id="rId4"/>
              </a:rPr>
              <a:t>https://ro.wikipedia.org/wiki/Dodecaedru</a:t>
            </a:r>
            <a:r>
              <a:rPr lang="en-GB"/>
              <a:t> 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Jocul icosian</a:t>
            </a:r>
            <a:endParaRPr/>
          </a:p>
        </p:txBody>
      </p:sp>
      <p:sp>
        <p:nvSpPr>
          <p:cNvPr id="111" name="Google Shape;111;p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12" name="Google Shape;11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912" y="1231276"/>
            <a:ext cx="6980175" cy="31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Jocul icosian</a:t>
            </a:r>
            <a:endParaRPr/>
          </a:p>
        </p:txBody>
      </p:sp>
      <p:sp>
        <p:nvSpPr>
          <p:cNvPr id="118" name="Google Shape;118;p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/>
          </a:p>
        </p:txBody>
      </p:sp>
      <p:pic>
        <p:nvPicPr>
          <p:cNvPr id="119" name="Google Shape;1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1806" y="1231285"/>
            <a:ext cx="6980399" cy="31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Jocul icosian</a:t>
            </a:r>
            <a:endParaRPr/>
          </a:p>
        </p:txBody>
      </p:sp>
      <p:sp>
        <p:nvSpPr>
          <p:cNvPr id="125" name="Google Shape;125;p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Ciclu hamiltonian</a:t>
            </a:r>
            <a:r>
              <a:rPr b="0" lang="en-GB"/>
              <a:t> - trece o singură dată prin toate vârfurile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Graf hamiltonian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Problema comis-voiajorului - problema NP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P = NP ???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Hamiltonian</a:t>
            </a:r>
            <a:endParaRPr/>
          </a:p>
        </p:txBody>
      </p:sp>
      <p:sp>
        <p:nvSpPr>
          <p:cNvPr id="131" name="Google Shape;131;p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Care dintre următoarele grafuri este hamiltonian?</a:t>
            </a:r>
            <a:endParaRPr b="0"/>
          </a:p>
        </p:txBody>
      </p:sp>
      <p:pic>
        <p:nvPicPr>
          <p:cNvPr id="132" name="Google Shape;132;p9"/>
          <p:cNvPicPr preferRelativeResize="0"/>
          <p:nvPr/>
        </p:nvPicPr>
        <p:blipFill rotWithShape="1">
          <a:blip r:embed="rId3">
            <a:alphaModFix/>
          </a:blip>
          <a:srcRect b="38465" l="30211" r="28476" t="16582"/>
          <a:stretch/>
        </p:blipFill>
        <p:spPr>
          <a:xfrm>
            <a:off x="862875" y="2009550"/>
            <a:ext cx="2124950" cy="231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9"/>
          <p:cNvPicPr preferRelativeResize="0"/>
          <p:nvPr/>
        </p:nvPicPr>
        <p:blipFill rotWithShape="1">
          <a:blip r:embed="rId4">
            <a:alphaModFix/>
          </a:blip>
          <a:srcRect b="30859" l="20379" r="30603" t="21169"/>
          <a:stretch/>
        </p:blipFill>
        <p:spPr>
          <a:xfrm>
            <a:off x="5237875" y="1932038"/>
            <a:ext cx="2521174" cy="246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Hamiltonian</a:t>
            </a:r>
            <a:endParaRPr/>
          </a:p>
        </p:txBody>
      </p: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dintre următoarele grafuri este hamiltonian?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Niciunul! De ce?</a:t>
            </a:r>
            <a:endParaRPr/>
          </a:p>
        </p:txBody>
      </p:sp>
      <p:pic>
        <p:nvPicPr>
          <p:cNvPr id="140" name="Google Shape;140;p10"/>
          <p:cNvPicPr preferRelativeResize="0"/>
          <p:nvPr/>
        </p:nvPicPr>
        <p:blipFill rotWithShape="1">
          <a:blip r:embed="rId3">
            <a:alphaModFix/>
          </a:blip>
          <a:srcRect b="38465" l="30211" r="28476" t="16582"/>
          <a:stretch/>
        </p:blipFill>
        <p:spPr>
          <a:xfrm>
            <a:off x="862875" y="2009550"/>
            <a:ext cx="2124950" cy="2312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0"/>
          <p:cNvPicPr preferRelativeResize="0"/>
          <p:nvPr/>
        </p:nvPicPr>
        <p:blipFill rotWithShape="1">
          <a:blip r:embed="rId4">
            <a:alphaModFix/>
          </a:blip>
          <a:srcRect b="30859" l="20379" r="30603" t="21169"/>
          <a:stretch/>
        </p:blipFill>
        <p:spPr>
          <a:xfrm>
            <a:off x="5237875" y="1932038"/>
            <a:ext cx="2521174" cy="24672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Hamiltonian</a:t>
            </a:r>
            <a:endParaRPr/>
          </a:p>
        </p:txBody>
      </p:sp>
      <p:sp>
        <p:nvSpPr>
          <p:cNvPr id="147" name="Google Shape;147;p1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dintre următoarele grafuri este hamiltonian?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Proprietate (condiție necesară):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Grafurile hamiltoniene sunt biconexe (nu au noduri critice)!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Opusul nu este valabil: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Nu toate grafurile biconexe sunt hamiltoniene: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 Hamiltonian</a:t>
            </a:r>
            <a:endParaRPr/>
          </a:p>
        </p:txBody>
      </p:sp>
      <p:sp>
        <p:nvSpPr>
          <p:cNvPr id="153" name="Google Shape;153;p1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Care dintre următoarele grafuri este hamiltonian?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Proprietate (condiție necesară):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Grafurile hamiltoniene sunt biconexe (nu au noduri critice)!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Opusul nu este valabil: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Nu toate grafurile biconexe sunt hamiltoniene:</a:t>
            </a:r>
            <a:endParaRPr/>
          </a:p>
        </p:txBody>
      </p:sp>
      <p:pic>
        <p:nvPicPr>
          <p:cNvPr id="154" name="Google Shape;154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596250" y="2885200"/>
            <a:ext cx="2187501" cy="2187501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2"/>
          <p:cNvSpPr txBox="1"/>
          <p:nvPr/>
        </p:nvSpPr>
        <p:spPr>
          <a:xfrm>
            <a:off x="6466450" y="2485000"/>
            <a:ext cx="2447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Petersen graph</a:t>
            </a:r>
            <a:endParaRPr b="1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61" name="Google Shape;161;p1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Condiție necesară și suficientă?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Euleriene</a:t>
            </a:r>
            <a:endParaRPr/>
          </a:p>
        </p:txBody>
      </p:sp>
      <p:sp>
        <p:nvSpPr>
          <p:cNvPr id="167" name="Google Shape;167;p1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Condiție necesară și suficientă?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/>
              <a:t>DA, </a:t>
            </a:r>
            <a:r>
              <a:rPr b="0" lang="en-GB"/>
              <a:t>fiecare nod trebuie să aibă grad par (și graful să fie conex, exceptând nodurile izolate).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Grafuri Hamiltoniene</a:t>
            </a:r>
            <a:endParaRPr/>
          </a:p>
        </p:txBody>
      </p:sp>
      <p:sp>
        <p:nvSpPr>
          <p:cNvPr id="173" name="Google Shape;173;p1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Condiții suficiente: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Teorema lui Dirac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Teorema lui Ore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Teorema lui Chvatal și Erdos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Teorema lui Goodman și Hedetniemi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Teorema lui Duffus, Gould și Jacobson, 1981 (similară cu Goodman)</a:t>
            </a:r>
            <a:endParaRPr b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Dirac</a:t>
            </a:r>
            <a:endParaRPr/>
          </a:p>
        </p:txBody>
      </p:sp>
      <p:sp>
        <p:nvSpPr>
          <p:cNvPr id="179" name="Google Shape;179;p1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cu ordinul n ≥ 3.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δ(G) ≥ n / 2, atunci G este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Dirac - Demonstrație</a:t>
            </a:r>
            <a:endParaRPr/>
          </a:p>
        </p:txBody>
      </p:sp>
      <p:sp>
        <p:nvSpPr>
          <p:cNvPr id="185" name="Google Shape;185;p1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Alegem un nod x</a:t>
            </a:r>
            <a:r>
              <a:rPr b="0" baseline="-25000" lang="en-GB"/>
              <a:t>1</a:t>
            </a:r>
            <a:r>
              <a:rPr b="0" lang="en-GB"/>
              <a:t> la întâmplare (nu contează ce nod, pentru că, dacă există un ciclu hamiltonian, el poate începe în orice nod).</a:t>
            </a:r>
            <a:endParaRPr b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Dirac - Demonstrație</a:t>
            </a:r>
            <a:endParaRPr/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Alegem un nod x</a:t>
            </a:r>
            <a:r>
              <a:rPr b="0" baseline="-25000" lang="en-GB"/>
              <a:t>1</a:t>
            </a:r>
            <a:r>
              <a:rPr b="0" lang="en-GB"/>
              <a:t> la întâmplare (nu contează ce nod, pentru că, dacă există un ciclu hamiltonian, el poate începe în orice nod).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Creăm un lanț cât mai lung, plecând din x</a:t>
            </a:r>
            <a:r>
              <a:rPr b="0" baseline="-25000" lang="en-GB"/>
              <a:t>1</a:t>
            </a:r>
            <a:r>
              <a:rPr b="0" lang="en-GB"/>
              <a:t>, obținând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k</a:t>
            </a:r>
            <a:r>
              <a:rPr b="0" lang="en-GB"/>
              <a:t>. 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Dacă k == n → am obținut lanț hamiltonian</a:t>
            </a:r>
            <a:endParaRPr sz="150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avem lanțul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k</a:t>
            </a:r>
            <a:r>
              <a:rPr b="0" lang="en-GB"/>
              <a:t> și toți vecinii lui x</a:t>
            </a:r>
            <a:r>
              <a:rPr b="0" baseline="-25000" lang="en-GB"/>
              <a:t>k</a:t>
            </a:r>
            <a:r>
              <a:rPr b="0" lang="en-GB"/>
              <a:t> au fost deja vizitați, putem extinde astfel:</a:t>
            </a:r>
            <a:endParaRPr b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Dirac - Demonstrație</a:t>
            </a:r>
            <a:endParaRPr/>
          </a:p>
        </p:txBody>
      </p:sp>
      <p:sp>
        <p:nvSpPr>
          <p:cNvPr id="197" name="Google Shape;197;p1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Alegem un nod x</a:t>
            </a:r>
            <a:r>
              <a:rPr b="0" baseline="-25000" lang="en-GB"/>
              <a:t>1</a:t>
            </a:r>
            <a:r>
              <a:rPr b="0" lang="en-GB"/>
              <a:t> la întâmplare (nu contează ce nod, pentru că, dacă există un ciclu hamiltonian, el poate începe în orice nod).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Creem un lanț cât mai lung, plecând din x</a:t>
            </a:r>
            <a:r>
              <a:rPr b="0" baseline="-25000" lang="en-GB"/>
              <a:t>1</a:t>
            </a:r>
            <a:r>
              <a:rPr b="0" lang="en-GB"/>
              <a:t>, obținând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k</a:t>
            </a:r>
            <a:r>
              <a:rPr b="0" lang="en-GB"/>
              <a:t>. 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Dacă k == n → am obținut lanț hamiltonian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avem lanțul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k</a:t>
            </a:r>
            <a:r>
              <a:rPr b="0" lang="en-GB"/>
              <a:t> și toți vecinii lui x</a:t>
            </a:r>
            <a:r>
              <a:rPr b="0" baseline="-25000" lang="en-GB"/>
              <a:t>k</a:t>
            </a:r>
            <a:r>
              <a:rPr b="0" lang="en-GB"/>
              <a:t> au fost deja vizitați, putem extinde astfel:</a:t>
            </a:r>
            <a:endParaRPr b="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Observăm că k ≥ n / 2, pentru că fiecare nod are cel puțin n / 2 vecini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Există cel puțin n / 2 noduri i, astfel încât încă avem muchie x</a:t>
            </a:r>
            <a:r>
              <a:rPr baseline="-25000" lang="en-GB" sz="1500"/>
              <a:t>i</a:t>
            </a:r>
            <a:r>
              <a:rPr lang="en-GB" sz="1500"/>
              <a:t>x</a:t>
            </a:r>
            <a:r>
              <a:rPr baseline="-25000" lang="en-GB" sz="1500"/>
              <a:t>k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Există cel puțin n / 2 noduri i, astfel încât încă avem muchie x</a:t>
            </a:r>
            <a:r>
              <a:rPr baseline="-25000" lang="en-GB" sz="1500"/>
              <a:t>0</a:t>
            </a:r>
            <a:r>
              <a:rPr lang="en-GB" sz="1500"/>
              <a:t>x</a:t>
            </a:r>
            <a:r>
              <a:rPr baseline="-25000" lang="en-GB" sz="1500"/>
              <a:t>i+1</a:t>
            </a:r>
            <a:endParaRPr baseline="-25000"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Din principiul cutiilor al lui Diriclet, există un i astfel încât încă avem și muchie x</a:t>
            </a:r>
            <a:r>
              <a:rPr baseline="-25000" lang="en-GB" sz="1500"/>
              <a:t>0</a:t>
            </a:r>
            <a:r>
              <a:rPr lang="en-GB" sz="1500"/>
              <a:t>x</a:t>
            </a:r>
            <a:r>
              <a:rPr baseline="-25000" lang="en-GB" sz="1500"/>
              <a:t>i+1</a:t>
            </a:r>
            <a:r>
              <a:rPr lang="en-GB" sz="1500"/>
              <a:t>, și muchie x</a:t>
            </a:r>
            <a:r>
              <a:rPr baseline="-25000" lang="en-GB" sz="1500"/>
              <a:t>i</a:t>
            </a:r>
            <a:r>
              <a:rPr lang="en-GB" sz="1500"/>
              <a:t>x</a:t>
            </a:r>
            <a:r>
              <a:rPr baseline="-25000" lang="en-GB" sz="1500"/>
              <a:t>k</a:t>
            </a:r>
            <a:endParaRPr sz="15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Dirac - Demonstrație</a:t>
            </a:r>
            <a:endParaRPr/>
          </a:p>
        </p:txBody>
      </p:sp>
      <p:sp>
        <p:nvSpPr>
          <p:cNvPr id="203" name="Google Shape;203;p20"/>
          <p:cNvSpPr txBox="1"/>
          <p:nvPr>
            <p:ph idx="1" type="body"/>
          </p:nvPr>
        </p:nvSpPr>
        <p:spPr>
          <a:xfrm>
            <a:off x="311700" y="906225"/>
            <a:ext cx="8520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Alegem un nod x</a:t>
            </a:r>
            <a:r>
              <a:rPr b="0" baseline="-25000" lang="en-GB"/>
              <a:t>1</a:t>
            </a:r>
            <a:r>
              <a:rPr b="0" lang="en-GB"/>
              <a:t> la întâmplare (nu contează ce nod, pentru că, dacă există un ciclu hamiltonian, el poate începe în orice nod).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Creem un lanț cât mai lung, plecând din x</a:t>
            </a:r>
            <a:r>
              <a:rPr b="0" baseline="-25000" lang="en-GB"/>
              <a:t>1</a:t>
            </a:r>
            <a:r>
              <a:rPr b="0" lang="en-GB"/>
              <a:t>, obținând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k</a:t>
            </a:r>
            <a:r>
              <a:rPr b="0" lang="en-GB"/>
              <a:t>. </a:t>
            </a:r>
            <a:endParaRPr b="0"/>
          </a:p>
          <a:p>
            <a:pPr indent="-3048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</a:pPr>
            <a:r>
              <a:rPr lang="en-GB"/>
              <a:t>Dacă k == n → am obținut lanț hamiltonian</a:t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avem lanțul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k</a:t>
            </a:r>
            <a:r>
              <a:rPr b="0" lang="en-GB"/>
              <a:t> și toți vecinii lui x</a:t>
            </a:r>
            <a:r>
              <a:rPr b="0" baseline="-25000" lang="en-GB"/>
              <a:t>k</a:t>
            </a:r>
            <a:r>
              <a:rPr b="0" lang="en-GB"/>
              <a:t> au fost deja vizitați, putem extinde astfel:</a:t>
            </a:r>
            <a:endParaRPr b="0"/>
          </a:p>
          <a:p>
            <a:pPr indent="-3238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Char char="○"/>
            </a:pPr>
            <a:r>
              <a:rPr lang="en-GB" sz="1500"/>
              <a:t>Observăm că k ≥ n / 2, pentru că fiecare nod are cel puțin n / 2 vecini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Există cel puțin n / 2 noduri i, astfel încât încă avem muchie x</a:t>
            </a:r>
            <a:r>
              <a:rPr baseline="-25000" lang="en-GB" sz="1500"/>
              <a:t>i</a:t>
            </a:r>
            <a:r>
              <a:rPr lang="en-GB" sz="1500"/>
              <a:t>x</a:t>
            </a:r>
            <a:r>
              <a:rPr baseline="-25000" lang="en-GB" sz="1500"/>
              <a:t>k</a:t>
            </a:r>
            <a:endParaRPr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Există cel puțin n / 2 noduri i, astfel încât încă avem muchie x</a:t>
            </a:r>
            <a:r>
              <a:rPr baseline="-25000" lang="en-GB" sz="1500"/>
              <a:t>0</a:t>
            </a:r>
            <a:r>
              <a:rPr lang="en-GB" sz="1500"/>
              <a:t>x</a:t>
            </a:r>
            <a:r>
              <a:rPr baseline="-25000" lang="en-GB" sz="1500"/>
              <a:t>i+1</a:t>
            </a:r>
            <a:endParaRPr baseline="-25000"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-GB" sz="1500"/>
              <a:t>Din principiul cutiilor al lui Diriclet, există un i astfel încât încă avem și muchie x</a:t>
            </a:r>
            <a:r>
              <a:rPr baseline="-25000" lang="en-GB" sz="1500"/>
              <a:t>0</a:t>
            </a:r>
            <a:r>
              <a:rPr lang="en-GB" sz="1500"/>
              <a:t>x</a:t>
            </a:r>
            <a:r>
              <a:rPr baseline="-25000" lang="en-GB" sz="1500"/>
              <a:t>i+1</a:t>
            </a:r>
            <a:r>
              <a:rPr lang="en-GB" sz="1500"/>
              <a:t>, și muchie x</a:t>
            </a:r>
            <a:r>
              <a:rPr baseline="-25000" lang="en-GB" sz="1500"/>
              <a:t>i</a:t>
            </a:r>
            <a:r>
              <a:rPr lang="en-GB" sz="1500"/>
              <a:t>x</a:t>
            </a:r>
            <a:r>
              <a:rPr baseline="-25000" lang="en-GB" sz="1500"/>
              <a:t>k</a:t>
            </a:r>
            <a:endParaRPr baseline="-25000" sz="150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0" lang="en-GB" sz="1500"/>
              <a:t>Prin urmare, obținem ciclul x</a:t>
            </a:r>
            <a:r>
              <a:rPr b="0" baseline="-25000" lang="en-GB" sz="1500"/>
              <a:t>0</a:t>
            </a:r>
            <a:r>
              <a:rPr b="0" lang="en-GB" sz="1500"/>
              <a:t>...x</a:t>
            </a:r>
            <a:r>
              <a:rPr b="0" baseline="-25000" lang="en-GB" sz="1500"/>
              <a:t>i</a:t>
            </a:r>
            <a:r>
              <a:rPr b="0" lang="en-GB" sz="1500"/>
              <a:t>x</a:t>
            </a:r>
            <a:r>
              <a:rPr b="0" baseline="-25000" lang="en-GB" sz="1500"/>
              <a:t>k</a:t>
            </a:r>
            <a:r>
              <a:rPr b="0" lang="en-GB" sz="1500"/>
              <a:t>x</a:t>
            </a:r>
            <a:r>
              <a:rPr b="0" baseline="-25000" lang="en-GB" sz="1500"/>
              <a:t>k-1</a:t>
            </a:r>
            <a:r>
              <a:rPr b="0" lang="en-GB" sz="1500"/>
              <a:t>...x</a:t>
            </a:r>
            <a:r>
              <a:rPr b="0" baseline="-25000" lang="en-GB" sz="1500"/>
              <a:t>i+1</a:t>
            </a:r>
            <a:r>
              <a:rPr b="0" lang="en-GB" sz="1500"/>
              <a:t>x</a:t>
            </a:r>
            <a:r>
              <a:rPr b="0" baseline="-25000" lang="en-GB" sz="1500"/>
              <a:t>0</a:t>
            </a:r>
            <a:r>
              <a:rPr b="0" lang="en-GB" sz="1500"/>
              <a:t>. De asemenea, x</a:t>
            </a:r>
            <a:r>
              <a:rPr b="0" baseline="-25000" lang="en-GB" sz="1500"/>
              <a:t>k+1</a:t>
            </a:r>
            <a:r>
              <a:rPr b="0" lang="en-GB" sz="1500"/>
              <a:t> va fi conectat cu unul din aceste noduri (x</a:t>
            </a:r>
            <a:r>
              <a:rPr b="0" baseline="-25000" lang="en-GB" sz="1500"/>
              <a:t>l</a:t>
            </a:r>
            <a:r>
              <a:rPr b="0" lang="en-GB" sz="1500"/>
              <a:t>), deci pute</a:t>
            </a:r>
            <a:r>
              <a:rPr lang="en-GB" sz="1500"/>
              <a:t>m obține un nou lanț, permutând ciclul, astfel încât să se termine în x</a:t>
            </a:r>
            <a:r>
              <a:rPr baseline="-25000" lang="en-GB" sz="1500"/>
              <a:t>l</a:t>
            </a:r>
            <a:r>
              <a:rPr lang="en-GB" sz="1500"/>
              <a:t> și adăugăm pe x</a:t>
            </a:r>
            <a:r>
              <a:rPr baseline="-25000" lang="en-GB" sz="1500"/>
              <a:t>k+1</a:t>
            </a:r>
            <a:r>
              <a:rPr lang="en-GB" sz="1500"/>
              <a:t> după</a:t>
            </a:r>
            <a:endParaRPr sz="1500"/>
          </a:p>
        </p:txBody>
      </p:sp>
      <p:grpSp>
        <p:nvGrpSpPr>
          <p:cNvPr id="204" name="Google Shape;204;p20"/>
          <p:cNvGrpSpPr/>
          <p:nvPr/>
        </p:nvGrpSpPr>
        <p:grpSpPr>
          <a:xfrm>
            <a:off x="4860325" y="4494875"/>
            <a:ext cx="3515700" cy="567300"/>
            <a:chOff x="3533225" y="3115875"/>
            <a:chExt cx="3515700" cy="567300"/>
          </a:xfrm>
        </p:grpSpPr>
        <p:cxnSp>
          <p:nvCxnSpPr>
            <p:cNvPr id="205" name="Google Shape;205;p20"/>
            <p:cNvCxnSpPr/>
            <p:nvPr/>
          </p:nvCxnSpPr>
          <p:spPr>
            <a:xfrm>
              <a:off x="3694150" y="3390800"/>
              <a:ext cx="2804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06" name="Google Shape;206;p20"/>
            <p:cNvSpPr/>
            <p:nvPr/>
          </p:nvSpPr>
          <p:spPr>
            <a:xfrm>
              <a:off x="3694150" y="3144741"/>
              <a:ext cx="1671800" cy="246050"/>
            </a:xfrm>
            <a:custGeom>
              <a:rect b="b" l="l" r="r" t="t"/>
              <a:pathLst>
                <a:path extrusionOk="0" h="9842" w="66872">
                  <a:moveTo>
                    <a:pt x="0" y="9842"/>
                  </a:moveTo>
                  <a:cubicBezTo>
                    <a:pt x="2790" y="8342"/>
                    <a:pt x="8298" y="2247"/>
                    <a:pt x="16741" y="841"/>
                  </a:cubicBezTo>
                  <a:cubicBezTo>
                    <a:pt x="25184" y="-565"/>
                    <a:pt x="42305" y="-94"/>
                    <a:pt x="50660" y="1406"/>
                  </a:cubicBezTo>
                  <a:cubicBezTo>
                    <a:pt x="59015" y="2906"/>
                    <a:pt x="64170" y="8436"/>
                    <a:pt x="66872" y="984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7" name="Google Shape;207;p20"/>
            <p:cNvSpPr/>
            <p:nvPr/>
          </p:nvSpPr>
          <p:spPr>
            <a:xfrm flipH="1" rot="10800000">
              <a:off x="4826750" y="3390791"/>
              <a:ext cx="1671800" cy="246050"/>
            </a:xfrm>
            <a:custGeom>
              <a:rect b="b" l="l" r="r" t="t"/>
              <a:pathLst>
                <a:path extrusionOk="0" h="9842" w="66872">
                  <a:moveTo>
                    <a:pt x="0" y="9842"/>
                  </a:moveTo>
                  <a:cubicBezTo>
                    <a:pt x="2790" y="8342"/>
                    <a:pt x="8298" y="2247"/>
                    <a:pt x="16741" y="841"/>
                  </a:cubicBezTo>
                  <a:cubicBezTo>
                    <a:pt x="25184" y="-565"/>
                    <a:pt x="42305" y="-94"/>
                    <a:pt x="50660" y="1406"/>
                  </a:cubicBezTo>
                  <a:cubicBezTo>
                    <a:pt x="59015" y="2906"/>
                    <a:pt x="64170" y="8436"/>
                    <a:pt x="66872" y="984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8" name="Google Shape;208;p20"/>
            <p:cNvSpPr txBox="1"/>
            <p:nvPr/>
          </p:nvSpPr>
          <p:spPr>
            <a:xfrm>
              <a:off x="3533225" y="3344475"/>
              <a:ext cx="43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x(0)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09" name="Google Shape;209;p20"/>
            <p:cNvSpPr txBox="1"/>
            <p:nvPr/>
          </p:nvSpPr>
          <p:spPr>
            <a:xfrm>
              <a:off x="5285825" y="31158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x(i+1)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0" name="Google Shape;210;p20"/>
            <p:cNvSpPr txBox="1"/>
            <p:nvPr/>
          </p:nvSpPr>
          <p:spPr>
            <a:xfrm>
              <a:off x="6505025" y="31920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x(k)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1" name="Google Shape;211;p20"/>
            <p:cNvSpPr txBox="1"/>
            <p:nvPr/>
          </p:nvSpPr>
          <p:spPr>
            <a:xfrm>
              <a:off x="4600025" y="33444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x(i)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12" name="Google Shape;212;p20"/>
            <p:cNvSpPr txBox="1"/>
            <p:nvPr/>
          </p:nvSpPr>
          <p:spPr>
            <a:xfrm>
              <a:off x="4219025" y="33444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Dirac - Demonstrație</a:t>
            </a:r>
            <a:endParaRPr/>
          </a:p>
        </p:txBody>
      </p:sp>
      <p:sp>
        <p:nvSpPr>
          <p:cNvPr id="218" name="Google Shape;218;p21"/>
          <p:cNvSpPr txBox="1"/>
          <p:nvPr>
            <p:ph idx="1" type="body"/>
          </p:nvPr>
        </p:nvSpPr>
        <p:spPr>
          <a:xfrm>
            <a:off x="311700" y="906225"/>
            <a:ext cx="8520600" cy="41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Obținem, prin pași repetați, un șir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n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avem muchie x</a:t>
            </a:r>
            <a:r>
              <a:rPr b="0" baseline="-25000" lang="en-GB"/>
              <a:t>1</a:t>
            </a:r>
            <a:r>
              <a:rPr b="0" lang="en-GB"/>
              <a:t>x</a:t>
            </a:r>
            <a:r>
              <a:rPr b="0" baseline="-25000" lang="en-GB"/>
              <a:t>n</a:t>
            </a:r>
            <a:r>
              <a:rPr b="0" lang="en-GB"/>
              <a:t>, atunci avem ciclu hamiltonian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Dacă nu avem această muchie, folosim același principiu de mai sus și formăm ciclul x</a:t>
            </a:r>
            <a:r>
              <a:rPr b="0" baseline="-25000" lang="en-GB"/>
              <a:t>1</a:t>
            </a:r>
            <a:r>
              <a:rPr b="0" lang="en-GB"/>
              <a:t>...x</a:t>
            </a:r>
            <a:r>
              <a:rPr b="0" baseline="-25000" lang="en-GB"/>
              <a:t>i</a:t>
            </a:r>
            <a:r>
              <a:rPr b="0" lang="en-GB"/>
              <a:t>x</a:t>
            </a:r>
            <a:r>
              <a:rPr b="0" baseline="-25000" lang="en-GB"/>
              <a:t>n</a:t>
            </a:r>
            <a:r>
              <a:rPr b="0" lang="en-GB"/>
              <a:t>x</a:t>
            </a:r>
            <a:r>
              <a:rPr b="0" baseline="-25000" lang="en-GB"/>
              <a:t>n-1</a:t>
            </a:r>
            <a:r>
              <a:rPr b="0" lang="en-GB"/>
              <a:t>...x</a:t>
            </a:r>
            <a:r>
              <a:rPr b="0" baseline="-25000" lang="en-GB"/>
              <a:t>i+1</a:t>
            </a:r>
            <a:r>
              <a:rPr b="0" lang="en-GB"/>
              <a:t>x</a:t>
            </a:r>
            <a:r>
              <a:rPr b="0" baseline="-25000" lang="en-GB"/>
              <a:t>1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grpSp>
        <p:nvGrpSpPr>
          <p:cNvPr id="219" name="Google Shape;219;p21"/>
          <p:cNvGrpSpPr/>
          <p:nvPr/>
        </p:nvGrpSpPr>
        <p:grpSpPr>
          <a:xfrm>
            <a:off x="2814150" y="3151200"/>
            <a:ext cx="3515700" cy="567300"/>
            <a:chOff x="3533225" y="3115875"/>
            <a:chExt cx="3515700" cy="567300"/>
          </a:xfrm>
        </p:grpSpPr>
        <p:cxnSp>
          <p:nvCxnSpPr>
            <p:cNvPr id="220" name="Google Shape;220;p21"/>
            <p:cNvCxnSpPr/>
            <p:nvPr/>
          </p:nvCxnSpPr>
          <p:spPr>
            <a:xfrm>
              <a:off x="3694150" y="3390800"/>
              <a:ext cx="2804400" cy="0"/>
            </a:xfrm>
            <a:prstGeom prst="straightConnector1">
              <a:avLst/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221" name="Google Shape;221;p21"/>
            <p:cNvSpPr/>
            <p:nvPr/>
          </p:nvSpPr>
          <p:spPr>
            <a:xfrm>
              <a:off x="3694150" y="3144741"/>
              <a:ext cx="1671800" cy="246050"/>
            </a:xfrm>
            <a:custGeom>
              <a:rect b="b" l="l" r="r" t="t"/>
              <a:pathLst>
                <a:path extrusionOk="0" h="9842" w="66872">
                  <a:moveTo>
                    <a:pt x="0" y="9842"/>
                  </a:moveTo>
                  <a:cubicBezTo>
                    <a:pt x="2790" y="8342"/>
                    <a:pt x="8298" y="2247"/>
                    <a:pt x="16741" y="841"/>
                  </a:cubicBezTo>
                  <a:cubicBezTo>
                    <a:pt x="25184" y="-565"/>
                    <a:pt x="42305" y="-94"/>
                    <a:pt x="50660" y="1406"/>
                  </a:cubicBezTo>
                  <a:cubicBezTo>
                    <a:pt x="59015" y="2906"/>
                    <a:pt x="64170" y="8436"/>
                    <a:pt x="66872" y="984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2" name="Google Shape;222;p21"/>
            <p:cNvSpPr/>
            <p:nvPr/>
          </p:nvSpPr>
          <p:spPr>
            <a:xfrm flipH="1" rot="10800000">
              <a:off x="4826750" y="3390791"/>
              <a:ext cx="1671800" cy="246050"/>
            </a:xfrm>
            <a:custGeom>
              <a:rect b="b" l="l" r="r" t="t"/>
              <a:pathLst>
                <a:path extrusionOk="0" h="9842" w="66872">
                  <a:moveTo>
                    <a:pt x="0" y="9842"/>
                  </a:moveTo>
                  <a:cubicBezTo>
                    <a:pt x="2790" y="8342"/>
                    <a:pt x="8298" y="2247"/>
                    <a:pt x="16741" y="841"/>
                  </a:cubicBezTo>
                  <a:cubicBezTo>
                    <a:pt x="25184" y="-565"/>
                    <a:pt x="42305" y="-94"/>
                    <a:pt x="50660" y="1406"/>
                  </a:cubicBezTo>
                  <a:cubicBezTo>
                    <a:pt x="59015" y="2906"/>
                    <a:pt x="64170" y="8436"/>
                    <a:pt x="66872" y="9842"/>
                  </a:cubicBezTo>
                </a:path>
              </a:pathLst>
            </a:cu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3" name="Google Shape;223;p21"/>
            <p:cNvSpPr txBox="1"/>
            <p:nvPr/>
          </p:nvSpPr>
          <p:spPr>
            <a:xfrm>
              <a:off x="3533225" y="3344475"/>
              <a:ext cx="4380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x(0)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21"/>
            <p:cNvSpPr txBox="1"/>
            <p:nvPr/>
          </p:nvSpPr>
          <p:spPr>
            <a:xfrm>
              <a:off x="5285825" y="31158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x(i+1)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21"/>
            <p:cNvSpPr txBox="1"/>
            <p:nvPr/>
          </p:nvSpPr>
          <p:spPr>
            <a:xfrm>
              <a:off x="6505025" y="31920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x(k)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21"/>
            <p:cNvSpPr txBox="1"/>
            <p:nvPr/>
          </p:nvSpPr>
          <p:spPr>
            <a:xfrm>
              <a:off x="4600025" y="33444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x(i)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21"/>
            <p:cNvSpPr txBox="1"/>
            <p:nvPr/>
          </p:nvSpPr>
          <p:spPr>
            <a:xfrm>
              <a:off x="4219025" y="3344475"/>
              <a:ext cx="543900" cy="338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00"/>
                <a:buFont typeface="Arial"/>
                <a:buNone/>
              </a:pPr>
              <a:r>
                <a:rPr b="0" i="0" lang="en-GB" sz="1000" u="none" cap="none" strike="noStrike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P</a:t>
              </a:r>
              <a:endParaRPr b="0" i="0" sz="1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Ore</a:t>
            </a:r>
            <a:endParaRPr/>
          </a:p>
        </p:txBody>
      </p:sp>
      <p:sp>
        <p:nvSpPr>
          <p:cNvPr id="233" name="Google Shape;233;p2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cu ordinul n ≥ 3.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Dacă avem, pentru oricare pereche de noduri neadiacente deg(x) + deg(y) ≥ n, atunci graful este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 u="sng">
                <a:solidFill>
                  <a:schemeClr val="hlink"/>
                </a:solidFill>
                <a:hlinkClick r:id="rId3"/>
              </a:rPr>
              <a:t>https://www.infoarena.ro/ciclu-hamiltonian-in-graf-dens</a:t>
            </a:r>
            <a:r>
              <a:rPr b="0" lang="en-GB"/>
              <a:t> 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Condiții suficiente</a:t>
            </a:r>
            <a:endParaRPr/>
          </a:p>
        </p:txBody>
      </p:sp>
      <p:sp>
        <p:nvSpPr>
          <p:cNvPr id="239" name="Google Shape;239;p2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Dirac: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cu ordinul n ≥ 3. Dacă δ(G) ≥ n / 2, atunci G este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Ore: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cu ordinul n ≥ 3. Dacă avem, pentru oricare pereche de noduri neadiacente deg(x) + deg(y) ≥ n, atunci graful este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Care teoremă este mai puternică?</a:t>
            </a:r>
            <a:endParaRPr b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Condiții suficiente</a:t>
            </a:r>
            <a:endParaRPr/>
          </a:p>
        </p:txBody>
      </p:sp>
      <p:sp>
        <p:nvSpPr>
          <p:cNvPr id="245" name="Google Shape;245;p24"/>
          <p:cNvSpPr txBox="1"/>
          <p:nvPr>
            <p:ph idx="1" type="body"/>
          </p:nvPr>
        </p:nvSpPr>
        <p:spPr>
          <a:xfrm>
            <a:off x="311700" y="906225"/>
            <a:ext cx="8520600" cy="41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Dirac: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cu ordinul n ≥ 3. Dacă δ(G) ≥ n / 2, atunci G este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Teorema lui Ore: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cu ordinul n ≥ 3. Dacă avem, pentru oricare pereche de noduri neadiacente deg(x) + deg(y) ≥ n, atunci graful este hamiltonian.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Care teoremă este mai puternică?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Teorema lui Ore! Teorema lui Dirac este un caz particular al teoremei lui Ore, pentru că, dacă orice nod are gradul ≥ n / 2, atunci orice pereche de noduri are suma gradelor ≥ n.</a:t>
            </a:r>
            <a:endParaRPr b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Definiții ajutătoare</a:t>
            </a:r>
            <a:endParaRPr/>
          </a:p>
        </p:txBody>
      </p:sp>
      <p:sp>
        <p:nvSpPr>
          <p:cNvPr id="251" name="Google Shape;251;p2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Conectivitatea</a:t>
            </a:r>
            <a:r>
              <a:rPr b="0" lang="en-GB"/>
              <a:t> K(G) unui graf G este mărimea minimă a unei tăieturi a lui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Cum o calculăm?</a:t>
            </a:r>
            <a:endParaRPr b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Definiții ajutătoare</a:t>
            </a:r>
            <a:endParaRPr/>
          </a:p>
        </p:txBody>
      </p:sp>
      <p:sp>
        <p:nvSpPr>
          <p:cNvPr id="257" name="Google Shape;257;p26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Conectivitatea</a:t>
            </a:r>
            <a:r>
              <a:rPr b="0" lang="en-GB"/>
              <a:t> K(G) unui graf G este mărimea minimă a unei tăieturi a lui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Cum o calculăm? → </a:t>
            </a:r>
            <a:r>
              <a:rPr lang="en-GB"/>
              <a:t>Flux maxim = tăietură minimă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Definiții ajutătoare</a:t>
            </a:r>
            <a:endParaRPr/>
          </a:p>
        </p:txBody>
      </p:sp>
      <p:sp>
        <p:nvSpPr>
          <p:cNvPr id="263" name="Google Shape;263;p2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Conectivitatea</a:t>
            </a:r>
            <a:r>
              <a:rPr b="0" lang="en-GB"/>
              <a:t> K(G) unui graf G este mărimea minimă a unei tăieturi a lui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 mulțime de noduri a unui graf G este </a:t>
            </a:r>
            <a:r>
              <a:rPr lang="en-GB"/>
              <a:t>independentă </a:t>
            </a:r>
            <a:r>
              <a:rPr b="0" lang="en-GB"/>
              <a:t>dacă nu conține noduri adiacente.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Numărul de independență </a:t>
            </a:r>
            <a:r>
              <a:rPr b="0" lang="en-GB"/>
              <a:t>α(G) al unui graf G este mărimea celei mai mari mulțimi independente a lui G.</a:t>
            </a:r>
            <a:endParaRPr b="0"/>
          </a:p>
        </p:txBody>
      </p:sp>
      <p:pic>
        <p:nvPicPr>
          <p:cNvPr id="264" name="Google Shape;264;p27"/>
          <p:cNvPicPr preferRelativeResize="0"/>
          <p:nvPr/>
        </p:nvPicPr>
        <p:blipFill rotWithShape="1">
          <a:blip r:embed="rId3">
            <a:alphaModFix/>
          </a:blip>
          <a:srcRect b="33089" l="30340" r="6880" t="14353"/>
          <a:stretch/>
        </p:blipFill>
        <p:spPr>
          <a:xfrm>
            <a:off x="5406400" y="2761625"/>
            <a:ext cx="2635800" cy="220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8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Definiții ajutătoare</a:t>
            </a:r>
            <a:endParaRPr/>
          </a:p>
        </p:txBody>
      </p:sp>
      <p:sp>
        <p:nvSpPr>
          <p:cNvPr id="270" name="Google Shape;270;p28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Conectivitatea</a:t>
            </a:r>
            <a:r>
              <a:rPr b="0" lang="en-GB"/>
              <a:t> K(G) unui graf G este mărimea minimă a unei tăieturi a lui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 mulțime de noduri a unui graf G este </a:t>
            </a:r>
            <a:r>
              <a:rPr lang="en-GB"/>
              <a:t>independentă </a:t>
            </a:r>
            <a:r>
              <a:rPr b="0" lang="en-GB"/>
              <a:t>dacă nu conține noduri adiacente.</a:t>
            </a:r>
            <a:endParaRPr b="0"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Numărul de independență </a:t>
            </a:r>
            <a:r>
              <a:rPr b="0" lang="en-GB"/>
              <a:t>α(G) al unui graf G este mărimea celei mai mari mulțimi independente a lui G.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3</a:t>
            </a:r>
            <a:r>
              <a:rPr b="0" lang="en-GB"/>
              <a:t> (una din soluții este {0, 3, 8})</a:t>
            </a:r>
            <a:endParaRPr b="0"/>
          </a:p>
        </p:txBody>
      </p:sp>
      <p:pic>
        <p:nvPicPr>
          <p:cNvPr id="271" name="Google Shape;271;p28"/>
          <p:cNvPicPr preferRelativeResize="0"/>
          <p:nvPr/>
        </p:nvPicPr>
        <p:blipFill rotWithShape="1">
          <a:blip r:embed="rId3">
            <a:alphaModFix/>
          </a:blip>
          <a:srcRect b="33089" l="30340" r="6880" t="14353"/>
          <a:stretch/>
        </p:blipFill>
        <p:spPr>
          <a:xfrm>
            <a:off x="5406400" y="2761625"/>
            <a:ext cx="2635800" cy="22065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29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Fie G un graf conectat cu ordinul n ≥ 3, conectivitatea K(G) și numărul de independență α(G).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Dacă K(G) ≥ α(G), atunci G este hamiltonian.</a:t>
            </a:r>
            <a:endParaRPr b="0"/>
          </a:p>
        </p:txBody>
      </p:sp>
      <p:sp>
        <p:nvSpPr>
          <p:cNvPr id="277" name="Google Shape;277;p29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Chvatal și Erdos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30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Teorema lui Goodman și Hedetniemi</a:t>
            </a:r>
            <a:endParaRPr/>
          </a:p>
        </p:txBody>
      </p:sp>
      <p:sp>
        <p:nvSpPr>
          <p:cNvPr id="283" name="Google Shape;283;p30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lang="en-GB"/>
              <a:t>Teoremă: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Dacă G este un graf 2-conectat și liber de {K</a:t>
            </a:r>
            <a:r>
              <a:rPr b="0" baseline="-25000" lang="en-GB"/>
              <a:t>1,3</a:t>
            </a:r>
            <a:r>
              <a:rPr b="0" lang="en-GB"/>
              <a:t>, Z</a:t>
            </a:r>
            <a:r>
              <a:rPr b="0" baseline="-25000" lang="en-GB"/>
              <a:t>1</a:t>
            </a:r>
            <a:r>
              <a:rPr b="0" lang="en-GB"/>
              <a:t>}, atunci G este hamiltonian.</a:t>
            </a:r>
            <a:endParaRPr b="0"/>
          </a:p>
        </p:txBody>
      </p:sp>
      <p:grpSp>
        <p:nvGrpSpPr>
          <p:cNvPr id="284" name="Google Shape;284;p30"/>
          <p:cNvGrpSpPr/>
          <p:nvPr/>
        </p:nvGrpSpPr>
        <p:grpSpPr>
          <a:xfrm>
            <a:off x="1341500" y="2568975"/>
            <a:ext cx="1300200" cy="843000"/>
            <a:chOff x="1341500" y="2035575"/>
            <a:chExt cx="1300200" cy="843000"/>
          </a:xfrm>
        </p:grpSpPr>
        <p:sp>
          <p:nvSpPr>
            <p:cNvPr id="285" name="Google Shape;285;p30"/>
            <p:cNvSpPr/>
            <p:nvPr/>
          </p:nvSpPr>
          <p:spPr>
            <a:xfrm>
              <a:off x="1341500" y="27975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30"/>
            <p:cNvSpPr/>
            <p:nvPr/>
          </p:nvSpPr>
          <p:spPr>
            <a:xfrm>
              <a:off x="1951100" y="27975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30"/>
            <p:cNvSpPr/>
            <p:nvPr/>
          </p:nvSpPr>
          <p:spPr>
            <a:xfrm>
              <a:off x="2560700" y="27975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30"/>
            <p:cNvSpPr/>
            <p:nvPr/>
          </p:nvSpPr>
          <p:spPr>
            <a:xfrm>
              <a:off x="1951100" y="20355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89" name="Google Shape;289;p30"/>
            <p:cNvCxnSpPr>
              <a:stCxn id="288" idx="3"/>
              <a:endCxn id="285" idx="7"/>
            </p:cNvCxnSpPr>
            <p:nvPr/>
          </p:nvCxnSpPr>
          <p:spPr>
            <a:xfrm flipH="1">
              <a:off x="1410662" y="2104713"/>
              <a:ext cx="552300" cy="70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0" name="Google Shape;290;p30"/>
            <p:cNvCxnSpPr>
              <a:stCxn id="288" idx="4"/>
              <a:endCxn id="286" idx="0"/>
            </p:cNvCxnSpPr>
            <p:nvPr/>
          </p:nvCxnSpPr>
          <p:spPr>
            <a:xfrm>
              <a:off x="1991600" y="2116575"/>
              <a:ext cx="0" cy="681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1" name="Google Shape;291;p30"/>
            <p:cNvCxnSpPr>
              <a:stCxn id="288" idx="5"/>
              <a:endCxn id="287" idx="1"/>
            </p:cNvCxnSpPr>
            <p:nvPr/>
          </p:nvCxnSpPr>
          <p:spPr>
            <a:xfrm>
              <a:off x="2020238" y="2104713"/>
              <a:ext cx="552300" cy="70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292" name="Google Shape;292;p30"/>
          <p:cNvGrpSpPr/>
          <p:nvPr/>
        </p:nvGrpSpPr>
        <p:grpSpPr>
          <a:xfrm>
            <a:off x="3468375" y="2632725"/>
            <a:ext cx="1284075" cy="715500"/>
            <a:chOff x="3475100" y="2566875"/>
            <a:chExt cx="1284075" cy="715500"/>
          </a:xfrm>
        </p:grpSpPr>
        <p:sp>
          <p:nvSpPr>
            <p:cNvPr id="293" name="Google Shape;293;p30"/>
            <p:cNvSpPr/>
            <p:nvPr/>
          </p:nvSpPr>
          <p:spPr>
            <a:xfrm>
              <a:off x="3475100" y="28737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4" name="Google Shape;294;p30"/>
            <p:cNvSpPr/>
            <p:nvPr/>
          </p:nvSpPr>
          <p:spPr>
            <a:xfrm>
              <a:off x="4084700" y="28737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5" name="Google Shape;295;p30"/>
            <p:cNvSpPr/>
            <p:nvPr/>
          </p:nvSpPr>
          <p:spPr>
            <a:xfrm>
              <a:off x="4678175" y="32013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6" name="Google Shape;296;p30"/>
            <p:cNvSpPr/>
            <p:nvPr/>
          </p:nvSpPr>
          <p:spPr>
            <a:xfrm>
              <a:off x="4678175" y="2566875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97" name="Google Shape;297;p30"/>
            <p:cNvCxnSpPr>
              <a:stCxn id="293" idx="6"/>
              <a:endCxn id="294" idx="2"/>
            </p:cNvCxnSpPr>
            <p:nvPr/>
          </p:nvCxnSpPr>
          <p:spPr>
            <a:xfrm>
              <a:off x="3556100" y="2914275"/>
              <a:ext cx="528600" cy="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8" name="Google Shape;298;p30"/>
            <p:cNvCxnSpPr>
              <a:stCxn id="294" idx="5"/>
              <a:endCxn id="295" idx="5"/>
            </p:cNvCxnSpPr>
            <p:nvPr/>
          </p:nvCxnSpPr>
          <p:spPr>
            <a:xfrm>
              <a:off x="4153838" y="2942913"/>
              <a:ext cx="593400" cy="3276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99" name="Google Shape;299;p30"/>
            <p:cNvCxnSpPr>
              <a:stCxn id="294" idx="7"/>
              <a:endCxn id="296" idx="2"/>
            </p:cNvCxnSpPr>
            <p:nvPr/>
          </p:nvCxnSpPr>
          <p:spPr>
            <a:xfrm flipH="1" rot="10800000">
              <a:off x="4153838" y="2607237"/>
              <a:ext cx="524400" cy="278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0" name="Google Shape;300;p30"/>
            <p:cNvCxnSpPr>
              <a:stCxn id="296" idx="4"/>
              <a:endCxn id="295" idx="0"/>
            </p:cNvCxnSpPr>
            <p:nvPr/>
          </p:nvCxnSpPr>
          <p:spPr>
            <a:xfrm>
              <a:off x="4718675" y="2647875"/>
              <a:ext cx="0" cy="553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301" name="Google Shape;301;p30"/>
          <p:cNvSpPr txBox="1"/>
          <p:nvPr/>
        </p:nvSpPr>
        <p:spPr>
          <a:xfrm>
            <a:off x="1742150" y="3624100"/>
            <a:ext cx="498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K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1,3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2" name="Google Shape;302;p30"/>
          <p:cNvSpPr txBox="1"/>
          <p:nvPr/>
        </p:nvSpPr>
        <p:spPr>
          <a:xfrm>
            <a:off x="3922463" y="3624100"/>
            <a:ext cx="3759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Z</a:t>
            </a:r>
            <a:r>
              <a:rPr b="0" baseline="-25000" i="0" lang="en-GB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3" name="Google Shape;303;p30"/>
          <p:cNvGrpSpPr/>
          <p:nvPr/>
        </p:nvGrpSpPr>
        <p:grpSpPr>
          <a:xfrm>
            <a:off x="6335613" y="2302650"/>
            <a:ext cx="1909800" cy="1986000"/>
            <a:chOff x="6335613" y="2302650"/>
            <a:chExt cx="1909800" cy="1986000"/>
          </a:xfrm>
        </p:grpSpPr>
        <p:sp>
          <p:nvSpPr>
            <p:cNvPr id="304" name="Google Shape;304;p30"/>
            <p:cNvSpPr/>
            <p:nvPr/>
          </p:nvSpPr>
          <p:spPr>
            <a:xfrm>
              <a:off x="7250022" y="23026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5" name="Google Shape;305;p30"/>
            <p:cNvSpPr/>
            <p:nvPr/>
          </p:nvSpPr>
          <p:spPr>
            <a:xfrm>
              <a:off x="6632425" y="25312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6" name="Google Shape;306;p30"/>
            <p:cNvSpPr/>
            <p:nvPr/>
          </p:nvSpPr>
          <p:spPr>
            <a:xfrm>
              <a:off x="7867600" y="25312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7" name="Google Shape;307;p30"/>
            <p:cNvSpPr/>
            <p:nvPr/>
          </p:nvSpPr>
          <p:spPr>
            <a:xfrm>
              <a:off x="6335613" y="29884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8" name="Google Shape;308;p30"/>
            <p:cNvSpPr/>
            <p:nvPr/>
          </p:nvSpPr>
          <p:spPr>
            <a:xfrm>
              <a:off x="8164413" y="29884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09" name="Google Shape;309;p30"/>
            <p:cNvSpPr/>
            <p:nvPr/>
          </p:nvSpPr>
          <p:spPr>
            <a:xfrm>
              <a:off x="8164413" y="35218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0" name="Google Shape;310;p30"/>
            <p:cNvSpPr/>
            <p:nvPr/>
          </p:nvSpPr>
          <p:spPr>
            <a:xfrm>
              <a:off x="6335613" y="35218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1" name="Google Shape;311;p30"/>
            <p:cNvSpPr/>
            <p:nvPr/>
          </p:nvSpPr>
          <p:spPr>
            <a:xfrm>
              <a:off x="7867600" y="39790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2" name="Google Shape;312;p30"/>
            <p:cNvSpPr/>
            <p:nvPr/>
          </p:nvSpPr>
          <p:spPr>
            <a:xfrm>
              <a:off x="6648400" y="39790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13" name="Google Shape;313;p30"/>
            <p:cNvSpPr/>
            <p:nvPr/>
          </p:nvSpPr>
          <p:spPr>
            <a:xfrm>
              <a:off x="7250025" y="4207650"/>
              <a:ext cx="81000" cy="81000"/>
            </a:xfrm>
            <a:prstGeom prst="ellipse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314" name="Google Shape;314;p30"/>
            <p:cNvCxnSpPr>
              <a:stCxn id="304" idx="2"/>
              <a:endCxn id="305" idx="7"/>
            </p:cNvCxnSpPr>
            <p:nvPr/>
          </p:nvCxnSpPr>
          <p:spPr>
            <a:xfrm flipH="1">
              <a:off x="6701622" y="2343150"/>
              <a:ext cx="548400" cy="2001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30"/>
            <p:cNvCxnSpPr>
              <a:stCxn id="305" idx="3"/>
              <a:endCxn id="307" idx="0"/>
            </p:cNvCxnSpPr>
            <p:nvPr/>
          </p:nvCxnSpPr>
          <p:spPr>
            <a:xfrm flipH="1">
              <a:off x="6376087" y="2600388"/>
              <a:ext cx="268200" cy="3882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30"/>
            <p:cNvCxnSpPr>
              <a:stCxn id="307" idx="4"/>
              <a:endCxn id="310" idx="0"/>
            </p:cNvCxnSpPr>
            <p:nvPr/>
          </p:nvCxnSpPr>
          <p:spPr>
            <a:xfrm>
              <a:off x="6376113" y="3069450"/>
              <a:ext cx="0" cy="45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30"/>
            <p:cNvCxnSpPr>
              <a:stCxn id="310" idx="4"/>
              <a:endCxn id="312" idx="1"/>
            </p:cNvCxnSpPr>
            <p:nvPr/>
          </p:nvCxnSpPr>
          <p:spPr>
            <a:xfrm>
              <a:off x="6376113" y="3602850"/>
              <a:ext cx="284100" cy="3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30"/>
            <p:cNvCxnSpPr>
              <a:stCxn id="312" idx="5"/>
              <a:endCxn id="313" idx="2"/>
            </p:cNvCxnSpPr>
            <p:nvPr/>
          </p:nvCxnSpPr>
          <p:spPr>
            <a:xfrm>
              <a:off x="6717538" y="4048188"/>
              <a:ext cx="532500" cy="20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30"/>
            <p:cNvCxnSpPr>
              <a:stCxn id="313" idx="6"/>
              <a:endCxn id="311" idx="3"/>
            </p:cNvCxnSpPr>
            <p:nvPr/>
          </p:nvCxnSpPr>
          <p:spPr>
            <a:xfrm flipH="1" rot="10800000">
              <a:off x="7331025" y="4048050"/>
              <a:ext cx="548400" cy="20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0" name="Google Shape;320;p30"/>
            <p:cNvCxnSpPr>
              <a:stCxn id="311" idx="7"/>
              <a:endCxn id="309" idx="4"/>
            </p:cNvCxnSpPr>
            <p:nvPr/>
          </p:nvCxnSpPr>
          <p:spPr>
            <a:xfrm flipH="1" rot="10800000">
              <a:off x="7936738" y="3602712"/>
              <a:ext cx="268200" cy="3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1" name="Google Shape;321;p30"/>
            <p:cNvCxnSpPr>
              <a:stCxn id="309" idx="0"/>
              <a:endCxn id="308" idx="4"/>
            </p:cNvCxnSpPr>
            <p:nvPr/>
          </p:nvCxnSpPr>
          <p:spPr>
            <a:xfrm rot="10800000">
              <a:off x="8204913" y="3069450"/>
              <a:ext cx="0" cy="452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2" name="Google Shape;322;p30"/>
            <p:cNvCxnSpPr>
              <a:stCxn id="308" idx="0"/>
              <a:endCxn id="306" idx="5"/>
            </p:cNvCxnSpPr>
            <p:nvPr/>
          </p:nvCxnSpPr>
          <p:spPr>
            <a:xfrm rot="10800000">
              <a:off x="7936713" y="2600250"/>
              <a:ext cx="268200" cy="3882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3" name="Google Shape;323;p30"/>
            <p:cNvCxnSpPr>
              <a:stCxn id="306" idx="1"/>
              <a:endCxn id="304" idx="6"/>
            </p:cNvCxnSpPr>
            <p:nvPr/>
          </p:nvCxnSpPr>
          <p:spPr>
            <a:xfrm rot="10800000">
              <a:off x="7331062" y="2343012"/>
              <a:ext cx="548400" cy="200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4" name="Google Shape;324;p30"/>
            <p:cNvCxnSpPr>
              <a:stCxn id="312" idx="7"/>
              <a:endCxn id="309" idx="2"/>
            </p:cNvCxnSpPr>
            <p:nvPr/>
          </p:nvCxnSpPr>
          <p:spPr>
            <a:xfrm flipH="1" rot="10800000">
              <a:off x="6717538" y="3562212"/>
              <a:ext cx="1446900" cy="42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25" name="Google Shape;325;p30"/>
            <p:cNvCxnSpPr>
              <a:stCxn id="305" idx="5"/>
              <a:endCxn id="308" idx="2"/>
            </p:cNvCxnSpPr>
            <p:nvPr/>
          </p:nvCxnSpPr>
          <p:spPr>
            <a:xfrm>
              <a:off x="6701563" y="2600388"/>
              <a:ext cx="1462800" cy="428700"/>
            </a:xfrm>
            <a:prstGeom prst="straightConnector1">
              <a:avLst/>
            </a:prstGeom>
            <a:noFill/>
            <a:ln cap="flat" cmpd="sng" w="19050">
              <a:solidFill>
                <a:srgbClr val="CC0000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1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31" name="Google Shape;331;p31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Cum găsim un ciclu hamiltonian?</a:t>
            </a:r>
            <a:endParaRPr/>
          </a:p>
        </p:txBody>
      </p:sp>
      <p:pic>
        <p:nvPicPr>
          <p:cNvPr id="332" name="Google Shape;33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919" y="1000600"/>
            <a:ext cx="644244" cy="9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32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38" name="Google Shape;338;p32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găsim un ciclu hamiltonian?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este cunoscut un algoritm polinomial pentru a rezolva această problemă.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t/>
            </a:r>
            <a:endParaRPr b="0"/>
          </a:p>
        </p:txBody>
      </p:sp>
      <p:pic>
        <p:nvPicPr>
          <p:cNvPr id="339" name="Google Shape;339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598" y="1520225"/>
            <a:ext cx="725300" cy="9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45" name="Google Shape;345;p33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găsim un ciclu hamiltonian?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este cunoscut un algoritm polinomial pentru a rezolva această problemă.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b="0" lang="en-GB"/>
              <a:t>O primă soluție este să încercăm toate permutările și să verificăm, pentru fiecare în parte, dacă este o soluție validă.</a:t>
            </a:r>
            <a:endParaRPr b="0"/>
          </a:p>
        </p:txBody>
      </p:sp>
      <p:pic>
        <p:nvPicPr>
          <p:cNvPr id="346" name="Google Shape;346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598" y="1520225"/>
            <a:ext cx="725300" cy="9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34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52" name="Google Shape;352;p34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găsim un ciclu hamiltonian?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este cunoscut un algoritm polinomial pentru a rezolva această problemă.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 primă soluție este să încercăm toate permutările și să verificăm, pentru fiecare în parte, dacă este o soluție validă.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Complexitate?</a:t>
            </a:r>
            <a:endParaRPr b="0"/>
          </a:p>
        </p:txBody>
      </p:sp>
      <p:pic>
        <p:nvPicPr>
          <p:cNvPr id="353" name="Google Shape;353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598" y="1520225"/>
            <a:ext cx="725300" cy="9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5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59" name="Google Shape;359;p35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4572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Cum găsim un ciclu hamiltonian?</a:t>
            </a:r>
            <a:endParaRPr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Nu este cunoscut un algoritm polinomial pentru a rezolva această problemă.</a:t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9144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 primă soluție este să încercăm toate permutările și să verificăm, pentru fiecare în parte, dacă este o soluție validă.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Complexitate?  </a:t>
            </a:r>
            <a:r>
              <a:rPr lang="en-GB"/>
              <a:t>O(n! * n)</a:t>
            </a:r>
            <a:endParaRPr/>
          </a:p>
        </p:txBody>
      </p:sp>
      <p:pic>
        <p:nvPicPr>
          <p:cNvPr id="360" name="Google Shape;360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598" y="1520225"/>
            <a:ext cx="725300" cy="970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6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66" name="Google Shape;366;p36"/>
          <p:cNvSpPr txBox="1"/>
          <p:nvPr>
            <p:ph idx="1" type="body"/>
          </p:nvPr>
        </p:nvSpPr>
        <p:spPr>
          <a:xfrm>
            <a:off x="311700" y="906225"/>
            <a:ext cx="8520600" cy="405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1 4 5 2 3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1 2 4 5 3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lang="en-GB"/>
              <a:t>1 5 4 2 3 </a:t>
            </a:r>
            <a:endParaRPr/>
          </a:p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700"/>
              <a:buNone/>
            </a:pPr>
            <a:r>
              <a:rPr lang="en-GB"/>
              <a:t>1 2 5 4 3 </a:t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1400700" y="22949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8" name="Google Shape;368;p36"/>
          <p:cNvSpPr/>
          <p:nvPr/>
        </p:nvSpPr>
        <p:spPr>
          <a:xfrm>
            <a:off x="2379450" y="1471888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9" name="Google Shape;369;p36"/>
          <p:cNvSpPr/>
          <p:nvPr/>
        </p:nvSpPr>
        <p:spPr>
          <a:xfrm>
            <a:off x="3305700" y="22949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0" name="Google Shape;370;p36"/>
          <p:cNvSpPr/>
          <p:nvPr/>
        </p:nvSpPr>
        <p:spPr>
          <a:xfrm>
            <a:off x="2998300" y="32093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1" name="Google Shape;371;p36"/>
          <p:cNvSpPr/>
          <p:nvPr/>
        </p:nvSpPr>
        <p:spPr>
          <a:xfrm>
            <a:off x="1760700" y="32093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GB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36"/>
          <p:cNvSpPr/>
          <p:nvPr/>
        </p:nvSpPr>
        <p:spPr>
          <a:xfrm>
            <a:off x="5301850" y="2294900"/>
            <a:ext cx="360000" cy="360000"/>
          </a:xfrm>
          <a:prstGeom prst="ellipse">
            <a:avLst/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72000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373" name="Google Shape;373;p36"/>
          <p:cNvCxnSpPr>
            <a:stCxn id="367" idx="7"/>
            <a:endCxn id="368" idx="3"/>
          </p:cNvCxnSpPr>
          <p:nvPr/>
        </p:nvCxnSpPr>
        <p:spPr>
          <a:xfrm flipH="1" rot="10800000">
            <a:off x="1707979" y="1779121"/>
            <a:ext cx="724200" cy="56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4" name="Google Shape;374;p36"/>
          <p:cNvCxnSpPr>
            <a:stCxn id="368" idx="5"/>
            <a:endCxn id="369" idx="1"/>
          </p:cNvCxnSpPr>
          <p:nvPr/>
        </p:nvCxnSpPr>
        <p:spPr>
          <a:xfrm>
            <a:off x="2686729" y="1779167"/>
            <a:ext cx="671700" cy="5685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5" name="Google Shape;375;p36"/>
          <p:cNvCxnSpPr>
            <a:stCxn id="367" idx="4"/>
            <a:endCxn id="371" idx="1"/>
          </p:cNvCxnSpPr>
          <p:nvPr/>
        </p:nvCxnSpPr>
        <p:spPr>
          <a:xfrm>
            <a:off x="1580700" y="2654900"/>
            <a:ext cx="232800" cy="60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6" name="Google Shape;376;p36"/>
          <p:cNvCxnSpPr>
            <a:stCxn id="371" idx="6"/>
            <a:endCxn id="370" idx="2"/>
          </p:cNvCxnSpPr>
          <p:nvPr/>
        </p:nvCxnSpPr>
        <p:spPr>
          <a:xfrm>
            <a:off x="2120700" y="3389300"/>
            <a:ext cx="8775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7" name="Google Shape;377;p36"/>
          <p:cNvCxnSpPr>
            <a:stCxn id="369" idx="4"/>
            <a:endCxn id="370" idx="7"/>
          </p:cNvCxnSpPr>
          <p:nvPr/>
        </p:nvCxnSpPr>
        <p:spPr>
          <a:xfrm flipH="1">
            <a:off x="3305700" y="2654900"/>
            <a:ext cx="180000" cy="6072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8" name="Google Shape;378;p36"/>
          <p:cNvCxnSpPr>
            <a:stCxn id="367" idx="6"/>
            <a:endCxn id="369" idx="2"/>
          </p:cNvCxnSpPr>
          <p:nvPr/>
        </p:nvCxnSpPr>
        <p:spPr>
          <a:xfrm>
            <a:off x="1760700" y="2474900"/>
            <a:ext cx="15450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9" name="Google Shape;379;p36"/>
          <p:cNvCxnSpPr>
            <a:stCxn id="371" idx="0"/>
            <a:endCxn id="368" idx="4"/>
          </p:cNvCxnSpPr>
          <p:nvPr/>
        </p:nvCxnSpPr>
        <p:spPr>
          <a:xfrm flipH="1" rot="10800000">
            <a:off x="1940700" y="1832000"/>
            <a:ext cx="618900" cy="13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0" name="Google Shape;380;p36"/>
          <p:cNvCxnSpPr>
            <a:stCxn id="368" idx="4"/>
            <a:endCxn id="370" idx="0"/>
          </p:cNvCxnSpPr>
          <p:nvPr/>
        </p:nvCxnSpPr>
        <p:spPr>
          <a:xfrm>
            <a:off x="2559450" y="1831888"/>
            <a:ext cx="618900" cy="13773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1" name="Google Shape;381;p36"/>
          <p:cNvCxnSpPr>
            <a:stCxn id="367" idx="5"/>
            <a:endCxn id="370" idx="1"/>
          </p:cNvCxnSpPr>
          <p:nvPr/>
        </p:nvCxnSpPr>
        <p:spPr>
          <a:xfrm>
            <a:off x="1707979" y="2602179"/>
            <a:ext cx="1343100" cy="65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2" name="Google Shape;382;p36"/>
          <p:cNvCxnSpPr>
            <a:stCxn id="371" idx="7"/>
            <a:endCxn id="369" idx="3"/>
          </p:cNvCxnSpPr>
          <p:nvPr/>
        </p:nvCxnSpPr>
        <p:spPr>
          <a:xfrm flipH="1" rot="10800000">
            <a:off x="2067979" y="2602321"/>
            <a:ext cx="1290300" cy="6597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3" name="Google Shape;383;p36"/>
          <p:cNvCxnSpPr>
            <a:stCxn id="369" idx="6"/>
            <a:endCxn id="372" idx="2"/>
          </p:cNvCxnSpPr>
          <p:nvPr/>
        </p:nvCxnSpPr>
        <p:spPr>
          <a:xfrm>
            <a:off x="3665700" y="2474900"/>
            <a:ext cx="16362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4" name="Google Shape;384;p36"/>
          <p:cNvSpPr/>
          <p:nvPr/>
        </p:nvSpPr>
        <p:spPr>
          <a:xfrm>
            <a:off x="6323200" y="2438900"/>
            <a:ext cx="72000" cy="72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36"/>
          <p:cNvSpPr/>
          <p:nvPr/>
        </p:nvSpPr>
        <p:spPr>
          <a:xfrm>
            <a:off x="6551800" y="2438900"/>
            <a:ext cx="72000" cy="72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36"/>
          <p:cNvSpPr/>
          <p:nvPr/>
        </p:nvSpPr>
        <p:spPr>
          <a:xfrm>
            <a:off x="6780400" y="2438900"/>
            <a:ext cx="72000" cy="72000"/>
          </a:xfrm>
          <a:prstGeom prst="ellipse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36"/>
          <p:cNvSpPr txBox="1"/>
          <p:nvPr/>
        </p:nvSpPr>
        <p:spPr>
          <a:xfrm>
            <a:off x="7298000" y="2228600"/>
            <a:ext cx="671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GB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???</a:t>
            </a:r>
            <a:endParaRPr b="0" i="0" sz="2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36"/>
          <p:cNvSpPr/>
          <p:nvPr/>
        </p:nvSpPr>
        <p:spPr>
          <a:xfrm>
            <a:off x="1557200" y="1084634"/>
            <a:ext cx="5494050" cy="1214100"/>
          </a:xfrm>
          <a:custGeom>
            <a:rect b="b" l="l" r="r" t="t"/>
            <a:pathLst>
              <a:path extrusionOk="0" h="48564" w="219762">
                <a:moveTo>
                  <a:pt x="0" y="48564"/>
                </a:moveTo>
                <a:cubicBezTo>
                  <a:pt x="7505" y="41194"/>
                  <a:pt x="19415" y="11398"/>
                  <a:pt x="45031" y="4342"/>
                </a:cubicBezTo>
                <a:cubicBezTo>
                  <a:pt x="70648" y="-2714"/>
                  <a:pt x="124577" y="-511"/>
                  <a:pt x="153699" y="6230"/>
                </a:cubicBezTo>
                <a:cubicBezTo>
                  <a:pt x="182821" y="12971"/>
                  <a:pt x="208752" y="38363"/>
                  <a:pt x="219762" y="44789"/>
                </a:cubicBezTo>
              </a:path>
            </a:pathLst>
          </a:cu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7"/>
          <p:cNvSpPr txBox="1"/>
          <p:nvPr>
            <p:ph type="title"/>
          </p:nvPr>
        </p:nvSpPr>
        <p:spPr>
          <a:xfrm>
            <a:off x="311700" y="52775"/>
            <a:ext cx="8520600" cy="6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GB"/>
              <a:t>Ciclu Hamiltonian</a:t>
            </a:r>
            <a:endParaRPr/>
          </a:p>
        </p:txBody>
      </p:sp>
      <p:sp>
        <p:nvSpPr>
          <p:cNvPr id="394" name="Google Shape;394;p37"/>
          <p:cNvSpPr txBox="1"/>
          <p:nvPr>
            <p:ph idx="1" type="body"/>
          </p:nvPr>
        </p:nvSpPr>
        <p:spPr>
          <a:xfrm>
            <a:off x="311700" y="906225"/>
            <a:ext cx="8520600" cy="375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O a doua soluție este să folosim un algoritm exponențial mai eficient:</a:t>
            </a:r>
            <a:endParaRPr b="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rPr b="0" lang="en-GB"/>
              <a:t>Vom considera matricea </a:t>
            </a:r>
            <a:r>
              <a:rPr b="0" lang="en-GB">
                <a:latin typeface="Roboto Mono Light"/>
                <a:ea typeface="Roboto Mono Light"/>
                <a:cs typeface="Roboto Mono Light"/>
                <a:sym typeface="Roboto Mono Light"/>
              </a:rPr>
              <a:t>C</a:t>
            </a:r>
            <a:r>
              <a:rPr b="0" lang="en-GB"/>
              <a:t>, având următoarea semnificație:</a:t>
            </a:r>
            <a:endParaRPr b="0"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lang="en-GB">
                <a:latin typeface="Roboto Mono"/>
                <a:ea typeface="Roboto Mono"/>
                <a:cs typeface="Roboto Mono"/>
                <a:sym typeface="Roboto Mono"/>
              </a:rPr>
              <a:t>C[j][k]</a:t>
            </a:r>
            <a:r>
              <a:rPr lang="en-GB"/>
              <a:t> </a:t>
            </a:r>
            <a:r>
              <a:rPr b="0" lang="en-GB"/>
              <a:t>= costul minim al unui lanț care începe în nodul </a:t>
            </a:r>
            <a:r>
              <a:rPr b="0" lang="en-GB">
                <a:latin typeface="Roboto Mono Light"/>
                <a:ea typeface="Roboto Mono Light"/>
                <a:cs typeface="Roboto Mono Light"/>
                <a:sym typeface="Roboto Mono Light"/>
              </a:rPr>
              <a:t>1</a:t>
            </a:r>
            <a:r>
              <a:rPr b="0" lang="en-GB"/>
              <a:t>, se termină în nodul </a:t>
            </a:r>
            <a:r>
              <a:rPr b="0" lang="en-GB">
                <a:latin typeface="Roboto Mono Light"/>
                <a:ea typeface="Roboto Mono Light"/>
                <a:cs typeface="Roboto Mono Light"/>
                <a:sym typeface="Roboto Mono Light"/>
              </a:rPr>
              <a:t>k</a:t>
            </a:r>
            <a:r>
              <a:rPr b="0" lang="en-GB"/>
              <a:t> și conține toate nodurile identificate cu </a:t>
            </a:r>
            <a:r>
              <a:rPr b="0" lang="en-GB">
                <a:latin typeface="Roboto Mono Light"/>
                <a:ea typeface="Roboto Mono Light"/>
                <a:cs typeface="Roboto Mono Light"/>
                <a:sym typeface="Roboto Mono Light"/>
              </a:rPr>
              <a:t>1</a:t>
            </a:r>
            <a:r>
              <a:rPr b="0" lang="en-GB"/>
              <a:t> în configurația binară a lui </a:t>
            </a:r>
            <a:r>
              <a:rPr b="0" lang="en-GB">
                <a:latin typeface="Roboto Mono Light"/>
                <a:ea typeface="Roboto Mono Light"/>
                <a:cs typeface="Roboto Mono Light"/>
                <a:sym typeface="Roboto Mono Light"/>
              </a:rPr>
              <a:t>j</a:t>
            </a:r>
            <a:r>
              <a:rPr b="0" lang="en-GB"/>
              <a:t> exact o singură dată.</a:t>
            </a:r>
            <a:endParaRPr b="0"/>
          </a:p>
          <a:p>
            <a:pPr indent="-3111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b="1" lang="en-GB" sz="1500"/>
              <a:t>De exemplu:</a:t>
            </a:r>
            <a:r>
              <a:rPr lang="en-GB" sz="1500"/>
              <a:t> pentru graful din enunț, starea caracterizată de tripletul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(23, 0)</a:t>
            </a:r>
            <a:r>
              <a:rPr lang="en-GB" sz="1500"/>
              <a:t> va avea valoarea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7</a:t>
            </a:r>
            <a:r>
              <a:rPr lang="en-GB" sz="1500"/>
              <a:t> și va reprezenta costul minim al unui lanț care începe în nodul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1</a:t>
            </a:r>
            <a:r>
              <a:rPr lang="en-GB" sz="1500"/>
              <a:t>, se termină în nodul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0</a:t>
            </a:r>
            <a:r>
              <a:rPr lang="en-GB" sz="1500"/>
              <a:t> și conține exact o singură dată nodurile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{0, 1, 2, 4}</a:t>
            </a:r>
            <a:r>
              <a:rPr lang="en-GB" sz="1500"/>
              <a:t>, deoarece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23 = (10111)</a:t>
            </a:r>
            <a:r>
              <a:rPr baseline="-25000"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2</a:t>
            </a:r>
            <a:r>
              <a:rPr lang="en-GB" sz="1500"/>
              <a:t> (ordinea biților este considerată cea inversă scrierii în baza </a:t>
            </a:r>
            <a:r>
              <a:rPr lang="en-GB" sz="1500">
                <a:latin typeface="Roboto Mono Light"/>
                <a:ea typeface="Roboto Mono Light"/>
                <a:cs typeface="Roboto Mono Light"/>
                <a:sym typeface="Roboto Mono Light"/>
              </a:rPr>
              <a:t>2</a:t>
            </a:r>
            <a:r>
              <a:rPr lang="en-GB" sz="1500"/>
              <a:t>).</a:t>
            </a:r>
            <a:endParaRPr sz="1500"/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None/>
            </a:pPr>
            <a:r>
              <a:t/>
            </a:r>
            <a:endParaRPr/>
          </a:p>
          <a:p>
            <a:pPr indent="-33655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700"/>
              <a:buChar char="⏵"/>
            </a:pPr>
            <a:r>
              <a:rPr b="0" lang="en-GB"/>
              <a:t>Soluția are complexitatea </a:t>
            </a:r>
            <a:r>
              <a:rPr lang="en-GB"/>
              <a:t>O(2</a:t>
            </a:r>
            <a:r>
              <a:rPr baseline="30000" lang="en-GB"/>
              <a:t>n</a:t>
            </a:r>
            <a:r>
              <a:rPr lang="en-GB"/>
              <a:t> * n)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aradigm">
  <a:themeElements>
    <a:clrScheme name="Paradigm">
      <a:dk1>
        <a:srgbClr val="31394D"/>
      </a:dk1>
      <a:lt1>
        <a:srgbClr val="FFFFFF"/>
      </a:lt1>
      <a:dk2>
        <a:srgbClr val="666666"/>
      </a:dk2>
      <a:lt2>
        <a:srgbClr val="626B73"/>
      </a:lt2>
      <a:accent1>
        <a:srgbClr val="002F4A"/>
      </a:accent1>
      <a:accent2>
        <a:srgbClr val="D9C4B1"/>
      </a:accent2>
      <a:accent3>
        <a:srgbClr val="EDE3DA"/>
      </a:accent3>
      <a:accent4>
        <a:srgbClr val="B85741"/>
      </a:accent4>
      <a:accent5>
        <a:srgbClr val="009384"/>
      </a:accent5>
      <a:accent6>
        <a:srgbClr val="D0F6FF"/>
      </a:accent6>
      <a:hlink>
        <a:srgbClr val="009384"/>
      </a:hlink>
      <a:folHlink>
        <a:srgbClr val="00938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810D94DE34D6134AB4DB1DB59F5B5DAF" ma:contentTypeVersion="3" ma:contentTypeDescription="Create a new document." ma:contentTypeScope="" ma:versionID="a24da269fcca2a905fc9c8ad0066c42c">
  <xsd:schema xmlns:xsd="http://www.w3.org/2001/XMLSchema" xmlns:xs="http://www.w3.org/2001/XMLSchema" xmlns:p="http://schemas.microsoft.com/office/2006/metadata/properties" xmlns:ns2="97c90f05-350d-4a78-bf08-e84d2709cbc1" targetNamespace="http://schemas.microsoft.com/office/2006/metadata/properties" ma:root="true" ma:fieldsID="06b7b4207b8b883b4ffcfbd92386e0fc" ns2:_="">
    <xsd:import namespace="97c90f05-350d-4a78-bf08-e84d2709cbc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c90f05-350d-4a78-bf08-e84d2709cbc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AA10473-90F6-42DA-98BB-E8B4943EBF2D}"/>
</file>

<file path=customXml/itemProps2.xml><?xml version="1.0" encoding="utf-8"?>
<ds:datastoreItem xmlns:ds="http://schemas.openxmlformats.org/officeDocument/2006/customXml" ds:itemID="{20FAE598-7F71-4BE3-8143-C994C8B4EBB4}"/>
</file>

<file path=customXml/itemProps3.xml><?xml version="1.0" encoding="utf-8"?>
<ds:datastoreItem xmlns:ds="http://schemas.openxmlformats.org/officeDocument/2006/customXml" ds:itemID="{583DC8B9-67B2-4FFC-8976-9FBB4293ED6E}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0x010100810D94DE34D6134AB4DB1DB59F5B5DAF</vt:lpwstr>
  </property>
</Properties>
</file>