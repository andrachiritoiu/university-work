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</p:sldIdLst>
  <p:sldSz cy="5143500" cx="9144000"/>
  <p:notesSz cx="6858000" cy="9144000"/>
  <p:embeddedFontLst>
    <p:embeddedFont>
      <p:font typeface="Roboto"/>
      <p:regular r:id="rId101"/>
      <p:bold r:id="rId102"/>
      <p:italic r:id="rId103"/>
      <p:boldItalic r:id="rId104"/>
    </p:embeddedFont>
    <p:embeddedFont>
      <p:font typeface="Roboto Mono"/>
      <p:regular r:id="rId105"/>
      <p:bold r:id="rId106"/>
      <p:italic r:id="rId107"/>
      <p:boldItalic r:id="rId108"/>
    </p:embeddedFont>
    <p:embeddedFont>
      <p:font typeface="Merriweather"/>
      <p:regular r:id="rId109"/>
      <p:bold r:id="rId110"/>
      <p:italic r:id="rId111"/>
      <p:boldItalic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3" roundtripDataSignature="AMtx7mjMyfBX69R/KNuL0Ld6V8HqT2yb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21" Type="http://schemas.openxmlformats.org/officeDocument/2006/relationships/slide" Target="slides/slide16.xml"/><Relationship Id="rId112" Type="http://schemas.openxmlformats.org/officeDocument/2006/relationships/font" Target="fonts/Merriweather-boldItalic.fntdata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07" Type="http://schemas.openxmlformats.org/officeDocument/2006/relationships/font" Target="fonts/RobotoMono-italic.fntdata"/><Relationship Id="rId16" Type="http://schemas.openxmlformats.org/officeDocument/2006/relationships/slide" Target="slides/slide11.xml"/><Relationship Id="rId102" Type="http://schemas.openxmlformats.org/officeDocument/2006/relationships/font" Target="fonts/Roboto-bold.fntdata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11" Type="http://schemas.openxmlformats.org/officeDocument/2006/relationships/slide" Target="slides/slide6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95" Type="http://schemas.openxmlformats.org/officeDocument/2006/relationships/slide" Target="slides/slide90.xml"/><Relationship Id="rId90" Type="http://schemas.openxmlformats.org/officeDocument/2006/relationships/slide" Target="slides/slide85.xml"/><Relationship Id="rId5" Type="http://schemas.openxmlformats.org/officeDocument/2006/relationships/notesMaster" Target="notesMasters/notesMaster1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13" Type="http://customschemas.google.com/relationships/presentationmetadata" Target="metadata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5" Type="http://schemas.openxmlformats.org/officeDocument/2006/relationships/slide" Target="slides/slide80.xml"/><Relationship Id="rId80" Type="http://schemas.openxmlformats.org/officeDocument/2006/relationships/slide" Target="slides/slide75.xml"/><Relationship Id="rId108" Type="http://schemas.openxmlformats.org/officeDocument/2006/relationships/font" Target="fonts/RobotoMono-boldItalic.fntdata"/><Relationship Id="rId103" Type="http://schemas.openxmlformats.org/officeDocument/2006/relationships/font" Target="fonts/Roboto-italic.fntdata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59" Type="http://schemas.openxmlformats.org/officeDocument/2006/relationships/slide" Target="slides/slide54.xml"/><Relationship Id="rId96" Type="http://schemas.openxmlformats.org/officeDocument/2006/relationships/slide" Target="slides/slide91.xml"/><Relationship Id="rId91" Type="http://schemas.openxmlformats.org/officeDocument/2006/relationships/slide" Target="slides/slide86.xml"/><Relationship Id="rId75" Type="http://schemas.openxmlformats.org/officeDocument/2006/relationships/slide" Target="slides/slide70.xml"/><Relationship Id="rId70" Type="http://schemas.openxmlformats.org/officeDocument/2006/relationships/slide" Target="slides/slide65.xml"/><Relationship Id="rId54" Type="http://schemas.openxmlformats.org/officeDocument/2006/relationships/slide" Target="slides/slide49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06" Type="http://schemas.openxmlformats.org/officeDocument/2006/relationships/font" Target="fonts/RobotoMono-bold.fntdata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5" Type="http://schemas.openxmlformats.org/officeDocument/2006/relationships/slide" Target="slides/slide10.xml"/><Relationship Id="rId57" Type="http://schemas.openxmlformats.org/officeDocument/2006/relationships/slide" Target="slides/slide52.xml"/><Relationship Id="rId114" Type="http://schemas.openxmlformats.org/officeDocument/2006/relationships/customXml" Target="../customXml/item1.xml"/><Relationship Id="rId44" Type="http://schemas.openxmlformats.org/officeDocument/2006/relationships/slide" Target="slides/slide39.xml"/><Relationship Id="rId101" Type="http://schemas.openxmlformats.org/officeDocument/2006/relationships/font" Target="fonts/Roboto-regular.fntdata"/><Relationship Id="rId31" Type="http://schemas.openxmlformats.org/officeDocument/2006/relationships/slide" Target="slides/slide26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86" Type="http://schemas.openxmlformats.org/officeDocument/2006/relationships/slide" Target="slides/slide81.xml"/><Relationship Id="rId81" Type="http://schemas.openxmlformats.org/officeDocument/2006/relationships/slide" Target="slides/slide76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52" Type="http://schemas.openxmlformats.org/officeDocument/2006/relationships/slide" Target="slides/slide4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09" Type="http://schemas.openxmlformats.org/officeDocument/2006/relationships/font" Target="fonts/Merriweather-regular.fntdata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104" Type="http://schemas.openxmlformats.org/officeDocument/2006/relationships/font" Target="fonts/Roboto-boldItalic.fntdata"/><Relationship Id="rId34" Type="http://schemas.openxmlformats.org/officeDocument/2006/relationships/slide" Target="slides/slide29.xml"/><Relationship Id="rId97" Type="http://schemas.openxmlformats.org/officeDocument/2006/relationships/slide" Target="slides/slide92.xml"/><Relationship Id="rId76" Type="http://schemas.openxmlformats.org/officeDocument/2006/relationships/slide" Target="slides/slide71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92" Type="http://schemas.openxmlformats.org/officeDocument/2006/relationships/slide" Target="slides/slide87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9" Type="http://schemas.openxmlformats.org/officeDocument/2006/relationships/slide" Target="slides/slide24.xml"/><Relationship Id="rId2" Type="http://schemas.openxmlformats.org/officeDocument/2006/relationships/viewProps" Target="viewProps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24" Type="http://schemas.openxmlformats.org/officeDocument/2006/relationships/slide" Target="slides/slide19.xml"/><Relationship Id="rId110" Type="http://schemas.openxmlformats.org/officeDocument/2006/relationships/font" Target="fonts/Merriweather-bold.fntdata"/><Relationship Id="rId87" Type="http://schemas.openxmlformats.org/officeDocument/2006/relationships/slide" Target="slides/slide82.xml"/><Relationship Id="rId66" Type="http://schemas.openxmlformats.org/officeDocument/2006/relationships/slide" Target="slides/slide61.xml"/><Relationship Id="rId115" Type="http://schemas.openxmlformats.org/officeDocument/2006/relationships/customXml" Target="../customXml/item2.xml"/><Relationship Id="rId82" Type="http://schemas.openxmlformats.org/officeDocument/2006/relationships/slide" Target="slides/slide77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05" Type="http://schemas.openxmlformats.org/officeDocument/2006/relationships/font" Target="fonts/RobotoMono-regular.fntdata"/><Relationship Id="rId100" Type="http://schemas.openxmlformats.org/officeDocument/2006/relationships/slide" Target="slides/slide95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14" Type="http://schemas.openxmlformats.org/officeDocument/2006/relationships/slide" Target="slides/slide9.xml"/><Relationship Id="rId77" Type="http://schemas.openxmlformats.org/officeDocument/2006/relationships/slide" Target="slides/slide72.xml"/><Relationship Id="rId56" Type="http://schemas.openxmlformats.org/officeDocument/2006/relationships/slide" Target="slides/slide51.xml"/><Relationship Id="rId98" Type="http://schemas.openxmlformats.org/officeDocument/2006/relationships/slide" Target="slides/slide93.xml"/><Relationship Id="rId93" Type="http://schemas.openxmlformats.org/officeDocument/2006/relationships/slide" Target="slides/slide88.xml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51" Type="http://schemas.openxmlformats.org/officeDocument/2006/relationships/slide" Target="slides/slide46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25" Type="http://schemas.openxmlformats.org/officeDocument/2006/relationships/slide" Target="slides/slide20.xml"/><Relationship Id="rId67" Type="http://schemas.openxmlformats.org/officeDocument/2006/relationships/slide" Target="slides/slide62.xml"/><Relationship Id="rId116" Type="http://schemas.openxmlformats.org/officeDocument/2006/relationships/customXml" Target="../customXml/item3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111" Type="http://schemas.openxmlformats.org/officeDocument/2006/relationships/font" Target="fonts/Merriweather-italic.fntdata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62" Type="http://schemas.openxmlformats.org/officeDocument/2006/relationships/slide" Target="slides/slide5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" name="Google Shape;85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" name="Google Shape;98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6" name="Google Shape;104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0" name="Google Shape;1180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3" name="Google Shape;1253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2" name="Google Shape;1332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5" name="Google Shape;1415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4" name="Google Shape;150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7" name="Google Shape;1597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6" name="Google Shape;169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9" name="Google Shape;179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7" name="Google Shape;190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3" name="Google Shape;1973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9" name="Google Shape;197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5" name="Google Shape;198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2" name="Google Shape;199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8" name="Google Shape;1998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5" name="Google Shape;200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2" name="Google Shape;2012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9" name="Google Shape;2019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6" name="Google Shape;2026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3" name="Google Shape;2033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0" name="Google Shape;2040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6" name="Google Shape;2046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3" name="Google Shape;2053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0" name="Google Shape;2060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6" name="Google Shape;2066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2" name="Google Shape;2072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9" name="Google Shape;2079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6" name="Google Shape;2086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3" name="Google Shape;2093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0" name="Google Shape;2100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7" name="Google Shape;2107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4" name="Google Shape;2114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1" name="Google Shape;2121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7" name="Google Shape;2127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3" name="Google Shape;2133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9" name="Google Shape;2139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5" name="Google Shape;2145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3" name="Google Shape;2173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8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98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98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9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9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9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100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4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p104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p104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5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05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p105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p10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10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Google Shape;42;p106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106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06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0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0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3" name="Google Shape;53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0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p10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p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6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5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Drumuri minime în grafuri ponderate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Dată o hartă rutieră, să se determine</a:t>
            </a:r>
            <a:endParaRPr b="1"/>
          </a:p>
          <a:p>
            <a:pPr indent="-304800" lvl="1" marL="180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/>
              <a:t>un drum minim între două orașe date</a:t>
            </a:r>
            <a:endParaRPr b="1"/>
          </a:p>
          <a:p>
            <a:pPr indent="-304800" lvl="1" marL="180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/>
              <a:t>câte un drum minim între oricare două orașe de pe hartă</a:t>
            </a:r>
            <a:endParaRPr b="1"/>
          </a:p>
        </p:txBody>
      </p:sp>
      <p:pic>
        <p:nvPicPr>
          <p:cNvPr id="80" name="Google Shape;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6" y="906225"/>
            <a:ext cx="826100" cy="12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</a:t>
            </a:r>
            <a:endParaRPr/>
          </a:p>
        </p:txBody>
      </p:sp>
      <p:sp>
        <p:nvSpPr>
          <p:cNvPr id="86" name="Google Shape;86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⏵"/>
            </a:pPr>
            <a:r>
              <a:rPr b="1" lang="en-GB" sz="1800"/>
              <a:t>Determinarea de drumuri minime / distanțe - numeroase aplicații</a:t>
            </a:r>
            <a:endParaRPr b="1" sz="1800"/>
          </a:p>
          <a:p>
            <a:pPr indent="-317500" lvl="1" marL="885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probleme de rutare</a:t>
            </a:r>
            <a:endParaRPr sz="1600"/>
          </a:p>
          <a:p>
            <a:pPr indent="-317500" lvl="1" marL="885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robotică</a:t>
            </a:r>
            <a:endParaRPr sz="1600"/>
          </a:p>
          <a:p>
            <a:pPr indent="-330200" lvl="1" marL="885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procesarea imaginilor</a:t>
            </a:r>
            <a:endParaRPr sz="1600"/>
          </a:p>
          <a:p>
            <a:pPr indent="-330200" lvl="1" marL="885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strategii jocuri</a:t>
            </a:r>
            <a:endParaRPr sz="1600"/>
          </a:p>
          <a:p>
            <a:pPr indent="-330200" lvl="1" marL="8856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○"/>
            </a:pPr>
            <a:r>
              <a:rPr lang="en-GB" sz="1600"/>
              <a:t>probleme de planificare (drumuri critice)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Cadru</a:t>
            </a:r>
            <a:endParaRPr/>
          </a:p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Fie: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G - un graf </a:t>
            </a:r>
            <a:r>
              <a:rPr b="1" lang="en-GB">
                <a:solidFill>
                  <a:srgbClr val="CC0000"/>
                </a:solidFill>
              </a:rPr>
              <a:t>orientat </a:t>
            </a:r>
            <a:r>
              <a:rPr b="1" lang="en-GB"/>
              <a:t>ponderat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P - un drum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1"/>
          </a:p>
        </p:txBody>
      </p:sp>
      <p:pic>
        <p:nvPicPr>
          <p:cNvPr descr="w(P) = \sum_{e \in E(P)} w(e)" id="93" name="Google Shape;93;p4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9313" y="2380850"/>
            <a:ext cx="2545376" cy="3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2470950" y="2861700"/>
            <a:ext cx="420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costul / ponderea / lungimea drumului P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Cadru</a:t>
            </a:r>
            <a:endParaRPr/>
          </a:p>
        </p:txBody>
      </p:sp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Fie: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G - un graf </a:t>
            </a:r>
            <a:r>
              <a:rPr b="1" lang="en-GB">
                <a:solidFill>
                  <a:srgbClr val="CC0000"/>
                </a:solidFill>
              </a:rPr>
              <a:t>orientat </a:t>
            </a:r>
            <a:r>
              <a:rPr b="1" lang="en-GB"/>
              <a:t>ponderat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>
                <a:solidFill>
                  <a:srgbClr val="CC0000"/>
                </a:solidFill>
              </a:rPr>
              <a:t>Presupunem că G nu conține circuite de pondere negativă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Cadru</a:t>
            </a:r>
            <a:endParaRPr/>
          </a:p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Fie s, v ∈ V, s ≠ v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Distanța de la s la v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aseline="-25000" lang="en-GB" sz="1600"/>
              <a:t>G</a:t>
            </a:r>
            <a:r>
              <a:rPr lang="en-GB" sz="1600"/>
              <a:t>(s, v) = min { w(P) | P este drum de la s la v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Cadru</a:t>
            </a:r>
            <a:endParaRPr/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Fie s, v ∈ V, s ≠ v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Distanța de la s la v</a:t>
            </a:r>
            <a:endParaRPr b="1"/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aseline="-25000" lang="en-GB" sz="1600"/>
              <a:t>G</a:t>
            </a:r>
            <a:r>
              <a:rPr lang="en-GB" sz="1600"/>
              <a:t>(s, v) = min { w(P) | P este drum de la s la v }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aseline="-25000" lang="en-GB" sz="1600"/>
              <a:t>G</a:t>
            </a:r>
            <a:r>
              <a:rPr lang="en-GB" sz="1600"/>
              <a:t>(s, s) = 0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Convenție:   min ∅ = ∞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Un drum P de la s la v se numește drum minim de la s la v dacă   w(P) =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G</a:t>
            </a:r>
            <a:r>
              <a:rPr b="0" lang="en-GB"/>
              <a:t>(s, v)</a:t>
            </a:r>
            <a:endParaRPr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grpSp>
        <p:nvGrpSpPr>
          <p:cNvPr id="118" name="Google Shape;118;p8"/>
          <p:cNvGrpSpPr/>
          <p:nvPr/>
        </p:nvGrpSpPr>
        <p:grpSpPr>
          <a:xfrm>
            <a:off x="1230450" y="1240375"/>
            <a:ext cx="3175700" cy="3130750"/>
            <a:chOff x="1230450" y="1240375"/>
            <a:chExt cx="3175700" cy="3130750"/>
          </a:xfrm>
        </p:grpSpPr>
        <p:sp>
          <p:nvSpPr>
            <p:cNvPr id="119" name="Google Shape;119;p8"/>
            <p:cNvSpPr/>
            <p:nvPr/>
          </p:nvSpPr>
          <p:spPr>
            <a:xfrm>
              <a:off x="2106600" y="1240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1230450" y="2391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2534750" y="2031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3724625" y="3593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1876050" y="3593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3839050" y="2282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" name="Google Shape;125;p8"/>
            <p:cNvCxnSpPr>
              <a:stCxn id="119" idx="3"/>
              <a:endCxn id="120" idx="7"/>
            </p:cNvCxnSpPr>
            <p:nvPr/>
          </p:nvCxnSpPr>
          <p:spPr>
            <a:xfrm flipH="1">
              <a:off x="1537721" y="1547654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26" name="Google Shape;126;p8"/>
            <p:cNvCxnSpPr>
              <a:stCxn id="119" idx="6"/>
              <a:endCxn id="124" idx="1"/>
            </p:cNvCxnSpPr>
            <p:nvPr/>
          </p:nvCxnSpPr>
          <p:spPr>
            <a:xfrm>
              <a:off x="2466600" y="1420375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27" name="Google Shape;127;p8"/>
            <p:cNvCxnSpPr>
              <a:stCxn id="120" idx="6"/>
              <a:endCxn id="121" idx="2"/>
            </p:cNvCxnSpPr>
            <p:nvPr/>
          </p:nvCxnSpPr>
          <p:spPr>
            <a:xfrm flipH="1" rot="10800000">
              <a:off x="1590450" y="2211650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128" name="Google Shape;128;p8"/>
            <p:cNvCxnSpPr>
              <a:endCxn id="124" idx="2"/>
            </p:cNvCxnSpPr>
            <p:nvPr/>
          </p:nvCxnSpPr>
          <p:spPr>
            <a:xfrm>
              <a:off x="2894650" y="2211500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129" name="Google Shape;129;p8"/>
            <p:cNvCxnSpPr>
              <a:stCxn id="120" idx="5"/>
            </p:cNvCxnSpPr>
            <p:nvPr/>
          </p:nvCxnSpPr>
          <p:spPr>
            <a:xfrm>
              <a:off x="1537729" y="269892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8"/>
            <p:cNvCxnSpPr>
              <a:stCxn id="120" idx="4"/>
              <a:endCxn id="123" idx="1"/>
            </p:cNvCxnSpPr>
            <p:nvPr/>
          </p:nvCxnSpPr>
          <p:spPr>
            <a:xfrm>
              <a:off x="1410450" y="2751650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31" name="Google Shape;131;p8"/>
            <p:cNvCxnSpPr/>
            <p:nvPr/>
          </p:nvCxnSpPr>
          <p:spPr>
            <a:xfrm>
              <a:off x="1537729" y="2698929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132" name="Google Shape;132;p8"/>
            <p:cNvCxnSpPr>
              <a:stCxn id="123" idx="6"/>
              <a:endCxn id="122" idx="2"/>
            </p:cNvCxnSpPr>
            <p:nvPr/>
          </p:nvCxnSpPr>
          <p:spPr>
            <a:xfrm>
              <a:off x="2236050" y="3773875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133" name="Google Shape;133;p8"/>
            <p:cNvCxnSpPr>
              <a:stCxn id="121" idx="4"/>
              <a:endCxn id="122" idx="1"/>
            </p:cNvCxnSpPr>
            <p:nvPr/>
          </p:nvCxnSpPr>
          <p:spPr>
            <a:xfrm>
              <a:off x="2714750" y="2391650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34" name="Google Shape;134;p8"/>
            <p:cNvCxnSpPr>
              <a:stCxn id="124" idx="4"/>
              <a:endCxn id="122" idx="0"/>
            </p:cNvCxnSpPr>
            <p:nvPr/>
          </p:nvCxnSpPr>
          <p:spPr>
            <a:xfrm flipH="1">
              <a:off x="3904750" y="2642600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35" name="Google Shape;135;p8"/>
            <p:cNvSpPr txBox="1"/>
            <p:nvPr/>
          </p:nvSpPr>
          <p:spPr>
            <a:xfrm>
              <a:off x="1410450" y="16841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8"/>
            <p:cNvSpPr txBox="1"/>
            <p:nvPr/>
          </p:nvSpPr>
          <p:spPr>
            <a:xfrm>
              <a:off x="3150700" y="14976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8"/>
            <p:cNvSpPr txBox="1"/>
            <p:nvPr/>
          </p:nvSpPr>
          <p:spPr>
            <a:xfrm>
              <a:off x="1876050" y="20385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8"/>
            <p:cNvSpPr txBox="1"/>
            <p:nvPr/>
          </p:nvSpPr>
          <p:spPr>
            <a:xfrm>
              <a:off x="3270175" y="22625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8"/>
            <p:cNvSpPr txBox="1"/>
            <p:nvPr/>
          </p:nvSpPr>
          <p:spPr>
            <a:xfrm>
              <a:off x="3973850" y="2873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8"/>
            <p:cNvSpPr txBox="1"/>
            <p:nvPr/>
          </p:nvSpPr>
          <p:spPr>
            <a:xfrm>
              <a:off x="2907888" y="37028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8"/>
            <p:cNvSpPr txBox="1"/>
            <p:nvPr/>
          </p:nvSpPr>
          <p:spPr>
            <a:xfrm>
              <a:off x="2368588" y="2751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8"/>
            <p:cNvSpPr txBox="1"/>
            <p:nvPr/>
          </p:nvSpPr>
          <p:spPr>
            <a:xfrm>
              <a:off x="1361238" y="3058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8"/>
            <p:cNvSpPr txBox="1"/>
            <p:nvPr/>
          </p:nvSpPr>
          <p:spPr>
            <a:xfrm>
              <a:off x="2764188" y="2698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1528750" y="2726125"/>
              <a:ext cx="2191450" cy="986525"/>
            </a:xfrm>
            <a:custGeom>
              <a:rect b="b" l="l" r="r" t="t"/>
              <a:pathLst>
                <a:path extrusionOk="0" h="39461" w="87658">
                  <a:moveTo>
                    <a:pt x="0" y="0"/>
                  </a:moveTo>
                  <a:cubicBezTo>
                    <a:pt x="6075" y="4318"/>
                    <a:pt x="21838" y="19329"/>
                    <a:pt x="36448" y="25906"/>
                  </a:cubicBezTo>
                  <a:cubicBezTo>
                    <a:pt x="51058" y="32483"/>
                    <a:pt x="79123" y="37202"/>
                    <a:pt x="87658" y="3946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8"/>
            <p:cNvSpPr txBox="1"/>
            <p:nvPr/>
          </p:nvSpPr>
          <p:spPr>
            <a:xfrm>
              <a:off x="2155038" y="32591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2153788" y="3888425"/>
              <a:ext cx="1611575" cy="181700"/>
            </a:xfrm>
            <a:custGeom>
              <a:rect b="b" l="l" r="r" t="t"/>
              <a:pathLst>
                <a:path extrusionOk="0" h="7268" w="64463">
                  <a:moveTo>
                    <a:pt x="0" y="904"/>
                  </a:moveTo>
                  <a:cubicBezTo>
                    <a:pt x="5221" y="1958"/>
                    <a:pt x="20584" y="7381"/>
                    <a:pt x="31328" y="7230"/>
                  </a:cubicBezTo>
                  <a:cubicBezTo>
                    <a:pt x="42072" y="7079"/>
                    <a:pt x="58941" y="1205"/>
                    <a:pt x="64463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8"/>
            <p:cNvSpPr txBox="1"/>
            <p:nvPr/>
          </p:nvSpPr>
          <p:spPr>
            <a:xfrm>
              <a:off x="2743425" y="3970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Tipuri de probleme de drumuri minime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între două vârfuri date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de la un vârf la toate celelalte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între oricare două vârfuri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Situații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Sunt acceptate și arce de cost negativ?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Graful conține circuite?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Graful conține circuite de cost negativ?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Observații</a:t>
            </a:r>
            <a:endParaRPr/>
          </a:p>
        </p:txBody>
      </p:sp>
      <p:sp>
        <p:nvSpPr>
          <p:cNvPr id="159" name="Google Shape;159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Observația 1.  </a:t>
            </a:r>
            <a:r>
              <a:rPr b="0" lang="en-GB"/>
              <a:t>Dacă P este un drum minim de la s la v și </a:t>
            </a:r>
            <a:r>
              <a:rPr b="0" lang="en-GB">
                <a:solidFill>
                  <a:srgbClr val="CC0000"/>
                </a:solidFill>
              </a:rPr>
              <a:t>nu există circuite de cost negativ</a:t>
            </a:r>
            <a:r>
              <a:rPr b="0" lang="en-GB"/>
              <a:t>, atunci P este drum elementar.</a:t>
            </a:r>
            <a:endParaRPr b="0"/>
          </a:p>
        </p:txBody>
      </p:sp>
      <p:grpSp>
        <p:nvGrpSpPr>
          <p:cNvPr id="160" name="Google Shape;160;p10"/>
          <p:cNvGrpSpPr/>
          <p:nvPr/>
        </p:nvGrpSpPr>
        <p:grpSpPr>
          <a:xfrm>
            <a:off x="1813275" y="2309596"/>
            <a:ext cx="5599225" cy="543879"/>
            <a:chOff x="1813275" y="2309596"/>
            <a:chExt cx="5599225" cy="543879"/>
          </a:xfrm>
        </p:grpSpPr>
        <p:sp>
          <p:nvSpPr>
            <p:cNvPr id="161" name="Google Shape;161;p10"/>
            <p:cNvSpPr/>
            <p:nvPr/>
          </p:nvSpPr>
          <p:spPr>
            <a:xfrm>
              <a:off x="4160725" y="2419030"/>
              <a:ext cx="1016650" cy="160025"/>
            </a:xfrm>
            <a:custGeom>
              <a:rect b="b" l="l" r="r" t="t"/>
              <a:pathLst>
                <a:path extrusionOk="0" h="6401" w="40666">
                  <a:moveTo>
                    <a:pt x="0" y="6401"/>
                  </a:moveTo>
                  <a:cubicBezTo>
                    <a:pt x="3263" y="5347"/>
                    <a:pt x="12802" y="376"/>
                    <a:pt x="19580" y="75"/>
                  </a:cubicBezTo>
                  <a:cubicBezTo>
                    <a:pt x="26358" y="-226"/>
                    <a:pt x="37152" y="3841"/>
                    <a:pt x="40666" y="4594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1813275" y="23353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3810725" y="24934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5130375" y="24934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7052500" y="23353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2176375" y="2309596"/>
              <a:ext cx="1649250" cy="378875"/>
            </a:xfrm>
            <a:custGeom>
              <a:rect b="b" l="l" r="r" t="t"/>
              <a:pathLst>
                <a:path extrusionOk="0" h="15155" w="65970">
                  <a:moveTo>
                    <a:pt x="0" y="7323"/>
                  </a:moveTo>
                  <a:cubicBezTo>
                    <a:pt x="4970" y="6118"/>
                    <a:pt x="21488" y="-659"/>
                    <a:pt x="29822" y="94"/>
                  </a:cubicBezTo>
                  <a:cubicBezTo>
                    <a:pt x="38156" y="847"/>
                    <a:pt x="43980" y="9332"/>
                    <a:pt x="50005" y="11842"/>
                  </a:cubicBezTo>
                  <a:cubicBezTo>
                    <a:pt x="56030" y="14352"/>
                    <a:pt x="63309" y="14603"/>
                    <a:pt x="65970" y="15155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4156975" y="2430543"/>
              <a:ext cx="1016650" cy="160025"/>
            </a:xfrm>
            <a:custGeom>
              <a:rect b="b" l="l" r="r" t="t"/>
              <a:pathLst>
                <a:path extrusionOk="0" h="6401" w="40666">
                  <a:moveTo>
                    <a:pt x="0" y="6401"/>
                  </a:moveTo>
                  <a:cubicBezTo>
                    <a:pt x="3263" y="5347"/>
                    <a:pt x="12802" y="376"/>
                    <a:pt x="19580" y="75"/>
                  </a:cubicBezTo>
                  <a:cubicBezTo>
                    <a:pt x="26358" y="-226"/>
                    <a:pt x="37152" y="3841"/>
                    <a:pt x="40666" y="459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5512500" y="2466328"/>
              <a:ext cx="1536275" cy="284450"/>
            </a:xfrm>
            <a:custGeom>
              <a:rect b="b" l="l" r="r" t="t"/>
              <a:pathLst>
                <a:path extrusionOk="0" h="11378" w="61451">
                  <a:moveTo>
                    <a:pt x="0" y="8585"/>
                  </a:moveTo>
                  <a:cubicBezTo>
                    <a:pt x="2360" y="8987"/>
                    <a:pt x="8384" y="12351"/>
                    <a:pt x="14158" y="10995"/>
                  </a:cubicBezTo>
                  <a:cubicBezTo>
                    <a:pt x="19932" y="9640"/>
                    <a:pt x="26760" y="1908"/>
                    <a:pt x="34642" y="452"/>
                  </a:cubicBezTo>
                  <a:cubicBezTo>
                    <a:pt x="42524" y="-1004"/>
                    <a:pt x="56983" y="1958"/>
                    <a:pt x="61451" y="22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10"/>
          <p:cNvSpPr/>
          <p:nvPr/>
        </p:nvSpPr>
        <p:spPr>
          <a:xfrm rot="5400000">
            <a:off x="4315050" y="3138924"/>
            <a:ext cx="708000" cy="13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p10"/>
          <p:cNvGrpSpPr/>
          <p:nvPr/>
        </p:nvGrpSpPr>
        <p:grpSpPr>
          <a:xfrm>
            <a:off x="2214175" y="3858325"/>
            <a:ext cx="4657875" cy="465450"/>
            <a:chOff x="2214175" y="3858325"/>
            <a:chExt cx="4657875" cy="465450"/>
          </a:xfrm>
        </p:grpSpPr>
        <p:sp>
          <p:nvSpPr>
            <p:cNvPr id="171" name="Google Shape;171;p10"/>
            <p:cNvSpPr/>
            <p:nvPr/>
          </p:nvSpPr>
          <p:spPr>
            <a:xfrm>
              <a:off x="2214175" y="38583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4489050" y="39637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6512050" y="38583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2590575" y="4024243"/>
              <a:ext cx="1890225" cy="231725"/>
            </a:xfrm>
            <a:custGeom>
              <a:rect b="b" l="l" r="r" t="t"/>
              <a:pathLst>
                <a:path extrusionOk="0" h="9269" w="75609">
                  <a:moveTo>
                    <a:pt x="0" y="2297"/>
                  </a:moveTo>
                  <a:cubicBezTo>
                    <a:pt x="3866" y="3452"/>
                    <a:pt x="15464" y="9577"/>
                    <a:pt x="23195" y="9225"/>
                  </a:cubicBezTo>
                  <a:cubicBezTo>
                    <a:pt x="30927" y="8874"/>
                    <a:pt x="38658" y="941"/>
                    <a:pt x="46389" y="188"/>
                  </a:cubicBezTo>
                  <a:cubicBezTo>
                    <a:pt x="54121" y="-565"/>
                    <a:pt x="64714" y="4053"/>
                    <a:pt x="69584" y="4706"/>
                  </a:cubicBezTo>
                  <a:cubicBezTo>
                    <a:pt x="74454" y="5359"/>
                    <a:pt x="74605" y="4204"/>
                    <a:pt x="75609" y="410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4849800" y="4051550"/>
              <a:ext cx="1664300" cy="193750"/>
            </a:xfrm>
            <a:custGeom>
              <a:rect b="b" l="l" r="r" t="t"/>
              <a:pathLst>
                <a:path extrusionOk="0" h="7750" w="66572">
                  <a:moveTo>
                    <a:pt x="0" y="2711"/>
                  </a:moveTo>
                  <a:cubicBezTo>
                    <a:pt x="1757" y="2410"/>
                    <a:pt x="5422" y="100"/>
                    <a:pt x="10543" y="903"/>
                  </a:cubicBezTo>
                  <a:cubicBezTo>
                    <a:pt x="15664" y="1706"/>
                    <a:pt x="24801" y="6777"/>
                    <a:pt x="30725" y="7530"/>
                  </a:cubicBezTo>
                  <a:cubicBezTo>
                    <a:pt x="36649" y="8283"/>
                    <a:pt x="41319" y="6527"/>
                    <a:pt x="46088" y="5422"/>
                  </a:cubicBezTo>
                  <a:cubicBezTo>
                    <a:pt x="50858" y="4318"/>
                    <a:pt x="55928" y="1807"/>
                    <a:pt x="59342" y="903"/>
                  </a:cubicBezTo>
                  <a:cubicBezTo>
                    <a:pt x="62756" y="-1"/>
                    <a:pt x="65367" y="151"/>
                    <a:pt x="66572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Observații</a:t>
            </a:r>
            <a:endParaRPr/>
          </a:p>
        </p:txBody>
      </p:sp>
      <p:sp>
        <p:nvSpPr>
          <p:cNvPr id="181" name="Google Shape;181;p1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Observația 2.  </a:t>
            </a:r>
            <a:r>
              <a:rPr b="0" lang="en-GB"/>
              <a:t>Dacă P este un drum minim de la s la u și z este un vârf al lui P, atunci subdrumul lui P de la s la z este drum minim de la s la z.</a:t>
            </a:r>
            <a:endParaRPr b="0"/>
          </a:p>
        </p:txBody>
      </p:sp>
      <p:grpSp>
        <p:nvGrpSpPr>
          <p:cNvPr id="182" name="Google Shape;182;p11"/>
          <p:cNvGrpSpPr/>
          <p:nvPr/>
        </p:nvGrpSpPr>
        <p:grpSpPr>
          <a:xfrm>
            <a:off x="2243063" y="2254275"/>
            <a:ext cx="4657875" cy="465450"/>
            <a:chOff x="2243063" y="2254275"/>
            <a:chExt cx="4657875" cy="465450"/>
          </a:xfrm>
        </p:grpSpPr>
        <p:sp>
          <p:nvSpPr>
            <p:cNvPr id="183" name="Google Shape;183;p11"/>
            <p:cNvSpPr/>
            <p:nvPr/>
          </p:nvSpPr>
          <p:spPr>
            <a:xfrm>
              <a:off x="2243063" y="22542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4517938" y="23597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6540938" y="22542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619463" y="2420193"/>
              <a:ext cx="1890225" cy="231725"/>
            </a:xfrm>
            <a:custGeom>
              <a:rect b="b" l="l" r="r" t="t"/>
              <a:pathLst>
                <a:path extrusionOk="0" h="9269" w="75609">
                  <a:moveTo>
                    <a:pt x="0" y="2297"/>
                  </a:moveTo>
                  <a:cubicBezTo>
                    <a:pt x="3866" y="3452"/>
                    <a:pt x="15464" y="9577"/>
                    <a:pt x="23195" y="9225"/>
                  </a:cubicBezTo>
                  <a:cubicBezTo>
                    <a:pt x="30927" y="8874"/>
                    <a:pt x="38658" y="941"/>
                    <a:pt x="46389" y="188"/>
                  </a:cubicBezTo>
                  <a:cubicBezTo>
                    <a:pt x="54121" y="-565"/>
                    <a:pt x="64714" y="4053"/>
                    <a:pt x="69584" y="4706"/>
                  </a:cubicBezTo>
                  <a:cubicBezTo>
                    <a:pt x="74454" y="5359"/>
                    <a:pt x="74605" y="4204"/>
                    <a:pt x="75609" y="410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4878688" y="2447500"/>
              <a:ext cx="1664300" cy="193750"/>
            </a:xfrm>
            <a:custGeom>
              <a:rect b="b" l="l" r="r" t="t"/>
              <a:pathLst>
                <a:path extrusionOk="0" h="7750" w="66572">
                  <a:moveTo>
                    <a:pt x="0" y="2711"/>
                  </a:moveTo>
                  <a:cubicBezTo>
                    <a:pt x="1757" y="2410"/>
                    <a:pt x="5422" y="100"/>
                    <a:pt x="10543" y="903"/>
                  </a:cubicBezTo>
                  <a:cubicBezTo>
                    <a:pt x="15664" y="1706"/>
                    <a:pt x="24801" y="6777"/>
                    <a:pt x="30725" y="7530"/>
                  </a:cubicBezTo>
                  <a:cubicBezTo>
                    <a:pt x="36649" y="8283"/>
                    <a:pt x="41319" y="6527"/>
                    <a:pt x="46088" y="5422"/>
                  </a:cubicBezTo>
                  <a:cubicBezTo>
                    <a:pt x="50858" y="4318"/>
                    <a:pt x="55928" y="1807"/>
                    <a:pt x="59342" y="903"/>
                  </a:cubicBezTo>
                  <a:cubicBezTo>
                    <a:pt x="62756" y="-1"/>
                    <a:pt x="65367" y="151"/>
                    <a:pt x="66572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11"/>
          <p:cNvSpPr/>
          <p:nvPr/>
        </p:nvSpPr>
        <p:spPr>
          <a:xfrm rot="-5400000">
            <a:off x="3494325" y="1980525"/>
            <a:ext cx="158100" cy="202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2975400" y="3072525"/>
            <a:ext cx="159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 minim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Observații</a:t>
            </a:r>
            <a:endParaRPr/>
          </a:p>
        </p:txBody>
      </p:sp>
      <p:sp>
        <p:nvSpPr>
          <p:cNvPr id="195" name="Google Shape;195;p1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196" name="Google Shape;196;p12"/>
          <p:cNvGrpSpPr/>
          <p:nvPr/>
        </p:nvGrpSpPr>
        <p:grpSpPr>
          <a:xfrm>
            <a:off x="1772388" y="1970721"/>
            <a:ext cx="5599225" cy="543879"/>
            <a:chOff x="1772388" y="1970721"/>
            <a:chExt cx="5599225" cy="543879"/>
          </a:xfrm>
        </p:grpSpPr>
        <p:sp>
          <p:nvSpPr>
            <p:cNvPr id="197" name="Google Shape;197;p12"/>
            <p:cNvSpPr/>
            <p:nvPr/>
          </p:nvSpPr>
          <p:spPr>
            <a:xfrm>
              <a:off x="1772388" y="19964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3769838" y="2154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5089488" y="2154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7011613" y="19964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2135488" y="1970721"/>
              <a:ext cx="1649250" cy="378875"/>
            </a:xfrm>
            <a:custGeom>
              <a:rect b="b" l="l" r="r" t="t"/>
              <a:pathLst>
                <a:path extrusionOk="0" h="15155" w="65970">
                  <a:moveTo>
                    <a:pt x="0" y="7323"/>
                  </a:moveTo>
                  <a:cubicBezTo>
                    <a:pt x="4970" y="6118"/>
                    <a:pt x="21488" y="-659"/>
                    <a:pt x="29822" y="94"/>
                  </a:cubicBezTo>
                  <a:cubicBezTo>
                    <a:pt x="38156" y="847"/>
                    <a:pt x="43980" y="9332"/>
                    <a:pt x="50005" y="11842"/>
                  </a:cubicBezTo>
                  <a:cubicBezTo>
                    <a:pt x="56030" y="14352"/>
                    <a:pt x="63309" y="14603"/>
                    <a:pt x="65970" y="15155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4116088" y="2091668"/>
              <a:ext cx="1016650" cy="160025"/>
            </a:xfrm>
            <a:custGeom>
              <a:rect b="b" l="l" r="r" t="t"/>
              <a:pathLst>
                <a:path extrusionOk="0" h="6401" w="40666">
                  <a:moveTo>
                    <a:pt x="0" y="6401"/>
                  </a:moveTo>
                  <a:cubicBezTo>
                    <a:pt x="3263" y="5347"/>
                    <a:pt x="12802" y="376"/>
                    <a:pt x="19580" y="75"/>
                  </a:cubicBezTo>
                  <a:cubicBezTo>
                    <a:pt x="26358" y="-226"/>
                    <a:pt x="37152" y="3841"/>
                    <a:pt x="40666" y="459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5471613" y="2127453"/>
              <a:ext cx="1536275" cy="284450"/>
            </a:xfrm>
            <a:custGeom>
              <a:rect b="b" l="l" r="r" t="t"/>
              <a:pathLst>
                <a:path extrusionOk="0" h="11378" w="61451">
                  <a:moveTo>
                    <a:pt x="0" y="8585"/>
                  </a:moveTo>
                  <a:cubicBezTo>
                    <a:pt x="2360" y="8987"/>
                    <a:pt x="8384" y="12351"/>
                    <a:pt x="14158" y="10995"/>
                  </a:cubicBezTo>
                  <a:cubicBezTo>
                    <a:pt x="19932" y="9640"/>
                    <a:pt x="26760" y="1908"/>
                    <a:pt x="34642" y="452"/>
                  </a:cubicBezTo>
                  <a:cubicBezTo>
                    <a:pt x="42524" y="-1004"/>
                    <a:pt x="56983" y="1958"/>
                    <a:pt x="61451" y="22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12"/>
          <p:cNvSpPr/>
          <p:nvPr/>
        </p:nvSpPr>
        <p:spPr>
          <a:xfrm rot="-5400000">
            <a:off x="4545375" y="2012175"/>
            <a:ext cx="158100" cy="1353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3981296" y="2767725"/>
            <a:ext cx="14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 minim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type="ctrTitle"/>
          </p:nvPr>
        </p:nvSpPr>
        <p:spPr>
          <a:xfrm>
            <a:off x="719350" y="531725"/>
            <a:ext cx="6066600" cy="16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la un vârf s dat la celelalte vârfuri (de sursă unică)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Problemă</a:t>
            </a:r>
            <a:endParaRPr/>
          </a:p>
        </p:txBody>
      </p:sp>
      <p:sp>
        <p:nvSpPr>
          <p:cNvPr id="216" name="Google Shape;216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Problema drumurilor minime de </a:t>
            </a:r>
            <a:r>
              <a:rPr b="1" lang="en-GB" u="sng"/>
              <a:t>sursă unică</a:t>
            </a:r>
            <a:r>
              <a:rPr b="1" lang="en-GB"/>
              <a:t> (de la s la celelalte vârfuri)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 dau: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un graf </a:t>
            </a:r>
            <a:r>
              <a:rPr b="1" lang="en-GB">
                <a:solidFill>
                  <a:srgbClr val="CC0000"/>
                </a:solidFill>
              </a:rPr>
              <a:t>orientat </a:t>
            </a:r>
            <a:r>
              <a:rPr lang="en-GB"/>
              <a:t>ponderat G = (V, E, w) cu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</a:t>
            </a:r>
            <a:r>
              <a:rPr b="0" lang="en-GB"/>
              <a:t>w : E → ℝ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un vârf de start </a:t>
            </a:r>
            <a:r>
              <a:rPr b="1" lang="en-GB">
                <a:solidFill>
                  <a:srgbClr val="CC0000"/>
                </a:solidFill>
              </a:rPr>
              <a:t>s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Să se determine distanța de la s la fiecare vârf x al lui G / la un vârf dat t (și un arbore al distanțelor față de s / un drum minim de la s la t).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minime de sursă unică s</a:t>
            </a:r>
            <a:endParaRPr/>
          </a:p>
        </p:txBody>
      </p:sp>
      <p:sp>
        <p:nvSpPr>
          <p:cNvPr id="222" name="Google Shape;222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Dacă G </a:t>
            </a:r>
            <a:r>
              <a:rPr b="1" lang="en-GB" u="sng">
                <a:solidFill>
                  <a:srgbClr val="CC0000"/>
                </a:solidFill>
              </a:rPr>
              <a:t>nu</a:t>
            </a:r>
            <a:r>
              <a:rPr b="1" lang="en-GB">
                <a:solidFill>
                  <a:srgbClr val="CC0000"/>
                </a:solidFill>
              </a:rPr>
              <a:t> </a:t>
            </a:r>
            <a:r>
              <a:rPr b="1" lang="en-GB"/>
              <a:t>este ponderat, cum putem calcula distanțele față de s?</a:t>
            </a:r>
            <a:endParaRPr b="1"/>
          </a:p>
        </p:txBody>
      </p:sp>
      <p:pic>
        <p:nvPicPr>
          <p:cNvPr id="223" name="Google Shape;2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6" y="906225"/>
            <a:ext cx="826100" cy="12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minime de sursă unică s</a:t>
            </a:r>
            <a:endParaRPr/>
          </a:p>
        </p:txBody>
      </p:sp>
      <p:sp>
        <p:nvSpPr>
          <p:cNvPr id="229" name="Google Shape;229;p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Amintim</a:t>
            </a:r>
            <a:endParaRPr b="1"/>
          </a:p>
          <a:p>
            <a:pPr indent="0" lvl="0" marL="450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</a:rPr>
              <a:t>În cazul unui graf neponderat, problema se rezolvă folosind parcurgerea BF din s</a:t>
            </a:r>
            <a:endParaRPr b="1">
              <a:solidFill>
                <a:srgbClr val="CC0000"/>
              </a:solidFill>
            </a:endParaRPr>
          </a:p>
          <a:p>
            <a:pPr indent="7198" lvl="0" marL="450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⇒ arborele BF (al distanțelor față de s)</a:t>
            </a:r>
            <a:endParaRPr b="1"/>
          </a:p>
        </p:txBody>
      </p:sp>
      <p:grpSp>
        <p:nvGrpSpPr>
          <p:cNvPr id="230" name="Google Shape;230;p16"/>
          <p:cNvGrpSpPr/>
          <p:nvPr/>
        </p:nvGrpSpPr>
        <p:grpSpPr>
          <a:xfrm>
            <a:off x="634850" y="2391750"/>
            <a:ext cx="3577000" cy="2068250"/>
            <a:chOff x="634850" y="2391750"/>
            <a:chExt cx="3577000" cy="2068250"/>
          </a:xfrm>
        </p:grpSpPr>
        <p:sp>
          <p:nvSpPr>
            <p:cNvPr id="231" name="Google Shape;231;p16"/>
            <p:cNvSpPr/>
            <p:nvPr/>
          </p:nvSpPr>
          <p:spPr>
            <a:xfrm>
              <a:off x="1638600" y="2391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1638600" y="3245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1638600" y="41000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634850" y="41000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2745225" y="2391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2745225" y="3245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2745225" y="41000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3851850" y="2751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3851850" y="36424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0" name="Google Shape;240;p16"/>
            <p:cNvCxnSpPr>
              <a:stCxn id="231" idx="4"/>
              <a:endCxn id="232" idx="0"/>
            </p:cNvCxnSpPr>
            <p:nvPr/>
          </p:nvCxnSpPr>
          <p:spPr>
            <a:xfrm>
              <a:off x="1818600" y="2751750"/>
              <a:ext cx="0" cy="49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16"/>
            <p:cNvCxnSpPr>
              <a:stCxn id="232" idx="4"/>
              <a:endCxn id="233" idx="0"/>
            </p:cNvCxnSpPr>
            <p:nvPr/>
          </p:nvCxnSpPr>
          <p:spPr>
            <a:xfrm>
              <a:off x="1818600" y="3605875"/>
              <a:ext cx="0" cy="49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16"/>
            <p:cNvCxnSpPr>
              <a:stCxn id="233" idx="2"/>
              <a:endCxn id="234" idx="6"/>
            </p:cNvCxnSpPr>
            <p:nvPr/>
          </p:nvCxnSpPr>
          <p:spPr>
            <a:xfrm rot="10800000">
              <a:off x="994800" y="4280000"/>
              <a:ext cx="643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16"/>
            <p:cNvCxnSpPr>
              <a:stCxn id="233" idx="6"/>
              <a:endCxn id="237" idx="2"/>
            </p:cNvCxnSpPr>
            <p:nvPr/>
          </p:nvCxnSpPr>
          <p:spPr>
            <a:xfrm>
              <a:off x="1998600" y="4280000"/>
              <a:ext cx="7467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16"/>
            <p:cNvCxnSpPr>
              <a:stCxn id="232" idx="6"/>
              <a:endCxn id="236" idx="2"/>
            </p:cNvCxnSpPr>
            <p:nvPr/>
          </p:nvCxnSpPr>
          <p:spPr>
            <a:xfrm>
              <a:off x="1998600" y="3425875"/>
              <a:ext cx="7467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16"/>
            <p:cNvCxnSpPr>
              <a:stCxn id="236" idx="4"/>
              <a:endCxn id="237" idx="0"/>
            </p:cNvCxnSpPr>
            <p:nvPr/>
          </p:nvCxnSpPr>
          <p:spPr>
            <a:xfrm>
              <a:off x="2925225" y="3605875"/>
              <a:ext cx="0" cy="49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6"/>
            <p:cNvCxnSpPr>
              <a:stCxn id="235" idx="4"/>
              <a:endCxn id="236" idx="0"/>
            </p:cNvCxnSpPr>
            <p:nvPr/>
          </p:nvCxnSpPr>
          <p:spPr>
            <a:xfrm>
              <a:off x="2925225" y="2751750"/>
              <a:ext cx="0" cy="49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16"/>
            <p:cNvCxnSpPr>
              <a:stCxn id="236" idx="7"/>
              <a:endCxn id="238" idx="2"/>
            </p:cNvCxnSpPr>
            <p:nvPr/>
          </p:nvCxnSpPr>
          <p:spPr>
            <a:xfrm flipH="1" rot="10800000">
              <a:off x="3052504" y="2931696"/>
              <a:ext cx="799200" cy="36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16"/>
            <p:cNvCxnSpPr>
              <a:stCxn id="238" idx="4"/>
              <a:endCxn id="239" idx="0"/>
            </p:cNvCxnSpPr>
            <p:nvPr/>
          </p:nvCxnSpPr>
          <p:spPr>
            <a:xfrm>
              <a:off x="4031850" y="3111750"/>
              <a:ext cx="0" cy="53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16"/>
            <p:cNvCxnSpPr>
              <a:stCxn id="236" idx="5"/>
              <a:endCxn id="239" idx="2"/>
            </p:cNvCxnSpPr>
            <p:nvPr/>
          </p:nvCxnSpPr>
          <p:spPr>
            <a:xfrm>
              <a:off x="3052504" y="3553154"/>
              <a:ext cx="799200" cy="269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0" name="Google Shape;250;p16"/>
          <p:cNvSpPr/>
          <p:nvPr/>
        </p:nvSpPr>
        <p:spPr>
          <a:xfrm>
            <a:off x="4572000" y="3308549"/>
            <a:ext cx="708000" cy="13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16"/>
          <p:cNvGrpSpPr/>
          <p:nvPr/>
        </p:nvGrpSpPr>
        <p:grpSpPr>
          <a:xfrm>
            <a:off x="5923875" y="2391750"/>
            <a:ext cx="2808975" cy="1988625"/>
            <a:chOff x="5923875" y="2391750"/>
            <a:chExt cx="2808975" cy="1988625"/>
          </a:xfrm>
        </p:grpSpPr>
        <p:sp>
          <p:nvSpPr>
            <p:cNvPr id="252" name="Google Shape;252;p16"/>
            <p:cNvSpPr/>
            <p:nvPr/>
          </p:nvSpPr>
          <p:spPr>
            <a:xfrm>
              <a:off x="7024100" y="23917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764325" y="3085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024100" y="3085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6283875" y="3085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5923875" y="4020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6643875" y="4020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8372850" y="4020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7843400" y="4020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7313950" y="4020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1" name="Google Shape;261;p16"/>
            <p:cNvCxnSpPr>
              <a:stCxn id="252" idx="3"/>
              <a:endCxn id="255" idx="0"/>
            </p:cNvCxnSpPr>
            <p:nvPr/>
          </p:nvCxnSpPr>
          <p:spPr>
            <a:xfrm flipH="1">
              <a:off x="6463921" y="2699029"/>
              <a:ext cx="612900" cy="38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2" name="Google Shape;262;p16"/>
            <p:cNvCxnSpPr>
              <a:stCxn id="252" idx="4"/>
              <a:endCxn id="254" idx="0"/>
            </p:cNvCxnSpPr>
            <p:nvPr/>
          </p:nvCxnSpPr>
          <p:spPr>
            <a:xfrm>
              <a:off x="7204100" y="2751750"/>
              <a:ext cx="0" cy="33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3" name="Google Shape;263;p16"/>
            <p:cNvCxnSpPr>
              <a:stCxn id="252" idx="5"/>
              <a:endCxn id="253" idx="0"/>
            </p:cNvCxnSpPr>
            <p:nvPr/>
          </p:nvCxnSpPr>
          <p:spPr>
            <a:xfrm>
              <a:off x="7331379" y="2699029"/>
              <a:ext cx="612900" cy="38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16"/>
            <p:cNvCxnSpPr>
              <a:stCxn id="255" idx="3"/>
              <a:endCxn id="256" idx="0"/>
            </p:cNvCxnSpPr>
            <p:nvPr/>
          </p:nvCxnSpPr>
          <p:spPr>
            <a:xfrm flipH="1">
              <a:off x="6103796" y="3392929"/>
              <a:ext cx="232800" cy="627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16"/>
            <p:cNvCxnSpPr>
              <a:stCxn id="255" idx="5"/>
              <a:endCxn id="257" idx="0"/>
            </p:cNvCxnSpPr>
            <p:nvPr/>
          </p:nvCxnSpPr>
          <p:spPr>
            <a:xfrm>
              <a:off x="6591154" y="3392929"/>
              <a:ext cx="232800" cy="627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p16"/>
            <p:cNvCxnSpPr>
              <a:stCxn id="253" idx="3"/>
              <a:endCxn id="260" idx="0"/>
            </p:cNvCxnSpPr>
            <p:nvPr/>
          </p:nvCxnSpPr>
          <p:spPr>
            <a:xfrm flipH="1">
              <a:off x="7493946" y="3392929"/>
              <a:ext cx="323100" cy="627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16"/>
            <p:cNvCxnSpPr>
              <a:stCxn id="253" idx="4"/>
              <a:endCxn id="259" idx="0"/>
            </p:cNvCxnSpPr>
            <p:nvPr/>
          </p:nvCxnSpPr>
          <p:spPr>
            <a:xfrm>
              <a:off x="7944325" y="3445650"/>
              <a:ext cx="79200" cy="57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16"/>
            <p:cNvCxnSpPr>
              <a:stCxn id="253" idx="5"/>
              <a:endCxn id="258" idx="0"/>
            </p:cNvCxnSpPr>
            <p:nvPr/>
          </p:nvCxnSpPr>
          <p:spPr>
            <a:xfrm>
              <a:off x="8071604" y="3392929"/>
              <a:ext cx="481200" cy="627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69" name="Google Shape;269;p16"/>
          <p:cNvSpPr txBox="1"/>
          <p:nvPr/>
        </p:nvSpPr>
        <p:spPr>
          <a:xfrm>
            <a:off x="6594259" y="4460000"/>
            <a:ext cx="14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arborele BF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grpSp>
        <p:nvGrpSpPr>
          <p:cNvPr id="275" name="Google Shape;275;p17"/>
          <p:cNvGrpSpPr/>
          <p:nvPr/>
        </p:nvGrpSpPr>
        <p:grpSpPr>
          <a:xfrm>
            <a:off x="311700" y="1532375"/>
            <a:ext cx="3175700" cy="3130750"/>
            <a:chOff x="311700" y="1532375"/>
            <a:chExt cx="3175700" cy="3130750"/>
          </a:xfrm>
        </p:grpSpPr>
        <p:sp>
          <p:nvSpPr>
            <p:cNvPr id="276" name="Google Shape;276;p17"/>
            <p:cNvSpPr/>
            <p:nvPr/>
          </p:nvSpPr>
          <p:spPr>
            <a:xfrm>
              <a:off x="1187850" y="15323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7"/>
            <p:cNvSpPr/>
            <p:nvPr/>
          </p:nvSpPr>
          <p:spPr>
            <a:xfrm>
              <a:off x="311700" y="2683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1616000" y="2323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2805875" y="3885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957300" y="3885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2920300" y="2574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" name="Google Shape;282;p17"/>
            <p:cNvCxnSpPr>
              <a:stCxn id="276" idx="3"/>
              <a:endCxn id="277" idx="7"/>
            </p:cNvCxnSpPr>
            <p:nvPr/>
          </p:nvCxnSpPr>
          <p:spPr>
            <a:xfrm flipH="1">
              <a:off x="618971" y="1839654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83" name="Google Shape;283;p17"/>
            <p:cNvCxnSpPr>
              <a:stCxn id="276" idx="6"/>
              <a:endCxn id="281" idx="1"/>
            </p:cNvCxnSpPr>
            <p:nvPr/>
          </p:nvCxnSpPr>
          <p:spPr>
            <a:xfrm>
              <a:off x="1547850" y="1712375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84" name="Google Shape;284;p17"/>
            <p:cNvCxnSpPr>
              <a:stCxn id="277" idx="6"/>
              <a:endCxn id="278" idx="2"/>
            </p:cNvCxnSpPr>
            <p:nvPr/>
          </p:nvCxnSpPr>
          <p:spPr>
            <a:xfrm flipH="1" rot="10800000">
              <a:off x="671700" y="2503650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85" name="Google Shape;285;p17"/>
            <p:cNvCxnSpPr>
              <a:endCxn id="281" idx="2"/>
            </p:cNvCxnSpPr>
            <p:nvPr/>
          </p:nvCxnSpPr>
          <p:spPr>
            <a:xfrm>
              <a:off x="1975900" y="2503500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86" name="Google Shape;286;p17"/>
            <p:cNvCxnSpPr>
              <a:stCxn id="277" idx="5"/>
            </p:cNvCxnSpPr>
            <p:nvPr/>
          </p:nvCxnSpPr>
          <p:spPr>
            <a:xfrm>
              <a:off x="618979" y="299092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7" name="Google Shape;287;p17"/>
            <p:cNvCxnSpPr>
              <a:stCxn id="277" idx="4"/>
              <a:endCxn id="280" idx="1"/>
            </p:cNvCxnSpPr>
            <p:nvPr/>
          </p:nvCxnSpPr>
          <p:spPr>
            <a:xfrm>
              <a:off x="491700" y="3043650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88" name="Google Shape;288;p17"/>
            <p:cNvCxnSpPr/>
            <p:nvPr/>
          </p:nvCxnSpPr>
          <p:spPr>
            <a:xfrm>
              <a:off x="618979" y="2990929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89" name="Google Shape;289;p17"/>
            <p:cNvCxnSpPr>
              <a:stCxn id="280" idx="6"/>
              <a:endCxn id="279" idx="2"/>
            </p:cNvCxnSpPr>
            <p:nvPr/>
          </p:nvCxnSpPr>
          <p:spPr>
            <a:xfrm>
              <a:off x="1317300" y="4065875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290" name="Google Shape;290;p17"/>
            <p:cNvCxnSpPr>
              <a:stCxn id="278" idx="4"/>
              <a:endCxn id="279" idx="1"/>
            </p:cNvCxnSpPr>
            <p:nvPr/>
          </p:nvCxnSpPr>
          <p:spPr>
            <a:xfrm>
              <a:off x="1796000" y="2683650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91" name="Google Shape;291;p17"/>
            <p:cNvCxnSpPr>
              <a:stCxn id="281" idx="4"/>
              <a:endCxn id="279" idx="0"/>
            </p:cNvCxnSpPr>
            <p:nvPr/>
          </p:nvCxnSpPr>
          <p:spPr>
            <a:xfrm flipH="1">
              <a:off x="2986000" y="2934600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92" name="Google Shape;292;p17"/>
            <p:cNvSpPr txBox="1"/>
            <p:nvPr/>
          </p:nvSpPr>
          <p:spPr>
            <a:xfrm>
              <a:off x="491700" y="19761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7"/>
            <p:cNvSpPr txBox="1"/>
            <p:nvPr/>
          </p:nvSpPr>
          <p:spPr>
            <a:xfrm>
              <a:off x="2231950" y="17896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7"/>
            <p:cNvSpPr txBox="1"/>
            <p:nvPr/>
          </p:nvSpPr>
          <p:spPr>
            <a:xfrm>
              <a:off x="957300" y="23305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7"/>
            <p:cNvSpPr txBox="1"/>
            <p:nvPr/>
          </p:nvSpPr>
          <p:spPr>
            <a:xfrm>
              <a:off x="2351425" y="25545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7"/>
            <p:cNvSpPr txBox="1"/>
            <p:nvPr/>
          </p:nvSpPr>
          <p:spPr>
            <a:xfrm>
              <a:off x="3055100" y="3165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7"/>
            <p:cNvSpPr txBox="1"/>
            <p:nvPr/>
          </p:nvSpPr>
          <p:spPr>
            <a:xfrm>
              <a:off x="1989138" y="39948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7"/>
            <p:cNvSpPr txBox="1"/>
            <p:nvPr/>
          </p:nvSpPr>
          <p:spPr>
            <a:xfrm>
              <a:off x="1449838" y="3043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7"/>
            <p:cNvSpPr txBox="1"/>
            <p:nvPr/>
          </p:nvSpPr>
          <p:spPr>
            <a:xfrm>
              <a:off x="442488" y="3350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7"/>
            <p:cNvSpPr txBox="1"/>
            <p:nvPr/>
          </p:nvSpPr>
          <p:spPr>
            <a:xfrm>
              <a:off x="2217913" y="29850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610000" y="3018125"/>
              <a:ext cx="2191450" cy="986525"/>
            </a:xfrm>
            <a:custGeom>
              <a:rect b="b" l="l" r="r" t="t"/>
              <a:pathLst>
                <a:path extrusionOk="0" h="39461" w="87658">
                  <a:moveTo>
                    <a:pt x="0" y="0"/>
                  </a:moveTo>
                  <a:cubicBezTo>
                    <a:pt x="6075" y="4318"/>
                    <a:pt x="21838" y="19329"/>
                    <a:pt x="36448" y="25906"/>
                  </a:cubicBezTo>
                  <a:cubicBezTo>
                    <a:pt x="51058" y="32483"/>
                    <a:pt x="79123" y="37202"/>
                    <a:pt x="87658" y="3946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7"/>
            <p:cNvSpPr txBox="1"/>
            <p:nvPr/>
          </p:nvSpPr>
          <p:spPr>
            <a:xfrm>
              <a:off x="1236288" y="35511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1235038" y="4180425"/>
              <a:ext cx="1611575" cy="181700"/>
            </a:xfrm>
            <a:custGeom>
              <a:rect b="b" l="l" r="r" t="t"/>
              <a:pathLst>
                <a:path extrusionOk="0" h="7268" w="64463">
                  <a:moveTo>
                    <a:pt x="0" y="904"/>
                  </a:moveTo>
                  <a:cubicBezTo>
                    <a:pt x="5221" y="1958"/>
                    <a:pt x="20584" y="7381"/>
                    <a:pt x="31328" y="7230"/>
                  </a:cubicBezTo>
                  <a:cubicBezTo>
                    <a:pt x="42072" y="7079"/>
                    <a:pt x="58941" y="1205"/>
                    <a:pt x="64463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7"/>
            <p:cNvSpPr txBox="1"/>
            <p:nvPr/>
          </p:nvSpPr>
          <p:spPr>
            <a:xfrm>
              <a:off x="1824675" y="4262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" name="Google Shape;305;p17"/>
          <p:cNvSpPr txBox="1"/>
          <p:nvPr/>
        </p:nvSpPr>
        <p:spPr>
          <a:xfrm>
            <a:off x="976323" y="1048575"/>
            <a:ext cx="84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grpSp>
        <p:nvGrpSpPr>
          <p:cNvPr id="311" name="Google Shape;311;p18"/>
          <p:cNvGrpSpPr/>
          <p:nvPr/>
        </p:nvGrpSpPr>
        <p:grpSpPr>
          <a:xfrm>
            <a:off x="311700" y="1532375"/>
            <a:ext cx="3175700" cy="3130750"/>
            <a:chOff x="311700" y="1532375"/>
            <a:chExt cx="3175700" cy="3130750"/>
          </a:xfrm>
        </p:grpSpPr>
        <p:sp>
          <p:nvSpPr>
            <p:cNvPr id="312" name="Google Shape;312;p18"/>
            <p:cNvSpPr/>
            <p:nvPr/>
          </p:nvSpPr>
          <p:spPr>
            <a:xfrm>
              <a:off x="1187850" y="15323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311700" y="2683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1616000" y="2323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2805875" y="3885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957300" y="3885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2920300" y="2574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8" name="Google Shape;318;p18"/>
            <p:cNvCxnSpPr>
              <a:stCxn id="312" idx="3"/>
              <a:endCxn id="313" idx="7"/>
            </p:cNvCxnSpPr>
            <p:nvPr/>
          </p:nvCxnSpPr>
          <p:spPr>
            <a:xfrm flipH="1">
              <a:off x="618971" y="1839654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19" name="Google Shape;319;p18"/>
            <p:cNvCxnSpPr>
              <a:stCxn id="312" idx="6"/>
              <a:endCxn id="317" idx="1"/>
            </p:cNvCxnSpPr>
            <p:nvPr/>
          </p:nvCxnSpPr>
          <p:spPr>
            <a:xfrm>
              <a:off x="1547850" y="1712375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20" name="Google Shape;320;p18"/>
            <p:cNvCxnSpPr>
              <a:stCxn id="313" idx="6"/>
              <a:endCxn id="314" idx="2"/>
            </p:cNvCxnSpPr>
            <p:nvPr/>
          </p:nvCxnSpPr>
          <p:spPr>
            <a:xfrm flipH="1" rot="10800000">
              <a:off x="671700" y="2503650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321" name="Google Shape;321;p18"/>
            <p:cNvCxnSpPr>
              <a:endCxn id="317" idx="2"/>
            </p:cNvCxnSpPr>
            <p:nvPr/>
          </p:nvCxnSpPr>
          <p:spPr>
            <a:xfrm>
              <a:off x="1975900" y="2503500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322" name="Google Shape;322;p18"/>
            <p:cNvCxnSpPr>
              <a:stCxn id="313" idx="5"/>
            </p:cNvCxnSpPr>
            <p:nvPr/>
          </p:nvCxnSpPr>
          <p:spPr>
            <a:xfrm>
              <a:off x="618979" y="299092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3" name="Google Shape;323;p18"/>
            <p:cNvCxnSpPr>
              <a:stCxn id="313" idx="4"/>
              <a:endCxn id="316" idx="1"/>
            </p:cNvCxnSpPr>
            <p:nvPr/>
          </p:nvCxnSpPr>
          <p:spPr>
            <a:xfrm>
              <a:off x="491700" y="3043650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24" name="Google Shape;324;p18"/>
            <p:cNvCxnSpPr/>
            <p:nvPr/>
          </p:nvCxnSpPr>
          <p:spPr>
            <a:xfrm>
              <a:off x="618979" y="2990929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325" name="Google Shape;325;p18"/>
            <p:cNvCxnSpPr>
              <a:stCxn id="316" idx="6"/>
              <a:endCxn id="315" idx="2"/>
            </p:cNvCxnSpPr>
            <p:nvPr/>
          </p:nvCxnSpPr>
          <p:spPr>
            <a:xfrm>
              <a:off x="1317300" y="4065875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326" name="Google Shape;326;p18"/>
            <p:cNvCxnSpPr>
              <a:stCxn id="314" idx="4"/>
              <a:endCxn id="315" idx="1"/>
            </p:cNvCxnSpPr>
            <p:nvPr/>
          </p:nvCxnSpPr>
          <p:spPr>
            <a:xfrm>
              <a:off x="1796000" y="2683650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27" name="Google Shape;327;p18"/>
            <p:cNvCxnSpPr>
              <a:stCxn id="317" idx="4"/>
              <a:endCxn id="315" idx="0"/>
            </p:cNvCxnSpPr>
            <p:nvPr/>
          </p:nvCxnSpPr>
          <p:spPr>
            <a:xfrm flipH="1">
              <a:off x="2986000" y="2934600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28" name="Google Shape;328;p18"/>
            <p:cNvSpPr txBox="1"/>
            <p:nvPr/>
          </p:nvSpPr>
          <p:spPr>
            <a:xfrm>
              <a:off x="491700" y="19761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8"/>
            <p:cNvSpPr txBox="1"/>
            <p:nvPr/>
          </p:nvSpPr>
          <p:spPr>
            <a:xfrm>
              <a:off x="2231950" y="17896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8"/>
            <p:cNvSpPr txBox="1"/>
            <p:nvPr/>
          </p:nvSpPr>
          <p:spPr>
            <a:xfrm>
              <a:off x="957300" y="23305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8"/>
            <p:cNvSpPr txBox="1"/>
            <p:nvPr/>
          </p:nvSpPr>
          <p:spPr>
            <a:xfrm>
              <a:off x="2351425" y="25545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8"/>
            <p:cNvSpPr txBox="1"/>
            <p:nvPr/>
          </p:nvSpPr>
          <p:spPr>
            <a:xfrm>
              <a:off x="3055100" y="3165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8"/>
            <p:cNvSpPr txBox="1"/>
            <p:nvPr/>
          </p:nvSpPr>
          <p:spPr>
            <a:xfrm>
              <a:off x="1989138" y="39948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8"/>
            <p:cNvSpPr txBox="1"/>
            <p:nvPr/>
          </p:nvSpPr>
          <p:spPr>
            <a:xfrm>
              <a:off x="1449838" y="3043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8"/>
            <p:cNvSpPr txBox="1"/>
            <p:nvPr/>
          </p:nvSpPr>
          <p:spPr>
            <a:xfrm>
              <a:off x="442488" y="3350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8"/>
            <p:cNvSpPr txBox="1"/>
            <p:nvPr/>
          </p:nvSpPr>
          <p:spPr>
            <a:xfrm>
              <a:off x="2217913" y="29850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610000" y="3018125"/>
              <a:ext cx="2191450" cy="986525"/>
            </a:xfrm>
            <a:custGeom>
              <a:rect b="b" l="l" r="r" t="t"/>
              <a:pathLst>
                <a:path extrusionOk="0" h="39461" w="87658">
                  <a:moveTo>
                    <a:pt x="0" y="0"/>
                  </a:moveTo>
                  <a:cubicBezTo>
                    <a:pt x="6075" y="4318"/>
                    <a:pt x="21838" y="19329"/>
                    <a:pt x="36448" y="25906"/>
                  </a:cubicBezTo>
                  <a:cubicBezTo>
                    <a:pt x="51058" y="32483"/>
                    <a:pt x="79123" y="37202"/>
                    <a:pt x="87658" y="3946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8"/>
            <p:cNvSpPr txBox="1"/>
            <p:nvPr/>
          </p:nvSpPr>
          <p:spPr>
            <a:xfrm>
              <a:off x="1236288" y="35511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8"/>
            <p:cNvSpPr/>
            <p:nvPr/>
          </p:nvSpPr>
          <p:spPr>
            <a:xfrm>
              <a:off x="1235038" y="4180425"/>
              <a:ext cx="1611575" cy="181700"/>
            </a:xfrm>
            <a:custGeom>
              <a:rect b="b" l="l" r="r" t="t"/>
              <a:pathLst>
                <a:path extrusionOk="0" h="7268" w="64463">
                  <a:moveTo>
                    <a:pt x="0" y="904"/>
                  </a:moveTo>
                  <a:cubicBezTo>
                    <a:pt x="5221" y="1958"/>
                    <a:pt x="20584" y="7381"/>
                    <a:pt x="31328" y="7230"/>
                  </a:cubicBezTo>
                  <a:cubicBezTo>
                    <a:pt x="42072" y="7079"/>
                    <a:pt x="58941" y="1205"/>
                    <a:pt x="64463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8"/>
            <p:cNvSpPr txBox="1"/>
            <p:nvPr/>
          </p:nvSpPr>
          <p:spPr>
            <a:xfrm>
              <a:off x="1824675" y="4262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18"/>
          <p:cNvSpPr txBox="1"/>
          <p:nvPr/>
        </p:nvSpPr>
        <p:spPr>
          <a:xfrm>
            <a:off x="976323" y="1048575"/>
            <a:ext cx="84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" name="Google Shape;342;p18"/>
          <p:cNvGrpSpPr/>
          <p:nvPr/>
        </p:nvGrpSpPr>
        <p:grpSpPr>
          <a:xfrm>
            <a:off x="5264700" y="1532375"/>
            <a:ext cx="2968600" cy="2713500"/>
            <a:chOff x="5264700" y="1532375"/>
            <a:chExt cx="2968600" cy="2713500"/>
          </a:xfrm>
        </p:grpSpPr>
        <p:sp>
          <p:nvSpPr>
            <p:cNvPr id="343" name="Google Shape;343;p18"/>
            <p:cNvSpPr/>
            <p:nvPr/>
          </p:nvSpPr>
          <p:spPr>
            <a:xfrm>
              <a:off x="6140850" y="1532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5264700" y="2683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8"/>
            <p:cNvSpPr/>
            <p:nvPr/>
          </p:nvSpPr>
          <p:spPr>
            <a:xfrm>
              <a:off x="6569000" y="2323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7758875" y="3885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5910300" y="3885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8"/>
            <p:cNvSpPr/>
            <p:nvPr/>
          </p:nvSpPr>
          <p:spPr>
            <a:xfrm>
              <a:off x="7873300" y="2574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9" name="Google Shape;349;p18"/>
            <p:cNvCxnSpPr>
              <a:stCxn id="343" idx="3"/>
              <a:endCxn id="344" idx="7"/>
            </p:cNvCxnSpPr>
            <p:nvPr/>
          </p:nvCxnSpPr>
          <p:spPr>
            <a:xfrm flipH="1">
              <a:off x="5571971" y="1839654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50" name="Google Shape;350;p18"/>
            <p:cNvCxnSpPr>
              <a:stCxn id="343" idx="6"/>
              <a:endCxn id="348" idx="1"/>
            </p:cNvCxnSpPr>
            <p:nvPr/>
          </p:nvCxnSpPr>
          <p:spPr>
            <a:xfrm>
              <a:off x="6500850" y="1712375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51" name="Google Shape;351;p18"/>
            <p:cNvCxnSpPr>
              <a:endCxn id="348" idx="2"/>
            </p:cNvCxnSpPr>
            <p:nvPr/>
          </p:nvCxnSpPr>
          <p:spPr>
            <a:xfrm>
              <a:off x="6928900" y="2503500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352" name="Google Shape;352;p18"/>
            <p:cNvCxnSpPr>
              <a:stCxn id="344" idx="5"/>
            </p:cNvCxnSpPr>
            <p:nvPr/>
          </p:nvCxnSpPr>
          <p:spPr>
            <a:xfrm>
              <a:off x="5571979" y="299092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3" name="Google Shape;353;p18"/>
            <p:cNvCxnSpPr>
              <a:stCxn id="344" idx="4"/>
              <a:endCxn id="347" idx="1"/>
            </p:cNvCxnSpPr>
            <p:nvPr/>
          </p:nvCxnSpPr>
          <p:spPr>
            <a:xfrm>
              <a:off x="5444700" y="3043650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54" name="Google Shape;354;p18"/>
            <p:cNvCxnSpPr/>
            <p:nvPr/>
          </p:nvCxnSpPr>
          <p:spPr>
            <a:xfrm>
              <a:off x="5571979" y="2990929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55" name="Google Shape;355;p18"/>
            <p:cNvSpPr txBox="1"/>
            <p:nvPr/>
          </p:nvSpPr>
          <p:spPr>
            <a:xfrm>
              <a:off x="5444700" y="19761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8"/>
            <p:cNvSpPr txBox="1"/>
            <p:nvPr/>
          </p:nvSpPr>
          <p:spPr>
            <a:xfrm>
              <a:off x="7184950" y="17896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8"/>
            <p:cNvSpPr txBox="1"/>
            <p:nvPr/>
          </p:nvSpPr>
          <p:spPr>
            <a:xfrm>
              <a:off x="7304425" y="25545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8"/>
            <p:cNvSpPr txBox="1"/>
            <p:nvPr/>
          </p:nvSpPr>
          <p:spPr>
            <a:xfrm>
              <a:off x="6402838" y="3043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8"/>
            <p:cNvSpPr txBox="1"/>
            <p:nvPr/>
          </p:nvSpPr>
          <p:spPr>
            <a:xfrm>
              <a:off x="5395488" y="3350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18"/>
          <p:cNvSpPr txBox="1"/>
          <p:nvPr/>
        </p:nvSpPr>
        <p:spPr>
          <a:xfrm>
            <a:off x="5444700" y="4365700"/>
            <a:ext cx="305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arborele distanțelor față de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Arborele distanțelor</a:t>
            </a:r>
            <a:endParaRPr/>
          </a:p>
        </p:txBody>
      </p:sp>
      <p:sp>
        <p:nvSpPr>
          <p:cNvPr id="366" name="Google Shape;366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Definiție</a:t>
            </a:r>
            <a:r>
              <a:rPr lang="en-GB"/>
              <a:t>:</a:t>
            </a:r>
            <a:r>
              <a:rPr b="1" lang="en-GB"/>
              <a:t>  </a:t>
            </a:r>
            <a:r>
              <a:rPr b="0" lang="en-GB"/>
              <a:t>Pentru un vârf dat s, un </a:t>
            </a:r>
            <a:r>
              <a:rPr b="0" lang="en-GB" u="sng">
                <a:solidFill>
                  <a:srgbClr val="CC0000"/>
                </a:solidFill>
              </a:rPr>
              <a:t>arbore al distanțelor față de s</a:t>
            </a:r>
            <a:r>
              <a:rPr b="0" lang="en-GB"/>
              <a:t> = un subgraf T al lui G, care conservă distanțele de la s la celelalte vârfuri accesibile din s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graful neorientat asociat lui T fiind arbore cu rădăcina în s (cu arcele corespunzătoare orientate de la s la frunze)</a:t>
            </a:r>
            <a:endParaRPr b="0"/>
          </a:p>
        </p:txBody>
      </p:sp>
      <p:sp>
        <p:nvSpPr>
          <p:cNvPr id="367" name="Google Shape;367;p19"/>
          <p:cNvSpPr txBox="1"/>
          <p:nvPr/>
        </p:nvSpPr>
        <p:spPr>
          <a:xfrm>
            <a:off x="2398949" y="1822450"/>
            <a:ext cx="434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1" baseline="-25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(s, v) =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1" baseline="-25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(s, v),   ∀ v ∈ V accesibil din s,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Arborele distanțelor</a:t>
            </a:r>
            <a:endParaRPr/>
          </a:p>
        </p:txBody>
      </p:sp>
      <p:grpSp>
        <p:nvGrpSpPr>
          <p:cNvPr id="373" name="Google Shape;373;p20"/>
          <p:cNvGrpSpPr/>
          <p:nvPr/>
        </p:nvGrpSpPr>
        <p:grpSpPr>
          <a:xfrm>
            <a:off x="311700" y="1444625"/>
            <a:ext cx="3175700" cy="3130750"/>
            <a:chOff x="311700" y="1444625"/>
            <a:chExt cx="3175700" cy="3130750"/>
          </a:xfrm>
        </p:grpSpPr>
        <p:sp>
          <p:nvSpPr>
            <p:cNvPr id="374" name="Google Shape;374;p20"/>
            <p:cNvSpPr/>
            <p:nvPr/>
          </p:nvSpPr>
          <p:spPr>
            <a:xfrm>
              <a:off x="1187850" y="14446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311700" y="2595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1616000" y="2235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2805875" y="3798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0"/>
            <p:cNvSpPr/>
            <p:nvPr/>
          </p:nvSpPr>
          <p:spPr>
            <a:xfrm>
              <a:off x="957300" y="3798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0"/>
            <p:cNvSpPr/>
            <p:nvPr/>
          </p:nvSpPr>
          <p:spPr>
            <a:xfrm>
              <a:off x="2920300" y="248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0" name="Google Shape;380;p20"/>
            <p:cNvCxnSpPr>
              <a:stCxn id="374" idx="3"/>
              <a:endCxn id="375" idx="7"/>
            </p:cNvCxnSpPr>
            <p:nvPr/>
          </p:nvCxnSpPr>
          <p:spPr>
            <a:xfrm flipH="1">
              <a:off x="618971" y="1751904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81" name="Google Shape;381;p20"/>
            <p:cNvCxnSpPr>
              <a:stCxn id="374" idx="6"/>
              <a:endCxn id="379" idx="1"/>
            </p:cNvCxnSpPr>
            <p:nvPr/>
          </p:nvCxnSpPr>
          <p:spPr>
            <a:xfrm>
              <a:off x="1547850" y="1624625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82" name="Google Shape;382;p20"/>
            <p:cNvCxnSpPr>
              <a:stCxn id="375" idx="6"/>
              <a:endCxn id="376" idx="2"/>
            </p:cNvCxnSpPr>
            <p:nvPr/>
          </p:nvCxnSpPr>
          <p:spPr>
            <a:xfrm flipH="1" rot="10800000">
              <a:off x="671700" y="2415900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383" name="Google Shape;383;p20"/>
            <p:cNvCxnSpPr>
              <a:endCxn id="379" idx="2"/>
            </p:cNvCxnSpPr>
            <p:nvPr/>
          </p:nvCxnSpPr>
          <p:spPr>
            <a:xfrm>
              <a:off x="1975900" y="2415750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384" name="Google Shape;384;p20"/>
            <p:cNvCxnSpPr>
              <a:stCxn id="375" idx="5"/>
            </p:cNvCxnSpPr>
            <p:nvPr/>
          </p:nvCxnSpPr>
          <p:spPr>
            <a:xfrm>
              <a:off x="618979" y="29031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5" name="Google Shape;385;p20"/>
            <p:cNvCxnSpPr>
              <a:stCxn id="375" idx="4"/>
              <a:endCxn id="378" idx="1"/>
            </p:cNvCxnSpPr>
            <p:nvPr/>
          </p:nvCxnSpPr>
          <p:spPr>
            <a:xfrm>
              <a:off x="491700" y="2955900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86" name="Google Shape;386;p20"/>
            <p:cNvCxnSpPr/>
            <p:nvPr/>
          </p:nvCxnSpPr>
          <p:spPr>
            <a:xfrm>
              <a:off x="618979" y="2903179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387" name="Google Shape;387;p20"/>
            <p:cNvCxnSpPr>
              <a:stCxn id="378" idx="6"/>
              <a:endCxn id="377" idx="2"/>
            </p:cNvCxnSpPr>
            <p:nvPr/>
          </p:nvCxnSpPr>
          <p:spPr>
            <a:xfrm>
              <a:off x="1317300" y="3978125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388" name="Google Shape;388;p20"/>
            <p:cNvCxnSpPr>
              <a:stCxn id="376" idx="4"/>
              <a:endCxn id="377" idx="1"/>
            </p:cNvCxnSpPr>
            <p:nvPr/>
          </p:nvCxnSpPr>
          <p:spPr>
            <a:xfrm>
              <a:off x="1796000" y="2595900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89" name="Google Shape;389;p20"/>
            <p:cNvCxnSpPr>
              <a:stCxn id="379" idx="4"/>
              <a:endCxn id="377" idx="0"/>
            </p:cNvCxnSpPr>
            <p:nvPr/>
          </p:nvCxnSpPr>
          <p:spPr>
            <a:xfrm flipH="1">
              <a:off x="2986000" y="2846850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90" name="Google Shape;390;p20"/>
            <p:cNvSpPr txBox="1"/>
            <p:nvPr/>
          </p:nvSpPr>
          <p:spPr>
            <a:xfrm>
              <a:off x="491700" y="18884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0"/>
            <p:cNvSpPr txBox="1"/>
            <p:nvPr/>
          </p:nvSpPr>
          <p:spPr>
            <a:xfrm>
              <a:off x="2231950" y="1701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0"/>
            <p:cNvSpPr txBox="1"/>
            <p:nvPr/>
          </p:nvSpPr>
          <p:spPr>
            <a:xfrm>
              <a:off x="957300" y="224276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0"/>
            <p:cNvSpPr txBox="1"/>
            <p:nvPr/>
          </p:nvSpPr>
          <p:spPr>
            <a:xfrm>
              <a:off x="2351425" y="24667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0"/>
            <p:cNvSpPr txBox="1"/>
            <p:nvPr/>
          </p:nvSpPr>
          <p:spPr>
            <a:xfrm>
              <a:off x="3055100" y="3077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0"/>
            <p:cNvSpPr txBox="1"/>
            <p:nvPr/>
          </p:nvSpPr>
          <p:spPr>
            <a:xfrm>
              <a:off x="1989138" y="39070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0"/>
            <p:cNvSpPr txBox="1"/>
            <p:nvPr/>
          </p:nvSpPr>
          <p:spPr>
            <a:xfrm>
              <a:off x="1449838" y="2955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0"/>
            <p:cNvSpPr txBox="1"/>
            <p:nvPr/>
          </p:nvSpPr>
          <p:spPr>
            <a:xfrm>
              <a:off x="442488" y="32631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0"/>
            <p:cNvSpPr txBox="1"/>
            <p:nvPr/>
          </p:nvSpPr>
          <p:spPr>
            <a:xfrm>
              <a:off x="2217913" y="28973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610000" y="2930375"/>
              <a:ext cx="2191450" cy="986525"/>
            </a:xfrm>
            <a:custGeom>
              <a:rect b="b" l="l" r="r" t="t"/>
              <a:pathLst>
                <a:path extrusionOk="0" h="39461" w="87658">
                  <a:moveTo>
                    <a:pt x="0" y="0"/>
                  </a:moveTo>
                  <a:cubicBezTo>
                    <a:pt x="6075" y="4318"/>
                    <a:pt x="21838" y="19329"/>
                    <a:pt x="36448" y="25906"/>
                  </a:cubicBezTo>
                  <a:cubicBezTo>
                    <a:pt x="51058" y="32483"/>
                    <a:pt x="79123" y="37202"/>
                    <a:pt x="87658" y="3946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0"/>
            <p:cNvSpPr txBox="1"/>
            <p:nvPr/>
          </p:nvSpPr>
          <p:spPr>
            <a:xfrm>
              <a:off x="1236288" y="346336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1235038" y="4092675"/>
              <a:ext cx="1611575" cy="181700"/>
            </a:xfrm>
            <a:custGeom>
              <a:rect b="b" l="l" r="r" t="t"/>
              <a:pathLst>
                <a:path extrusionOk="0" h="7268" w="64463">
                  <a:moveTo>
                    <a:pt x="0" y="904"/>
                  </a:moveTo>
                  <a:cubicBezTo>
                    <a:pt x="5221" y="1958"/>
                    <a:pt x="20584" y="7381"/>
                    <a:pt x="31328" y="7230"/>
                  </a:cubicBezTo>
                  <a:cubicBezTo>
                    <a:pt x="42072" y="7079"/>
                    <a:pt x="58941" y="1205"/>
                    <a:pt x="64463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0"/>
            <p:cNvSpPr txBox="1"/>
            <p:nvPr/>
          </p:nvSpPr>
          <p:spPr>
            <a:xfrm>
              <a:off x="1824675" y="41751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3" name="Google Shape;403;p20"/>
          <p:cNvSpPr/>
          <p:nvPr/>
        </p:nvSpPr>
        <p:spPr>
          <a:xfrm>
            <a:off x="5448150" y="772075"/>
            <a:ext cx="360000" cy="3114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4572000" y="1767440"/>
            <a:ext cx="360000" cy="3114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5876300" y="1456192"/>
            <a:ext cx="360000" cy="3114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0"/>
          <p:cNvSpPr/>
          <p:nvPr/>
        </p:nvSpPr>
        <p:spPr>
          <a:xfrm>
            <a:off x="7066175" y="2806855"/>
            <a:ext cx="360000" cy="3114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5217600" y="2806855"/>
            <a:ext cx="360000" cy="3114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7180600" y="1673158"/>
            <a:ext cx="360000" cy="3114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20"/>
          <p:cNvCxnSpPr>
            <a:stCxn id="403" idx="3"/>
            <a:endCxn id="404" idx="7"/>
          </p:cNvCxnSpPr>
          <p:nvPr/>
        </p:nvCxnSpPr>
        <p:spPr>
          <a:xfrm flipH="1">
            <a:off x="4879271" y="1037872"/>
            <a:ext cx="621600" cy="77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0" name="Google Shape;410;p20"/>
          <p:cNvCxnSpPr>
            <a:stCxn id="403" idx="6"/>
            <a:endCxn id="408" idx="1"/>
          </p:cNvCxnSpPr>
          <p:nvPr/>
        </p:nvCxnSpPr>
        <p:spPr>
          <a:xfrm>
            <a:off x="5808150" y="927775"/>
            <a:ext cx="1425300" cy="7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1" name="Google Shape;411;p20"/>
          <p:cNvCxnSpPr>
            <a:stCxn id="405" idx="6"/>
            <a:endCxn id="408" idx="2"/>
          </p:cNvCxnSpPr>
          <p:nvPr/>
        </p:nvCxnSpPr>
        <p:spPr>
          <a:xfrm>
            <a:off x="6236300" y="1611892"/>
            <a:ext cx="944400" cy="216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412" name="Google Shape;412;p20"/>
          <p:cNvCxnSpPr>
            <a:stCxn id="404" idx="5"/>
          </p:cNvCxnSpPr>
          <p:nvPr/>
        </p:nvCxnSpPr>
        <p:spPr>
          <a:xfrm>
            <a:off x="4879279" y="2033237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20"/>
          <p:cNvCxnSpPr>
            <a:stCxn id="404" idx="4"/>
            <a:endCxn id="407" idx="1"/>
          </p:cNvCxnSpPr>
          <p:nvPr/>
        </p:nvCxnSpPr>
        <p:spPr>
          <a:xfrm>
            <a:off x="4752000" y="2078840"/>
            <a:ext cx="518400" cy="7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4" name="Google Shape;414;p20"/>
          <p:cNvCxnSpPr/>
          <p:nvPr/>
        </p:nvCxnSpPr>
        <p:spPr>
          <a:xfrm>
            <a:off x="4879279" y="2033106"/>
            <a:ext cx="2239500" cy="81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15" name="Google Shape;415;p20"/>
          <p:cNvSpPr txBox="1"/>
          <p:nvPr/>
        </p:nvSpPr>
        <p:spPr>
          <a:xfrm>
            <a:off x="4752000" y="115577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6492250" y="99453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6611725" y="165578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0"/>
          <p:cNvSpPr txBox="1"/>
          <p:nvPr/>
        </p:nvSpPr>
        <p:spPr>
          <a:xfrm>
            <a:off x="5710138" y="207868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0"/>
          <p:cNvSpPr txBox="1"/>
          <p:nvPr/>
        </p:nvSpPr>
        <p:spPr>
          <a:xfrm>
            <a:off x="4702788" y="234435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4890100" y="3579850"/>
            <a:ext cx="18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arborele distanțelor față de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20"/>
          <p:cNvGrpSpPr/>
          <p:nvPr/>
        </p:nvGrpSpPr>
        <p:grpSpPr>
          <a:xfrm>
            <a:off x="6722275" y="3311750"/>
            <a:ext cx="2072375" cy="1739755"/>
            <a:chOff x="6722275" y="3311750"/>
            <a:chExt cx="2072375" cy="1739755"/>
          </a:xfrm>
        </p:grpSpPr>
        <p:sp>
          <p:nvSpPr>
            <p:cNvPr id="422" name="Google Shape;422;p20"/>
            <p:cNvSpPr/>
            <p:nvPr/>
          </p:nvSpPr>
          <p:spPr>
            <a:xfrm>
              <a:off x="7630400" y="3311750"/>
              <a:ext cx="320400" cy="311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7054200" y="3996840"/>
              <a:ext cx="360000" cy="311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8205450" y="4740092"/>
              <a:ext cx="360000" cy="311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7361575" y="4740105"/>
              <a:ext cx="360000" cy="311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6728125" y="4740105"/>
              <a:ext cx="360000" cy="311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8205450" y="3996858"/>
              <a:ext cx="360000" cy="311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8" name="Google Shape;428;p20"/>
            <p:cNvCxnSpPr>
              <a:stCxn id="422" idx="3"/>
              <a:endCxn id="423" idx="7"/>
            </p:cNvCxnSpPr>
            <p:nvPr/>
          </p:nvCxnSpPr>
          <p:spPr>
            <a:xfrm flipH="1">
              <a:off x="7361421" y="3577547"/>
              <a:ext cx="315900" cy="465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29" name="Google Shape;429;p20"/>
            <p:cNvCxnSpPr>
              <a:stCxn id="422" idx="5"/>
              <a:endCxn id="427" idx="1"/>
            </p:cNvCxnSpPr>
            <p:nvPr/>
          </p:nvCxnSpPr>
          <p:spPr>
            <a:xfrm>
              <a:off x="7903879" y="3577547"/>
              <a:ext cx="354300" cy="465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30" name="Google Shape;430;p20"/>
            <p:cNvCxnSpPr>
              <a:stCxn id="424" idx="0"/>
              <a:endCxn id="427" idx="4"/>
            </p:cNvCxnSpPr>
            <p:nvPr/>
          </p:nvCxnSpPr>
          <p:spPr>
            <a:xfrm rot="10800000">
              <a:off x="8385450" y="4308392"/>
              <a:ext cx="0" cy="43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431" name="Google Shape;431;p20"/>
            <p:cNvCxnSpPr>
              <a:stCxn id="423" idx="5"/>
            </p:cNvCxnSpPr>
            <p:nvPr/>
          </p:nvCxnSpPr>
          <p:spPr>
            <a:xfrm>
              <a:off x="7361479" y="426263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" name="Google Shape;432;p20"/>
            <p:cNvCxnSpPr>
              <a:stCxn id="423" idx="3"/>
              <a:endCxn id="426" idx="0"/>
            </p:cNvCxnSpPr>
            <p:nvPr/>
          </p:nvCxnSpPr>
          <p:spPr>
            <a:xfrm flipH="1">
              <a:off x="6908021" y="4262637"/>
              <a:ext cx="198900" cy="477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33" name="Google Shape;433;p20"/>
            <p:cNvCxnSpPr>
              <a:stCxn id="423" idx="5"/>
              <a:endCxn id="425" idx="0"/>
            </p:cNvCxnSpPr>
            <p:nvPr/>
          </p:nvCxnSpPr>
          <p:spPr>
            <a:xfrm>
              <a:off x="7361479" y="4262637"/>
              <a:ext cx="180000" cy="477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34" name="Google Shape;434;p20"/>
            <p:cNvSpPr txBox="1"/>
            <p:nvPr/>
          </p:nvSpPr>
          <p:spPr>
            <a:xfrm>
              <a:off x="7041150" y="3582749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0"/>
            <p:cNvSpPr txBox="1"/>
            <p:nvPr/>
          </p:nvSpPr>
          <p:spPr>
            <a:xfrm>
              <a:off x="7993475" y="35274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0"/>
            <p:cNvSpPr txBox="1"/>
            <p:nvPr/>
          </p:nvSpPr>
          <p:spPr>
            <a:xfrm>
              <a:off x="8362350" y="4263812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0"/>
            <p:cNvSpPr txBox="1"/>
            <p:nvPr/>
          </p:nvSpPr>
          <p:spPr>
            <a:xfrm>
              <a:off x="7433550" y="4228812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0"/>
            <p:cNvSpPr txBox="1"/>
            <p:nvPr/>
          </p:nvSpPr>
          <p:spPr>
            <a:xfrm>
              <a:off x="6722275" y="4263800"/>
              <a:ext cx="371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Arborele distanțelor</a:t>
            </a:r>
            <a:endParaRPr/>
          </a:p>
        </p:txBody>
      </p:sp>
      <p:sp>
        <p:nvSpPr>
          <p:cNvPr id="444" name="Google Shape;444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Presupunem că </a:t>
            </a:r>
            <a:r>
              <a:rPr b="1" lang="en-GB">
                <a:solidFill>
                  <a:srgbClr val="CC0000"/>
                </a:solidFill>
              </a:rPr>
              <a:t>toate vârfurile sunt accesibile din s</a:t>
            </a:r>
            <a:endParaRPr b="1"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Problema drumurilor minime de sursă unică este echivalentă cu determinarea unui </a:t>
            </a:r>
            <a:r>
              <a:rPr b="1" lang="en-GB">
                <a:solidFill>
                  <a:srgbClr val="CC0000"/>
                </a:solidFill>
              </a:rPr>
              <a:t>arbore al distanțelor față de s</a:t>
            </a:r>
            <a:endParaRPr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Arborele distanțelor</a:t>
            </a:r>
            <a:endParaRPr/>
          </a:p>
        </p:txBody>
      </p:sp>
      <p:sp>
        <p:nvSpPr>
          <p:cNvPr id="450" name="Google Shape;450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>
                <a:solidFill>
                  <a:srgbClr val="CC0000"/>
                </a:solidFill>
              </a:rPr>
              <a:t>Un arbore parțial de cost minim </a:t>
            </a:r>
            <a:r>
              <a:rPr lang="en-GB" u="sng">
                <a:solidFill>
                  <a:srgbClr val="CC0000"/>
                </a:solidFill>
              </a:rPr>
              <a:t>nu</a:t>
            </a:r>
            <a:r>
              <a:rPr lang="en-GB">
                <a:solidFill>
                  <a:srgbClr val="CC0000"/>
                </a:solidFill>
              </a:rPr>
              <a:t> este neapărat un arbore de distanțe minime</a:t>
            </a:r>
            <a:endParaRPr>
              <a:solidFill>
                <a:srgbClr val="CC0000"/>
              </a:solidFill>
            </a:endParaRPr>
          </a:p>
        </p:txBody>
      </p:sp>
      <p:grpSp>
        <p:nvGrpSpPr>
          <p:cNvPr id="451" name="Google Shape;451;p22"/>
          <p:cNvGrpSpPr/>
          <p:nvPr/>
        </p:nvGrpSpPr>
        <p:grpSpPr>
          <a:xfrm>
            <a:off x="3024300" y="1566613"/>
            <a:ext cx="3095400" cy="2436125"/>
            <a:chOff x="3024300" y="1566613"/>
            <a:chExt cx="3095400" cy="2436125"/>
          </a:xfrm>
        </p:grpSpPr>
        <p:sp>
          <p:nvSpPr>
            <p:cNvPr id="452" name="Google Shape;452;p22"/>
            <p:cNvSpPr/>
            <p:nvPr/>
          </p:nvSpPr>
          <p:spPr>
            <a:xfrm>
              <a:off x="3906800" y="156661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3024300" y="27735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759700" y="22863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4482025" y="364273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6" name="Google Shape;456;p22"/>
            <p:cNvCxnSpPr>
              <a:stCxn id="452" idx="3"/>
              <a:endCxn id="453" idx="7"/>
            </p:cNvCxnSpPr>
            <p:nvPr/>
          </p:nvCxnSpPr>
          <p:spPr>
            <a:xfrm flipH="1">
              <a:off x="3331621" y="1873892"/>
              <a:ext cx="627900" cy="95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7" name="Google Shape;457;p22"/>
            <p:cNvCxnSpPr>
              <a:stCxn id="452" idx="6"/>
              <a:endCxn id="454" idx="1"/>
            </p:cNvCxnSpPr>
            <p:nvPr/>
          </p:nvCxnSpPr>
          <p:spPr>
            <a:xfrm>
              <a:off x="4266800" y="1746613"/>
              <a:ext cx="1545600" cy="59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8" name="Google Shape;458;p22"/>
            <p:cNvCxnSpPr>
              <a:stCxn id="453" idx="5"/>
              <a:endCxn id="455" idx="1"/>
            </p:cNvCxnSpPr>
            <p:nvPr/>
          </p:nvCxnSpPr>
          <p:spPr>
            <a:xfrm>
              <a:off x="3331579" y="3080842"/>
              <a:ext cx="1203300" cy="614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22"/>
            <p:cNvCxnSpPr>
              <a:stCxn id="455" idx="7"/>
              <a:endCxn id="454" idx="3"/>
            </p:cNvCxnSpPr>
            <p:nvPr/>
          </p:nvCxnSpPr>
          <p:spPr>
            <a:xfrm flipH="1" rot="10800000">
              <a:off x="4789304" y="2593559"/>
              <a:ext cx="1023000" cy="110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22"/>
            <p:cNvCxnSpPr>
              <a:stCxn id="452" idx="4"/>
              <a:endCxn id="455" idx="0"/>
            </p:cNvCxnSpPr>
            <p:nvPr/>
          </p:nvCxnSpPr>
          <p:spPr>
            <a:xfrm>
              <a:off x="4086800" y="1926613"/>
              <a:ext cx="575100" cy="171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1" name="Google Shape;461;p22"/>
            <p:cNvCxnSpPr>
              <a:stCxn id="453" idx="6"/>
              <a:endCxn id="454" idx="2"/>
            </p:cNvCxnSpPr>
            <p:nvPr/>
          </p:nvCxnSpPr>
          <p:spPr>
            <a:xfrm flipH="1" rot="10800000">
              <a:off x="3384300" y="2466363"/>
              <a:ext cx="2375400" cy="487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2" name="Google Shape;462;p22"/>
            <p:cNvSpPr txBox="1"/>
            <p:nvPr/>
          </p:nvSpPr>
          <p:spPr>
            <a:xfrm>
              <a:off x="3331575" y="20661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2"/>
            <p:cNvSpPr txBox="1"/>
            <p:nvPr/>
          </p:nvSpPr>
          <p:spPr>
            <a:xfrm>
              <a:off x="3600100" y="32952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2"/>
            <p:cNvSpPr txBox="1"/>
            <p:nvPr/>
          </p:nvSpPr>
          <p:spPr>
            <a:xfrm>
              <a:off x="4878950" y="17609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2"/>
            <p:cNvSpPr txBox="1"/>
            <p:nvPr/>
          </p:nvSpPr>
          <p:spPr>
            <a:xfrm>
              <a:off x="5311250" y="3035436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2"/>
            <p:cNvSpPr txBox="1"/>
            <p:nvPr/>
          </p:nvSpPr>
          <p:spPr>
            <a:xfrm>
              <a:off x="3870650" y="27730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2"/>
            <p:cNvSpPr txBox="1"/>
            <p:nvPr/>
          </p:nvSpPr>
          <p:spPr>
            <a:xfrm>
              <a:off x="4249300" y="2149736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3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>
                <a:solidFill>
                  <a:srgbClr val="CC0000"/>
                </a:solidFill>
              </a:rPr>
              <a:t>Un arbore parțial de cost minim </a:t>
            </a:r>
            <a:r>
              <a:rPr b="1" lang="en-GB" u="sng">
                <a:solidFill>
                  <a:srgbClr val="CC0000"/>
                </a:solidFill>
              </a:rPr>
              <a:t>nu</a:t>
            </a:r>
            <a:r>
              <a:rPr b="1" lang="en-GB">
                <a:solidFill>
                  <a:srgbClr val="CC0000"/>
                </a:solidFill>
              </a:rPr>
              <a:t> este neapărat un arbore de distanțe minime</a:t>
            </a:r>
            <a:endParaRPr b="1" sz="140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473" name="Google Shape;473;p23"/>
          <p:cNvGrpSpPr/>
          <p:nvPr/>
        </p:nvGrpSpPr>
        <p:grpSpPr>
          <a:xfrm>
            <a:off x="470563" y="1636613"/>
            <a:ext cx="2345775" cy="2141400"/>
            <a:chOff x="762450" y="1980788"/>
            <a:chExt cx="2345775" cy="2141400"/>
          </a:xfrm>
        </p:grpSpPr>
        <p:sp>
          <p:nvSpPr>
            <p:cNvPr id="474" name="Google Shape;474;p23"/>
            <p:cNvSpPr/>
            <p:nvPr/>
          </p:nvSpPr>
          <p:spPr>
            <a:xfrm>
              <a:off x="1428950" y="19807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762450" y="31149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2748225" y="261161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2004300" y="37621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8" name="Google Shape;478;p23"/>
            <p:cNvCxnSpPr>
              <a:stCxn id="474" idx="3"/>
              <a:endCxn id="475" idx="7"/>
            </p:cNvCxnSpPr>
            <p:nvPr/>
          </p:nvCxnSpPr>
          <p:spPr>
            <a:xfrm flipH="1">
              <a:off x="1069771" y="2288067"/>
              <a:ext cx="411900" cy="87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9" name="Google Shape;479;p23"/>
            <p:cNvCxnSpPr>
              <a:stCxn id="474" idx="6"/>
              <a:endCxn id="476" idx="1"/>
            </p:cNvCxnSpPr>
            <p:nvPr/>
          </p:nvCxnSpPr>
          <p:spPr>
            <a:xfrm>
              <a:off x="1788950" y="2160788"/>
              <a:ext cx="1011900" cy="50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0" name="Google Shape;480;p23"/>
            <p:cNvCxnSpPr>
              <a:stCxn id="475" idx="5"/>
              <a:endCxn id="477" idx="1"/>
            </p:cNvCxnSpPr>
            <p:nvPr/>
          </p:nvCxnSpPr>
          <p:spPr>
            <a:xfrm>
              <a:off x="1069729" y="3422267"/>
              <a:ext cx="987300" cy="39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1" name="Google Shape;481;p23"/>
            <p:cNvCxnSpPr>
              <a:stCxn id="477" idx="7"/>
              <a:endCxn id="476" idx="3"/>
            </p:cNvCxnSpPr>
            <p:nvPr/>
          </p:nvCxnSpPr>
          <p:spPr>
            <a:xfrm flipH="1" rot="10800000">
              <a:off x="2311579" y="2918809"/>
              <a:ext cx="489300" cy="89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2" name="Google Shape;482;p23"/>
            <p:cNvCxnSpPr>
              <a:stCxn id="474" idx="4"/>
              <a:endCxn id="477" idx="0"/>
            </p:cNvCxnSpPr>
            <p:nvPr/>
          </p:nvCxnSpPr>
          <p:spPr>
            <a:xfrm>
              <a:off x="1608950" y="2340788"/>
              <a:ext cx="575400" cy="142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" name="Google Shape;483;p23"/>
            <p:cNvCxnSpPr>
              <a:stCxn id="475" idx="6"/>
              <a:endCxn id="476" idx="2"/>
            </p:cNvCxnSpPr>
            <p:nvPr/>
          </p:nvCxnSpPr>
          <p:spPr>
            <a:xfrm flipH="1" rot="10800000">
              <a:off x="1122450" y="2791588"/>
              <a:ext cx="1625700" cy="50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4" name="Google Shape;484;p23"/>
            <p:cNvSpPr txBox="1"/>
            <p:nvPr/>
          </p:nvSpPr>
          <p:spPr>
            <a:xfrm>
              <a:off x="1012625" y="2487436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3"/>
            <p:cNvSpPr txBox="1"/>
            <p:nvPr/>
          </p:nvSpPr>
          <p:spPr>
            <a:xfrm>
              <a:off x="1286425" y="35874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3"/>
            <p:cNvSpPr txBox="1"/>
            <p:nvPr/>
          </p:nvSpPr>
          <p:spPr>
            <a:xfrm>
              <a:off x="2348375" y="21751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3"/>
            <p:cNvSpPr txBox="1"/>
            <p:nvPr/>
          </p:nvSpPr>
          <p:spPr>
            <a:xfrm>
              <a:off x="2582650" y="31872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3"/>
            <p:cNvSpPr txBox="1"/>
            <p:nvPr/>
          </p:nvSpPr>
          <p:spPr>
            <a:xfrm>
              <a:off x="1533450" y="303441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3"/>
            <p:cNvSpPr txBox="1"/>
            <p:nvPr/>
          </p:nvSpPr>
          <p:spPr>
            <a:xfrm>
              <a:off x="1719150" y="2481349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0" name="Google Shape;490;p23"/>
          <p:cNvSpPr/>
          <p:nvPr/>
        </p:nvSpPr>
        <p:spPr>
          <a:xfrm rot="-1205580">
            <a:off x="3364104" y="1754104"/>
            <a:ext cx="708204" cy="1373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3"/>
          <p:cNvSpPr/>
          <p:nvPr/>
        </p:nvSpPr>
        <p:spPr>
          <a:xfrm rot="1464226">
            <a:off x="3364232" y="3762492"/>
            <a:ext cx="707951" cy="1370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3"/>
          <p:cNvSpPr txBox="1"/>
          <p:nvPr/>
        </p:nvSpPr>
        <p:spPr>
          <a:xfrm>
            <a:off x="7893738" y="1382825"/>
            <a:ext cx="74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apcm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3"/>
          <p:cNvSpPr txBox="1"/>
          <p:nvPr/>
        </p:nvSpPr>
        <p:spPr>
          <a:xfrm>
            <a:off x="7761138" y="3622375"/>
            <a:ext cx="101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al distanțelor față de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4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>
                <a:solidFill>
                  <a:srgbClr val="CC0000"/>
                </a:solidFill>
              </a:rPr>
              <a:t>Un arbore parțial de cost minim </a:t>
            </a:r>
            <a:r>
              <a:rPr b="1" lang="en-GB" u="sng">
                <a:solidFill>
                  <a:srgbClr val="CC0000"/>
                </a:solidFill>
              </a:rPr>
              <a:t>nu</a:t>
            </a:r>
            <a:r>
              <a:rPr b="1" lang="en-GB">
                <a:solidFill>
                  <a:srgbClr val="CC0000"/>
                </a:solidFill>
              </a:rPr>
              <a:t> este neapărat un arbore de distanțe minime</a:t>
            </a:r>
            <a:endParaRPr b="1" sz="140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499" name="Google Shape;499;p24"/>
          <p:cNvGrpSpPr/>
          <p:nvPr/>
        </p:nvGrpSpPr>
        <p:grpSpPr>
          <a:xfrm>
            <a:off x="470563" y="1636613"/>
            <a:ext cx="2345775" cy="2141400"/>
            <a:chOff x="762450" y="1980788"/>
            <a:chExt cx="2345775" cy="2141400"/>
          </a:xfrm>
        </p:grpSpPr>
        <p:sp>
          <p:nvSpPr>
            <p:cNvPr id="500" name="Google Shape;500;p24"/>
            <p:cNvSpPr/>
            <p:nvPr/>
          </p:nvSpPr>
          <p:spPr>
            <a:xfrm>
              <a:off x="1428950" y="19807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762450" y="31149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2748225" y="261161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2004300" y="37621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4" name="Google Shape;504;p24"/>
            <p:cNvCxnSpPr>
              <a:stCxn id="500" idx="3"/>
              <a:endCxn id="501" idx="7"/>
            </p:cNvCxnSpPr>
            <p:nvPr/>
          </p:nvCxnSpPr>
          <p:spPr>
            <a:xfrm flipH="1">
              <a:off x="1069771" y="2288067"/>
              <a:ext cx="411900" cy="87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5" name="Google Shape;505;p24"/>
            <p:cNvCxnSpPr>
              <a:stCxn id="500" idx="6"/>
              <a:endCxn id="502" idx="1"/>
            </p:cNvCxnSpPr>
            <p:nvPr/>
          </p:nvCxnSpPr>
          <p:spPr>
            <a:xfrm>
              <a:off x="1788950" y="2160788"/>
              <a:ext cx="1011900" cy="50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6" name="Google Shape;506;p24"/>
            <p:cNvCxnSpPr>
              <a:stCxn id="501" idx="5"/>
              <a:endCxn id="503" idx="1"/>
            </p:cNvCxnSpPr>
            <p:nvPr/>
          </p:nvCxnSpPr>
          <p:spPr>
            <a:xfrm>
              <a:off x="1069729" y="3422267"/>
              <a:ext cx="987300" cy="39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7" name="Google Shape;507;p24"/>
            <p:cNvCxnSpPr>
              <a:stCxn id="503" idx="7"/>
              <a:endCxn id="502" idx="3"/>
            </p:cNvCxnSpPr>
            <p:nvPr/>
          </p:nvCxnSpPr>
          <p:spPr>
            <a:xfrm flipH="1" rot="10800000">
              <a:off x="2311579" y="2918809"/>
              <a:ext cx="489300" cy="89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8" name="Google Shape;508;p24"/>
            <p:cNvCxnSpPr>
              <a:stCxn id="500" idx="4"/>
              <a:endCxn id="503" idx="0"/>
            </p:cNvCxnSpPr>
            <p:nvPr/>
          </p:nvCxnSpPr>
          <p:spPr>
            <a:xfrm>
              <a:off x="1608950" y="2340788"/>
              <a:ext cx="575400" cy="142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9" name="Google Shape;509;p24"/>
            <p:cNvCxnSpPr>
              <a:stCxn id="501" idx="6"/>
              <a:endCxn id="502" idx="2"/>
            </p:cNvCxnSpPr>
            <p:nvPr/>
          </p:nvCxnSpPr>
          <p:spPr>
            <a:xfrm flipH="1" rot="10800000">
              <a:off x="1122450" y="2791588"/>
              <a:ext cx="1625700" cy="50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0" name="Google Shape;510;p24"/>
            <p:cNvSpPr txBox="1"/>
            <p:nvPr/>
          </p:nvSpPr>
          <p:spPr>
            <a:xfrm>
              <a:off x="1012625" y="2487436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4"/>
            <p:cNvSpPr txBox="1"/>
            <p:nvPr/>
          </p:nvSpPr>
          <p:spPr>
            <a:xfrm>
              <a:off x="1286425" y="35874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4"/>
            <p:cNvSpPr txBox="1"/>
            <p:nvPr/>
          </p:nvSpPr>
          <p:spPr>
            <a:xfrm>
              <a:off x="2348375" y="21751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4"/>
            <p:cNvSpPr txBox="1"/>
            <p:nvPr/>
          </p:nvSpPr>
          <p:spPr>
            <a:xfrm>
              <a:off x="2582650" y="31872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4"/>
            <p:cNvSpPr txBox="1"/>
            <p:nvPr/>
          </p:nvSpPr>
          <p:spPr>
            <a:xfrm>
              <a:off x="1533450" y="303441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4"/>
            <p:cNvSpPr txBox="1"/>
            <p:nvPr/>
          </p:nvSpPr>
          <p:spPr>
            <a:xfrm>
              <a:off x="1719150" y="2481349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6" name="Google Shape;516;p24"/>
          <p:cNvSpPr/>
          <p:nvPr/>
        </p:nvSpPr>
        <p:spPr>
          <a:xfrm rot="-1205580">
            <a:off x="3364104" y="1754104"/>
            <a:ext cx="708204" cy="1373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4"/>
          <p:cNvSpPr/>
          <p:nvPr/>
        </p:nvSpPr>
        <p:spPr>
          <a:xfrm rot="1464226">
            <a:off x="3364232" y="3762492"/>
            <a:ext cx="707951" cy="1370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4"/>
          <p:cNvSpPr txBox="1"/>
          <p:nvPr/>
        </p:nvSpPr>
        <p:spPr>
          <a:xfrm>
            <a:off x="7893738" y="1382825"/>
            <a:ext cx="74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apcm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4"/>
          <p:cNvSpPr txBox="1"/>
          <p:nvPr/>
        </p:nvSpPr>
        <p:spPr>
          <a:xfrm>
            <a:off x="7761138" y="3622375"/>
            <a:ext cx="101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al distanțelor față de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5556663" y="79841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4"/>
          <p:cNvSpPr/>
          <p:nvPr/>
        </p:nvSpPr>
        <p:spPr>
          <a:xfrm>
            <a:off x="4890163" y="193261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4"/>
          <p:cNvSpPr/>
          <p:nvPr/>
        </p:nvSpPr>
        <p:spPr>
          <a:xfrm>
            <a:off x="6875938" y="14292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4"/>
          <p:cNvSpPr/>
          <p:nvPr/>
        </p:nvSpPr>
        <p:spPr>
          <a:xfrm>
            <a:off x="6132013" y="257981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24"/>
          <p:cNvCxnSpPr>
            <a:stCxn id="520" idx="3"/>
            <a:endCxn id="521" idx="7"/>
          </p:cNvCxnSpPr>
          <p:nvPr/>
        </p:nvCxnSpPr>
        <p:spPr>
          <a:xfrm flipH="1">
            <a:off x="5197484" y="1105692"/>
            <a:ext cx="411900" cy="8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24"/>
          <p:cNvCxnSpPr>
            <a:stCxn id="520" idx="6"/>
            <a:endCxn id="522" idx="1"/>
          </p:cNvCxnSpPr>
          <p:nvPr/>
        </p:nvCxnSpPr>
        <p:spPr>
          <a:xfrm>
            <a:off x="5916663" y="978413"/>
            <a:ext cx="1011900" cy="50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6" name="Google Shape;526;p24"/>
          <p:cNvCxnSpPr>
            <a:stCxn id="521" idx="5"/>
            <a:endCxn id="523" idx="1"/>
          </p:cNvCxnSpPr>
          <p:nvPr/>
        </p:nvCxnSpPr>
        <p:spPr>
          <a:xfrm>
            <a:off x="5197442" y="2239892"/>
            <a:ext cx="987300" cy="39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24"/>
          <p:cNvSpPr txBox="1"/>
          <p:nvPr/>
        </p:nvSpPr>
        <p:spPr>
          <a:xfrm>
            <a:off x="5140338" y="1305061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4"/>
          <p:cNvSpPr txBox="1"/>
          <p:nvPr/>
        </p:nvSpPr>
        <p:spPr>
          <a:xfrm>
            <a:off x="5414138" y="240508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4"/>
          <p:cNvSpPr txBox="1"/>
          <p:nvPr/>
        </p:nvSpPr>
        <p:spPr>
          <a:xfrm>
            <a:off x="6476088" y="99278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5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>
                <a:solidFill>
                  <a:srgbClr val="CC0000"/>
                </a:solidFill>
              </a:rPr>
              <a:t>Un arbore parțial de cost minim </a:t>
            </a:r>
            <a:r>
              <a:rPr b="1" lang="en-GB" u="sng">
                <a:solidFill>
                  <a:srgbClr val="CC0000"/>
                </a:solidFill>
              </a:rPr>
              <a:t>nu</a:t>
            </a:r>
            <a:r>
              <a:rPr b="1" lang="en-GB">
                <a:solidFill>
                  <a:srgbClr val="CC0000"/>
                </a:solidFill>
              </a:rPr>
              <a:t> este neapărat un arbore de distanțe minime</a:t>
            </a:r>
            <a:endParaRPr b="1" sz="140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535" name="Google Shape;535;p25"/>
          <p:cNvGrpSpPr/>
          <p:nvPr/>
        </p:nvGrpSpPr>
        <p:grpSpPr>
          <a:xfrm>
            <a:off x="470563" y="1636613"/>
            <a:ext cx="2345775" cy="2141400"/>
            <a:chOff x="762450" y="1980788"/>
            <a:chExt cx="2345775" cy="2141400"/>
          </a:xfrm>
        </p:grpSpPr>
        <p:sp>
          <p:nvSpPr>
            <p:cNvPr id="536" name="Google Shape;536;p25"/>
            <p:cNvSpPr/>
            <p:nvPr/>
          </p:nvSpPr>
          <p:spPr>
            <a:xfrm>
              <a:off x="1428950" y="19807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5"/>
            <p:cNvSpPr/>
            <p:nvPr/>
          </p:nvSpPr>
          <p:spPr>
            <a:xfrm>
              <a:off x="762450" y="31149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5"/>
            <p:cNvSpPr/>
            <p:nvPr/>
          </p:nvSpPr>
          <p:spPr>
            <a:xfrm>
              <a:off x="2748225" y="261161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5"/>
            <p:cNvSpPr/>
            <p:nvPr/>
          </p:nvSpPr>
          <p:spPr>
            <a:xfrm>
              <a:off x="2004300" y="37621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0" name="Google Shape;540;p25"/>
            <p:cNvCxnSpPr>
              <a:stCxn id="536" idx="3"/>
              <a:endCxn id="537" idx="7"/>
            </p:cNvCxnSpPr>
            <p:nvPr/>
          </p:nvCxnSpPr>
          <p:spPr>
            <a:xfrm flipH="1">
              <a:off x="1069771" y="2288067"/>
              <a:ext cx="411900" cy="87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25"/>
            <p:cNvCxnSpPr>
              <a:stCxn id="536" idx="6"/>
              <a:endCxn id="538" idx="1"/>
            </p:cNvCxnSpPr>
            <p:nvPr/>
          </p:nvCxnSpPr>
          <p:spPr>
            <a:xfrm>
              <a:off x="1788950" y="2160788"/>
              <a:ext cx="1011900" cy="50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25"/>
            <p:cNvCxnSpPr>
              <a:stCxn id="537" idx="5"/>
              <a:endCxn id="539" idx="1"/>
            </p:cNvCxnSpPr>
            <p:nvPr/>
          </p:nvCxnSpPr>
          <p:spPr>
            <a:xfrm>
              <a:off x="1069729" y="3422267"/>
              <a:ext cx="987300" cy="39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25"/>
            <p:cNvCxnSpPr>
              <a:stCxn id="539" idx="7"/>
              <a:endCxn id="538" idx="3"/>
            </p:cNvCxnSpPr>
            <p:nvPr/>
          </p:nvCxnSpPr>
          <p:spPr>
            <a:xfrm flipH="1" rot="10800000">
              <a:off x="2311579" y="2918809"/>
              <a:ext cx="489300" cy="89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25"/>
            <p:cNvCxnSpPr>
              <a:stCxn id="536" idx="4"/>
              <a:endCxn id="539" idx="0"/>
            </p:cNvCxnSpPr>
            <p:nvPr/>
          </p:nvCxnSpPr>
          <p:spPr>
            <a:xfrm>
              <a:off x="1608950" y="2340788"/>
              <a:ext cx="575400" cy="1421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25"/>
            <p:cNvCxnSpPr>
              <a:stCxn id="537" idx="6"/>
              <a:endCxn id="538" idx="2"/>
            </p:cNvCxnSpPr>
            <p:nvPr/>
          </p:nvCxnSpPr>
          <p:spPr>
            <a:xfrm flipH="1" rot="10800000">
              <a:off x="1122450" y="2791588"/>
              <a:ext cx="1625700" cy="50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6" name="Google Shape;546;p25"/>
            <p:cNvSpPr txBox="1"/>
            <p:nvPr/>
          </p:nvSpPr>
          <p:spPr>
            <a:xfrm>
              <a:off x="1012625" y="2487436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5"/>
            <p:cNvSpPr txBox="1"/>
            <p:nvPr/>
          </p:nvSpPr>
          <p:spPr>
            <a:xfrm>
              <a:off x="1286425" y="35874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5"/>
            <p:cNvSpPr txBox="1"/>
            <p:nvPr/>
          </p:nvSpPr>
          <p:spPr>
            <a:xfrm>
              <a:off x="2348375" y="21751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5"/>
            <p:cNvSpPr txBox="1"/>
            <p:nvPr/>
          </p:nvSpPr>
          <p:spPr>
            <a:xfrm>
              <a:off x="2582650" y="318726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5"/>
            <p:cNvSpPr txBox="1"/>
            <p:nvPr/>
          </p:nvSpPr>
          <p:spPr>
            <a:xfrm>
              <a:off x="1533450" y="3034411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5"/>
            <p:cNvSpPr txBox="1"/>
            <p:nvPr/>
          </p:nvSpPr>
          <p:spPr>
            <a:xfrm>
              <a:off x="1719150" y="2481349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2" name="Google Shape;552;p25"/>
          <p:cNvSpPr/>
          <p:nvPr/>
        </p:nvSpPr>
        <p:spPr>
          <a:xfrm rot="-1205580">
            <a:off x="3364104" y="1754104"/>
            <a:ext cx="708204" cy="1373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5"/>
          <p:cNvSpPr/>
          <p:nvPr/>
        </p:nvSpPr>
        <p:spPr>
          <a:xfrm rot="1464226">
            <a:off x="3364232" y="3762492"/>
            <a:ext cx="707951" cy="1370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384"/>
          </a:solidFill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5"/>
          <p:cNvSpPr txBox="1"/>
          <p:nvPr/>
        </p:nvSpPr>
        <p:spPr>
          <a:xfrm>
            <a:off x="7893738" y="1382825"/>
            <a:ext cx="74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apcm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5"/>
          <p:cNvSpPr txBox="1"/>
          <p:nvPr/>
        </p:nvSpPr>
        <p:spPr>
          <a:xfrm>
            <a:off x="7761138" y="3622375"/>
            <a:ext cx="101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arbore al distanțelor față de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5556663" y="79841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4890163" y="193261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5"/>
          <p:cNvSpPr/>
          <p:nvPr/>
        </p:nvSpPr>
        <p:spPr>
          <a:xfrm>
            <a:off x="6875938" y="14292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5"/>
          <p:cNvSpPr/>
          <p:nvPr/>
        </p:nvSpPr>
        <p:spPr>
          <a:xfrm>
            <a:off x="6132013" y="257981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0" name="Google Shape;560;p25"/>
          <p:cNvCxnSpPr>
            <a:stCxn id="556" idx="3"/>
            <a:endCxn id="557" idx="7"/>
          </p:cNvCxnSpPr>
          <p:nvPr/>
        </p:nvCxnSpPr>
        <p:spPr>
          <a:xfrm flipH="1">
            <a:off x="5197484" y="1105692"/>
            <a:ext cx="411900" cy="8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1" name="Google Shape;561;p25"/>
          <p:cNvCxnSpPr>
            <a:stCxn id="556" idx="6"/>
            <a:endCxn id="558" idx="1"/>
          </p:cNvCxnSpPr>
          <p:nvPr/>
        </p:nvCxnSpPr>
        <p:spPr>
          <a:xfrm>
            <a:off x="5916663" y="978413"/>
            <a:ext cx="1011900" cy="50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25"/>
          <p:cNvCxnSpPr>
            <a:stCxn id="557" idx="5"/>
            <a:endCxn id="559" idx="1"/>
          </p:cNvCxnSpPr>
          <p:nvPr/>
        </p:nvCxnSpPr>
        <p:spPr>
          <a:xfrm>
            <a:off x="5197442" y="2239892"/>
            <a:ext cx="987300" cy="39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3" name="Google Shape;563;p25"/>
          <p:cNvSpPr txBox="1"/>
          <p:nvPr/>
        </p:nvSpPr>
        <p:spPr>
          <a:xfrm>
            <a:off x="5140338" y="1305061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5"/>
          <p:cNvSpPr txBox="1"/>
          <p:nvPr/>
        </p:nvSpPr>
        <p:spPr>
          <a:xfrm>
            <a:off x="5414138" y="240508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5"/>
          <p:cNvSpPr txBox="1"/>
          <p:nvPr/>
        </p:nvSpPr>
        <p:spPr>
          <a:xfrm>
            <a:off x="6476088" y="99278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5"/>
          <p:cNvSpPr/>
          <p:nvPr/>
        </p:nvSpPr>
        <p:spPr>
          <a:xfrm>
            <a:off x="5355113" y="289111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4688613" y="402531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5"/>
          <p:cNvSpPr/>
          <p:nvPr/>
        </p:nvSpPr>
        <p:spPr>
          <a:xfrm>
            <a:off x="6674388" y="35219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5930463" y="4672513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0" name="Google Shape;570;p25"/>
          <p:cNvCxnSpPr>
            <a:stCxn id="566" idx="3"/>
            <a:endCxn id="567" idx="7"/>
          </p:cNvCxnSpPr>
          <p:nvPr/>
        </p:nvCxnSpPr>
        <p:spPr>
          <a:xfrm flipH="1">
            <a:off x="4995934" y="3198392"/>
            <a:ext cx="411900" cy="87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25"/>
          <p:cNvCxnSpPr>
            <a:stCxn id="566" idx="6"/>
            <a:endCxn id="568" idx="1"/>
          </p:cNvCxnSpPr>
          <p:nvPr/>
        </p:nvCxnSpPr>
        <p:spPr>
          <a:xfrm>
            <a:off x="5715113" y="3071113"/>
            <a:ext cx="1011900" cy="50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p25"/>
          <p:cNvCxnSpPr>
            <a:stCxn id="566" idx="4"/>
            <a:endCxn id="569" idx="0"/>
          </p:cNvCxnSpPr>
          <p:nvPr/>
        </p:nvCxnSpPr>
        <p:spPr>
          <a:xfrm>
            <a:off x="5535113" y="3251113"/>
            <a:ext cx="575400" cy="142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3" name="Google Shape;573;p25"/>
          <p:cNvSpPr txBox="1"/>
          <p:nvPr/>
        </p:nvSpPr>
        <p:spPr>
          <a:xfrm>
            <a:off x="4938788" y="3397761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5"/>
          <p:cNvSpPr txBox="1"/>
          <p:nvPr/>
        </p:nvSpPr>
        <p:spPr>
          <a:xfrm>
            <a:off x="6274538" y="308548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5"/>
          <p:cNvSpPr txBox="1"/>
          <p:nvPr/>
        </p:nvSpPr>
        <p:spPr>
          <a:xfrm>
            <a:off x="5645313" y="339167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În ce ordine considerăm vârfurile pentru a calcula distanțele față de s?</a:t>
            </a:r>
            <a:endParaRPr/>
          </a:p>
        </p:txBody>
      </p:sp>
      <p:sp>
        <p:nvSpPr>
          <p:cNvPr id="581" name="Google Shape;581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minime de sursă unică s</a:t>
            </a:r>
            <a:endParaRPr/>
          </a:p>
        </p:txBody>
      </p:sp>
      <p:pic>
        <p:nvPicPr>
          <p:cNvPr id="582" name="Google Shape;5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6" y="906225"/>
            <a:ext cx="826100" cy="12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În ce ordine considerăm vârfurile pentru a calcula distanțele față de 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</a:t>
            </a:r>
            <a:br>
              <a:rPr lang="en-GB"/>
            </a:br>
            <a:r>
              <a:rPr lang="en-GB"/>
              <a:t>		”din aproape în aproape”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Dacă u este predecesor al lui v pe un drum minim de la s la v ⇒   </a:t>
            </a:r>
            <a:endParaRPr b="0"/>
          </a:p>
          <a:p>
            <a:pPr indent="457200" lvl="0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>
                <a:solidFill>
                  <a:srgbClr val="CC0000"/>
                </a:solidFill>
              </a:rPr>
              <a:t>(s, v) = </a:t>
            </a:r>
            <a:r>
              <a:rPr lang="en-GB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>
                <a:solidFill>
                  <a:srgbClr val="CC0000"/>
                </a:solidFill>
              </a:rPr>
              <a:t>(s, u) + w(uv)</a:t>
            </a:r>
            <a:endParaRPr b="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Știm  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(s, u)</a:t>
            </a:r>
            <a:r>
              <a:rPr b="0" lang="en-GB"/>
              <a:t>  ⇒ aflăm și 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(s, v)</a:t>
            </a:r>
            <a:endParaRPr b="0"/>
          </a:p>
        </p:txBody>
      </p:sp>
      <p:sp>
        <p:nvSpPr>
          <p:cNvPr id="588" name="Google Shape;588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minime de sursă unică s</a:t>
            </a:r>
            <a:endParaRPr/>
          </a:p>
        </p:txBody>
      </p:sp>
      <p:pic>
        <p:nvPicPr>
          <p:cNvPr id="589" name="Google Shape;5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65901"/>
            <a:ext cx="776875" cy="1350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0" name="Google Shape;590;p27"/>
          <p:cNvGrpSpPr/>
          <p:nvPr/>
        </p:nvGrpSpPr>
        <p:grpSpPr>
          <a:xfrm>
            <a:off x="2528188" y="1958950"/>
            <a:ext cx="4087600" cy="1124450"/>
            <a:chOff x="2528188" y="1958950"/>
            <a:chExt cx="4087600" cy="1124450"/>
          </a:xfrm>
        </p:grpSpPr>
        <p:sp>
          <p:nvSpPr>
            <p:cNvPr id="591" name="Google Shape;591;p27"/>
            <p:cNvSpPr/>
            <p:nvPr/>
          </p:nvSpPr>
          <p:spPr>
            <a:xfrm>
              <a:off x="4982175" y="1958950"/>
              <a:ext cx="261703" cy="1124450"/>
            </a:xfrm>
            <a:custGeom>
              <a:rect b="b" l="l" r="r" t="t"/>
              <a:pathLst>
                <a:path extrusionOk="0" h="44978" w="16595">
                  <a:moveTo>
                    <a:pt x="0" y="0"/>
                  </a:moveTo>
                  <a:cubicBezTo>
                    <a:pt x="2405" y="1738"/>
                    <a:pt x="11881" y="4350"/>
                    <a:pt x="14427" y="10425"/>
                  </a:cubicBezTo>
                  <a:cubicBezTo>
                    <a:pt x="16973" y="16500"/>
                    <a:pt x="17303" y="30690"/>
                    <a:pt x="15276" y="36449"/>
                  </a:cubicBezTo>
                  <a:cubicBezTo>
                    <a:pt x="13249" y="42208"/>
                    <a:pt x="4432" y="43557"/>
                    <a:pt x="2263" y="44978"/>
                  </a:cubicBezTo>
                </a:path>
              </a:pathLst>
            </a:custGeom>
            <a:noFill/>
            <a:ln cap="flat" cmpd="sng" w="28575">
              <a:solidFill>
                <a:srgbClr val="6AA84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27"/>
            <p:cNvSpPr/>
            <p:nvPr/>
          </p:nvSpPr>
          <p:spPr>
            <a:xfrm>
              <a:off x="2528188" y="23411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7"/>
            <p:cNvSpPr/>
            <p:nvPr/>
          </p:nvSpPr>
          <p:spPr>
            <a:xfrm>
              <a:off x="5042588" y="2341163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7"/>
            <p:cNvSpPr/>
            <p:nvPr/>
          </p:nvSpPr>
          <p:spPr>
            <a:xfrm>
              <a:off x="6255788" y="23411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5" name="Google Shape;595;p27"/>
            <p:cNvCxnSpPr>
              <a:stCxn id="593" idx="6"/>
              <a:endCxn id="594" idx="2"/>
            </p:cNvCxnSpPr>
            <p:nvPr/>
          </p:nvCxnSpPr>
          <p:spPr>
            <a:xfrm>
              <a:off x="5402588" y="2521163"/>
              <a:ext cx="853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96" name="Google Shape;596;p27"/>
            <p:cNvSpPr/>
            <p:nvPr/>
          </p:nvSpPr>
          <p:spPr>
            <a:xfrm>
              <a:off x="2796975" y="2335476"/>
              <a:ext cx="2248875" cy="327400"/>
            </a:xfrm>
            <a:custGeom>
              <a:rect b="b" l="l" r="r" t="t"/>
              <a:pathLst>
                <a:path extrusionOk="0" h="13096" w="89955">
                  <a:moveTo>
                    <a:pt x="0" y="1587"/>
                  </a:moveTo>
                  <a:cubicBezTo>
                    <a:pt x="1485" y="1327"/>
                    <a:pt x="6293" y="-230"/>
                    <a:pt x="8909" y="29"/>
                  </a:cubicBezTo>
                  <a:cubicBezTo>
                    <a:pt x="11526" y="288"/>
                    <a:pt x="13672" y="1774"/>
                    <a:pt x="15699" y="3141"/>
                  </a:cubicBezTo>
                  <a:cubicBezTo>
                    <a:pt x="17726" y="4508"/>
                    <a:pt x="18622" y="6583"/>
                    <a:pt x="21073" y="8233"/>
                  </a:cubicBezTo>
                  <a:cubicBezTo>
                    <a:pt x="23525" y="9883"/>
                    <a:pt x="26707" y="13584"/>
                    <a:pt x="30408" y="13042"/>
                  </a:cubicBezTo>
                  <a:cubicBezTo>
                    <a:pt x="34109" y="12500"/>
                    <a:pt x="39249" y="6843"/>
                    <a:pt x="43280" y="4981"/>
                  </a:cubicBezTo>
                  <a:cubicBezTo>
                    <a:pt x="47311" y="3119"/>
                    <a:pt x="50210" y="880"/>
                    <a:pt x="54595" y="1870"/>
                  </a:cubicBezTo>
                  <a:cubicBezTo>
                    <a:pt x="58980" y="2860"/>
                    <a:pt x="64873" y="10592"/>
                    <a:pt x="69588" y="10922"/>
                  </a:cubicBezTo>
                  <a:cubicBezTo>
                    <a:pt x="74303" y="11252"/>
                    <a:pt x="79489" y="4557"/>
                    <a:pt x="82883" y="3850"/>
                  </a:cubicBezTo>
                  <a:cubicBezTo>
                    <a:pt x="86278" y="3143"/>
                    <a:pt x="88776" y="6208"/>
                    <a:pt x="89955" y="667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"/>
          <p:cNvSpPr txBox="1"/>
          <p:nvPr>
            <p:ph idx="1" type="body"/>
          </p:nvPr>
        </p:nvSpPr>
        <p:spPr>
          <a:xfrm>
            <a:off x="311700" y="906225"/>
            <a:ext cx="8676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În ce ordine considerăm vârfurile pentru a calcula distanțele față de 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</a:t>
            </a:r>
            <a:br>
              <a:rPr lang="en-GB"/>
            </a:br>
            <a:r>
              <a:rPr lang="en-GB"/>
              <a:t>		”din aproape în aproape” </a:t>
            </a:r>
            <a:r>
              <a:rPr b="0" lang="en-GB"/>
              <a:t>⇒ când considerăm un vârf v, </a:t>
            </a:r>
            <a:r>
              <a:rPr lang="en-GB"/>
              <a:t>pentru a calcula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(s, v)</a:t>
            </a:r>
            <a:r>
              <a:rPr b="0" lang="en-GB"/>
              <a:t>,</a:t>
            </a:r>
            <a:br>
              <a:rPr b="0" lang="en-GB"/>
            </a:br>
            <a:r>
              <a:rPr b="0" lang="en-GB"/>
              <a:t>		</a:t>
            </a:r>
            <a:r>
              <a:rPr lang="en-GB">
                <a:solidFill>
                  <a:srgbClr val="CC0000"/>
                </a:solidFill>
              </a:rPr>
              <a:t>ar fi util să știm deja </a:t>
            </a:r>
            <a:r>
              <a:rPr lang="en-GB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>
                <a:solidFill>
                  <a:srgbClr val="CC0000"/>
                </a:solidFill>
              </a:rPr>
              <a:t>(s, u)</a:t>
            </a:r>
            <a:r>
              <a:rPr lang="en-GB"/>
              <a:t>, pentru u cu uv ∈ E</a:t>
            </a:r>
            <a:r>
              <a:rPr b="0" lang="en-GB"/>
              <a:t> </a:t>
            </a:r>
            <a:r>
              <a:rPr lang="en-GB"/>
              <a:t>(?! toate)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800">
                <a:solidFill>
                  <a:srgbClr val="CC0000"/>
                </a:solidFill>
              </a:rPr>
              <a:t>				 	</a:t>
            </a:r>
            <a:r>
              <a:rPr lang="en-GB" sz="18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 sz="1800">
                <a:solidFill>
                  <a:srgbClr val="CC0000"/>
                </a:solidFill>
              </a:rPr>
              <a:t>(s, v) = min { </a:t>
            </a:r>
            <a:r>
              <a:rPr lang="en-GB" sz="18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 sz="1800">
                <a:solidFill>
                  <a:srgbClr val="CC0000"/>
                </a:solidFill>
              </a:rPr>
              <a:t>(s, u) + w(u, v) | uv ∈ E</a:t>
            </a:r>
            <a:r>
              <a:rPr b="0" lang="en-GB" sz="1800">
                <a:solidFill>
                  <a:srgbClr val="CC0000"/>
                </a:solidFill>
              </a:rPr>
              <a:t> </a:t>
            </a:r>
            <a:r>
              <a:rPr lang="en-GB" sz="1800">
                <a:solidFill>
                  <a:srgbClr val="CC0000"/>
                </a:solidFill>
              </a:rPr>
              <a:t> }</a:t>
            </a:r>
            <a:r>
              <a:rPr b="0" lang="en-GB" sz="1800">
                <a:solidFill>
                  <a:srgbClr val="CC0000"/>
                </a:solidFill>
              </a:rPr>
              <a:t> </a:t>
            </a:r>
            <a:endParaRPr sz="1800">
              <a:solidFill>
                <a:srgbClr val="CC0000"/>
              </a:solidFill>
            </a:endParaRPr>
          </a:p>
        </p:txBody>
      </p:sp>
      <p:sp>
        <p:nvSpPr>
          <p:cNvPr id="602" name="Google Shape;602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minime de sursă unică s</a:t>
            </a:r>
            <a:endParaRPr/>
          </a:p>
        </p:txBody>
      </p:sp>
      <p:pic>
        <p:nvPicPr>
          <p:cNvPr id="603" name="Google Shape;6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65901"/>
            <a:ext cx="776875" cy="1350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4" name="Google Shape;604;p28"/>
          <p:cNvGrpSpPr/>
          <p:nvPr/>
        </p:nvGrpSpPr>
        <p:grpSpPr>
          <a:xfrm>
            <a:off x="2528188" y="3212376"/>
            <a:ext cx="4087600" cy="1196137"/>
            <a:chOff x="2528188" y="3212376"/>
            <a:chExt cx="4087600" cy="1196137"/>
          </a:xfrm>
        </p:grpSpPr>
        <p:sp>
          <p:nvSpPr>
            <p:cNvPr id="605" name="Google Shape;605;p28"/>
            <p:cNvSpPr/>
            <p:nvPr/>
          </p:nvSpPr>
          <p:spPr>
            <a:xfrm>
              <a:off x="2528188" y="32180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8"/>
            <p:cNvSpPr/>
            <p:nvPr/>
          </p:nvSpPr>
          <p:spPr>
            <a:xfrm>
              <a:off x="5042588" y="3218063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6255788" y="32180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8" name="Google Shape;608;p28"/>
            <p:cNvCxnSpPr>
              <a:stCxn id="606" idx="6"/>
              <a:endCxn id="607" idx="2"/>
            </p:cNvCxnSpPr>
            <p:nvPr/>
          </p:nvCxnSpPr>
          <p:spPr>
            <a:xfrm>
              <a:off x="5402588" y="3398063"/>
              <a:ext cx="853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09" name="Google Shape;609;p28"/>
            <p:cNvSpPr/>
            <p:nvPr/>
          </p:nvSpPr>
          <p:spPr>
            <a:xfrm>
              <a:off x="2796975" y="3212376"/>
              <a:ext cx="2248875" cy="327400"/>
            </a:xfrm>
            <a:custGeom>
              <a:rect b="b" l="l" r="r" t="t"/>
              <a:pathLst>
                <a:path extrusionOk="0" h="13096" w="89955">
                  <a:moveTo>
                    <a:pt x="0" y="1587"/>
                  </a:moveTo>
                  <a:cubicBezTo>
                    <a:pt x="1485" y="1327"/>
                    <a:pt x="6293" y="-230"/>
                    <a:pt x="8909" y="29"/>
                  </a:cubicBezTo>
                  <a:cubicBezTo>
                    <a:pt x="11526" y="288"/>
                    <a:pt x="13672" y="1774"/>
                    <a:pt x="15699" y="3141"/>
                  </a:cubicBezTo>
                  <a:cubicBezTo>
                    <a:pt x="17726" y="4508"/>
                    <a:pt x="18622" y="6583"/>
                    <a:pt x="21073" y="8233"/>
                  </a:cubicBezTo>
                  <a:cubicBezTo>
                    <a:pt x="23525" y="9883"/>
                    <a:pt x="26707" y="13584"/>
                    <a:pt x="30408" y="13042"/>
                  </a:cubicBezTo>
                  <a:cubicBezTo>
                    <a:pt x="34109" y="12500"/>
                    <a:pt x="39249" y="6843"/>
                    <a:pt x="43280" y="4981"/>
                  </a:cubicBezTo>
                  <a:cubicBezTo>
                    <a:pt x="47311" y="3119"/>
                    <a:pt x="50210" y="880"/>
                    <a:pt x="54595" y="1870"/>
                  </a:cubicBezTo>
                  <a:cubicBezTo>
                    <a:pt x="58980" y="2860"/>
                    <a:pt x="64873" y="10592"/>
                    <a:pt x="69588" y="10922"/>
                  </a:cubicBezTo>
                  <a:cubicBezTo>
                    <a:pt x="74303" y="11252"/>
                    <a:pt x="79489" y="4557"/>
                    <a:pt x="82883" y="3850"/>
                  </a:cubicBezTo>
                  <a:cubicBezTo>
                    <a:pt x="86278" y="3143"/>
                    <a:pt x="88776" y="6208"/>
                    <a:pt x="89955" y="667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2843425" y="3500200"/>
              <a:ext cx="2128125" cy="830350"/>
            </a:xfrm>
            <a:custGeom>
              <a:rect b="b" l="l" r="r" t="t"/>
              <a:pathLst>
                <a:path extrusionOk="0" h="33214" w="85125">
                  <a:moveTo>
                    <a:pt x="0" y="0"/>
                  </a:moveTo>
                  <a:cubicBezTo>
                    <a:pt x="609" y="1606"/>
                    <a:pt x="1208" y="7981"/>
                    <a:pt x="3656" y="9634"/>
                  </a:cubicBezTo>
                  <a:cubicBezTo>
                    <a:pt x="6104" y="11287"/>
                    <a:pt x="11672" y="9492"/>
                    <a:pt x="14689" y="9916"/>
                  </a:cubicBezTo>
                  <a:cubicBezTo>
                    <a:pt x="17707" y="10340"/>
                    <a:pt x="19545" y="10812"/>
                    <a:pt x="21761" y="12179"/>
                  </a:cubicBezTo>
                  <a:cubicBezTo>
                    <a:pt x="23977" y="13546"/>
                    <a:pt x="24948" y="17328"/>
                    <a:pt x="27984" y="18120"/>
                  </a:cubicBezTo>
                  <a:cubicBezTo>
                    <a:pt x="31020" y="18912"/>
                    <a:pt x="35638" y="16883"/>
                    <a:pt x="39975" y="16930"/>
                  </a:cubicBezTo>
                  <a:cubicBezTo>
                    <a:pt x="44313" y="16977"/>
                    <a:pt x="50164" y="16075"/>
                    <a:pt x="54009" y="18403"/>
                  </a:cubicBezTo>
                  <a:cubicBezTo>
                    <a:pt x="57854" y="20731"/>
                    <a:pt x="59275" y="28449"/>
                    <a:pt x="63047" y="30900"/>
                  </a:cubicBezTo>
                  <a:cubicBezTo>
                    <a:pt x="66819" y="33352"/>
                    <a:pt x="72959" y="33356"/>
                    <a:pt x="76639" y="33112"/>
                  </a:cubicBezTo>
                  <a:cubicBezTo>
                    <a:pt x="80319" y="32868"/>
                    <a:pt x="83711" y="30048"/>
                    <a:pt x="85125" y="29435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8"/>
            <p:cNvSpPr/>
            <p:nvPr/>
          </p:nvSpPr>
          <p:spPr>
            <a:xfrm>
              <a:off x="4971538" y="4048513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2" name="Google Shape;612;p28"/>
            <p:cNvCxnSpPr>
              <a:stCxn id="611" idx="7"/>
              <a:endCxn id="607" idx="3"/>
            </p:cNvCxnSpPr>
            <p:nvPr/>
          </p:nvCxnSpPr>
          <p:spPr>
            <a:xfrm flipH="1" rot="10800000">
              <a:off x="5278817" y="3525234"/>
              <a:ext cx="1029600" cy="5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9"/>
          <p:cNvSpPr txBox="1"/>
          <p:nvPr>
            <p:ph idx="1" type="body"/>
          </p:nvPr>
        </p:nvSpPr>
        <p:spPr>
          <a:xfrm>
            <a:off x="311700" y="906225"/>
            <a:ext cx="8676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În ce ordine considerăm vârfurile pentru a calcula distanțele față de 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</a:t>
            </a:r>
            <a:br>
              <a:rPr lang="en-GB"/>
            </a:br>
            <a:r>
              <a:rPr lang="en-GB"/>
              <a:t>		”din aproape în aproape” </a:t>
            </a:r>
            <a:r>
              <a:rPr b="0" lang="en-GB"/>
              <a:t>⇒ când considerăm un vârf v, </a:t>
            </a:r>
            <a:r>
              <a:rPr lang="en-GB"/>
              <a:t>pentru a calcula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(s, v)</a:t>
            </a:r>
            <a:r>
              <a:rPr b="0" lang="en-GB"/>
              <a:t>,</a:t>
            </a:r>
            <a:br>
              <a:rPr b="0" lang="en-GB"/>
            </a:br>
            <a:r>
              <a:rPr b="0" lang="en-GB"/>
              <a:t>		ar fi util să știm deja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/>
              <a:t>(s, u), </a:t>
            </a:r>
            <a:r>
              <a:rPr lang="en-GB"/>
              <a:t>pentru orice u cu uv ∈ E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		</a:t>
            </a:r>
            <a:r>
              <a:rPr lang="en-GB">
                <a:solidFill>
                  <a:srgbClr val="CC0000"/>
                </a:solidFill>
              </a:rPr>
              <a:t>Ar fi utilă o ordonare a vârfurilor astfel încât, dacă uv E, atunci u se </a:t>
            </a:r>
            <a:br>
              <a:rPr lang="en-GB">
                <a:solidFill>
                  <a:srgbClr val="CC0000"/>
                </a:solidFill>
              </a:rPr>
            </a:br>
            <a:r>
              <a:rPr lang="en-GB">
                <a:solidFill>
                  <a:srgbClr val="CC0000"/>
                </a:solidFill>
              </a:rPr>
              <a:t>				află înaintea lui v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18" name="Google Shape;618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minime de sursă unică s</a:t>
            </a:r>
            <a:endParaRPr/>
          </a:p>
        </p:txBody>
      </p:sp>
      <p:pic>
        <p:nvPicPr>
          <p:cNvPr id="619" name="Google Shape;6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250" y="2381300"/>
            <a:ext cx="597325" cy="10381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29"/>
          <p:cNvGrpSpPr/>
          <p:nvPr/>
        </p:nvGrpSpPr>
        <p:grpSpPr>
          <a:xfrm>
            <a:off x="2528188" y="3593376"/>
            <a:ext cx="4087600" cy="1196137"/>
            <a:chOff x="2528188" y="3593376"/>
            <a:chExt cx="4087600" cy="1196137"/>
          </a:xfrm>
        </p:grpSpPr>
        <p:sp>
          <p:nvSpPr>
            <p:cNvPr id="621" name="Google Shape;621;p29"/>
            <p:cNvSpPr/>
            <p:nvPr/>
          </p:nvSpPr>
          <p:spPr>
            <a:xfrm>
              <a:off x="2528188" y="35990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5042588" y="3599063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6255788" y="35990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4" name="Google Shape;624;p29"/>
            <p:cNvCxnSpPr>
              <a:stCxn id="622" idx="6"/>
              <a:endCxn id="623" idx="2"/>
            </p:cNvCxnSpPr>
            <p:nvPr/>
          </p:nvCxnSpPr>
          <p:spPr>
            <a:xfrm>
              <a:off x="5402588" y="3779063"/>
              <a:ext cx="853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25" name="Google Shape;625;p29"/>
            <p:cNvSpPr/>
            <p:nvPr/>
          </p:nvSpPr>
          <p:spPr>
            <a:xfrm>
              <a:off x="2796975" y="3593376"/>
              <a:ext cx="2248875" cy="327400"/>
            </a:xfrm>
            <a:custGeom>
              <a:rect b="b" l="l" r="r" t="t"/>
              <a:pathLst>
                <a:path extrusionOk="0" h="13096" w="89955">
                  <a:moveTo>
                    <a:pt x="0" y="1587"/>
                  </a:moveTo>
                  <a:cubicBezTo>
                    <a:pt x="1485" y="1327"/>
                    <a:pt x="6293" y="-230"/>
                    <a:pt x="8909" y="29"/>
                  </a:cubicBezTo>
                  <a:cubicBezTo>
                    <a:pt x="11526" y="288"/>
                    <a:pt x="13672" y="1774"/>
                    <a:pt x="15699" y="3141"/>
                  </a:cubicBezTo>
                  <a:cubicBezTo>
                    <a:pt x="17726" y="4508"/>
                    <a:pt x="18622" y="6583"/>
                    <a:pt x="21073" y="8233"/>
                  </a:cubicBezTo>
                  <a:cubicBezTo>
                    <a:pt x="23525" y="9883"/>
                    <a:pt x="26707" y="13584"/>
                    <a:pt x="30408" y="13042"/>
                  </a:cubicBezTo>
                  <a:cubicBezTo>
                    <a:pt x="34109" y="12500"/>
                    <a:pt x="39249" y="6843"/>
                    <a:pt x="43280" y="4981"/>
                  </a:cubicBezTo>
                  <a:cubicBezTo>
                    <a:pt x="47311" y="3119"/>
                    <a:pt x="50210" y="880"/>
                    <a:pt x="54595" y="1870"/>
                  </a:cubicBezTo>
                  <a:cubicBezTo>
                    <a:pt x="58980" y="2860"/>
                    <a:pt x="64873" y="10592"/>
                    <a:pt x="69588" y="10922"/>
                  </a:cubicBezTo>
                  <a:cubicBezTo>
                    <a:pt x="74303" y="11252"/>
                    <a:pt x="79489" y="4557"/>
                    <a:pt x="82883" y="3850"/>
                  </a:cubicBezTo>
                  <a:cubicBezTo>
                    <a:pt x="86278" y="3143"/>
                    <a:pt x="88776" y="6208"/>
                    <a:pt x="89955" y="667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2843425" y="3881200"/>
              <a:ext cx="2128125" cy="830350"/>
            </a:xfrm>
            <a:custGeom>
              <a:rect b="b" l="l" r="r" t="t"/>
              <a:pathLst>
                <a:path extrusionOk="0" h="33214" w="85125">
                  <a:moveTo>
                    <a:pt x="0" y="0"/>
                  </a:moveTo>
                  <a:cubicBezTo>
                    <a:pt x="609" y="1606"/>
                    <a:pt x="1208" y="7981"/>
                    <a:pt x="3656" y="9634"/>
                  </a:cubicBezTo>
                  <a:cubicBezTo>
                    <a:pt x="6104" y="11287"/>
                    <a:pt x="11672" y="9492"/>
                    <a:pt x="14689" y="9916"/>
                  </a:cubicBezTo>
                  <a:cubicBezTo>
                    <a:pt x="17707" y="10340"/>
                    <a:pt x="19545" y="10812"/>
                    <a:pt x="21761" y="12179"/>
                  </a:cubicBezTo>
                  <a:cubicBezTo>
                    <a:pt x="23977" y="13546"/>
                    <a:pt x="24948" y="17328"/>
                    <a:pt x="27984" y="18120"/>
                  </a:cubicBezTo>
                  <a:cubicBezTo>
                    <a:pt x="31020" y="18912"/>
                    <a:pt x="35638" y="16883"/>
                    <a:pt x="39975" y="16930"/>
                  </a:cubicBezTo>
                  <a:cubicBezTo>
                    <a:pt x="44313" y="16977"/>
                    <a:pt x="50164" y="16075"/>
                    <a:pt x="54009" y="18403"/>
                  </a:cubicBezTo>
                  <a:cubicBezTo>
                    <a:pt x="57854" y="20731"/>
                    <a:pt x="59275" y="28449"/>
                    <a:pt x="63047" y="30900"/>
                  </a:cubicBezTo>
                  <a:cubicBezTo>
                    <a:pt x="66819" y="33352"/>
                    <a:pt x="72959" y="33356"/>
                    <a:pt x="76639" y="33112"/>
                  </a:cubicBezTo>
                  <a:cubicBezTo>
                    <a:pt x="80319" y="32868"/>
                    <a:pt x="83711" y="30048"/>
                    <a:pt x="85125" y="29435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4971538" y="4429513"/>
              <a:ext cx="360000" cy="360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8" name="Google Shape;628;p29"/>
            <p:cNvCxnSpPr>
              <a:stCxn id="627" idx="7"/>
              <a:endCxn id="623" idx="3"/>
            </p:cNvCxnSpPr>
            <p:nvPr/>
          </p:nvCxnSpPr>
          <p:spPr>
            <a:xfrm flipH="1" rot="10800000">
              <a:off x="5278817" y="3906234"/>
              <a:ext cx="1029600" cy="5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0"/>
          <p:cNvSpPr txBox="1"/>
          <p:nvPr>
            <p:ph idx="1" type="body"/>
          </p:nvPr>
        </p:nvSpPr>
        <p:spPr>
          <a:xfrm>
            <a:off x="311700" y="906225"/>
            <a:ext cx="8676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În ce ordine considerăm vârfurile pentru a calcula distanțele față de 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</a:t>
            </a:r>
            <a:br>
              <a:rPr lang="en-GB"/>
            </a:br>
            <a:r>
              <a:rPr lang="en-GB"/>
              <a:t>		”din aproape în aproape” </a:t>
            </a:r>
            <a:r>
              <a:rPr b="0" lang="en-GB"/>
              <a:t>⇒ când considerăm un vârf v, </a:t>
            </a:r>
            <a:r>
              <a:rPr lang="en-GB"/>
              <a:t>pentru a calcula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(s, v)</a:t>
            </a:r>
            <a:r>
              <a:rPr b="0" lang="en-GB"/>
              <a:t>,</a:t>
            </a:r>
            <a:br>
              <a:rPr b="0" lang="en-GB"/>
            </a:br>
            <a:r>
              <a:rPr b="0" lang="en-GB"/>
              <a:t>		ar fi util să știm deja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/>
              <a:t>(s, u), </a:t>
            </a:r>
            <a:r>
              <a:rPr lang="en-GB"/>
              <a:t>pentru orice u cu uv ∈ E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	Ar fi utilă o ordonare a vârfurilor astfel încât, dacă uv E, atunci u se </a:t>
            </a:r>
            <a:br>
              <a:rPr lang="en-GB"/>
            </a:br>
            <a:r>
              <a:rPr lang="en-GB"/>
              <a:t>				află înaintea lui v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					O astfel de ordonare </a:t>
            </a:r>
            <a:r>
              <a:rPr lang="en-GB" u="sng">
                <a:solidFill>
                  <a:srgbClr val="CC0000"/>
                </a:solidFill>
              </a:rPr>
              <a:t>nu există</a:t>
            </a:r>
            <a:r>
              <a:rPr lang="en-GB">
                <a:solidFill>
                  <a:srgbClr val="CC0000"/>
                </a:solidFill>
              </a:rPr>
              <a:t> dacă graful conține circuite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34" name="Google Shape;634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minime de sursă unică s</a:t>
            </a:r>
            <a:endParaRPr/>
          </a:p>
        </p:txBody>
      </p:sp>
      <p:pic>
        <p:nvPicPr>
          <p:cNvPr id="635" name="Google Shape;63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250" y="3359375"/>
            <a:ext cx="775810" cy="10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1"/>
          <p:cNvSpPr txBox="1"/>
          <p:nvPr>
            <p:ph idx="1" type="body"/>
          </p:nvPr>
        </p:nvSpPr>
        <p:spPr>
          <a:xfrm>
            <a:off x="311700" y="906225"/>
            <a:ext cx="8676600" cy="4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În ce ordine considerăm vârfurile pentru a calcula distanțele față de 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</a:t>
            </a:r>
            <a:br>
              <a:rPr lang="en-GB"/>
            </a:br>
            <a:r>
              <a:rPr lang="en-GB"/>
              <a:t>		”din aproape în aproape” </a:t>
            </a:r>
            <a:r>
              <a:rPr b="0" lang="en-GB"/>
              <a:t>⇒ când considerăm un vârf v, </a:t>
            </a:r>
            <a:r>
              <a:rPr lang="en-GB"/>
              <a:t>pentru a calcula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(s, v)</a:t>
            </a:r>
            <a:r>
              <a:rPr b="0" lang="en-GB"/>
              <a:t>,</a:t>
            </a:r>
            <a:br>
              <a:rPr b="0" lang="en-GB"/>
            </a:br>
            <a:r>
              <a:rPr b="0" lang="en-GB"/>
              <a:t>		ar fi util să știm deja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/>
              <a:t>(s, u), </a:t>
            </a:r>
            <a:r>
              <a:rPr lang="en-GB"/>
              <a:t>pentru orice u cu uv ∈ E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	Ar fi utilă o ordonare a vârfurilor astfel încât, dacă uv E, atunci u se </a:t>
            </a:r>
            <a:br>
              <a:rPr lang="en-GB"/>
            </a:br>
            <a:r>
              <a:rPr lang="en-GB"/>
              <a:t>				află înaintea lui v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		O astfel de ordonare </a:t>
            </a:r>
            <a:r>
              <a:rPr lang="en-GB" u="sng"/>
              <a:t>nu există</a:t>
            </a:r>
            <a:r>
              <a:rPr lang="en-GB"/>
              <a:t> dacă graful conține circuite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		Dacă există circuite - </a:t>
            </a:r>
            <a:r>
              <a:rPr lang="en-GB" u="sng">
                <a:solidFill>
                  <a:srgbClr val="CC0000"/>
                </a:solidFill>
              </a:rPr>
              <a:t>estimăm</a:t>
            </a:r>
            <a:r>
              <a:rPr lang="en-GB"/>
              <a:t> </a:t>
            </a:r>
            <a:r>
              <a:rPr b="0" lang="en-GB"/>
              <a:t>distanțele pe parcursul algoritmului și considerăm </a:t>
            </a:r>
            <a:br>
              <a:rPr b="0" lang="en-GB"/>
            </a:br>
            <a:r>
              <a:rPr b="0" lang="en-GB"/>
              <a:t>		vârful care este </a:t>
            </a:r>
            <a:r>
              <a:rPr b="0" lang="en-GB">
                <a:solidFill>
                  <a:srgbClr val="CC0000"/>
                </a:solidFill>
              </a:rPr>
              <a:t>estimat </a:t>
            </a:r>
            <a:r>
              <a:rPr b="0" lang="en-GB"/>
              <a:t>a fi cel mai aproape de s</a:t>
            </a:r>
            <a:endParaRPr b="0"/>
          </a:p>
        </p:txBody>
      </p:sp>
      <p:sp>
        <p:nvSpPr>
          <p:cNvPr id="641" name="Google Shape;641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minime de sursă unică s</a:t>
            </a:r>
            <a:endParaRPr/>
          </a:p>
        </p:txBody>
      </p:sp>
      <p:pic>
        <p:nvPicPr>
          <p:cNvPr id="642" name="Google Shape;6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500" y="3675475"/>
            <a:ext cx="720800" cy="12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minime de sursă unică s</a:t>
            </a:r>
            <a:endParaRPr/>
          </a:p>
        </p:txBody>
      </p:sp>
      <p:sp>
        <p:nvSpPr>
          <p:cNvPr id="648" name="Google Shape;648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Algoritmi pentru grafuri orientate cu circuite, dar cu ponderi pozitive - </a:t>
            </a:r>
            <a:r>
              <a:rPr lang="en-GB"/>
              <a:t>Dijkstra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Algoritmi pentru grafuri orientate fără circuite (cu ponderi reale) DAGs = Directed Acyclic Graphs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0" lang="en-GB"/>
              <a:t>Algoritmi pentru grafuri orientate cu circuite și ponderi reale, care detectează existența de circuite negative -  </a:t>
            </a:r>
            <a:r>
              <a:rPr lang="en-GB"/>
              <a:t>Bellman-Ford </a:t>
            </a:r>
            <a:endParaRPr b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654" name="Google Shape;654;p33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660" name="Google Shape;660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Ipoteză:</a:t>
            </a:r>
            <a:endParaRPr b="0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Presupunem că arcele au cost pozitiv (graful poate conține circuite)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grpSp>
        <p:nvGrpSpPr>
          <p:cNvPr id="666" name="Google Shape;666;p35"/>
          <p:cNvGrpSpPr/>
          <p:nvPr/>
        </p:nvGrpSpPr>
        <p:grpSpPr>
          <a:xfrm>
            <a:off x="1230450" y="1240375"/>
            <a:ext cx="3175700" cy="3130750"/>
            <a:chOff x="1230450" y="1240375"/>
            <a:chExt cx="3175700" cy="3130750"/>
          </a:xfrm>
        </p:grpSpPr>
        <p:sp>
          <p:nvSpPr>
            <p:cNvPr id="667" name="Google Shape;667;p35"/>
            <p:cNvSpPr/>
            <p:nvPr/>
          </p:nvSpPr>
          <p:spPr>
            <a:xfrm>
              <a:off x="2106600" y="1240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5"/>
            <p:cNvSpPr/>
            <p:nvPr/>
          </p:nvSpPr>
          <p:spPr>
            <a:xfrm>
              <a:off x="1230450" y="2391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35"/>
            <p:cNvSpPr/>
            <p:nvPr/>
          </p:nvSpPr>
          <p:spPr>
            <a:xfrm>
              <a:off x="2534750" y="20316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5"/>
            <p:cNvSpPr/>
            <p:nvPr/>
          </p:nvSpPr>
          <p:spPr>
            <a:xfrm>
              <a:off x="3724625" y="3593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5"/>
            <p:cNvSpPr/>
            <p:nvPr/>
          </p:nvSpPr>
          <p:spPr>
            <a:xfrm>
              <a:off x="1876050" y="35938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5"/>
            <p:cNvSpPr/>
            <p:nvPr/>
          </p:nvSpPr>
          <p:spPr>
            <a:xfrm>
              <a:off x="3839050" y="2282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3" name="Google Shape;673;p35"/>
            <p:cNvCxnSpPr>
              <a:stCxn id="667" idx="3"/>
              <a:endCxn id="668" idx="7"/>
            </p:cNvCxnSpPr>
            <p:nvPr/>
          </p:nvCxnSpPr>
          <p:spPr>
            <a:xfrm flipH="1">
              <a:off x="1537721" y="1547654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674" name="Google Shape;674;p35"/>
            <p:cNvCxnSpPr>
              <a:stCxn id="667" idx="6"/>
              <a:endCxn id="672" idx="1"/>
            </p:cNvCxnSpPr>
            <p:nvPr/>
          </p:nvCxnSpPr>
          <p:spPr>
            <a:xfrm>
              <a:off x="2466600" y="1420375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675" name="Google Shape;675;p35"/>
            <p:cNvCxnSpPr>
              <a:stCxn id="668" idx="6"/>
              <a:endCxn id="669" idx="2"/>
            </p:cNvCxnSpPr>
            <p:nvPr/>
          </p:nvCxnSpPr>
          <p:spPr>
            <a:xfrm flipH="1" rot="10800000">
              <a:off x="1590450" y="2211650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676" name="Google Shape;676;p35"/>
            <p:cNvCxnSpPr>
              <a:endCxn id="672" idx="2"/>
            </p:cNvCxnSpPr>
            <p:nvPr/>
          </p:nvCxnSpPr>
          <p:spPr>
            <a:xfrm>
              <a:off x="2894650" y="2211500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677" name="Google Shape;677;p35"/>
            <p:cNvCxnSpPr>
              <a:stCxn id="668" idx="5"/>
            </p:cNvCxnSpPr>
            <p:nvPr/>
          </p:nvCxnSpPr>
          <p:spPr>
            <a:xfrm>
              <a:off x="1537729" y="269892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35"/>
            <p:cNvCxnSpPr>
              <a:stCxn id="668" idx="4"/>
              <a:endCxn id="671" idx="1"/>
            </p:cNvCxnSpPr>
            <p:nvPr/>
          </p:nvCxnSpPr>
          <p:spPr>
            <a:xfrm>
              <a:off x="1410450" y="2751650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679" name="Google Shape;679;p35"/>
            <p:cNvCxnSpPr/>
            <p:nvPr/>
          </p:nvCxnSpPr>
          <p:spPr>
            <a:xfrm>
              <a:off x="1537729" y="2698929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680" name="Google Shape;680;p35"/>
            <p:cNvCxnSpPr>
              <a:stCxn id="671" idx="6"/>
              <a:endCxn id="670" idx="2"/>
            </p:cNvCxnSpPr>
            <p:nvPr/>
          </p:nvCxnSpPr>
          <p:spPr>
            <a:xfrm>
              <a:off x="2236050" y="3773875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681" name="Google Shape;681;p35"/>
            <p:cNvCxnSpPr>
              <a:stCxn id="669" idx="4"/>
              <a:endCxn id="670" idx="1"/>
            </p:cNvCxnSpPr>
            <p:nvPr/>
          </p:nvCxnSpPr>
          <p:spPr>
            <a:xfrm>
              <a:off x="2714750" y="2391650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682" name="Google Shape;682;p35"/>
            <p:cNvCxnSpPr>
              <a:stCxn id="672" idx="4"/>
              <a:endCxn id="670" idx="0"/>
            </p:cNvCxnSpPr>
            <p:nvPr/>
          </p:nvCxnSpPr>
          <p:spPr>
            <a:xfrm flipH="1">
              <a:off x="3904750" y="2642600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83" name="Google Shape;683;p35"/>
            <p:cNvSpPr txBox="1"/>
            <p:nvPr/>
          </p:nvSpPr>
          <p:spPr>
            <a:xfrm>
              <a:off x="1410450" y="16841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5"/>
            <p:cNvSpPr txBox="1"/>
            <p:nvPr/>
          </p:nvSpPr>
          <p:spPr>
            <a:xfrm>
              <a:off x="3150700" y="14976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5"/>
            <p:cNvSpPr txBox="1"/>
            <p:nvPr/>
          </p:nvSpPr>
          <p:spPr>
            <a:xfrm>
              <a:off x="1876050" y="20385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5"/>
            <p:cNvSpPr txBox="1"/>
            <p:nvPr/>
          </p:nvSpPr>
          <p:spPr>
            <a:xfrm>
              <a:off x="3270175" y="22625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5"/>
            <p:cNvSpPr txBox="1"/>
            <p:nvPr/>
          </p:nvSpPr>
          <p:spPr>
            <a:xfrm>
              <a:off x="3973850" y="2873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5"/>
            <p:cNvSpPr txBox="1"/>
            <p:nvPr/>
          </p:nvSpPr>
          <p:spPr>
            <a:xfrm>
              <a:off x="2907888" y="37028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5"/>
            <p:cNvSpPr txBox="1"/>
            <p:nvPr/>
          </p:nvSpPr>
          <p:spPr>
            <a:xfrm>
              <a:off x="2368588" y="2751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5"/>
            <p:cNvSpPr txBox="1"/>
            <p:nvPr/>
          </p:nvSpPr>
          <p:spPr>
            <a:xfrm>
              <a:off x="1361238" y="3058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5"/>
            <p:cNvSpPr txBox="1"/>
            <p:nvPr/>
          </p:nvSpPr>
          <p:spPr>
            <a:xfrm>
              <a:off x="3136663" y="26930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5"/>
            <p:cNvSpPr/>
            <p:nvPr/>
          </p:nvSpPr>
          <p:spPr>
            <a:xfrm>
              <a:off x="1528750" y="2726125"/>
              <a:ext cx="2191450" cy="986525"/>
            </a:xfrm>
            <a:custGeom>
              <a:rect b="b" l="l" r="r" t="t"/>
              <a:pathLst>
                <a:path extrusionOk="0" h="39461" w="87658">
                  <a:moveTo>
                    <a:pt x="0" y="0"/>
                  </a:moveTo>
                  <a:cubicBezTo>
                    <a:pt x="6075" y="4318"/>
                    <a:pt x="21838" y="19329"/>
                    <a:pt x="36448" y="25906"/>
                  </a:cubicBezTo>
                  <a:cubicBezTo>
                    <a:pt x="51058" y="32483"/>
                    <a:pt x="79123" y="37202"/>
                    <a:pt x="87658" y="3946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5"/>
            <p:cNvSpPr txBox="1"/>
            <p:nvPr/>
          </p:nvSpPr>
          <p:spPr>
            <a:xfrm>
              <a:off x="2155038" y="32591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5"/>
            <p:cNvSpPr/>
            <p:nvPr/>
          </p:nvSpPr>
          <p:spPr>
            <a:xfrm>
              <a:off x="2153788" y="3888425"/>
              <a:ext cx="1611575" cy="181700"/>
            </a:xfrm>
            <a:custGeom>
              <a:rect b="b" l="l" r="r" t="t"/>
              <a:pathLst>
                <a:path extrusionOk="0" h="7268" w="64463">
                  <a:moveTo>
                    <a:pt x="0" y="904"/>
                  </a:moveTo>
                  <a:cubicBezTo>
                    <a:pt x="5221" y="1958"/>
                    <a:pt x="20584" y="7381"/>
                    <a:pt x="31328" y="7230"/>
                  </a:cubicBezTo>
                  <a:cubicBezTo>
                    <a:pt x="42072" y="7079"/>
                    <a:pt x="58941" y="1205"/>
                    <a:pt x="64463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5"/>
            <p:cNvSpPr txBox="1"/>
            <p:nvPr/>
          </p:nvSpPr>
          <p:spPr>
            <a:xfrm>
              <a:off x="2743425" y="39709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701" name="Google Shape;701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Idee: </a:t>
            </a:r>
            <a:r>
              <a:rPr b="0" lang="en-GB"/>
              <a:t>La un pas, este ales ca vârf curent (vizitat) vârful u care este </a:t>
            </a:r>
            <a:r>
              <a:rPr lang="en-GB" u="sng">
                <a:solidFill>
                  <a:srgbClr val="CC0000"/>
                </a:solidFill>
              </a:rPr>
              <a:t>estimat</a:t>
            </a:r>
            <a:r>
              <a:rPr lang="en-GB">
                <a:solidFill>
                  <a:srgbClr val="CC0000"/>
                </a:solidFill>
              </a:rPr>
              <a:t> a fi cel mai apropiat de s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>
                <a:solidFill>
                  <a:srgbClr val="CC0000"/>
                </a:solidFill>
              </a:rPr>
              <a:t>Estimarea pentru u</a:t>
            </a:r>
            <a:r>
              <a:rPr b="0" lang="en-GB"/>
              <a:t> = cel mai scurt drum de la s la u determinat până la pasul curent</a:t>
            </a:r>
            <a:endParaRPr b="0"/>
          </a:p>
        </p:txBody>
      </p:sp>
      <p:grpSp>
        <p:nvGrpSpPr>
          <p:cNvPr id="702" name="Google Shape;702;p36"/>
          <p:cNvGrpSpPr/>
          <p:nvPr/>
        </p:nvGrpSpPr>
        <p:grpSpPr>
          <a:xfrm>
            <a:off x="2528188" y="3478476"/>
            <a:ext cx="4087600" cy="365687"/>
            <a:chOff x="2528188" y="3478476"/>
            <a:chExt cx="4087600" cy="365687"/>
          </a:xfrm>
        </p:grpSpPr>
        <p:sp>
          <p:nvSpPr>
            <p:cNvPr id="703" name="Google Shape;703;p36"/>
            <p:cNvSpPr/>
            <p:nvPr/>
          </p:nvSpPr>
          <p:spPr>
            <a:xfrm>
              <a:off x="2528188" y="3484163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6"/>
            <p:cNvSpPr/>
            <p:nvPr/>
          </p:nvSpPr>
          <p:spPr>
            <a:xfrm>
              <a:off x="5042588" y="3484163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6255788" y="34841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6" name="Google Shape;706;p36"/>
            <p:cNvCxnSpPr>
              <a:stCxn id="704" idx="6"/>
              <a:endCxn id="705" idx="2"/>
            </p:cNvCxnSpPr>
            <p:nvPr/>
          </p:nvCxnSpPr>
          <p:spPr>
            <a:xfrm>
              <a:off x="5402588" y="3664163"/>
              <a:ext cx="853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07" name="Google Shape;707;p36"/>
            <p:cNvSpPr/>
            <p:nvPr/>
          </p:nvSpPr>
          <p:spPr>
            <a:xfrm>
              <a:off x="2796975" y="3478476"/>
              <a:ext cx="2248875" cy="327400"/>
            </a:xfrm>
            <a:custGeom>
              <a:rect b="b" l="l" r="r" t="t"/>
              <a:pathLst>
                <a:path extrusionOk="0" h="13096" w="89955">
                  <a:moveTo>
                    <a:pt x="0" y="1587"/>
                  </a:moveTo>
                  <a:cubicBezTo>
                    <a:pt x="1485" y="1327"/>
                    <a:pt x="6293" y="-230"/>
                    <a:pt x="8909" y="29"/>
                  </a:cubicBezTo>
                  <a:cubicBezTo>
                    <a:pt x="11526" y="288"/>
                    <a:pt x="13672" y="1774"/>
                    <a:pt x="15699" y="3141"/>
                  </a:cubicBezTo>
                  <a:cubicBezTo>
                    <a:pt x="17726" y="4508"/>
                    <a:pt x="18622" y="6583"/>
                    <a:pt x="21073" y="8233"/>
                  </a:cubicBezTo>
                  <a:cubicBezTo>
                    <a:pt x="23525" y="9883"/>
                    <a:pt x="26707" y="13584"/>
                    <a:pt x="30408" y="13042"/>
                  </a:cubicBezTo>
                  <a:cubicBezTo>
                    <a:pt x="34109" y="12500"/>
                    <a:pt x="39249" y="6843"/>
                    <a:pt x="43280" y="4981"/>
                  </a:cubicBezTo>
                  <a:cubicBezTo>
                    <a:pt x="47311" y="3119"/>
                    <a:pt x="50210" y="880"/>
                    <a:pt x="54595" y="1870"/>
                  </a:cubicBezTo>
                  <a:cubicBezTo>
                    <a:pt x="58980" y="2860"/>
                    <a:pt x="64873" y="10592"/>
                    <a:pt x="69588" y="10922"/>
                  </a:cubicBezTo>
                  <a:cubicBezTo>
                    <a:pt x="74303" y="11252"/>
                    <a:pt x="79489" y="4557"/>
                    <a:pt x="82883" y="3850"/>
                  </a:cubicBezTo>
                  <a:cubicBezTo>
                    <a:pt x="86278" y="3143"/>
                    <a:pt x="88776" y="6208"/>
                    <a:pt x="89955" y="667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713" name="Google Shape;713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Idee: </a:t>
            </a:r>
            <a:r>
              <a:rPr b="0" lang="en-GB"/>
              <a:t>La un pas, este ales ca vârf curent (vizitat) vârful u care este </a:t>
            </a:r>
            <a:r>
              <a:rPr lang="en-GB" u="sng">
                <a:solidFill>
                  <a:srgbClr val="CC0000"/>
                </a:solidFill>
              </a:rPr>
              <a:t>estimat</a:t>
            </a:r>
            <a:r>
              <a:rPr lang="en-GB">
                <a:solidFill>
                  <a:srgbClr val="CC0000"/>
                </a:solidFill>
              </a:rPr>
              <a:t> a fi cel mai apropiat de s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>
                <a:solidFill>
                  <a:srgbClr val="CC0000"/>
                </a:solidFill>
              </a:rPr>
              <a:t>Estimarea pentru u</a:t>
            </a:r>
            <a:r>
              <a:rPr b="0" lang="en-GB"/>
              <a:t> = cel mai scurt drum de la s la u determinat până la pasul curent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+"/>
            </a:pPr>
            <a:r>
              <a:rPr b="0" lang="en-GB"/>
              <a:t>se descoperă noi drumuri către vecinii lui  ⇒  </a:t>
            </a:r>
            <a:r>
              <a:rPr lang="en-GB"/>
              <a:t>se actualizează distanțele estimate pentru vecini</a:t>
            </a:r>
            <a:endParaRPr/>
          </a:p>
        </p:txBody>
      </p:sp>
      <p:grpSp>
        <p:nvGrpSpPr>
          <p:cNvPr id="714" name="Google Shape;714;p37"/>
          <p:cNvGrpSpPr/>
          <p:nvPr/>
        </p:nvGrpSpPr>
        <p:grpSpPr>
          <a:xfrm>
            <a:off x="2528188" y="3478476"/>
            <a:ext cx="4087600" cy="365687"/>
            <a:chOff x="2528188" y="3478476"/>
            <a:chExt cx="4087600" cy="365687"/>
          </a:xfrm>
        </p:grpSpPr>
        <p:sp>
          <p:nvSpPr>
            <p:cNvPr id="715" name="Google Shape;715;p37"/>
            <p:cNvSpPr/>
            <p:nvPr/>
          </p:nvSpPr>
          <p:spPr>
            <a:xfrm>
              <a:off x="2528188" y="3484163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5042588" y="3484163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7"/>
            <p:cNvSpPr/>
            <p:nvPr/>
          </p:nvSpPr>
          <p:spPr>
            <a:xfrm>
              <a:off x="6255788" y="3484163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8" name="Google Shape;718;p37"/>
            <p:cNvCxnSpPr>
              <a:stCxn id="716" idx="6"/>
              <a:endCxn id="717" idx="2"/>
            </p:cNvCxnSpPr>
            <p:nvPr/>
          </p:nvCxnSpPr>
          <p:spPr>
            <a:xfrm>
              <a:off x="5402588" y="3664163"/>
              <a:ext cx="853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19" name="Google Shape;719;p37"/>
            <p:cNvSpPr/>
            <p:nvPr/>
          </p:nvSpPr>
          <p:spPr>
            <a:xfrm>
              <a:off x="2796975" y="3478476"/>
              <a:ext cx="2248875" cy="327400"/>
            </a:xfrm>
            <a:custGeom>
              <a:rect b="b" l="l" r="r" t="t"/>
              <a:pathLst>
                <a:path extrusionOk="0" h="13096" w="89955">
                  <a:moveTo>
                    <a:pt x="0" y="1587"/>
                  </a:moveTo>
                  <a:cubicBezTo>
                    <a:pt x="1485" y="1327"/>
                    <a:pt x="6293" y="-230"/>
                    <a:pt x="8909" y="29"/>
                  </a:cubicBezTo>
                  <a:cubicBezTo>
                    <a:pt x="11526" y="288"/>
                    <a:pt x="13672" y="1774"/>
                    <a:pt x="15699" y="3141"/>
                  </a:cubicBezTo>
                  <a:cubicBezTo>
                    <a:pt x="17726" y="4508"/>
                    <a:pt x="18622" y="6583"/>
                    <a:pt x="21073" y="8233"/>
                  </a:cubicBezTo>
                  <a:cubicBezTo>
                    <a:pt x="23525" y="9883"/>
                    <a:pt x="26707" y="13584"/>
                    <a:pt x="30408" y="13042"/>
                  </a:cubicBezTo>
                  <a:cubicBezTo>
                    <a:pt x="34109" y="12500"/>
                    <a:pt x="39249" y="6843"/>
                    <a:pt x="43280" y="4981"/>
                  </a:cubicBezTo>
                  <a:cubicBezTo>
                    <a:pt x="47311" y="3119"/>
                    <a:pt x="50210" y="880"/>
                    <a:pt x="54595" y="1870"/>
                  </a:cubicBezTo>
                  <a:cubicBezTo>
                    <a:pt x="58980" y="2860"/>
                    <a:pt x="64873" y="10592"/>
                    <a:pt x="69588" y="10922"/>
                  </a:cubicBezTo>
                  <a:cubicBezTo>
                    <a:pt x="74303" y="11252"/>
                    <a:pt x="79489" y="4557"/>
                    <a:pt x="82883" y="3850"/>
                  </a:cubicBezTo>
                  <a:cubicBezTo>
                    <a:pt x="86278" y="3143"/>
                    <a:pt x="88776" y="6208"/>
                    <a:pt x="89955" y="667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725" name="Google Shape;725;p3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Generalizare a ideii de parcurgere BF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Dacă toate arcele au cost egal ⇒  Dijkstra ≡ BF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731" name="Google Shape;731;p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Pentru fiecare vârf, reținem etichetele: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d[u] - </a:t>
            </a:r>
            <a:r>
              <a:rPr b="0" lang="en-GB"/>
              <a:t>etichetă de distanță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tata[u]</a:t>
            </a:r>
            <a:endParaRPr/>
          </a:p>
        </p:txBody>
      </p:sp>
      <p:sp>
        <p:nvSpPr>
          <p:cNvPr id="732" name="Google Shape;732;p40"/>
          <p:cNvSpPr/>
          <p:nvPr/>
        </p:nvSpPr>
        <p:spPr>
          <a:xfrm>
            <a:off x="2422088" y="22117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0"/>
          <p:cNvSpPr/>
          <p:nvPr/>
        </p:nvSpPr>
        <p:spPr>
          <a:xfrm>
            <a:off x="4936488" y="22117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0"/>
          <p:cNvSpPr/>
          <p:nvPr/>
        </p:nvSpPr>
        <p:spPr>
          <a:xfrm>
            <a:off x="6149688" y="2211738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5" name="Google Shape;735;p40"/>
          <p:cNvCxnSpPr>
            <a:stCxn id="733" idx="6"/>
            <a:endCxn id="734" idx="2"/>
          </p:cNvCxnSpPr>
          <p:nvPr/>
        </p:nvCxnSpPr>
        <p:spPr>
          <a:xfrm>
            <a:off x="5296488" y="2391738"/>
            <a:ext cx="853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36" name="Google Shape;736;p40"/>
          <p:cNvSpPr/>
          <p:nvPr/>
        </p:nvSpPr>
        <p:spPr>
          <a:xfrm>
            <a:off x="2690875" y="2206051"/>
            <a:ext cx="2248875" cy="327400"/>
          </a:xfrm>
          <a:custGeom>
            <a:rect b="b" l="l" r="r" t="t"/>
            <a:pathLst>
              <a:path extrusionOk="0" h="13096" w="89955">
                <a:moveTo>
                  <a:pt x="0" y="1587"/>
                </a:moveTo>
                <a:cubicBezTo>
                  <a:pt x="1485" y="1327"/>
                  <a:pt x="6293" y="-230"/>
                  <a:pt x="8909" y="29"/>
                </a:cubicBezTo>
                <a:cubicBezTo>
                  <a:pt x="11526" y="288"/>
                  <a:pt x="13672" y="1774"/>
                  <a:pt x="15699" y="3141"/>
                </a:cubicBezTo>
                <a:cubicBezTo>
                  <a:pt x="17726" y="4508"/>
                  <a:pt x="18622" y="6583"/>
                  <a:pt x="21073" y="8233"/>
                </a:cubicBezTo>
                <a:cubicBezTo>
                  <a:pt x="23525" y="9883"/>
                  <a:pt x="26707" y="13584"/>
                  <a:pt x="30408" y="13042"/>
                </a:cubicBezTo>
                <a:cubicBezTo>
                  <a:pt x="34109" y="12500"/>
                  <a:pt x="39249" y="6843"/>
                  <a:pt x="43280" y="4981"/>
                </a:cubicBezTo>
                <a:cubicBezTo>
                  <a:pt x="47311" y="3119"/>
                  <a:pt x="50210" y="880"/>
                  <a:pt x="54595" y="1870"/>
                </a:cubicBezTo>
                <a:cubicBezTo>
                  <a:pt x="58980" y="2860"/>
                  <a:pt x="64873" y="10592"/>
                  <a:pt x="69588" y="10922"/>
                </a:cubicBezTo>
                <a:cubicBezTo>
                  <a:pt x="74303" y="11252"/>
                  <a:pt x="79489" y="4557"/>
                  <a:pt x="82883" y="3850"/>
                </a:cubicBezTo>
                <a:cubicBezTo>
                  <a:pt x="86278" y="3143"/>
                  <a:pt x="88776" y="6208"/>
                  <a:pt x="89955" y="6679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0"/>
          <p:cNvSpPr txBox="1"/>
          <p:nvPr/>
        </p:nvSpPr>
        <p:spPr>
          <a:xfrm>
            <a:off x="5014025" y="1805850"/>
            <a:ext cx="7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tata[u]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0"/>
          <p:cNvSpPr/>
          <p:nvPr/>
        </p:nvSpPr>
        <p:spPr>
          <a:xfrm rot="-5400000">
            <a:off x="4308550" y="719600"/>
            <a:ext cx="247500" cy="4331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0"/>
          <p:cNvSpPr txBox="1"/>
          <p:nvPr/>
        </p:nvSpPr>
        <p:spPr>
          <a:xfrm>
            <a:off x="2063400" y="3198850"/>
            <a:ext cx="5017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d[u]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costul minim al unui drum de la s la u descoperit</a:t>
            </a:r>
            <a:b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până la acel moment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tata[u]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predecesorul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lui u pe drumul de cost minim de</a:t>
            </a:r>
            <a:b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la s la u descoperit până la acel moment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745" name="Google Shape;745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La un pas: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este selectat un vârf u (neselectat) care </a:t>
            </a:r>
            <a:r>
              <a:rPr lang="en-GB"/>
              <a:t>“pare”</a:t>
            </a:r>
            <a:r>
              <a:rPr b="0" lang="en-GB"/>
              <a:t> cel mai apropiat de s ⇔ are eticheta d minimă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se actualizează etichetele </a:t>
            </a:r>
            <a:r>
              <a:rPr lang="en-GB"/>
              <a:t>d[v]</a:t>
            </a:r>
            <a:r>
              <a:rPr b="0" lang="en-GB"/>
              <a:t> ale vecinilor lui u - considerând drumuri care trec prin u</a:t>
            </a:r>
            <a:endParaRPr b="0"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CC0000"/>
              </a:buClr>
              <a:buSzPts val="1400"/>
              <a:buChar char="○"/>
            </a:pPr>
            <a:r>
              <a:rPr b="1" lang="en-GB" sz="1600">
                <a:solidFill>
                  <a:srgbClr val="CC0000"/>
                </a:solidFill>
              </a:rPr>
              <a:t>tehică de relaxare a arcelor care ies din u</a:t>
            </a:r>
            <a:endParaRPr b="1" sz="16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751" name="Google Shape;751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Relaxarea unui arc (u, v) = </a:t>
            </a:r>
            <a:r>
              <a:rPr b="0" lang="en-GB"/>
              <a:t>verificarea dacă d[v] poate fi îmbunătățit, trecând prin vârful u</a:t>
            </a:r>
            <a:endParaRPr b="0"/>
          </a:p>
        </p:txBody>
      </p:sp>
      <p:grpSp>
        <p:nvGrpSpPr>
          <p:cNvPr id="752" name="Google Shape;752;p42"/>
          <p:cNvGrpSpPr/>
          <p:nvPr/>
        </p:nvGrpSpPr>
        <p:grpSpPr>
          <a:xfrm>
            <a:off x="2528188" y="2466605"/>
            <a:ext cx="4087600" cy="858833"/>
            <a:chOff x="2528188" y="2466605"/>
            <a:chExt cx="4087600" cy="858833"/>
          </a:xfrm>
        </p:grpSpPr>
        <p:sp>
          <p:nvSpPr>
            <p:cNvPr id="753" name="Google Shape;753;p42"/>
            <p:cNvSpPr/>
            <p:nvPr/>
          </p:nvSpPr>
          <p:spPr>
            <a:xfrm>
              <a:off x="2528188" y="2965438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42"/>
            <p:cNvSpPr/>
            <p:nvPr/>
          </p:nvSpPr>
          <p:spPr>
            <a:xfrm>
              <a:off x="5042588" y="2965438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42"/>
            <p:cNvSpPr/>
            <p:nvPr/>
          </p:nvSpPr>
          <p:spPr>
            <a:xfrm>
              <a:off x="6255788" y="296543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6" name="Google Shape;756;p42"/>
            <p:cNvCxnSpPr>
              <a:stCxn id="754" idx="6"/>
              <a:endCxn id="755" idx="2"/>
            </p:cNvCxnSpPr>
            <p:nvPr/>
          </p:nvCxnSpPr>
          <p:spPr>
            <a:xfrm>
              <a:off x="5402588" y="3145438"/>
              <a:ext cx="853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57" name="Google Shape;757;p42"/>
            <p:cNvSpPr/>
            <p:nvPr/>
          </p:nvSpPr>
          <p:spPr>
            <a:xfrm>
              <a:off x="2796975" y="2959751"/>
              <a:ext cx="2248875" cy="327400"/>
            </a:xfrm>
            <a:custGeom>
              <a:rect b="b" l="l" r="r" t="t"/>
              <a:pathLst>
                <a:path extrusionOk="0" h="13096" w="89955">
                  <a:moveTo>
                    <a:pt x="0" y="1587"/>
                  </a:moveTo>
                  <a:cubicBezTo>
                    <a:pt x="1485" y="1327"/>
                    <a:pt x="6293" y="-230"/>
                    <a:pt x="8909" y="29"/>
                  </a:cubicBezTo>
                  <a:cubicBezTo>
                    <a:pt x="11526" y="288"/>
                    <a:pt x="13672" y="1774"/>
                    <a:pt x="15699" y="3141"/>
                  </a:cubicBezTo>
                  <a:cubicBezTo>
                    <a:pt x="17726" y="4508"/>
                    <a:pt x="18622" y="6583"/>
                    <a:pt x="21073" y="8233"/>
                  </a:cubicBezTo>
                  <a:cubicBezTo>
                    <a:pt x="23525" y="9883"/>
                    <a:pt x="26707" y="13584"/>
                    <a:pt x="30408" y="13042"/>
                  </a:cubicBezTo>
                  <a:cubicBezTo>
                    <a:pt x="34109" y="12500"/>
                    <a:pt x="39249" y="6843"/>
                    <a:pt x="43280" y="4981"/>
                  </a:cubicBezTo>
                  <a:cubicBezTo>
                    <a:pt x="47311" y="3119"/>
                    <a:pt x="50210" y="880"/>
                    <a:pt x="54595" y="1870"/>
                  </a:cubicBezTo>
                  <a:cubicBezTo>
                    <a:pt x="58980" y="2860"/>
                    <a:pt x="64873" y="10592"/>
                    <a:pt x="69588" y="10922"/>
                  </a:cubicBezTo>
                  <a:cubicBezTo>
                    <a:pt x="74303" y="11252"/>
                    <a:pt x="79489" y="4557"/>
                    <a:pt x="82883" y="3850"/>
                  </a:cubicBezTo>
                  <a:cubicBezTo>
                    <a:pt x="86278" y="3143"/>
                    <a:pt x="88776" y="6208"/>
                    <a:pt x="89955" y="667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42"/>
            <p:cNvSpPr/>
            <p:nvPr/>
          </p:nvSpPr>
          <p:spPr>
            <a:xfrm>
              <a:off x="2722700" y="2466605"/>
              <a:ext cx="3599600" cy="494050"/>
            </a:xfrm>
            <a:custGeom>
              <a:rect b="b" l="l" r="r" t="t"/>
              <a:pathLst>
                <a:path extrusionOk="0" h="19762" w="143984">
                  <a:moveTo>
                    <a:pt x="0" y="19762"/>
                  </a:moveTo>
                  <a:cubicBezTo>
                    <a:pt x="5092" y="16509"/>
                    <a:pt x="17491" y="1988"/>
                    <a:pt x="30550" y="244"/>
                  </a:cubicBezTo>
                  <a:cubicBezTo>
                    <a:pt x="43610" y="-1500"/>
                    <a:pt x="64779" y="9060"/>
                    <a:pt x="78357" y="9296"/>
                  </a:cubicBezTo>
                  <a:cubicBezTo>
                    <a:pt x="91935" y="9532"/>
                    <a:pt x="101081" y="-86"/>
                    <a:pt x="112019" y="1658"/>
                  </a:cubicBezTo>
                  <a:cubicBezTo>
                    <a:pt x="122957" y="3402"/>
                    <a:pt x="138657" y="16745"/>
                    <a:pt x="143984" y="197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9" name="Google Shape;759;p42"/>
          <p:cNvCxnSpPr/>
          <p:nvPr/>
        </p:nvCxnSpPr>
        <p:spPr>
          <a:xfrm flipH="1">
            <a:off x="4618025" y="2100350"/>
            <a:ext cx="63600" cy="3819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60" name="Google Shape;760;p42"/>
          <p:cNvSpPr txBox="1"/>
          <p:nvPr/>
        </p:nvSpPr>
        <p:spPr>
          <a:xfrm>
            <a:off x="3880900" y="1756175"/>
            <a:ext cx="169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vechiul s-v drum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2"/>
          <p:cNvSpPr txBox="1"/>
          <p:nvPr/>
        </p:nvSpPr>
        <p:spPr>
          <a:xfrm>
            <a:off x="3317050" y="3577525"/>
            <a:ext cx="28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noul s-v drum care trece prin u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767" name="Google Shape;767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Relaxarea unui arc (u, v)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dacă d[u] + w(u,v) &lt; d[v] atunci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d[v] = d[u] + 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tata[v] = u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768" name="Google Shape;768;p43"/>
          <p:cNvGrpSpPr/>
          <p:nvPr/>
        </p:nvGrpSpPr>
        <p:grpSpPr>
          <a:xfrm>
            <a:off x="2365538" y="3055416"/>
            <a:ext cx="4405825" cy="1052522"/>
            <a:chOff x="2365538" y="3055416"/>
            <a:chExt cx="4405825" cy="1052522"/>
          </a:xfrm>
        </p:grpSpPr>
        <p:sp>
          <p:nvSpPr>
            <p:cNvPr id="769" name="Google Shape;769;p43"/>
            <p:cNvSpPr/>
            <p:nvPr/>
          </p:nvSpPr>
          <p:spPr>
            <a:xfrm>
              <a:off x="2365538" y="3747938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43"/>
            <p:cNvSpPr/>
            <p:nvPr/>
          </p:nvSpPr>
          <p:spPr>
            <a:xfrm>
              <a:off x="4879938" y="3747938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3"/>
            <p:cNvSpPr/>
            <p:nvPr/>
          </p:nvSpPr>
          <p:spPr>
            <a:xfrm>
              <a:off x="6411363" y="372593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2" name="Google Shape;772;p43"/>
            <p:cNvCxnSpPr>
              <a:stCxn id="770" idx="6"/>
              <a:endCxn id="771" idx="2"/>
            </p:cNvCxnSpPr>
            <p:nvPr/>
          </p:nvCxnSpPr>
          <p:spPr>
            <a:xfrm flipH="1" rot="10800000">
              <a:off x="5239938" y="3906038"/>
              <a:ext cx="1171500" cy="2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73" name="Google Shape;773;p43"/>
            <p:cNvSpPr/>
            <p:nvPr/>
          </p:nvSpPr>
          <p:spPr>
            <a:xfrm>
              <a:off x="2634325" y="3742251"/>
              <a:ext cx="2248875" cy="327400"/>
            </a:xfrm>
            <a:custGeom>
              <a:rect b="b" l="l" r="r" t="t"/>
              <a:pathLst>
                <a:path extrusionOk="0" h="13096" w="89955">
                  <a:moveTo>
                    <a:pt x="0" y="1587"/>
                  </a:moveTo>
                  <a:cubicBezTo>
                    <a:pt x="1485" y="1327"/>
                    <a:pt x="6293" y="-230"/>
                    <a:pt x="8909" y="29"/>
                  </a:cubicBezTo>
                  <a:cubicBezTo>
                    <a:pt x="11526" y="288"/>
                    <a:pt x="13672" y="1774"/>
                    <a:pt x="15699" y="3141"/>
                  </a:cubicBezTo>
                  <a:cubicBezTo>
                    <a:pt x="17726" y="4508"/>
                    <a:pt x="18622" y="6583"/>
                    <a:pt x="21073" y="8233"/>
                  </a:cubicBezTo>
                  <a:cubicBezTo>
                    <a:pt x="23525" y="9883"/>
                    <a:pt x="26707" y="13584"/>
                    <a:pt x="30408" y="13042"/>
                  </a:cubicBezTo>
                  <a:cubicBezTo>
                    <a:pt x="34109" y="12500"/>
                    <a:pt x="39249" y="6843"/>
                    <a:pt x="43280" y="4981"/>
                  </a:cubicBezTo>
                  <a:cubicBezTo>
                    <a:pt x="47311" y="3119"/>
                    <a:pt x="50210" y="880"/>
                    <a:pt x="54595" y="1870"/>
                  </a:cubicBezTo>
                  <a:cubicBezTo>
                    <a:pt x="58980" y="2860"/>
                    <a:pt x="64873" y="10592"/>
                    <a:pt x="69588" y="10922"/>
                  </a:cubicBezTo>
                  <a:cubicBezTo>
                    <a:pt x="74303" y="11252"/>
                    <a:pt x="79489" y="4557"/>
                    <a:pt x="82883" y="3850"/>
                  </a:cubicBezTo>
                  <a:cubicBezTo>
                    <a:pt x="86278" y="3143"/>
                    <a:pt x="88776" y="6208"/>
                    <a:pt x="89955" y="667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43"/>
            <p:cNvSpPr/>
            <p:nvPr/>
          </p:nvSpPr>
          <p:spPr>
            <a:xfrm>
              <a:off x="2560050" y="3055416"/>
              <a:ext cx="2701475" cy="687725"/>
            </a:xfrm>
            <a:custGeom>
              <a:rect b="b" l="l" r="r" t="t"/>
              <a:pathLst>
                <a:path extrusionOk="0" h="27509" w="108059">
                  <a:moveTo>
                    <a:pt x="0" y="27509"/>
                  </a:moveTo>
                  <a:cubicBezTo>
                    <a:pt x="5092" y="24256"/>
                    <a:pt x="20932" y="9389"/>
                    <a:pt x="30550" y="7991"/>
                  </a:cubicBezTo>
                  <a:cubicBezTo>
                    <a:pt x="40168" y="6593"/>
                    <a:pt x="48748" y="20427"/>
                    <a:pt x="57706" y="19123"/>
                  </a:cubicBezTo>
                  <a:cubicBezTo>
                    <a:pt x="66664" y="17820"/>
                    <a:pt x="75905" y="1726"/>
                    <a:pt x="84297" y="170"/>
                  </a:cubicBezTo>
                  <a:cubicBezTo>
                    <a:pt x="92689" y="-1386"/>
                    <a:pt x="104099" y="8185"/>
                    <a:pt x="108059" y="9788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3"/>
            <p:cNvSpPr/>
            <p:nvPr/>
          </p:nvSpPr>
          <p:spPr>
            <a:xfrm>
              <a:off x="5204600" y="3219288"/>
              <a:ext cx="8208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tata[v]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6" name="Google Shape;776;p43"/>
            <p:cNvCxnSpPr>
              <a:stCxn id="775" idx="6"/>
              <a:endCxn id="771" idx="1"/>
            </p:cNvCxnSpPr>
            <p:nvPr/>
          </p:nvCxnSpPr>
          <p:spPr>
            <a:xfrm>
              <a:off x="6025400" y="3399288"/>
              <a:ext cx="438600" cy="379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777" name="Google Shape;777;p43"/>
          <p:cNvSpPr/>
          <p:nvPr/>
        </p:nvSpPr>
        <p:spPr>
          <a:xfrm rot="5400000">
            <a:off x="4490650" y="756625"/>
            <a:ext cx="212100" cy="4229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3"/>
          <p:cNvSpPr txBox="1"/>
          <p:nvPr/>
        </p:nvSpPr>
        <p:spPr>
          <a:xfrm>
            <a:off x="4332850" y="2286725"/>
            <a:ext cx="52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d[v]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3"/>
          <p:cNvSpPr/>
          <p:nvPr/>
        </p:nvSpPr>
        <p:spPr>
          <a:xfrm rot="-5400000">
            <a:off x="3647450" y="3042575"/>
            <a:ext cx="212100" cy="277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3"/>
          <p:cNvSpPr txBox="1"/>
          <p:nvPr/>
        </p:nvSpPr>
        <p:spPr>
          <a:xfrm>
            <a:off x="3489650" y="4567775"/>
            <a:ext cx="52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d[u]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1" name="Google Shape;781;p43"/>
          <p:cNvCxnSpPr/>
          <p:nvPr/>
        </p:nvCxnSpPr>
        <p:spPr>
          <a:xfrm rot="10800000">
            <a:off x="6103200" y="4172500"/>
            <a:ext cx="721200" cy="3606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2" name="Google Shape;782;p43"/>
          <p:cNvCxnSpPr/>
          <p:nvPr/>
        </p:nvCxnSpPr>
        <p:spPr>
          <a:xfrm flipH="1">
            <a:off x="6633625" y="3048000"/>
            <a:ext cx="487800" cy="2193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83" name="Google Shape;783;p43"/>
          <p:cNvSpPr txBox="1"/>
          <p:nvPr/>
        </p:nvSpPr>
        <p:spPr>
          <a:xfrm>
            <a:off x="7197625" y="2732075"/>
            <a:ext cx="181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s-v drumul determinat anterior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3"/>
          <p:cNvSpPr txBox="1"/>
          <p:nvPr/>
        </p:nvSpPr>
        <p:spPr>
          <a:xfrm>
            <a:off x="6890375" y="4324475"/>
            <a:ext cx="169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noul s-v drum care trece prin u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790" name="Google Shape;790;p4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Relaxarea unui arc (u, v)					</a:t>
            </a:r>
            <a:r>
              <a:rPr b="0" lang="en-GB" sz="1400"/>
              <a:t>Raportat la vârfuri deja selectate - similar Prim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dacă d[u] + w(u,v) &lt; d[v] atunci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d[v] = d[u] + 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tata[v] = u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 sz="1400"/>
          </a:p>
        </p:txBody>
      </p:sp>
      <p:sp>
        <p:nvSpPr>
          <p:cNvPr id="791" name="Google Shape;791;p44"/>
          <p:cNvSpPr/>
          <p:nvPr/>
        </p:nvSpPr>
        <p:spPr>
          <a:xfrm>
            <a:off x="2792575" y="2638725"/>
            <a:ext cx="212100" cy="1750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4"/>
          <p:cNvSpPr txBox="1"/>
          <p:nvPr/>
        </p:nvSpPr>
        <p:spPr>
          <a:xfrm>
            <a:off x="5616025" y="3515275"/>
            <a:ext cx="52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d[v]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4"/>
          <p:cNvSpPr/>
          <p:nvPr/>
        </p:nvSpPr>
        <p:spPr>
          <a:xfrm rot="10800000">
            <a:off x="5454225" y="2611675"/>
            <a:ext cx="212100" cy="2207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4"/>
          <p:cNvSpPr txBox="1"/>
          <p:nvPr/>
        </p:nvSpPr>
        <p:spPr>
          <a:xfrm>
            <a:off x="2289500" y="3314025"/>
            <a:ext cx="52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d[u]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5" name="Google Shape;795;p44"/>
          <p:cNvCxnSpPr/>
          <p:nvPr/>
        </p:nvCxnSpPr>
        <p:spPr>
          <a:xfrm flipH="1" rot="10800000">
            <a:off x="3520850" y="4555500"/>
            <a:ext cx="622200" cy="2793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6" name="Google Shape;796;p44"/>
          <p:cNvCxnSpPr>
            <a:stCxn id="797" idx="1"/>
          </p:cNvCxnSpPr>
          <p:nvPr/>
        </p:nvCxnSpPr>
        <p:spPr>
          <a:xfrm flipH="1">
            <a:off x="4883625" y="2285375"/>
            <a:ext cx="782700" cy="6744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98" name="Google Shape;798;p44"/>
          <p:cNvSpPr txBox="1"/>
          <p:nvPr/>
        </p:nvSpPr>
        <p:spPr>
          <a:xfrm>
            <a:off x="6106550" y="4219200"/>
            <a:ext cx="181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s-v drumul determinat anterior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4"/>
          <p:cNvSpPr txBox="1"/>
          <p:nvPr/>
        </p:nvSpPr>
        <p:spPr>
          <a:xfrm>
            <a:off x="988875" y="4324475"/>
            <a:ext cx="169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noul s-v drum care trece prin u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4"/>
          <p:cNvSpPr txBox="1"/>
          <p:nvPr/>
        </p:nvSpPr>
        <p:spPr>
          <a:xfrm>
            <a:off x="2856225" y="4618650"/>
            <a:ext cx="77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w(u, v)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4"/>
          <p:cNvSpPr txBox="1"/>
          <p:nvPr/>
        </p:nvSpPr>
        <p:spPr>
          <a:xfrm>
            <a:off x="5666325" y="2008325"/>
            <a:ext cx="178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vârfuri deja selectate în arborele de distanțe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4"/>
          <p:cNvSpPr/>
          <p:nvPr/>
        </p:nvSpPr>
        <p:spPr>
          <a:xfrm>
            <a:off x="1594725" y="2135825"/>
            <a:ext cx="5954550" cy="2394725"/>
          </a:xfrm>
          <a:custGeom>
            <a:rect b="b" l="l" r="r" t="t"/>
            <a:pathLst>
              <a:path extrusionOk="0" h="95789" w="238182">
                <a:moveTo>
                  <a:pt x="0" y="25954"/>
                </a:moveTo>
                <a:cubicBezTo>
                  <a:pt x="6897" y="36363"/>
                  <a:pt x="21055" y="77591"/>
                  <a:pt x="41379" y="88405"/>
                </a:cubicBezTo>
                <a:cubicBezTo>
                  <a:pt x="61703" y="99219"/>
                  <a:pt x="94955" y="96470"/>
                  <a:pt x="121945" y="90838"/>
                </a:cubicBezTo>
                <a:cubicBezTo>
                  <a:pt x="148936" y="85206"/>
                  <a:pt x="183949" y="69751"/>
                  <a:pt x="203322" y="54611"/>
                </a:cubicBezTo>
                <a:cubicBezTo>
                  <a:pt x="222695" y="39471"/>
                  <a:pt x="232372" y="9102"/>
                  <a:pt x="238182" y="0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2" name="Google Shape;802;p44"/>
          <p:cNvGrpSpPr/>
          <p:nvPr/>
        </p:nvGrpSpPr>
        <p:grpSpPr>
          <a:xfrm>
            <a:off x="3174975" y="2436600"/>
            <a:ext cx="1921475" cy="2550525"/>
            <a:chOff x="3174975" y="2436600"/>
            <a:chExt cx="1921475" cy="2550525"/>
          </a:xfrm>
        </p:grpSpPr>
        <p:sp>
          <p:nvSpPr>
            <p:cNvPr id="803" name="Google Shape;803;p44"/>
            <p:cNvSpPr/>
            <p:nvPr/>
          </p:nvSpPr>
          <p:spPr>
            <a:xfrm>
              <a:off x="4190975" y="2746875"/>
              <a:ext cx="144000" cy="1440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44"/>
            <p:cNvSpPr/>
            <p:nvPr/>
          </p:nvSpPr>
          <p:spPr>
            <a:xfrm>
              <a:off x="3708050" y="3153825"/>
              <a:ext cx="144000" cy="1440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44"/>
            <p:cNvSpPr/>
            <p:nvPr/>
          </p:nvSpPr>
          <p:spPr>
            <a:xfrm>
              <a:off x="4725575" y="3153825"/>
              <a:ext cx="144000" cy="1440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44"/>
            <p:cNvSpPr/>
            <p:nvPr/>
          </p:nvSpPr>
          <p:spPr>
            <a:xfrm>
              <a:off x="3431575" y="3765050"/>
              <a:ext cx="144000" cy="1440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44"/>
            <p:cNvSpPr/>
            <p:nvPr/>
          </p:nvSpPr>
          <p:spPr>
            <a:xfrm>
              <a:off x="4878638" y="3765050"/>
              <a:ext cx="144000" cy="1440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44"/>
            <p:cNvSpPr/>
            <p:nvPr/>
          </p:nvSpPr>
          <p:spPr>
            <a:xfrm>
              <a:off x="3431575" y="4245575"/>
              <a:ext cx="144000" cy="1440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44"/>
            <p:cNvSpPr/>
            <p:nvPr/>
          </p:nvSpPr>
          <p:spPr>
            <a:xfrm>
              <a:off x="4725575" y="4618650"/>
              <a:ext cx="144000" cy="1440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44"/>
            <p:cNvSpPr txBox="1"/>
            <p:nvPr/>
          </p:nvSpPr>
          <p:spPr>
            <a:xfrm>
              <a:off x="4109375" y="2436600"/>
              <a:ext cx="29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4"/>
            <p:cNvSpPr txBox="1"/>
            <p:nvPr/>
          </p:nvSpPr>
          <p:spPr>
            <a:xfrm>
              <a:off x="3174975" y="4117475"/>
              <a:ext cx="29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44"/>
            <p:cNvSpPr txBox="1"/>
            <p:nvPr/>
          </p:nvSpPr>
          <p:spPr>
            <a:xfrm>
              <a:off x="4151150" y="3636950"/>
              <a:ext cx="727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tata[v]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44"/>
            <p:cNvSpPr txBox="1"/>
            <p:nvPr/>
          </p:nvSpPr>
          <p:spPr>
            <a:xfrm>
              <a:off x="4804850" y="4586925"/>
              <a:ext cx="29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4" name="Google Shape;814;p44"/>
            <p:cNvCxnSpPr>
              <a:stCxn id="803" idx="3"/>
              <a:endCxn id="804" idx="7"/>
            </p:cNvCxnSpPr>
            <p:nvPr/>
          </p:nvCxnSpPr>
          <p:spPr>
            <a:xfrm flipH="1">
              <a:off x="3831063" y="2869787"/>
              <a:ext cx="381000" cy="30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15" name="Google Shape;815;p44"/>
            <p:cNvCxnSpPr>
              <a:stCxn id="804" idx="3"/>
              <a:endCxn id="806" idx="0"/>
            </p:cNvCxnSpPr>
            <p:nvPr/>
          </p:nvCxnSpPr>
          <p:spPr>
            <a:xfrm flipH="1">
              <a:off x="3503538" y="3276737"/>
              <a:ext cx="225600" cy="488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16" name="Google Shape;816;p44"/>
            <p:cNvCxnSpPr>
              <a:stCxn id="806" idx="4"/>
              <a:endCxn id="808" idx="0"/>
            </p:cNvCxnSpPr>
            <p:nvPr/>
          </p:nvCxnSpPr>
          <p:spPr>
            <a:xfrm>
              <a:off x="3503575" y="3909050"/>
              <a:ext cx="0" cy="336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17" name="Google Shape;817;p44"/>
            <p:cNvCxnSpPr>
              <a:stCxn id="803" idx="5"/>
              <a:endCxn id="805" idx="1"/>
            </p:cNvCxnSpPr>
            <p:nvPr/>
          </p:nvCxnSpPr>
          <p:spPr>
            <a:xfrm>
              <a:off x="4313887" y="2869787"/>
              <a:ext cx="432900" cy="30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18" name="Google Shape;818;p44"/>
            <p:cNvCxnSpPr>
              <a:stCxn id="805" idx="4"/>
              <a:endCxn id="807" idx="0"/>
            </p:cNvCxnSpPr>
            <p:nvPr/>
          </p:nvCxnSpPr>
          <p:spPr>
            <a:xfrm>
              <a:off x="4797575" y="3297825"/>
              <a:ext cx="153000" cy="46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19" name="Google Shape;819;p44"/>
            <p:cNvCxnSpPr>
              <a:stCxn id="807" idx="4"/>
              <a:endCxn id="809" idx="0"/>
            </p:cNvCxnSpPr>
            <p:nvPr/>
          </p:nvCxnSpPr>
          <p:spPr>
            <a:xfrm flipH="1">
              <a:off x="4797638" y="3909050"/>
              <a:ext cx="153000" cy="709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cxnSp>
          <p:nvCxnSpPr>
            <p:cNvPr id="820" name="Google Shape;820;p44"/>
            <p:cNvCxnSpPr>
              <a:stCxn id="808" idx="5"/>
              <a:endCxn id="809" idx="2"/>
            </p:cNvCxnSpPr>
            <p:nvPr/>
          </p:nvCxnSpPr>
          <p:spPr>
            <a:xfrm>
              <a:off x="3554487" y="4368487"/>
              <a:ext cx="1171200" cy="322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826" name="Google Shape;826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Dijkstra(G, w,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inițializează mulțimea vârfurilor neselectate Q cu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832" name="Google Shape;832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Dijkstra(G, w,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inițializează mulțimea vârfurilor neselectate Q cu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838" name="Google Shape;838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Dijkstra(G, w,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inițializează mulțimea vârfurilor neselectate Q cu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d[s] = 0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844" name="Google Shape;844;p4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Dijkstra(G, w,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inițializează mulțimea vârfurilor neselectate Q cu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Q≠∅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//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⇔ pentru i=1,n execută</a:t>
            </a:r>
            <a:endParaRPr b="0"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850" name="Google Shape;850;p4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Dijkstra(G, w,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inițializează mulțimea vârfurilor neselectate Q cu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Q≠∅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u = extrage vârf cu eticheta d minimă din Q</a:t>
            </a:r>
            <a:endParaRPr b="0"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Dijkstra(G, w,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inițializează mulțimea vârfurilor neselectate Q cu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Q≠∅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u = extrage vârf cu eticheta d minimă din Q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// </a:t>
            </a:r>
            <a:r>
              <a:rPr b="0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relaxare uv</a:t>
            </a:r>
            <a:endParaRPr b="0"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56" name="Google Shape;856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Dijkstra(G, w,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inițializează mulțimea vârfurilor neselectate Q cu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Q≠∅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u = extrage vârf cu eticheta d minimă din Q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lang="en-GB" sz="1400" strike="sng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v∈Q și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d[u]+w(u,v) &lt; d[v]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d[v] = d[u]+w(u,v)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tata[v] = u</a:t>
            </a:r>
            <a:endParaRPr b="0"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2" name="Google Shape;862;p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Dijkstra(G, w,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inițializează mulțimea vârfurilor neselectate Q cu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Q≠∅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u = extrage vârf cu eticheta d minimă din Q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d[u]+w(u,v) &lt; d[v]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d[v] = d[u]+w(u,v)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tata[v] = u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scrie d, tata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// scrie drum minim de la s la un vârf t dat folosind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tata</a:t>
            </a:r>
            <a:endParaRPr b="0"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8" name="Google Shape;868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874" name="Google Shape;874;p5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Vom demonstra că, atunci când u este extras din Q, eticheta lui d[u] este chiar egală cu  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/>
              <a:t>(s, u)  (este corectă) şi </a:t>
            </a:r>
            <a:r>
              <a:rPr lang="en-GB"/>
              <a:t>nu se va mai actualiza ⇒ </a:t>
            </a:r>
            <a:r>
              <a:rPr b="0" lang="en-GB" strike="sngStrike">
                <a:solidFill>
                  <a:srgbClr val="CC0000"/>
                </a:solidFill>
              </a:rPr>
              <a:t>v∈Q</a:t>
            </a:r>
            <a:endParaRPr sz="1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880" name="Google Shape;880;p5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5" name="Google Shape;885;p55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6" name="Google Shape;886;p55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87" name="Google Shape;887;p55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888" name="Google Shape;888;p55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5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5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5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5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5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4" name="Google Shape;894;p55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=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5" name="Google Shape;895;p55"/>
          <p:cNvGrpSpPr/>
          <p:nvPr/>
        </p:nvGrpSpPr>
        <p:grpSpPr>
          <a:xfrm>
            <a:off x="2053875" y="2846425"/>
            <a:ext cx="5555350" cy="492600"/>
            <a:chOff x="2053875" y="2846425"/>
            <a:chExt cx="5555350" cy="492600"/>
          </a:xfrm>
        </p:grpSpPr>
        <p:sp>
          <p:nvSpPr>
            <p:cNvPr id="896" name="Google Shape;896;p55"/>
            <p:cNvSpPr txBox="1"/>
            <p:nvPr/>
          </p:nvSpPr>
          <p:spPr>
            <a:xfrm>
              <a:off x="2053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 </a:t>
              </a:r>
              <a:r>
                <a:rPr b="1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5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5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5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55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5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2" name="Google Shape;902;p55"/>
          <p:cNvGrpSpPr/>
          <p:nvPr/>
        </p:nvGrpSpPr>
        <p:grpSpPr>
          <a:xfrm>
            <a:off x="723525" y="68275"/>
            <a:ext cx="3175700" cy="2585883"/>
            <a:chOff x="723525" y="68275"/>
            <a:chExt cx="3175700" cy="2585883"/>
          </a:xfrm>
        </p:grpSpPr>
        <p:sp>
          <p:nvSpPr>
            <p:cNvPr id="903" name="Google Shape;903;p55"/>
            <p:cNvSpPr/>
            <p:nvPr/>
          </p:nvSpPr>
          <p:spPr>
            <a:xfrm>
              <a:off x="1599675" y="68275"/>
              <a:ext cx="360000" cy="2883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5"/>
            <p:cNvSpPr/>
            <p:nvPr/>
          </p:nvSpPr>
          <p:spPr>
            <a:xfrm>
              <a:off x="723525" y="989819"/>
              <a:ext cx="360000" cy="2883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5"/>
            <p:cNvSpPr/>
            <p:nvPr/>
          </p:nvSpPr>
          <p:spPr>
            <a:xfrm>
              <a:off x="2027825" y="701655"/>
              <a:ext cx="360000" cy="2883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5"/>
            <p:cNvSpPr/>
            <p:nvPr/>
          </p:nvSpPr>
          <p:spPr>
            <a:xfrm>
              <a:off x="3217700" y="1952146"/>
              <a:ext cx="360000" cy="2883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5"/>
            <p:cNvSpPr/>
            <p:nvPr/>
          </p:nvSpPr>
          <p:spPr>
            <a:xfrm>
              <a:off x="1369125" y="1952146"/>
              <a:ext cx="360000" cy="2883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5"/>
            <p:cNvSpPr/>
            <p:nvPr/>
          </p:nvSpPr>
          <p:spPr>
            <a:xfrm>
              <a:off x="3332125" y="902529"/>
              <a:ext cx="360000" cy="2883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9" name="Google Shape;909;p55"/>
            <p:cNvCxnSpPr>
              <a:stCxn id="903" idx="3"/>
              <a:endCxn id="904" idx="7"/>
            </p:cNvCxnSpPr>
            <p:nvPr/>
          </p:nvCxnSpPr>
          <p:spPr>
            <a:xfrm flipH="1">
              <a:off x="1030796" y="314354"/>
              <a:ext cx="621600" cy="717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10" name="Google Shape;910;p55"/>
            <p:cNvCxnSpPr>
              <a:stCxn id="903" idx="6"/>
              <a:endCxn id="908" idx="1"/>
            </p:cNvCxnSpPr>
            <p:nvPr/>
          </p:nvCxnSpPr>
          <p:spPr>
            <a:xfrm>
              <a:off x="1959675" y="212425"/>
              <a:ext cx="1425300" cy="732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11" name="Google Shape;911;p55"/>
            <p:cNvCxnSpPr>
              <a:stCxn id="904" idx="6"/>
              <a:endCxn id="905" idx="2"/>
            </p:cNvCxnSpPr>
            <p:nvPr/>
          </p:nvCxnSpPr>
          <p:spPr>
            <a:xfrm flipH="1" rot="10800000">
              <a:off x="1083525" y="845669"/>
              <a:ext cx="944400" cy="288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912" name="Google Shape;912;p55"/>
            <p:cNvCxnSpPr>
              <a:endCxn id="908" idx="2"/>
            </p:cNvCxnSpPr>
            <p:nvPr/>
          </p:nvCxnSpPr>
          <p:spPr>
            <a:xfrm>
              <a:off x="2387725" y="845679"/>
              <a:ext cx="944400" cy="20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913" name="Google Shape;913;p55"/>
            <p:cNvCxnSpPr>
              <a:stCxn id="904" idx="5"/>
            </p:cNvCxnSpPr>
            <p:nvPr/>
          </p:nvCxnSpPr>
          <p:spPr>
            <a:xfrm>
              <a:off x="1030804" y="1235898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4" name="Google Shape;914;p55"/>
            <p:cNvCxnSpPr>
              <a:stCxn id="904" idx="4"/>
              <a:endCxn id="907" idx="1"/>
            </p:cNvCxnSpPr>
            <p:nvPr/>
          </p:nvCxnSpPr>
          <p:spPr>
            <a:xfrm>
              <a:off x="903525" y="1278119"/>
              <a:ext cx="518400" cy="716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15" name="Google Shape;915;p55"/>
            <p:cNvCxnSpPr/>
            <p:nvPr/>
          </p:nvCxnSpPr>
          <p:spPr>
            <a:xfrm>
              <a:off x="1030804" y="1235782"/>
              <a:ext cx="2239500" cy="758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916" name="Google Shape;916;p55"/>
            <p:cNvCxnSpPr>
              <a:stCxn id="907" idx="6"/>
              <a:endCxn id="906" idx="2"/>
            </p:cNvCxnSpPr>
            <p:nvPr/>
          </p:nvCxnSpPr>
          <p:spPr>
            <a:xfrm>
              <a:off x="1729125" y="2096296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917" name="Google Shape;917;p55"/>
            <p:cNvCxnSpPr>
              <a:stCxn id="905" idx="4"/>
              <a:endCxn id="906" idx="1"/>
            </p:cNvCxnSpPr>
            <p:nvPr/>
          </p:nvCxnSpPr>
          <p:spPr>
            <a:xfrm>
              <a:off x="2207825" y="989955"/>
              <a:ext cx="1062600" cy="10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18" name="Google Shape;918;p55"/>
            <p:cNvCxnSpPr>
              <a:stCxn id="908" idx="4"/>
              <a:endCxn id="906" idx="0"/>
            </p:cNvCxnSpPr>
            <p:nvPr/>
          </p:nvCxnSpPr>
          <p:spPr>
            <a:xfrm flipH="1">
              <a:off x="3397825" y="1190829"/>
              <a:ext cx="114300" cy="761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19" name="Google Shape;919;p55"/>
            <p:cNvSpPr txBox="1"/>
            <p:nvPr/>
          </p:nvSpPr>
          <p:spPr>
            <a:xfrm>
              <a:off x="903525" y="423517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5"/>
            <p:cNvSpPr txBox="1"/>
            <p:nvPr/>
          </p:nvSpPr>
          <p:spPr>
            <a:xfrm>
              <a:off x="2643775" y="274232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5"/>
            <p:cNvSpPr txBox="1"/>
            <p:nvPr/>
          </p:nvSpPr>
          <p:spPr>
            <a:xfrm>
              <a:off x="1369125" y="70714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5"/>
            <p:cNvSpPr txBox="1"/>
            <p:nvPr/>
          </p:nvSpPr>
          <p:spPr>
            <a:xfrm>
              <a:off x="2763250" y="88644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55"/>
            <p:cNvSpPr txBox="1"/>
            <p:nvPr/>
          </p:nvSpPr>
          <p:spPr>
            <a:xfrm>
              <a:off x="3466925" y="137563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55"/>
            <p:cNvSpPr txBox="1"/>
            <p:nvPr/>
          </p:nvSpPr>
          <p:spPr>
            <a:xfrm>
              <a:off x="2400963" y="2039356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55"/>
            <p:cNvSpPr txBox="1"/>
            <p:nvPr/>
          </p:nvSpPr>
          <p:spPr>
            <a:xfrm>
              <a:off x="1861663" y="127798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55"/>
            <p:cNvSpPr txBox="1"/>
            <p:nvPr/>
          </p:nvSpPr>
          <p:spPr>
            <a:xfrm>
              <a:off x="854313" y="152394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5"/>
            <p:cNvSpPr txBox="1"/>
            <p:nvPr/>
          </p:nvSpPr>
          <p:spPr>
            <a:xfrm>
              <a:off x="2629738" y="1231076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5"/>
            <p:cNvSpPr txBox="1"/>
            <p:nvPr/>
          </p:nvSpPr>
          <p:spPr>
            <a:xfrm>
              <a:off x="1648113" y="1684184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5"/>
            <p:cNvSpPr/>
            <p:nvPr/>
          </p:nvSpPr>
          <p:spPr>
            <a:xfrm>
              <a:off x="1646863" y="2187920"/>
              <a:ext cx="1611575" cy="145451"/>
            </a:xfrm>
            <a:custGeom>
              <a:rect b="b" l="l" r="r" t="t"/>
              <a:pathLst>
                <a:path extrusionOk="0" h="7268" w="64463">
                  <a:moveTo>
                    <a:pt x="0" y="904"/>
                  </a:moveTo>
                  <a:cubicBezTo>
                    <a:pt x="5221" y="1958"/>
                    <a:pt x="20584" y="7381"/>
                    <a:pt x="31328" y="7230"/>
                  </a:cubicBezTo>
                  <a:cubicBezTo>
                    <a:pt x="42072" y="7079"/>
                    <a:pt x="58941" y="1205"/>
                    <a:pt x="64463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5"/>
            <p:cNvSpPr txBox="1"/>
            <p:nvPr/>
          </p:nvSpPr>
          <p:spPr>
            <a:xfrm>
              <a:off x="2236500" y="225395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5"/>
            <p:cNvSpPr/>
            <p:nvPr/>
          </p:nvSpPr>
          <p:spPr>
            <a:xfrm>
              <a:off x="1021825" y="1257551"/>
              <a:ext cx="2191450" cy="789713"/>
            </a:xfrm>
            <a:custGeom>
              <a:rect b="b" l="l" r="r" t="t"/>
              <a:pathLst>
                <a:path extrusionOk="0" h="39461" w="87658">
                  <a:moveTo>
                    <a:pt x="0" y="0"/>
                  </a:moveTo>
                  <a:cubicBezTo>
                    <a:pt x="6075" y="4318"/>
                    <a:pt x="21838" y="19329"/>
                    <a:pt x="36448" y="25906"/>
                  </a:cubicBezTo>
                  <a:cubicBezTo>
                    <a:pt x="51058" y="32483"/>
                    <a:pt x="79123" y="37202"/>
                    <a:pt x="87658" y="3946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6" name="Google Shape;936;p56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7" name="Google Shape;937;p56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38" name="Google Shape;938;p56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939" name="Google Shape;939;p56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6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6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6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6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6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5" name="Google Shape;945;p56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6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7" name="Google Shape;947;p56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948" name="Google Shape;948;p56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6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6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6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6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3" name="Google Shape;953;p56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56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6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6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56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56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56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0" name="Google Shape;960;p56"/>
          <p:cNvCxnSpPr>
            <a:stCxn id="954" idx="3"/>
            <a:endCxn id="955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61" name="Google Shape;961;p56"/>
          <p:cNvCxnSpPr>
            <a:stCxn id="954" idx="6"/>
            <a:endCxn id="959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62" name="Google Shape;962;p56"/>
          <p:cNvCxnSpPr>
            <a:stCxn id="955" idx="6"/>
            <a:endCxn id="956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963" name="Google Shape;963;p56"/>
          <p:cNvCxnSpPr>
            <a:endCxn id="959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964" name="Google Shape;964;p56"/>
          <p:cNvCxnSpPr>
            <a:stCxn id="955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56"/>
          <p:cNvCxnSpPr>
            <a:stCxn id="955" idx="4"/>
            <a:endCxn id="958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66" name="Google Shape;966;p56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967" name="Google Shape;967;p56"/>
          <p:cNvCxnSpPr>
            <a:stCxn id="958" idx="6"/>
            <a:endCxn id="957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968" name="Google Shape;968;p56"/>
          <p:cNvCxnSpPr>
            <a:stCxn id="956" idx="4"/>
            <a:endCxn id="957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69" name="Google Shape;969;p56"/>
          <p:cNvCxnSpPr>
            <a:stCxn id="959" idx="4"/>
            <a:endCxn id="957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70" name="Google Shape;970;p56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6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6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56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6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6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6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6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6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6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6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56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56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56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56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9" name="Google Shape;989;p57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0" name="Google Shape;990;p57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91" name="Google Shape;991;p57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992" name="Google Shape;992;p57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7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7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7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7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7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8" name="Google Shape;998;p57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57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0" name="Google Shape;1000;p57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001" name="Google Shape;1001;p57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7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7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7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7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6" name="Google Shape;1006;p57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57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57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57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57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57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57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3" name="Google Shape;1013;p57"/>
          <p:cNvCxnSpPr>
            <a:stCxn id="1007" idx="3"/>
            <a:endCxn id="1008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14" name="Google Shape;1014;p57"/>
          <p:cNvCxnSpPr>
            <a:stCxn id="1007" idx="6"/>
            <a:endCxn id="1012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15" name="Google Shape;1015;p57"/>
          <p:cNvCxnSpPr>
            <a:stCxn id="1008" idx="6"/>
            <a:endCxn id="1009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016" name="Google Shape;1016;p57"/>
          <p:cNvCxnSpPr>
            <a:endCxn id="1012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017" name="Google Shape;1017;p57"/>
          <p:cNvCxnSpPr>
            <a:stCxn id="1008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57"/>
          <p:cNvCxnSpPr>
            <a:stCxn id="1008" idx="4"/>
            <a:endCxn id="1011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19" name="Google Shape;1019;p57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020" name="Google Shape;1020;p57"/>
          <p:cNvCxnSpPr>
            <a:stCxn id="1011" idx="6"/>
            <a:endCxn id="1010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021" name="Google Shape;1021;p57"/>
          <p:cNvCxnSpPr>
            <a:stCxn id="1009" idx="4"/>
            <a:endCxn id="1010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22" name="Google Shape;1022;p57"/>
          <p:cNvCxnSpPr>
            <a:stCxn id="1012" idx="4"/>
            <a:endCxn id="1010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23" name="Google Shape;1023;p57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57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57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57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57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57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57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57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57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57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57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57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57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57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57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57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57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57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57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57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57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8" name="Google Shape;1048;p58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58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50" name="Google Shape;1050;p58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051" name="Google Shape;1051;p58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8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8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8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8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8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7" name="Google Shape;1057;p58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58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9" name="Google Shape;1059;p58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060" name="Google Shape;1060;p58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8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8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8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8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5" name="Google Shape;1065;p58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58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58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58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58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58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58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2" name="Google Shape;1072;p58"/>
          <p:cNvCxnSpPr>
            <a:stCxn id="1066" idx="3"/>
            <a:endCxn id="1067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73" name="Google Shape;1073;p58"/>
          <p:cNvCxnSpPr>
            <a:stCxn id="1066" idx="6"/>
            <a:endCxn id="1071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74" name="Google Shape;1074;p58"/>
          <p:cNvCxnSpPr>
            <a:stCxn id="1067" idx="6"/>
            <a:endCxn id="1068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075" name="Google Shape;1075;p58"/>
          <p:cNvCxnSpPr>
            <a:endCxn id="1071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076" name="Google Shape;1076;p58"/>
          <p:cNvCxnSpPr>
            <a:stCxn id="1067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7" name="Google Shape;1077;p58"/>
          <p:cNvCxnSpPr>
            <a:stCxn id="1067" idx="4"/>
            <a:endCxn id="1070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78" name="Google Shape;1078;p58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079" name="Google Shape;1079;p58"/>
          <p:cNvCxnSpPr>
            <a:stCxn id="1070" idx="6"/>
            <a:endCxn id="1069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080" name="Google Shape;1080;p58"/>
          <p:cNvCxnSpPr>
            <a:stCxn id="1068" idx="4"/>
            <a:endCxn id="1069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81" name="Google Shape;1081;p58"/>
          <p:cNvCxnSpPr>
            <a:stCxn id="1071" idx="4"/>
            <a:endCxn id="1069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82" name="Google Shape;1082;p58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58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58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58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58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58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58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58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58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58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58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58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58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58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58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58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58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58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58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58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58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58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4" name="Google Shape;1104;p58"/>
          <p:cNvCxnSpPr>
            <a:stCxn id="1095" idx="6"/>
            <a:endCxn id="1103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05" name="Google Shape;1105;p58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58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58"/>
          <p:cNvSpPr txBox="1"/>
          <p:nvPr/>
        </p:nvSpPr>
        <p:spPr>
          <a:xfrm>
            <a:off x="5262700" y="3947325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d[5] = min { d[5], d[3] + w(3, 5)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8" name="Google Shape;1108;p58"/>
          <p:cNvCxnSpPr/>
          <p:nvPr/>
        </p:nvCxnSpPr>
        <p:spPr>
          <a:xfrm flipH="1" rot="10800000">
            <a:off x="6226875" y="3642525"/>
            <a:ext cx="1800" cy="343800"/>
          </a:xfrm>
          <a:prstGeom prst="straightConnector1">
            <a:avLst/>
          </a:prstGeom>
          <a:noFill/>
          <a:ln cap="flat" cmpd="sng" w="9525">
            <a:solidFill>
              <a:srgbClr val="009384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3" name="Google Shape;1113;p59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59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15" name="Google Shape;1115;p59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116" name="Google Shape;1116;p59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9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9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59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59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59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2" name="Google Shape;1122;p59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59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4" name="Google Shape;1124;p59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125" name="Google Shape;1125;p59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59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59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59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59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0" name="Google Shape;1130;p59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59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59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59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59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59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59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7" name="Google Shape;1137;p59"/>
          <p:cNvCxnSpPr>
            <a:stCxn id="1131" idx="3"/>
            <a:endCxn id="1132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38" name="Google Shape;1138;p59"/>
          <p:cNvCxnSpPr>
            <a:stCxn id="1131" idx="6"/>
            <a:endCxn id="1136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39" name="Google Shape;1139;p59"/>
          <p:cNvCxnSpPr>
            <a:stCxn id="1132" idx="6"/>
            <a:endCxn id="1133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40" name="Google Shape;1140;p59"/>
          <p:cNvCxnSpPr>
            <a:endCxn id="1136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41" name="Google Shape;1141;p59"/>
          <p:cNvCxnSpPr>
            <a:stCxn id="1132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2" name="Google Shape;1142;p59"/>
          <p:cNvCxnSpPr>
            <a:stCxn id="1132" idx="4"/>
            <a:endCxn id="1135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43" name="Google Shape;1143;p59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44" name="Google Shape;1144;p59"/>
          <p:cNvCxnSpPr>
            <a:stCxn id="1135" idx="6"/>
            <a:endCxn id="1134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45" name="Google Shape;1145;p59"/>
          <p:cNvCxnSpPr>
            <a:stCxn id="1133" idx="4"/>
            <a:endCxn id="1134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46" name="Google Shape;1146;p59"/>
          <p:cNvCxnSpPr>
            <a:stCxn id="1136" idx="4"/>
            <a:endCxn id="1134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47" name="Google Shape;1147;p59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59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59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59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59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59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59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59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59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59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59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59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59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59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59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59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59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59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59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59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59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59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9" name="Google Shape;1169;p59"/>
          <p:cNvCxnSpPr>
            <a:stCxn id="1160" idx="6"/>
            <a:endCxn id="1168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70" name="Google Shape;1170;p59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59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59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59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59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59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59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59"/>
          <p:cNvSpPr txBox="1"/>
          <p:nvPr/>
        </p:nvSpPr>
        <p:spPr>
          <a:xfrm>
            <a:off x="2053875" y="34560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2" name="Google Shape;1182;p60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3" name="Google Shape;1183;p60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84" name="Google Shape;1184;p60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185" name="Google Shape;1185;p60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60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60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60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60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0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1" name="Google Shape;1191;p60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60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3" name="Google Shape;1193;p60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194" name="Google Shape;1194;p60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60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60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60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60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9" name="Google Shape;1199;p60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60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60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60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60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60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60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6" name="Google Shape;1206;p60"/>
          <p:cNvCxnSpPr>
            <a:stCxn id="1200" idx="3"/>
            <a:endCxn id="1201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07" name="Google Shape;1207;p60"/>
          <p:cNvCxnSpPr>
            <a:stCxn id="1200" idx="6"/>
            <a:endCxn id="1205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08" name="Google Shape;1208;p60"/>
          <p:cNvCxnSpPr>
            <a:stCxn id="1201" idx="6"/>
            <a:endCxn id="1202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209" name="Google Shape;1209;p60"/>
          <p:cNvCxnSpPr>
            <a:endCxn id="1205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210" name="Google Shape;1210;p60"/>
          <p:cNvCxnSpPr>
            <a:stCxn id="1201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1" name="Google Shape;1211;p60"/>
          <p:cNvCxnSpPr>
            <a:stCxn id="1201" idx="4"/>
            <a:endCxn id="1204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12" name="Google Shape;1212;p60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213" name="Google Shape;1213;p60"/>
          <p:cNvCxnSpPr>
            <a:stCxn id="1204" idx="6"/>
            <a:endCxn id="1203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214" name="Google Shape;1214;p60"/>
          <p:cNvCxnSpPr>
            <a:stCxn id="1202" idx="4"/>
            <a:endCxn id="1203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15" name="Google Shape;1215;p60"/>
          <p:cNvCxnSpPr>
            <a:stCxn id="1205" idx="4"/>
            <a:endCxn id="1203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16" name="Google Shape;1216;p60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60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60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60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60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60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60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60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60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60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60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60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60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60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60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60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60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60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60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60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60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60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8" name="Google Shape;1238;p60"/>
          <p:cNvCxnSpPr>
            <a:stCxn id="1229" idx="6"/>
            <a:endCxn id="1237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39" name="Google Shape;1239;p60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60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60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60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60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60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60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60"/>
          <p:cNvSpPr txBox="1"/>
          <p:nvPr/>
        </p:nvSpPr>
        <p:spPr>
          <a:xfrm>
            <a:off x="2053875" y="34560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60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60"/>
          <p:cNvSpPr/>
          <p:nvPr/>
        </p:nvSpPr>
        <p:spPr>
          <a:xfrm>
            <a:off x="49907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9" name="Google Shape;1249;p60"/>
          <p:cNvCxnSpPr>
            <a:stCxn id="1229" idx="3"/>
            <a:endCxn id="1248" idx="7"/>
          </p:cNvCxnSpPr>
          <p:nvPr/>
        </p:nvCxnSpPr>
        <p:spPr>
          <a:xfrm flipH="1">
            <a:off x="52979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50" name="Google Shape;1250;p60"/>
          <p:cNvSpPr txBox="1"/>
          <p:nvPr/>
        </p:nvSpPr>
        <p:spPr>
          <a:xfrm>
            <a:off x="51707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5" name="Google Shape;1255;p61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6" name="Google Shape;1256;p61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57" name="Google Shape;1257;p61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258" name="Google Shape;1258;p61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61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61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61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61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61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4" name="Google Shape;1264;p61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61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6" name="Google Shape;1266;p61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267" name="Google Shape;1267;p61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61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61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61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61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2" name="Google Shape;1272;p61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61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61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61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61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61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61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9" name="Google Shape;1279;p61"/>
          <p:cNvCxnSpPr>
            <a:stCxn id="1273" idx="3"/>
            <a:endCxn id="1274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80" name="Google Shape;1280;p61"/>
          <p:cNvCxnSpPr>
            <a:stCxn id="1273" idx="6"/>
            <a:endCxn id="1278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81" name="Google Shape;1281;p61"/>
          <p:cNvCxnSpPr>
            <a:stCxn id="1274" idx="6"/>
            <a:endCxn id="1275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282" name="Google Shape;1282;p61"/>
          <p:cNvCxnSpPr>
            <a:endCxn id="1278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283" name="Google Shape;1283;p61"/>
          <p:cNvCxnSpPr>
            <a:stCxn id="1274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4" name="Google Shape;1284;p61"/>
          <p:cNvCxnSpPr>
            <a:stCxn id="1274" idx="4"/>
            <a:endCxn id="1277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85" name="Google Shape;1285;p61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286" name="Google Shape;1286;p61"/>
          <p:cNvCxnSpPr>
            <a:stCxn id="1277" idx="6"/>
            <a:endCxn id="1276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287" name="Google Shape;1287;p61"/>
          <p:cNvCxnSpPr>
            <a:stCxn id="1275" idx="4"/>
            <a:endCxn id="1276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88" name="Google Shape;1288;p61"/>
          <p:cNvCxnSpPr>
            <a:stCxn id="1278" idx="4"/>
            <a:endCxn id="1276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89" name="Google Shape;1289;p61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61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1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61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61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61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61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61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61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61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61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61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61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61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61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61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61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61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61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61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61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61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1" name="Google Shape;1311;p61"/>
          <p:cNvCxnSpPr>
            <a:stCxn id="1302" idx="6"/>
            <a:endCxn id="1310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12" name="Google Shape;1312;p61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61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61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61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61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61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61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61"/>
          <p:cNvSpPr txBox="1"/>
          <p:nvPr/>
        </p:nvSpPr>
        <p:spPr>
          <a:xfrm>
            <a:off x="2053875" y="34560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61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61"/>
          <p:cNvSpPr/>
          <p:nvPr/>
        </p:nvSpPr>
        <p:spPr>
          <a:xfrm>
            <a:off x="49907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2" name="Google Shape;1322;p61"/>
          <p:cNvCxnSpPr>
            <a:stCxn id="1302" idx="3"/>
            <a:endCxn id="1321" idx="7"/>
          </p:cNvCxnSpPr>
          <p:nvPr/>
        </p:nvCxnSpPr>
        <p:spPr>
          <a:xfrm flipH="1">
            <a:off x="52979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23" name="Google Shape;1323;p61"/>
          <p:cNvSpPr txBox="1"/>
          <p:nvPr/>
        </p:nvSpPr>
        <p:spPr>
          <a:xfrm>
            <a:off x="51707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61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61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61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/2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61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61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/2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61"/>
          <p:cNvSpPr txBox="1"/>
          <p:nvPr/>
        </p:nvSpPr>
        <p:spPr>
          <a:xfrm>
            <a:off x="2053875" y="37608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4" name="Google Shape;1334;p62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62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36" name="Google Shape;1336;p62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337" name="Google Shape;1337;p62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62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62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62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62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62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3" name="Google Shape;1343;p62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62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5" name="Google Shape;1345;p62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346" name="Google Shape;1346;p62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62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62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62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62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1" name="Google Shape;1351;p62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62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62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62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62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2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62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8" name="Google Shape;1358;p62"/>
          <p:cNvCxnSpPr>
            <a:stCxn id="1352" idx="3"/>
            <a:endCxn id="1353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59" name="Google Shape;1359;p62"/>
          <p:cNvCxnSpPr>
            <a:stCxn id="1352" idx="6"/>
            <a:endCxn id="1357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60" name="Google Shape;1360;p62"/>
          <p:cNvCxnSpPr>
            <a:stCxn id="1353" idx="6"/>
            <a:endCxn id="1354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361" name="Google Shape;1361;p62"/>
          <p:cNvCxnSpPr>
            <a:endCxn id="1357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362" name="Google Shape;1362;p62"/>
          <p:cNvCxnSpPr>
            <a:stCxn id="1353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3" name="Google Shape;1363;p62"/>
          <p:cNvCxnSpPr>
            <a:stCxn id="1353" idx="4"/>
            <a:endCxn id="1356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64" name="Google Shape;1364;p62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365" name="Google Shape;1365;p62"/>
          <p:cNvCxnSpPr>
            <a:stCxn id="1356" idx="6"/>
            <a:endCxn id="1355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366" name="Google Shape;1366;p62"/>
          <p:cNvCxnSpPr>
            <a:stCxn id="1354" idx="4"/>
            <a:endCxn id="1355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67" name="Google Shape;1367;p62"/>
          <p:cNvCxnSpPr>
            <a:stCxn id="1357" idx="4"/>
            <a:endCxn id="1355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68" name="Google Shape;1368;p62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2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2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2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2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2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2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2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62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2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62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2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2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2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2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62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62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62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62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62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62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62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0" name="Google Shape;1390;p62"/>
          <p:cNvCxnSpPr>
            <a:stCxn id="1381" idx="6"/>
            <a:endCxn id="1389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91" name="Google Shape;1391;p62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62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62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62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62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62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62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62"/>
          <p:cNvSpPr txBox="1"/>
          <p:nvPr/>
        </p:nvSpPr>
        <p:spPr>
          <a:xfrm>
            <a:off x="2053875" y="34560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62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62"/>
          <p:cNvSpPr/>
          <p:nvPr/>
        </p:nvSpPr>
        <p:spPr>
          <a:xfrm>
            <a:off x="49907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1" name="Google Shape;1401;p62"/>
          <p:cNvCxnSpPr>
            <a:stCxn id="1381" idx="3"/>
            <a:endCxn id="1400" idx="7"/>
          </p:cNvCxnSpPr>
          <p:nvPr/>
        </p:nvCxnSpPr>
        <p:spPr>
          <a:xfrm flipH="1">
            <a:off x="52979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02" name="Google Shape;1402;p62"/>
          <p:cNvSpPr txBox="1"/>
          <p:nvPr/>
        </p:nvSpPr>
        <p:spPr>
          <a:xfrm>
            <a:off x="51707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62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62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62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62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62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/2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62"/>
          <p:cNvSpPr txBox="1"/>
          <p:nvPr/>
        </p:nvSpPr>
        <p:spPr>
          <a:xfrm>
            <a:off x="2053875" y="37608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62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62"/>
          <p:cNvSpPr/>
          <p:nvPr/>
        </p:nvSpPr>
        <p:spPr>
          <a:xfrm>
            <a:off x="74849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62"/>
          <p:cNvSpPr/>
          <p:nvPr/>
        </p:nvSpPr>
        <p:spPr>
          <a:xfrm>
            <a:off x="52890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62"/>
          <p:cNvSpPr txBox="1"/>
          <p:nvPr/>
        </p:nvSpPr>
        <p:spPr>
          <a:xfrm>
            <a:off x="59153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7" name="Google Shape;1417;p63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8" name="Google Shape;1418;p63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9" name="Google Shape;1419;p63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420" name="Google Shape;1420;p63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63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63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63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63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63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6" name="Google Shape;1426;p63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63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8" name="Google Shape;1428;p63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429" name="Google Shape;1429;p63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63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63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63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63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4" name="Google Shape;1434;p63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63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3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63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63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63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63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1" name="Google Shape;1441;p63"/>
          <p:cNvCxnSpPr>
            <a:stCxn id="1435" idx="3"/>
            <a:endCxn id="1436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42" name="Google Shape;1442;p63"/>
          <p:cNvCxnSpPr>
            <a:stCxn id="1435" idx="6"/>
            <a:endCxn id="1440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43" name="Google Shape;1443;p63"/>
          <p:cNvCxnSpPr>
            <a:stCxn id="1436" idx="6"/>
            <a:endCxn id="1437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444" name="Google Shape;1444;p63"/>
          <p:cNvCxnSpPr>
            <a:endCxn id="1440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445" name="Google Shape;1445;p63"/>
          <p:cNvCxnSpPr>
            <a:stCxn id="1436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6" name="Google Shape;1446;p63"/>
          <p:cNvCxnSpPr>
            <a:stCxn id="1436" idx="4"/>
            <a:endCxn id="1439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47" name="Google Shape;1447;p63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448" name="Google Shape;1448;p63"/>
          <p:cNvCxnSpPr>
            <a:stCxn id="1439" idx="6"/>
            <a:endCxn id="1438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449" name="Google Shape;1449;p63"/>
          <p:cNvCxnSpPr>
            <a:stCxn id="1437" idx="4"/>
            <a:endCxn id="1438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50" name="Google Shape;1450;p63"/>
          <p:cNvCxnSpPr>
            <a:stCxn id="1440" idx="4"/>
            <a:endCxn id="1438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51" name="Google Shape;1451;p63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63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63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63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63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63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63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63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63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63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63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63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63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63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63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63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63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63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63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63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63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63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3" name="Google Shape;1473;p63"/>
          <p:cNvCxnSpPr>
            <a:stCxn id="1464" idx="6"/>
            <a:endCxn id="1472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74" name="Google Shape;1474;p63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63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63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63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63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63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63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63"/>
          <p:cNvSpPr txBox="1"/>
          <p:nvPr/>
        </p:nvSpPr>
        <p:spPr>
          <a:xfrm>
            <a:off x="2053875" y="34560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63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63"/>
          <p:cNvSpPr/>
          <p:nvPr/>
        </p:nvSpPr>
        <p:spPr>
          <a:xfrm>
            <a:off x="49907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4" name="Google Shape;1484;p63"/>
          <p:cNvCxnSpPr>
            <a:stCxn id="1464" idx="3"/>
            <a:endCxn id="1483" idx="7"/>
          </p:cNvCxnSpPr>
          <p:nvPr/>
        </p:nvCxnSpPr>
        <p:spPr>
          <a:xfrm flipH="1">
            <a:off x="52979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85" name="Google Shape;1485;p63"/>
          <p:cNvSpPr txBox="1"/>
          <p:nvPr/>
        </p:nvSpPr>
        <p:spPr>
          <a:xfrm>
            <a:off x="51707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63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63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63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63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63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/2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63"/>
          <p:cNvSpPr txBox="1"/>
          <p:nvPr/>
        </p:nvSpPr>
        <p:spPr>
          <a:xfrm>
            <a:off x="2053875" y="37608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63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63"/>
          <p:cNvSpPr/>
          <p:nvPr/>
        </p:nvSpPr>
        <p:spPr>
          <a:xfrm>
            <a:off x="74849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63"/>
          <p:cNvSpPr/>
          <p:nvPr/>
        </p:nvSpPr>
        <p:spPr>
          <a:xfrm>
            <a:off x="52890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63"/>
          <p:cNvSpPr txBox="1"/>
          <p:nvPr/>
        </p:nvSpPr>
        <p:spPr>
          <a:xfrm>
            <a:off x="59153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63"/>
          <p:cNvSpPr txBox="1"/>
          <p:nvPr/>
        </p:nvSpPr>
        <p:spPr>
          <a:xfrm>
            <a:off x="3118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63"/>
          <p:cNvSpPr txBox="1"/>
          <p:nvPr/>
        </p:nvSpPr>
        <p:spPr>
          <a:xfrm>
            <a:off x="4036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63"/>
          <p:cNvSpPr txBox="1"/>
          <p:nvPr/>
        </p:nvSpPr>
        <p:spPr>
          <a:xfrm>
            <a:off x="4954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63"/>
          <p:cNvSpPr txBox="1"/>
          <p:nvPr/>
        </p:nvSpPr>
        <p:spPr>
          <a:xfrm>
            <a:off x="5899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63"/>
          <p:cNvSpPr txBox="1"/>
          <p:nvPr/>
        </p:nvSpPr>
        <p:spPr>
          <a:xfrm>
            <a:off x="68457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63"/>
          <p:cNvSpPr txBox="1"/>
          <p:nvPr/>
        </p:nvSpPr>
        <p:spPr>
          <a:xfrm>
            <a:off x="2053875" y="40656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6" name="Google Shape;1506;p64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7" name="Google Shape;1507;p64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08" name="Google Shape;1508;p64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509" name="Google Shape;1509;p64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64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64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64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64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64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5" name="Google Shape;1515;p64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64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7" name="Google Shape;1517;p64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518" name="Google Shape;1518;p64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64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64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64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64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3" name="Google Shape;1523;p64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64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64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64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64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64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64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0" name="Google Shape;1530;p64"/>
          <p:cNvCxnSpPr>
            <a:stCxn id="1524" idx="3"/>
            <a:endCxn id="1525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31" name="Google Shape;1531;p64"/>
          <p:cNvCxnSpPr>
            <a:stCxn id="1524" idx="6"/>
            <a:endCxn id="1529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32" name="Google Shape;1532;p64"/>
          <p:cNvCxnSpPr>
            <a:stCxn id="1525" idx="6"/>
            <a:endCxn id="1526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533" name="Google Shape;1533;p64"/>
          <p:cNvCxnSpPr>
            <a:endCxn id="1529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534" name="Google Shape;1534;p64"/>
          <p:cNvCxnSpPr>
            <a:stCxn id="1525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5" name="Google Shape;1535;p64"/>
          <p:cNvCxnSpPr>
            <a:stCxn id="1525" idx="4"/>
            <a:endCxn id="1528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36" name="Google Shape;1536;p64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537" name="Google Shape;1537;p64"/>
          <p:cNvCxnSpPr>
            <a:stCxn id="1528" idx="6"/>
            <a:endCxn id="1527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538" name="Google Shape;1538;p64"/>
          <p:cNvCxnSpPr>
            <a:stCxn id="1526" idx="4"/>
            <a:endCxn id="1527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39" name="Google Shape;1539;p64"/>
          <p:cNvCxnSpPr>
            <a:stCxn id="1529" idx="4"/>
            <a:endCxn id="1527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40" name="Google Shape;1540;p64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64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64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64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64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64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64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64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64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64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64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64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64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64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64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64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64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64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64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64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64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64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2" name="Google Shape;1562;p64"/>
          <p:cNvCxnSpPr>
            <a:stCxn id="1553" idx="6"/>
            <a:endCxn id="1561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63" name="Google Shape;1563;p64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64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64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64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64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64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64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64"/>
          <p:cNvSpPr txBox="1"/>
          <p:nvPr/>
        </p:nvSpPr>
        <p:spPr>
          <a:xfrm>
            <a:off x="2053875" y="34560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64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64"/>
          <p:cNvSpPr/>
          <p:nvPr/>
        </p:nvSpPr>
        <p:spPr>
          <a:xfrm>
            <a:off x="49907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3" name="Google Shape;1573;p64"/>
          <p:cNvCxnSpPr>
            <a:stCxn id="1553" idx="3"/>
            <a:endCxn id="1572" idx="7"/>
          </p:cNvCxnSpPr>
          <p:nvPr/>
        </p:nvCxnSpPr>
        <p:spPr>
          <a:xfrm flipH="1">
            <a:off x="52979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74" name="Google Shape;1574;p64"/>
          <p:cNvSpPr txBox="1"/>
          <p:nvPr/>
        </p:nvSpPr>
        <p:spPr>
          <a:xfrm>
            <a:off x="51707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64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64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64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64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64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64"/>
          <p:cNvSpPr txBox="1"/>
          <p:nvPr/>
        </p:nvSpPr>
        <p:spPr>
          <a:xfrm>
            <a:off x="2053875" y="37608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64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64"/>
          <p:cNvSpPr/>
          <p:nvPr/>
        </p:nvSpPr>
        <p:spPr>
          <a:xfrm>
            <a:off x="74849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64"/>
          <p:cNvSpPr/>
          <p:nvPr/>
        </p:nvSpPr>
        <p:spPr>
          <a:xfrm>
            <a:off x="52890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64"/>
          <p:cNvSpPr txBox="1"/>
          <p:nvPr/>
        </p:nvSpPr>
        <p:spPr>
          <a:xfrm>
            <a:off x="59153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64"/>
          <p:cNvSpPr txBox="1"/>
          <p:nvPr/>
        </p:nvSpPr>
        <p:spPr>
          <a:xfrm>
            <a:off x="3118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64"/>
          <p:cNvSpPr txBox="1"/>
          <p:nvPr/>
        </p:nvSpPr>
        <p:spPr>
          <a:xfrm>
            <a:off x="4036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64"/>
          <p:cNvSpPr txBox="1"/>
          <p:nvPr/>
        </p:nvSpPr>
        <p:spPr>
          <a:xfrm>
            <a:off x="4954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/2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64"/>
          <p:cNvSpPr txBox="1"/>
          <p:nvPr/>
        </p:nvSpPr>
        <p:spPr>
          <a:xfrm>
            <a:off x="5899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64"/>
          <p:cNvSpPr txBox="1"/>
          <p:nvPr/>
        </p:nvSpPr>
        <p:spPr>
          <a:xfrm>
            <a:off x="68457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64"/>
          <p:cNvSpPr txBox="1"/>
          <p:nvPr/>
        </p:nvSpPr>
        <p:spPr>
          <a:xfrm>
            <a:off x="2053875" y="40656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64"/>
          <p:cNvSpPr/>
          <p:nvPr/>
        </p:nvSpPr>
        <p:spPr>
          <a:xfrm>
            <a:off x="56363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2" name="Google Shape;1592;p64"/>
          <p:cNvCxnSpPr>
            <a:stCxn id="1572" idx="4"/>
            <a:endCxn id="1591" idx="1"/>
          </p:cNvCxnSpPr>
          <p:nvPr/>
        </p:nvCxnSpPr>
        <p:spPr>
          <a:xfrm>
            <a:off x="51707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93" name="Google Shape;1593;p64"/>
          <p:cNvSpPr txBox="1"/>
          <p:nvPr/>
        </p:nvSpPr>
        <p:spPr>
          <a:xfrm>
            <a:off x="51215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64"/>
          <p:cNvSpPr txBox="1"/>
          <p:nvPr/>
        </p:nvSpPr>
        <p:spPr>
          <a:xfrm>
            <a:off x="657975" y="44306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9" name="Google Shape;1599;p65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0" name="Google Shape;1600;p65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01" name="Google Shape;1601;p65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602" name="Google Shape;1602;p65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65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65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65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65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65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8" name="Google Shape;1608;p65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65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0" name="Google Shape;1610;p65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611" name="Google Shape;1611;p65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65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65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65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65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6" name="Google Shape;1616;p65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65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65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65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65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65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65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3" name="Google Shape;1623;p65"/>
          <p:cNvCxnSpPr>
            <a:stCxn id="1617" idx="3"/>
            <a:endCxn id="1618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24" name="Google Shape;1624;p65"/>
          <p:cNvCxnSpPr>
            <a:stCxn id="1617" idx="6"/>
            <a:endCxn id="1622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25" name="Google Shape;1625;p65"/>
          <p:cNvCxnSpPr>
            <a:stCxn id="1618" idx="6"/>
            <a:endCxn id="1619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626" name="Google Shape;1626;p65"/>
          <p:cNvCxnSpPr>
            <a:endCxn id="1622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627" name="Google Shape;1627;p65"/>
          <p:cNvCxnSpPr>
            <a:stCxn id="1618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8" name="Google Shape;1628;p65"/>
          <p:cNvCxnSpPr>
            <a:stCxn id="1618" idx="4"/>
            <a:endCxn id="1621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29" name="Google Shape;1629;p65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630" name="Google Shape;1630;p65"/>
          <p:cNvCxnSpPr>
            <a:stCxn id="1621" idx="6"/>
            <a:endCxn id="1620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631" name="Google Shape;1631;p65"/>
          <p:cNvCxnSpPr>
            <a:stCxn id="1619" idx="4"/>
            <a:endCxn id="1620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32" name="Google Shape;1632;p65"/>
          <p:cNvCxnSpPr>
            <a:stCxn id="1622" idx="4"/>
            <a:endCxn id="1620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33" name="Google Shape;1633;p65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65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65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65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65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65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65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65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65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65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65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65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65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65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65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65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65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65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65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65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65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65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5" name="Google Shape;1655;p65"/>
          <p:cNvCxnSpPr>
            <a:stCxn id="1646" idx="6"/>
            <a:endCxn id="1654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56" name="Google Shape;1656;p65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65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65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65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65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65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65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65"/>
          <p:cNvSpPr txBox="1"/>
          <p:nvPr/>
        </p:nvSpPr>
        <p:spPr>
          <a:xfrm>
            <a:off x="2053875" y="34560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65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65"/>
          <p:cNvSpPr/>
          <p:nvPr/>
        </p:nvSpPr>
        <p:spPr>
          <a:xfrm>
            <a:off x="49907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6" name="Google Shape;1666;p65"/>
          <p:cNvCxnSpPr>
            <a:stCxn id="1646" idx="3"/>
            <a:endCxn id="1665" idx="7"/>
          </p:cNvCxnSpPr>
          <p:nvPr/>
        </p:nvCxnSpPr>
        <p:spPr>
          <a:xfrm flipH="1">
            <a:off x="52979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67" name="Google Shape;1667;p65"/>
          <p:cNvSpPr txBox="1"/>
          <p:nvPr/>
        </p:nvSpPr>
        <p:spPr>
          <a:xfrm>
            <a:off x="51707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65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65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65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65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65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65"/>
          <p:cNvSpPr txBox="1"/>
          <p:nvPr/>
        </p:nvSpPr>
        <p:spPr>
          <a:xfrm>
            <a:off x="2053875" y="37608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65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65"/>
          <p:cNvSpPr/>
          <p:nvPr/>
        </p:nvSpPr>
        <p:spPr>
          <a:xfrm>
            <a:off x="74849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65"/>
          <p:cNvSpPr/>
          <p:nvPr/>
        </p:nvSpPr>
        <p:spPr>
          <a:xfrm>
            <a:off x="52890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65"/>
          <p:cNvSpPr txBox="1"/>
          <p:nvPr/>
        </p:nvSpPr>
        <p:spPr>
          <a:xfrm>
            <a:off x="59153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65"/>
          <p:cNvSpPr txBox="1"/>
          <p:nvPr/>
        </p:nvSpPr>
        <p:spPr>
          <a:xfrm>
            <a:off x="3118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65"/>
          <p:cNvSpPr txBox="1"/>
          <p:nvPr/>
        </p:nvSpPr>
        <p:spPr>
          <a:xfrm>
            <a:off x="4036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65"/>
          <p:cNvSpPr txBox="1"/>
          <p:nvPr/>
        </p:nvSpPr>
        <p:spPr>
          <a:xfrm>
            <a:off x="4954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/2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65"/>
          <p:cNvSpPr txBox="1"/>
          <p:nvPr/>
        </p:nvSpPr>
        <p:spPr>
          <a:xfrm>
            <a:off x="5899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65"/>
          <p:cNvSpPr txBox="1"/>
          <p:nvPr/>
        </p:nvSpPr>
        <p:spPr>
          <a:xfrm>
            <a:off x="68457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65"/>
          <p:cNvSpPr txBox="1"/>
          <p:nvPr/>
        </p:nvSpPr>
        <p:spPr>
          <a:xfrm>
            <a:off x="2053875" y="40656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65"/>
          <p:cNvSpPr/>
          <p:nvPr/>
        </p:nvSpPr>
        <p:spPr>
          <a:xfrm>
            <a:off x="56363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5" name="Google Shape;1685;p65"/>
          <p:cNvCxnSpPr>
            <a:stCxn id="1665" idx="4"/>
            <a:endCxn id="1684" idx="1"/>
          </p:cNvCxnSpPr>
          <p:nvPr/>
        </p:nvCxnSpPr>
        <p:spPr>
          <a:xfrm>
            <a:off x="51707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86" name="Google Shape;1686;p65"/>
          <p:cNvSpPr txBox="1"/>
          <p:nvPr/>
        </p:nvSpPr>
        <p:spPr>
          <a:xfrm>
            <a:off x="51215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65"/>
          <p:cNvSpPr txBox="1"/>
          <p:nvPr/>
        </p:nvSpPr>
        <p:spPr>
          <a:xfrm>
            <a:off x="657975" y="44306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65"/>
          <p:cNvSpPr txBox="1"/>
          <p:nvPr/>
        </p:nvSpPr>
        <p:spPr>
          <a:xfrm>
            <a:off x="3118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65"/>
          <p:cNvSpPr txBox="1"/>
          <p:nvPr/>
        </p:nvSpPr>
        <p:spPr>
          <a:xfrm>
            <a:off x="4036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65"/>
          <p:cNvSpPr txBox="1"/>
          <p:nvPr/>
        </p:nvSpPr>
        <p:spPr>
          <a:xfrm>
            <a:off x="4954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65"/>
          <p:cNvSpPr txBox="1"/>
          <p:nvPr/>
        </p:nvSpPr>
        <p:spPr>
          <a:xfrm>
            <a:off x="589987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65"/>
          <p:cNvSpPr txBox="1"/>
          <p:nvPr/>
        </p:nvSpPr>
        <p:spPr>
          <a:xfrm>
            <a:off x="68457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65"/>
          <p:cNvSpPr txBox="1"/>
          <p:nvPr/>
        </p:nvSpPr>
        <p:spPr>
          <a:xfrm>
            <a:off x="2053875" y="43704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8" name="Google Shape;1698;p66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9" name="Google Shape;1699;p66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00" name="Google Shape;1700;p66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701" name="Google Shape;1701;p66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66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66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66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66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66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7" name="Google Shape;1707;p66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66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9" name="Google Shape;1709;p66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710" name="Google Shape;1710;p66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66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66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66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66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5" name="Google Shape;1715;p66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66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66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66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66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66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66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2" name="Google Shape;1722;p66"/>
          <p:cNvCxnSpPr>
            <a:stCxn id="1716" idx="3"/>
            <a:endCxn id="1717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23" name="Google Shape;1723;p66"/>
          <p:cNvCxnSpPr>
            <a:stCxn id="1716" idx="6"/>
            <a:endCxn id="1721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24" name="Google Shape;1724;p66"/>
          <p:cNvCxnSpPr>
            <a:stCxn id="1717" idx="6"/>
            <a:endCxn id="1718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725" name="Google Shape;1725;p66"/>
          <p:cNvCxnSpPr>
            <a:endCxn id="1721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726" name="Google Shape;1726;p66"/>
          <p:cNvCxnSpPr>
            <a:stCxn id="1717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7" name="Google Shape;1727;p66"/>
          <p:cNvCxnSpPr>
            <a:stCxn id="1717" idx="4"/>
            <a:endCxn id="1720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28" name="Google Shape;1728;p66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729" name="Google Shape;1729;p66"/>
          <p:cNvCxnSpPr>
            <a:stCxn id="1720" idx="6"/>
            <a:endCxn id="1719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730" name="Google Shape;1730;p66"/>
          <p:cNvCxnSpPr>
            <a:stCxn id="1718" idx="4"/>
            <a:endCxn id="1719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31" name="Google Shape;1731;p66"/>
          <p:cNvCxnSpPr>
            <a:stCxn id="1721" idx="4"/>
            <a:endCxn id="1719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32" name="Google Shape;1732;p66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66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66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66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66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66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66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66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66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66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66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66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66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66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66"/>
          <p:cNvSpPr txBox="1"/>
          <p:nvPr/>
        </p:nvSpPr>
        <p:spPr>
          <a:xfrm>
            <a:off x="6393300" y="4774200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d[v] = min { d[v], d[u] + w(u, v) }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66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66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66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66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66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66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66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4" name="Google Shape;1754;p66"/>
          <p:cNvCxnSpPr>
            <a:stCxn id="1745" idx="6"/>
            <a:endCxn id="1753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55" name="Google Shape;1755;p66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66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66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66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66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66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66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66"/>
          <p:cNvSpPr txBox="1"/>
          <p:nvPr/>
        </p:nvSpPr>
        <p:spPr>
          <a:xfrm>
            <a:off x="2053875" y="34560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66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p66"/>
          <p:cNvSpPr/>
          <p:nvPr/>
        </p:nvSpPr>
        <p:spPr>
          <a:xfrm>
            <a:off x="49907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5" name="Google Shape;1765;p66"/>
          <p:cNvCxnSpPr>
            <a:stCxn id="1745" idx="3"/>
            <a:endCxn id="1764" idx="7"/>
          </p:cNvCxnSpPr>
          <p:nvPr/>
        </p:nvCxnSpPr>
        <p:spPr>
          <a:xfrm flipH="1">
            <a:off x="52979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66" name="Google Shape;1766;p66"/>
          <p:cNvSpPr txBox="1"/>
          <p:nvPr/>
        </p:nvSpPr>
        <p:spPr>
          <a:xfrm>
            <a:off x="51707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66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66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p66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66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66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66"/>
          <p:cNvSpPr txBox="1"/>
          <p:nvPr/>
        </p:nvSpPr>
        <p:spPr>
          <a:xfrm>
            <a:off x="2053875" y="37608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66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66"/>
          <p:cNvSpPr/>
          <p:nvPr/>
        </p:nvSpPr>
        <p:spPr>
          <a:xfrm>
            <a:off x="74849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66"/>
          <p:cNvSpPr/>
          <p:nvPr/>
        </p:nvSpPr>
        <p:spPr>
          <a:xfrm>
            <a:off x="52890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66"/>
          <p:cNvSpPr txBox="1"/>
          <p:nvPr/>
        </p:nvSpPr>
        <p:spPr>
          <a:xfrm>
            <a:off x="59153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66"/>
          <p:cNvSpPr txBox="1"/>
          <p:nvPr/>
        </p:nvSpPr>
        <p:spPr>
          <a:xfrm>
            <a:off x="3118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66"/>
          <p:cNvSpPr txBox="1"/>
          <p:nvPr/>
        </p:nvSpPr>
        <p:spPr>
          <a:xfrm>
            <a:off x="4036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66"/>
          <p:cNvSpPr txBox="1"/>
          <p:nvPr/>
        </p:nvSpPr>
        <p:spPr>
          <a:xfrm>
            <a:off x="4954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66"/>
          <p:cNvSpPr txBox="1"/>
          <p:nvPr/>
        </p:nvSpPr>
        <p:spPr>
          <a:xfrm>
            <a:off x="5899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66"/>
          <p:cNvSpPr txBox="1"/>
          <p:nvPr/>
        </p:nvSpPr>
        <p:spPr>
          <a:xfrm>
            <a:off x="68457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66"/>
          <p:cNvSpPr txBox="1"/>
          <p:nvPr/>
        </p:nvSpPr>
        <p:spPr>
          <a:xfrm>
            <a:off x="2053875" y="40656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66"/>
          <p:cNvSpPr/>
          <p:nvPr/>
        </p:nvSpPr>
        <p:spPr>
          <a:xfrm>
            <a:off x="56363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4" name="Google Shape;1784;p66"/>
          <p:cNvCxnSpPr>
            <a:stCxn id="1764" idx="4"/>
            <a:endCxn id="1783" idx="1"/>
          </p:cNvCxnSpPr>
          <p:nvPr/>
        </p:nvCxnSpPr>
        <p:spPr>
          <a:xfrm>
            <a:off x="51707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85" name="Google Shape;1785;p66"/>
          <p:cNvSpPr txBox="1"/>
          <p:nvPr/>
        </p:nvSpPr>
        <p:spPr>
          <a:xfrm>
            <a:off x="51215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66"/>
          <p:cNvSpPr txBox="1"/>
          <p:nvPr/>
        </p:nvSpPr>
        <p:spPr>
          <a:xfrm>
            <a:off x="657975" y="44306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66"/>
          <p:cNvSpPr txBox="1"/>
          <p:nvPr/>
        </p:nvSpPr>
        <p:spPr>
          <a:xfrm>
            <a:off x="3118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66"/>
          <p:cNvSpPr txBox="1"/>
          <p:nvPr/>
        </p:nvSpPr>
        <p:spPr>
          <a:xfrm>
            <a:off x="4036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66"/>
          <p:cNvSpPr txBox="1"/>
          <p:nvPr/>
        </p:nvSpPr>
        <p:spPr>
          <a:xfrm>
            <a:off x="4954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66"/>
          <p:cNvSpPr txBox="1"/>
          <p:nvPr/>
        </p:nvSpPr>
        <p:spPr>
          <a:xfrm>
            <a:off x="589987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66"/>
          <p:cNvSpPr txBox="1"/>
          <p:nvPr/>
        </p:nvSpPr>
        <p:spPr>
          <a:xfrm>
            <a:off x="68457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66"/>
          <p:cNvSpPr txBox="1"/>
          <p:nvPr/>
        </p:nvSpPr>
        <p:spPr>
          <a:xfrm>
            <a:off x="2053875" y="43704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66"/>
          <p:cNvSpPr txBox="1"/>
          <p:nvPr/>
        </p:nvSpPr>
        <p:spPr>
          <a:xfrm>
            <a:off x="657975" y="4735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66"/>
          <p:cNvSpPr/>
          <p:nvPr/>
        </p:nvSpPr>
        <p:spPr>
          <a:xfrm>
            <a:off x="62950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5" name="Google Shape;1795;p66"/>
          <p:cNvCxnSpPr>
            <a:endCxn id="1753" idx="2"/>
          </p:cNvCxnSpPr>
          <p:nvPr/>
        </p:nvCxnSpPr>
        <p:spPr>
          <a:xfrm>
            <a:off x="66549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796" name="Google Shape;1796;p66"/>
          <p:cNvSpPr txBox="1"/>
          <p:nvPr/>
        </p:nvSpPr>
        <p:spPr>
          <a:xfrm>
            <a:off x="70304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1" name="Google Shape;1801;p67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2" name="Google Shape;1802;p67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03" name="Google Shape;1803;p67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804" name="Google Shape;1804;p67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67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67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67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67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67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0" name="Google Shape;1810;p67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67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2" name="Google Shape;1812;p67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813" name="Google Shape;1813;p67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67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67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67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67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8" name="Google Shape;1818;p67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67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67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67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67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67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67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5" name="Google Shape;1825;p67"/>
          <p:cNvCxnSpPr>
            <a:stCxn id="1819" idx="3"/>
            <a:endCxn id="1820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26" name="Google Shape;1826;p67"/>
          <p:cNvCxnSpPr>
            <a:stCxn id="1819" idx="6"/>
            <a:endCxn id="1824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27" name="Google Shape;1827;p67"/>
          <p:cNvCxnSpPr>
            <a:stCxn id="1820" idx="6"/>
            <a:endCxn id="1821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828" name="Google Shape;1828;p67"/>
          <p:cNvCxnSpPr>
            <a:endCxn id="1824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829" name="Google Shape;1829;p67"/>
          <p:cNvCxnSpPr>
            <a:stCxn id="1820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0" name="Google Shape;1830;p67"/>
          <p:cNvCxnSpPr>
            <a:stCxn id="1820" idx="4"/>
            <a:endCxn id="1823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31" name="Google Shape;1831;p67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832" name="Google Shape;1832;p67"/>
          <p:cNvCxnSpPr>
            <a:stCxn id="1823" idx="6"/>
            <a:endCxn id="1822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833" name="Google Shape;1833;p67"/>
          <p:cNvCxnSpPr>
            <a:stCxn id="1821" idx="4"/>
            <a:endCxn id="1822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34" name="Google Shape;1834;p67"/>
          <p:cNvCxnSpPr>
            <a:stCxn id="1824" idx="4"/>
            <a:endCxn id="1822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35" name="Google Shape;1835;p67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67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67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67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67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67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67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67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67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p67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67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67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67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67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67"/>
          <p:cNvSpPr txBox="1"/>
          <p:nvPr/>
        </p:nvSpPr>
        <p:spPr>
          <a:xfrm>
            <a:off x="3118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67"/>
          <p:cNvSpPr txBox="1"/>
          <p:nvPr/>
        </p:nvSpPr>
        <p:spPr>
          <a:xfrm>
            <a:off x="4036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67"/>
          <p:cNvSpPr txBox="1"/>
          <p:nvPr/>
        </p:nvSpPr>
        <p:spPr>
          <a:xfrm>
            <a:off x="49540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67"/>
          <p:cNvSpPr txBox="1"/>
          <p:nvPr/>
        </p:nvSpPr>
        <p:spPr>
          <a:xfrm>
            <a:off x="5899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67"/>
          <p:cNvSpPr txBox="1"/>
          <p:nvPr/>
        </p:nvSpPr>
        <p:spPr>
          <a:xfrm>
            <a:off x="684572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67"/>
          <p:cNvSpPr txBox="1"/>
          <p:nvPr/>
        </p:nvSpPr>
        <p:spPr>
          <a:xfrm>
            <a:off x="2053875" y="3151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67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6" name="Google Shape;1856;p67"/>
          <p:cNvCxnSpPr>
            <a:stCxn id="1848" idx="6"/>
            <a:endCxn id="1855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57" name="Google Shape;1857;p67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67"/>
          <p:cNvSpPr txBox="1"/>
          <p:nvPr/>
        </p:nvSpPr>
        <p:spPr>
          <a:xfrm>
            <a:off x="657975" y="3516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67"/>
          <p:cNvSpPr txBox="1"/>
          <p:nvPr/>
        </p:nvSpPr>
        <p:spPr>
          <a:xfrm>
            <a:off x="3118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67"/>
          <p:cNvSpPr txBox="1"/>
          <p:nvPr/>
        </p:nvSpPr>
        <p:spPr>
          <a:xfrm>
            <a:off x="4036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67"/>
          <p:cNvSpPr txBox="1"/>
          <p:nvPr/>
        </p:nvSpPr>
        <p:spPr>
          <a:xfrm>
            <a:off x="49540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67"/>
          <p:cNvSpPr txBox="1"/>
          <p:nvPr/>
        </p:nvSpPr>
        <p:spPr>
          <a:xfrm>
            <a:off x="5899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67"/>
          <p:cNvSpPr txBox="1"/>
          <p:nvPr/>
        </p:nvSpPr>
        <p:spPr>
          <a:xfrm>
            <a:off x="684572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67"/>
          <p:cNvSpPr txBox="1"/>
          <p:nvPr/>
        </p:nvSpPr>
        <p:spPr>
          <a:xfrm>
            <a:off x="2053875" y="34560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67"/>
          <p:cNvSpPr txBox="1"/>
          <p:nvPr/>
        </p:nvSpPr>
        <p:spPr>
          <a:xfrm>
            <a:off x="657975" y="38210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67"/>
          <p:cNvSpPr/>
          <p:nvPr/>
        </p:nvSpPr>
        <p:spPr>
          <a:xfrm>
            <a:off x="49907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7" name="Google Shape;1867;p67"/>
          <p:cNvCxnSpPr>
            <a:stCxn id="1848" idx="3"/>
            <a:endCxn id="1866" idx="7"/>
          </p:cNvCxnSpPr>
          <p:nvPr/>
        </p:nvCxnSpPr>
        <p:spPr>
          <a:xfrm flipH="1">
            <a:off x="52979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68" name="Google Shape;1868;p67"/>
          <p:cNvSpPr txBox="1"/>
          <p:nvPr/>
        </p:nvSpPr>
        <p:spPr>
          <a:xfrm>
            <a:off x="51707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67"/>
          <p:cNvSpPr txBox="1"/>
          <p:nvPr/>
        </p:nvSpPr>
        <p:spPr>
          <a:xfrm>
            <a:off x="3118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67"/>
          <p:cNvSpPr txBox="1"/>
          <p:nvPr/>
        </p:nvSpPr>
        <p:spPr>
          <a:xfrm>
            <a:off x="4036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67"/>
          <p:cNvSpPr txBox="1"/>
          <p:nvPr/>
        </p:nvSpPr>
        <p:spPr>
          <a:xfrm>
            <a:off x="49540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67"/>
          <p:cNvSpPr txBox="1"/>
          <p:nvPr/>
        </p:nvSpPr>
        <p:spPr>
          <a:xfrm>
            <a:off x="5899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67"/>
          <p:cNvSpPr txBox="1"/>
          <p:nvPr/>
        </p:nvSpPr>
        <p:spPr>
          <a:xfrm>
            <a:off x="684572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67"/>
          <p:cNvSpPr txBox="1"/>
          <p:nvPr/>
        </p:nvSpPr>
        <p:spPr>
          <a:xfrm>
            <a:off x="2053875" y="37608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67"/>
          <p:cNvSpPr txBox="1"/>
          <p:nvPr/>
        </p:nvSpPr>
        <p:spPr>
          <a:xfrm>
            <a:off x="657975" y="41258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67"/>
          <p:cNvSpPr/>
          <p:nvPr/>
        </p:nvSpPr>
        <p:spPr>
          <a:xfrm>
            <a:off x="74849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67"/>
          <p:cNvSpPr/>
          <p:nvPr/>
        </p:nvSpPr>
        <p:spPr>
          <a:xfrm>
            <a:off x="52890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67"/>
          <p:cNvSpPr txBox="1"/>
          <p:nvPr/>
        </p:nvSpPr>
        <p:spPr>
          <a:xfrm>
            <a:off x="59153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67"/>
          <p:cNvSpPr txBox="1"/>
          <p:nvPr/>
        </p:nvSpPr>
        <p:spPr>
          <a:xfrm>
            <a:off x="3118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0" name="Google Shape;1880;p67"/>
          <p:cNvSpPr txBox="1"/>
          <p:nvPr/>
        </p:nvSpPr>
        <p:spPr>
          <a:xfrm>
            <a:off x="4036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67"/>
          <p:cNvSpPr txBox="1"/>
          <p:nvPr/>
        </p:nvSpPr>
        <p:spPr>
          <a:xfrm>
            <a:off x="49540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67"/>
          <p:cNvSpPr txBox="1"/>
          <p:nvPr/>
        </p:nvSpPr>
        <p:spPr>
          <a:xfrm>
            <a:off x="5899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67"/>
          <p:cNvSpPr txBox="1"/>
          <p:nvPr/>
        </p:nvSpPr>
        <p:spPr>
          <a:xfrm>
            <a:off x="684572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67"/>
          <p:cNvSpPr txBox="1"/>
          <p:nvPr/>
        </p:nvSpPr>
        <p:spPr>
          <a:xfrm>
            <a:off x="2053875" y="40656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67"/>
          <p:cNvSpPr/>
          <p:nvPr/>
        </p:nvSpPr>
        <p:spPr>
          <a:xfrm>
            <a:off x="56363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6" name="Google Shape;1886;p67"/>
          <p:cNvCxnSpPr>
            <a:stCxn id="1866" idx="4"/>
            <a:endCxn id="1885" idx="1"/>
          </p:cNvCxnSpPr>
          <p:nvPr/>
        </p:nvCxnSpPr>
        <p:spPr>
          <a:xfrm>
            <a:off x="51707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87" name="Google Shape;1887;p67"/>
          <p:cNvSpPr txBox="1"/>
          <p:nvPr/>
        </p:nvSpPr>
        <p:spPr>
          <a:xfrm>
            <a:off x="51215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67"/>
          <p:cNvSpPr txBox="1"/>
          <p:nvPr/>
        </p:nvSpPr>
        <p:spPr>
          <a:xfrm>
            <a:off x="657975" y="44306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67"/>
          <p:cNvSpPr txBox="1"/>
          <p:nvPr/>
        </p:nvSpPr>
        <p:spPr>
          <a:xfrm>
            <a:off x="3118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67"/>
          <p:cNvSpPr txBox="1"/>
          <p:nvPr/>
        </p:nvSpPr>
        <p:spPr>
          <a:xfrm>
            <a:off x="4036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67"/>
          <p:cNvSpPr txBox="1"/>
          <p:nvPr/>
        </p:nvSpPr>
        <p:spPr>
          <a:xfrm>
            <a:off x="49540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67"/>
          <p:cNvSpPr txBox="1"/>
          <p:nvPr/>
        </p:nvSpPr>
        <p:spPr>
          <a:xfrm>
            <a:off x="589987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67"/>
          <p:cNvSpPr txBox="1"/>
          <p:nvPr/>
        </p:nvSpPr>
        <p:spPr>
          <a:xfrm>
            <a:off x="684572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67"/>
          <p:cNvSpPr txBox="1"/>
          <p:nvPr/>
        </p:nvSpPr>
        <p:spPr>
          <a:xfrm>
            <a:off x="2053875" y="43704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67"/>
          <p:cNvSpPr txBox="1"/>
          <p:nvPr/>
        </p:nvSpPr>
        <p:spPr>
          <a:xfrm>
            <a:off x="657975" y="4735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67"/>
          <p:cNvSpPr/>
          <p:nvPr/>
        </p:nvSpPr>
        <p:spPr>
          <a:xfrm>
            <a:off x="62950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7" name="Google Shape;1897;p67"/>
          <p:cNvCxnSpPr>
            <a:endCxn id="1855" idx="2"/>
          </p:cNvCxnSpPr>
          <p:nvPr/>
        </p:nvCxnSpPr>
        <p:spPr>
          <a:xfrm>
            <a:off x="66549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898" name="Google Shape;1898;p67"/>
          <p:cNvSpPr txBox="1"/>
          <p:nvPr/>
        </p:nvSpPr>
        <p:spPr>
          <a:xfrm>
            <a:off x="70304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67"/>
          <p:cNvSpPr txBox="1"/>
          <p:nvPr/>
        </p:nvSpPr>
        <p:spPr>
          <a:xfrm>
            <a:off x="311802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67"/>
          <p:cNvSpPr txBox="1"/>
          <p:nvPr/>
        </p:nvSpPr>
        <p:spPr>
          <a:xfrm>
            <a:off x="403602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67"/>
          <p:cNvSpPr txBox="1"/>
          <p:nvPr/>
        </p:nvSpPr>
        <p:spPr>
          <a:xfrm>
            <a:off x="495402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67"/>
          <p:cNvSpPr txBox="1"/>
          <p:nvPr/>
        </p:nvSpPr>
        <p:spPr>
          <a:xfrm>
            <a:off x="589987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67"/>
          <p:cNvSpPr txBox="1"/>
          <p:nvPr/>
        </p:nvSpPr>
        <p:spPr>
          <a:xfrm>
            <a:off x="684572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67"/>
          <p:cNvSpPr txBox="1"/>
          <p:nvPr/>
        </p:nvSpPr>
        <p:spPr>
          <a:xfrm>
            <a:off x="2053875" y="4675225"/>
            <a:ext cx="85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9" name="Google Shape;1909;p68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0" name="Google Shape;1910;p68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11" name="Google Shape;1911;p68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912" name="Google Shape;1912;p68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68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68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68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68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68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8" name="Google Shape;1918;p68"/>
          <p:cNvSpPr txBox="1"/>
          <p:nvPr/>
        </p:nvSpPr>
        <p:spPr>
          <a:xfrm>
            <a:off x="958575" y="2877175"/>
            <a:ext cx="109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b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SOLUȚIE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68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68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68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68"/>
          <p:cNvSpPr txBox="1"/>
          <p:nvPr/>
        </p:nvSpPr>
        <p:spPr>
          <a:xfrm>
            <a:off x="4954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68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68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68"/>
          <p:cNvSpPr/>
          <p:nvPr/>
        </p:nvSpPr>
        <p:spPr>
          <a:xfrm>
            <a:off x="1599675" y="6827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68"/>
          <p:cNvSpPr/>
          <p:nvPr/>
        </p:nvSpPr>
        <p:spPr>
          <a:xfrm>
            <a:off x="723525" y="98981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68"/>
          <p:cNvSpPr/>
          <p:nvPr/>
        </p:nvSpPr>
        <p:spPr>
          <a:xfrm>
            <a:off x="2027825" y="701655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68"/>
          <p:cNvSpPr/>
          <p:nvPr/>
        </p:nvSpPr>
        <p:spPr>
          <a:xfrm>
            <a:off x="3217700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68"/>
          <p:cNvSpPr/>
          <p:nvPr/>
        </p:nvSpPr>
        <p:spPr>
          <a:xfrm>
            <a:off x="1369125" y="1952146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68"/>
          <p:cNvSpPr/>
          <p:nvPr/>
        </p:nvSpPr>
        <p:spPr>
          <a:xfrm>
            <a:off x="3332125" y="902529"/>
            <a:ext cx="360000" cy="2883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1" name="Google Shape;1931;p68"/>
          <p:cNvCxnSpPr>
            <a:stCxn id="1925" idx="3"/>
            <a:endCxn id="1926" idx="7"/>
          </p:cNvCxnSpPr>
          <p:nvPr/>
        </p:nvCxnSpPr>
        <p:spPr>
          <a:xfrm flipH="1">
            <a:off x="10307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32" name="Google Shape;1932;p68"/>
          <p:cNvCxnSpPr>
            <a:stCxn id="1925" idx="6"/>
            <a:endCxn id="1930" idx="1"/>
          </p:cNvCxnSpPr>
          <p:nvPr/>
        </p:nvCxnSpPr>
        <p:spPr>
          <a:xfrm>
            <a:off x="19596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33" name="Google Shape;1933;p68"/>
          <p:cNvCxnSpPr>
            <a:stCxn id="1926" idx="6"/>
            <a:endCxn id="1927" idx="2"/>
          </p:cNvCxnSpPr>
          <p:nvPr/>
        </p:nvCxnSpPr>
        <p:spPr>
          <a:xfrm flipH="1" rot="10800000">
            <a:off x="1083525" y="845669"/>
            <a:ext cx="944400" cy="2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934" name="Google Shape;1934;p68"/>
          <p:cNvCxnSpPr>
            <a:endCxn id="1930" idx="2"/>
          </p:cNvCxnSpPr>
          <p:nvPr/>
        </p:nvCxnSpPr>
        <p:spPr>
          <a:xfrm>
            <a:off x="23877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935" name="Google Shape;1935;p68"/>
          <p:cNvCxnSpPr>
            <a:stCxn id="1926" idx="5"/>
          </p:cNvCxnSpPr>
          <p:nvPr/>
        </p:nvCxnSpPr>
        <p:spPr>
          <a:xfrm>
            <a:off x="1030804" y="1235898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6" name="Google Shape;1936;p68"/>
          <p:cNvCxnSpPr>
            <a:stCxn id="1926" idx="4"/>
            <a:endCxn id="1929" idx="1"/>
          </p:cNvCxnSpPr>
          <p:nvPr/>
        </p:nvCxnSpPr>
        <p:spPr>
          <a:xfrm>
            <a:off x="9035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37" name="Google Shape;1937;p68"/>
          <p:cNvCxnSpPr/>
          <p:nvPr/>
        </p:nvCxnSpPr>
        <p:spPr>
          <a:xfrm>
            <a:off x="1030804" y="1235782"/>
            <a:ext cx="22395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938" name="Google Shape;1938;p68"/>
          <p:cNvCxnSpPr>
            <a:stCxn id="1929" idx="6"/>
            <a:endCxn id="1928" idx="2"/>
          </p:cNvCxnSpPr>
          <p:nvPr/>
        </p:nvCxnSpPr>
        <p:spPr>
          <a:xfrm>
            <a:off x="1729125" y="2096296"/>
            <a:ext cx="14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939" name="Google Shape;1939;p68"/>
          <p:cNvCxnSpPr>
            <a:stCxn id="1927" idx="4"/>
            <a:endCxn id="1928" idx="1"/>
          </p:cNvCxnSpPr>
          <p:nvPr/>
        </p:nvCxnSpPr>
        <p:spPr>
          <a:xfrm>
            <a:off x="2207825" y="989955"/>
            <a:ext cx="1062600" cy="10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40" name="Google Shape;1940;p68"/>
          <p:cNvCxnSpPr>
            <a:stCxn id="1930" idx="4"/>
            <a:endCxn id="1928" idx="0"/>
          </p:cNvCxnSpPr>
          <p:nvPr/>
        </p:nvCxnSpPr>
        <p:spPr>
          <a:xfrm flipH="1">
            <a:off x="3397825" y="1190829"/>
            <a:ext cx="114300" cy="76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41" name="Google Shape;1941;p68"/>
          <p:cNvSpPr txBox="1"/>
          <p:nvPr/>
        </p:nvSpPr>
        <p:spPr>
          <a:xfrm>
            <a:off x="9035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68"/>
          <p:cNvSpPr txBox="1"/>
          <p:nvPr/>
        </p:nvSpPr>
        <p:spPr>
          <a:xfrm>
            <a:off x="26437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68"/>
          <p:cNvSpPr txBox="1"/>
          <p:nvPr/>
        </p:nvSpPr>
        <p:spPr>
          <a:xfrm>
            <a:off x="1369125" y="70714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68"/>
          <p:cNvSpPr txBox="1"/>
          <p:nvPr/>
        </p:nvSpPr>
        <p:spPr>
          <a:xfrm>
            <a:off x="27632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68"/>
          <p:cNvSpPr txBox="1"/>
          <p:nvPr/>
        </p:nvSpPr>
        <p:spPr>
          <a:xfrm>
            <a:off x="3466925" y="137563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68"/>
          <p:cNvSpPr txBox="1"/>
          <p:nvPr/>
        </p:nvSpPr>
        <p:spPr>
          <a:xfrm>
            <a:off x="2400963" y="203935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68"/>
          <p:cNvSpPr txBox="1"/>
          <p:nvPr/>
        </p:nvSpPr>
        <p:spPr>
          <a:xfrm>
            <a:off x="1861663" y="127798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68"/>
          <p:cNvSpPr txBox="1"/>
          <p:nvPr/>
        </p:nvSpPr>
        <p:spPr>
          <a:xfrm>
            <a:off x="8543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68"/>
          <p:cNvSpPr txBox="1"/>
          <p:nvPr/>
        </p:nvSpPr>
        <p:spPr>
          <a:xfrm>
            <a:off x="2629738" y="1231076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68"/>
          <p:cNvSpPr/>
          <p:nvPr/>
        </p:nvSpPr>
        <p:spPr>
          <a:xfrm>
            <a:off x="10218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68"/>
          <p:cNvSpPr txBox="1"/>
          <p:nvPr/>
        </p:nvSpPr>
        <p:spPr>
          <a:xfrm>
            <a:off x="16481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68"/>
          <p:cNvSpPr/>
          <p:nvPr/>
        </p:nvSpPr>
        <p:spPr>
          <a:xfrm>
            <a:off x="1646863" y="2187920"/>
            <a:ext cx="1611575" cy="145451"/>
          </a:xfrm>
          <a:custGeom>
            <a:rect b="b" l="l" r="r" t="t"/>
            <a:pathLst>
              <a:path extrusionOk="0" h="7268" w="64463">
                <a:moveTo>
                  <a:pt x="0" y="904"/>
                </a:moveTo>
                <a:cubicBezTo>
                  <a:pt x="5221" y="1958"/>
                  <a:pt x="20584" y="7381"/>
                  <a:pt x="31328" y="7230"/>
                </a:cubicBezTo>
                <a:cubicBezTo>
                  <a:pt x="42072" y="7079"/>
                  <a:pt x="58941" y="1205"/>
                  <a:pt x="6446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68"/>
          <p:cNvSpPr txBox="1"/>
          <p:nvPr/>
        </p:nvSpPr>
        <p:spPr>
          <a:xfrm>
            <a:off x="2236500" y="225395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68"/>
          <p:cNvSpPr/>
          <p:nvPr/>
        </p:nvSpPr>
        <p:spPr>
          <a:xfrm>
            <a:off x="5866875" y="6827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68"/>
          <p:cNvSpPr/>
          <p:nvPr/>
        </p:nvSpPr>
        <p:spPr>
          <a:xfrm>
            <a:off x="7599325" y="90252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6" name="Google Shape;1956;p68"/>
          <p:cNvCxnSpPr>
            <a:stCxn id="1954" idx="6"/>
            <a:endCxn id="1955" idx="1"/>
          </p:cNvCxnSpPr>
          <p:nvPr/>
        </p:nvCxnSpPr>
        <p:spPr>
          <a:xfrm>
            <a:off x="6226875" y="212425"/>
            <a:ext cx="1425300" cy="73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57" name="Google Shape;1957;p68"/>
          <p:cNvSpPr txBox="1"/>
          <p:nvPr/>
        </p:nvSpPr>
        <p:spPr>
          <a:xfrm>
            <a:off x="6910975" y="274232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68"/>
          <p:cNvSpPr/>
          <p:nvPr/>
        </p:nvSpPr>
        <p:spPr>
          <a:xfrm>
            <a:off x="4990725" y="989819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9" name="Google Shape;1959;p68"/>
          <p:cNvCxnSpPr>
            <a:stCxn id="1954" idx="3"/>
            <a:endCxn id="1958" idx="7"/>
          </p:cNvCxnSpPr>
          <p:nvPr/>
        </p:nvCxnSpPr>
        <p:spPr>
          <a:xfrm flipH="1">
            <a:off x="5297996" y="314354"/>
            <a:ext cx="6216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60" name="Google Shape;1960;p68"/>
          <p:cNvSpPr txBox="1"/>
          <p:nvPr/>
        </p:nvSpPr>
        <p:spPr>
          <a:xfrm>
            <a:off x="5170725" y="423517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68"/>
          <p:cNvSpPr/>
          <p:nvPr/>
        </p:nvSpPr>
        <p:spPr>
          <a:xfrm>
            <a:off x="7484900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68"/>
          <p:cNvSpPr/>
          <p:nvPr/>
        </p:nvSpPr>
        <p:spPr>
          <a:xfrm>
            <a:off x="5289025" y="1257551"/>
            <a:ext cx="2191450" cy="789713"/>
          </a:xfrm>
          <a:custGeom>
            <a:rect b="b" l="l" r="r" t="t"/>
            <a:pathLst>
              <a:path extrusionOk="0" h="39461" w="87658">
                <a:moveTo>
                  <a:pt x="0" y="0"/>
                </a:moveTo>
                <a:cubicBezTo>
                  <a:pt x="6075" y="4318"/>
                  <a:pt x="21838" y="19329"/>
                  <a:pt x="36448" y="25906"/>
                </a:cubicBezTo>
                <a:cubicBezTo>
                  <a:pt x="51058" y="32483"/>
                  <a:pt x="79123" y="37202"/>
                  <a:pt x="87658" y="3946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68"/>
          <p:cNvSpPr txBox="1"/>
          <p:nvPr/>
        </p:nvSpPr>
        <p:spPr>
          <a:xfrm>
            <a:off x="5915313" y="1684184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68"/>
          <p:cNvSpPr/>
          <p:nvPr/>
        </p:nvSpPr>
        <p:spPr>
          <a:xfrm>
            <a:off x="5636325" y="1952146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5" name="Google Shape;1965;p68"/>
          <p:cNvCxnSpPr>
            <a:stCxn id="1958" idx="4"/>
            <a:endCxn id="1964" idx="1"/>
          </p:cNvCxnSpPr>
          <p:nvPr/>
        </p:nvCxnSpPr>
        <p:spPr>
          <a:xfrm>
            <a:off x="5170725" y="1278119"/>
            <a:ext cx="518400" cy="7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66" name="Google Shape;1966;p68"/>
          <p:cNvSpPr txBox="1"/>
          <p:nvPr/>
        </p:nvSpPr>
        <p:spPr>
          <a:xfrm>
            <a:off x="5121513" y="1523943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68"/>
          <p:cNvSpPr/>
          <p:nvPr/>
        </p:nvSpPr>
        <p:spPr>
          <a:xfrm>
            <a:off x="6295025" y="701655"/>
            <a:ext cx="360000" cy="288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8" name="Google Shape;1968;p68"/>
          <p:cNvCxnSpPr>
            <a:endCxn id="1955" idx="2"/>
          </p:cNvCxnSpPr>
          <p:nvPr/>
        </p:nvCxnSpPr>
        <p:spPr>
          <a:xfrm>
            <a:off x="6654925" y="845679"/>
            <a:ext cx="944400" cy="2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969" name="Google Shape;1969;p68"/>
          <p:cNvSpPr txBox="1"/>
          <p:nvPr/>
        </p:nvSpPr>
        <p:spPr>
          <a:xfrm>
            <a:off x="7030450" y="88644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68"/>
          <p:cNvSpPr txBox="1"/>
          <p:nvPr/>
        </p:nvSpPr>
        <p:spPr>
          <a:xfrm>
            <a:off x="2080425" y="3714525"/>
            <a:ext cx="302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Un drum minim de la 1 la 6?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6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1976" name="Google Shape;1976;p6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>
                <a:solidFill>
                  <a:srgbClr val="CC0000"/>
                </a:solidFill>
              </a:rPr>
              <a:t>Dacă vârful u curent are eticheta d[u] = </a:t>
            </a:r>
            <a:r>
              <a:rPr lang="en-GB" sz="1700">
                <a:solidFill>
                  <a:srgbClr val="CC0000"/>
                </a:solidFill>
              </a:rPr>
              <a:t>∞</a:t>
            </a:r>
            <a:r>
              <a:rPr lang="en-GB">
                <a:solidFill>
                  <a:srgbClr val="CC0000"/>
                </a:solidFill>
              </a:rPr>
              <a:t>, algoritmul se poate opri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0" lang="en-GB"/>
              <a:t>Vectorul </a:t>
            </a:r>
            <a:r>
              <a:rPr lang="en-GB"/>
              <a:t>tata </a:t>
            </a:r>
            <a:r>
              <a:rPr b="0" lang="en-GB"/>
              <a:t>memorează </a:t>
            </a:r>
            <a:r>
              <a:rPr lang="en-GB"/>
              <a:t>arborele distanțelor față de s</a:t>
            </a:r>
            <a:r>
              <a:rPr b="0" lang="en-GB"/>
              <a:t> (vârfurile neaccesibile din s rămân cu tata 0)</a:t>
            </a:r>
            <a:endParaRPr b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7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1982" name="Google Shape;1982;p7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Dijkstra(G, w, s)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inițializează mulțimea vârfurilor neselectate Q cu V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Q≠∅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u = extrage vârf cu eticheta d minimă din Q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d[u]+w(u,v) &lt; d[v]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d[v] = d[u]+w(u,v)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tata[v] = u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scrie d, tata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// scrie drum minim de la s la un vârf t dat folosind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tata</a:t>
            </a:r>
            <a:endParaRPr b="0"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7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1988" name="Google Shape;1988;p7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Cum memorăm Q = vârfurile încă neselectate?</a:t>
            </a:r>
            <a:endParaRPr/>
          </a:p>
        </p:txBody>
      </p:sp>
      <p:pic>
        <p:nvPicPr>
          <p:cNvPr id="1989" name="Google Shape;198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7" y="906225"/>
            <a:ext cx="875225" cy="13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7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1995" name="Google Shape;1995;p7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Q poate fi</a:t>
            </a:r>
            <a:r>
              <a:rPr b="0" lang="en-GB"/>
              <a:t> (ca și în cazul algoritmului lui Prim)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vector</a:t>
            </a:r>
            <a:endParaRPr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Q[u] = 1,  dacă u este selectat (u ∉ Q)</a:t>
            </a:r>
            <a:br>
              <a:rPr lang="en-GB" sz="1500"/>
            </a:br>
            <a:r>
              <a:rPr lang="en-GB" sz="1500"/>
              <a:t>	  0,  altfel (u ∈ Q)</a:t>
            </a:r>
            <a:endParaRPr sz="15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Char char="⏵"/>
            </a:pPr>
            <a:r>
              <a:rPr lang="en-GB"/>
              <a:t>min-ansamblu (heap)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7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2001" name="Google Shape;2001;p7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1 - </a:t>
            </a:r>
            <a:r>
              <a:rPr b="0" lang="en-GB"/>
              <a:t>reprezentarea lui Q ca vector</a:t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600"/>
              <a:t>Q[u] = 1,  dacă u este selectat (u ∉ Q)</a:t>
            </a:r>
            <a:br>
              <a:rPr b="0" lang="en-GB" sz="1600"/>
            </a:br>
            <a:r>
              <a:rPr b="0" lang="en-GB" sz="1600"/>
              <a:t>	  0,  altfel (u ∈ Q)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 Q</a:t>
            </a:r>
            <a:r>
              <a:rPr b="0" lang="en-GB"/>
              <a:t>					→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 * extragere vârf minim</a:t>
            </a:r>
            <a:r>
              <a:rPr b="0" lang="en-GB"/>
              <a:t>		→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actualizare etichete vecini</a:t>
            </a:r>
            <a:r>
              <a:rPr b="0" lang="en-GB"/>
              <a:t>		→</a:t>
            </a:r>
            <a:endParaRPr/>
          </a:p>
        </p:txBody>
      </p:sp>
      <p:cxnSp>
        <p:nvCxnSpPr>
          <p:cNvPr id="2002" name="Google Shape;2002;p73"/>
          <p:cNvCxnSpPr/>
          <p:nvPr/>
        </p:nvCxnSpPr>
        <p:spPr>
          <a:xfrm>
            <a:off x="4428075" y="3442825"/>
            <a:ext cx="1445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7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2008" name="Google Shape;2008;p7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1 - </a:t>
            </a:r>
            <a:r>
              <a:rPr b="0" lang="en-GB"/>
              <a:t>reprezentarea lui Q ca vector</a:t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600"/>
              <a:t>Q[u] = 1,  dacă u este selectat (u ∉ Q)</a:t>
            </a:r>
            <a:br>
              <a:rPr b="0" lang="en-GB" sz="1600"/>
            </a:br>
            <a:r>
              <a:rPr b="0" lang="en-GB" sz="1600"/>
              <a:t>	  0,  altfel (u ∈ Q)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 Q</a:t>
            </a:r>
            <a:r>
              <a:rPr b="0" lang="en-GB"/>
              <a:t>					→	O(n)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 * extragere vârf minim</a:t>
            </a:r>
            <a:r>
              <a:rPr b="0" lang="en-GB"/>
              <a:t>		→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actualizare etichete vecini</a:t>
            </a:r>
            <a:r>
              <a:rPr b="0" lang="en-GB"/>
              <a:t>		→</a:t>
            </a:r>
            <a:endParaRPr/>
          </a:p>
        </p:txBody>
      </p:sp>
      <p:cxnSp>
        <p:nvCxnSpPr>
          <p:cNvPr id="2009" name="Google Shape;2009;p74"/>
          <p:cNvCxnSpPr/>
          <p:nvPr/>
        </p:nvCxnSpPr>
        <p:spPr>
          <a:xfrm>
            <a:off x="4428075" y="3442825"/>
            <a:ext cx="1445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7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2015" name="Google Shape;2015;p7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1 - </a:t>
            </a:r>
            <a:r>
              <a:rPr b="0" lang="en-GB"/>
              <a:t>reprezentarea lui Q ca vector</a:t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600"/>
              <a:t>Q[u] = 1,  dacă u este selectat (u ∉ Q)</a:t>
            </a:r>
            <a:br>
              <a:rPr b="0" lang="en-GB" sz="1600"/>
            </a:br>
            <a:r>
              <a:rPr b="0" lang="en-GB" sz="1600"/>
              <a:t>	  0,  altfel (u ∈ Q)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 Q</a:t>
            </a:r>
            <a:r>
              <a:rPr b="0" lang="en-GB"/>
              <a:t>					→	O(n)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 * extragere vârf minim</a:t>
            </a:r>
            <a:r>
              <a:rPr b="0" lang="en-GB"/>
              <a:t>		→	O(n</a:t>
            </a:r>
            <a:r>
              <a:rPr b="0" baseline="30000" lang="en-GB"/>
              <a:t>2</a:t>
            </a:r>
            <a:r>
              <a:rPr b="0" lang="en-GB"/>
              <a:t>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actualizare etichete vecini</a:t>
            </a:r>
            <a:r>
              <a:rPr b="0" lang="en-GB"/>
              <a:t>		→</a:t>
            </a:r>
            <a:endParaRPr/>
          </a:p>
        </p:txBody>
      </p:sp>
      <p:cxnSp>
        <p:nvCxnSpPr>
          <p:cNvPr id="2016" name="Google Shape;2016;p75"/>
          <p:cNvCxnSpPr/>
          <p:nvPr/>
        </p:nvCxnSpPr>
        <p:spPr>
          <a:xfrm>
            <a:off x="4428075" y="3442825"/>
            <a:ext cx="1445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7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2022" name="Google Shape;2022;p7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1 - </a:t>
            </a:r>
            <a:r>
              <a:rPr b="0" lang="en-GB"/>
              <a:t>reprezentarea lui Q ca vector</a:t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600"/>
              <a:t>Q[u] = 1,  dacă u este selectat (u ∉ Q)</a:t>
            </a:r>
            <a:br>
              <a:rPr b="0" lang="en-GB" sz="1600"/>
            </a:br>
            <a:r>
              <a:rPr b="0" lang="en-GB" sz="1600"/>
              <a:t>	  0,  altfel (u ∈ Q)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 Q</a:t>
            </a:r>
            <a:r>
              <a:rPr b="0" lang="en-GB"/>
              <a:t>					→	O(n)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 * extragere vârf minim</a:t>
            </a:r>
            <a:r>
              <a:rPr b="0" lang="en-GB"/>
              <a:t>		→	O(n</a:t>
            </a:r>
            <a:r>
              <a:rPr b="0" baseline="30000" lang="en-GB"/>
              <a:t>2</a:t>
            </a:r>
            <a:r>
              <a:rPr b="0" lang="en-GB"/>
              <a:t>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actualizare etichete vecini</a:t>
            </a:r>
            <a:r>
              <a:rPr b="0" lang="en-GB"/>
              <a:t>		→	O(m)</a:t>
            </a:r>
            <a:endParaRPr/>
          </a:p>
        </p:txBody>
      </p:sp>
      <p:cxnSp>
        <p:nvCxnSpPr>
          <p:cNvPr id="2023" name="Google Shape;2023;p76"/>
          <p:cNvCxnSpPr/>
          <p:nvPr/>
        </p:nvCxnSpPr>
        <p:spPr>
          <a:xfrm>
            <a:off x="4428075" y="3442825"/>
            <a:ext cx="1445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7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2029" name="Google Shape;2029;p7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1 - </a:t>
            </a:r>
            <a:r>
              <a:rPr b="0" lang="en-GB"/>
              <a:t>reprezentarea lui Q ca vector</a:t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 sz="1600"/>
              <a:t>Q[u] = 1,  dacă u este selectat (u ∉ Q)</a:t>
            </a:r>
            <a:br>
              <a:rPr b="0" lang="en-GB" sz="1600"/>
            </a:br>
            <a:r>
              <a:rPr b="0" lang="en-GB" sz="1600"/>
              <a:t>	  0,  altfel (u ∈ Q)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 Q</a:t>
            </a:r>
            <a:r>
              <a:rPr b="0" lang="en-GB"/>
              <a:t>					→	O(n)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 * extragere vârf minim</a:t>
            </a:r>
            <a:r>
              <a:rPr b="0" lang="en-GB"/>
              <a:t>		→	O(n</a:t>
            </a:r>
            <a:r>
              <a:rPr b="0" baseline="30000" lang="en-GB"/>
              <a:t>2</a:t>
            </a:r>
            <a:r>
              <a:rPr b="0" lang="en-GB"/>
              <a:t>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actualizare etichete vecini</a:t>
            </a:r>
            <a:r>
              <a:rPr b="0" lang="en-GB"/>
              <a:t>		→	O(m)</a:t>
            </a:r>
            <a:br>
              <a:rPr b="0" lang="en-GB"/>
            </a:br>
            <a:br>
              <a:rPr b="0" lang="en-GB"/>
            </a:br>
            <a:r>
              <a:rPr lang="en-GB"/>
              <a:t>								O(n</a:t>
            </a:r>
            <a:r>
              <a:rPr baseline="30000" lang="en-GB"/>
              <a:t>2</a:t>
            </a:r>
            <a:r>
              <a:rPr lang="en-GB"/>
              <a:t>)</a:t>
            </a:r>
            <a:endParaRPr/>
          </a:p>
        </p:txBody>
      </p:sp>
      <p:cxnSp>
        <p:nvCxnSpPr>
          <p:cNvPr id="2030" name="Google Shape;2030;p77"/>
          <p:cNvCxnSpPr/>
          <p:nvPr/>
        </p:nvCxnSpPr>
        <p:spPr>
          <a:xfrm>
            <a:off x="4428075" y="3442825"/>
            <a:ext cx="1445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7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2036" name="Google Shape;2036;p7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2 - </a:t>
            </a:r>
            <a:r>
              <a:rPr b="0" lang="en-GB"/>
              <a:t>reprezentarea lui Q ca min-heap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b="0" lang="en-GB"/>
            </a:b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 Q</a:t>
            </a:r>
            <a:r>
              <a:rPr b="0" lang="en-GB"/>
              <a:t>					→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 * extragere vârf minim</a:t>
            </a:r>
            <a:r>
              <a:rPr b="0" lang="en-GB"/>
              <a:t>		→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actualizare etichete vecini</a:t>
            </a:r>
            <a:r>
              <a:rPr b="0" lang="en-GB"/>
              <a:t>		→</a:t>
            </a:r>
            <a:endParaRPr/>
          </a:p>
        </p:txBody>
      </p:sp>
      <p:cxnSp>
        <p:nvCxnSpPr>
          <p:cNvPr id="2037" name="Google Shape;2037;p78"/>
          <p:cNvCxnSpPr/>
          <p:nvPr/>
        </p:nvCxnSpPr>
        <p:spPr>
          <a:xfrm>
            <a:off x="4428075" y="3442825"/>
            <a:ext cx="1445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7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2043" name="Google Shape;2043;p79"/>
          <p:cNvSpPr txBox="1"/>
          <p:nvPr>
            <p:ph idx="1" type="body"/>
          </p:nvPr>
        </p:nvSpPr>
        <p:spPr>
          <a:xfrm>
            <a:off x="311700" y="906225"/>
            <a:ext cx="8520600" cy="3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Dijkstra(G, w, s)	  // </a:t>
            </a:r>
            <a:r>
              <a:rPr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 Q min-heap în raport cu d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fiecare u∈V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d[s] = 0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Q = V 	// </a:t>
            </a:r>
            <a:r>
              <a:rPr lang="en-GB" sz="1400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creare heap cu cheile din d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Q≠∅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u = extrage_min(Q)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d[u]+w(u,v) &lt; d[v]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d[v] = d[u]+w(u,v)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repara(Q, 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tata[v] = u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scrie d, tata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// scrie drum minim de la s la un vârf t dat folosind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tata</a:t>
            </a:r>
            <a:endParaRPr b="0"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8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2049" name="Google Shape;2049;p8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2 - </a:t>
            </a:r>
            <a:r>
              <a:rPr b="0" lang="en-GB"/>
              <a:t>reprezentarea lui Q ca min-heap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b="0" lang="en-GB"/>
            </a:b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 Q</a:t>
            </a:r>
            <a:r>
              <a:rPr b="0" lang="en-GB"/>
              <a:t>					→	O(n)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 * extragere vârf minim</a:t>
            </a:r>
            <a:r>
              <a:rPr b="0" lang="en-GB"/>
              <a:t>		→	O(n log n)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actualizare etichete vecini</a:t>
            </a:r>
            <a:r>
              <a:rPr b="0" lang="en-GB"/>
              <a:t>		→</a:t>
            </a:r>
            <a:endParaRPr/>
          </a:p>
        </p:txBody>
      </p:sp>
      <p:cxnSp>
        <p:nvCxnSpPr>
          <p:cNvPr id="2050" name="Google Shape;2050;p80"/>
          <p:cNvCxnSpPr/>
          <p:nvPr/>
        </p:nvCxnSpPr>
        <p:spPr>
          <a:xfrm>
            <a:off x="4428075" y="3442825"/>
            <a:ext cx="1445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8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Complexitate</a:t>
            </a:r>
            <a:endParaRPr/>
          </a:p>
        </p:txBody>
      </p:sp>
      <p:sp>
        <p:nvSpPr>
          <p:cNvPr id="2056" name="Google Shape;2056;p8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2 - </a:t>
            </a:r>
            <a:r>
              <a:rPr b="0" lang="en-GB"/>
              <a:t>reprezentarea lui Q ca min-heap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b="0" lang="en-GB"/>
            </a:b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Inițializare Q</a:t>
            </a:r>
            <a:r>
              <a:rPr b="0" lang="en-GB"/>
              <a:t>					→	O(n)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 * extragere vârf minim</a:t>
            </a:r>
            <a:r>
              <a:rPr b="0" lang="en-GB"/>
              <a:t>		→	O(n log n)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actualizare etichete vecini</a:t>
            </a:r>
            <a:r>
              <a:rPr b="0" lang="en-GB"/>
              <a:t>		→	O(m log n)</a:t>
            </a:r>
            <a:br>
              <a:rPr b="0" lang="en-GB"/>
            </a:br>
            <a:r>
              <a:rPr lang="en-GB">
                <a:solidFill>
                  <a:srgbClr val="CC0000"/>
                </a:solidFill>
              </a:rPr>
              <a:t>!! + actualizare Q</a:t>
            </a:r>
            <a:br>
              <a:rPr b="0" lang="en-GB"/>
            </a:br>
            <a:r>
              <a:rPr b="0" lang="en-GB"/>
              <a:t>								</a:t>
            </a:r>
            <a:r>
              <a:rPr lang="en-GB"/>
              <a:t>O(m log n)</a:t>
            </a:r>
            <a:endParaRPr/>
          </a:p>
        </p:txBody>
      </p:sp>
      <p:cxnSp>
        <p:nvCxnSpPr>
          <p:cNvPr id="2057" name="Google Shape;2057;p81"/>
          <p:cNvCxnSpPr/>
          <p:nvPr/>
        </p:nvCxnSpPr>
        <p:spPr>
          <a:xfrm>
            <a:off x="4428075" y="3442825"/>
            <a:ext cx="1445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8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2063" name="Google Shape;2063;p8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Observație.</a:t>
            </a:r>
            <a:r>
              <a:rPr b="0" lang="en-GB"/>
              <a:t> Pentru a determina drumul minim între două vârfuri s și t </a:t>
            </a:r>
            <a:r>
              <a:rPr lang="en-GB">
                <a:solidFill>
                  <a:srgbClr val="CC0000"/>
                </a:solidFill>
              </a:rPr>
              <a:t>date</a:t>
            </a:r>
            <a:r>
              <a:rPr b="0" lang="en-GB"/>
              <a:t>, putem folosi algoritmul lui Dijkstra, cu următoarea modificare: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vârful u ales este chiar t, </a:t>
            </a:r>
            <a:r>
              <a:rPr lang="en-GB">
                <a:solidFill>
                  <a:srgbClr val="CC0000"/>
                </a:solidFill>
              </a:rPr>
              <a:t>algoritmul se oprește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0" lang="en-GB"/>
              <a:t>drumul de la s la t se afișează folosind vectorul tata (vezi BF)</a:t>
            </a:r>
            <a:endParaRPr b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8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2069" name="Google Shape;2069;p8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Dijkstra ≈ Prim </a:t>
            </a:r>
            <a:r>
              <a:rPr b="0" lang="en-GB"/>
              <a:t>(versiunea O(n</a:t>
            </a:r>
            <a:r>
              <a:rPr b="0" baseline="30000" lang="en-GB"/>
              <a:t>2</a:t>
            </a:r>
            <a:r>
              <a:rPr b="0" lang="en-GB"/>
              <a:t>) / O(m log n))</a:t>
            </a:r>
            <a:endParaRPr b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8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2075" name="Google Shape;2075;p8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Algoritmul funcționează și pentru grafuri neorientate?</a:t>
            </a:r>
            <a:endParaRPr b="0"/>
          </a:p>
        </p:txBody>
      </p:sp>
      <p:pic>
        <p:nvPicPr>
          <p:cNvPr id="2076" name="Google Shape;207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7" y="906225"/>
            <a:ext cx="875225" cy="13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8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2082" name="Google Shape;2082;p8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De ce nu funcționează corect algoritmul dacă avem arce cu cost negativ? Exemplu.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Cum putem rezolva problema dacă avem și arce de cost negativ?</a:t>
            </a:r>
            <a:endParaRPr/>
          </a:p>
        </p:txBody>
      </p:sp>
      <p:pic>
        <p:nvPicPr>
          <p:cNvPr id="2083" name="Google Shape;2083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7" y="906225"/>
            <a:ext cx="875225" cy="13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8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2089" name="Google Shape;2089;p8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De ce nu funcționează corect algoritmul dacă avem arce cu cost negativ? Exemplu.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Cum putem rezolva problema dacă avem și arce de cost negativ?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	</a:t>
            </a:r>
            <a:br>
              <a:rPr lang="en-GB"/>
            </a:br>
            <a:r>
              <a:rPr lang="en-GB"/>
              <a:t>			</a:t>
            </a:r>
            <a:r>
              <a:rPr b="0" lang="en-GB"/>
              <a:t>Putem aduna o constantă la costul fiecărui arc, astfel încât toate arcele să </a:t>
            </a:r>
            <a:br>
              <a:rPr b="0" lang="en-GB"/>
            </a:br>
            <a:r>
              <a:rPr b="0" lang="en-GB"/>
              <a:t>			aibă cost pozitiv. </a:t>
            </a:r>
            <a:r>
              <a:rPr b="0" lang="en-GB">
                <a:solidFill>
                  <a:srgbClr val="CC0000"/>
                </a:solidFill>
              </a:rPr>
              <a:t>Drumul minim între 2 vârfuri rămâne la fel?</a:t>
            </a:r>
            <a:endParaRPr b="0">
              <a:solidFill>
                <a:srgbClr val="CC0000"/>
              </a:solidFill>
            </a:endParaRPr>
          </a:p>
        </p:txBody>
      </p:sp>
      <p:pic>
        <p:nvPicPr>
          <p:cNvPr id="2090" name="Google Shape;2090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999" y="2940650"/>
            <a:ext cx="725125" cy="1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2096" name="Google Shape;2096;p8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De ce nu funcționează corect algoritmul dacă avem arce cu cost negativ? Exemplu.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Cum putem rezolva problema dacă avem și arce de cost negativ?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	</a:t>
            </a:r>
            <a:br>
              <a:rPr lang="en-GB"/>
            </a:br>
            <a:r>
              <a:rPr lang="en-GB"/>
              <a:t>			</a:t>
            </a:r>
            <a:r>
              <a:rPr b="0" lang="en-GB"/>
              <a:t>Putem aduna o constantă la costul fiecărui arc, astfel încât toate arcele să </a:t>
            </a:r>
            <a:br>
              <a:rPr b="0" lang="en-GB"/>
            </a:br>
            <a:r>
              <a:rPr b="0" lang="en-GB"/>
              <a:t>			aibă cost pozitiv. Drumul minim între 2 vârfuri rămâne la fel?</a:t>
            </a:r>
            <a:r>
              <a:rPr lang="en-GB">
                <a:solidFill>
                  <a:srgbClr val="CC0000"/>
                </a:solidFill>
              </a:rPr>
              <a:t>  </a:t>
            </a:r>
            <a:br>
              <a:rPr lang="en-GB">
                <a:solidFill>
                  <a:srgbClr val="CC0000"/>
                </a:solidFill>
              </a:rPr>
            </a:br>
            <a:r>
              <a:rPr lang="en-GB">
                <a:solidFill>
                  <a:srgbClr val="CC0000"/>
                </a:solidFill>
              </a:rPr>
              <a:t>				</a:t>
            </a:r>
            <a:br>
              <a:rPr lang="en-GB">
                <a:solidFill>
                  <a:srgbClr val="CC0000"/>
                </a:solidFill>
              </a:rPr>
            </a:br>
            <a:r>
              <a:rPr lang="en-GB">
                <a:solidFill>
                  <a:srgbClr val="CC0000"/>
                </a:solidFill>
              </a:rPr>
              <a:t>				 NU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2097" name="Google Shape;209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2974" y="3832250"/>
            <a:ext cx="814700" cy="109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8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2103" name="Google Shape;2103;p8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Cum putem rezolva problema dacă avem și arce de cost negativ?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lang="en-GB" u="sng"/>
              <a:t>Algoritmul BELLMAN-FORD		</a:t>
            </a:r>
            <a:endParaRPr b="0"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La un pas, nu relaxăm arcele dintr-un vârf selectat u, ci </a:t>
            </a:r>
            <a:r>
              <a:rPr lang="en-GB">
                <a:solidFill>
                  <a:srgbClr val="CC0000"/>
                </a:solidFill>
              </a:rPr>
              <a:t>din toate vârfurile</a:t>
            </a:r>
            <a:r>
              <a:rPr b="0" lang="en-GB"/>
              <a:t> (deci relaxăm toate arcele)</a:t>
            </a:r>
            <a:endParaRPr b="0"/>
          </a:p>
        </p:txBody>
      </p:sp>
      <p:pic>
        <p:nvPicPr>
          <p:cNvPr id="2104" name="Google Shape;210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50" y="1342900"/>
            <a:ext cx="778975" cy="13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8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2110" name="Google Shape;2110;p8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Cum putem rezolva problema dacă avem și arce de cost negativ?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lang="en-GB" u="sng"/>
              <a:t>Algoritmul BELLMAN-FORD		</a:t>
            </a:r>
            <a:endParaRPr b="0"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La un pas, nu relaxăm arcele dintr-un vârf selectat u, ci </a:t>
            </a:r>
            <a:r>
              <a:rPr lang="en-GB">
                <a:solidFill>
                  <a:srgbClr val="CC0000"/>
                </a:solidFill>
              </a:rPr>
              <a:t>din toate vârfurile</a:t>
            </a:r>
            <a:r>
              <a:rPr b="0" lang="en-GB"/>
              <a:t> (deci relaxăm toate arcele)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i = 1, n-1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	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		dacă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d[u]+w(u,v) &lt; d[v]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		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d[v] = d[u]+w(u,v)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			tata[v] = u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111" name="Google Shape;211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50" y="1342900"/>
            <a:ext cx="778975" cy="13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9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</a:t>
            </a:r>
            <a:endParaRPr/>
          </a:p>
        </p:txBody>
      </p:sp>
      <p:sp>
        <p:nvSpPr>
          <p:cNvPr id="2117" name="Google Shape;2117;p9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Cum putem rezolva problema dacă avem și arce de cost negativ?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lang="en-GB" u="sng"/>
              <a:t>Algoritmul BELLMAN-FORD		</a:t>
            </a:r>
            <a:endParaRPr b="0"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La un pas, nu relaxăm arcele dintr-un vârf selectat u, ci </a:t>
            </a:r>
            <a:r>
              <a:rPr lang="en-GB">
                <a:solidFill>
                  <a:srgbClr val="CC0000"/>
                </a:solidFill>
              </a:rPr>
              <a:t>din toate vârfurile</a:t>
            </a:r>
            <a:r>
              <a:rPr b="0" lang="en-GB"/>
              <a:t> (deci relaxăm toate arcele)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i = 1, n-1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	pentru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fiecare uv∈E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		dacă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d[u]+w(u,v) &lt; d[v]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			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d[v] = d[u]+w(u,v)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						tata[v] = u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endParaRPr b="0" sz="1400"/>
          </a:p>
          <a:p>
            <a:pPr indent="-330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⏵"/>
            </a:pPr>
            <a:r>
              <a:rPr b="0" lang="en-GB"/>
              <a:t>După pasul i → d[u] = costul minim al unui s-u drum cu cel mult i arce</a:t>
            </a:r>
            <a:endParaRPr b="0"/>
          </a:p>
        </p:txBody>
      </p:sp>
      <p:pic>
        <p:nvPicPr>
          <p:cNvPr id="2118" name="Google Shape;2118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50" y="1342900"/>
            <a:ext cx="778975" cy="13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9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lui Dijkstra - Corectitudine</a:t>
            </a:r>
            <a:endParaRPr/>
          </a:p>
        </p:txBody>
      </p:sp>
      <p:sp>
        <p:nvSpPr>
          <p:cNvPr id="2124" name="Google Shape;2124;p9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9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Corectitudine</a:t>
            </a:r>
            <a:endParaRPr/>
          </a:p>
        </p:txBody>
      </p:sp>
      <p:sp>
        <p:nvSpPr>
          <p:cNvPr id="2130" name="Google Shape;2130;p9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Lema 1.</a:t>
            </a:r>
            <a:r>
              <a:rPr b="0" lang="en-GB"/>
              <a:t> Pentru orice u∈V, la orice pas al algoritmului lui Dijkstra, avem: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dacă d[u] &lt; </a:t>
            </a:r>
            <a:r>
              <a:rPr lang="en-GB" sz="1800"/>
              <a:t>∞</a:t>
            </a:r>
            <a:r>
              <a:rPr b="0" lang="en-GB"/>
              <a:t>, există un drum de la s la u în G, de cost d[u], iar acesta se poate determina din vectorul tata:</a:t>
            </a:r>
            <a:endParaRPr b="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tata[u] = predecesorul lui u pe un drum de la s la u de cost d[u]</a:t>
            </a:r>
            <a:endParaRPr sz="15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Char char="⏵"/>
            </a:pPr>
            <a:r>
              <a:rPr lang="en-GB"/>
              <a:t>d[u] ≥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(s, u)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9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Corectitudine</a:t>
            </a:r>
            <a:endParaRPr/>
          </a:p>
        </p:txBody>
      </p:sp>
      <p:sp>
        <p:nvSpPr>
          <p:cNvPr id="2136" name="Google Shape;2136;p9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Lema 1.</a:t>
            </a:r>
            <a:r>
              <a:rPr b="0" lang="en-GB"/>
              <a:t> Pentru orice u∈V, la orice pas al algoritmului lui Dijkstra, avem: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dacă d[u] &lt; </a:t>
            </a:r>
            <a:r>
              <a:rPr lang="en-GB" sz="1800"/>
              <a:t>∞</a:t>
            </a:r>
            <a:r>
              <a:rPr b="0" lang="en-GB"/>
              <a:t>, există un drum de la s la u în G, de cost d[u], iar acesta se poate determina din vectorul tata:</a:t>
            </a:r>
            <a:endParaRPr b="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tata[u] = predecesorul lui u pe un drum de la s la u de cost d[u]</a:t>
            </a:r>
            <a:endParaRPr sz="15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d[u] ≥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(s, u)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Consecință.</a:t>
            </a:r>
            <a:r>
              <a:rPr b="0" lang="en-GB"/>
              <a:t> Dacă, la un pas al algoritmului, avem, pentru un vârf u, relația </a:t>
            </a:r>
            <a:r>
              <a:rPr lang="en-GB"/>
              <a:t>d[u] =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(s, u)</a:t>
            </a:r>
            <a:r>
              <a:rPr b="0" lang="en-GB"/>
              <a:t>, atunci d[u] nu se mai modifică până la final.</a:t>
            </a:r>
            <a:endParaRPr b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9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Corectitudine</a:t>
            </a:r>
            <a:endParaRPr/>
          </a:p>
        </p:txBody>
      </p:sp>
      <p:sp>
        <p:nvSpPr>
          <p:cNvPr id="2142" name="Google Shape;2142;p9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Teoremă</a:t>
            </a:r>
            <a:br>
              <a:rPr lang="en-GB"/>
            </a:br>
            <a:r>
              <a:rPr b="0" lang="en-GB"/>
              <a:t>Fie G = (V, E, w) un graf orientat ponderat cu </a:t>
            </a:r>
            <a:br>
              <a:rPr b="0" lang="en-GB"/>
            </a:br>
            <a:r>
              <a:rPr b="0" lang="en-GB"/>
              <a:t>	w : E → </a:t>
            </a:r>
            <a:r>
              <a:rPr lang="en-GB"/>
              <a:t>ℝ</a:t>
            </a:r>
            <a:r>
              <a:rPr b="0" baseline="-25000" lang="en-GB"/>
              <a:t>+</a:t>
            </a:r>
            <a:r>
              <a:rPr b="0" lang="en-GB"/>
              <a:t>  și s∈V fixat.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La finalul algoritmului lui Dijkstra, avem: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d[u] =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/>
              <a:t>(s, u), pentru orice u∈V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și tata memorează un arbore al distanțelor față de s.</a:t>
            </a:r>
            <a:endParaRPr b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9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Dijkstra - Corectitudine</a:t>
            </a:r>
            <a:endParaRPr/>
          </a:p>
        </p:txBody>
      </p:sp>
      <p:sp>
        <p:nvSpPr>
          <p:cNvPr id="2148" name="Google Shape;2148;p95"/>
          <p:cNvSpPr txBox="1"/>
          <p:nvPr>
            <p:ph idx="1" type="body"/>
          </p:nvPr>
        </p:nvSpPr>
        <p:spPr>
          <a:xfrm>
            <a:off x="311700" y="906225"/>
            <a:ext cx="8520600" cy="4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 (idee).</a:t>
            </a:r>
            <a:r>
              <a:rPr b="0" lang="en-GB"/>
              <a:t> Inducție: d[x] =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/>
              <a:t>(s, x), ∀ x∉Q (= deja selectat)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Când un vârf u este selectat: fie P un s-u drum minim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d[u]    ≤    d[y]    ≤    d[x] + w(x, y)    =   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/>
              <a:t>(s, x) + w(x, y)    =    w(s—y)    ≤    w(P)    ≤    d[u]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⇒ d[u] = d[y] = w(P) =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lang="en-GB"/>
              <a:t>(s, u)</a:t>
            </a:r>
            <a:endParaRPr b="0"/>
          </a:p>
        </p:txBody>
      </p:sp>
      <p:cxnSp>
        <p:nvCxnSpPr>
          <p:cNvPr id="2149" name="Google Shape;2149;p95"/>
          <p:cNvCxnSpPr/>
          <p:nvPr/>
        </p:nvCxnSpPr>
        <p:spPr>
          <a:xfrm flipH="1">
            <a:off x="4501325" y="2270975"/>
            <a:ext cx="277200" cy="324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50" name="Google Shape;2150;p95"/>
          <p:cNvSpPr txBox="1"/>
          <p:nvPr/>
        </p:nvSpPr>
        <p:spPr>
          <a:xfrm>
            <a:off x="4651375" y="1901625"/>
            <a:ext cx="26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primul arc de la V-Q la Q din 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1" name="Google Shape;2151;p95"/>
          <p:cNvSpPr txBox="1"/>
          <p:nvPr/>
        </p:nvSpPr>
        <p:spPr>
          <a:xfrm>
            <a:off x="7308975" y="2298825"/>
            <a:ext cx="78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∈ Q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2" name="Google Shape;2152;p95"/>
          <p:cNvGrpSpPr/>
          <p:nvPr/>
        </p:nvGrpSpPr>
        <p:grpSpPr>
          <a:xfrm>
            <a:off x="1313075" y="1834050"/>
            <a:ext cx="5815213" cy="1608600"/>
            <a:chOff x="1313075" y="1834050"/>
            <a:chExt cx="5815213" cy="1608600"/>
          </a:xfrm>
        </p:grpSpPr>
        <p:sp>
          <p:nvSpPr>
            <p:cNvPr id="2153" name="Google Shape;2153;p95"/>
            <p:cNvSpPr/>
            <p:nvPr/>
          </p:nvSpPr>
          <p:spPr>
            <a:xfrm>
              <a:off x="1529063" y="23651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95"/>
            <p:cNvSpPr/>
            <p:nvPr/>
          </p:nvSpPr>
          <p:spPr>
            <a:xfrm>
              <a:off x="3526513" y="2523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95"/>
            <p:cNvSpPr/>
            <p:nvPr/>
          </p:nvSpPr>
          <p:spPr>
            <a:xfrm>
              <a:off x="4846163" y="2523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95"/>
            <p:cNvSpPr/>
            <p:nvPr/>
          </p:nvSpPr>
          <p:spPr>
            <a:xfrm>
              <a:off x="6768288" y="23651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95"/>
            <p:cNvSpPr/>
            <p:nvPr/>
          </p:nvSpPr>
          <p:spPr>
            <a:xfrm>
              <a:off x="1892163" y="2339396"/>
              <a:ext cx="1649250" cy="378875"/>
            </a:xfrm>
            <a:custGeom>
              <a:rect b="b" l="l" r="r" t="t"/>
              <a:pathLst>
                <a:path extrusionOk="0" h="15155" w="65970">
                  <a:moveTo>
                    <a:pt x="0" y="7323"/>
                  </a:moveTo>
                  <a:cubicBezTo>
                    <a:pt x="4970" y="6118"/>
                    <a:pt x="21488" y="-659"/>
                    <a:pt x="29822" y="94"/>
                  </a:cubicBezTo>
                  <a:cubicBezTo>
                    <a:pt x="38156" y="847"/>
                    <a:pt x="43980" y="9332"/>
                    <a:pt x="50005" y="11842"/>
                  </a:cubicBezTo>
                  <a:cubicBezTo>
                    <a:pt x="56030" y="14352"/>
                    <a:pt x="63309" y="14603"/>
                    <a:pt x="65970" y="15155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95"/>
            <p:cNvSpPr/>
            <p:nvPr/>
          </p:nvSpPr>
          <p:spPr>
            <a:xfrm>
              <a:off x="5228288" y="2496128"/>
              <a:ext cx="1536275" cy="284450"/>
            </a:xfrm>
            <a:custGeom>
              <a:rect b="b" l="l" r="r" t="t"/>
              <a:pathLst>
                <a:path extrusionOk="0" h="11378" w="61451">
                  <a:moveTo>
                    <a:pt x="0" y="8585"/>
                  </a:moveTo>
                  <a:cubicBezTo>
                    <a:pt x="2360" y="8987"/>
                    <a:pt x="8384" y="12351"/>
                    <a:pt x="14158" y="10995"/>
                  </a:cubicBezTo>
                  <a:cubicBezTo>
                    <a:pt x="19932" y="9640"/>
                    <a:pt x="26760" y="1908"/>
                    <a:pt x="34642" y="452"/>
                  </a:cubicBezTo>
                  <a:cubicBezTo>
                    <a:pt x="42524" y="-1004"/>
                    <a:pt x="56983" y="1958"/>
                    <a:pt x="61451" y="22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59" name="Google Shape;2159;p95"/>
            <p:cNvCxnSpPr>
              <a:stCxn id="2154" idx="6"/>
              <a:endCxn id="2155" idx="2"/>
            </p:cNvCxnSpPr>
            <p:nvPr/>
          </p:nvCxnSpPr>
          <p:spPr>
            <a:xfrm>
              <a:off x="3886513" y="2703275"/>
              <a:ext cx="9597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60" name="Google Shape;2160;p95"/>
            <p:cNvSpPr/>
            <p:nvPr/>
          </p:nvSpPr>
          <p:spPr>
            <a:xfrm>
              <a:off x="1313075" y="1834050"/>
              <a:ext cx="2818500" cy="1608600"/>
            </a:xfrm>
            <a:prstGeom prst="ellipse">
              <a:avLst/>
            </a:prstGeom>
            <a:noFill/>
            <a:ln cap="flat" cmpd="sng" w="19050">
              <a:solidFill>
                <a:srgbClr val="6AA84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95"/>
            <p:cNvSpPr txBox="1"/>
            <p:nvPr/>
          </p:nvSpPr>
          <p:spPr>
            <a:xfrm>
              <a:off x="2322750" y="2883275"/>
              <a:ext cx="788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 - Q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2" name="Google Shape;2162;p95"/>
          <p:cNvSpPr txBox="1"/>
          <p:nvPr/>
        </p:nvSpPr>
        <p:spPr>
          <a:xfrm>
            <a:off x="6163675" y="3905950"/>
            <a:ext cx="36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95"/>
          <p:cNvSpPr txBox="1"/>
          <p:nvPr/>
        </p:nvSpPr>
        <p:spPr>
          <a:xfrm>
            <a:off x="348475" y="3490600"/>
            <a:ext cx="213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din modul în care este ales 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4" name="Google Shape;2164;p95"/>
          <p:cNvCxnSpPr/>
          <p:nvPr/>
        </p:nvCxnSpPr>
        <p:spPr>
          <a:xfrm>
            <a:off x="993550" y="3778200"/>
            <a:ext cx="13500" cy="283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65" name="Google Shape;2165;p95"/>
          <p:cNvCxnSpPr>
            <a:stCxn id="2166" idx="1"/>
          </p:cNvCxnSpPr>
          <p:nvPr/>
        </p:nvCxnSpPr>
        <p:spPr>
          <a:xfrm flipH="1">
            <a:off x="2007375" y="3652925"/>
            <a:ext cx="1481700" cy="364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2167" name="Google Shape;2167;p95"/>
          <p:cNvGrpSpPr/>
          <p:nvPr/>
        </p:nvGrpSpPr>
        <p:grpSpPr>
          <a:xfrm>
            <a:off x="3489075" y="3375875"/>
            <a:ext cx="4608000" cy="554100"/>
            <a:chOff x="3489075" y="3375875"/>
            <a:chExt cx="4608000" cy="554100"/>
          </a:xfrm>
        </p:grpSpPr>
        <p:sp>
          <p:nvSpPr>
            <p:cNvPr id="2166" name="Google Shape;2166;p95"/>
            <p:cNvSpPr txBox="1"/>
            <p:nvPr/>
          </p:nvSpPr>
          <p:spPr>
            <a:xfrm>
              <a:off x="3489075" y="3375875"/>
              <a:ext cx="4608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după relaxarea lui xy (mai mult, are loc chiar egalitate: </a:t>
              </a:r>
              <a:b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d[y] = </a:t>
              </a:r>
              <a:r>
                <a:rPr b="0" i="0" lang="en-GB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δ</a:t>
              </a: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(s, x) + w(x, y) = w(s—y) = </a:t>
              </a:r>
              <a:r>
                <a:rPr b="0" i="0" lang="en-GB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δ</a:t>
              </a: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(s, y))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95"/>
            <p:cNvSpPr txBox="1"/>
            <p:nvPr/>
          </p:nvSpPr>
          <p:spPr>
            <a:xfrm>
              <a:off x="5419450" y="3526975"/>
              <a:ext cx="36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9" name="Google Shape;2169;p95"/>
          <p:cNvSpPr txBox="1"/>
          <p:nvPr/>
        </p:nvSpPr>
        <p:spPr>
          <a:xfrm>
            <a:off x="4131575" y="4548700"/>
            <a:ext cx="213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ipoteza de inducție pentru x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0" name="Google Shape;2170;p95"/>
          <p:cNvCxnSpPr>
            <a:stCxn id="2169" idx="1"/>
          </p:cNvCxnSpPr>
          <p:nvPr/>
        </p:nvCxnSpPr>
        <p:spPr>
          <a:xfrm rot="10800000">
            <a:off x="3690275" y="4312150"/>
            <a:ext cx="441300" cy="421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5b26d7e5f69bac2af62e29e49cdf0427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93cf751f5f765d8fe52b73c6c71c5142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D879091-8D31-42CC-A0BB-FF20C79F031E}"/>
</file>

<file path=customXml/itemProps2.xml><?xml version="1.0" encoding="utf-8"?>
<ds:datastoreItem xmlns:ds="http://schemas.openxmlformats.org/officeDocument/2006/customXml" ds:itemID="{680B417B-6917-4D42-947B-3EB193602F06}"/>
</file>

<file path=customXml/itemProps3.xml><?xml version="1.0" encoding="utf-8"?>
<ds:datastoreItem xmlns:ds="http://schemas.openxmlformats.org/officeDocument/2006/customXml" ds:itemID="{49902392-82A0-42D4-8030-C17DE01598EB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