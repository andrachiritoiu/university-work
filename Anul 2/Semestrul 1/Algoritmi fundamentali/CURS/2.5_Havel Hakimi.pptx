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5143500" cx="9144000"/>
  <p:notesSz cx="6858000" cy="9144000"/>
  <p:embeddedFontLst>
    <p:embeddedFont>
      <p:font typeface="Roboto"/>
      <p:regular r:id="rId60"/>
      <p:bold r:id="rId61"/>
      <p:italic r:id="rId62"/>
      <p:boldItalic r:id="rId63"/>
    </p:embeddedFont>
    <p:embeddedFont>
      <p:font typeface="Merriweather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68" Type="http://schemas.openxmlformats.org/officeDocument/2006/relationships/customXml" Target="../customXml/item1.xml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66" Type="http://schemas.openxmlformats.org/officeDocument/2006/relationships/font" Target="fonts/Merriweather-italic.fntdata"/><Relationship Id="rId24" Type="http://schemas.openxmlformats.org/officeDocument/2006/relationships/slide" Target="slides/slide19.xml"/><Relationship Id="rId53" Type="http://schemas.openxmlformats.org/officeDocument/2006/relationships/slide" Target="slides/slide48.xml"/><Relationship Id="rId11" Type="http://schemas.openxmlformats.org/officeDocument/2006/relationships/slide" Target="slides/slide6.xml"/><Relationship Id="rId58" Type="http://schemas.openxmlformats.org/officeDocument/2006/relationships/slide" Target="slides/slide53.xml"/><Relationship Id="rId5" Type="http://schemas.openxmlformats.org/officeDocument/2006/relationships/notesMaster" Target="notesMasters/notesMaster1.xml"/><Relationship Id="rId61" Type="http://schemas.openxmlformats.org/officeDocument/2006/relationships/font" Target="fonts/Roboto-bold.fntdata"/><Relationship Id="rId19" Type="http://schemas.openxmlformats.org/officeDocument/2006/relationships/slide" Target="slides/slide14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64" Type="http://schemas.openxmlformats.org/officeDocument/2006/relationships/font" Target="fonts/Merriweather-regular.fntdata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56" Type="http://schemas.openxmlformats.org/officeDocument/2006/relationships/slide" Target="slides/slide51.xml"/><Relationship Id="rId14" Type="http://schemas.openxmlformats.org/officeDocument/2006/relationships/slide" Target="slides/slide9.xml"/><Relationship Id="rId69" Type="http://schemas.openxmlformats.org/officeDocument/2006/relationships/customXml" Target="../customXml/item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presProps" Target="presProps.xml"/><Relationship Id="rId46" Type="http://schemas.openxmlformats.org/officeDocument/2006/relationships/slide" Target="slides/slide41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67" Type="http://schemas.openxmlformats.org/officeDocument/2006/relationships/font" Target="fonts/Merriweather-boldItalic.fntdata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59" Type="http://schemas.openxmlformats.org/officeDocument/2006/relationships/slide" Target="slides/slide54.xml"/><Relationship Id="rId17" Type="http://schemas.openxmlformats.org/officeDocument/2006/relationships/slide" Target="slides/slide12.xml"/><Relationship Id="rId41" Type="http://schemas.openxmlformats.org/officeDocument/2006/relationships/slide" Target="slides/slide36.xml"/><Relationship Id="rId62" Type="http://schemas.openxmlformats.org/officeDocument/2006/relationships/font" Target="fonts/Roboto-italic.fntdata"/><Relationship Id="rId20" Type="http://schemas.openxmlformats.org/officeDocument/2006/relationships/slide" Target="slides/slide15.xml"/><Relationship Id="rId54" Type="http://schemas.openxmlformats.org/officeDocument/2006/relationships/slide" Target="slides/slide49.xml"/><Relationship Id="rId70" Type="http://schemas.openxmlformats.org/officeDocument/2006/relationships/customXml" Target="../customXml/item3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7" Type="http://schemas.openxmlformats.org/officeDocument/2006/relationships/slide" Target="slides/slide52.xml"/><Relationship Id="rId15" Type="http://schemas.openxmlformats.org/officeDocument/2006/relationships/slide" Target="slides/slide10.xml"/><Relationship Id="rId44" Type="http://schemas.openxmlformats.org/officeDocument/2006/relationships/slide" Target="slides/slide39.xml"/><Relationship Id="rId31" Type="http://schemas.openxmlformats.org/officeDocument/2006/relationships/slide" Target="slides/slide26.xml"/><Relationship Id="rId65" Type="http://schemas.openxmlformats.org/officeDocument/2006/relationships/font" Target="fonts/Merriweather-bold.fntdata"/><Relationship Id="rId60" Type="http://schemas.openxmlformats.org/officeDocument/2006/relationships/font" Target="fonts/Roboto-regular.fntdata"/><Relationship Id="rId52" Type="http://schemas.openxmlformats.org/officeDocument/2006/relationships/slide" Target="slides/slide47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39" Type="http://schemas.openxmlformats.org/officeDocument/2006/relationships/slide" Target="slides/slide3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ce24869c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2ce24869c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ce24869c1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2ce24869c1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ce24869c1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2ce24869c1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ce24869c1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2ce24869c1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ce24869c1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2ce24869c1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ce24869c1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2ce24869c1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ce24869c1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2ce24869c1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1" name="Google Shape;21;p4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7" name="Google Shape;27;p5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Construcția de grafuri cu secvența gradelor dată</a:t>
            </a:r>
            <a:endParaRPr/>
          </a:p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Secvențe de grade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Dată o formulă chimică, există un compus chimic care are această formulă?</a:t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Dar unul aciclic?</a:t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Ce structuri poate avea un astfel de compus?</a:t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</a:t>
            </a:r>
            <a:r>
              <a:rPr baseline="-25000" lang="en-GB"/>
              <a:t>m</a:t>
            </a:r>
            <a:r>
              <a:rPr lang="en-GB"/>
              <a:t>H</a:t>
            </a:r>
            <a:r>
              <a:rPr baseline="-25000" lang="en-GB"/>
              <a:t>n</a:t>
            </a:r>
            <a:r>
              <a:rPr lang="en-GB"/>
              <a:t> - poate exista moleculă </a:t>
            </a:r>
            <a:r>
              <a:rPr b="1" lang="en-GB"/>
              <a:t>aciclică</a:t>
            </a:r>
            <a:r>
              <a:rPr lang="en-GB"/>
              <a:t> cu această formulă?</a:t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7" y="823400"/>
            <a:ext cx="889950" cy="13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Secvențe de grade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9824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6543"/>
              <a:buNone/>
            </a:pPr>
            <a:r>
              <a:rPr b="1" lang="en-GB"/>
              <a:t>		</a:t>
            </a:r>
            <a:r>
              <a:rPr lang="en-GB" sz="1964"/>
              <a:t>Din studii empirice, chestionare, analize ⇒ informații despre numărul de </a:t>
            </a:r>
            <a:br>
              <a:rPr lang="en-GB" sz="1964"/>
            </a:br>
            <a:r>
              <a:rPr lang="en-GB" sz="1964"/>
              <a:t>		interacțiuni ale unui nod.</a:t>
            </a:r>
            <a:endParaRPr sz="1964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86543"/>
              <a:buNone/>
            </a:pPr>
            <a:r>
              <a:rPr lang="en-GB" sz="1964"/>
              <a:t>		</a:t>
            </a:r>
            <a:r>
              <a:rPr b="1" lang="en-GB" sz="1964"/>
              <a:t>Este realizabilă o rețea de legături între noduri care să respecte numărul de </a:t>
            </a:r>
            <a:br>
              <a:rPr b="1" lang="en-GB" sz="1964"/>
            </a:br>
            <a:r>
              <a:rPr b="1" lang="en-GB" sz="1964"/>
              <a:t>		legături?</a:t>
            </a:r>
            <a:endParaRPr b="1" sz="1964"/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86543"/>
              <a:buNone/>
            </a:pPr>
            <a:r>
              <a:rPr lang="en-GB" sz="1964"/>
              <a:t>Dacă da, să se construiască un model de rețea.</a:t>
            </a:r>
            <a:endParaRPr sz="1964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6250"/>
              <a:buNone/>
            </a:pPr>
            <a:r>
              <a:t/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6250"/>
              <a:buNone/>
            </a:pPr>
            <a:r>
              <a:t/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6250"/>
              <a:buNone/>
            </a:pPr>
            <a:r>
              <a:t/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6250"/>
              <a:buNone/>
            </a:pPr>
            <a:r>
              <a:t/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6250"/>
              <a:buNone/>
            </a:pPr>
            <a:r>
              <a:t/>
            </a:r>
            <a:endParaRPr b="1"/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7" y="823400"/>
            <a:ext cx="889950" cy="13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Secvențe de grade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906225"/>
            <a:ext cx="8520600" cy="4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6250"/>
              <a:buNone/>
            </a:pPr>
            <a:r>
              <a:rPr b="1" lang="en-GB"/>
              <a:t>	</a:t>
            </a:r>
            <a:r>
              <a:rPr lang="en-GB"/>
              <a:t>	Din studii empirice, chestionare, analize ⇒ informații despre numărul de </a:t>
            </a:r>
            <a:br>
              <a:rPr lang="en-GB"/>
            </a:br>
            <a:r>
              <a:rPr lang="en-GB"/>
              <a:t>		interacțiuni ale unui nod.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6250"/>
              <a:buNone/>
            </a:pPr>
            <a:r>
              <a:rPr lang="en-GB"/>
              <a:t>		</a:t>
            </a:r>
            <a:r>
              <a:rPr b="1" lang="en-GB"/>
              <a:t>Este realizabilă o rețea de legături între noduri care să respecte numărul de </a:t>
            </a:r>
            <a:br>
              <a:rPr b="1" lang="en-GB"/>
            </a:br>
            <a:r>
              <a:rPr b="1" lang="en-GB"/>
              <a:t>		legături?</a:t>
            </a:r>
            <a:endParaRPr b="1"/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6250"/>
              <a:buNone/>
            </a:pPr>
            <a:r>
              <a:rPr lang="en-GB"/>
              <a:t>Dacă da, să se construiască un model de rețea.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6250"/>
              <a:buNone/>
            </a:pPr>
            <a:r>
              <a:rPr b="1" lang="en-GB"/>
              <a:t>Exemplu:</a:t>
            </a:r>
            <a:r>
              <a:rPr lang="en-GB"/>
              <a:t> Într-o grupă de studenți, fiecare student este întrebat cu câți colegi a colaborat în timpul anilor de studii. Este realizabilă o rețea de colaborări care să corespundă răspunsurilor lor (sau este posibil ca informațiile adunate să fie incorecte)?</a:t>
            </a:r>
            <a:endParaRPr/>
          </a:p>
          <a:p>
            <a:pPr indent="-320357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6250"/>
              <a:buChar char="⏵"/>
            </a:pPr>
            <a:r>
              <a:rPr lang="en-GB"/>
              <a:t>Studentul 1 - cu 3</a:t>
            </a:r>
            <a:endParaRPr/>
          </a:p>
          <a:p>
            <a:pPr indent="-32035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6250"/>
              <a:buChar char="⏵"/>
            </a:pPr>
            <a:r>
              <a:rPr lang="en-GB"/>
              <a:t>Studentul 2 - cu 3</a:t>
            </a:r>
            <a:endParaRPr/>
          </a:p>
          <a:p>
            <a:pPr indent="-32035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6250"/>
              <a:buChar char="⏵"/>
            </a:pPr>
            <a:r>
              <a:rPr lang="en-GB"/>
              <a:t>Studentul 3 - cu 2</a:t>
            </a:r>
            <a:endParaRPr/>
          </a:p>
          <a:p>
            <a:pPr indent="-32035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6250"/>
              <a:buChar char="⏵"/>
            </a:pPr>
            <a:r>
              <a:rPr lang="en-GB"/>
              <a:t>Studentul 4 - cu 3</a:t>
            </a:r>
            <a:endParaRPr/>
          </a:p>
          <a:p>
            <a:pPr indent="-32035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6250"/>
              <a:buChar char="⏵"/>
            </a:pPr>
            <a:r>
              <a:rPr lang="en-GB"/>
              <a:t>Studentul 5 - cu 2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7" y="823400"/>
            <a:ext cx="889950" cy="13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Secvențe de grade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906225"/>
            <a:ext cx="8520600" cy="4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		</a:t>
            </a:r>
            <a:r>
              <a:rPr b="1" lang="en-GB"/>
              <a:t>Dată o secvenţă de numere s, se poate construi un graf neorientat având </a:t>
            </a:r>
            <a:br>
              <a:rPr b="1" lang="en-GB"/>
            </a:br>
            <a:r>
              <a:rPr b="1" lang="en-GB"/>
              <a:t>		secvenţa gradelor s?</a:t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Dar un multigraf neorientat?</a:t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Dar un arbore?</a:t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Condiții necesare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Condiții suficiente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7" y="823400"/>
            <a:ext cx="889950" cy="13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Secvențe de grade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906225"/>
            <a:ext cx="8520600" cy="4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Construcția de grafuri cu secvența gradelor dată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Aplicații: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chimie </a:t>
            </a:r>
            <a:r>
              <a:rPr lang="en-GB"/>
              <a:t>– studiul structurii posibile a unor compuși cu formula chimică dată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proiectare de rețele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biologie </a:t>
            </a:r>
            <a:r>
              <a:rPr lang="en-GB"/>
              <a:t>– rețele metabolice, de interacțiuni între gene/proteine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studii epidemiologice</a:t>
            </a:r>
            <a:r>
              <a:rPr lang="en-GB"/>
              <a:t> – în care, prin chestionare anonime, persoanele declară numărul de persoane cu care au interacționat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studii bazate pe simulări de rețele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ctrTitle"/>
          </p:nvPr>
        </p:nvSpPr>
        <p:spPr>
          <a:xfrm>
            <a:off x="719350" y="531725"/>
            <a:ext cx="6066600" cy="1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Construcția de grafuri neorientate cu secvența gradelor dată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Algoritmul Havel-Hakimi</a:t>
            </a:r>
            <a:endParaRPr/>
          </a:p>
        </p:txBody>
      </p:sp>
      <p:sp>
        <p:nvSpPr>
          <p:cNvPr id="113" name="Google Shape;113;p2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Construcția de grafuri cu secvența gradelor dată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Problemă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s</a:t>
            </a:r>
            <a:r>
              <a:rPr baseline="-25000" lang="en-GB"/>
              <a:t>0</a:t>
            </a:r>
            <a:r>
              <a:rPr lang="en-GB"/>
              <a:t> = {d</a:t>
            </a:r>
            <a:r>
              <a:rPr baseline="-25000" lang="en-GB"/>
              <a:t>1</a:t>
            </a:r>
            <a:r>
              <a:rPr lang="en-GB"/>
              <a:t>, …, d</a:t>
            </a:r>
            <a:r>
              <a:rPr baseline="-25000" lang="en-GB"/>
              <a:t>n</a:t>
            </a:r>
            <a:r>
              <a:rPr lang="en-GB"/>
              <a:t>} o secvență de numere naturale.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Să se construiască, dacă se poate, un graf neorientat G cu s(G) = s</a:t>
            </a:r>
            <a:r>
              <a:rPr baseline="-25000" lang="en-GB"/>
              <a:t>0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Construcția de grafuri cu secvența gradelor dată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Problemă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s</a:t>
            </a:r>
            <a:r>
              <a:rPr baseline="-25000" lang="en-GB"/>
              <a:t>0</a:t>
            </a:r>
            <a:r>
              <a:rPr lang="en-GB"/>
              <a:t> = {d</a:t>
            </a:r>
            <a:r>
              <a:rPr baseline="-25000" lang="en-GB"/>
              <a:t>1</a:t>
            </a:r>
            <a:r>
              <a:rPr lang="en-GB"/>
              <a:t>, …, d</a:t>
            </a:r>
            <a:r>
              <a:rPr baseline="-25000" lang="en-GB"/>
              <a:t>n</a:t>
            </a:r>
            <a:r>
              <a:rPr lang="en-GB"/>
              <a:t>} o secvență de numere naturale.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Să se construiască, dacă se poate, un graf neorientat G cu s(G) = s</a:t>
            </a:r>
            <a:r>
              <a:rPr baseline="-25000" lang="en-GB"/>
              <a:t>0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Condiții necesare pentru existența lui G: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</a:t>
            </a:r>
            <a:r>
              <a:rPr baseline="-25000" lang="en-GB"/>
              <a:t>1 </a:t>
            </a:r>
            <a:r>
              <a:rPr lang="en-GB"/>
              <a:t>+ … + d</a:t>
            </a:r>
            <a:r>
              <a:rPr baseline="-25000" lang="en-GB"/>
              <a:t>n</a:t>
            </a:r>
            <a:r>
              <a:rPr lang="en-GB"/>
              <a:t> - număr par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</a:t>
            </a:r>
            <a:r>
              <a:rPr baseline="-25000" lang="en-GB"/>
              <a:t>i </a:t>
            </a:r>
            <a:r>
              <a:rPr lang="en-GB"/>
              <a:t>≤ n - 1, ∀ i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Construcția de grafuri cu secvența gradelor dată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906225"/>
            <a:ext cx="8520600" cy="3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Problemă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s</a:t>
            </a:r>
            <a:r>
              <a:rPr baseline="-25000" lang="en-GB"/>
              <a:t>0</a:t>
            </a:r>
            <a:r>
              <a:rPr lang="en-GB"/>
              <a:t> = {d</a:t>
            </a:r>
            <a:r>
              <a:rPr baseline="-25000" lang="en-GB"/>
              <a:t>1</a:t>
            </a:r>
            <a:r>
              <a:rPr lang="en-GB"/>
              <a:t>, …, d</a:t>
            </a:r>
            <a:r>
              <a:rPr baseline="-25000" lang="en-GB"/>
              <a:t>n</a:t>
            </a:r>
            <a:r>
              <a:rPr lang="en-GB"/>
              <a:t>} o secvență de numere naturale.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Să se construiască, dacă se poate, un graf neorientat G cu s(G) = s</a:t>
            </a:r>
            <a:r>
              <a:rPr baseline="-25000" lang="en-GB"/>
              <a:t>0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Condiții necesare pentru existența lui G: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</a:t>
            </a:r>
            <a:r>
              <a:rPr baseline="-25000" lang="en-GB"/>
              <a:t>1 </a:t>
            </a:r>
            <a:r>
              <a:rPr lang="en-GB"/>
              <a:t>+ … + d</a:t>
            </a:r>
            <a:r>
              <a:rPr baseline="-25000" lang="en-GB"/>
              <a:t>n</a:t>
            </a:r>
            <a:r>
              <a:rPr lang="en-GB"/>
              <a:t> - număr par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</a:t>
            </a:r>
            <a:r>
              <a:rPr baseline="-25000" lang="en-GB"/>
              <a:t>i </a:t>
            </a:r>
            <a:r>
              <a:rPr lang="en-GB"/>
              <a:t>≤ n - 1, ∀ 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		Pentru s</a:t>
            </a:r>
            <a:r>
              <a:rPr baseline="-25000" lang="en-GB"/>
              <a:t>0</a:t>
            </a:r>
            <a:r>
              <a:rPr lang="en-GB"/>
              <a:t> = {3,3,1,1} - nu există G  ⇒ </a:t>
            </a:r>
            <a:r>
              <a:rPr b="1" lang="en-GB"/>
              <a:t>condițiile nu sunt suficiente</a:t>
            </a:r>
            <a:br>
              <a:rPr lang="en-GB"/>
            </a:br>
            <a:r>
              <a:rPr lang="en-GB"/>
              <a:t>			Totuși, putem crea un multigraf</a:t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3526600"/>
            <a:ext cx="1011400" cy="135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Construcția de grafuri cu secvența gradelor dată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		</a:t>
            </a:r>
            <a:r>
              <a:rPr b="1" lang="en-GB"/>
              <a:t>Idee de algoritm de construcție a unui graf G cu s(G) = s</a:t>
            </a:r>
            <a:r>
              <a:rPr b="1" baseline="-25000" lang="en-GB"/>
              <a:t>0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			</a:t>
            </a:r>
            <a:r>
              <a:rPr lang="en-GB"/>
              <a:t>1. începem construcția de la vârful cu gradul cel mai mare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2. îi alegem ca vecini vârfurile cu gradele cele mai mari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</a:t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06225"/>
            <a:ext cx="912750" cy="158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Construcția de grafuri cu secvența gradelor dată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Exemplu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</a:t>
            </a:r>
            <a:r>
              <a:rPr baseline="-25000" lang="en-GB"/>
              <a:t>0</a:t>
            </a:r>
            <a:r>
              <a:rPr lang="en-GB"/>
              <a:t> = { 3,  4,   2,   1,   3,   4,  2,   1}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 x</a:t>
            </a:r>
            <a:r>
              <a:rPr baseline="-25000" lang="en-GB"/>
              <a:t>1</a:t>
            </a:r>
            <a:r>
              <a:rPr lang="en-GB"/>
              <a:t>  x</a:t>
            </a:r>
            <a:r>
              <a:rPr baseline="-25000" lang="en-GB"/>
              <a:t>2</a:t>
            </a:r>
            <a:r>
              <a:rPr lang="en-GB"/>
              <a:t>   x</a:t>
            </a:r>
            <a:r>
              <a:rPr baseline="-25000" lang="en-GB"/>
              <a:t>3</a:t>
            </a:r>
            <a:r>
              <a:rPr lang="en-GB"/>
              <a:t>    x</a:t>
            </a:r>
            <a:r>
              <a:rPr baseline="-25000" lang="en-GB"/>
              <a:t>4</a:t>
            </a:r>
            <a:r>
              <a:rPr lang="en-GB"/>
              <a:t>  x</a:t>
            </a:r>
            <a:r>
              <a:rPr baseline="-25000" lang="en-GB"/>
              <a:t>5</a:t>
            </a:r>
            <a:r>
              <a:rPr lang="en-GB"/>
              <a:t>   x</a:t>
            </a:r>
            <a:r>
              <a:rPr baseline="-25000" lang="en-GB"/>
              <a:t>6</a:t>
            </a:r>
            <a:r>
              <a:rPr lang="en-GB"/>
              <a:t>   x</a:t>
            </a:r>
            <a:r>
              <a:rPr baseline="-25000" lang="en-GB"/>
              <a:t>7</a:t>
            </a:r>
            <a:r>
              <a:rPr lang="en-GB"/>
              <a:t>   x</a:t>
            </a:r>
            <a:r>
              <a:rPr baseline="-25000" lang="en-GB"/>
              <a:t>8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Pasul 1</a:t>
            </a:r>
            <a:r>
              <a:rPr lang="en-GB"/>
              <a:t> 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construim muchii pentru vârful de gradul maxim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alegem ca vecini următoarele vârfuri cu cele mai mari grade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Construcția de grafuri cu secvența gradelor dată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		</a:t>
            </a:r>
            <a:r>
              <a:rPr b="1" lang="en-GB"/>
              <a:t>Idee de algoritm de construcție a unui graf G cu s(G) = s</a:t>
            </a:r>
            <a:r>
              <a:rPr b="1" baseline="-25000" lang="en-GB"/>
              <a:t>0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			</a:t>
            </a:r>
            <a:r>
              <a:rPr lang="en-GB"/>
              <a:t>1. începem construcția de la vârful cu gradul cel mai mare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2. îi alegem ca vecini vârfurile cu gradele cele mai mari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3. actualizăm secvența s</a:t>
            </a:r>
            <a:r>
              <a:rPr baseline="-25000" lang="en-GB"/>
              <a:t>0</a:t>
            </a:r>
            <a:r>
              <a:rPr lang="en-GB"/>
              <a:t> și reluăm până când</a:t>
            </a:r>
            <a:endParaRPr/>
          </a:p>
          <a:p>
            <a:pPr indent="-323850" lvl="3" marL="18288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n-GB" sz="1500"/>
              <a:t>secvența conține doar 0 ⇒ G</a:t>
            </a:r>
            <a:endParaRPr sz="1500"/>
          </a:p>
          <a:p>
            <a:pPr indent="-32385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GB" sz="1500"/>
              <a:t>secvența conține numere negative ⇒</a:t>
            </a:r>
            <a:endParaRPr sz="1500"/>
          </a:p>
        </p:txBody>
      </p:sp>
      <p:pic>
        <p:nvPicPr>
          <p:cNvPr id="152" name="Google Shape;15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06225"/>
            <a:ext cx="912750" cy="158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Construcția de grafuri cu secvența gradelor dată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		</a:t>
            </a:r>
            <a:r>
              <a:rPr b="1" lang="en-GB"/>
              <a:t>Idee de algoritm de construcție a unui graf G cu s(G) = s</a:t>
            </a:r>
            <a:r>
              <a:rPr b="1" baseline="-25000" lang="en-GB"/>
              <a:t>0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			</a:t>
            </a:r>
            <a:r>
              <a:rPr lang="en-GB"/>
              <a:t>1. începem construcția de la vârful cu gradul cel mai mare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2. îi alegem ca vecini vârfurile cu gradele cele mai mari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3. actualizăm secvența s</a:t>
            </a:r>
            <a:r>
              <a:rPr baseline="-25000" lang="en-GB"/>
              <a:t>0</a:t>
            </a:r>
            <a:r>
              <a:rPr lang="en-GB"/>
              <a:t> și reluăm până când</a:t>
            </a:r>
            <a:endParaRPr/>
          </a:p>
          <a:p>
            <a:pPr indent="-323850" lvl="3" marL="18288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n-GB" sz="1500"/>
              <a:t>secvența conține doar 0 ⇒ G</a:t>
            </a:r>
            <a:endParaRPr sz="1500"/>
          </a:p>
          <a:p>
            <a:pPr indent="-32385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GB" sz="1500"/>
              <a:t>secvența conține numere negative ⇒ </a:t>
            </a:r>
            <a:r>
              <a:rPr b="1" lang="en-GB" sz="1500"/>
              <a:t>G nu se poate construi prin acest procedeu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	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 sz="1400"/>
              <a:t>				</a:t>
            </a:r>
            <a:r>
              <a:rPr b="1" lang="en-GB" sz="1500"/>
              <a:t>	Se poate construi G altfel?</a:t>
            </a:r>
            <a:endParaRPr b="1" sz="1500"/>
          </a:p>
        </p:txBody>
      </p:sp>
      <p:pic>
        <p:nvPicPr>
          <p:cNvPr id="159" name="Google Shape;15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0621" y="3519675"/>
            <a:ext cx="767325" cy="117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Construcția de grafuri cu secvența gradelor dată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311700" y="906225"/>
            <a:ext cx="8520600" cy="3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		</a:t>
            </a:r>
            <a:r>
              <a:rPr b="1" lang="en-GB"/>
              <a:t>Idee de algoritm de construcție a unui graf G cu s(G) = s</a:t>
            </a:r>
            <a:r>
              <a:rPr b="1" baseline="-25000" lang="en-GB"/>
              <a:t>0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			</a:t>
            </a:r>
            <a:r>
              <a:rPr lang="en-GB"/>
              <a:t>1. începem construcția de la vârful cu gradul cel mai mare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2. îi alegem ca vecini vârfurile cu gradele cele mai mari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3. actualizăm secvența s</a:t>
            </a:r>
            <a:r>
              <a:rPr baseline="-25000" lang="en-GB"/>
              <a:t>0</a:t>
            </a:r>
            <a:r>
              <a:rPr lang="en-GB"/>
              <a:t> și reluăm până când</a:t>
            </a:r>
            <a:endParaRPr/>
          </a:p>
          <a:p>
            <a:pPr indent="-323850" lvl="3" marL="18288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n-GB" sz="1500"/>
              <a:t>secvența conține doar 0 ⇒ G</a:t>
            </a:r>
            <a:endParaRPr sz="1500"/>
          </a:p>
          <a:p>
            <a:pPr indent="-32385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GB" sz="1500"/>
              <a:t>secvența conține numere negative ⇒ </a:t>
            </a:r>
            <a:r>
              <a:rPr b="1" lang="en-GB" sz="1500"/>
              <a:t>G nu se poate construi prin acest procedeu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400"/>
              <a:t>	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400"/>
              <a:t>					</a:t>
            </a:r>
            <a:r>
              <a:rPr b="1" lang="en-GB" sz="1500"/>
              <a:t>Teorema Havel-Hakimi ⇒ NU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 sz="1500"/>
              <a:t>					</a:t>
            </a:r>
            <a:r>
              <a:rPr lang="en-GB" sz="1500"/>
              <a:t>⇒ Algoritmul anterior = </a:t>
            </a:r>
            <a:r>
              <a:rPr b="1" lang="en-GB" sz="1500"/>
              <a:t>Algoritmul Havel-Hakimi</a:t>
            </a:r>
            <a:endParaRPr b="1" sz="1500"/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8450" y="3445345"/>
            <a:ext cx="751725" cy="13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s</a:t>
            </a:r>
            <a:r>
              <a:rPr baseline="-25000" lang="en-GB"/>
              <a:t>0</a:t>
            </a:r>
            <a:r>
              <a:rPr lang="en-GB"/>
              <a:t> = { 3,  4,   2,   1,   3,   4,  2,   1}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 x</a:t>
            </a:r>
            <a:r>
              <a:rPr baseline="-25000" lang="en-GB"/>
              <a:t>1</a:t>
            </a:r>
            <a:r>
              <a:rPr lang="en-GB"/>
              <a:t>  x</a:t>
            </a:r>
            <a:r>
              <a:rPr baseline="-25000" lang="en-GB"/>
              <a:t>2</a:t>
            </a:r>
            <a:r>
              <a:rPr lang="en-GB"/>
              <a:t>   x</a:t>
            </a:r>
            <a:r>
              <a:rPr baseline="-25000" lang="en-GB"/>
              <a:t>3</a:t>
            </a:r>
            <a:r>
              <a:rPr lang="en-GB"/>
              <a:t>   x</a:t>
            </a:r>
            <a:r>
              <a:rPr baseline="-25000" lang="en-GB"/>
              <a:t>4</a:t>
            </a:r>
            <a:r>
              <a:rPr lang="en-GB"/>
              <a:t>   x</a:t>
            </a:r>
            <a:r>
              <a:rPr baseline="-25000" lang="en-GB"/>
              <a:t>5</a:t>
            </a:r>
            <a:r>
              <a:rPr lang="en-GB"/>
              <a:t>  x</a:t>
            </a:r>
            <a:r>
              <a:rPr baseline="-25000" lang="en-GB"/>
              <a:t>6</a:t>
            </a:r>
            <a:r>
              <a:rPr lang="en-GB"/>
              <a:t>   x</a:t>
            </a:r>
            <a:r>
              <a:rPr baseline="-25000" lang="en-GB"/>
              <a:t>7 </a:t>
            </a:r>
            <a:r>
              <a:rPr lang="en-GB"/>
              <a:t>  x</a:t>
            </a:r>
            <a:r>
              <a:rPr baseline="-25000" lang="en-GB"/>
              <a:t>8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Pasul 1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construim muchii pentru vârful de gradul maxim = x</a:t>
            </a:r>
            <a:r>
              <a:rPr baseline="-25000" lang="en-GB"/>
              <a:t>2</a:t>
            </a:r>
            <a:endParaRPr baseline="-250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alegem ca vecini următoarele vârfuri cu cele mai mari grade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906225"/>
            <a:ext cx="85206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s</a:t>
            </a:r>
            <a:r>
              <a:rPr baseline="-25000" lang="en-GB"/>
              <a:t>0</a:t>
            </a:r>
            <a:r>
              <a:rPr lang="en-GB"/>
              <a:t> = { 3,  4,   2,   1,   3,   4,  2,   1}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  x</a:t>
            </a:r>
            <a:r>
              <a:rPr baseline="-25000" lang="en-GB"/>
              <a:t>1</a:t>
            </a:r>
            <a:r>
              <a:rPr lang="en-GB"/>
              <a:t>  x</a:t>
            </a:r>
            <a:r>
              <a:rPr baseline="-25000" lang="en-GB"/>
              <a:t>2</a:t>
            </a:r>
            <a:r>
              <a:rPr lang="en-GB"/>
              <a:t>   x</a:t>
            </a:r>
            <a:r>
              <a:rPr baseline="-25000" lang="en-GB"/>
              <a:t>3</a:t>
            </a:r>
            <a:r>
              <a:rPr lang="en-GB"/>
              <a:t>   x</a:t>
            </a:r>
            <a:r>
              <a:rPr baseline="-25000" lang="en-GB"/>
              <a:t>4</a:t>
            </a:r>
            <a:r>
              <a:rPr lang="en-GB"/>
              <a:t>   x</a:t>
            </a:r>
            <a:r>
              <a:rPr baseline="-25000" lang="en-GB"/>
              <a:t>5</a:t>
            </a:r>
            <a:r>
              <a:rPr lang="en-GB"/>
              <a:t>  x</a:t>
            </a:r>
            <a:r>
              <a:rPr baseline="-25000" lang="en-GB"/>
              <a:t>6</a:t>
            </a:r>
            <a:r>
              <a:rPr lang="en-GB"/>
              <a:t>   x</a:t>
            </a:r>
            <a:r>
              <a:rPr baseline="-25000" lang="en-GB"/>
              <a:t>7 </a:t>
            </a:r>
            <a:r>
              <a:rPr lang="en-GB"/>
              <a:t>  x</a:t>
            </a:r>
            <a:r>
              <a:rPr baseline="-25000" lang="en-GB"/>
              <a:t>8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Pasul 1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construim muchii pentru vârful de gradul maxim = x</a:t>
            </a:r>
            <a:r>
              <a:rPr baseline="-25000" lang="en-GB"/>
              <a:t>2</a:t>
            </a:r>
            <a:endParaRPr baseline="-250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alegem ca vecini următoarele vârfuri cu cele mai mari grade</a:t>
            </a:r>
            <a:br>
              <a:rPr lang="en-GB"/>
            </a:br>
            <a:r>
              <a:rPr lang="en-GB" sz="1500"/>
              <a:t>⇒ </a:t>
            </a:r>
            <a:r>
              <a:rPr b="1" lang="en-GB" sz="1500"/>
              <a:t>ar fi utilă sortarea descrescătoare a elementelor lui s</a:t>
            </a:r>
            <a:r>
              <a:rPr b="1" baseline="-25000" lang="en-GB" sz="1500"/>
              <a:t>0</a:t>
            </a:r>
            <a:endParaRPr b="1" sz="1500"/>
          </a:p>
          <a:p>
            <a:pPr indent="457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</a:t>
            </a:r>
            <a:r>
              <a:rPr baseline="-25000" lang="en-GB"/>
              <a:t>0</a:t>
            </a:r>
            <a:r>
              <a:rPr lang="en-GB"/>
              <a:t> = { 4,  4,   3,   3,   2,   2,  1,   1}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 x</a:t>
            </a:r>
            <a:r>
              <a:rPr baseline="-25000" lang="en-GB"/>
              <a:t>2</a:t>
            </a:r>
            <a:r>
              <a:rPr lang="en-GB"/>
              <a:t>  x</a:t>
            </a:r>
            <a:r>
              <a:rPr baseline="-25000" lang="en-GB"/>
              <a:t>6</a:t>
            </a:r>
            <a:r>
              <a:rPr lang="en-GB"/>
              <a:t>    x</a:t>
            </a:r>
            <a:r>
              <a:rPr baseline="-25000" lang="en-GB"/>
              <a:t>1</a:t>
            </a:r>
            <a:r>
              <a:rPr lang="en-GB"/>
              <a:t>  x</a:t>
            </a:r>
            <a:r>
              <a:rPr baseline="-25000" lang="en-GB"/>
              <a:t>5</a:t>
            </a:r>
            <a:r>
              <a:rPr lang="en-GB"/>
              <a:t>   x</a:t>
            </a:r>
            <a:r>
              <a:rPr baseline="-25000" lang="en-GB"/>
              <a:t>3</a:t>
            </a:r>
            <a:r>
              <a:rPr lang="en-GB"/>
              <a:t>    x</a:t>
            </a:r>
            <a:r>
              <a:rPr baseline="-25000" lang="en-GB"/>
              <a:t>8</a:t>
            </a:r>
            <a:r>
              <a:rPr lang="en-GB"/>
              <a:t>  x</a:t>
            </a:r>
            <a:r>
              <a:rPr baseline="-25000" lang="en-GB"/>
              <a:t>4</a:t>
            </a:r>
            <a:r>
              <a:rPr lang="en-GB"/>
              <a:t>  x</a:t>
            </a:r>
            <a:r>
              <a:rPr baseline="-25000" lang="en-GB"/>
              <a:t>7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1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311700" y="906225"/>
            <a:ext cx="85206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s</a:t>
            </a:r>
            <a:r>
              <a:rPr baseline="-25000" lang="en-GB"/>
              <a:t>0</a:t>
            </a:r>
            <a:r>
              <a:rPr lang="en-GB"/>
              <a:t> = { 4,  4,   3,   3,   2,   2,  1,   1}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 x</a:t>
            </a:r>
            <a:r>
              <a:rPr baseline="-25000" lang="en-GB"/>
              <a:t>2</a:t>
            </a:r>
            <a:r>
              <a:rPr lang="en-GB"/>
              <a:t>  x</a:t>
            </a:r>
            <a:r>
              <a:rPr baseline="-25000" lang="en-GB"/>
              <a:t>6</a:t>
            </a:r>
            <a:r>
              <a:rPr lang="en-GB"/>
              <a:t>    x</a:t>
            </a:r>
            <a:r>
              <a:rPr baseline="-25000" lang="en-GB"/>
              <a:t>1</a:t>
            </a:r>
            <a:r>
              <a:rPr lang="en-GB"/>
              <a:t>  x</a:t>
            </a:r>
            <a:r>
              <a:rPr baseline="-25000" lang="en-GB"/>
              <a:t>5</a:t>
            </a:r>
            <a:r>
              <a:rPr lang="en-GB"/>
              <a:t>   x</a:t>
            </a:r>
            <a:r>
              <a:rPr baseline="-25000" lang="en-GB"/>
              <a:t>3</a:t>
            </a:r>
            <a:r>
              <a:rPr lang="en-GB"/>
              <a:t>    x</a:t>
            </a:r>
            <a:r>
              <a:rPr baseline="-25000" lang="en-GB"/>
              <a:t>8</a:t>
            </a:r>
            <a:r>
              <a:rPr lang="en-GB"/>
              <a:t>  x</a:t>
            </a:r>
            <a:r>
              <a:rPr baseline="-25000" lang="en-GB"/>
              <a:t>4</a:t>
            </a:r>
            <a:r>
              <a:rPr lang="en-GB"/>
              <a:t>  x</a:t>
            </a:r>
            <a:r>
              <a:rPr baseline="-25000" lang="en-GB"/>
              <a:t>7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Muchii construite: </a:t>
            </a:r>
            <a:r>
              <a:rPr lang="en-GB"/>
              <a:t>x</a:t>
            </a:r>
            <a:r>
              <a:rPr baseline="-25000" lang="en-GB"/>
              <a:t>2</a:t>
            </a:r>
            <a:r>
              <a:rPr lang="en-GB"/>
              <a:t>x</a:t>
            </a:r>
            <a:r>
              <a:rPr baseline="-25000" lang="en-GB"/>
              <a:t>6</a:t>
            </a:r>
            <a:r>
              <a:rPr lang="en-GB"/>
              <a:t>, x</a:t>
            </a:r>
            <a:r>
              <a:rPr baseline="-25000" lang="en-GB"/>
              <a:t>2</a:t>
            </a:r>
            <a:r>
              <a:rPr lang="en-GB"/>
              <a:t>x</a:t>
            </a:r>
            <a:r>
              <a:rPr baseline="-25000" lang="en-GB"/>
              <a:t>1</a:t>
            </a:r>
            <a:r>
              <a:rPr lang="en-GB"/>
              <a:t>, x</a:t>
            </a:r>
            <a:r>
              <a:rPr baseline="-25000" lang="en-GB"/>
              <a:t>2</a:t>
            </a:r>
            <a:r>
              <a:rPr lang="en-GB"/>
              <a:t>x</a:t>
            </a:r>
            <a:r>
              <a:rPr baseline="-25000" lang="en-GB"/>
              <a:t>5</a:t>
            </a:r>
            <a:r>
              <a:rPr lang="en-GB"/>
              <a:t>, x</a:t>
            </a:r>
            <a:r>
              <a:rPr baseline="-25000" lang="en-GB"/>
              <a:t>2</a:t>
            </a:r>
            <a:r>
              <a:rPr lang="en-GB"/>
              <a:t>x</a:t>
            </a:r>
            <a:r>
              <a:rPr baseline="-25000" lang="en-GB"/>
              <a:t>3</a:t>
            </a:r>
            <a:endParaRPr baseline="-25000"/>
          </a:p>
        </p:txBody>
      </p:sp>
      <p:sp>
        <p:nvSpPr>
          <p:cNvPr id="185" name="Google Shape;185;p32"/>
          <p:cNvSpPr/>
          <p:nvPr/>
        </p:nvSpPr>
        <p:spPr>
          <a:xfrm>
            <a:off x="2727025" y="1686875"/>
            <a:ext cx="444325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2"/>
          <p:cNvSpPr/>
          <p:nvPr/>
        </p:nvSpPr>
        <p:spPr>
          <a:xfrm>
            <a:off x="2727025" y="1756425"/>
            <a:ext cx="707899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2"/>
          <p:cNvSpPr/>
          <p:nvPr/>
        </p:nvSpPr>
        <p:spPr>
          <a:xfrm>
            <a:off x="2727025" y="1870350"/>
            <a:ext cx="877542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2"/>
          <p:cNvSpPr/>
          <p:nvPr/>
        </p:nvSpPr>
        <p:spPr>
          <a:xfrm>
            <a:off x="2727025" y="1939925"/>
            <a:ext cx="1212430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2"/>
          <p:cNvSpPr txBox="1"/>
          <p:nvPr/>
        </p:nvSpPr>
        <p:spPr>
          <a:xfrm>
            <a:off x="311700" y="906225"/>
            <a:ext cx="144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Pasul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906225"/>
            <a:ext cx="85206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196" name="Google Shape;196;p33"/>
          <p:cNvGrpSpPr/>
          <p:nvPr/>
        </p:nvGrpSpPr>
        <p:grpSpPr>
          <a:xfrm>
            <a:off x="2708403" y="1464025"/>
            <a:ext cx="3836127" cy="3197550"/>
            <a:chOff x="2708403" y="1464025"/>
            <a:chExt cx="3836127" cy="3197550"/>
          </a:xfrm>
        </p:grpSpPr>
        <p:sp>
          <p:nvSpPr>
            <p:cNvPr id="197" name="Google Shape;197;p33"/>
            <p:cNvSpPr/>
            <p:nvPr/>
          </p:nvSpPr>
          <p:spPr>
            <a:xfrm>
              <a:off x="2708403" y="2629075"/>
              <a:ext cx="500400" cy="4851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3"/>
            <p:cNvSpPr/>
            <p:nvPr/>
          </p:nvSpPr>
          <p:spPr>
            <a:xfrm>
              <a:off x="4347653" y="1464025"/>
              <a:ext cx="500400" cy="4851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3"/>
            <p:cNvSpPr/>
            <p:nvPr/>
          </p:nvSpPr>
          <p:spPr>
            <a:xfrm>
              <a:off x="5792025" y="1959775"/>
              <a:ext cx="500400" cy="4851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3"/>
            <p:cNvSpPr/>
            <p:nvPr/>
          </p:nvSpPr>
          <p:spPr>
            <a:xfrm>
              <a:off x="2708403" y="3642400"/>
              <a:ext cx="500400" cy="4851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3"/>
            <p:cNvSpPr/>
            <p:nvPr/>
          </p:nvSpPr>
          <p:spPr>
            <a:xfrm>
              <a:off x="6044130" y="2990575"/>
              <a:ext cx="500400" cy="4851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3"/>
            <p:cNvSpPr/>
            <p:nvPr/>
          </p:nvSpPr>
          <p:spPr>
            <a:xfrm>
              <a:off x="4028153" y="2487825"/>
              <a:ext cx="500400" cy="4851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3"/>
            <p:cNvSpPr/>
            <p:nvPr/>
          </p:nvSpPr>
          <p:spPr>
            <a:xfrm>
              <a:off x="4217703" y="4176475"/>
              <a:ext cx="500400" cy="4851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3"/>
            <p:cNvSpPr/>
            <p:nvPr/>
          </p:nvSpPr>
          <p:spPr>
            <a:xfrm>
              <a:off x="4739150" y="3183050"/>
              <a:ext cx="500400" cy="4851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" name="Google Shape;205;p33"/>
            <p:cNvCxnSpPr>
              <a:stCxn id="197" idx="4"/>
              <a:endCxn id="200" idx="0"/>
            </p:cNvCxnSpPr>
            <p:nvPr/>
          </p:nvCxnSpPr>
          <p:spPr>
            <a:xfrm>
              <a:off x="2958603" y="3114175"/>
              <a:ext cx="0" cy="5283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33"/>
            <p:cNvCxnSpPr>
              <a:stCxn id="197" idx="7"/>
              <a:endCxn id="198" idx="2"/>
            </p:cNvCxnSpPr>
            <p:nvPr/>
          </p:nvCxnSpPr>
          <p:spPr>
            <a:xfrm flipH="1" rot="10800000">
              <a:off x="3135521" y="1706516"/>
              <a:ext cx="1212000" cy="9936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33"/>
            <p:cNvCxnSpPr>
              <a:stCxn id="197" idx="6"/>
              <a:endCxn id="202" idx="2"/>
            </p:cNvCxnSpPr>
            <p:nvPr/>
          </p:nvCxnSpPr>
          <p:spPr>
            <a:xfrm flipH="1" rot="10800000">
              <a:off x="3208803" y="2730325"/>
              <a:ext cx="819300" cy="1413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" name="Google Shape;208;p33"/>
            <p:cNvCxnSpPr>
              <a:stCxn id="197" idx="5"/>
              <a:endCxn id="204" idx="1"/>
            </p:cNvCxnSpPr>
            <p:nvPr/>
          </p:nvCxnSpPr>
          <p:spPr>
            <a:xfrm>
              <a:off x="3135521" y="3043134"/>
              <a:ext cx="1677000" cy="210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9" name="Google Shape;209;p33"/>
          <p:cNvSpPr txBox="1"/>
          <p:nvPr/>
        </p:nvSpPr>
        <p:spPr>
          <a:xfrm>
            <a:off x="2372175" y="25228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(4)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33"/>
          <p:cNvSpPr txBox="1"/>
          <p:nvPr/>
        </p:nvSpPr>
        <p:spPr>
          <a:xfrm>
            <a:off x="2326100" y="36768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(2)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33"/>
          <p:cNvSpPr txBox="1"/>
          <p:nvPr/>
        </p:nvSpPr>
        <p:spPr>
          <a:xfrm>
            <a:off x="4491875" y="114825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(4)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33"/>
          <p:cNvSpPr txBox="1"/>
          <p:nvPr/>
        </p:nvSpPr>
        <p:spPr>
          <a:xfrm>
            <a:off x="5943525" y="16679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(2)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4235850" y="21535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(3)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3"/>
          <p:cNvSpPr txBox="1"/>
          <p:nvPr/>
        </p:nvSpPr>
        <p:spPr>
          <a:xfrm>
            <a:off x="5195825" y="3390325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(3)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4648200" y="41226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(1)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3"/>
          <p:cNvSpPr txBox="1"/>
          <p:nvPr/>
        </p:nvSpPr>
        <p:spPr>
          <a:xfrm>
            <a:off x="6511825" y="3021025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(1)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311700" y="906225"/>
            <a:ext cx="85206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s</a:t>
            </a:r>
            <a:r>
              <a:rPr baseline="-25000" lang="en-GB"/>
              <a:t>0</a:t>
            </a:r>
            <a:r>
              <a:rPr lang="en-GB"/>
              <a:t> = { 4,  4,   3,   3,   2,   2,  1,   1}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 x</a:t>
            </a:r>
            <a:r>
              <a:rPr baseline="-25000" lang="en-GB"/>
              <a:t>2</a:t>
            </a:r>
            <a:r>
              <a:rPr lang="en-GB"/>
              <a:t>  x</a:t>
            </a:r>
            <a:r>
              <a:rPr baseline="-25000" lang="en-GB"/>
              <a:t>6</a:t>
            </a:r>
            <a:r>
              <a:rPr lang="en-GB"/>
              <a:t>    x</a:t>
            </a:r>
            <a:r>
              <a:rPr baseline="-25000" lang="en-GB"/>
              <a:t>1</a:t>
            </a:r>
            <a:r>
              <a:rPr lang="en-GB"/>
              <a:t>  x</a:t>
            </a:r>
            <a:r>
              <a:rPr baseline="-25000" lang="en-GB"/>
              <a:t>5</a:t>
            </a:r>
            <a:r>
              <a:rPr lang="en-GB"/>
              <a:t>   x</a:t>
            </a:r>
            <a:r>
              <a:rPr baseline="-25000" lang="en-GB"/>
              <a:t>3</a:t>
            </a:r>
            <a:r>
              <a:rPr lang="en-GB"/>
              <a:t>    x</a:t>
            </a:r>
            <a:r>
              <a:rPr baseline="-25000" lang="en-GB"/>
              <a:t>8</a:t>
            </a:r>
            <a:r>
              <a:rPr lang="en-GB"/>
              <a:t>  x</a:t>
            </a:r>
            <a:r>
              <a:rPr baseline="-25000" lang="en-GB"/>
              <a:t>4</a:t>
            </a:r>
            <a:r>
              <a:rPr lang="en-GB"/>
              <a:t>  x</a:t>
            </a:r>
            <a:r>
              <a:rPr baseline="-25000" lang="en-GB"/>
              <a:t>7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Muchii construite: </a:t>
            </a:r>
            <a:r>
              <a:rPr lang="en-GB"/>
              <a:t>x</a:t>
            </a:r>
            <a:r>
              <a:rPr baseline="-25000" lang="en-GB"/>
              <a:t>2</a:t>
            </a:r>
            <a:r>
              <a:rPr lang="en-GB"/>
              <a:t>x</a:t>
            </a:r>
            <a:r>
              <a:rPr baseline="-25000" lang="en-GB"/>
              <a:t>6</a:t>
            </a:r>
            <a:r>
              <a:rPr lang="en-GB"/>
              <a:t>, x</a:t>
            </a:r>
            <a:r>
              <a:rPr baseline="-25000" lang="en-GB"/>
              <a:t>2</a:t>
            </a:r>
            <a:r>
              <a:rPr lang="en-GB"/>
              <a:t>x</a:t>
            </a:r>
            <a:r>
              <a:rPr baseline="-25000" lang="en-GB"/>
              <a:t>1</a:t>
            </a:r>
            <a:r>
              <a:rPr lang="en-GB"/>
              <a:t>, x</a:t>
            </a:r>
            <a:r>
              <a:rPr baseline="-25000" lang="en-GB"/>
              <a:t>2</a:t>
            </a:r>
            <a:r>
              <a:rPr lang="en-GB"/>
              <a:t>x</a:t>
            </a:r>
            <a:r>
              <a:rPr baseline="-25000" lang="en-GB"/>
              <a:t>5</a:t>
            </a:r>
            <a:r>
              <a:rPr lang="en-GB"/>
              <a:t>, x</a:t>
            </a:r>
            <a:r>
              <a:rPr baseline="-25000" lang="en-GB"/>
              <a:t>2</a:t>
            </a:r>
            <a:r>
              <a:rPr lang="en-GB"/>
              <a:t>x</a:t>
            </a:r>
            <a:r>
              <a:rPr baseline="-25000" lang="en-GB"/>
              <a:t>3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Secvența rămasă:</a:t>
            </a:r>
            <a:endParaRPr b="1"/>
          </a:p>
          <a:p>
            <a:pPr indent="457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s’</a:t>
            </a:r>
            <a:r>
              <a:rPr baseline="-25000" lang="en-GB"/>
              <a:t>0</a:t>
            </a:r>
            <a:r>
              <a:rPr lang="en-GB"/>
              <a:t> = {    </a:t>
            </a:r>
            <a:r>
              <a:rPr b="1" lang="en-GB">
                <a:solidFill>
                  <a:srgbClr val="FF0000"/>
                </a:solidFill>
              </a:rPr>
              <a:t> 3</a:t>
            </a:r>
            <a:r>
              <a:rPr lang="en-GB"/>
              <a:t>,  </a:t>
            </a:r>
            <a:r>
              <a:rPr b="1" lang="en-GB">
                <a:solidFill>
                  <a:srgbClr val="FF0000"/>
                </a:solidFill>
              </a:rPr>
              <a:t> 2</a:t>
            </a:r>
            <a:r>
              <a:rPr lang="en-GB"/>
              <a:t>,   </a:t>
            </a:r>
            <a:r>
              <a:rPr b="1" lang="en-GB">
                <a:solidFill>
                  <a:srgbClr val="FF0000"/>
                </a:solidFill>
              </a:rPr>
              <a:t>2</a:t>
            </a:r>
            <a:r>
              <a:rPr lang="en-GB"/>
              <a:t>,   </a:t>
            </a:r>
            <a:r>
              <a:rPr b="1" lang="en-GB">
                <a:solidFill>
                  <a:srgbClr val="FF0000"/>
                </a:solidFill>
              </a:rPr>
              <a:t>1</a:t>
            </a:r>
            <a:r>
              <a:rPr lang="en-GB"/>
              <a:t>,   2,  1,   1}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</a:t>
            </a:r>
            <a:r>
              <a:rPr baseline="-25000" lang="en-GB"/>
              <a:t>     </a:t>
            </a:r>
            <a:r>
              <a:rPr lang="en-GB"/>
              <a:t>   x</a:t>
            </a:r>
            <a:r>
              <a:rPr baseline="-25000" lang="en-GB"/>
              <a:t>6</a:t>
            </a:r>
            <a:r>
              <a:rPr lang="en-GB"/>
              <a:t>   x</a:t>
            </a:r>
            <a:r>
              <a:rPr baseline="-25000" lang="en-GB"/>
              <a:t>1</a:t>
            </a:r>
            <a:r>
              <a:rPr lang="en-GB"/>
              <a:t>   x</a:t>
            </a:r>
            <a:r>
              <a:rPr baseline="-25000" lang="en-GB"/>
              <a:t>5</a:t>
            </a:r>
            <a:r>
              <a:rPr lang="en-GB"/>
              <a:t>   x</a:t>
            </a:r>
            <a:r>
              <a:rPr baseline="-25000" lang="en-GB"/>
              <a:t>3 </a:t>
            </a:r>
            <a:r>
              <a:rPr lang="en-GB"/>
              <a:t>   x</a:t>
            </a:r>
            <a:r>
              <a:rPr baseline="-25000" lang="en-GB"/>
              <a:t>8</a:t>
            </a:r>
            <a:r>
              <a:rPr lang="en-GB"/>
              <a:t>  x</a:t>
            </a:r>
            <a:r>
              <a:rPr baseline="-25000" lang="en-GB"/>
              <a:t>4</a:t>
            </a:r>
            <a:r>
              <a:rPr lang="en-GB"/>
              <a:t>  x</a:t>
            </a:r>
            <a:r>
              <a:rPr baseline="-25000" lang="en-GB"/>
              <a:t>7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aseline="-25000"/>
          </a:p>
        </p:txBody>
      </p:sp>
      <p:sp>
        <p:nvSpPr>
          <p:cNvPr id="223" name="Google Shape;223;p34"/>
          <p:cNvSpPr/>
          <p:nvPr/>
        </p:nvSpPr>
        <p:spPr>
          <a:xfrm>
            <a:off x="2727025" y="1686875"/>
            <a:ext cx="444325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4"/>
          <p:cNvSpPr/>
          <p:nvPr/>
        </p:nvSpPr>
        <p:spPr>
          <a:xfrm>
            <a:off x="2727025" y="1756425"/>
            <a:ext cx="707899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4"/>
          <p:cNvSpPr/>
          <p:nvPr/>
        </p:nvSpPr>
        <p:spPr>
          <a:xfrm>
            <a:off x="2727025" y="1870350"/>
            <a:ext cx="877542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4"/>
          <p:cNvSpPr/>
          <p:nvPr/>
        </p:nvSpPr>
        <p:spPr>
          <a:xfrm>
            <a:off x="2727025" y="1939925"/>
            <a:ext cx="1212430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4"/>
          <p:cNvSpPr txBox="1"/>
          <p:nvPr/>
        </p:nvSpPr>
        <p:spPr>
          <a:xfrm>
            <a:off x="311700" y="906225"/>
            <a:ext cx="151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Pasul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233" name="Google Shape;233;p35"/>
          <p:cNvSpPr txBox="1"/>
          <p:nvPr>
            <p:ph idx="1" type="body"/>
          </p:nvPr>
        </p:nvSpPr>
        <p:spPr>
          <a:xfrm>
            <a:off x="311700" y="906225"/>
            <a:ext cx="8520600" cy="42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s</a:t>
            </a:r>
            <a:r>
              <a:rPr baseline="-25000" lang="en-GB"/>
              <a:t>0</a:t>
            </a:r>
            <a:r>
              <a:rPr lang="en-GB"/>
              <a:t> = { 4,  4,   3,   3,   2,   2,  1,   1}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 x</a:t>
            </a:r>
            <a:r>
              <a:rPr baseline="-25000" lang="en-GB"/>
              <a:t>2</a:t>
            </a:r>
            <a:r>
              <a:rPr lang="en-GB"/>
              <a:t>  x</a:t>
            </a:r>
            <a:r>
              <a:rPr baseline="-25000" lang="en-GB"/>
              <a:t>6</a:t>
            </a:r>
            <a:r>
              <a:rPr lang="en-GB"/>
              <a:t>    x</a:t>
            </a:r>
            <a:r>
              <a:rPr baseline="-25000" lang="en-GB"/>
              <a:t>1</a:t>
            </a:r>
            <a:r>
              <a:rPr lang="en-GB"/>
              <a:t>  x</a:t>
            </a:r>
            <a:r>
              <a:rPr baseline="-25000" lang="en-GB"/>
              <a:t>5</a:t>
            </a:r>
            <a:r>
              <a:rPr lang="en-GB"/>
              <a:t>   x</a:t>
            </a:r>
            <a:r>
              <a:rPr baseline="-25000" lang="en-GB"/>
              <a:t>3</a:t>
            </a:r>
            <a:r>
              <a:rPr lang="en-GB"/>
              <a:t>    x</a:t>
            </a:r>
            <a:r>
              <a:rPr baseline="-25000" lang="en-GB"/>
              <a:t>8</a:t>
            </a:r>
            <a:r>
              <a:rPr lang="en-GB"/>
              <a:t>  x</a:t>
            </a:r>
            <a:r>
              <a:rPr baseline="-25000" lang="en-GB"/>
              <a:t>4</a:t>
            </a:r>
            <a:r>
              <a:rPr lang="en-GB"/>
              <a:t>  x</a:t>
            </a:r>
            <a:r>
              <a:rPr baseline="-25000" lang="en-GB"/>
              <a:t>7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Muchii construite: </a:t>
            </a:r>
            <a:r>
              <a:rPr lang="en-GB"/>
              <a:t>x</a:t>
            </a:r>
            <a:r>
              <a:rPr baseline="-25000" lang="en-GB"/>
              <a:t>2</a:t>
            </a:r>
            <a:r>
              <a:rPr lang="en-GB"/>
              <a:t>x</a:t>
            </a:r>
            <a:r>
              <a:rPr baseline="-25000" lang="en-GB"/>
              <a:t>6</a:t>
            </a:r>
            <a:r>
              <a:rPr lang="en-GB"/>
              <a:t>, x</a:t>
            </a:r>
            <a:r>
              <a:rPr baseline="-25000" lang="en-GB"/>
              <a:t>2</a:t>
            </a:r>
            <a:r>
              <a:rPr lang="en-GB"/>
              <a:t>x</a:t>
            </a:r>
            <a:r>
              <a:rPr baseline="-25000" lang="en-GB"/>
              <a:t>1</a:t>
            </a:r>
            <a:r>
              <a:rPr lang="en-GB"/>
              <a:t>, x</a:t>
            </a:r>
            <a:r>
              <a:rPr baseline="-25000" lang="en-GB"/>
              <a:t>2</a:t>
            </a:r>
            <a:r>
              <a:rPr lang="en-GB"/>
              <a:t>x</a:t>
            </a:r>
            <a:r>
              <a:rPr baseline="-25000" lang="en-GB"/>
              <a:t>5</a:t>
            </a:r>
            <a:r>
              <a:rPr lang="en-GB"/>
              <a:t>, x</a:t>
            </a:r>
            <a:r>
              <a:rPr baseline="-25000" lang="en-GB"/>
              <a:t>2</a:t>
            </a:r>
            <a:r>
              <a:rPr lang="en-GB"/>
              <a:t>x</a:t>
            </a:r>
            <a:r>
              <a:rPr baseline="-25000" lang="en-GB"/>
              <a:t>3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Secvența rămasă:</a:t>
            </a:r>
            <a:endParaRPr b="1"/>
          </a:p>
          <a:p>
            <a:pPr indent="457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s’</a:t>
            </a:r>
            <a:r>
              <a:rPr baseline="-25000" lang="en-GB"/>
              <a:t>0</a:t>
            </a:r>
            <a:r>
              <a:rPr lang="en-GB"/>
              <a:t> = {    </a:t>
            </a:r>
            <a:r>
              <a:rPr b="1" lang="en-GB">
                <a:solidFill>
                  <a:srgbClr val="FF0000"/>
                </a:solidFill>
              </a:rPr>
              <a:t> 3</a:t>
            </a:r>
            <a:r>
              <a:rPr lang="en-GB"/>
              <a:t>,  </a:t>
            </a:r>
            <a:r>
              <a:rPr b="1" lang="en-GB">
                <a:solidFill>
                  <a:srgbClr val="FF0000"/>
                </a:solidFill>
              </a:rPr>
              <a:t> 2</a:t>
            </a:r>
            <a:r>
              <a:rPr lang="en-GB"/>
              <a:t>,   </a:t>
            </a:r>
            <a:r>
              <a:rPr b="1" lang="en-GB">
                <a:solidFill>
                  <a:srgbClr val="FF0000"/>
                </a:solidFill>
              </a:rPr>
              <a:t>2</a:t>
            </a:r>
            <a:r>
              <a:rPr lang="en-GB"/>
              <a:t>,   </a:t>
            </a:r>
            <a:r>
              <a:rPr b="1" lang="en-GB">
                <a:solidFill>
                  <a:srgbClr val="FF0000"/>
                </a:solidFill>
              </a:rPr>
              <a:t>1</a:t>
            </a:r>
            <a:r>
              <a:rPr lang="en-GB"/>
              <a:t>,   2,  1,   1}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</a:t>
            </a:r>
            <a:r>
              <a:rPr baseline="-25000" lang="en-GB"/>
              <a:t>     </a:t>
            </a:r>
            <a:r>
              <a:rPr lang="en-GB"/>
              <a:t>   x</a:t>
            </a:r>
            <a:r>
              <a:rPr baseline="-25000" lang="en-GB"/>
              <a:t>6</a:t>
            </a:r>
            <a:r>
              <a:rPr lang="en-GB"/>
              <a:t>   x</a:t>
            </a:r>
            <a:r>
              <a:rPr baseline="-25000" lang="en-GB"/>
              <a:t>1</a:t>
            </a:r>
            <a:r>
              <a:rPr lang="en-GB"/>
              <a:t>   x</a:t>
            </a:r>
            <a:r>
              <a:rPr baseline="-25000" lang="en-GB"/>
              <a:t>5</a:t>
            </a:r>
            <a:r>
              <a:rPr lang="en-GB"/>
              <a:t>   x</a:t>
            </a:r>
            <a:r>
              <a:rPr baseline="-25000" lang="en-GB"/>
              <a:t>3 </a:t>
            </a:r>
            <a:r>
              <a:rPr lang="en-GB"/>
              <a:t>   x</a:t>
            </a:r>
            <a:r>
              <a:rPr baseline="-25000" lang="en-GB"/>
              <a:t>8</a:t>
            </a:r>
            <a:r>
              <a:rPr lang="en-GB"/>
              <a:t>  x</a:t>
            </a:r>
            <a:r>
              <a:rPr baseline="-25000" lang="en-GB"/>
              <a:t>4</a:t>
            </a:r>
            <a:r>
              <a:rPr lang="en-GB"/>
              <a:t>  x</a:t>
            </a:r>
            <a:r>
              <a:rPr baseline="-25000" lang="en-GB"/>
              <a:t>7</a:t>
            </a:r>
            <a:endParaRPr baseline="-250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Secvența rămasă ordonată descrescător:</a:t>
            </a:r>
            <a:endParaRPr b="1"/>
          </a:p>
          <a:p>
            <a:pPr indent="457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s’</a:t>
            </a:r>
            <a:r>
              <a:rPr baseline="-25000" lang="en-GB"/>
              <a:t>0</a:t>
            </a:r>
            <a:r>
              <a:rPr lang="en-GB"/>
              <a:t> = {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3,   2,   2,   2,   1,  1,   1}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etichete vârfuri 		</a:t>
            </a:r>
            <a:r>
              <a:rPr baseline="-25000" lang="en-GB"/>
              <a:t>     </a:t>
            </a:r>
            <a:r>
              <a:rPr lang="en-GB"/>
              <a:t>   x</a:t>
            </a:r>
            <a:r>
              <a:rPr baseline="-25000" lang="en-GB"/>
              <a:t>6</a:t>
            </a:r>
            <a:r>
              <a:rPr lang="en-GB"/>
              <a:t>   x</a:t>
            </a:r>
            <a:r>
              <a:rPr baseline="-25000" lang="en-GB"/>
              <a:t>1</a:t>
            </a:r>
            <a:r>
              <a:rPr lang="en-GB"/>
              <a:t>   x</a:t>
            </a:r>
            <a:r>
              <a:rPr baseline="-25000" lang="en-GB"/>
              <a:t>5</a:t>
            </a:r>
            <a:r>
              <a:rPr lang="en-GB"/>
              <a:t>   x</a:t>
            </a:r>
            <a:r>
              <a:rPr baseline="-25000" lang="en-GB"/>
              <a:t>8 </a:t>
            </a:r>
            <a:r>
              <a:rPr lang="en-GB"/>
              <a:t>   x</a:t>
            </a:r>
            <a:r>
              <a:rPr baseline="-25000" lang="en-GB"/>
              <a:t>3</a:t>
            </a:r>
            <a:r>
              <a:rPr lang="en-GB"/>
              <a:t>  x</a:t>
            </a:r>
            <a:r>
              <a:rPr baseline="-25000" lang="en-GB"/>
              <a:t>4</a:t>
            </a:r>
            <a:r>
              <a:rPr lang="en-GB"/>
              <a:t>  x</a:t>
            </a:r>
            <a:r>
              <a:rPr baseline="-25000" lang="en-GB"/>
              <a:t>7</a:t>
            </a:r>
            <a:endParaRPr b="1"/>
          </a:p>
        </p:txBody>
      </p:sp>
      <p:sp>
        <p:nvSpPr>
          <p:cNvPr id="234" name="Google Shape;234;p35"/>
          <p:cNvSpPr/>
          <p:nvPr/>
        </p:nvSpPr>
        <p:spPr>
          <a:xfrm>
            <a:off x="2727025" y="1686875"/>
            <a:ext cx="444325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5"/>
          <p:cNvSpPr/>
          <p:nvPr/>
        </p:nvSpPr>
        <p:spPr>
          <a:xfrm>
            <a:off x="2727025" y="1756425"/>
            <a:ext cx="707899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5"/>
          <p:cNvSpPr/>
          <p:nvPr/>
        </p:nvSpPr>
        <p:spPr>
          <a:xfrm>
            <a:off x="2727025" y="1870350"/>
            <a:ext cx="877542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5"/>
          <p:cNvSpPr/>
          <p:nvPr/>
        </p:nvSpPr>
        <p:spPr>
          <a:xfrm>
            <a:off x="2727025" y="1939925"/>
            <a:ext cx="1212430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5"/>
          <p:cNvSpPr txBox="1"/>
          <p:nvPr/>
        </p:nvSpPr>
        <p:spPr>
          <a:xfrm>
            <a:off x="311700" y="906225"/>
            <a:ext cx="126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Pasul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244" name="Google Shape;244;p36"/>
          <p:cNvSpPr txBox="1"/>
          <p:nvPr>
            <p:ph idx="1" type="body"/>
          </p:nvPr>
        </p:nvSpPr>
        <p:spPr>
          <a:xfrm>
            <a:off x="311700" y="906225"/>
            <a:ext cx="85206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s’</a:t>
            </a:r>
            <a:r>
              <a:rPr baseline="-25000" lang="en-GB"/>
              <a:t>0</a:t>
            </a:r>
            <a:r>
              <a:rPr lang="en-GB"/>
              <a:t> = {    </a:t>
            </a:r>
            <a:r>
              <a:rPr b="1" lang="en-GB">
                <a:solidFill>
                  <a:srgbClr val="FF0000"/>
                </a:solidFill>
              </a:rPr>
              <a:t> 3</a:t>
            </a:r>
            <a:r>
              <a:rPr lang="en-GB"/>
              <a:t>,  </a:t>
            </a:r>
            <a:r>
              <a:rPr b="1" lang="en-GB">
                <a:solidFill>
                  <a:srgbClr val="FF0000"/>
                </a:solidFill>
              </a:rPr>
              <a:t> 2</a:t>
            </a:r>
            <a:r>
              <a:rPr lang="en-GB"/>
              <a:t>,   </a:t>
            </a:r>
            <a:r>
              <a:rPr b="1" lang="en-GB">
                <a:solidFill>
                  <a:srgbClr val="FF0000"/>
                </a:solidFill>
              </a:rPr>
              <a:t>2</a:t>
            </a:r>
            <a:r>
              <a:rPr lang="en-GB"/>
              <a:t>,   </a:t>
            </a:r>
            <a:r>
              <a:rPr b="1" lang="en-GB">
                <a:solidFill>
                  <a:srgbClr val="FF0000"/>
                </a:solidFill>
              </a:rPr>
              <a:t>2</a:t>
            </a:r>
            <a:r>
              <a:rPr lang="en-GB"/>
              <a:t>,   1,  1,   1}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</a:t>
            </a:r>
            <a:r>
              <a:rPr baseline="-25000" lang="en-GB"/>
              <a:t>     </a:t>
            </a:r>
            <a:r>
              <a:rPr lang="en-GB"/>
              <a:t>   x</a:t>
            </a:r>
            <a:r>
              <a:rPr baseline="-25000" lang="en-GB"/>
              <a:t>6</a:t>
            </a:r>
            <a:r>
              <a:rPr lang="en-GB"/>
              <a:t>   x</a:t>
            </a:r>
            <a:r>
              <a:rPr baseline="-25000" lang="en-GB"/>
              <a:t>1</a:t>
            </a:r>
            <a:r>
              <a:rPr lang="en-GB"/>
              <a:t>   x</a:t>
            </a:r>
            <a:r>
              <a:rPr baseline="-25000" lang="en-GB"/>
              <a:t>5</a:t>
            </a:r>
            <a:r>
              <a:rPr lang="en-GB"/>
              <a:t>   x</a:t>
            </a:r>
            <a:r>
              <a:rPr baseline="-25000" lang="en-GB"/>
              <a:t>8 </a:t>
            </a:r>
            <a:r>
              <a:rPr lang="en-GB"/>
              <a:t>   x</a:t>
            </a:r>
            <a:r>
              <a:rPr baseline="-25000" lang="en-GB"/>
              <a:t>3</a:t>
            </a:r>
            <a:r>
              <a:rPr lang="en-GB"/>
              <a:t>  x</a:t>
            </a:r>
            <a:r>
              <a:rPr baseline="-25000" lang="en-GB"/>
              <a:t>4</a:t>
            </a:r>
            <a:r>
              <a:rPr lang="en-GB"/>
              <a:t>  x</a:t>
            </a:r>
            <a:r>
              <a:rPr baseline="-25000" lang="en-GB"/>
              <a:t>7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Muchii construite: </a:t>
            </a:r>
            <a:r>
              <a:rPr lang="en-GB"/>
              <a:t>x</a:t>
            </a:r>
            <a:r>
              <a:rPr baseline="-25000" lang="en-GB"/>
              <a:t>6</a:t>
            </a:r>
            <a:r>
              <a:rPr lang="en-GB"/>
              <a:t>x</a:t>
            </a:r>
            <a:r>
              <a:rPr baseline="-25000" lang="en-GB"/>
              <a:t>1</a:t>
            </a:r>
            <a:r>
              <a:rPr lang="en-GB"/>
              <a:t>, x</a:t>
            </a:r>
            <a:r>
              <a:rPr baseline="-25000" lang="en-GB"/>
              <a:t>6</a:t>
            </a:r>
            <a:r>
              <a:rPr lang="en-GB"/>
              <a:t>x</a:t>
            </a:r>
            <a:r>
              <a:rPr baseline="-25000" lang="en-GB"/>
              <a:t>5</a:t>
            </a:r>
            <a:r>
              <a:rPr lang="en-GB"/>
              <a:t>, x</a:t>
            </a:r>
            <a:r>
              <a:rPr baseline="-25000" lang="en-GB"/>
              <a:t>6</a:t>
            </a:r>
            <a:r>
              <a:rPr lang="en-GB"/>
              <a:t>x</a:t>
            </a:r>
            <a:r>
              <a:rPr baseline="-25000" lang="en-GB"/>
              <a:t>8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Secvența rămasă:</a:t>
            </a:r>
            <a:endParaRPr b="1"/>
          </a:p>
          <a:p>
            <a:pPr indent="457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s’’</a:t>
            </a:r>
            <a:r>
              <a:rPr baseline="-25000" lang="en-GB"/>
              <a:t>0</a:t>
            </a:r>
            <a:r>
              <a:rPr lang="en-GB"/>
              <a:t> = {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</a:t>
            </a:r>
            <a:r>
              <a:rPr b="1" lang="en-GB">
                <a:solidFill>
                  <a:srgbClr val="FF0000"/>
                </a:solidFill>
              </a:rPr>
              <a:t> 1</a:t>
            </a:r>
            <a:r>
              <a:rPr lang="en-GB"/>
              <a:t>,   </a:t>
            </a:r>
            <a:r>
              <a:rPr b="1" lang="en-GB">
                <a:solidFill>
                  <a:srgbClr val="FF0000"/>
                </a:solidFill>
              </a:rPr>
              <a:t>1</a:t>
            </a:r>
            <a:r>
              <a:rPr lang="en-GB"/>
              <a:t>,   </a:t>
            </a:r>
            <a:r>
              <a:rPr b="1" lang="en-GB">
                <a:solidFill>
                  <a:srgbClr val="FF0000"/>
                </a:solidFill>
              </a:rPr>
              <a:t>1</a:t>
            </a:r>
            <a:r>
              <a:rPr lang="en-GB"/>
              <a:t>,   1,  1,   1}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</a:t>
            </a:r>
            <a:r>
              <a:rPr baseline="-25000" lang="en-GB"/>
              <a:t>     </a:t>
            </a:r>
            <a:r>
              <a:rPr lang="en-GB"/>
              <a:t>         x</a:t>
            </a:r>
            <a:r>
              <a:rPr baseline="-25000" lang="en-GB"/>
              <a:t>1</a:t>
            </a:r>
            <a:r>
              <a:rPr lang="en-GB"/>
              <a:t>   x</a:t>
            </a:r>
            <a:r>
              <a:rPr baseline="-25000" lang="en-GB"/>
              <a:t>5</a:t>
            </a:r>
            <a:r>
              <a:rPr lang="en-GB"/>
              <a:t>   x</a:t>
            </a:r>
            <a:r>
              <a:rPr baseline="-25000" lang="en-GB"/>
              <a:t>8 </a:t>
            </a:r>
            <a:r>
              <a:rPr lang="en-GB"/>
              <a:t>   x</a:t>
            </a:r>
            <a:r>
              <a:rPr baseline="-25000" lang="en-GB"/>
              <a:t>3</a:t>
            </a:r>
            <a:r>
              <a:rPr lang="en-GB"/>
              <a:t>  x</a:t>
            </a:r>
            <a:r>
              <a:rPr baseline="-25000" lang="en-GB"/>
              <a:t>4</a:t>
            </a:r>
            <a:r>
              <a:rPr lang="en-GB"/>
              <a:t>  x</a:t>
            </a:r>
            <a:r>
              <a:rPr baseline="-25000" lang="en-GB"/>
              <a:t>7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aseline="-25000" lang="en-GB"/>
              <a:t>	</a:t>
            </a:r>
            <a:r>
              <a:rPr lang="en-GB"/>
              <a:t>(este ordonată descrescător)</a:t>
            </a:r>
            <a:endParaRPr/>
          </a:p>
        </p:txBody>
      </p:sp>
      <p:sp>
        <p:nvSpPr>
          <p:cNvPr id="245" name="Google Shape;245;p36"/>
          <p:cNvSpPr/>
          <p:nvPr/>
        </p:nvSpPr>
        <p:spPr>
          <a:xfrm>
            <a:off x="3031825" y="1686875"/>
            <a:ext cx="444325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6"/>
          <p:cNvSpPr/>
          <p:nvPr/>
        </p:nvSpPr>
        <p:spPr>
          <a:xfrm>
            <a:off x="3031825" y="1756425"/>
            <a:ext cx="707899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6"/>
          <p:cNvSpPr/>
          <p:nvPr/>
        </p:nvSpPr>
        <p:spPr>
          <a:xfrm>
            <a:off x="3031825" y="1870350"/>
            <a:ext cx="877542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6"/>
          <p:cNvSpPr txBox="1"/>
          <p:nvPr/>
        </p:nvSpPr>
        <p:spPr>
          <a:xfrm>
            <a:off x="311700" y="906225"/>
            <a:ext cx="110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Pasul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254" name="Google Shape;254;p37"/>
          <p:cNvSpPr txBox="1"/>
          <p:nvPr>
            <p:ph idx="1" type="body"/>
          </p:nvPr>
        </p:nvSpPr>
        <p:spPr>
          <a:xfrm>
            <a:off x="311700" y="906225"/>
            <a:ext cx="85206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255" name="Google Shape;255;p37"/>
          <p:cNvGrpSpPr/>
          <p:nvPr/>
        </p:nvGrpSpPr>
        <p:grpSpPr>
          <a:xfrm>
            <a:off x="2708400" y="1365588"/>
            <a:ext cx="3857728" cy="3291188"/>
            <a:chOff x="2708400" y="1365588"/>
            <a:chExt cx="3857728" cy="3291188"/>
          </a:xfrm>
        </p:grpSpPr>
        <p:sp>
          <p:nvSpPr>
            <p:cNvPr id="256" name="Google Shape;256;p37"/>
            <p:cNvSpPr/>
            <p:nvPr/>
          </p:nvSpPr>
          <p:spPr>
            <a:xfrm>
              <a:off x="2708400" y="2571750"/>
              <a:ext cx="522000" cy="4992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7"/>
            <p:cNvSpPr/>
            <p:nvPr/>
          </p:nvSpPr>
          <p:spPr>
            <a:xfrm>
              <a:off x="4347653" y="1365588"/>
              <a:ext cx="522000" cy="4599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7"/>
            <p:cNvSpPr/>
            <p:nvPr/>
          </p:nvSpPr>
          <p:spPr>
            <a:xfrm>
              <a:off x="5792025" y="1959775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7"/>
            <p:cNvSpPr/>
            <p:nvPr/>
          </p:nvSpPr>
          <p:spPr>
            <a:xfrm>
              <a:off x="2708400" y="3642400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7"/>
            <p:cNvSpPr/>
            <p:nvPr/>
          </p:nvSpPr>
          <p:spPr>
            <a:xfrm>
              <a:off x="6044128" y="2990575"/>
              <a:ext cx="522000" cy="4599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7"/>
            <p:cNvSpPr/>
            <p:nvPr/>
          </p:nvSpPr>
          <p:spPr>
            <a:xfrm>
              <a:off x="4028150" y="2487825"/>
              <a:ext cx="522000" cy="4992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7"/>
            <p:cNvSpPr/>
            <p:nvPr/>
          </p:nvSpPr>
          <p:spPr>
            <a:xfrm>
              <a:off x="4217703" y="4176475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7"/>
            <p:cNvSpPr/>
            <p:nvPr/>
          </p:nvSpPr>
          <p:spPr>
            <a:xfrm>
              <a:off x="4739150" y="3183050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4" name="Google Shape;264;p37"/>
            <p:cNvCxnSpPr>
              <a:stCxn id="256" idx="4"/>
              <a:endCxn id="259" idx="0"/>
            </p:cNvCxnSpPr>
            <p:nvPr/>
          </p:nvCxnSpPr>
          <p:spPr>
            <a:xfrm>
              <a:off x="2969400" y="3070950"/>
              <a:ext cx="0" cy="571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5" name="Google Shape;265;p37"/>
            <p:cNvCxnSpPr>
              <a:stCxn id="256" idx="7"/>
              <a:endCxn id="257" idx="2"/>
            </p:cNvCxnSpPr>
            <p:nvPr/>
          </p:nvCxnSpPr>
          <p:spPr>
            <a:xfrm flipH="1" rot="10800000">
              <a:off x="3153955" y="1595456"/>
              <a:ext cx="1193700" cy="1049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" name="Google Shape;266;p37"/>
            <p:cNvCxnSpPr>
              <a:stCxn id="256" idx="6"/>
              <a:endCxn id="261" idx="2"/>
            </p:cNvCxnSpPr>
            <p:nvPr/>
          </p:nvCxnSpPr>
          <p:spPr>
            <a:xfrm flipH="1" rot="10800000">
              <a:off x="3230400" y="2737350"/>
              <a:ext cx="797700" cy="84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" name="Google Shape;267;p37"/>
            <p:cNvCxnSpPr>
              <a:stCxn id="256" idx="5"/>
              <a:endCxn id="263" idx="1"/>
            </p:cNvCxnSpPr>
            <p:nvPr/>
          </p:nvCxnSpPr>
          <p:spPr>
            <a:xfrm>
              <a:off x="3153955" y="2997844"/>
              <a:ext cx="1661700" cy="2556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68" name="Google Shape;268;p37"/>
          <p:cNvSpPr txBox="1"/>
          <p:nvPr/>
        </p:nvSpPr>
        <p:spPr>
          <a:xfrm>
            <a:off x="2372175" y="25228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(4)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37"/>
          <p:cNvSpPr txBox="1"/>
          <p:nvPr/>
        </p:nvSpPr>
        <p:spPr>
          <a:xfrm>
            <a:off x="2326100" y="36768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(2)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37"/>
          <p:cNvSpPr txBox="1"/>
          <p:nvPr/>
        </p:nvSpPr>
        <p:spPr>
          <a:xfrm>
            <a:off x="4644275" y="99585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(4)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37"/>
          <p:cNvSpPr txBox="1"/>
          <p:nvPr/>
        </p:nvSpPr>
        <p:spPr>
          <a:xfrm>
            <a:off x="6172125" y="16679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(2)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37"/>
          <p:cNvSpPr txBox="1"/>
          <p:nvPr/>
        </p:nvSpPr>
        <p:spPr>
          <a:xfrm>
            <a:off x="4485688" y="2291088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(3)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37"/>
          <p:cNvSpPr txBox="1"/>
          <p:nvPr/>
        </p:nvSpPr>
        <p:spPr>
          <a:xfrm>
            <a:off x="5272025" y="3390325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(3)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37"/>
          <p:cNvSpPr txBox="1"/>
          <p:nvPr/>
        </p:nvSpPr>
        <p:spPr>
          <a:xfrm>
            <a:off x="4724400" y="41226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(1)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7"/>
          <p:cNvSpPr txBox="1"/>
          <p:nvPr/>
        </p:nvSpPr>
        <p:spPr>
          <a:xfrm>
            <a:off x="6588025" y="3021025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(1)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37"/>
          <p:cNvCxnSpPr>
            <a:stCxn id="257" idx="4"/>
            <a:endCxn id="261" idx="0"/>
          </p:cNvCxnSpPr>
          <p:nvPr/>
        </p:nvCxnSpPr>
        <p:spPr>
          <a:xfrm flipH="1">
            <a:off x="4289153" y="1825488"/>
            <a:ext cx="319500" cy="66240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37"/>
          <p:cNvCxnSpPr>
            <a:stCxn id="257" idx="6"/>
            <a:endCxn id="258" idx="1"/>
          </p:cNvCxnSpPr>
          <p:nvPr/>
        </p:nvCxnSpPr>
        <p:spPr>
          <a:xfrm>
            <a:off x="4869653" y="1595538"/>
            <a:ext cx="998700" cy="43470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37"/>
          <p:cNvCxnSpPr>
            <a:stCxn id="257" idx="5"/>
            <a:endCxn id="263" idx="0"/>
          </p:cNvCxnSpPr>
          <p:nvPr/>
        </p:nvCxnSpPr>
        <p:spPr>
          <a:xfrm>
            <a:off x="4793208" y="1758137"/>
            <a:ext cx="207000" cy="142500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284" name="Google Shape;284;p38"/>
          <p:cNvSpPr txBox="1"/>
          <p:nvPr>
            <p:ph idx="1" type="body"/>
          </p:nvPr>
        </p:nvSpPr>
        <p:spPr>
          <a:xfrm>
            <a:off x="311700" y="906225"/>
            <a:ext cx="85206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s’’</a:t>
            </a:r>
            <a:r>
              <a:rPr baseline="-25000" lang="en-GB"/>
              <a:t>0</a:t>
            </a:r>
            <a:r>
              <a:rPr lang="en-GB"/>
              <a:t> = {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1,   1,   1,   1,  1,   1}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</a:t>
            </a:r>
            <a:r>
              <a:rPr baseline="-25000" lang="en-GB"/>
              <a:t>     </a:t>
            </a:r>
            <a:r>
              <a:rPr lang="en-GB"/>
              <a:t>         x</a:t>
            </a:r>
            <a:r>
              <a:rPr baseline="-25000" lang="en-GB"/>
              <a:t>1</a:t>
            </a:r>
            <a:r>
              <a:rPr lang="en-GB"/>
              <a:t>   x</a:t>
            </a:r>
            <a:r>
              <a:rPr baseline="-25000" lang="en-GB"/>
              <a:t>5</a:t>
            </a:r>
            <a:r>
              <a:rPr lang="en-GB"/>
              <a:t>   x</a:t>
            </a:r>
            <a:r>
              <a:rPr baseline="-25000" lang="en-GB"/>
              <a:t>8 </a:t>
            </a:r>
            <a:r>
              <a:rPr lang="en-GB"/>
              <a:t>   x</a:t>
            </a:r>
            <a:r>
              <a:rPr baseline="-25000" lang="en-GB"/>
              <a:t>3</a:t>
            </a:r>
            <a:r>
              <a:rPr lang="en-GB"/>
              <a:t>  x</a:t>
            </a:r>
            <a:r>
              <a:rPr baseline="-25000" lang="en-GB"/>
              <a:t>4</a:t>
            </a:r>
            <a:r>
              <a:rPr lang="en-GB"/>
              <a:t>  x</a:t>
            </a:r>
            <a:r>
              <a:rPr baseline="-25000" lang="en-GB"/>
              <a:t>7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Muchii construite: </a:t>
            </a:r>
            <a:r>
              <a:rPr lang="en-GB"/>
              <a:t>x</a:t>
            </a:r>
            <a:r>
              <a:rPr baseline="-25000" lang="en-GB"/>
              <a:t>1</a:t>
            </a:r>
            <a:r>
              <a:rPr lang="en-GB"/>
              <a:t>x</a:t>
            </a:r>
            <a:r>
              <a:rPr baseline="-25000" lang="en-GB"/>
              <a:t>5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Secvența rămasă:</a:t>
            </a:r>
            <a:endParaRPr b="1"/>
          </a:p>
          <a:p>
            <a:pPr indent="457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s’’’</a:t>
            </a:r>
            <a:r>
              <a:rPr baseline="-25000" lang="en-GB"/>
              <a:t>0</a:t>
            </a:r>
            <a:r>
              <a:rPr lang="en-GB"/>
              <a:t> = {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 </a:t>
            </a:r>
            <a:r>
              <a:rPr b="1" lang="en-GB">
                <a:solidFill>
                  <a:srgbClr val="FF0000"/>
                </a:solidFill>
              </a:rPr>
              <a:t>0</a:t>
            </a:r>
            <a:r>
              <a:rPr lang="en-GB"/>
              <a:t>,   1,   1,  1,   1}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</a:t>
            </a:r>
            <a:r>
              <a:rPr baseline="-25000" lang="en-GB"/>
              <a:t>     </a:t>
            </a:r>
            <a:r>
              <a:rPr lang="en-GB"/>
              <a:t>              x</a:t>
            </a:r>
            <a:r>
              <a:rPr baseline="-25000" lang="en-GB"/>
              <a:t>5</a:t>
            </a:r>
            <a:r>
              <a:rPr lang="en-GB"/>
              <a:t>    x</a:t>
            </a:r>
            <a:r>
              <a:rPr baseline="-25000" lang="en-GB"/>
              <a:t>8 </a:t>
            </a:r>
            <a:r>
              <a:rPr lang="en-GB"/>
              <a:t>  x</a:t>
            </a:r>
            <a:r>
              <a:rPr baseline="-25000" lang="en-GB"/>
              <a:t>3</a:t>
            </a:r>
            <a:r>
              <a:rPr lang="en-GB"/>
              <a:t>  x</a:t>
            </a:r>
            <a:r>
              <a:rPr baseline="-25000" lang="en-GB"/>
              <a:t>4</a:t>
            </a:r>
            <a:r>
              <a:rPr lang="en-GB"/>
              <a:t>    x</a:t>
            </a:r>
            <a:r>
              <a:rPr baseline="-25000" lang="en-GB"/>
              <a:t>7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Secvența rămasă ordonată descrescător:</a:t>
            </a:r>
            <a:endParaRPr b="1"/>
          </a:p>
          <a:p>
            <a:pPr indent="457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s’’’</a:t>
            </a:r>
            <a:r>
              <a:rPr baseline="-25000" lang="en-GB"/>
              <a:t>0</a:t>
            </a:r>
            <a:r>
              <a:rPr lang="en-GB"/>
              <a:t> = {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 1,   1,  1,   1,  0}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etichete vârfuri 		</a:t>
            </a:r>
            <a:r>
              <a:rPr baseline="-25000" lang="en-GB"/>
              <a:t>     </a:t>
            </a:r>
            <a:r>
              <a:rPr lang="en-GB"/>
              <a:t>               x</a:t>
            </a:r>
            <a:r>
              <a:rPr baseline="-25000" lang="en-GB"/>
              <a:t>7</a:t>
            </a:r>
            <a:r>
              <a:rPr lang="en-GB"/>
              <a:t>   x</a:t>
            </a:r>
            <a:r>
              <a:rPr baseline="-25000" lang="en-GB"/>
              <a:t>3</a:t>
            </a:r>
            <a:r>
              <a:rPr lang="en-GB"/>
              <a:t>  x</a:t>
            </a:r>
            <a:r>
              <a:rPr baseline="-25000" lang="en-GB"/>
              <a:t>4 </a:t>
            </a:r>
            <a:r>
              <a:rPr lang="en-GB"/>
              <a:t>  x</a:t>
            </a:r>
            <a:r>
              <a:rPr baseline="-25000" lang="en-GB"/>
              <a:t>8</a:t>
            </a:r>
            <a:r>
              <a:rPr lang="en-GB"/>
              <a:t>  x</a:t>
            </a:r>
            <a:r>
              <a:rPr baseline="-25000" lang="en-GB"/>
              <a:t>5</a:t>
            </a:r>
            <a:endParaRPr b="1"/>
          </a:p>
        </p:txBody>
      </p:sp>
      <p:sp>
        <p:nvSpPr>
          <p:cNvPr id="285" name="Google Shape;285;p38"/>
          <p:cNvSpPr/>
          <p:nvPr/>
        </p:nvSpPr>
        <p:spPr>
          <a:xfrm>
            <a:off x="3336625" y="1686875"/>
            <a:ext cx="444325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8"/>
          <p:cNvSpPr txBox="1"/>
          <p:nvPr/>
        </p:nvSpPr>
        <p:spPr>
          <a:xfrm>
            <a:off x="311700" y="906225"/>
            <a:ext cx="133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Pasul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292" name="Google Shape;292;p39"/>
          <p:cNvSpPr txBox="1"/>
          <p:nvPr>
            <p:ph idx="1" type="body"/>
          </p:nvPr>
        </p:nvSpPr>
        <p:spPr>
          <a:xfrm>
            <a:off x="311700" y="906225"/>
            <a:ext cx="85206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293" name="Google Shape;293;p39"/>
          <p:cNvGrpSpPr/>
          <p:nvPr/>
        </p:nvGrpSpPr>
        <p:grpSpPr>
          <a:xfrm>
            <a:off x="2708400" y="1365588"/>
            <a:ext cx="3857728" cy="3291188"/>
            <a:chOff x="2708400" y="1365588"/>
            <a:chExt cx="3857728" cy="3291188"/>
          </a:xfrm>
        </p:grpSpPr>
        <p:sp>
          <p:nvSpPr>
            <p:cNvPr id="294" name="Google Shape;294;p39"/>
            <p:cNvSpPr/>
            <p:nvPr/>
          </p:nvSpPr>
          <p:spPr>
            <a:xfrm>
              <a:off x="2708400" y="2571750"/>
              <a:ext cx="522000" cy="4992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9"/>
            <p:cNvSpPr/>
            <p:nvPr/>
          </p:nvSpPr>
          <p:spPr>
            <a:xfrm>
              <a:off x="4347653" y="1365588"/>
              <a:ext cx="522000" cy="4599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9"/>
            <p:cNvSpPr/>
            <p:nvPr/>
          </p:nvSpPr>
          <p:spPr>
            <a:xfrm>
              <a:off x="5792025" y="1959775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9"/>
            <p:cNvSpPr/>
            <p:nvPr/>
          </p:nvSpPr>
          <p:spPr>
            <a:xfrm>
              <a:off x="2708400" y="3642400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9"/>
            <p:cNvSpPr/>
            <p:nvPr/>
          </p:nvSpPr>
          <p:spPr>
            <a:xfrm>
              <a:off x="6044128" y="2990575"/>
              <a:ext cx="522000" cy="4599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9"/>
            <p:cNvSpPr/>
            <p:nvPr/>
          </p:nvSpPr>
          <p:spPr>
            <a:xfrm>
              <a:off x="4028150" y="2487825"/>
              <a:ext cx="522000" cy="4992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9"/>
            <p:cNvSpPr/>
            <p:nvPr/>
          </p:nvSpPr>
          <p:spPr>
            <a:xfrm>
              <a:off x="4217703" y="4176475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9"/>
            <p:cNvSpPr/>
            <p:nvPr/>
          </p:nvSpPr>
          <p:spPr>
            <a:xfrm>
              <a:off x="4739150" y="3183050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2" name="Google Shape;302;p39"/>
            <p:cNvCxnSpPr>
              <a:stCxn id="294" idx="4"/>
              <a:endCxn id="297" idx="0"/>
            </p:cNvCxnSpPr>
            <p:nvPr/>
          </p:nvCxnSpPr>
          <p:spPr>
            <a:xfrm>
              <a:off x="2969400" y="3070950"/>
              <a:ext cx="0" cy="571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" name="Google Shape;303;p39"/>
            <p:cNvCxnSpPr>
              <a:stCxn id="294" idx="7"/>
              <a:endCxn id="295" idx="2"/>
            </p:cNvCxnSpPr>
            <p:nvPr/>
          </p:nvCxnSpPr>
          <p:spPr>
            <a:xfrm flipH="1" rot="10800000">
              <a:off x="3153955" y="1595456"/>
              <a:ext cx="1193700" cy="1049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4" name="Google Shape;304;p39"/>
            <p:cNvCxnSpPr>
              <a:stCxn id="294" idx="6"/>
              <a:endCxn id="299" idx="2"/>
            </p:cNvCxnSpPr>
            <p:nvPr/>
          </p:nvCxnSpPr>
          <p:spPr>
            <a:xfrm flipH="1" rot="10800000">
              <a:off x="3230400" y="2737350"/>
              <a:ext cx="797700" cy="84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5" name="Google Shape;305;p39"/>
            <p:cNvCxnSpPr>
              <a:stCxn id="294" idx="5"/>
              <a:endCxn id="301" idx="2"/>
            </p:cNvCxnSpPr>
            <p:nvPr/>
          </p:nvCxnSpPr>
          <p:spPr>
            <a:xfrm>
              <a:off x="3153955" y="2997844"/>
              <a:ext cx="1585200" cy="425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6" name="Google Shape;306;p39"/>
          <p:cNvSpPr txBox="1"/>
          <p:nvPr/>
        </p:nvSpPr>
        <p:spPr>
          <a:xfrm>
            <a:off x="2372175" y="25228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(4)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39"/>
          <p:cNvSpPr txBox="1"/>
          <p:nvPr/>
        </p:nvSpPr>
        <p:spPr>
          <a:xfrm>
            <a:off x="2326100" y="36768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(2)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9"/>
          <p:cNvSpPr txBox="1"/>
          <p:nvPr/>
        </p:nvSpPr>
        <p:spPr>
          <a:xfrm>
            <a:off x="4644275" y="99585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(4)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39"/>
          <p:cNvSpPr txBox="1"/>
          <p:nvPr/>
        </p:nvSpPr>
        <p:spPr>
          <a:xfrm>
            <a:off x="6172125" y="16679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(2)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39"/>
          <p:cNvSpPr txBox="1"/>
          <p:nvPr/>
        </p:nvSpPr>
        <p:spPr>
          <a:xfrm>
            <a:off x="4485688" y="2291088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(3)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39"/>
          <p:cNvSpPr txBox="1"/>
          <p:nvPr/>
        </p:nvSpPr>
        <p:spPr>
          <a:xfrm>
            <a:off x="5272025" y="3390325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(3)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39"/>
          <p:cNvSpPr txBox="1"/>
          <p:nvPr/>
        </p:nvSpPr>
        <p:spPr>
          <a:xfrm>
            <a:off x="4724400" y="41226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(1)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39"/>
          <p:cNvSpPr txBox="1"/>
          <p:nvPr/>
        </p:nvSpPr>
        <p:spPr>
          <a:xfrm>
            <a:off x="6588025" y="3021025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(1)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4" name="Google Shape;314;p39"/>
          <p:cNvCxnSpPr>
            <a:stCxn id="295" idx="4"/>
            <a:endCxn id="299" idx="0"/>
          </p:cNvCxnSpPr>
          <p:nvPr/>
        </p:nvCxnSpPr>
        <p:spPr>
          <a:xfrm flipH="1">
            <a:off x="4289153" y="1825488"/>
            <a:ext cx="319500" cy="66240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39"/>
          <p:cNvCxnSpPr>
            <a:stCxn id="295" idx="6"/>
            <a:endCxn id="296" idx="1"/>
          </p:cNvCxnSpPr>
          <p:nvPr/>
        </p:nvCxnSpPr>
        <p:spPr>
          <a:xfrm>
            <a:off x="4869653" y="1595538"/>
            <a:ext cx="998700" cy="43470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39"/>
          <p:cNvCxnSpPr>
            <a:stCxn id="295" idx="5"/>
            <a:endCxn id="301" idx="0"/>
          </p:cNvCxnSpPr>
          <p:nvPr/>
        </p:nvCxnSpPr>
        <p:spPr>
          <a:xfrm>
            <a:off x="4793208" y="1758137"/>
            <a:ext cx="207000" cy="142500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39"/>
          <p:cNvCxnSpPr>
            <a:stCxn id="299" idx="5"/>
            <a:endCxn id="301" idx="1"/>
          </p:cNvCxnSpPr>
          <p:nvPr/>
        </p:nvCxnSpPr>
        <p:spPr>
          <a:xfrm>
            <a:off x="4473705" y="2913919"/>
            <a:ext cx="342000" cy="33960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323" name="Google Shape;323;p40"/>
          <p:cNvSpPr txBox="1"/>
          <p:nvPr>
            <p:ph idx="1" type="body"/>
          </p:nvPr>
        </p:nvSpPr>
        <p:spPr>
          <a:xfrm>
            <a:off x="311700" y="906225"/>
            <a:ext cx="85206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s’’’</a:t>
            </a:r>
            <a:r>
              <a:rPr baseline="-25000" lang="en-GB"/>
              <a:t>0</a:t>
            </a:r>
            <a:r>
              <a:rPr lang="en-GB"/>
              <a:t> = {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 1,   1,  1,   1,  0}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</a:t>
            </a:r>
            <a:r>
              <a:rPr baseline="-25000" lang="en-GB"/>
              <a:t>     </a:t>
            </a:r>
            <a:r>
              <a:rPr lang="en-GB"/>
              <a:t>               x</a:t>
            </a:r>
            <a:r>
              <a:rPr baseline="-25000" lang="en-GB"/>
              <a:t>7</a:t>
            </a:r>
            <a:r>
              <a:rPr lang="en-GB"/>
              <a:t>   x</a:t>
            </a:r>
            <a:r>
              <a:rPr baseline="-25000" lang="en-GB"/>
              <a:t>3</a:t>
            </a:r>
            <a:r>
              <a:rPr lang="en-GB"/>
              <a:t>  x</a:t>
            </a:r>
            <a:r>
              <a:rPr baseline="-25000" lang="en-GB"/>
              <a:t>4 </a:t>
            </a:r>
            <a:r>
              <a:rPr lang="en-GB"/>
              <a:t>  x</a:t>
            </a:r>
            <a:r>
              <a:rPr baseline="-25000" lang="en-GB"/>
              <a:t>8</a:t>
            </a:r>
            <a:r>
              <a:rPr lang="en-GB"/>
              <a:t>  x</a:t>
            </a:r>
            <a:r>
              <a:rPr baseline="-25000" lang="en-GB"/>
              <a:t>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Muchii construite: </a:t>
            </a:r>
            <a:r>
              <a:rPr lang="en-GB"/>
              <a:t>x</a:t>
            </a:r>
            <a:r>
              <a:rPr baseline="-25000" lang="en-GB"/>
              <a:t>7</a:t>
            </a:r>
            <a:r>
              <a:rPr lang="en-GB"/>
              <a:t>x</a:t>
            </a:r>
            <a:r>
              <a:rPr baseline="-25000" lang="en-GB"/>
              <a:t>3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Secvența rămasă:</a:t>
            </a:r>
            <a:endParaRPr b="1"/>
          </a:p>
          <a:p>
            <a:pPr indent="457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s’’’’</a:t>
            </a:r>
            <a:r>
              <a:rPr baseline="-25000" lang="en-GB"/>
              <a:t>0</a:t>
            </a:r>
            <a:r>
              <a:rPr lang="en-GB"/>
              <a:t> = {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      0,  1,   1,  0}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</a:t>
            </a:r>
            <a:r>
              <a:rPr baseline="-25000" lang="en-GB"/>
              <a:t>     </a:t>
            </a:r>
            <a:r>
              <a:rPr lang="en-GB"/>
              <a:t>                     x</a:t>
            </a:r>
            <a:r>
              <a:rPr baseline="-25000" lang="en-GB"/>
              <a:t>3</a:t>
            </a:r>
            <a:r>
              <a:rPr lang="en-GB"/>
              <a:t>  x</a:t>
            </a:r>
            <a:r>
              <a:rPr baseline="-25000" lang="en-GB"/>
              <a:t>4 </a:t>
            </a:r>
            <a:r>
              <a:rPr lang="en-GB"/>
              <a:t>  x</a:t>
            </a:r>
            <a:r>
              <a:rPr baseline="-25000" lang="en-GB"/>
              <a:t>8</a:t>
            </a:r>
            <a:r>
              <a:rPr lang="en-GB"/>
              <a:t>  x</a:t>
            </a:r>
            <a:r>
              <a:rPr baseline="-25000" lang="en-GB"/>
              <a:t>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Secvența rămasă ordonată descrescător:</a:t>
            </a:r>
            <a:endParaRPr b="1"/>
          </a:p>
          <a:p>
            <a:pPr indent="457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s’’’’</a:t>
            </a:r>
            <a:r>
              <a:rPr baseline="-25000" lang="en-GB"/>
              <a:t>0</a:t>
            </a:r>
            <a:r>
              <a:rPr lang="en-GB"/>
              <a:t> = {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      1,  1,   0,  0}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etichete vârfuri 		</a:t>
            </a:r>
            <a:r>
              <a:rPr baseline="-25000" lang="en-GB"/>
              <a:t>     </a:t>
            </a:r>
            <a:r>
              <a:rPr lang="en-GB"/>
              <a:t>                    x</a:t>
            </a:r>
            <a:r>
              <a:rPr baseline="-25000" lang="en-GB"/>
              <a:t>4</a:t>
            </a:r>
            <a:r>
              <a:rPr lang="en-GB"/>
              <a:t>  x</a:t>
            </a:r>
            <a:r>
              <a:rPr baseline="-25000" lang="en-GB"/>
              <a:t>8 </a:t>
            </a:r>
            <a:r>
              <a:rPr lang="en-GB"/>
              <a:t>  x</a:t>
            </a:r>
            <a:r>
              <a:rPr baseline="-25000" lang="en-GB"/>
              <a:t>3</a:t>
            </a:r>
            <a:r>
              <a:rPr lang="en-GB"/>
              <a:t>  x</a:t>
            </a:r>
            <a:r>
              <a:rPr baseline="-25000" lang="en-GB"/>
              <a:t>5</a:t>
            </a:r>
            <a:endParaRPr b="1"/>
          </a:p>
        </p:txBody>
      </p:sp>
      <p:sp>
        <p:nvSpPr>
          <p:cNvPr id="324" name="Google Shape;324;p40"/>
          <p:cNvSpPr/>
          <p:nvPr/>
        </p:nvSpPr>
        <p:spPr>
          <a:xfrm>
            <a:off x="3717625" y="1686875"/>
            <a:ext cx="444325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0"/>
          <p:cNvSpPr txBox="1"/>
          <p:nvPr/>
        </p:nvSpPr>
        <p:spPr>
          <a:xfrm>
            <a:off x="311700" y="906225"/>
            <a:ext cx="143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Pasul 4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331" name="Google Shape;331;p41"/>
          <p:cNvSpPr txBox="1"/>
          <p:nvPr>
            <p:ph idx="1" type="body"/>
          </p:nvPr>
        </p:nvSpPr>
        <p:spPr>
          <a:xfrm>
            <a:off x="311700" y="906225"/>
            <a:ext cx="85206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332" name="Google Shape;332;p41"/>
          <p:cNvGrpSpPr/>
          <p:nvPr/>
        </p:nvGrpSpPr>
        <p:grpSpPr>
          <a:xfrm>
            <a:off x="2708400" y="1365588"/>
            <a:ext cx="3857728" cy="3291188"/>
            <a:chOff x="2708400" y="1365588"/>
            <a:chExt cx="3857728" cy="3291188"/>
          </a:xfrm>
        </p:grpSpPr>
        <p:sp>
          <p:nvSpPr>
            <p:cNvPr id="333" name="Google Shape;333;p41"/>
            <p:cNvSpPr/>
            <p:nvPr/>
          </p:nvSpPr>
          <p:spPr>
            <a:xfrm>
              <a:off x="2708400" y="2571750"/>
              <a:ext cx="522000" cy="4992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1"/>
            <p:cNvSpPr/>
            <p:nvPr/>
          </p:nvSpPr>
          <p:spPr>
            <a:xfrm>
              <a:off x="4347653" y="1365588"/>
              <a:ext cx="522000" cy="4599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1"/>
            <p:cNvSpPr/>
            <p:nvPr/>
          </p:nvSpPr>
          <p:spPr>
            <a:xfrm>
              <a:off x="5792025" y="1959775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1"/>
            <p:cNvSpPr/>
            <p:nvPr/>
          </p:nvSpPr>
          <p:spPr>
            <a:xfrm>
              <a:off x="2708400" y="3642400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1"/>
            <p:cNvSpPr/>
            <p:nvPr/>
          </p:nvSpPr>
          <p:spPr>
            <a:xfrm>
              <a:off x="6044128" y="2990575"/>
              <a:ext cx="522000" cy="4599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1"/>
            <p:cNvSpPr/>
            <p:nvPr/>
          </p:nvSpPr>
          <p:spPr>
            <a:xfrm>
              <a:off x="4028150" y="2487825"/>
              <a:ext cx="522000" cy="4992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1"/>
            <p:cNvSpPr/>
            <p:nvPr/>
          </p:nvSpPr>
          <p:spPr>
            <a:xfrm>
              <a:off x="4217703" y="4176475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1"/>
            <p:cNvSpPr/>
            <p:nvPr/>
          </p:nvSpPr>
          <p:spPr>
            <a:xfrm>
              <a:off x="4739150" y="3183050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1" name="Google Shape;341;p41"/>
            <p:cNvCxnSpPr>
              <a:stCxn id="333" idx="4"/>
              <a:endCxn id="336" idx="0"/>
            </p:cNvCxnSpPr>
            <p:nvPr/>
          </p:nvCxnSpPr>
          <p:spPr>
            <a:xfrm>
              <a:off x="2969400" y="3070950"/>
              <a:ext cx="0" cy="571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2" name="Google Shape;342;p41"/>
            <p:cNvCxnSpPr>
              <a:stCxn id="333" idx="7"/>
              <a:endCxn id="334" idx="2"/>
            </p:cNvCxnSpPr>
            <p:nvPr/>
          </p:nvCxnSpPr>
          <p:spPr>
            <a:xfrm flipH="1" rot="10800000">
              <a:off x="3153955" y="1595456"/>
              <a:ext cx="1193700" cy="1049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3" name="Google Shape;343;p41"/>
            <p:cNvCxnSpPr>
              <a:stCxn id="333" idx="6"/>
              <a:endCxn id="338" idx="2"/>
            </p:cNvCxnSpPr>
            <p:nvPr/>
          </p:nvCxnSpPr>
          <p:spPr>
            <a:xfrm flipH="1" rot="10800000">
              <a:off x="3230400" y="2737350"/>
              <a:ext cx="797700" cy="84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4" name="Google Shape;344;p41"/>
            <p:cNvCxnSpPr>
              <a:stCxn id="333" idx="5"/>
              <a:endCxn id="340" idx="2"/>
            </p:cNvCxnSpPr>
            <p:nvPr/>
          </p:nvCxnSpPr>
          <p:spPr>
            <a:xfrm>
              <a:off x="3153955" y="2997844"/>
              <a:ext cx="1585200" cy="425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45" name="Google Shape;345;p41"/>
          <p:cNvSpPr txBox="1"/>
          <p:nvPr/>
        </p:nvSpPr>
        <p:spPr>
          <a:xfrm>
            <a:off x="2372175" y="25228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(4)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2326100" y="36768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(2)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41"/>
          <p:cNvSpPr txBox="1"/>
          <p:nvPr/>
        </p:nvSpPr>
        <p:spPr>
          <a:xfrm>
            <a:off x="4644275" y="99585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(4)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41"/>
          <p:cNvSpPr txBox="1"/>
          <p:nvPr/>
        </p:nvSpPr>
        <p:spPr>
          <a:xfrm>
            <a:off x="6172125" y="16679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(2)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41"/>
          <p:cNvSpPr txBox="1"/>
          <p:nvPr/>
        </p:nvSpPr>
        <p:spPr>
          <a:xfrm>
            <a:off x="4485688" y="2291088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(3)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41"/>
          <p:cNvSpPr txBox="1"/>
          <p:nvPr/>
        </p:nvSpPr>
        <p:spPr>
          <a:xfrm>
            <a:off x="5272025" y="3390325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(3)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41"/>
          <p:cNvSpPr txBox="1"/>
          <p:nvPr/>
        </p:nvSpPr>
        <p:spPr>
          <a:xfrm>
            <a:off x="4724400" y="41226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(1)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41"/>
          <p:cNvSpPr txBox="1"/>
          <p:nvPr/>
        </p:nvSpPr>
        <p:spPr>
          <a:xfrm>
            <a:off x="6588025" y="3021025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(1)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3" name="Google Shape;353;p41"/>
          <p:cNvCxnSpPr>
            <a:stCxn id="334" idx="4"/>
            <a:endCxn id="338" idx="0"/>
          </p:cNvCxnSpPr>
          <p:nvPr/>
        </p:nvCxnSpPr>
        <p:spPr>
          <a:xfrm flipH="1">
            <a:off x="4289153" y="1825488"/>
            <a:ext cx="319500" cy="66240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41"/>
          <p:cNvCxnSpPr>
            <a:stCxn id="334" idx="6"/>
            <a:endCxn id="335" idx="1"/>
          </p:cNvCxnSpPr>
          <p:nvPr/>
        </p:nvCxnSpPr>
        <p:spPr>
          <a:xfrm>
            <a:off x="4869653" y="1595538"/>
            <a:ext cx="998700" cy="43470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41"/>
          <p:cNvCxnSpPr>
            <a:stCxn id="334" idx="5"/>
            <a:endCxn id="340" idx="0"/>
          </p:cNvCxnSpPr>
          <p:nvPr/>
        </p:nvCxnSpPr>
        <p:spPr>
          <a:xfrm>
            <a:off x="4793208" y="1758137"/>
            <a:ext cx="207000" cy="142500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41"/>
          <p:cNvCxnSpPr>
            <a:stCxn id="338" idx="5"/>
            <a:endCxn id="340" idx="1"/>
          </p:cNvCxnSpPr>
          <p:nvPr/>
        </p:nvCxnSpPr>
        <p:spPr>
          <a:xfrm>
            <a:off x="4473705" y="2913919"/>
            <a:ext cx="342000" cy="33960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41"/>
          <p:cNvCxnSpPr>
            <a:stCxn id="336" idx="6"/>
            <a:endCxn id="339" idx="2"/>
          </p:cNvCxnSpPr>
          <p:nvPr/>
        </p:nvCxnSpPr>
        <p:spPr>
          <a:xfrm>
            <a:off x="3230400" y="3882550"/>
            <a:ext cx="987300" cy="53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363" name="Google Shape;363;p42"/>
          <p:cNvSpPr txBox="1"/>
          <p:nvPr>
            <p:ph idx="1" type="body"/>
          </p:nvPr>
        </p:nvSpPr>
        <p:spPr>
          <a:xfrm>
            <a:off x="311700" y="906225"/>
            <a:ext cx="85206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s’’’’</a:t>
            </a:r>
            <a:r>
              <a:rPr baseline="-25000" lang="en-GB"/>
              <a:t>0</a:t>
            </a:r>
            <a:r>
              <a:rPr lang="en-GB"/>
              <a:t> = {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      1,  1,   0,  0}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</a:t>
            </a:r>
            <a:r>
              <a:rPr baseline="-25000" lang="en-GB"/>
              <a:t>     </a:t>
            </a:r>
            <a:r>
              <a:rPr lang="en-GB"/>
              <a:t>                     x</a:t>
            </a:r>
            <a:r>
              <a:rPr baseline="-25000" lang="en-GB"/>
              <a:t>4</a:t>
            </a:r>
            <a:r>
              <a:rPr lang="en-GB"/>
              <a:t>  x</a:t>
            </a:r>
            <a:r>
              <a:rPr baseline="-25000" lang="en-GB"/>
              <a:t>8 </a:t>
            </a:r>
            <a:r>
              <a:rPr lang="en-GB"/>
              <a:t>  x</a:t>
            </a:r>
            <a:r>
              <a:rPr baseline="-25000" lang="en-GB"/>
              <a:t>3</a:t>
            </a:r>
            <a:r>
              <a:rPr lang="en-GB"/>
              <a:t>  x</a:t>
            </a:r>
            <a:r>
              <a:rPr baseline="-25000" lang="en-GB"/>
              <a:t>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Muchii construite: </a:t>
            </a:r>
            <a:r>
              <a:rPr lang="en-GB"/>
              <a:t>x</a:t>
            </a:r>
            <a:r>
              <a:rPr baseline="-25000" lang="en-GB"/>
              <a:t>4</a:t>
            </a:r>
            <a:r>
              <a:rPr lang="en-GB"/>
              <a:t>x</a:t>
            </a:r>
            <a:r>
              <a:rPr baseline="-25000" lang="en-GB"/>
              <a:t>8</a:t>
            </a:r>
            <a:endParaRPr baseline="-25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Secvența rămasă:</a:t>
            </a:r>
            <a:endParaRPr b="1"/>
          </a:p>
          <a:p>
            <a:pPr indent="457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s’’’’’</a:t>
            </a:r>
            <a:r>
              <a:rPr baseline="-25000" lang="en-GB"/>
              <a:t>0</a:t>
            </a:r>
            <a:r>
              <a:rPr lang="en-GB"/>
              <a:t> = {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</a:t>
            </a:r>
            <a:r>
              <a:rPr b="1" lang="en-GB">
                <a:solidFill>
                  <a:srgbClr val="FF0000"/>
                </a:solidFill>
              </a:rPr>
              <a:t> </a:t>
            </a:r>
            <a:r>
              <a:rPr lang="en-GB"/>
              <a:t>              0,   0,  0}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etichete vârfuri 		</a:t>
            </a:r>
            <a:r>
              <a:rPr baseline="-25000" lang="en-GB"/>
              <a:t>     </a:t>
            </a:r>
            <a:r>
              <a:rPr lang="en-GB"/>
              <a:t>                         x</a:t>
            </a:r>
            <a:r>
              <a:rPr baseline="-25000" lang="en-GB"/>
              <a:t>8 </a:t>
            </a:r>
            <a:r>
              <a:rPr lang="en-GB"/>
              <a:t>  x</a:t>
            </a:r>
            <a:r>
              <a:rPr baseline="-25000" lang="en-GB"/>
              <a:t>3</a:t>
            </a:r>
            <a:r>
              <a:rPr lang="en-GB"/>
              <a:t>  x</a:t>
            </a:r>
            <a:r>
              <a:rPr baseline="-25000" lang="en-GB"/>
              <a:t>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>
                <a:solidFill>
                  <a:srgbClr val="CC0000"/>
                </a:solidFill>
              </a:rPr>
              <a:t>STOP</a:t>
            </a:r>
            <a:endParaRPr b="1">
              <a:solidFill>
                <a:srgbClr val="CC0000"/>
              </a:solidFill>
            </a:endParaRPr>
          </a:p>
        </p:txBody>
      </p:sp>
      <p:sp>
        <p:nvSpPr>
          <p:cNvPr id="364" name="Google Shape;364;p42"/>
          <p:cNvSpPr/>
          <p:nvPr/>
        </p:nvSpPr>
        <p:spPr>
          <a:xfrm>
            <a:off x="4022425" y="1686875"/>
            <a:ext cx="444325" cy="113925"/>
          </a:xfrm>
          <a:custGeom>
            <a:rect b="b" l="l" r="r" t="t"/>
            <a:pathLst>
              <a:path extrusionOk="0" h="4557" w="17773">
                <a:moveTo>
                  <a:pt x="0" y="0"/>
                </a:moveTo>
                <a:cubicBezTo>
                  <a:pt x="1506" y="753"/>
                  <a:pt x="6075" y="4368"/>
                  <a:pt x="9037" y="4519"/>
                </a:cubicBezTo>
                <a:cubicBezTo>
                  <a:pt x="11999" y="4670"/>
                  <a:pt x="16317" y="1507"/>
                  <a:pt x="17773" y="90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2"/>
          <p:cNvSpPr txBox="1"/>
          <p:nvPr/>
        </p:nvSpPr>
        <p:spPr>
          <a:xfrm>
            <a:off x="311700" y="906225"/>
            <a:ext cx="132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Pasul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371" name="Google Shape;371;p43"/>
          <p:cNvSpPr txBox="1"/>
          <p:nvPr>
            <p:ph idx="1" type="body"/>
          </p:nvPr>
        </p:nvSpPr>
        <p:spPr>
          <a:xfrm>
            <a:off x="311700" y="906225"/>
            <a:ext cx="85206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372" name="Google Shape;372;p43"/>
          <p:cNvGrpSpPr/>
          <p:nvPr/>
        </p:nvGrpSpPr>
        <p:grpSpPr>
          <a:xfrm>
            <a:off x="2708400" y="1365588"/>
            <a:ext cx="3857728" cy="3291188"/>
            <a:chOff x="2708400" y="1365588"/>
            <a:chExt cx="3857728" cy="3291188"/>
          </a:xfrm>
        </p:grpSpPr>
        <p:sp>
          <p:nvSpPr>
            <p:cNvPr id="373" name="Google Shape;373;p43"/>
            <p:cNvSpPr/>
            <p:nvPr/>
          </p:nvSpPr>
          <p:spPr>
            <a:xfrm>
              <a:off x="2708400" y="2571750"/>
              <a:ext cx="522000" cy="4992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3"/>
            <p:cNvSpPr/>
            <p:nvPr/>
          </p:nvSpPr>
          <p:spPr>
            <a:xfrm>
              <a:off x="4347653" y="1365588"/>
              <a:ext cx="522000" cy="4599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3"/>
            <p:cNvSpPr/>
            <p:nvPr/>
          </p:nvSpPr>
          <p:spPr>
            <a:xfrm>
              <a:off x="5792025" y="1959775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3"/>
            <p:cNvSpPr/>
            <p:nvPr/>
          </p:nvSpPr>
          <p:spPr>
            <a:xfrm>
              <a:off x="2708400" y="3642400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3"/>
            <p:cNvSpPr/>
            <p:nvPr/>
          </p:nvSpPr>
          <p:spPr>
            <a:xfrm>
              <a:off x="6044128" y="2990575"/>
              <a:ext cx="522000" cy="4599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3"/>
            <p:cNvSpPr/>
            <p:nvPr/>
          </p:nvSpPr>
          <p:spPr>
            <a:xfrm>
              <a:off x="4028150" y="2487825"/>
              <a:ext cx="522000" cy="4992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3"/>
            <p:cNvSpPr/>
            <p:nvPr/>
          </p:nvSpPr>
          <p:spPr>
            <a:xfrm>
              <a:off x="4217703" y="4176475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3"/>
            <p:cNvSpPr/>
            <p:nvPr/>
          </p:nvSpPr>
          <p:spPr>
            <a:xfrm>
              <a:off x="4739150" y="3183050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1" name="Google Shape;381;p43"/>
            <p:cNvCxnSpPr>
              <a:stCxn id="373" idx="4"/>
              <a:endCxn id="376" idx="0"/>
            </p:cNvCxnSpPr>
            <p:nvPr/>
          </p:nvCxnSpPr>
          <p:spPr>
            <a:xfrm>
              <a:off x="2969400" y="3070950"/>
              <a:ext cx="0" cy="571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2" name="Google Shape;382;p43"/>
            <p:cNvCxnSpPr>
              <a:stCxn id="373" idx="7"/>
              <a:endCxn id="374" idx="2"/>
            </p:cNvCxnSpPr>
            <p:nvPr/>
          </p:nvCxnSpPr>
          <p:spPr>
            <a:xfrm flipH="1" rot="10800000">
              <a:off x="3153955" y="1595456"/>
              <a:ext cx="1193700" cy="1049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3" name="Google Shape;383;p43"/>
            <p:cNvCxnSpPr>
              <a:stCxn id="373" idx="6"/>
              <a:endCxn id="378" idx="2"/>
            </p:cNvCxnSpPr>
            <p:nvPr/>
          </p:nvCxnSpPr>
          <p:spPr>
            <a:xfrm flipH="1" rot="10800000">
              <a:off x="3230400" y="2737350"/>
              <a:ext cx="797700" cy="84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4" name="Google Shape;384;p43"/>
            <p:cNvCxnSpPr>
              <a:stCxn id="373" idx="5"/>
              <a:endCxn id="380" idx="2"/>
            </p:cNvCxnSpPr>
            <p:nvPr/>
          </p:nvCxnSpPr>
          <p:spPr>
            <a:xfrm>
              <a:off x="3153955" y="2997844"/>
              <a:ext cx="1585200" cy="425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85" name="Google Shape;385;p43"/>
          <p:cNvSpPr txBox="1"/>
          <p:nvPr/>
        </p:nvSpPr>
        <p:spPr>
          <a:xfrm>
            <a:off x="2372175" y="25228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(4)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43"/>
          <p:cNvSpPr txBox="1"/>
          <p:nvPr/>
        </p:nvSpPr>
        <p:spPr>
          <a:xfrm>
            <a:off x="2326100" y="36768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(2)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43"/>
          <p:cNvSpPr txBox="1"/>
          <p:nvPr/>
        </p:nvSpPr>
        <p:spPr>
          <a:xfrm>
            <a:off x="4644275" y="99585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(4)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43"/>
          <p:cNvSpPr txBox="1"/>
          <p:nvPr/>
        </p:nvSpPr>
        <p:spPr>
          <a:xfrm>
            <a:off x="6172125" y="16679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(2)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43"/>
          <p:cNvSpPr txBox="1"/>
          <p:nvPr/>
        </p:nvSpPr>
        <p:spPr>
          <a:xfrm>
            <a:off x="4485688" y="2291088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(3)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43"/>
          <p:cNvSpPr txBox="1"/>
          <p:nvPr/>
        </p:nvSpPr>
        <p:spPr>
          <a:xfrm>
            <a:off x="5272025" y="3390325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(3)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43"/>
          <p:cNvSpPr txBox="1"/>
          <p:nvPr/>
        </p:nvSpPr>
        <p:spPr>
          <a:xfrm>
            <a:off x="4724400" y="41226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(1)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43"/>
          <p:cNvSpPr txBox="1"/>
          <p:nvPr/>
        </p:nvSpPr>
        <p:spPr>
          <a:xfrm>
            <a:off x="6588025" y="3021025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(1)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3" name="Google Shape;393;p43"/>
          <p:cNvCxnSpPr>
            <a:stCxn id="374" idx="4"/>
            <a:endCxn id="378" idx="0"/>
          </p:cNvCxnSpPr>
          <p:nvPr/>
        </p:nvCxnSpPr>
        <p:spPr>
          <a:xfrm flipH="1">
            <a:off x="4289153" y="1825488"/>
            <a:ext cx="319500" cy="66240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43"/>
          <p:cNvCxnSpPr>
            <a:stCxn id="374" idx="6"/>
            <a:endCxn id="375" idx="1"/>
          </p:cNvCxnSpPr>
          <p:nvPr/>
        </p:nvCxnSpPr>
        <p:spPr>
          <a:xfrm>
            <a:off x="4869653" y="1595538"/>
            <a:ext cx="998700" cy="43470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43"/>
          <p:cNvCxnSpPr>
            <a:stCxn id="374" idx="5"/>
            <a:endCxn id="380" idx="0"/>
          </p:cNvCxnSpPr>
          <p:nvPr/>
        </p:nvCxnSpPr>
        <p:spPr>
          <a:xfrm>
            <a:off x="4793208" y="1758137"/>
            <a:ext cx="207000" cy="142500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43"/>
          <p:cNvCxnSpPr>
            <a:stCxn id="378" idx="5"/>
            <a:endCxn id="380" idx="1"/>
          </p:cNvCxnSpPr>
          <p:nvPr/>
        </p:nvCxnSpPr>
        <p:spPr>
          <a:xfrm>
            <a:off x="4473705" y="2913919"/>
            <a:ext cx="342000" cy="33960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43"/>
          <p:cNvCxnSpPr>
            <a:stCxn id="376" idx="6"/>
            <a:endCxn id="379" idx="2"/>
          </p:cNvCxnSpPr>
          <p:nvPr/>
        </p:nvCxnSpPr>
        <p:spPr>
          <a:xfrm>
            <a:off x="3230400" y="3882550"/>
            <a:ext cx="987300" cy="5340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43"/>
          <p:cNvCxnSpPr>
            <a:stCxn id="375" idx="5"/>
            <a:endCxn id="377" idx="0"/>
          </p:cNvCxnSpPr>
          <p:nvPr/>
        </p:nvCxnSpPr>
        <p:spPr>
          <a:xfrm>
            <a:off x="6237580" y="2369737"/>
            <a:ext cx="67500" cy="620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algoritm Havel-Hakimi</a:t>
            </a:r>
            <a:endParaRPr/>
          </a:p>
        </p:txBody>
      </p:sp>
      <p:sp>
        <p:nvSpPr>
          <p:cNvPr id="404" name="Google Shape;404;p44"/>
          <p:cNvSpPr txBox="1"/>
          <p:nvPr>
            <p:ph idx="1" type="body"/>
          </p:nvPr>
        </p:nvSpPr>
        <p:spPr>
          <a:xfrm>
            <a:off x="311700" y="906225"/>
            <a:ext cx="85206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405" name="Google Shape;405;p44"/>
          <p:cNvGrpSpPr/>
          <p:nvPr/>
        </p:nvGrpSpPr>
        <p:grpSpPr>
          <a:xfrm>
            <a:off x="2708400" y="1365588"/>
            <a:ext cx="3857728" cy="3291188"/>
            <a:chOff x="2708400" y="1365588"/>
            <a:chExt cx="3857728" cy="3291188"/>
          </a:xfrm>
        </p:grpSpPr>
        <p:sp>
          <p:nvSpPr>
            <p:cNvPr id="406" name="Google Shape;406;p44"/>
            <p:cNvSpPr/>
            <p:nvPr/>
          </p:nvSpPr>
          <p:spPr>
            <a:xfrm>
              <a:off x="2708400" y="2571750"/>
              <a:ext cx="522000" cy="4992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4"/>
            <p:cNvSpPr/>
            <p:nvPr/>
          </p:nvSpPr>
          <p:spPr>
            <a:xfrm>
              <a:off x="4347653" y="1365588"/>
              <a:ext cx="522000" cy="4599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4"/>
            <p:cNvSpPr/>
            <p:nvPr/>
          </p:nvSpPr>
          <p:spPr>
            <a:xfrm>
              <a:off x="5792025" y="1959775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4"/>
            <p:cNvSpPr/>
            <p:nvPr/>
          </p:nvSpPr>
          <p:spPr>
            <a:xfrm>
              <a:off x="2708400" y="3642400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4"/>
            <p:cNvSpPr/>
            <p:nvPr/>
          </p:nvSpPr>
          <p:spPr>
            <a:xfrm>
              <a:off x="6044128" y="2990575"/>
              <a:ext cx="522000" cy="4599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4"/>
            <p:cNvSpPr/>
            <p:nvPr/>
          </p:nvSpPr>
          <p:spPr>
            <a:xfrm>
              <a:off x="4028150" y="2487825"/>
              <a:ext cx="522000" cy="4992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4"/>
            <p:cNvSpPr/>
            <p:nvPr/>
          </p:nvSpPr>
          <p:spPr>
            <a:xfrm>
              <a:off x="4217703" y="4176475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4"/>
            <p:cNvSpPr/>
            <p:nvPr/>
          </p:nvSpPr>
          <p:spPr>
            <a:xfrm>
              <a:off x="4739150" y="3183050"/>
              <a:ext cx="522000" cy="480300"/>
            </a:xfrm>
            <a:prstGeom prst="ellipse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GB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baseline="-2500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4" name="Google Shape;414;p44"/>
            <p:cNvCxnSpPr>
              <a:stCxn id="406" idx="4"/>
              <a:endCxn id="409" idx="0"/>
            </p:cNvCxnSpPr>
            <p:nvPr/>
          </p:nvCxnSpPr>
          <p:spPr>
            <a:xfrm>
              <a:off x="2969400" y="3070950"/>
              <a:ext cx="0" cy="571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5" name="Google Shape;415;p44"/>
            <p:cNvCxnSpPr>
              <a:stCxn id="406" idx="7"/>
              <a:endCxn id="407" idx="2"/>
            </p:cNvCxnSpPr>
            <p:nvPr/>
          </p:nvCxnSpPr>
          <p:spPr>
            <a:xfrm flipH="1" rot="10800000">
              <a:off x="3153955" y="1595456"/>
              <a:ext cx="1193700" cy="1049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44"/>
            <p:cNvCxnSpPr>
              <a:stCxn id="406" idx="6"/>
              <a:endCxn id="411" idx="2"/>
            </p:cNvCxnSpPr>
            <p:nvPr/>
          </p:nvCxnSpPr>
          <p:spPr>
            <a:xfrm flipH="1" rot="10800000">
              <a:off x="3230400" y="2737350"/>
              <a:ext cx="797700" cy="84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p44"/>
            <p:cNvCxnSpPr>
              <a:stCxn id="406" idx="5"/>
              <a:endCxn id="413" idx="2"/>
            </p:cNvCxnSpPr>
            <p:nvPr/>
          </p:nvCxnSpPr>
          <p:spPr>
            <a:xfrm>
              <a:off x="3153955" y="2997844"/>
              <a:ext cx="1585200" cy="425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8" name="Google Shape;418;p44"/>
          <p:cNvSpPr txBox="1"/>
          <p:nvPr/>
        </p:nvSpPr>
        <p:spPr>
          <a:xfrm>
            <a:off x="2372175" y="25228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(4)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44"/>
          <p:cNvSpPr txBox="1"/>
          <p:nvPr/>
        </p:nvSpPr>
        <p:spPr>
          <a:xfrm>
            <a:off x="2326100" y="36768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(2)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44"/>
          <p:cNvSpPr txBox="1"/>
          <p:nvPr/>
        </p:nvSpPr>
        <p:spPr>
          <a:xfrm>
            <a:off x="4644275" y="99585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(4)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44"/>
          <p:cNvSpPr txBox="1"/>
          <p:nvPr/>
        </p:nvSpPr>
        <p:spPr>
          <a:xfrm>
            <a:off x="6172125" y="16679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(2)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44"/>
          <p:cNvSpPr txBox="1"/>
          <p:nvPr/>
        </p:nvSpPr>
        <p:spPr>
          <a:xfrm>
            <a:off x="4485688" y="2291088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(3)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44"/>
          <p:cNvSpPr txBox="1"/>
          <p:nvPr/>
        </p:nvSpPr>
        <p:spPr>
          <a:xfrm>
            <a:off x="5272025" y="3390325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(3)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44"/>
          <p:cNvSpPr txBox="1"/>
          <p:nvPr/>
        </p:nvSpPr>
        <p:spPr>
          <a:xfrm>
            <a:off x="4724400" y="4122600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(1)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44"/>
          <p:cNvSpPr txBox="1"/>
          <p:nvPr/>
        </p:nvSpPr>
        <p:spPr>
          <a:xfrm>
            <a:off x="6588025" y="3021025"/>
            <a:ext cx="4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(1)</a:t>
            </a:r>
            <a:endParaRPr b="0"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" name="Google Shape;426;p44"/>
          <p:cNvCxnSpPr>
            <a:stCxn id="407" idx="4"/>
            <a:endCxn id="411" idx="0"/>
          </p:cNvCxnSpPr>
          <p:nvPr/>
        </p:nvCxnSpPr>
        <p:spPr>
          <a:xfrm flipH="1">
            <a:off x="4289153" y="1825488"/>
            <a:ext cx="319500" cy="662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44"/>
          <p:cNvCxnSpPr>
            <a:stCxn id="407" idx="6"/>
            <a:endCxn id="408" idx="1"/>
          </p:cNvCxnSpPr>
          <p:nvPr/>
        </p:nvCxnSpPr>
        <p:spPr>
          <a:xfrm>
            <a:off x="4869653" y="1595538"/>
            <a:ext cx="998700" cy="434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44"/>
          <p:cNvCxnSpPr>
            <a:stCxn id="407" idx="5"/>
            <a:endCxn id="413" idx="0"/>
          </p:cNvCxnSpPr>
          <p:nvPr/>
        </p:nvCxnSpPr>
        <p:spPr>
          <a:xfrm>
            <a:off x="4793208" y="1758137"/>
            <a:ext cx="207000" cy="1425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44"/>
          <p:cNvCxnSpPr>
            <a:stCxn id="411" idx="5"/>
            <a:endCxn id="413" idx="1"/>
          </p:cNvCxnSpPr>
          <p:nvPr/>
        </p:nvCxnSpPr>
        <p:spPr>
          <a:xfrm>
            <a:off x="4473705" y="2913919"/>
            <a:ext cx="342000" cy="339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44"/>
          <p:cNvCxnSpPr>
            <a:stCxn id="409" idx="6"/>
            <a:endCxn id="412" idx="2"/>
          </p:cNvCxnSpPr>
          <p:nvPr/>
        </p:nvCxnSpPr>
        <p:spPr>
          <a:xfrm>
            <a:off x="3230400" y="3882550"/>
            <a:ext cx="987300" cy="534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44"/>
          <p:cNvCxnSpPr>
            <a:stCxn id="408" idx="5"/>
            <a:endCxn id="410" idx="0"/>
          </p:cNvCxnSpPr>
          <p:nvPr/>
        </p:nvCxnSpPr>
        <p:spPr>
          <a:xfrm>
            <a:off x="6237580" y="2369737"/>
            <a:ext cx="67500" cy="620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</a:t>
            </a:r>
            <a:endParaRPr/>
          </a:p>
        </p:txBody>
      </p:sp>
      <p:sp>
        <p:nvSpPr>
          <p:cNvPr id="437" name="Google Shape;437;p4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Dacă d</a:t>
            </a:r>
            <a:r>
              <a:rPr baseline="-25000" lang="en-GB"/>
              <a:t>1</a:t>
            </a:r>
            <a:r>
              <a:rPr lang="en-GB"/>
              <a:t> + … + d</a:t>
            </a:r>
            <a:r>
              <a:rPr baseline="-25000" lang="en-GB"/>
              <a:t>n</a:t>
            </a:r>
            <a:r>
              <a:rPr lang="en-GB"/>
              <a:t> este impar sau există în s</a:t>
            </a:r>
            <a:r>
              <a:rPr baseline="-25000" lang="en-GB"/>
              <a:t>0</a:t>
            </a:r>
            <a:r>
              <a:rPr lang="en-GB"/>
              <a:t> un d</a:t>
            </a:r>
            <a:r>
              <a:rPr baseline="-25000" lang="en-GB"/>
              <a:t>i</a:t>
            </a:r>
            <a:r>
              <a:rPr lang="en-GB"/>
              <a:t> &gt; n-1, atunci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scrie NU, STOP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</a:t>
            </a:r>
            <a:endParaRPr/>
          </a:p>
        </p:txBody>
      </p:sp>
      <p:sp>
        <p:nvSpPr>
          <p:cNvPr id="443" name="Google Shape;443;p4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Dacă d</a:t>
            </a:r>
            <a:r>
              <a:rPr baseline="-25000" lang="en-GB"/>
              <a:t>1</a:t>
            </a:r>
            <a:r>
              <a:rPr lang="en-GB"/>
              <a:t> + … + d</a:t>
            </a:r>
            <a:r>
              <a:rPr baseline="-25000" lang="en-GB"/>
              <a:t>n</a:t>
            </a:r>
            <a:r>
              <a:rPr lang="en-GB"/>
              <a:t> este impar sau există în s</a:t>
            </a:r>
            <a:r>
              <a:rPr baseline="-25000" lang="en-GB"/>
              <a:t>0</a:t>
            </a:r>
            <a:r>
              <a:rPr lang="en-GB"/>
              <a:t> un d</a:t>
            </a:r>
            <a:r>
              <a:rPr baseline="-25000" lang="en-GB"/>
              <a:t>i</a:t>
            </a:r>
            <a:r>
              <a:rPr lang="en-GB"/>
              <a:t> &gt; n-1, atunci 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</a:t>
            </a:r>
            <a:r>
              <a:rPr lang="en-GB"/>
              <a:t>s</a:t>
            </a:r>
            <a:r>
              <a:rPr lang="en-GB"/>
              <a:t>crie NU, STOP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Cât timp s</a:t>
            </a:r>
            <a:r>
              <a:rPr baseline="-25000" lang="en-GB"/>
              <a:t>0</a:t>
            </a:r>
            <a:r>
              <a:rPr lang="en-GB"/>
              <a:t> conține valori nenule, execută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alege d</a:t>
            </a:r>
            <a:r>
              <a:rPr baseline="-25000" lang="en-GB" sz="1500"/>
              <a:t>k</a:t>
            </a:r>
            <a:r>
              <a:rPr lang="en-GB" sz="1500"/>
              <a:t> </a:t>
            </a:r>
            <a:r>
              <a:rPr b="1" lang="en-GB" sz="1500"/>
              <a:t>cel mai mare număr din secvența s</a:t>
            </a:r>
            <a:r>
              <a:rPr b="1" baseline="-25000" lang="en-GB" sz="1500"/>
              <a:t>0</a:t>
            </a:r>
            <a:endParaRPr b="1"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elimină d</a:t>
            </a:r>
            <a:r>
              <a:rPr baseline="-25000" lang="en-GB" sz="1500"/>
              <a:t>k</a:t>
            </a:r>
            <a:r>
              <a:rPr lang="en-GB" sz="1500"/>
              <a:t> din s</a:t>
            </a:r>
            <a:r>
              <a:rPr baseline="-25000" lang="en-GB" sz="1500"/>
              <a:t>0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fie d</a:t>
            </a:r>
            <a:r>
              <a:rPr baseline="-25000" lang="en-GB" sz="1500"/>
              <a:t>i1</a:t>
            </a:r>
            <a:r>
              <a:rPr lang="en-GB" sz="1500"/>
              <a:t>, …, d</a:t>
            </a:r>
            <a:r>
              <a:rPr baseline="-25000" lang="en-GB" sz="1500"/>
              <a:t>idk</a:t>
            </a:r>
            <a:r>
              <a:rPr lang="en-GB" sz="1500"/>
              <a:t> </a:t>
            </a:r>
            <a:r>
              <a:rPr b="1" lang="en-GB" sz="1500"/>
              <a:t>cele mai mari d</a:t>
            </a:r>
            <a:r>
              <a:rPr b="1" baseline="-25000" lang="en-GB" sz="1500"/>
              <a:t>k </a:t>
            </a:r>
            <a:r>
              <a:rPr b="1" lang="en-GB" sz="1500"/>
              <a:t>numere</a:t>
            </a:r>
            <a:r>
              <a:rPr lang="en-GB" sz="1500"/>
              <a:t> din s</a:t>
            </a:r>
            <a:r>
              <a:rPr baseline="-25000" lang="en-GB" sz="1500"/>
              <a:t>0</a:t>
            </a:r>
            <a:endParaRPr sz="15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</a:t>
            </a:r>
            <a:endParaRPr/>
          </a:p>
        </p:txBody>
      </p:sp>
      <p:sp>
        <p:nvSpPr>
          <p:cNvPr id="449" name="Google Shape;449;p47"/>
          <p:cNvSpPr txBox="1"/>
          <p:nvPr>
            <p:ph idx="1" type="body"/>
          </p:nvPr>
        </p:nvSpPr>
        <p:spPr>
          <a:xfrm>
            <a:off x="311700" y="906225"/>
            <a:ext cx="8520600" cy="40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GB" sz="1700"/>
              <a:t>Dacă d</a:t>
            </a:r>
            <a:r>
              <a:rPr baseline="-25000" lang="en-GB" sz="1700"/>
              <a:t>1</a:t>
            </a:r>
            <a:r>
              <a:rPr lang="en-GB" sz="1700"/>
              <a:t> + … + d</a:t>
            </a:r>
            <a:r>
              <a:rPr baseline="-25000" lang="en-GB" sz="1700"/>
              <a:t>n</a:t>
            </a:r>
            <a:r>
              <a:rPr lang="en-GB" sz="1700"/>
              <a:t> este impar sau există în s</a:t>
            </a:r>
            <a:r>
              <a:rPr baseline="-25000" lang="en-GB" sz="1700"/>
              <a:t>0</a:t>
            </a:r>
            <a:r>
              <a:rPr lang="en-GB" sz="1700"/>
              <a:t> un d</a:t>
            </a:r>
            <a:r>
              <a:rPr baseline="-25000" lang="en-GB" sz="1700"/>
              <a:t>i</a:t>
            </a:r>
            <a:r>
              <a:rPr lang="en-GB" sz="1700"/>
              <a:t> &gt; n-1, atunci </a:t>
            </a:r>
            <a:endParaRPr sz="17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	scrie NU, STOP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GB" sz="1700"/>
              <a:t>Cât timp s</a:t>
            </a:r>
            <a:r>
              <a:rPr baseline="-25000" lang="en-GB" sz="1700"/>
              <a:t>0</a:t>
            </a:r>
            <a:r>
              <a:rPr lang="en-GB" sz="1700"/>
              <a:t> conține valori nenule, execută</a:t>
            </a:r>
            <a:endParaRPr sz="1700"/>
          </a:p>
          <a:p>
            <a:pPr indent="-3370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8"/>
              <a:buChar char="○"/>
            </a:pPr>
            <a:r>
              <a:rPr lang="en-GB" sz="1708"/>
              <a:t>alege d</a:t>
            </a:r>
            <a:r>
              <a:rPr baseline="-25000" lang="en-GB" sz="1708"/>
              <a:t>k</a:t>
            </a:r>
            <a:r>
              <a:rPr lang="en-GB" sz="1708"/>
              <a:t> </a:t>
            </a:r>
            <a:r>
              <a:rPr b="1" lang="en-GB" sz="1708"/>
              <a:t>cel mai mare număr din secvența s</a:t>
            </a:r>
            <a:r>
              <a:rPr b="1" baseline="-25000" lang="en-GB" sz="1708"/>
              <a:t>0</a:t>
            </a:r>
            <a:endParaRPr b="1" sz="1708"/>
          </a:p>
          <a:p>
            <a:pPr indent="-3370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8"/>
              <a:buChar char="○"/>
            </a:pPr>
            <a:r>
              <a:rPr lang="en-GB" sz="1708"/>
              <a:t>elimină d</a:t>
            </a:r>
            <a:r>
              <a:rPr baseline="-25000" lang="en-GB" sz="1708"/>
              <a:t>k</a:t>
            </a:r>
            <a:r>
              <a:rPr lang="en-GB" sz="1708"/>
              <a:t> din s</a:t>
            </a:r>
            <a:r>
              <a:rPr baseline="-25000" lang="en-GB" sz="1708"/>
              <a:t>0</a:t>
            </a:r>
            <a:endParaRPr sz="1708"/>
          </a:p>
          <a:p>
            <a:pPr indent="-3370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8"/>
              <a:buChar char="○"/>
            </a:pPr>
            <a:r>
              <a:rPr lang="en-GB" sz="1708"/>
              <a:t>fie d</a:t>
            </a:r>
            <a:r>
              <a:rPr baseline="-25000" lang="en-GB" sz="1708"/>
              <a:t>i1</a:t>
            </a:r>
            <a:r>
              <a:rPr lang="en-GB" sz="1708"/>
              <a:t>, …, d</a:t>
            </a:r>
            <a:r>
              <a:rPr baseline="-25000" lang="en-GB" sz="1708"/>
              <a:t>idk</a:t>
            </a:r>
            <a:r>
              <a:rPr lang="en-GB" sz="1708"/>
              <a:t> </a:t>
            </a:r>
            <a:r>
              <a:rPr b="1" lang="en-GB" sz="1708"/>
              <a:t>cele mai mari d</a:t>
            </a:r>
            <a:r>
              <a:rPr b="1" baseline="-25000" lang="en-GB" sz="1708"/>
              <a:t>k </a:t>
            </a:r>
            <a:r>
              <a:rPr b="1" lang="en-GB" sz="1708"/>
              <a:t>numere</a:t>
            </a:r>
            <a:r>
              <a:rPr lang="en-GB" sz="1708"/>
              <a:t> din s</a:t>
            </a:r>
            <a:r>
              <a:rPr baseline="-25000" lang="en-GB" sz="1708"/>
              <a:t>0</a:t>
            </a:r>
            <a:endParaRPr baseline="-25000" sz="1708"/>
          </a:p>
          <a:p>
            <a:pPr indent="-3370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8"/>
              <a:buChar char="○"/>
            </a:pPr>
            <a:r>
              <a:rPr lang="en-GB" sz="1708"/>
              <a:t>pentru j ∈ {i</a:t>
            </a:r>
            <a:r>
              <a:rPr baseline="-25000" lang="en-GB" sz="1708"/>
              <a:t>1</a:t>
            </a:r>
            <a:r>
              <a:rPr lang="en-GB" sz="1708"/>
              <a:t>, …, i</a:t>
            </a:r>
            <a:r>
              <a:rPr baseline="-25000" lang="en-GB" sz="1708"/>
              <a:t>dk</a:t>
            </a:r>
            <a:r>
              <a:rPr lang="en-GB" sz="1708"/>
              <a:t>} execută</a:t>
            </a:r>
            <a:endParaRPr sz="1708"/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GB" sz="1500"/>
              <a:t>adaugă muchia x</a:t>
            </a:r>
            <a:r>
              <a:rPr baseline="-25000" lang="en-GB" sz="1500"/>
              <a:t>k</a:t>
            </a:r>
            <a:r>
              <a:rPr lang="en-GB" sz="1500"/>
              <a:t>x</a:t>
            </a:r>
            <a:r>
              <a:rPr baseline="-25000" lang="en-GB" sz="1500"/>
              <a:t>j</a:t>
            </a:r>
            <a:r>
              <a:rPr lang="en-GB" sz="1500"/>
              <a:t> la G</a:t>
            </a:r>
            <a:endParaRPr sz="1500"/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GB" sz="1500"/>
              <a:t>înlocuiește d</a:t>
            </a:r>
            <a:r>
              <a:rPr baseline="-25000" lang="en-GB" sz="1500"/>
              <a:t>j</a:t>
            </a:r>
            <a:r>
              <a:rPr lang="en-GB" sz="1500"/>
              <a:t> în secvența s</a:t>
            </a:r>
            <a:r>
              <a:rPr baseline="-25000" lang="en-GB" sz="1500"/>
              <a:t>0</a:t>
            </a:r>
            <a:r>
              <a:rPr lang="en-GB" sz="1500"/>
              <a:t> cu </a:t>
            </a:r>
            <a:r>
              <a:rPr b="1" lang="en-GB" sz="1500"/>
              <a:t>d</a:t>
            </a:r>
            <a:r>
              <a:rPr b="1" baseline="-25000" lang="en-GB" sz="1500"/>
              <a:t>j</a:t>
            </a:r>
            <a:r>
              <a:rPr b="1" lang="en-GB" sz="1500"/>
              <a:t>-1</a:t>
            </a:r>
            <a:endParaRPr b="1" sz="1500"/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GB" sz="1500"/>
              <a:t>dacă d</a:t>
            </a:r>
            <a:r>
              <a:rPr baseline="-25000" lang="en-GB" sz="1500"/>
              <a:t>j</a:t>
            </a:r>
            <a:r>
              <a:rPr lang="en-GB" sz="1500"/>
              <a:t>-1 &lt; 0, atunci scrie NU, STOP</a:t>
            </a:r>
            <a:endParaRPr sz="1500"/>
          </a:p>
          <a:p>
            <a:pPr indent="457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/>
            </a:br>
            <a:r>
              <a:rPr lang="en-GB"/>
              <a:t>			</a:t>
            </a:r>
            <a:endParaRPr baseline="-25000" sz="15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</a:t>
            </a:r>
            <a:endParaRPr/>
          </a:p>
        </p:txBody>
      </p:sp>
      <p:sp>
        <p:nvSpPr>
          <p:cNvPr id="455" name="Google Shape;455;p48"/>
          <p:cNvSpPr txBox="1"/>
          <p:nvPr>
            <p:ph idx="1" type="body"/>
          </p:nvPr>
        </p:nvSpPr>
        <p:spPr>
          <a:xfrm>
            <a:off x="311700" y="906225"/>
            <a:ext cx="8520600" cy="40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845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sz="1700"/>
              <a:t>Dacă d</a:t>
            </a:r>
            <a:r>
              <a:rPr baseline="-25000" lang="en-GB" sz="1700"/>
              <a:t>1</a:t>
            </a:r>
            <a:r>
              <a:rPr lang="en-GB" sz="1700"/>
              <a:t> + … + d</a:t>
            </a:r>
            <a:r>
              <a:rPr baseline="-25000" lang="en-GB" sz="1700"/>
              <a:t>n</a:t>
            </a:r>
            <a:r>
              <a:rPr lang="en-GB" sz="1700"/>
              <a:t> este impar sau există în s</a:t>
            </a:r>
            <a:r>
              <a:rPr baseline="-25000" lang="en-GB" sz="1700"/>
              <a:t>0</a:t>
            </a:r>
            <a:r>
              <a:rPr lang="en-GB" sz="1700"/>
              <a:t> un d</a:t>
            </a:r>
            <a:r>
              <a:rPr baseline="-25000" lang="en-GB" sz="1700"/>
              <a:t>i</a:t>
            </a:r>
            <a:r>
              <a:rPr lang="en-GB" sz="1700"/>
              <a:t> &gt; n-1, atunci </a:t>
            </a:r>
            <a:endParaRPr sz="17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	scrie NU, STOP</a:t>
            </a:r>
            <a:endParaRPr sz="1700"/>
          </a:p>
          <a:p>
            <a:pPr indent="-32845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sz="1700"/>
              <a:t>Cât timp s</a:t>
            </a:r>
            <a:r>
              <a:rPr baseline="-25000" lang="en-GB" sz="1700"/>
              <a:t>0</a:t>
            </a:r>
            <a:r>
              <a:rPr lang="en-GB" sz="1700"/>
              <a:t> conține valori nenule, execută</a:t>
            </a:r>
            <a:endParaRPr sz="1700"/>
          </a:p>
          <a:p>
            <a:pPr indent="-3289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1708"/>
              <a:t>alege d</a:t>
            </a:r>
            <a:r>
              <a:rPr baseline="-25000" lang="en-GB" sz="1708"/>
              <a:t>k</a:t>
            </a:r>
            <a:r>
              <a:rPr lang="en-GB" sz="1708"/>
              <a:t> </a:t>
            </a:r>
            <a:r>
              <a:rPr b="1" lang="en-GB" sz="1708"/>
              <a:t>cel mai mare număr din secvența s</a:t>
            </a:r>
            <a:r>
              <a:rPr b="1" baseline="-25000" lang="en-GB" sz="1708"/>
              <a:t>0</a:t>
            </a:r>
            <a:endParaRPr b="1" sz="1708"/>
          </a:p>
          <a:p>
            <a:pPr indent="-3289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1708"/>
              <a:t>elimină d</a:t>
            </a:r>
            <a:r>
              <a:rPr baseline="-25000" lang="en-GB" sz="1708"/>
              <a:t>k</a:t>
            </a:r>
            <a:r>
              <a:rPr lang="en-GB" sz="1708"/>
              <a:t> din s</a:t>
            </a:r>
            <a:r>
              <a:rPr baseline="-25000" lang="en-GB" sz="1708"/>
              <a:t>0</a:t>
            </a:r>
            <a:endParaRPr sz="1708"/>
          </a:p>
          <a:p>
            <a:pPr indent="-3289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1708"/>
              <a:t>fie d</a:t>
            </a:r>
            <a:r>
              <a:rPr baseline="-25000" lang="en-GB" sz="1708"/>
              <a:t>i1</a:t>
            </a:r>
            <a:r>
              <a:rPr lang="en-GB" sz="1708"/>
              <a:t>, …, d</a:t>
            </a:r>
            <a:r>
              <a:rPr baseline="-25000" lang="en-GB" sz="1708"/>
              <a:t>idk</a:t>
            </a:r>
            <a:r>
              <a:rPr lang="en-GB" sz="1708"/>
              <a:t> </a:t>
            </a:r>
            <a:r>
              <a:rPr b="1" lang="en-GB" sz="1708"/>
              <a:t>cele mai mari d</a:t>
            </a:r>
            <a:r>
              <a:rPr b="1" baseline="-25000" lang="en-GB" sz="1708"/>
              <a:t>k </a:t>
            </a:r>
            <a:r>
              <a:rPr b="1" lang="en-GB" sz="1708"/>
              <a:t>numere</a:t>
            </a:r>
            <a:r>
              <a:rPr lang="en-GB" sz="1708"/>
              <a:t> din s</a:t>
            </a:r>
            <a:r>
              <a:rPr baseline="-25000" lang="en-GB" sz="1708"/>
              <a:t>0</a:t>
            </a:r>
            <a:endParaRPr baseline="-25000" sz="1708"/>
          </a:p>
          <a:p>
            <a:pPr indent="-3289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1708"/>
              <a:t>pentru j ∈ {i</a:t>
            </a:r>
            <a:r>
              <a:rPr baseline="-25000" lang="en-GB" sz="1708"/>
              <a:t>1</a:t>
            </a:r>
            <a:r>
              <a:rPr lang="en-GB" sz="1708"/>
              <a:t>, …, i</a:t>
            </a:r>
            <a:r>
              <a:rPr baseline="-25000" lang="en-GB" sz="1708"/>
              <a:t>dk</a:t>
            </a:r>
            <a:r>
              <a:rPr lang="en-GB" sz="1708"/>
              <a:t>} execută</a:t>
            </a:r>
            <a:endParaRPr sz="1708"/>
          </a:p>
          <a:p>
            <a:pPr indent="-316706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GB" sz="1500"/>
              <a:t>adaugă muchia x</a:t>
            </a:r>
            <a:r>
              <a:rPr baseline="-25000" lang="en-GB" sz="1500"/>
              <a:t>k</a:t>
            </a:r>
            <a:r>
              <a:rPr lang="en-GB" sz="1500"/>
              <a:t>x</a:t>
            </a:r>
            <a:r>
              <a:rPr baseline="-25000" lang="en-GB" sz="1500"/>
              <a:t>j</a:t>
            </a:r>
            <a:r>
              <a:rPr lang="en-GB" sz="1500"/>
              <a:t> la G</a:t>
            </a:r>
            <a:endParaRPr sz="1500"/>
          </a:p>
          <a:p>
            <a:pPr indent="-316706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GB" sz="1500"/>
              <a:t>înlocuiește d</a:t>
            </a:r>
            <a:r>
              <a:rPr baseline="-25000" lang="en-GB" sz="1500"/>
              <a:t>j</a:t>
            </a:r>
            <a:r>
              <a:rPr lang="en-GB" sz="1500"/>
              <a:t> în secvența s</a:t>
            </a:r>
            <a:r>
              <a:rPr baseline="-25000" lang="en-GB" sz="1500"/>
              <a:t>0</a:t>
            </a:r>
            <a:r>
              <a:rPr lang="en-GB" sz="1500"/>
              <a:t> cu </a:t>
            </a:r>
            <a:r>
              <a:rPr b="1" lang="en-GB" sz="1500"/>
              <a:t>d</a:t>
            </a:r>
            <a:r>
              <a:rPr b="1" baseline="-25000" lang="en-GB" sz="1500"/>
              <a:t>j</a:t>
            </a:r>
            <a:r>
              <a:rPr b="1" lang="en-GB" sz="1500"/>
              <a:t>-1</a:t>
            </a:r>
            <a:endParaRPr b="1" sz="1500"/>
          </a:p>
          <a:p>
            <a:pPr indent="-316706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GB" sz="1500"/>
              <a:t>dacă d</a:t>
            </a:r>
            <a:r>
              <a:rPr baseline="-25000" lang="en-GB" sz="1500"/>
              <a:t>j</a:t>
            </a:r>
            <a:r>
              <a:rPr lang="en-GB" sz="1500"/>
              <a:t>-1 &lt; 0, atunci scrie NU, STOP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500"/>
              <a:t>Observație</a:t>
            </a:r>
            <a:r>
              <a:rPr lang="en-GB" sz="1500"/>
              <a:t>: Pentru a determina ușor care este cel mai mare număr din secvență și care sunt cele mai mari valori care îi urmează, este util ca pe parcursul algoritmului secvența s</a:t>
            </a:r>
            <a:r>
              <a:rPr baseline="-25000" lang="en-GB" sz="1500"/>
              <a:t>0 </a:t>
            </a:r>
            <a:r>
              <a:rPr lang="en-GB" sz="1500"/>
              <a:t>să fie ordonată descrescător.</a:t>
            </a:r>
            <a:endParaRPr baseline="-25000" sz="1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</a:t>
            </a:r>
            <a:endParaRPr/>
          </a:p>
        </p:txBody>
      </p:sp>
      <p:sp>
        <p:nvSpPr>
          <p:cNvPr id="461" name="Google Shape;461;p49"/>
          <p:cNvSpPr txBox="1"/>
          <p:nvPr>
            <p:ph idx="1" type="body"/>
          </p:nvPr>
        </p:nvSpPr>
        <p:spPr>
          <a:xfrm>
            <a:off x="311700" y="906225"/>
            <a:ext cx="8520600" cy="42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845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sz="1700"/>
              <a:t>Dacă d</a:t>
            </a:r>
            <a:r>
              <a:rPr baseline="-25000" lang="en-GB" sz="1700"/>
              <a:t>1</a:t>
            </a:r>
            <a:r>
              <a:rPr lang="en-GB" sz="1700"/>
              <a:t> + … + d</a:t>
            </a:r>
            <a:r>
              <a:rPr baseline="-25000" lang="en-GB" sz="1700"/>
              <a:t>n</a:t>
            </a:r>
            <a:r>
              <a:rPr lang="en-GB" sz="1700"/>
              <a:t> este impar sau există în s</a:t>
            </a:r>
            <a:r>
              <a:rPr baseline="-25000" lang="en-GB" sz="1700"/>
              <a:t>0</a:t>
            </a:r>
            <a:r>
              <a:rPr lang="en-GB" sz="1700"/>
              <a:t> un d</a:t>
            </a:r>
            <a:r>
              <a:rPr baseline="-25000" lang="en-GB" sz="1700"/>
              <a:t>i</a:t>
            </a:r>
            <a:r>
              <a:rPr lang="en-GB" sz="1700"/>
              <a:t> &gt; n-1, atunci </a:t>
            </a:r>
            <a:endParaRPr sz="17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	scrie NU, STOP</a:t>
            </a:r>
            <a:endParaRPr sz="1700"/>
          </a:p>
          <a:p>
            <a:pPr indent="-32845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sz="1700"/>
              <a:t>Cât timp s</a:t>
            </a:r>
            <a:r>
              <a:rPr baseline="-25000" lang="en-GB" sz="1700"/>
              <a:t>0</a:t>
            </a:r>
            <a:r>
              <a:rPr lang="en-GB" sz="1700"/>
              <a:t> conține valori nenule, execută</a:t>
            </a:r>
            <a:endParaRPr sz="1700"/>
          </a:p>
          <a:p>
            <a:pPr indent="-3289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1708"/>
              <a:t>alege d</a:t>
            </a:r>
            <a:r>
              <a:rPr baseline="-25000" lang="en-GB" sz="1708"/>
              <a:t>k</a:t>
            </a:r>
            <a:r>
              <a:rPr lang="en-GB" sz="1708"/>
              <a:t> </a:t>
            </a:r>
            <a:r>
              <a:rPr b="1" lang="en-GB" sz="1708"/>
              <a:t>cel mai mare număr din secvența s</a:t>
            </a:r>
            <a:r>
              <a:rPr b="1" baseline="-25000" lang="en-GB" sz="1708"/>
              <a:t>0</a:t>
            </a:r>
            <a:endParaRPr b="1" sz="1708"/>
          </a:p>
          <a:p>
            <a:pPr indent="-3289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1708"/>
              <a:t>elimină d</a:t>
            </a:r>
            <a:r>
              <a:rPr baseline="-25000" lang="en-GB" sz="1708"/>
              <a:t>k</a:t>
            </a:r>
            <a:r>
              <a:rPr lang="en-GB" sz="1708"/>
              <a:t> din s</a:t>
            </a:r>
            <a:r>
              <a:rPr baseline="-25000" lang="en-GB" sz="1708"/>
              <a:t>0</a:t>
            </a:r>
            <a:endParaRPr sz="1708"/>
          </a:p>
          <a:p>
            <a:pPr indent="-3289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1708"/>
              <a:t>fie d</a:t>
            </a:r>
            <a:r>
              <a:rPr baseline="-25000" lang="en-GB" sz="1708"/>
              <a:t>i1</a:t>
            </a:r>
            <a:r>
              <a:rPr lang="en-GB" sz="1708"/>
              <a:t>, …, d</a:t>
            </a:r>
            <a:r>
              <a:rPr baseline="-25000" lang="en-GB" sz="1708"/>
              <a:t>idk</a:t>
            </a:r>
            <a:r>
              <a:rPr lang="en-GB" sz="1708"/>
              <a:t> </a:t>
            </a:r>
            <a:r>
              <a:rPr b="1" lang="en-GB" sz="1708"/>
              <a:t>cele mai mari d</a:t>
            </a:r>
            <a:r>
              <a:rPr b="1" baseline="-25000" lang="en-GB" sz="1708"/>
              <a:t>k </a:t>
            </a:r>
            <a:r>
              <a:rPr b="1" lang="en-GB" sz="1708"/>
              <a:t>numere</a:t>
            </a:r>
            <a:r>
              <a:rPr lang="en-GB" sz="1708"/>
              <a:t> din s</a:t>
            </a:r>
            <a:r>
              <a:rPr baseline="-25000" lang="en-GB" sz="1708"/>
              <a:t>0</a:t>
            </a:r>
            <a:endParaRPr baseline="-25000" sz="1708"/>
          </a:p>
          <a:p>
            <a:pPr indent="-3289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1708"/>
              <a:t>pentru j ∈ {i</a:t>
            </a:r>
            <a:r>
              <a:rPr baseline="-25000" lang="en-GB" sz="1708"/>
              <a:t>1</a:t>
            </a:r>
            <a:r>
              <a:rPr lang="en-GB" sz="1708"/>
              <a:t>, …, i</a:t>
            </a:r>
            <a:r>
              <a:rPr baseline="-25000" lang="en-GB" sz="1708"/>
              <a:t>dk</a:t>
            </a:r>
            <a:r>
              <a:rPr lang="en-GB" sz="1708"/>
              <a:t>} execută</a:t>
            </a:r>
            <a:endParaRPr sz="1708"/>
          </a:p>
          <a:p>
            <a:pPr indent="-316706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GB" sz="1500"/>
              <a:t>adaugă muchia x</a:t>
            </a:r>
            <a:r>
              <a:rPr baseline="-25000" lang="en-GB" sz="1500"/>
              <a:t>k</a:t>
            </a:r>
            <a:r>
              <a:rPr lang="en-GB" sz="1500"/>
              <a:t>x</a:t>
            </a:r>
            <a:r>
              <a:rPr baseline="-25000" lang="en-GB" sz="1500"/>
              <a:t>j</a:t>
            </a:r>
            <a:r>
              <a:rPr lang="en-GB" sz="1500"/>
              <a:t> la G</a:t>
            </a:r>
            <a:endParaRPr sz="1500"/>
          </a:p>
          <a:p>
            <a:pPr indent="-316706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GB" sz="1500"/>
              <a:t>înlocuiește d</a:t>
            </a:r>
            <a:r>
              <a:rPr baseline="-25000" lang="en-GB" sz="1500"/>
              <a:t>j</a:t>
            </a:r>
            <a:r>
              <a:rPr lang="en-GB" sz="1500"/>
              <a:t> în secvența s</a:t>
            </a:r>
            <a:r>
              <a:rPr baseline="-25000" lang="en-GB" sz="1500"/>
              <a:t>0</a:t>
            </a:r>
            <a:r>
              <a:rPr lang="en-GB" sz="1500"/>
              <a:t> cu </a:t>
            </a:r>
            <a:r>
              <a:rPr b="1" lang="en-GB" sz="1500"/>
              <a:t>d</a:t>
            </a:r>
            <a:r>
              <a:rPr b="1" baseline="-25000" lang="en-GB" sz="1500"/>
              <a:t>j</a:t>
            </a:r>
            <a:r>
              <a:rPr b="1" lang="en-GB" sz="1500"/>
              <a:t>-1</a:t>
            </a:r>
            <a:endParaRPr b="1" sz="1500"/>
          </a:p>
          <a:p>
            <a:pPr indent="-316706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GB" sz="1500"/>
              <a:t>dacă d</a:t>
            </a:r>
            <a:r>
              <a:rPr baseline="-25000" lang="en-GB" sz="1500"/>
              <a:t>j</a:t>
            </a:r>
            <a:r>
              <a:rPr lang="en-GB" sz="1500"/>
              <a:t>-1 &lt; 0, atunci scrie NU, STOP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/>
              <a:t>Observație</a:t>
            </a:r>
            <a:r>
              <a:rPr lang="en-GB" sz="1500"/>
              <a:t>: Pentru a determina ușor care este cel mai mare număr din secvență și care sunt cele mai mari valori care îi urmează, este util ca pe parcursul algoritmului secvența s</a:t>
            </a:r>
            <a:r>
              <a:rPr baseline="-25000" lang="en-GB" sz="1500"/>
              <a:t>0 </a:t>
            </a:r>
            <a:r>
              <a:rPr lang="en-GB" sz="1500"/>
              <a:t>să fie ordonată descrescător.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/>
              <a:t>							</a:t>
            </a:r>
            <a:r>
              <a:rPr b="1" lang="en-GB" sz="1852"/>
              <a:t>Complexitate?</a:t>
            </a:r>
            <a:endParaRPr b="1" sz="1852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467" name="Google Shape;467;p50"/>
          <p:cNvSpPr txBox="1"/>
          <p:nvPr>
            <p:ph idx="1" type="body"/>
          </p:nvPr>
        </p:nvSpPr>
        <p:spPr>
          <a:xfrm>
            <a:off x="311700" y="906225"/>
            <a:ext cx="85206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Teorema Havel-Hakimi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O secvență de n ≥ 2 numere naturale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</a:t>
            </a:r>
            <a:r>
              <a:rPr b="1" lang="en-GB"/>
              <a:t>s</a:t>
            </a:r>
            <a:r>
              <a:rPr b="1" baseline="-25000" lang="en-GB"/>
              <a:t>0</a:t>
            </a:r>
            <a:r>
              <a:rPr b="1" lang="en-GB"/>
              <a:t> = {d</a:t>
            </a:r>
            <a:r>
              <a:rPr b="1" baseline="-25000" lang="en-GB"/>
              <a:t>1</a:t>
            </a:r>
            <a:r>
              <a:rPr b="1" lang="en-GB"/>
              <a:t> ≥ … ≥ d</a:t>
            </a:r>
            <a:r>
              <a:rPr b="1" baseline="-25000" lang="en-GB"/>
              <a:t>n</a:t>
            </a:r>
            <a:r>
              <a:rPr b="1" lang="en-GB"/>
              <a:t>}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cu </a:t>
            </a:r>
            <a:r>
              <a:rPr b="1" lang="en-GB"/>
              <a:t>d</a:t>
            </a:r>
            <a:r>
              <a:rPr b="1" baseline="-25000" lang="en-GB"/>
              <a:t>1</a:t>
            </a:r>
            <a:r>
              <a:rPr b="1" lang="en-GB"/>
              <a:t> ≤ n-1</a:t>
            </a:r>
            <a:r>
              <a:rPr lang="en-GB"/>
              <a:t> este secvența gradelor unui graf neorientat (cu n vârfuri) ⇔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secvența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</a:t>
            </a:r>
            <a:r>
              <a:rPr b="1" lang="en-GB"/>
              <a:t>s’</a:t>
            </a:r>
            <a:r>
              <a:rPr b="1" baseline="-25000" lang="en-GB"/>
              <a:t>0</a:t>
            </a:r>
            <a:r>
              <a:rPr b="1" lang="en-GB"/>
              <a:t> = {d</a:t>
            </a:r>
            <a:r>
              <a:rPr b="1" baseline="-25000" lang="en-GB"/>
              <a:t>2</a:t>
            </a:r>
            <a:r>
              <a:rPr b="1" lang="en-GB"/>
              <a:t> - 1, …, d</a:t>
            </a:r>
            <a:r>
              <a:rPr b="1" baseline="-25000" lang="en-GB"/>
              <a:t>d1+1</a:t>
            </a:r>
            <a:r>
              <a:rPr b="1" lang="en-GB"/>
              <a:t> - 1, d</a:t>
            </a:r>
            <a:r>
              <a:rPr b="1" baseline="-25000" lang="en-GB"/>
              <a:t>d1+2</a:t>
            </a:r>
            <a:r>
              <a:rPr b="1" lang="en-GB"/>
              <a:t>, …, d</a:t>
            </a:r>
            <a:r>
              <a:rPr b="1" baseline="-25000" lang="en-GB"/>
              <a:t>n</a:t>
            </a:r>
            <a:r>
              <a:rPr b="1" lang="en-GB"/>
              <a:t>}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este secvența gradelor unui graf neorientat (cu n-1 vârfuri).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473" name="Google Shape;473;p51"/>
          <p:cNvSpPr txBox="1"/>
          <p:nvPr>
            <p:ph idx="1" type="body"/>
          </p:nvPr>
        </p:nvSpPr>
        <p:spPr>
          <a:xfrm>
            <a:off x="311700" y="906225"/>
            <a:ext cx="85206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Teorema Havel-Hakimi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O secvență de n ≥ 2 numere naturale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	</a:t>
            </a:r>
            <a:r>
              <a:rPr b="1" lang="en-GB" sz="1500"/>
              <a:t>s</a:t>
            </a:r>
            <a:r>
              <a:rPr b="1" baseline="-25000" lang="en-GB" sz="1500"/>
              <a:t>0</a:t>
            </a:r>
            <a:r>
              <a:rPr b="1" lang="en-GB" sz="1500"/>
              <a:t> = {d</a:t>
            </a:r>
            <a:r>
              <a:rPr b="1" baseline="-25000" lang="en-GB" sz="1500"/>
              <a:t>1</a:t>
            </a:r>
            <a:r>
              <a:rPr b="1" lang="en-GB" sz="1500"/>
              <a:t> ≥ … ≥ d</a:t>
            </a:r>
            <a:r>
              <a:rPr b="1" baseline="-25000" lang="en-GB" sz="1500"/>
              <a:t>n</a:t>
            </a:r>
            <a:r>
              <a:rPr b="1" lang="en-GB" sz="1500"/>
              <a:t>}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cu </a:t>
            </a:r>
            <a:r>
              <a:rPr b="1" lang="en-GB" sz="1500"/>
              <a:t>d</a:t>
            </a:r>
            <a:r>
              <a:rPr b="1" baseline="-25000" lang="en-GB" sz="1500"/>
              <a:t>1</a:t>
            </a:r>
            <a:r>
              <a:rPr b="1" lang="en-GB" sz="1500"/>
              <a:t> ≤ n-1</a:t>
            </a:r>
            <a:r>
              <a:rPr lang="en-GB" sz="1500"/>
              <a:t> este secvența gradelor unui graf neorientat (cu n vârfuri) ⇔ 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secvența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	</a:t>
            </a:r>
            <a:r>
              <a:rPr b="1" lang="en-GB" sz="1500"/>
              <a:t>s’</a:t>
            </a:r>
            <a:r>
              <a:rPr b="1" baseline="-25000" lang="en-GB" sz="1500"/>
              <a:t>0</a:t>
            </a:r>
            <a:r>
              <a:rPr b="1" lang="en-GB" sz="1500"/>
              <a:t> = {d</a:t>
            </a:r>
            <a:r>
              <a:rPr b="1" baseline="-25000" lang="en-GB" sz="1500"/>
              <a:t>2</a:t>
            </a:r>
            <a:r>
              <a:rPr b="1" lang="en-GB" sz="1500"/>
              <a:t> - 1, …, d</a:t>
            </a:r>
            <a:r>
              <a:rPr b="1" baseline="-25000" lang="en-GB" sz="1500"/>
              <a:t>d1+1</a:t>
            </a:r>
            <a:r>
              <a:rPr b="1" lang="en-GB" sz="1500"/>
              <a:t> - 1, d</a:t>
            </a:r>
            <a:r>
              <a:rPr b="1" baseline="-25000" lang="en-GB" sz="1500"/>
              <a:t>d1+2</a:t>
            </a:r>
            <a:r>
              <a:rPr b="1" lang="en-GB" sz="1500"/>
              <a:t>, …, d</a:t>
            </a:r>
            <a:r>
              <a:rPr b="1" baseline="-25000" lang="en-GB" sz="1500"/>
              <a:t>n</a:t>
            </a:r>
            <a:r>
              <a:rPr b="1" lang="en-GB" sz="1500"/>
              <a:t>}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este secvența gradelor unui graf neorientat (cu n-1 vârfuri).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 sz="1500"/>
              <a:t>Observatie:</a:t>
            </a:r>
            <a:r>
              <a:rPr lang="en-GB" sz="1500"/>
              <a:t> Secvența  </a:t>
            </a:r>
            <a:r>
              <a:rPr b="1" lang="en-GB" sz="1500"/>
              <a:t>s’</a:t>
            </a:r>
            <a:r>
              <a:rPr b="1" baseline="-25000" lang="en-GB" sz="1500"/>
              <a:t>0</a:t>
            </a:r>
            <a:r>
              <a:rPr b="1" lang="en-GB" sz="1500"/>
              <a:t> = {d</a:t>
            </a:r>
            <a:r>
              <a:rPr b="1" baseline="-25000" lang="en-GB" sz="1500"/>
              <a:t>2</a:t>
            </a:r>
            <a:r>
              <a:rPr b="1" lang="en-GB" sz="1500"/>
              <a:t> - 1, …, d</a:t>
            </a:r>
            <a:r>
              <a:rPr b="1" baseline="-25000" lang="en-GB" sz="1500"/>
              <a:t>d1+1</a:t>
            </a:r>
            <a:r>
              <a:rPr b="1" lang="en-GB" sz="1500"/>
              <a:t> - 1, d</a:t>
            </a:r>
            <a:r>
              <a:rPr b="1" baseline="-25000" lang="en-GB" sz="1500"/>
              <a:t>d1+2</a:t>
            </a:r>
            <a:r>
              <a:rPr b="1" lang="en-GB" sz="1500"/>
              <a:t>, …, d</a:t>
            </a:r>
            <a:r>
              <a:rPr b="1" baseline="-25000" lang="en-GB" sz="1500"/>
              <a:t>n</a:t>
            </a:r>
            <a:r>
              <a:rPr b="1" lang="en-GB" sz="1500"/>
              <a:t>} </a:t>
            </a:r>
            <a:r>
              <a:rPr lang="en-GB" sz="1500"/>
              <a:t>se obține din s</a:t>
            </a:r>
            <a:r>
              <a:rPr baseline="-25000" lang="en-GB" sz="1500"/>
              <a:t>0</a:t>
            </a:r>
            <a:r>
              <a:rPr lang="en-GB" sz="1500"/>
              <a:t> </a:t>
            </a:r>
            <a:r>
              <a:rPr b="1" lang="en-GB" sz="1500"/>
              <a:t>eliminând primul element (d</a:t>
            </a:r>
            <a:r>
              <a:rPr b="1" baseline="-25000" lang="en-GB" sz="1500"/>
              <a:t>1</a:t>
            </a:r>
            <a:r>
              <a:rPr b="1" lang="en-GB" sz="1500"/>
              <a:t>) </a:t>
            </a:r>
            <a:r>
              <a:rPr lang="en-GB" sz="1500"/>
              <a:t>și scăzând 1 din primele d</a:t>
            </a:r>
            <a:r>
              <a:rPr baseline="-25000" lang="en-GB" sz="1500"/>
              <a:t>1</a:t>
            </a:r>
            <a:r>
              <a:rPr lang="en-GB" sz="1500"/>
              <a:t> elemente rămase – acestea au indicii 2, 3, ..., d</a:t>
            </a:r>
            <a:r>
              <a:rPr baseline="-25000" lang="en-GB" sz="1500"/>
              <a:t>1</a:t>
            </a:r>
            <a:r>
              <a:rPr lang="en-GB" sz="1500"/>
              <a:t>+1.</a:t>
            </a:r>
            <a:endParaRPr sz="15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479" name="Google Shape;479;p52"/>
          <p:cNvSpPr txBox="1"/>
          <p:nvPr>
            <p:ph idx="1" type="body"/>
          </p:nvPr>
        </p:nvSpPr>
        <p:spPr>
          <a:xfrm>
            <a:off x="311700" y="906225"/>
            <a:ext cx="85206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Teorema Havel-Hakimi - Demonstrație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</a:t>
            </a:r>
            <a:r>
              <a:rPr baseline="-25000" lang="en-GB"/>
              <a:t>0</a:t>
            </a:r>
            <a:r>
              <a:rPr lang="en-GB"/>
              <a:t> = {d</a:t>
            </a:r>
            <a:r>
              <a:rPr baseline="-25000" lang="en-GB"/>
              <a:t>1</a:t>
            </a:r>
            <a:r>
              <a:rPr lang="en-GB"/>
              <a:t> ≥ … ≥ d</a:t>
            </a:r>
            <a:r>
              <a:rPr baseline="-25000" lang="en-GB"/>
              <a:t>n</a:t>
            </a:r>
            <a:r>
              <a:rPr lang="en-GB"/>
              <a:t>} 	⇒ 	s’</a:t>
            </a:r>
            <a:r>
              <a:rPr baseline="-25000" lang="en-GB"/>
              <a:t>0</a:t>
            </a:r>
            <a:r>
              <a:rPr lang="en-GB"/>
              <a:t> = {d</a:t>
            </a:r>
            <a:r>
              <a:rPr baseline="-25000" lang="en-GB"/>
              <a:t>2</a:t>
            </a:r>
            <a:r>
              <a:rPr lang="en-GB"/>
              <a:t> - 1, …, d</a:t>
            </a:r>
            <a:r>
              <a:rPr baseline="-25000" lang="en-GB"/>
              <a:t>d1+1</a:t>
            </a:r>
            <a:r>
              <a:rPr lang="en-GB"/>
              <a:t> - 1, d</a:t>
            </a:r>
            <a:r>
              <a:rPr baseline="-25000" lang="en-GB"/>
              <a:t>d1+2</a:t>
            </a:r>
            <a:r>
              <a:rPr lang="en-GB"/>
              <a:t>, …, d</a:t>
            </a:r>
            <a:r>
              <a:rPr baseline="-25000" lang="en-GB"/>
              <a:t>n</a:t>
            </a:r>
            <a:r>
              <a:rPr lang="en-GB"/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G, s(G) = s</a:t>
            </a:r>
            <a:r>
              <a:rPr baseline="-25000" lang="en-GB"/>
              <a:t>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480" name="Google Shape;48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8" y="2351275"/>
            <a:ext cx="2808700" cy="17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486" name="Google Shape;486;p53"/>
          <p:cNvSpPr txBox="1"/>
          <p:nvPr>
            <p:ph idx="1" type="body"/>
          </p:nvPr>
        </p:nvSpPr>
        <p:spPr>
          <a:xfrm>
            <a:off x="311700" y="906225"/>
            <a:ext cx="85206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Teorema Havel-Hakimi - Demonstrație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s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1</a:t>
            </a:r>
            <a:r>
              <a:rPr lang="en-GB" sz="1500"/>
              <a:t> ≥ … ≥ d</a:t>
            </a:r>
            <a:r>
              <a:rPr baseline="-25000" lang="en-GB" sz="1500"/>
              <a:t>n</a:t>
            </a:r>
            <a:r>
              <a:rPr lang="en-GB" sz="1500"/>
              <a:t>} 	⇒ 	s’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2</a:t>
            </a:r>
            <a:r>
              <a:rPr lang="en-GB" sz="1500"/>
              <a:t> - 1, …, d</a:t>
            </a:r>
            <a:r>
              <a:rPr baseline="-25000" lang="en-GB" sz="1500"/>
              <a:t>d1+1</a:t>
            </a:r>
            <a:r>
              <a:rPr lang="en-GB" sz="1500"/>
              <a:t> - 1, d</a:t>
            </a:r>
            <a:r>
              <a:rPr baseline="-25000" lang="en-GB" sz="1500"/>
              <a:t>d1+2</a:t>
            </a:r>
            <a:r>
              <a:rPr lang="en-GB" sz="1500"/>
              <a:t>, …, d</a:t>
            </a:r>
            <a:r>
              <a:rPr baseline="-25000" lang="en-GB" sz="1500"/>
              <a:t>n</a:t>
            </a:r>
            <a:r>
              <a:rPr lang="en-GB" sz="1500"/>
              <a:t>}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G, s(G) = s</a:t>
            </a:r>
            <a:r>
              <a:rPr baseline="-25000" lang="en-GB" sz="1500"/>
              <a:t>0									</a:t>
            </a:r>
            <a:r>
              <a:rPr lang="en-GB" sz="1500"/>
              <a:t>G*, s(G*) = s</a:t>
            </a:r>
            <a:r>
              <a:rPr baseline="-25000" lang="en-GB" sz="1500"/>
              <a:t>0</a:t>
            </a:r>
            <a:br>
              <a:rPr lang="en-GB" sz="1500"/>
            </a:br>
            <a:r>
              <a:rPr lang="en-GB" sz="1500"/>
              <a:t>											N</a:t>
            </a:r>
            <a:r>
              <a:rPr baseline="-25000" lang="en-GB" sz="1500"/>
              <a:t>G*</a:t>
            </a:r>
            <a:r>
              <a:rPr lang="en-GB" sz="1500"/>
              <a:t>(x</a:t>
            </a:r>
            <a:r>
              <a:rPr baseline="-25000" lang="en-GB" sz="1500"/>
              <a:t>1</a:t>
            </a:r>
            <a:r>
              <a:rPr lang="en-GB" sz="1500"/>
              <a:t>) = {x</a:t>
            </a:r>
            <a:r>
              <a:rPr baseline="-25000" lang="en-GB" sz="1500"/>
              <a:t>2</a:t>
            </a:r>
            <a:r>
              <a:rPr lang="en-GB" sz="1500"/>
              <a:t>, …, x</a:t>
            </a:r>
            <a:r>
              <a:rPr baseline="-25000" lang="en-GB" sz="1500"/>
              <a:t>d1+1</a:t>
            </a:r>
            <a:r>
              <a:rPr lang="en-GB" sz="1500"/>
              <a:t>}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sz="1500"/>
          </a:p>
        </p:txBody>
      </p:sp>
      <p:pic>
        <p:nvPicPr>
          <p:cNvPr id="487" name="Google Shape;48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8" y="2351275"/>
            <a:ext cx="2808700" cy="17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53"/>
          <p:cNvPicPr preferRelativeResize="0"/>
          <p:nvPr/>
        </p:nvPicPr>
        <p:blipFill rotWithShape="1">
          <a:blip r:embed="rId4">
            <a:alphaModFix/>
          </a:blip>
          <a:srcRect b="0" l="2978" r="0" t="0"/>
          <a:stretch/>
        </p:blipFill>
        <p:spPr>
          <a:xfrm>
            <a:off x="5268350" y="2411525"/>
            <a:ext cx="2861975" cy="119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3"/>
          <p:cNvSpPr txBox="1"/>
          <p:nvPr/>
        </p:nvSpPr>
        <p:spPr>
          <a:xfrm>
            <a:off x="3635525" y="2238150"/>
            <a:ext cx="11646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transformare t pe pătrat</a:t>
            </a:r>
            <a:endParaRPr b="1" i="0" sz="12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5522" y="3801650"/>
            <a:ext cx="1872950" cy="1169668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53"/>
          <p:cNvSpPr/>
          <p:nvPr/>
        </p:nvSpPr>
        <p:spPr>
          <a:xfrm>
            <a:off x="3776321" y="2889749"/>
            <a:ext cx="836100" cy="7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DA2BF"/>
          </a:solidFill>
          <a:ln cap="flat" cmpd="thickThin" w="550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497" name="Google Shape;497;p54"/>
          <p:cNvSpPr txBox="1"/>
          <p:nvPr>
            <p:ph idx="1" type="body"/>
          </p:nvPr>
        </p:nvSpPr>
        <p:spPr>
          <a:xfrm>
            <a:off x="311700" y="906225"/>
            <a:ext cx="85206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Teorema Havel-Hakimi - Demonstrație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s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1</a:t>
            </a:r>
            <a:r>
              <a:rPr lang="en-GB" sz="1500"/>
              <a:t> ≥ … ≥ d</a:t>
            </a:r>
            <a:r>
              <a:rPr baseline="-25000" lang="en-GB" sz="1500"/>
              <a:t>n</a:t>
            </a:r>
            <a:r>
              <a:rPr lang="en-GB" sz="1500"/>
              <a:t>} 	⇒ 	s’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2</a:t>
            </a:r>
            <a:r>
              <a:rPr lang="en-GB" sz="1500"/>
              <a:t> - 1, …, d</a:t>
            </a:r>
            <a:r>
              <a:rPr baseline="-25000" lang="en-GB" sz="1500"/>
              <a:t>d1+1</a:t>
            </a:r>
            <a:r>
              <a:rPr lang="en-GB" sz="1500"/>
              <a:t> - 1, d</a:t>
            </a:r>
            <a:r>
              <a:rPr baseline="-25000" lang="en-GB" sz="1500"/>
              <a:t>d1+2</a:t>
            </a:r>
            <a:r>
              <a:rPr lang="en-GB" sz="1500"/>
              <a:t>, …, d</a:t>
            </a:r>
            <a:r>
              <a:rPr baseline="-25000" lang="en-GB" sz="1500"/>
              <a:t>n</a:t>
            </a:r>
            <a:r>
              <a:rPr lang="en-GB" sz="1500"/>
              <a:t>}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G, s(G) = s</a:t>
            </a:r>
            <a:r>
              <a:rPr baseline="-25000" lang="en-GB" sz="1500"/>
              <a:t>0									</a:t>
            </a:r>
            <a:r>
              <a:rPr lang="en-GB" sz="1500"/>
              <a:t>G*, s(G*) = s</a:t>
            </a:r>
            <a:r>
              <a:rPr baseline="-25000" lang="en-GB" sz="1500"/>
              <a:t>0</a:t>
            </a:r>
            <a:br>
              <a:rPr lang="en-GB" sz="1500"/>
            </a:br>
            <a:r>
              <a:rPr lang="en-GB" sz="1500"/>
              <a:t>											N</a:t>
            </a:r>
            <a:r>
              <a:rPr baseline="-25000" lang="en-GB" sz="1500"/>
              <a:t>G*</a:t>
            </a:r>
            <a:r>
              <a:rPr lang="en-GB" sz="1500"/>
              <a:t>(x</a:t>
            </a:r>
            <a:r>
              <a:rPr baseline="-25000" lang="en-GB" sz="1500"/>
              <a:t>1</a:t>
            </a:r>
            <a:r>
              <a:rPr lang="en-GB" sz="1500"/>
              <a:t>) = {x</a:t>
            </a:r>
            <a:r>
              <a:rPr baseline="-25000" lang="en-GB" sz="1500"/>
              <a:t>2</a:t>
            </a:r>
            <a:r>
              <a:rPr lang="en-GB" sz="1500"/>
              <a:t>, …, x</a:t>
            </a:r>
            <a:r>
              <a:rPr baseline="-25000" lang="en-GB" sz="1500"/>
              <a:t>d1+1</a:t>
            </a:r>
            <a:r>
              <a:rPr lang="en-GB" sz="1500"/>
              <a:t>}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sz="1500"/>
          </a:p>
        </p:txBody>
      </p:sp>
      <p:pic>
        <p:nvPicPr>
          <p:cNvPr id="498" name="Google Shape;49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8" y="2351275"/>
            <a:ext cx="2808700" cy="17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54"/>
          <p:cNvPicPr preferRelativeResize="0"/>
          <p:nvPr/>
        </p:nvPicPr>
        <p:blipFill rotWithShape="1">
          <a:blip r:embed="rId4">
            <a:alphaModFix/>
          </a:blip>
          <a:srcRect b="0" l="2978" r="0" t="0"/>
          <a:stretch/>
        </p:blipFill>
        <p:spPr>
          <a:xfrm>
            <a:off x="5268350" y="2411525"/>
            <a:ext cx="2861975" cy="119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54"/>
          <p:cNvSpPr/>
          <p:nvPr/>
        </p:nvSpPr>
        <p:spPr>
          <a:xfrm>
            <a:off x="3776321" y="2889749"/>
            <a:ext cx="836100" cy="7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DA2BF"/>
          </a:solidFill>
          <a:ln cap="flat" cmpd="thickThin" w="550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501" name="Google Shape;501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8350" y="3743025"/>
            <a:ext cx="2513925" cy="133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54"/>
          <p:cNvSpPr txBox="1"/>
          <p:nvPr/>
        </p:nvSpPr>
        <p:spPr>
          <a:xfrm>
            <a:off x="3635525" y="2238150"/>
            <a:ext cx="11646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transformare t pe pătrat</a:t>
            </a:r>
            <a:endParaRPr b="1" i="0" sz="12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508" name="Google Shape;508;p55"/>
          <p:cNvSpPr txBox="1"/>
          <p:nvPr>
            <p:ph idx="1" type="body"/>
          </p:nvPr>
        </p:nvSpPr>
        <p:spPr>
          <a:xfrm>
            <a:off x="311700" y="906225"/>
            <a:ext cx="85206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Teorema Havel-Hakimi - Demonstrație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s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1</a:t>
            </a:r>
            <a:r>
              <a:rPr lang="en-GB" sz="1500"/>
              <a:t> ≥ … ≥ d</a:t>
            </a:r>
            <a:r>
              <a:rPr baseline="-25000" lang="en-GB" sz="1500"/>
              <a:t>n</a:t>
            </a:r>
            <a:r>
              <a:rPr lang="en-GB" sz="1500"/>
              <a:t>} 	⇐ 	s’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2</a:t>
            </a:r>
            <a:r>
              <a:rPr lang="en-GB" sz="1500"/>
              <a:t> - 1, …, d</a:t>
            </a:r>
            <a:r>
              <a:rPr baseline="-25000" lang="en-GB" sz="1500"/>
              <a:t>d1+1</a:t>
            </a:r>
            <a:r>
              <a:rPr lang="en-GB" sz="1500"/>
              <a:t> - 1, d</a:t>
            </a:r>
            <a:r>
              <a:rPr baseline="-25000" lang="en-GB" sz="1500"/>
              <a:t>d1+2</a:t>
            </a:r>
            <a:r>
              <a:rPr lang="en-GB" sz="1500"/>
              <a:t>, …, d</a:t>
            </a:r>
            <a:r>
              <a:rPr baseline="-25000" lang="en-GB" sz="1500"/>
              <a:t>n</a:t>
            </a:r>
            <a:r>
              <a:rPr lang="en-GB" sz="1500"/>
              <a:t>}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514" name="Google Shape;514;p56"/>
          <p:cNvSpPr txBox="1"/>
          <p:nvPr>
            <p:ph idx="1" type="body"/>
          </p:nvPr>
        </p:nvSpPr>
        <p:spPr>
          <a:xfrm>
            <a:off x="311700" y="906225"/>
            <a:ext cx="85206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Teorema Havel-Hakimi - Demonstrație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s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1</a:t>
            </a:r>
            <a:r>
              <a:rPr lang="en-GB" sz="1500"/>
              <a:t> ≥ … ≥ d</a:t>
            </a:r>
            <a:r>
              <a:rPr baseline="-25000" lang="en-GB" sz="1500"/>
              <a:t>n</a:t>
            </a:r>
            <a:r>
              <a:rPr lang="en-GB" sz="1500"/>
              <a:t>} 	⇐ 	s’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2</a:t>
            </a:r>
            <a:r>
              <a:rPr lang="en-GB" sz="1500"/>
              <a:t> - 1, …, d</a:t>
            </a:r>
            <a:r>
              <a:rPr baseline="-25000" lang="en-GB" sz="1500"/>
              <a:t>d1+1</a:t>
            </a:r>
            <a:r>
              <a:rPr lang="en-GB" sz="1500"/>
              <a:t> - 1, d</a:t>
            </a:r>
            <a:r>
              <a:rPr baseline="-25000" lang="en-GB" sz="1500"/>
              <a:t>d1+2</a:t>
            </a:r>
            <a:r>
              <a:rPr lang="en-GB" sz="1500"/>
              <a:t>, …, d</a:t>
            </a:r>
            <a:r>
              <a:rPr baseline="-25000" lang="en-GB" sz="1500"/>
              <a:t>n</a:t>
            </a:r>
            <a:r>
              <a:rPr lang="en-GB" sz="1500"/>
              <a:t>}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 sz="1500"/>
              <a:t>Fie G’ cu s(G’) = s’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2</a:t>
            </a:r>
            <a:r>
              <a:rPr lang="en-GB" sz="1500"/>
              <a:t> - 1, …, d</a:t>
            </a:r>
            <a:r>
              <a:rPr baseline="-25000" lang="en-GB" sz="1500"/>
              <a:t>d1+1</a:t>
            </a:r>
            <a:r>
              <a:rPr lang="en-GB" sz="1500"/>
              <a:t> - 1, d</a:t>
            </a:r>
            <a:r>
              <a:rPr baseline="-25000" lang="en-GB" sz="1500"/>
              <a:t>d1+2</a:t>
            </a:r>
            <a:r>
              <a:rPr lang="en-GB" sz="1500"/>
              <a:t>, …, d</a:t>
            </a:r>
            <a:r>
              <a:rPr baseline="-25000" lang="en-GB" sz="1500"/>
              <a:t>n</a:t>
            </a:r>
            <a:r>
              <a:rPr lang="en-GB" sz="1500"/>
              <a:t>}</a:t>
            </a:r>
            <a:endParaRPr sz="1500"/>
          </a:p>
        </p:txBody>
      </p:sp>
      <p:pic>
        <p:nvPicPr>
          <p:cNvPr id="515" name="Google Shape;51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713860"/>
            <a:ext cx="2556425" cy="55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521" name="Google Shape;521;p57"/>
          <p:cNvSpPr txBox="1"/>
          <p:nvPr>
            <p:ph idx="1" type="body"/>
          </p:nvPr>
        </p:nvSpPr>
        <p:spPr>
          <a:xfrm>
            <a:off x="311700" y="906225"/>
            <a:ext cx="85206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Teorema Havel-Hakimi - Demonstrație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s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1</a:t>
            </a:r>
            <a:r>
              <a:rPr lang="en-GB" sz="1500"/>
              <a:t> ≥ … ≥ d</a:t>
            </a:r>
            <a:r>
              <a:rPr baseline="-25000" lang="en-GB" sz="1500"/>
              <a:t>n</a:t>
            </a:r>
            <a:r>
              <a:rPr lang="en-GB" sz="1500"/>
              <a:t>} 	⇐ 	s’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2</a:t>
            </a:r>
            <a:r>
              <a:rPr lang="en-GB" sz="1500"/>
              <a:t> - 1, …, d</a:t>
            </a:r>
            <a:r>
              <a:rPr baseline="-25000" lang="en-GB" sz="1500"/>
              <a:t>d1+1</a:t>
            </a:r>
            <a:r>
              <a:rPr lang="en-GB" sz="1500"/>
              <a:t> - 1, d</a:t>
            </a:r>
            <a:r>
              <a:rPr baseline="-25000" lang="en-GB" sz="1500"/>
              <a:t>d1+2</a:t>
            </a:r>
            <a:r>
              <a:rPr lang="en-GB" sz="1500"/>
              <a:t>, …, d</a:t>
            </a:r>
            <a:r>
              <a:rPr baseline="-25000" lang="en-GB" sz="1500"/>
              <a:t>n</a:t>
            </a:r>
            <a:r>
              <a:rPr lang="en-GB" sz="1500"/>
              <a:t>}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 sz="1500"/>
              <a:t>Fie G’ cu s(G’) = s’</a:t>
            </a:r>
            <a:r>
              <a:rPr baseline="-25000" lang="en-GB" sz="1500"/>
              <a:t>0</a:t>
            </a:r>
            <a:r>
              <a:rPr lang="en-GB" sz="1500"/>
              <a:t>								G: V(G) = V(G’) ∪ {x</a:t>
            </a:r>
            <a:r>
              <a:rPr baseline="-25000" lang="en-GB" sz="1500"/>
              <a:t>1</a:t>
            </a:r>
            <a:r>
              <a:rPr lang="en-GB" sz="1500"/>
              <a:t>}</a:t>
            </a:r>
            <a:br>
              <a:rPr lang="en-GB" sz="1500"/>
            </a:br>
            <a:r>
              <a:rPr lang="en-GB" sz="1500"/>
              <a:t>											     E(G) = E(G’) ∪ {x</a:t>
            </a:r>
            <a:r>
              <a:rPr baseline="-25000" lang="en-GB" sz="1500"/>
              <a:t>1</a:t>
            </a:r>
            <a:r>
              <a:rPr lang="en-GB" sz="1500"/>
              <a:t>x</a:t>
            </a:r>
            <a:r>
              <a:rPr baseline="-25000" lang="en-GB" sz="1500"/>
              <a:t>2</a:t>
            </a:r>
            <a:r>
              <a:rPr lang="en-GB" sz="1500"/>
              <a:t>, …, x</a:t>
            </a:r>
            <a:r>
              <a:rPr baseline="-25000" lang="en-GB" sz="1500"/>
              <a:t>1</a:t>
            </a:r>
            <a:r>
              <a:rPr lang="en-GB" sz="1500"/>
              <a:t>x</a:t>
            </a:r>
            <a:r>
              <a:rPr baseline="-25000" lang="en-GB" sz="1500"/>
              <a:t>d1+1</a:t>
            </a:r>
            <a:r>
              <a:rPr lang="en-GB" sz="1500"/>
              <a:t>}</a:t>
            </a:r>
            <a:endParaRPr sz="1500"/>
          </a:p>
        </p:txBody>
      </p:sp>
      <p:pic>
        <p:nvPicPr>
          <p:cNvPr id="522" name="Google Shape;52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713860"/>
            <a:ext cx="25564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1898" y="2571750"/>
            <a:ext cx="2718800" cy="117312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57"/>
          <p:cNvSpPr/>
          <p:nvPr/>
        </p:nvSpPr>
        <p:spPr>
          <a:xfrm>
            <a:off x="3776321" y="2889749"/>
            <a:ext cx="836100" cy="7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DA2BF"/>
          </a:solidFill>
          <a:ln cap="flat" cmpd="thickThin" w="550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25" name="Google Shape;525;p57"/>
          <p:cNvSpPr txBox="1"/>
          <p:nvPr/>
        </p:nvSpPr>
        <p:spPr>
          <a:xfrm>
            <a:off x="3612075" y="3126425"/>
            <a:ext cx="1164600" cy="10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adăugăm un vârf x</a:t>
            </a:r>
            <a:r>
              <a:rPr b="1" baseline="-25000" i="0" lang="en-GB" sz="12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2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pe care îl unim cu x</a:t>
            </a:r>
            <a:r>
              <a:rPr b="1" baseline="-25000" i="0" lang="en-GB" sz="12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GB" sz="12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, …, x</a:t>
            </a:r>
            <a:r>
              <a:rPr b="1" baseline="-25000" i="0" lang="en-GB" sz="12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d1+1</a:t>
            </a:r>
            <a:endParaRPr b="1" i="0" sz="12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57"/>
          <p:cNvSpPr txBox="1"/>
          <p:nvPr/>
        </p:nvSpPr>
        <p:spPr>
          <a:xfrm>
            <a:off x="5982825" y="3865375"/>
            <a:ext cx="1612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Avem s(G) = s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532" name="Google Shape;532;p58"/>
          <p:cNvSpPr txBox="1"/>
          <p:nvPr>
            <p:ph idx="1" type="body"/>
          </p:nvPr>
        </p:nvSpPr>
        <p:spPr>
          <a:xfrm>
            <a:off x="311700" y="906225"/>
            <a:ext cx="85206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Teorema Havel-Hakimi 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 sz="1500"/>
              <a:t>		</a:t>
            </a:r>
            <a:r>
              <a:rPr lang="en-GB" sz="1500"/>
              <a:t>Unde intervine în demonstrație faptul că d</a:t>
            </a:r>
            <a:r>
              <a:rPr baseline="-25000" lang="en-GB" sz="1500"/>
              <a:t>1</a:t>
            </a:r>
            <a:r>
              <a:rPr lang="en-GB" sz="1500"/>
              <a:t> este maxim?</a:t>
            </a:r>
            <a:endParaRPr sz="1500"/>
          </a:p>
        </p:txBody>
      </p:sp>
      <p:pic>
        <p:nvPicPr>
          <p:cNvPr id="533" name="Google Shape;53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7" y="1327975"/>
            <a:ext cx="889950" cy="13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539" name="Google Shape;539;p59"/>
          <p:cNvSpPr txBox="1"/>
          <p:nvPr>
            <p:ph idx="1" type="body"/>
          </p:nvPr>
        </p:nvSpPr>
        <p:spPr>
          <a:xfrm>
            <a:off x="311700" y="906225"/>
            <a:ext cx="85206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Teorema Havel-Hakimi 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		</a:t>
            </a:r>
            <a:r>
              <a:rPr lang="en-GB" sz="1500"/>
              <a:t>Unde intervine în demonstrație faptul că d</a:t>
            </a:r>
            <a:r>
              <a:rPr baseline="-25000" lang="en-GB" sz="1500"/>
              <a:t>1</a:t>
            </a:r>
            <a:r>
              <a:rPr lang="en-GB" sz="1500"/>
              <a:t> este maxim?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			</a:t>
            </a:r>
            <a:r>
              <a:rPr lang="en-GB" sz="1500"/>
              <a:t>Se poate renunța la această ipoteză </a:t>
            </a:r>
            <a:r>
              <a:rPr b="1" lang="en-GB" sz="1500"/>
              <a:t>⇒</a:t>
            </a:r>
            <a:endParaRPr b="1" sz="1500"/>
          </a:p>
          <a:p>
            <a:pPr indent="45720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500" u="sng"/>
              <a:t>Extindere</a:t>
            </a:r>
            <a:r>
              <a:rPr b="1" lang="en-GB" sz="1500"/>
              <a:t> a teoremei Havel-Hakimi</a:t>
            </a:r>
            <a:endParaRPr b="1" sz="1500"/>
          </a:p>
        </p:txBody>
      </p:sp>
      <p:pic>
        <p:nvPicPr>
          <p:cNvPr id="540" name="Google Shape;54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187725"/>
            <a:ext cx="796275" cy="138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546" name="Google Shape;546;p60"/>
          <p:cNvSpPr txBox="1"/>
          <p:nvPr>
            <p:ph idx="1" type="body"/>
          </p:nvPr>
        </p:nvSpPr>
        <p:spPr>
          <a:xfrm>
            <a:off x="311700" y="906225"/>
            <a:ext cx="85206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Teorema Havel-Hakimi 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		</a:t>
            </a:r>
            <a:r>
              <a:rPr lang="en-GB" sz="1500"/>
              <a:t>Unde intervine în demonstrație faptul că d</a:t>
            </a:r>
            <a:r>
              <a:rPr baseline="-25000" lang="en-GB" sz="1500"/>
              <a:t>1</a:t>
            </a:r>
            <a:r>
              <a:rPr lang="en-GB" sz="1500"/>
              <a:t> este maxim?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			</a:t>
            </a:r>
            <a:r>
              <a:rPr lang="en-GB" sz="1500"/>
              <a:t>Se poate renunța la această ipoteză </a:t>
            </a:r>
            <a:r>
              <a:rPr b="1" lang="en-GB" sz="1500"/>
              <a:t>⇒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500" u="sng"/>
              <a:t>Extindere</a:t>
            </a:r>
            <a:r>
              <a:rPr b="1" lang="en-GB" sz="1500"/>
              <a:t> a teoremei Havel-Hakimi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 sz="1500"/>
              <a:t>Fie s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1</a:t>
            </a:r>
            <a:r>
              <a:rPr lang="en-GB" sz="1500"/>
              <a:t>, ..., d</a:t>
            </a:r>
            <a:r>
              <a:rPr baseline="-25000" lang="en-GB" sz="1500"/>
              <a:t>n</a:t>
            </a:r>
            <a:r>
              <a:rPr lang="en-GB" sz="1500"/>
              <a:t>} o secvență de n ≥ 2 numere naturale mai mici sau egale cu n-1 și fie i ∈ {1,..., n} fixat. Fie secvența obținută din s</a:t>
            </a:r>
            <a:r>
              <a:rPr baseline="-25000" lang="en-GB" sz="1500"/>
              <a:t>0</a:t>
            </a:r>
            <a:r>
              <a:rPr lang="en-GB" sz="1500"/>
              <a:t> astfel:</a:t>
            </a:r>
            <a:endParaRPr sz="1500"/>
          </a:p>
        </p:txBody>
      </p:sp>
      <p:pic>
        <p:nvPicPr>
          <p:cNvPr id="547" name="Google Shape;54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187725"/>
            <a:ext cx="796275" cy="138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553" name="Google Shape;553;p61"/>
          <p:cNvSpPr txBox="1"/>
          <p:nvPr>
            <p:ph idx="1" type="body"/>
          </p:nvPr>
        </p:nvSpPr>
        <p:spPr>
          <a:xfrm>
            <a:off x="311700" y="906225"/>
            <a:ext cx="85206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Teorema Havel-Hakimi 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		</a:t>
            </a:r>
            <a:r>
              <a:rPr lang="en-GB" sz="1500"/>
              <a:t>Unde intervine în demonstrație faptul că d</a:t>
            </a:r>
            <a:r>
              <a:rPr baseline="-25000" lang="en-GB" sz="1500"/>
              <a:t>1</a:t>
            </a:r>
            <a:r>
              <a:rPr lang="en-GB" sz="1500"/>
              <a:t> este maxim?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			</a:t>
            </a:r>
            <a:r>
              <a:rPr lang="en-GB" sz="1500"/>
              <a:t>Se poate renunța la această ipoteză </a:t>
            </a:r>
            <a:r>
              <a:rPr b="1" lang="en-GB" sz="1500"/>
              <a:t>⇒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500" u="sng"/>
              <a:t>Extindere</a:t>
            </a:r>
            <a:r>
              <a:rPr b="1" lang="en-GB" sz="1500"/>
              <a:t> a teoremei Havel-Hakimi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Fie s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1</a:t>
            </a:r>
            <a:r>
              <a:rPr lang="en-GB" sz="1500"/>
              <a:t>, ..., d</a:t>
            </a:r>
            <a:r>
              <a:rPr baseline="-25000" lang="en-GB" sz="1500"/>
              <a:t>n</a:t>
            </a:r>
            <a:r>
              <a:rPr lang="en-GB" sz="1500"/>
              <a:t>} o secvență de n ≥ 2 numere naturale mai mici sau egale cu n-1 și fie i ∈ {1,..., n} fixat. Fie secvența obținută din s</a:t>
            </a:r>
            <a:r>
              <a:rPr baseline="-25000" lang="en-GB" sz="1500"/>
              <a:t>0</a:t>
            </a:r>
            <a:r>
              <a:rPr lang="en-GB" sz="1500"/>
              <a:t> astfel:</a:t>
            </a:r>
            <a:endParaRPr sz="1500"/>
          </a:p>
          <a:p>
            <a:pPr indent="-3238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⏵"/>
            </a:pPr>
            <a:r>
              <a:rPr lang="en-GB" sz="1500"/>
              <a:t>eliminăm elementul d</a:t>
            </a:r>
            <a:r>
              <a:rPr baseline="-25000" lang="en-GB" sz="1500"/>
              <a:t>i</a:t>
            </a:r>
            <a:endParaRPr baseline="-25000" sz="1500"/>
          </a:p>
        </p:txBody>
      </p:sp>
      <p:pic>
        <p:nvPicPr>
          <p:cNvPr id="554" name="Google Shape;55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187725"/>
            <a:ext cx="796275" cy="138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560" name="Google Shape;560;p62"/>
          <p:cNvSpPr txBox="1"/>
          <p:nvPr>
            <p:ph idx="1" type="body"/>
          </p:nvPr>
        </p:nvSpPr>
        <p:spPr>
          <a:xfrm>
            <a:off x="311700" y="906225"/>
            <a:ext cx="85206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Teorema Havel-Hakimi 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		</a:t>
            </a:r>
            <a:r>
              <a:rPr lang="en-GB" sz="1500"/>
              <a:t>Unde intervine în demonstrație faptul că d</a:t>
            </a:r>
            <a:r>
              <a:rPr baseline="-25000" lang="en-GB" sz="1500"/>
              <a:t>1</a:t>
            </a:r>
            <a:r>
              <a:rPr lang="en-GB" sz="1500"/>
              <a:t> este maxim?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			</a:t>
            </a:r>
            <a:r>
              <a:rPr lang="en-GB" sz="1500"/>
              <a:t>Se poate renunța la această ipoteză </a:t>
            </a:r>
            <a:r>
              <a:rPr b="1" lang="en-GB" sz="1500"/>
              <a:t>⇒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500" u="sng"/>
              <a:t>Extindere</a:t>
            </a:r>
            <a:r>
              <a:rPr b="1" lang="en-GB" sz="1500"/>
              <a:t> a teoremei Havel-Hakimi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Fie s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1</a:t>
            </a:r>
            <a:r>
              <a:rPr lang="en-GB" sz="1500"/>
              <a:t>, ..., d</a:t>
            </a:r>
            <a:r>
              <a:rPr baseline="-25000" lang="en-GB" sz="1500"/>
              <a:t>n</a:t>
            </a:r>
            <a:r>
              <a:rPr lang="en-GB" sz="1500"/>
              <a:t>} o secvență de n ≥ 2 numere naturale mai mici sau egale cu n-1 și fie i ∈ {1,..., n} fixat. Fie secvența obținută din s</a:t>
            </a:r>
            <a:r>
              <a:rPr baseline="-25000" lang="en-GB" sz="1500"/>
              <a:t>0</a:t>
            </a:r>
            <a:r>
              <a:rPr lang="en-GB" sz="1500"/>
              <a:t> astfel:</a:t>
            </a:r>
            <a:endParaRPr sz="1500"/>
          </a:p>
          <a:p>
            <a:pPr indent="-32385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⏵"/>
            </a:pPr>
            <a:r>
              <a:rPr lang="en-GB" sz="1500"/>
              <a:t>eliminăm elementul d</a:t>
            </a:r>
            <a:r>
              <a:rPr baseline="-25000" lang="en-GB" sz="1500"/>
              <a:t>i</a:t>
            </a:r>
            <a:endParaRPr baseline="-25000" sz="1500"/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⏵"/>
            </a:pPr>
            <a:r>
              <a:rPr lang="en-GB" sz="1500"/>
              <a:t>scădem o unitate din primele d</a:t>
            </a:r>
            <a:r>
              <a:rPr baseline="-25000" lang="en-GB" sz="1500"/>
              <a:t>i</a:t>
            </a:r>
            <a:r>
              <a:rPr lang="en-GB" sz="1500"/>
              <a:t> componente, în ordine descrescătoare a secvenței rămase</a:t>
            </a:r>
            <a:endParaRPr sz="1500"/>
          </a:p>
        </p:txBody>
      </p:sp>
      <p:pic>
        <p:nvPicPr>
          <p:cNvPr id="561" name="Google Shape;56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187725"/>
            <a:ext cx="796275" cy="138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567" name="Google Shape;567;p63"/>
          <p:cNvSpPr txBox="1"/>
          <p:nvPr>
            <p:ph idx="1" type="body"/>
          </p:nvPr>
        </p:nvSpPr>
        <p:spPr>
          <a:xfrm>
            <a:off x="311700" y="906225"/>
            <a:ext cx="87561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Teorema Havel-Hakimi 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		</a:t>
            </a:r>
            <a:r>
              <a:rPr lang="en-GB" sz="1500"/>
              <a:t>Unde intervine în demonstrație faptul că d</a:t>
            </a:r>
            <a:r>
              <a:rPr baseline="-25000" lang="en-GB" sz="1500"/>
              <a:t>1</a:t>
            </a:r>
            <a:r>
              <a:rPr lang="en-GB" sz="1500"/>
              <a:t> este maxim?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			</a:t>
            </a:r>
            <a:r>
              <a:rPr lang="en-GB" sz="1500"/>
              <a:t>Se poate renunța la această ipoteză ⇒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500" u="sng"/>
              <a:t>Extindere</a:t>
            </a:r>
            <a:r>
              <a:rPr b="1" lang="en-GB" sz="1500"/>
              <a:t> a teoremei Havel-Hakimi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Fie s</a:t>
            </a:r>
            <a:r>
              <a:rPr baseline="-25000" lang="en-GB" sz="1500"/>
              <a:t>0</a:t>
            </a:r>
            <a:r>
              <a:rPr lang="en-GB" sz="1500"/>
              <a:t> = {d</a:t>
            </a:r>
            <a:r>
              <a:rPr baseline="-25000" lang="en-GB" sz="1500"/>
              <a:t>1</a:t>
            </a:r>
            <a:r>
              <a:rPr lang="en-GB" sz="1500"/>
              <a:t>, ..., d</a:t>
            </a:r>
            <a:r>
              <a:rPr baseline="-25000" lang="en-GB" sz="1500"/>
              <a:t>n</a:t>
            </a:r>
            <a:r>
              <a:rPr lang="en-GB" sz="1500"/>
              <a:t>} o secvență de n ≥ 2 numere naturale mai mici sau egale cu n-1 și fie i ∈ {1,..., n} fixat. Fie secvența obținută din s</a:t>
            </a:r>
            <a:r>
              <a:rPr baseline="-25000" lang="en-GB" sz="1500"/>
              <a:t>0</a:t>
            </a:r>
            <a:r>
              <a:rPr lang="en-GB" sz="1500"/>
              <a:t> astfel:</a:t>
            </a:r>
            <a:endParaRPr sz="1500"/>
          </a:p>
          <a:p>
            <a:pPr indent="-3238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⏵"/>
            </a:pPr>
            <a:r>
              <a:rPr lang="en-GB" sz="1500"/>
              <a:t>eliminăm elementul d</a:t>
            </a:r>
            <a:r>
              <a:rPr baseline="-25000" lang="en-GB" sz="1500"/>
              <a:t>i</a:t>
            </a:r>
            <a:endParaRPr baseline="-25000" sz="1500"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⏵"/>
            </a:pPr>
            <a:r>
              <a:rPr lang="en-GB" sz="1500"/>
              <a:t>scădem o unitate din primele d</a:t>
            </a:r>
            <a:r>
              <a:rPr baseline="-25000" lang="en-GB" sz="1500"/>
              <a:t>i</a:t>
            </a:r>
            <a:r>
              <a:rPr lang="en-GB" sz="1500"/>
              <a:t> componente, în ordine descrescătoare a secvenței rămase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 sz="1500"/>
              <a:t>Are loc echivalența:</a:t>
            </a:r>
            <a:br>
              <a:rPr lang="en-GB" sz="1500"/>
            </a:br>
            <a:r>
              <a:rPr lang="en-GB" sz="1500"/>
              <a:t>	</a:t>
            </a:r>
            <a:r>
              <a:rPr b="1" lang="en-GB" sz="1500"/>
              <a:t>s</a:t>
            </a:r>
            <a:r>
              <a:rPr b="1" baseline="-25000" lang="en-GB" sz="1500"/>
              <a:t>0</a:t>
            </a:r>
            <a:r>
              <a:rPr lang="en-GB" sz="1500"/>
              <a:t> este secvența gradelor unui graf neorientat ⇔ </a:t>
            </a:r>
            <a:r>
              <a:rPr b="1" lang="en-GB" sz="1500"/>
              <a:t>s</a:t>
            </a:r>
            <a:r>
              <a:rPr b="1" baseline="-25000" lang="en-GB" sz="1500"/>
              <a:t>0</a:t>
            </a:r>
            <a:r>
              <a:rPr b="1" baseline="30000" lang="en-GB" sz="1500"/>
              <a:t>(i)</a:t>
            </a:r>
            <a:r>
              <a:rPr b="1" lang="en-GB" sz="1500"/>
              <a:t> </a:t>
            </a:r>
            <a:r>
              <a:rPr lang="en-GB" sz="1500"/>
              <a:t>este secvența gradelor unui graf neorientat</a:t>
            </a:r>
            <a:endParaRPr sz="1500"/>
          </a:p>
        </p:txBody>
      </p:sp>
      <p:pic>
        <p:nvPicPr>
          <p:cNvPr id="568" name="Google Shape;56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187725"/>
            <a:ext cx="796275" cy="138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Havel-Hakimi - Corectitudine</a:t>
            </a:r>
            <a:endParaRPr/>
          </a:p>
        </p:txBody>
      </p:sp>
      <p:sp>
        <p:nvSpPr>
          <p:cNvPr id="574" name="Google Shape;574;p64"/>
          <p:cNvSpPr txBox="1"/>
          <p:nvPr>
            <p:ph idx="1" type="body"/>
          </p:nvPr>
        </p:nvSpPr>
        <p:spPr>
          <a:xfrm>
            <a:off x="311700" y="906225"/>
            <a:ext cx="8520600" cy="4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Teorema Havel-Hakimi 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500"/>
              <a:t>		</a:t>
            </a:r>
            <a:r>
              <a:rPr lang="en-GB" sz="1500"/>
              <a:t>Unde intervine în demonstrație faptul că d</a:t>
            </a:r>
            <a:r>
              <a:rPr baseline="-25000" lang="en-GB" sz="1500"/>
              <a:t>1</a:t>
            </a:r>
            <a:r>
              <a:rPr lang="en-GB" sz="1500"/>
              <a:t> este maxim?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			</a:t>
            </a:r>
            <a:r>
              <a:rPr lang="en-GB" sz="1500"/>
              <a:t>Se poate renunța la această ipoteză ⇒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500" u="sng"/>
              <a:t>Extindere</a:t>
            </a:r>
            <a:r>
              <a:rPr b="1" lang="en-GB" sz="1500"/>
              <a:t> a teoremei Havel-Hakimi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500">
                <a:solidFill>
                  <a:srgbClr val="CC0000"/>
                </a:solidFill>
              </a:rPr>
              <a:t>La un pas, vârful poate fi ales arbitrar (nu neapărat cel corespunzător elementului maxim).</a:t>
            </a:r>
            <a:endParaRPr b="1" sz="1500">
              <a:solidFill>
                <a:srgbClr val="CC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 sz="1500"/>
              <a:t>Se păstrează, însă, criteriul de alegere al vecinilor (cu gradele cele mai mari).</a:t>
            </a:r>
            <a:endParaRPr sz="1500"/>
          </a:p>
        </p:txBody>
      </p:sp>
      <p:pic>
        <p:nvPicPr>
          <p:cNvPr id="575" name="Google Shape;57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187725"/>
            <a:ext cx="796275" cy="138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Construcția de grafuri cu secvența gradelor dată</a:t>
            </a:r>
            <a:endParaRPr/>
          </a:p>
        </p:txBody>
      </p:sp>
      <p:sp>
        <p:nvSpPr>
          <p:cNvPr id="581" name="Google Shape;581;p6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Cu ajutorul transformării t pe pătrat, putem obține, pornind de la un graf G, toate grafurile cu secvența gradelor s(G) (și mulțimea vârfurilor V(G)).</a:t>
            </a:r>
            <a:endParaRPr/>
          </a:p>
        </p:txBody>
      </p:sp>
      <p:pic>
        <p:nvPicPr>
          <p:cNvPr id="582" name="Google Shape;58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0725" y="2649075"/>
            <a:ext cx="4716050" cy="158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Construcția de grafuri cu secvența gradelor dată</a:t>
            </a:r>
            <a:endParaRPr/>
          </a:p>
        </p:txBody>
      </p:sp>
      <p:sp>
        <p:nvSpPr>
          <p:cNvPr id="588" name="Google Shape;588;p6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Cu ajutorul transformării t pe pătrat, putem obține, pornind de la un graf G, toate grafurile cu secvența gradelor s(G) (și mulțimea vârfurilor V(G)).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500"/>
              <a:t>Mai exact, are loc următorul rezultat (exercițiu):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 sz="1500"/>
              <a:t>	Fie G</a:t>
            </a:r>
            <a:r>
              <a:rPr baseline="-25000" lang="en-GB" sz="1500"/>
              <a:t>1</a:t>
            </a:r>
            <a:r>
              <a:rPr lang="en-GB" sz="1500"/>
              <a:t> și G</a:t>
            </a:r>
            <a:r>
              <a:rPr baseline="-25000" lang="en-GB" sz="1500"/>
              <a:t>2</a:t>
            </a:r>
            <a:r>
              <a:rPr lang="en-GB" sz="1500"/>
              <a:t> două grafuri neorientate cu mulțimea vârfurilor V = {1, …, n}.</a:t>
            </a:r>
            <a:br>
              <a:rPr lang="en-GB" sz="1500"/>
            </a:br>
            <a:r>
              <a:rPr lang="en-GB" sz="1500"/>
              <a:t>	Atunci s(G</a:t>
            </a:r>
            <a:r>
              <a:rPr baseline="-25000" lang="en-GB" sz="1500"/>
              <a:t>1</a:t>
            </a:r>
            <a:r>
              <a:rPr lang="en-GB" sz="1500"/>
              <a:t>) = s(G</a:t>
            </a:r>
            <a:r>
              <a:rPr baseline="-25000" lang="en-GB" sz="1500"/>
              <a:t>2</a:t>
            </a:r>
            <a:r>
              <a:rPr lang="en-GB" sz="1500"/>
              <a:t>) ⇔ există un șir de transformări t de interschimbare pe pătrat, prin care se poate obține graful G</a:t>
            </a:r>
            <a:r>
              <a:rPr baseline="-25000" lang="en-GB" sz="1500"/>
              <a:t>2</a:t>
            </a:r>
            <a:r>
              <a:rPr lang="en-GB" sz="1500"/>
              <a:t> din G</a:t>
            </a:r>
            <a:r>
              <a:rPr baseline="-25000" lang="en-GB" sz="1500"/>
              <a:t>1</a:t>
            </a:r>
            <a:r>
              <a:rPr lang="en-GB" sz="1500"/>
              <a:t>.</a:t>
            </a:r>
            <a:endParaRPr sz="1500"/>
          </a:p>
        </p:txBody>
      </p:sp>
      <p:pic>
        <p:nvPicPr>
          <p:cNvPr id="589" name="Google Shape;58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4950" y="3366250"/>
            <a:ext cx="3850925" cy="12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Construcția de grafuri cu secvența gradelor dată</a:t>
            </a:r>
            <a:endParaRPr/>
          </a:p>
        </p:txBody>
      </p:sp>
      <p:sp>
        <p:nvSpPr>
          <p:cNvPr id="595" name="Google Shape;595;p6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Teorema Erdös-Gallai (suplimentar)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O secvență de n ≥ 2 numere naturale s</a:t>
            </a:r>
            <a:r>
              <a:rPr baseline="-25000" lang="en-GB"/>
              <a:t>0</a:t>
            </a:r>
            <a:r>
              <a:rPr lang="en-GB"/>
              <a:t> = {d</a:t>
            </a:r>
            <a:r>
              <a:rPr baseline="-25000" lang="en-GB"/>
              <a:t>1 </a:t>
            </a:r>
            <a:r>
              <a:rPr lang="en-GB"/>
              <a:t>≥ ... ≥ d</a:t>
            </a:r>
            <a:r>
              <a:rPr baseline="-25000" lang="en-GB"/>
              <a:t>n</a:t>
            </a:r>
            <a:r>
              <a:rPr lang="en-GB"/>
              <a:t>} este secvența gradelor unui graf neorientat ⇔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/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596" name="Google Shape;59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025" y="2138225"/>
            <a:ext cx="3901800" cy="8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0" ma:contentTypeDescription="Creați un document nou." ma:contentTypeScope="" ma:versionID="ed5cb2434b61330c8c2af58f5b1608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b545e5bd6bfcf038c3a879c46f0f3c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F710844-5E39-4864-98F9-50F369B0F406}"/>
</file>

<file path=customXml/itemProps2.xml><?xml version="1.0" encoding="utf-8"?>
<ds:datastoreItem xmlns:ds="http://schemas.openxmlformats.org/officeDocument/2006/customXml" ds:itemID="{304E7422-474C-4CEF-A8F1-0EB437D2D598}"/>
</file>

<file path=customXml/itemProps3.xml><?xml version="1.0" encoding="utf-8"?>
<ds:datastoreItem xmlns:ds="http://schemas.openxmlformats.org/officeDocument/2006/customXml" ds:itemID="{28BDD424-951A-4B27-9BF1-3C1DA6D899AD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