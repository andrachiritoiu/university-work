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Roboto Mono"/>
      <p:regular r:id="rId42"/>
      <p:bold r:id="rId43"/>
      <p:italic r:id="rId44"/>
      <p:boldItalic r:id="rId45"/>
    </p:embeddedFont>
    <p:embeddedFont>
      <p:font typeface="Merriweather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hEP3la+JtSB8tJFgj2MF1RPbK/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font" Target="fonts/Roboto-bold.fntdata"/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42" Type="http://schemas.openxmlformats.org/officeDocument/2006/relationships/font" Target="fonts/RobotoMono-regular.fntdata"/><Relationship Id="rId47" Type="http://schemas.openxmlformats.org/officeDocument/2006/relationships/font" Target="fonts/Merriweather-bold.fntdata"/><Relationship Id="rId34" Type="http://schemas.openxmlformats.org/officeDocument/2006/relationships/slide" Target="slides/slide29.xml"/><Relationship Id="rId21" Type="http://schemas.openxmlformats.org/officeDocument/2006/relationships/slide" Target="slides/slide16.xml"/><Relationship Id="rId50" Type="http://customschemas.google.com/relationships/presentationmetadata" Target="metadata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font" Target="fonts/Roboto-italic.fntdata"/><Relationship Id="rId45" Type="http://schemas.openxmlformats.org/officeDocument/2006/relationships/font" Target="fonts/RobotoMono-boldItalic.fntdata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24" Type="http://schemas.openxmlformats.org/officeDocument/2006/relationships/slide" Target="slides/slide19.xml"/><Relationship Id="rId11" Type="http://schemas.openxmlformats.org/officeDocument/2006/relationships/slide" Target="slides/slide6.xml"/><Relationship Id="rId53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44" Type="http://schemas.openxmlformats.org/officeDocument/2006/relationships/font" Target="fonts/RobotoMono-italic.fntdata"/><Relationship Id="rId31" Type="http://schemas.openxmlformats.org/officeDocument/2006/relationships/slide" Target="slides/slide2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52" Type="http://schemas.openxmlformats.org/officeDocument/2006/relationships/customXml" Target="../customXml/item2.xml"/><Relationship Id="rId43" Type="http://schemas.openxmlformats.org/officeDocument/2006/relationships/font" Target="fonts/RobotoMono-bold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erriweather-italic.fntdata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51" Type="http://schemas.openxmlformats.org/officeDocument/2006/relationships/customXml" Target="../customXml/item1.xml"/><Relationship Id="rId3" Type="http://schemas.openxmlformats.org/officeDocument/2006/relationships/presProps" Target="presProps.xml"/><Relationship Id="rId46" Type="http://schemas.openxmlformats.org/officeDocument/2006/relationships/font" Target="fonts/Merriweather-regular.fntdata"/><Relationship Id="rId33" Type="http://schemas.openxmlformats.org/officeDocument/2006/relationships/slide" Target="slides/slide28.xml"/><Relationship Id="rId38" Type="http://schemas.openxmlformats.org/officeDocument/2006/relationships/font" Target="fonts/Roboto-regular.fntdata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41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49" Type="http://schemas.openxmlformats.org/officeDocument/2006/relationships/font" Target="fonts/Merriweather-boldItalic.fntdata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5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34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5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37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37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8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38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3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3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39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39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9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0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0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40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1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2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42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42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3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3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4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44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45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en.citizendium.org/wiki/Four_color_theorem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hyperlink" Target="http://en.citizendium.org/wiki/Four_color_theorem" TargetMode="External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Grafuri planare</a:t>
            </a:r>
            <a:endParaRPr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		Amintiri din primul curs</a:t>
            </a:r>
            <a:endParaRPr/>
          </a:p>
        </p:txBody>
      </p:sp>
      <p:pic>
        <p:nvPicPr>
          <p:cNvPr id="80" name="Google Shape;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06219"/>
            <a:ext cx="661050" cy="114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Dodecaedrul</a:t>
            </a:r>
            <a:endParaRPr/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824" y="2753103"/>
            <a:ext cx="4690350" cy="208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upload.wikimedia.org/wikipedia/commons/e/e0/Dodecahedron.jpg" id="87" name="Google Shape;8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5898" y="906224"/>
            <a:ext cx="1652225" cy="161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Corpuri platonice - grafuri planare</a:t>
            </a:r>
            <a:endParaRPr/>
          </a:p>
        </p:txBody>
      </p:sp>
      <p:sp>
        <p:nvSpPr>
          <p:cNvPr id="93" name="Google Shape;93;p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1425" y="906225"/>
            <a:ext cx="4221150" cy="406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Corpuri platonice - grafuri planare</a:t>
            </a:r>
            <a:endParaRPr/>
          </a:p>
        </p:txBody>
      </p:sp>
      <p:sp>
        <p:nvSpPr>
          <p:cNvPr id="100" name="Google Shape;100;p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01" name="Google Shape;1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3123" y="906223"/>
            <a:ext cx="5497749" cy="409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Colorarea hărților</a:t>
            </a:r>
            <a:endParaRPr/>
          </a:p>
        </p:txBody>
      </p:sp>
      <p:sp>
        <p:nvSpPr>
          <p:cNvPr id="107" name="Google Shape;107;p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119299" y="4791925"/>
            <a:ext cx="3839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http://en.citizendium.org/wiki/Four_color_theorem</a:t>
            </a: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514" y="928604"/>
            <a:ext cx="2254950" cy="30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3536" y="906224"/>
            <a:ext cx="2254950" cy="3048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561" y="933199"/>
            <a:ext cx="2254950" cy="304867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Colorarea hărților</a:t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119299" y="4791925"/>
            <a:ext cx="3839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http://en.citizendium.org/wiki/Four_color_theorem</a:t>
            </a: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822" y="906225"/>
            <a:ext cx="2254950" cy="3048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G = (V, E) graf neorientat s.n. </a:t>
            </a:r>
            <a:r>
              <a:rPr lang="en-GB" u="sng"/>
              <a:t>planar</a:t>
            </a:r>
            <a:r>
              <a:rPr b="0" lang="en-GB"/>
              <a:t>  ⇔  admite o reprezentare în plan a.î. </a:t>
            </a:r>
            <a:r>
              <a:rPr lang="en-GB"/>
              <a:t>muchiilor</a:t>
            </a:r>
            <a:r>
              <a:rPr b="0" lang="en-GB"/>
              <a:t> le corespund segmente de curbe continue care </a:t>
            </a:r>
            <a:r>
              <a:rPr lang="en-GB"/>
              <a:t>nu se intersectează în interior</a:t>
            </a:r>
            <a:r>
              <a:rPr b="0" lang="en-GB"/>
              <a:t> unele pe altele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O astfel de reprezentare s.n. </a:t>
            </a:r>
            <a:r>
              <a:rPr lang="en-GB" u="sng"/>
              <a:t>hartă</a:t>
            </a:r>
            <a:r>
              <a:rPr b="0" lang="en-GB"/>
              <a:t> a lui G</a:t>
            </a:r>
            <a:endParaRPr b="0"/>
          </a:p>
        </p:txBody>
      </p:sp>
      <p:sp>
        <p:nvSpPr>
          <p:cNvPr id="126" name="Google Shape;126;p8"/>
          <p:cNvSpPr/>
          <p:nvPr/>
        </p:nvSpPr>
        <p:spPr>
          <a:xfrm>
            <a:off x="1206675" y="28852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2197275" y="28852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2197275" y="37996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206675" y="37996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8"/>
          <p:cNvCxnSpPr>
            <a:stCxn id="126" idx="5"/>
            <a:endCxn id="128" idx="1"/>
          </p:cNvCxnSpPr>
          <p:nvPr/>
        </p:nvCxnSpPr>
        <p:spPr>
          <a:xfrm>
            <a:off x="1442512" y="3121062"/>
            <a:ext cx="795300" cy="71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8"/>
          <p:cNvCxnSpPr>
            <a:stCxn id="127" idx="3"/>
            <a:endCxn id="129" idx="7"/>
          </p:cNvCxnSpPr>
          <p:nvPr/>
        </p:nvCxnSpPr>
        <p:spPr>
          <a:xfrm flipH="1">
            <a:off x="1442438" y="3121062"/>
            <a:ext cx="795300" cy="71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8"/>
          <p:cNvCxnSpPr>
            <a:stCxn id="126" idx="6"/>
            <a:endCxn id="127" idx="2"/>
          </p:cNvCxnSpPr>
          <p:nvPr/>
        </p:nvCxnSpPr>
        <p:spPr>
          <a:xfrm>
            <a:off x="1482975" y="3023375"/>
            <a:ext cx="71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8"/>
          <p:cNvCxnSpPr>
            <a:stCxn id="126" idx="4"/>
            <a:endCxn id="129" idx="0"/>
          </p:cNvCxnSpPr>
          <p:nvPr/>
        </p:nvCxnSpPr>
        <p:spPr>
          <a:xfrm>
            <a:off x="1344825" y="3161525"/>
            <a:ext cx="0" cy="63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8"/>
          <p:cNvCxnSpPr>
            <a:stCxn id="129" idx="6"/>
            <a:endCxn id="128" idx="2"/>
          </p:cNvCxnSpPr>
          <p:nvPr/>
        </p:nvCxnSpPr>
        <p:spPr>
          <a:xfrm>
            <a:off x="1482975" y="3937775"/>
            <a:ext cx="71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8"/>
          <p:cNvCxnSpPr>
            <a:stCxn id="127" idx="4"/>
            <a:endCxn id="128" idx="0"/>
          </p:cNvCxnSpPr>
          <p:nvPr/>
        </p:nvCxnSpPr>
        <p:spPr>
          <a:xfrm>
            <a:off x="2335425" y="3161525"/>
            <a:ext cx="0" cy="63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8"/>
          <p:cNvSpPr/>
          <p:nvPr/>
        </p:nvSpPr>
        <p:spPr>
          <a:xfrm>
            <a:off x="2838025" y="3350350"/>
            <a:ext cx="546000" cy="15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3721275" y="28852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711875" y="28852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711875" y="37996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721275" y="37996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8"/>
          <p:cNvCxnSpPr>
            <a:stCxn id="137" idx="5"/>
            <a:endCxn id="139" idx="1"/>
          </p:cNvCxnSpPr>
          <p:nvPr/>
        </p:nvCxnSpPr>
        <p:spPr>
          <a:xfrm>
            <a:off x="3957112" y="3121062"/>
            <a:ext cx="795300" cy="71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8"/>
          <p:cNvCxnSpPr>
            <a:stCxn id="137" idx="6"/>
            <a:endCxn id="138" idx="2"/>
          </p:cNvCxnSpPr>
          <p:nvPr/>
        </p:nvCxnSpPr>
        <p:spPr>
          <a:xfrm>
            <a:off x="3997575" y="3023375"/>
            <a:ext cx="71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8"/>
          <p:cNvCxnSpPr>
            <a:stCxn id="137" idx="4"/>
            <a:endCxn id="140" idx="0"/>
          </p:cNvCxnSpPr>
          <p:nvPr/>
        </p:nvCxnSpPr>
        <p:spPr>
          <a:xfrm>
            <a:off x="3859425" y="3161525"/>
            <a:ext cx="0" cy="63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8"/>
          <p:cNvCxnSpPr>
            <a:stCxn id="140" idx="6"/>
            <a:endCxn id="139" idx="2"/>
          </p:cNvCxnSpPr>
          <p:nvPr/>
        </p:nvCxnSpPr>
        <p:spPr>
          <a:xfrm>
            <a:off x="3997575" y="3937775"/>
            <a:ext cx="71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8"/>
          <p:cNvCxnSpPr>
            <a:stCxn id="138" idx="4"/>
            <a:endCxn id="139" idx="0"/>
          </p:cNvCxnSpPr>
          <p:nvPr/>
        </p:nvCxnSpPr>
        <p:spPr>
          <a:xfrm>
            <a:off x="4850025" y="3161525"/>
            <a:ext cx="0" cy="63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8"/>
          <p:cNvSpPr/>
          <p:nvPr/>
        </p:nvSpPr>
        <p:spPr>
          <a:xfrm>
            <a:off x="3943575" y="3080700"/>
            <a:ext cx="1415850" cy="1247650"/>
          </a:xfrm>
          <a:custGeom>
            <a:rect b="b" l="l" r="r" t="t"/>
            <a:pathLst>
              <a:path extrusionOk="0" h="49906" w="56634">
                <a:moveTo>
                  <a:pt x="41256" y="0"/>
                </a:moveTo>
                <a:cubicBezTo>
                  <a:pt x="43818" y="4180"/>
                  <a:pt x="56401" y="16808"/>
                  <a:pt x="56626" y="25077"/>
                </a:cubicBezTo>
                <a:cubicBezTo>
                  <a:pt x="56851" y="33346"/>
                  <a:pt x="52042" y="47368"/>
                  <a:pt x="42604" y="49615"/>
                </a:cubicBezTo>
                <a:cubicBezTo>
                  <a:pt x="33166" y="51862"/>
                  <a:pt x="7101" y="40403"/>
                  <a:pt x="0" y="3856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464475" y="28852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845825" y="28852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967575" y="33424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464475" y="40354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8"/>
          <p:cNvCxnSpPr>
            <a:stCxn id="147" idx="5"/>
            <a:endCxn id="149" idx="1"/>
          </p:cNvCxnSpPr>
          <p:nvPr/>
        </p:nvCxnSpPr>
        <p:spPr>
          <a:xfrm>
            <a:off x="6700312" y="3121062"/>
            <a:ext cx="307800" cy="26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8"/>
          <p:cNvCxnSpPr>
            <a:stCxn id="148" idx="4"/>
            <a:endCxn id="150" idx="6"/>
          </p:cNvCxnSpPr>
          <p:nvPr/>
        </p:nvCxnSpPr>
        <p:spPr>
          <a:xfrm flipH="1">
            <a:off x="6740775" y="3161525"/>
            <a:ext cx="1243200" cy="101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8"/>
          <p:cNvCxnSpPr>
            <a:stCxn id="147" idx="6"/>
            <a:endCxn id="148" idx="2"/>
          </p:cNvCxnSpPr>
          <p:nvPr/>
        </p:nvCxnSpPr>
        <p:spPr>
          <a:xfrm>
            <a:off x="6740775" y="3023375"/>
            <a:ext cx="1105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8"/>
          <p:cNvCxnSpPr>
            <a:stCxn id="147" idx="4"/>
            <a:endCxn id="150" idx="0"/>
          </p:cNvCxnSpPr>
          <p:nvPr/>
        </p:nvCxnSpPr>
        <p:spPr>
          <a:xfrm>
            <a:off x="6602625" y="3161525"/>
            <a:ext cx="0" cy="87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8"/>
          <p:cNvCxnSpPr>
            <a:stCxn id="150" idx="7"/>
            <a:endCxn id="149" idx="3"/>
          </p:cNvCxnSpPr>
          <p:nvPr/>
        </p:nvCxnSpPr>
        <p:spPr>
          <a:xfrm flipH="1" rot="10800000">
            <a:off x="6700312" y="3578163"/>
            <a:ext cx="307800" cy="49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8"/>
          <p:cNvCxnSpPr>
            <a:stCxn id="148" idx="3"/>
            <a:endCxn id="149" idx="7"/>
          </p:cNvCxnSpPr>
          <p:nvPr/>
        </p:nvCxnSpPr>
        <p:spPr>
          <a:xfrm flipH="1">
            <a:off x="7203488" y="3121062"/>
            <a:ext cx="682800" cy="26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8"/>
          <p:cNvSpPr txBox="1"/>
          <p:nvPr/>
        </p:nvSpPr>
        <p:spPr>
          <a:xfrm>
            <a:off x="1466050" y="4422200"/>
            <a:ext cx="74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~ K</a:t>
            </a:r>
            <a:r>
              <a:rPr b="1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5428450" y="4422200"/>
            <a:ext cx="74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hărți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164" name="Google Shape;164;p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G = (V, E) graf neorientat s.n. </a:t>
            </a:r>
            <a:r>
              <a:rPr lang="en-GB" u="sng"/>
              <a:t>planar</a:t>
            </a:r>
            <a:r>
              <a:rPr b="0" lang="en-GB"/>
              <a:t>  ⇔  admite o reprezentare în plan a.î. </a:t>
            </a:r>
            <a:r>
              <a:rPr lang="en-GB"/>
              <a:t>muchiilor</a:t>
            </a:r>
            <a:r>
              <a:rPr b="0" lang="en-GB"/>
              <a:t> le corespund segmente de curbe continue care </a:t>
            </a:r>
            <a:r>
              <a:rPr lang="en-GB"/>
              <a:t>nu se intersectează în interior</a:t>
            </a:r>
            <a:r>
              <a:rPr b="0" lang="en-GB"/>
              <a:t> unele pe altele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O astfel de reprezentare s.n. </a:t>
            </a:r>
            <a:r>
              <a:rPr lang="en-GB" u="sng"/>
              <a:t>hartă</a:t>
            </a:r>
            <a:r>
              <a:rPr b="0" lang="en-GB"/>
              <a:t> a lui G</a:t>
            </a:r>
            <a:endParaRPr b="0"/>
          </a:p>
        </p:txBody>
      </p:sp>
      <p:sp>
        <p:nvSpPr>
          <p:cNvPr id="165" name="Google Shape;165;p9"/>
          <p:cNvSpPr/>
          <p:nvPr/>
        </p:nvSpPr>
        <p:spPr>
          <a:xfrm>
            <a:off x="2073375" y="257175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2714125" y="30234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2360025" y="3799563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645625" y="3799438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9"/>
          <p:cNvCxnSpPr>
            <a:stCxn id="165" idx="5"/>
            <a:endCxn id="167" idx="0"/>
          </p:cNvCxnSpPr>
          <p:nvPr/>
        </p:nvCxnSpPr>
        <p:spPr>
          <a:xfrm>
            <a:off x="2309212" y="2807587"/>
            <a:ext cx="189000" cy="992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9"/>
          <p:cNvCxnSpPr>
            <a:stCxn id="166" idx="3"/>
            <a:endCxn id="168" idx="7"/>
          </p:cNvCxnSpPr>
          <p:nvPr/>
        </p:nvCxnSpPr>
        <p:spPr>
          <a:xfrm flipH="1">
            <a:off x="1881588" y="3259237"/>
            <a:ext cx="873000" cy="5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9"/>
          <p:cNvCxnSpPr>
            <a:stCxn id="165" idx="6"/>
            <a:endCxn id="166" idx="1"/>
          </p:cNvCxnSpPr>
          <p:nvPr/>
        </p:nvCxnSpPr>
        <p:spPr>
          <a:xfrm>
            <a:off x="2349675" y="2709900"/>
            <a:ext cx="405000" cy="35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9"/>
          <p:cNvCxnSpPr>
            <a:stCxn id="165" idx="3"/>
            <a:endCxn id="168" idx="0"/>
          </p:cNvCxnSpPr>
          <p:nvPr/>
        </p:nvCxnSpPr>
        <p:spPr>
          <a:xfrm flipH="1">
            <a:off x="1783838" y="2807587"/>
            <a:ext cx="330000" cy="99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9"/>
          <p:cNvCxnSpPr>
            <a:stCxn id="168" idx="6"/>
            <a:endCxn id="167" idx="2"/>
          </p:cNvCxnSpPr>
          <p:nvPr/>
        </p:nvCxnSpPr>
        <p:spPr>
          <a:xfrm>
            <a:off x="1921925" y="3937588"/>
            <a:ext cx="43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9"/>
          <p:cNvCxnSpPr>
            <a:stCxn id="166" idx="4"/>
            <a:endCxn id="167" idx="7"/>
          </p:cNvCxnSpPr>
          <p:nvPr/>
        </p:nvCxnSpPr>
        <p:spPr>
          <a:xfrm flipH="1">
            <a:off x="2595775" y="3299700"/>
            <a:ext cx="256500" cy="5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9"/>
          <p:cNvSpPr/>
          <p:nvPr/>
        </p:nvSpPr>
        <p:spPr>
          <a:xfrm>
            <a:off x="3523825" y="3350350"/>
            <a:ext cx="546000" cy="15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1837425" y="4334550"/>
            <a:ext cx="74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~ K</a:t>
            </a:r>
            <a:r>
              <a:rPr b="1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4670050" y="3181600"/>
            <a:ext cx="74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291600" y="30234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9"/>
          <p:cNvCxnSpPr>
            <a:stCxn id="165" idx="2"/>
            <a:endCxn id="178" idx="7"/>
          </p:cNvCxnSpPr>
          <p:nvPr/>
        </p:nvCxnSpPr>
        <p:spPr>
          <a:xfrm flipH="1">
            <a:off x="1527375" y="2709900"/>
            <a:ext cx="546000" cy="35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9"/>
          <p:cNvCxnSpPr>
            <a:stCxn id="178" idx="4"/>
            <a:endCxn id="168" idx="1"/>
          </p:cNvCxnSpPr>
          <p:nvPr/>
        </p:nvCxnSpPr>
        <p:spPr>
          <a:xfrm>
            <a:off x="1429750" y="3299700"/>
            <a:ext cx="256200" cy="5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9"/>
          <p:cNvCxnSpPr>
            <a:stCxn id="166" idx="2"/>
            <a:endCxn id="178" idx="6"/>
          </p:cNvCxnSpPr>
          <p:nvPr/>
        </p:nvCxnSpPr>
        <p:spPr>
          <a:xfrm rot="10800000">
            <a:off x="1567825" y="3161550"/>
            <a:ext cx="1146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9"/>
          <p:cNvCxnSpPr>
            <a:stCxn id="178" idx="5"/>
            <a:endCxn id="167" idx="1"/>
          </p:cNvCxnSpPr>
          <p:nvPr/>
        </p:nvCxnSpPr>
        <p:spPr>
          <a:xfrm>
            <a:off x="1527437" y="3259237"/>
            <a:ext cx="873000" cy="5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188" name="Google Shape;188;p1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graf planar, M o hartă a sa.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M induce o împărțire a planului într-o mulțime </a:t>
            </a:r>
            <a:r>
              <a:rPr lang="en-GB"/>
              <a:t>F</a:t>
            </a:r>
            <a:r>
              <a:rPr b="0" lang="en-GB"/>
              <a:t> de părți convexe numite </a:t>
            </a:r>
            <a:r>
              <a:rPr lang="en-GB"/>
              <a:t>fețe.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Una dintre acestea este </a:t>
            </a:r>
            <a:r>
              <a:rPr lang="en-GB"/>
              <a:t>fața infinită (exterioară)</a:t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4136325" y="241935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083550" y="28710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083550" y="4363038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3189225" y="4362963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10"/>
          <p:cNvCxnSpPr>
            <a:stCxn id="194" idx="3"/>
            <a:endCxn id="192" idx="7"/>
          </p:cNvCxnSpPr>
          <p:nvPr/>
        </p:nvCxnSpPr>
        <p:spPr>
          <a:xfrm flipH="1">
            <a:off x="3425051" y="4038937"/>
            <a:ext cx="751800" cy="36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10"/>
          <p:cNvCxnSpPr>
            <a:stCxn id="189" idx="6"/>
            <a:endCxn id="190" idx="1"/>
          </p:cNvCxnSpPr>
          <p:nvPr/>
        </p:nvCxnSpPr>
        <p:spPr>
          <a:xfrm>
            <a:off x="4412625" y="2557500"/>
            <a:ext cx="711300" cy="35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10"/>
          <p:cNvCxnSpPr>
            <a:stCxn id="192" idx="6"/>
            <a:endCxn id="191" idx="2"/>
          </p:cNvCxnSpPr>
          <p:nvPr/>
        </p:nvCxnSpPr>
        <p:spPr>
          <a:xfrm>
            <a:off x="3465525" y="4501113"/>
            <a:ext cx="161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10"/>
          <p:cNvCxnSpPr>
            <a:stCxn id="190" idx="4"/>
            <a:endCxn id="191" idx="0"/>
          </p:cNvCxnSpPr>
          <p:nvPr/>
        </p:nvCxnSpPr>
        <p:spPr>
          <a:xfrm>
            <a:off x="5221700" y="3147300"/>
            <a:ext cx="0" cy="121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10"/>
          <p:cNvSpPr/>
          <p:nvPr/>
        </p:nvSpPr>
        <p:spPr>
          <a:xfrm>
            <a:off x="3189225" y="28709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10"/>
          <p:cNvCxnSpPr>
            <a:stCxn id="189" idx="2"/>
            <a:endCxn id="198" idx="7"/>
          </p:cNvCxnSpPr>
          <p:nvPr/>
        </p:nvCxnSpPr>
        <p:spPr>
          <a:xfrm flipH="1">
            <a:off x="3425025" y="2557500"/>
            <a:ext cx="711300" cy="35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10"/>
          <p:cNvCxnSpPr>
            <a:stCxn id="198" idx="4"/>
            <a:endCxn id="192" idx="0"/>
          </p:cNvCxnSpPr>
          <p:nvPr/>
        </p:nvCxnSpPr>
        <p:spPr>
          <a:xfrm>
            <a:off x="3327375" y="3147225"/>
            <a:ext cx="0" cy="121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0"/>
          <p:cNvCxnSpPr>
            <a:stCxn id="190" idx="2"/>
            <a:endCxn id="198" idx="6"/>
          </p:cNvCxnSpPr>
          <p:nvPr/>
        </p:nvCxnSpPr>
        <p:spPr>
          <a:xfrm rot="10800000">
            <a:off x="3465650" y="3009150"/>
            <a:ext cx="161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10"/>
          <p:cNvCxnSpPr>
            <a:stCxn id="194" idx="5"/>
            <a:endCxn id="191" idx="1"/>
          </p:cNvCxnSpPr>
          <p:nvPr/>
        </p:nvCxnSpPr>
        <p:spPr>
          <a:xfrm>
            <a:off x="4372225" y="4038937"/>
            <a:ext cx="751800" cy="36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10"/>
          <p:cNvSpPr/>
          <p:nvPr/>
        </p:nvSpPr>
        <p:spPr>
          <a:xfrm>
            <a:off x="4136388" y="38031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4176850" y="2608950"/>
            <a:ext cx="4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3567250" y="3523350"/>
            <a:ext cx="4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4100650" y="4132950"/>
            <a:ext cx="4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5548450" y="3599550"/>
            <a:ext cx="4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GB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212" name="Google Shape;212;p1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M = (V, E, F) </a:t>
            </a:r>
            <a:r>
              <a:rPr lang="en-GB"/>
              <a:t>hartă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Pentru o față f ∈ F definim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</a:t>
            </a:r>
            <a:r>
              <a:rPr baseline="-25000" lang="en-GB"/>
              <a:t>M</a:t>
            </a:r>
            <a:r>
              <a:rPr lang="en-GB"/>
              <a:t>(f) = gradul feței =</a:t>
            </a:r>
            <a:r>
              <a:rPr b="0" lang="en-GB"/>
              <a:t> numărul muchiilor lanțului închis (</a:t>
            </a:r>
            <a:r>
              <a:rPr lang="en-GB"/>
              <a:t>frontierei</a:t>
            </a:r>
            <a:r>
              <a:rPr b="0" lang="en-GB"/>
              <a:t>) care delimitează f </a:t>
            </a:r>
            <a:r>
              <a:rPr b="0" lang="en-GB" sz="1400">
                <a:solidFill>
                  <a:srgbClr val="CC0000"/>
                </a:solidFill>
              </a:rPr>
              <a:t>(</a:t>
            </a:r>
            <a:r>
              <a:rPr b="0" i="1" lang="en-GB" sz="1400">
                <a:solidFill>
                  <a:srgbClr val="CC0000"/>
                </a:solidFill>
              </a:rPr>
              <a:t>câte muchii sunt parcurse atunci când traversăm frontiera</a:t>
            </a:r>
            <a:r>
              <a:rPr b="0" lang="en-GB" sz="1400">
                <a:solidFill>
                  <a:srgbClr val="CC0000"/>
                </a:solidFill>
              </a:rPr>
              <a:t>)</a:t>
            </a:r>
            <a:endParaRPr b="0" sz="1400">
              <a:solidFill>
                <a:srgbClr val="CC0000"/>
              </a:solidFill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2338288" y="257175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285513" y="30234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285513" y="4515438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391188" y="4515363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11"/>
          <p:cNvCxnSpPr>
            <a:stCxn id="218" idx="3"/>
            <a:endCxn id="216" idx="7"/>
          </p:cNvCxnSpPr>
          <p:nvPr/>
        </p:nvCxnSpPr>
        <p:spPr>
          <a:xfrm flipH="1">
            <a:off x="1627013" y="4191337"/>
            <a:ext cx="751800" cy="36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11"/>
          <p:cNvCxnSpPr>
            <a:stCxn id="213" idx="6"/>
            <a:endCxn id="214" idx="1"/>
          </p:cNvCxnSpPr>
          <p:nvPr/>
        </p:nvCxnSpPr>
        <p:spPr>
          <a:xfrm>
            <a:off x="2614588" y="2709900"/>
            <a:ext cx="711300" cy="35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11"/>
          <p:cNvCxnSpPr>
            <a:stCxn id="216" idx="6"/>
            <a:endCxn id="215" idx="2"/>
          </p:cNvCxnSpPr>
          <p:nvPr/>
        </p:nvCxnSpPr>
        <p:spPr>
          <a:xfrm>
            <a:off x="1667488" y="4653513"/>
            <a:ext cx="161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11"/>
          <p:cNvCxnSpPr>
            <a:stCxn id="214" idx="4"/>
            <a:endCxn id="215" idx="0"/>
          </p:cNvCxnSpPr>
          <p:nvPr/>
        </p:nvCxnSpPr>
        <p:spPr>
          <a:xfrm>
            <a:off x="3423663" y="3299700"/>
            <a:ext cx="0" cy="121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11"/>
          <p:cNvSpPr/>
          <p:nvPr/>
        </p:nvSpPr>
        <p:spPr>
          <a:xfrm>
            <a:off x="1391188" y="30233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11"/>
          <p:cNvCxnSpPr>
            <a:stCxn id="213" idx="2"/>
            <a:endCxn id="222" idx="7"/>
          </p:cNvCxnSpPr>
          <p:nvPr/>
        </p:nvCxnSpPr>
        <p:spPr>
          <a:xfrm flipH="1">
            <a:off x="1626988" y="2709900"/>
            <a:ext cx="711300" cy="35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11"/>
          <p:cNvCxnSpPr>
            <a:stCxn id="222" idx="4"/>
            <a:endCxn id="216" idx="0"/>
          </p:cNvCxnSpPr>
          <p:nvPr/>
        </p:nvCxnSpPr>
        <p:spPr>
          <a:xfrm>
            <a:off x="1529338" y="3299625"/>
            <a:ext cx="0" cy="121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11"/>
          <p:cNvCxnSpPr>
            <a:stCxn id="214" idx="2"/>
            <a:endCxn id="222" idx="6"/>
          </p:cNvCxnSpPr>
          <p:nvPr/>
        </p:nvCxnSpPr>
        <p:spPr>
          <a:xfrm rot="10800000">
            <a:off x="1667613" y="3161550"/>
            <a:ext cx="161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11"/>
          <p:cNvCxnSpPr>
            <a:stCxn id="218" idx="5"/>
            <a:endCxn id="215" idx="1"/>
          </p:cNvCxnSpPr>
          <p:nvPr/>
        </p:nvCxnSpPr>
        <p:spPr>
          <a:xfrm>
            <a:off x="2574187" y="4191337"/>
            <a:ext cx="751800" cy="36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1"/>
          <p:cNvSpPr/>
          <p:nvPr/>
        </p:nvSpPr>
        <p:spPr>
          <a:xfrm>
            <a:off x="2338350" y="39555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6529288" y="310515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7476513" y="26424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7476513" y="4515438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582188" y="4515363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11"/>
          <p:cNvCxnSpPr>
            <a:stCxn id="232" idx="3"/>
            <a:endCxn id="230" idx="7"/>
          </p:cNvCxnSpPr>
          <p:nvPr/>
        </p:nvCxnSpPr>
        <p:spPr>
          <a:xfrm flipH="1">
            <a:off x="5818013" y="4191337"/>
            <a:ext cx="751800" cy="36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1"/>
          <p:cNvCxnSpPr>
            <a:stCxn id="227" idx="6"/>
            <a:endCxn id="228" idx="3"/>
          </p:cNvCxnSpPr>
          <p:nvPr/>
        </p:nvCxnSpPr>
        <p:spPr>
          <a:xfrm flipH="1" rot="10800000">
            <a:off x="6805588" y="2878200"/>
            <a:ext cx="711300" cy="36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1"/>
          <p:cNvCxnSpPr>
            <a:stCxn id="230" idx="6"/>
            <a:endCxn id="229" idx="2"/>
          </p:cNvCxnSpPr>
          <p:nvPr/>
        </p:nvCxnSpPr>
        <p:spPr>
          <a:xfrm>
            <a:off x="5858488" y="4653513"/>
            <a:ext cx="161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11"/>
          <p:cNvCxnSpPr>
            <a:stCxn id="228" idx="4"/>
            <a:endCxn id="229" idx="0"/>
          </p:cNvCxnSpPr>
          <p:nvPr/>
        </p:nvCxnSpPr>
        <p:spPr>
          <a:xfrm>
            <a:off x="7614663" y="2918700"/>
            <a:ext cx="0" cy="159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1"/>
          <p:cNvSpPr/>
          <p:nvPr/>
        </p:nvSpPr>
        <p:spPr>
          <a:xfrm>
            <a:off x="5582188" y="26423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11"/>
          <p:cNvCxnSpPr>
            <a:stCxn id="227" idx="2"/>
            <a:endCxn id="236" idx="5"/>
          </p:cNvCxnSpPr>
          <p:nvPr/>
        </p:nvCxnSpPr>
        <p:spPr>
          <a:xfrm rot="10800000">
            <a:off x="5817988" y="2878200"/>
            <a:ext cx="711300" cy="36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11"/>
          <p:cNvCxnSpPr>
            <a:stCxn id="236" idx="4"/>
            <a:endCxn id="230" idx="0"/>
          </p:cNvCxnSpPr>
          <p:nvPr/>
        </p:nvCxnSpPr>
        <p:spPr>
          <a:xfrm>
            <a:off x="5720338" y="2918625"/>
            <a:ext cx="0" cy="159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11"/>
          <p:cNvCxnSpPr>
            <a:stCxn id="228" idx="2"/>
            <a:endCxn id="236" idx="6"/>
          </p:cNvCxnSpPr>
          <p:nvPr/>
        </p:nvCxnSpPr>
        <p:spPr>
          <a:xfrm rot="10800000">
            <a:off x="5858613" y="2780550"/>
            <a:ext cx="161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11"/>
          <p:cNvCxnSpPr>
            <a:stCxn id="232" idx="5"/>
            <a:endCxn id="229" idx="1"/>
          </p:cNvCxnSpPr>
          <p:nvPr/>
        </p:nvCxnSpPr>
        <p:spPr>
          <a:xfrm>
            <a:off x="6765187" y="4191337"/>
            <a:ext cx="751800" cy="36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1"/>
          <p:cNvSpPr/>
          <p:nvPr/>
        </p:nvSpPr>
        <p:spPr>
          <a:xfrm>
            <a:off x="6529350" y="39555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4400100" y="3451475"/>
            <a:ext cx="34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~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247" name="Google Shape;247;p12"/>
          <p:cNvSpPr txBox="1"/>
          <p:nvPr>
            <p:ph idx="1" type="body"/>
          </p:nvPr>
        </p:nvSpPr>
        <p:spPr>
          <a:xfrm>
            <a:off x="311700" y="906225"/>
            <a:ext cx="85206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Observație: </a:t>
            </a:r>
            <a:r>
              <a:rPr b="0" lang="en-GB"/>
              <a:t>Hărți diferite ale aceluiași graf pot avea </a:t>
            </a:r>
            <a:r>
              <a:rPr lang="en-GB"/>
              <a:t>secvența gradelor diferită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		Poate să difere și numărul de fețe (între 2 hărți ale aceluiași graf)?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2338288" y="135255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3285513" y="18042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3285513" y="3296238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391188" y="3296163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12"/>
          <p:cNvCxnSpPr>
            <a:stCxn id="253" idx="3"/>
            <a:endCxn id="251" idx="7"/>
          </p:cNvCxnSpPr>
          <p:nvPr/>
        </p:nvCxnSpPr>
        <p:spPr>
          <a:xfrm flipH="1">
            <a:off x="1627013" y="2972137"/>
            <a:ext cx="751800" cy="36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12"/>
          <p:cNvCxnSpPr>
            <a:stCxn id="248" idx="6"/>
            <a:endCxn id="249" idx="1"/>
          </p:cNvCxnSpPr>
          <p:nvPr/>
        </p:nvCxnSpPr>
        <p:spPr>
          <a:xfrm>
            <a:off x="2614588" y="1490700"/>
            <a:ext cx="711300" cy="35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12"/>
          <p:cNvCxnSpPr>
            <a:stCxn id="251" idx="6"/>
            <a:endCxn id="250" idx="2"/>
          </p:cNvCxnSpPr>
          <p:nvPr/>
        </p:nvCxnSpPr>
        <p:spPr>
          <a:xfrm>
            <a:off x="1667488" y="3434313"/>
            <a:ext cx="161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12"/>
          <p:cNvCxnSpPr>
            <a:stCxn id="249" idx="4"/>
            <a:endCxn id="250" idx="0"/>
          </p:cNvCxnSpPr>
          <p:nvPr/>
        </p:nvCxnSpPr>
        <p:spPr>
          <a:xfrm>
            <a:off x="3423663" y="2080500"/>
            <a:ext cx="0" cy="121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12"/>
          <p:cNvSpPr/>
          <p:nvPr/>
        </p:nvSpPr>
        <p:spPr>
          <a:xfrm>
            <a:off x="1391188" y="18041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12"/>
          <p:cNvCxnSpPr>
            <a:stCxn id="248" idx="2"/>
            <a:endCxn id="257" idx="7"/>
          </p:cNvCxnSpPr>
          <p:nvPr/>
        </p:nvCxnSpPr>
        <p:spPr>
          <a:xfrm flipH="1">
            <a:off x="1626988" y="1490700"/>
            <a:ext cx="711300" cy="35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12"/>
          <p:cNvCxnSpPr>
            <a:stCxn id="257" idx="4"/>
            <a:endCxn id="251" idx="0"/>
          </p:cNvCxnSpPr>
          <p:nvPr/>
        </p:nvCxnSpPr>
        <p:spPr>
          <a:xfrm>
            <a:off x="1529338" y="2080425"/>
            <a:ext cx="0" cy="121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12"/>
          <p:cNvCxnSpPr>
            <a:stCxn id="249" idx="2"/>
            <a:endCxn id="257" idx="6"/>
          </p:cNvCxnSpPr>
          <p:nvPr/>
        </p:nvCxnSpPr>
        <p:spPr>
          <a:xfrm rot="10800000">
            <a:off x="1667613" y="1942350"/>
            <a:ext cx="161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12"/>
          <p:cNvCxnSpPr>
            <a:stCxn id="253" idx="5"/>
            <a:endCxn id="250" idx="1"/>
          </p:cNvCxnSpPr>
          <p:nvPr/>
        </p:nvCxnSpPr>
        <p:spPr>
          <a:xfrm>
            <a:off x="2574187" y="2972137"/>
            <a:ext cx="751800" cy="36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12"/>
          <p:cNvSpPr/>
          <p:nvPr/>
        </p:nvSpPr>
        <p:spPr>
          <a:xfrm>
            <a:off x="2338350" y="27363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6529288" y="188595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7476513" y="14232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7476513" y="3296238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5582188" y="3296163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12"/>
          <p:cNvCxnSpPr>
            <a:stCxn id="267" idx="3"/>
            <a:endCxn id="265" idx="7"/>
          </p:cNvCxnSpPr>
          <p:nvPr/>
        </p:nvCxnSpPr>
        <p:spPr>
          <a:xfrm flipH="1">
            <a:off x="5818013" y="2972137"/>
            <a:ext cx="751800" cy="36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12"/>
          <p:cNvCxnSpPr>
            <a:stCxn id="262" idx="6"/>
            <a:endCxn id="263" idx="3"/>
          </p:cNvCxnSpPr>
          <p:nvPr/>
        </p:nvCxnSpPr>
        <p:spPr>
          <a:xfrm flipH="1" rot="10800000">
            <a:off x="6805588" y="1659000"/>
            <a:ext cx="711300" cy="36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12"/>
          <p:cNvCxnSpPr>
            <a:stCxn id="265" idx="6"/>
            <a:endCxn id="264" idx="2"/>
          </p:cNvCxnSpPr>
          <p:nvPr/>
        </p:nvCxnSpPr>
        <p:spPr>
          <a:xfrm>
            <a:off x="5858488" y="3434313"/>
            <a:ext cx="161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12"/>
          <p:cNvCxnSpPr>
            <a:stCxn id="263" idx="4"/>
            <a:endCxn id="264" idx="0"/>
          </p:cNvCxnSpPr>
          <p:nvPr/>
        </p:nvCxnSpPr>
        <p:spPr>
          <a:xfrm>
            <a:off x="7614663" y="1699500"/>
            <a:ext cx="0" cy="159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2"/>
          <p:cNvSpPr/>
          <p:nvPr/>
        </p:nvSpPr>
        <p:spPr>
          <a:xfrm>
            <a:off x="5582188" y="1423125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12"/>
          <p:cNvCxnSpPr>
            <a:stCxn id="262" idx="2"/>
            <a:endCxn id="271" idx="5"/>
          </p:cNvCxnSpPr>
          <p:nvPr/>
        </p:nvCxnSpPr>
        <p:spPr>
          <a:xfrm rot="10800000">
            <a:off x="5817988" y="1659000"/>
            <a:ext cx="711300" cy="36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12"/>
          <p:cNvCxnSpPr>
            <a:stCxn id="271" idx="4"/>
            <a:endCxn id="265" idx="0"/>
          </p:cNvCxnSpPr>
          <p:nvPr/>
        </p:nvCxnSpPr>
        <p:spPr>
          <a:xfrm>
            <a:off x="5720338" y="1699425"/>
            <a:ext cx="0" cy="159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12"/>
          <p:cNvCxnSpPr>
            <a:stCxn id="263" idx="2"/>
            <a:endCxn id="271" idx="6"/>
          </p:cNvCxnSpPr>
          <p:nvPr/>
        </p:nvCxnSpPr>
        <p:spPr>
          <a:xfrm rot="10800000">
            <a:off x="5858613" y="1561350"/>
            <a:ext cx="161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12"/>
          <p:cNvCxnSpPr>
            <a:stCxn id="267" idx="5"/>
            <a:endCxn id="264" idx="1"/>
          </p:cNvCxnSpPr>
          <p:nvPr/>
        </p:nvCxnSpPr>
        <p:spPr>
          <a:xfrm>
            <a:off x="6765187" y="2972137"/>
            <a:ext cx="751800" cy="36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12"/>
          <p:cNvSpPr/>
          <p:nvPr/>
        </p:nvSpPr>
        <p:spPr>
          <a:xfrm>
            <a:off x="6529350" y="2736300"/>
            <a:ext cx="276300" cy="276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4400100" y="2232275"/>
            <a:ext cx="34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~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720" y="3785775"/>
            <a:ext cx="711300" cy="1093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283" name="Google Shape;283;p1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M = (V, E, F) hartă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Avem:</a:t>
            </a:r>
            <a:endParaRPr b="0"/>
          </a:p>
        </p:txBody>
      </p:sp>
      <p:pic>
        <p:nvPicPr>
          <p:cNvPr descr="\sum\limits_{f \in F} d_M(f) = 2|E|" id="284" name="Google Shape;284;p13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425" y="1697250"/>
            <a:ext cx="2188430" cy="6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290" name="Google Shape;290;p1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poliedrală a lui EULER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planar </a:t>
            </a:r>
            <a:r>
              <a:rPr lang="en-GB"/>
              <a:t>conex</a:t>
            </a:r>
            <a:r>
              <a:rPr b="0" lang="en-GB"/>
              <a:t> și M = (V, E, F) o hartă a lui. Are loc relația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				</a:t>
            </a:r>
            <a:r>
              <a:rPr lang="en-GB"/>
              <a:t>|V| - |E| + |F| = 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296" name="Google Shape;296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poliedrală a lui EULER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planar </a:t>
            </a:r>
            <a:r>
              <a:rPr lang="en-GB"/>
              <a:t>conex</a:t>
            </a:r>
            <a:r>
              <a:rPr b="0" lang="en-GB"/>
              <a:t> și M = (V, E, F) o hartă a lui. Are loc relația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</a:t>
            </a:r>
            <a:r>
              <a:rPr lang="en-GB"/>
              <a:t>|V| - |E| + |F| = 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Inducție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Arbore parțial + muchii</a:t>
            </a:r>
            <a:endParaRPr/>
          </a:p>
        </p:txBody>
      </p:sp>
      <p:grpSp>
        <p:nvGrpSpPr>
          <p:cNvPr id="297" name="Google Shape;297;p15"/>
          <p:cNvGrpSpPr/>
          <p:nvPr/>
        </p:nvGrpSpPr>
        <p:grpSpPr>
          <a:xfrm>
            <a:off x="5377850" y="2142075"/>
            <a:ext cx="3274200" cy="2740800"/>
            <a:chOff x="5377850" y="2142075"/>
            <a:chExt cx="3274200" cy="2740800"/>
          </a:xfrm>
        </p:grpSpPr>
        <p:sp>
          <p:nvSpPr>
            <p:cNvPr id="298" name="Google Shape;298;p15"/>
            <p:cNvSpPr/>
            <p:nvPr/>
          </p:nvSpPr>
          <p:spPr>
            <a:xfrm>
              <a:off x="6901850" y="21420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5377850" y="2751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6368450" y="2751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7511450" y="2751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8425850" y="2751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5911250" y="34374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6978050" y="34374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8044850" y="34374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6444650" y="39708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6368450" y="4656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7511450" y="39708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9" name="Google Shape;309;p15"/>
            <p:cNvCxnSpPr>
              <a:stCxn id="298" idx="2"/>
              <a:endCxn id="299" idx="0"/>
            </p:cNvCxnSpPr>
            <p:nvPr/>
          </p:nvCxnSpPr>
          <p:spPr>
            <a:xfrm flipH="1">
              <a:off x="5490950" y="2255175"/>
              <a:ext cx="1410900" cy="496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0" name="Google Shape;310;p15"/>
            <p:cNvCxnSpPr>
              <a:stCxn id="298" idx="6"/>
              <a:endCxn id="302" idx="0"/>
            </p:cNvCxnSpPr>
            <p:nvPr/>
          </p:nvCxnSpPr>
          <p:spPr>
            <a:xfrm>
              <a:off x="7128050" y="2255175"/>
              <a:ext cx="1410900" cy="496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1" name="Google Shape;311;p15"/>
            <p:cNvCxnSpPr>
              <a:stCxn id="298" idx="3"/>
              <a:endCxn id="300" idx="0"/>
            </p:cNvCxnSpPr>
            <p:nvPr/>
          </p:nvCxnSpPr>
          <p:spPr>
            <a:xfrm flipH="1">
              <a:off x="6481676" y="2335149"/>
              <a:ext cx="453300" cy="4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2" name="Google Shape;312;p15"/>
            <p:cNvCxnSpPr>
              <a:stCxn id="298" idx="5"/>
              <a:endCxn id="301" idx="0"/>
            </p:cNvCxnSpPr>
            <p:nvPr/>
          </p:nvCxnSpPr>
          <p:spPr>
            <a:xfrm>
              <a:off x="7094924" y="2335149"/>
              <a:ext cx="529500" cy="4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3" name="Google Shape;313;p15"/>
            <p:cNvCxnSpPr>
              <a:stCxn id="300" idx="3"/>
              <a:endCxn id="303" idx="0"/>
            </p:cNvCxnSpPr>
            <p:nvPr/>
          </p:nvCxnSpPr>
          <p:spPr>
            <a:xfrm flipH="1">
              <a:off x="6024476" y="2944749"/>
              <a:ext cx="377100" cy="49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4" name="Google Shape;314;p15"/>
            <p:cNvCxnSpPr>
              <a:stCxn id="301" idx="3"/>
              <a:endCxn id="304" idx="0"/>
            </p:cNvCxnSpPr>
            <p:nvPr/>
          </p:nvCxnSpPr>
          <p:spPr>
            <a:xfrm flipH="1">
              <a:off x="7091276" y="2944749"/>
              <a:ext cx="453300" cy="49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5" name="Google Shape;315;p15"/>
            <p:cNvCxnSpPr>
              <a:stCxn id="301" idx="5"/>
              <a:endCxn id="305" idx="0"/>
            </p:cNvCxnSpPr>
            <p:nvPr/>
          </p:nvCxnSpPr>
          <p:spPr>
            <a:xfrm>
              <a:off x="7704524" y="2944749"/>
              <a:ext cx="453300" cy="49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" name="Google Shape;316;p15"/>
            <p:cNvCxnSpPr>
              <a:stCxn id="304" idx="2"/>
              <a:endCxn id="306" idx="0"/>
            </p:cNvCxnSpPr>
            <p:nvPr/>
          </p:nvCxnSpPr>
          <p:spPr>
            <a:xfrm flipH="1">
              <a:off x="6557750" y="3550575"/>
              <a:ext cx="420300" cy="42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7" name="Google Shape;317;p15"/>
            <p:cNvCxnSpPr>
              <a:stCxn id="304" idx="6"/>
              <a:endCxn id="308" idx="0"/>
            </p:cNvCxnSpPr>
            <p:nvPr/>
          </p:nvCxnSpPr>
          <p:spPr>
            <a:xfrm>
              <a:off x="7204250" y="3550575"/>
              <a:ext cx="420300" cy="42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8" name="Google Shape;318;p15"/>
            <p:cNvCxnSpPr>
              <a:stCxn id="306" idx="4"/>
              <a:endCxn id="307" idx="0"/>
            </p:cNvCxnSpPr>
            <p:nvPr/>
          </p:nvCxnSpPr>
          <p:spPr>
            <a:xfrm flipH="1">
              <a:off x="6481550" y="4197075"/>
              <a:ext cx="76200" cy="45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9" name="Google Shape;319;p15"/>
            <p:cNvCxnSpPr>
              <a:stCxn id="300" idx="6"/>
              <a:endCxn id="301" idx="2"/>
            </p:cNvCxnSpPr>
            <p:nvPr/>
          </p:nvCxnSpPr>
          <p:spPr>
            <a:xfrm>
              <a:off x="6594650" y="2864775"/>
              <a:ext cx="916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320" name="Google Shape;320;p15"/>
            <p:cNvCxnSpPr>
              <a:stCxn id="300" idx="5"/>
              <a:endCxn id="304" idx="1"/>
            </p:cNvCxnSpPr>
            <p:nvPr/>
          </p:nvCxnSpPr>
          <p:spPr>
            <a:xfrm>
              <a:off x="6561524" y="2944749"/>
              <a:ext cx="449700" cy="525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326" name="Google Shape;326;p1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poliedrală a lui EULER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planar </a:t>
            </a:r>
            <a:r>
              <a:rPr lang="en-GB"/>
              <a:t>conex</a:t>
            </a:r>
            <a:r>
              <a:rPr b="0" lang="en-GB"/>
              <a:t> și M = (V, E, F) o hartă a lui. Are loc relația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</a:t>
            </a:r>
            <a:r>
              <a:rPr lang="en-GB"/>
              <a:t>|V| - |E| + |F| = 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Inducție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Arbore parțial + muchii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Într-un arbore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|E| = |V| - 1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|F| = 1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|V| - |E| + F = |V| - (|V| - 1) + (1) = 1 + 1  = 2 → OK</a:t>
            </a:r>
            <a:endParaRPr/>
          </a:p>
        </p:txBody>
      </p:sp>
      <p:grpSp>
        <p:nvGrpSpPr>
          <p:cNvPr id="327" name="Google Shape;327;p16"/>
          <p:cNvGrpSpPr/>
          <p:nvPr/>
        </p:nvGrpSpPr>
        <p:grpSpPr>
          <a:xfrm>
            <a:off x="5377850" y="2142075"/>
            <a:ext cx="3274200" cy="2740800"/>
            <a:chOff x="5377850" y="2142075"/>
            <a:chExt cx="3274200" cy="2740800"/>
          </a:xfrm>
        </p:grpSpPr>
        <p:sp>
          <p:nvSpPr>
            <p:cNvPr id="328" name="Google Shape;328;p16"/>
            <p:cNvSpPr/>
            <p:nvPr/>
          </p:nvSpPr>
          <p:spPr>
            <a:xfrm>
              <a:off x="6901850" y="21420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5377850" y="2751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6368450" y="2751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7511450" y="2751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8425850" y="2751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5911250" y="34374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6978050" y="34374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8044850" y="34374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6"/>
            <p:cNvSpPr/>
            <p:nvPr/>
          </p:nvSpPr>
          <p:spPr>
            <a:xfrm>
              <a:off x="6444650" y="39708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6"/>
            <p:cNvSpPr/>
            <p:nvPr/>
          </p:nvSpPr>
          <p:spPr>
            <a:xfrm>
              <a:off x="6368450" y="4656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6"/>
            <p:cNvSpPr/>
            <p:nvPr/>
          </p:nvSpPr>
          <p:spPr>
            <a:xfrm>
              <a:off x="7511450" y="39708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9" name="Google Shape;339;p16"/>
            <p:cNvCxnSpPr>
              <a:stCxn id="328" idx="2"/>
              <a:endCxn id="329" idx="0"/>
            </p:cNvCxnSpPr>
            <p:nvPr/>
          </p:nvCxnSpPr>
          <p:spPr>
            <a:xfrm flipH="1">
              <a:off x="5490950" y="2255175"/>
              <a:ext cx="1410900" cy="496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0" name="Google Shape;340;p16"/>
            <p:cNvCxnSpPr>
              <a:stCxn id="328" idx="6"/>
              <a:endCxn id="332" idx="0"/>
            </p:cNvCxnSpPr>
            <p:nvPr/>
          </p:nvCxnSpPr>
          <p:spPr>
            <a:xfrm>
              <a:off x="7128050" y="2255175"/>
              <a:ext cx="1410900" cy="496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1" name="Google Shape;341;p16"/>
            <p:cNvCxnSpPr>
              <a:stCxn id="328" idx="3"/>
              <a:endCxn id="330" idx="0"/>
            </p:cNvCxnSpPr>
            <p:nvPr/>
          </p:nvCxnSpPr>
          <p:spPr>
            <a:xfrm flipH="1">
              <a:off x="6481676" y="2335149"/>
              <a:ext cx="453300" cy="4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2" name="Google Shape;342;p16"/>
            <p:cNvCxnSpPr>
              <a:stCxn id="328" idx="5"/>
              <a:endCxn id="331" idx="0"/>
            </p:cNvCxnSpPr>
            <p:nvPr/>
          </p:nvCxnSpPr>
          <p:spPr>
            <a:xfrm>
              <a:off x="7094924" y="2335149"/>
              <a:ext cx="529500" cy="4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3" name="Google Shape;343;p16"/>
            <p:cNvCxnSpPr>
              <a:stCxn id="330" idx="3"/>
              <a:endCxn id="333" idx="0"/>
            </p:cNvCxnSpPr>
            <p:nvPr/>
          </p:nvCxnSpPr>
          <p:spPr>
            <a:xfrm flipH="1">
              <a:off x="6024476" y="2944749"/>
              <a:ext cx="377100" cy="49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4" name="Google Shape;344;p16"/>
            <p:cNvCxnSpPr>
              <a:stCxn id="331" idx="3"/>
              <a:endCxn id="334" idx="0"/>
            </p:cNvCxnSpPr>
            <p:nvPr/>
          </p:nvCxnSpPr>
          <p:spPr>
            <a:xfrm flipH="1">
              <a:off x="7091276" y="2944749"/>
              <a:ext cx="453300" cy="49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5" name="Google Shape;345;p16"/>
            <p:cNvCxnSpPr>
              <a:stCxn id="331" idx="5"/>
              <a:endCxn id="335" idx="0"/>
            </p:cNvCxnSpPr>
            <p:nvPr/>
          </p:nvCxnSpPr>
          <p:spPr>
            <a:xfrm>
              <a:off x="7704524" y="2944749"/>
              <a:ext cx="453300" cy="49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6" name="Google Shape;346;p16"/>
            <p:cNvCxnSpPr>
              <a:stCxn id="334" idx="2"/>
              <a:endCxn id="336" idx="0"/>
            </p:cNvCxnSpPr>
            <p:nvPr/>
          </p:nvCxnSpPr>
          <p:spPr>
            <a:xfrm flipH="1">
              <a:off x="6557750" y="3550575"/>
              <a:ext cx="420300" cy="42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7" name="Google Shape;347;p16"/>
            <p:cNvCxnSpPr>
              <a:stCxn id="334" idx="6"/>
              <a:endCxn id="338" idx="0"/>
            </p:cNvCxnSpPr>
            <p:nvPr/>
          </p:nvCxnSpPr>
          <p:spPr>
            <a:xfrm>
              <a:off x="7204250" y="3550575"/>
              <a:ext cx="420300" cy="42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8" name="Google Shape;348;p16"/>
            <p:cNvCxnSpPr>
              <a:stCxn id="336" idx="4"/>
              <a:endCxn id="337" idx="0"/>
            </p:cNvCxnSpPr>
            <p:nvPr/>
          </p:nvCxnSpPr>
          <p:spPr>
            <a:xfrm flipH="1">
              <a:off x="6481550" y="4197075"/>
              <a:ext cx="76200" cy="45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9" name="Google Shape;349;p16"/>
            <p:cNvCxnSpPr>
              <a:stCxn id="330" idx="6"/>
              <a:endCxn id="331" idx="2"/>
            </p:cNvCxnSpPr>
            <p:nvPr/>
          </p:nvCxnSpPr>
          <p:spPr>
            <a:xfrm>
              <a:off x="6594650" y="2864775"/>
              <a:ext cx="916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350" name="Google Shape;350;p16"/>
            <p:cNvCxnSpPr>
              <a:stCxn id="330" idx="5"/>
              <a:endCxn id="334" idx="1"/>
            </p:cNvCxnSpPr>
            <p:nvPr/>
          </p:nvCxnSpPr>
          <p:spPr>
            <a:xfrm>
              <a:off x="6561524" y="2944749"/>
              <a:ext cx="449700" cy="525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356" name="Google Shape;356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poliedrală a lui EULER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planar </a:t>
            </a:r>
            <a:r>
              <a:rPr lang="en-GB"/>
              <a:t>conex</a:t>
            </a:r>
            <a:r>
              <a:rPr b="0" lang="en-GB"/>
              <a:t> și M = (V, E, F) o hartă a lui. Are loc relația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</a:t>
            </a:r>
            <a:r>
              <a:rPr lang="en-GB"/>
              <a:t>|V| - |E| + |F| = 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Inducție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Pentru arbore e OK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Când adăugăm o muchie …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V rămâne constant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E crește cu 1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F crește cu 1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Relația rămâne validă</a:t>
            </a:r>
            <a:endParaRPr/>
          </a:p>
        </p:txBody>
      </p:sp>
      <p:grpSp>
        <p:nvGrpSpPr>
          <p:cNvPr id="357" name="Google Shape;357;p17"/>
          <p:cNvGrpSpPr/>
          <p:nvPr/>
        </p:nvGrpSpPr>
        <p:grpSpPr>
          <a:xfrm>
            <a:off x="5377850" y="2142075"/>
            <a:ext cx="3274200" cy="2740800"/>
            <a:chOff x="5377850" y="2142075"/>
            <a:chExt cx="3274200" cy="2740800"/>
          </a:xfrm>
        </p:grpSpPr>
        <p:sp>
          <p:nvSpPr>
            <p:cNvPr id="358" name="Google Shape;358;p17"/>
            <p:cNvSpPr/>
            <p:nvPr/>
          </p:nvSpPr>
          <p:spPr>
            <a:xfrm>
              <a:off x="6901850" y="21420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5377850" y="2751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6368450" y="2751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7511450" y="2751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8425850" y="2751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5911250" y="34374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6978050" y="34374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8044850" y="34374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6444650" y="39708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6368450" y="46566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7511450" y="3970875"/>
              <a:ext cx="226200" cy="226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9" name="Google Shape;369;p17"/>
            <p:cNvCxnSpPr>
              <a:stCxn id="358" idx="2"/>
              <a:endCxn id="359" idx="0"/>
            </p:cNvCxnSpPr>
            <p:nvPr/>
          </p:nvCxnSpPr>
          <p:spPr>
            <a:xfrm flipH="1">
              <a:off x="5490950" y="2255175"/>
              <a:ext cx="1410900" cy="496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0" name="Google Shape;370;p17"/>
            <p:cNvCxnSpPr>
              <a:stCxn id="358" idx="6"/>
              <a:endCxn id="362" idx="0"/>
            </p:cNvCxnSpPr>
            <p:nvPr/>
          </p:nvCxnSpPr>
          <p:spPr>
            <a:xfrm>
              <a:off x="7128050" y="2255175"/>
              <a:ext cx="1410900" cy="496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" name="Google Shape;371;p17"/>
            <p:cNvCxnSpPr>
              <a:stCxn id="358" idx="3"/>
              <a:endCxn id="360" idx="0"/>
            </p:cNvCxnSpPr>
            <p:nvPr/>
          </p:nvCxnSpPr>
          <p:spPr>
            <a:xfrm flipH="1">
              <a:off x="6481676" y="2335149"/>
              <a:ext cx="453300" cy="4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2" name="Google Shape;372;p17"/>
            <p:cNvCxnSpPr>
              <a:stCxn id="358" idx="5"/>
              <a:endCxn id="361" idx="0"/>
            </p:cNvCxnSpPr>
            <p:nvPr/>
          </p:nvCxnSpPr>
          <p:spPr>
            <a:xfrm>
              <a:off x="7094924" y="2335149"/>
              <a:ext cx="529500" cy="4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3" name="Google Shape;373;p17"/>
            <p:cNvCxnSpPr>
              <a:stCxn id="360" idx="3"/>
              <a:endCxn id="363" idx="0"/>
            </p:cNvCxnSpPr>
            <p:nvPr/>
          </p:nvCxnSpPr>
          <p:spPr>
            <a:xfrm flipH="1">
              <a:off x="6024476" y="2944749"/>
              <a:ext cx="377100" cy="49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4" name="Google Shape;374;p17"/>
            <p:cNvCxnSpPr>
              <a:stCxn id="361" idx="3"/>
              <a:endCxn id="364" idx="0"/>
            </p:cNvCxnSpPr>
            <p:nvPr/>
          </p:nvCxnSpPr>
          <p:spPr>
            <a:xfrm flipH="1">
              <a:off x="7091276" y="2944749"/>
              <a:ext cx="453300" cy="49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5" name="Google Shape;375;p17"/>
            <p:cNvCxnSpPr>
              <a:stCxn id="361" idx="5"/>
              <a:endCxn id="365" idx="0"/>
            </p:cNvCxnSpPr>
            <p:nvPr/>
          </p:nvCxnSpPr>
          <p:spPr>
            <a:xfrm>
              <a:off x="7704524" y="2944749"/>
              <a:ext cx="453300" cy="49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17"/>
            <p:cNvCxnSpPr>
              <a:stCxn id="364" idx="2"/>
              <a:endCxn id="366" idx="0"/>
            </p:cNvCxnSpPr>
            <p:nvPr/>
          </p:nvCxnSpPr>
          <p:spPr>
            <a:xfrm flipH="1">
              <a:off x="6557750" y="3550575"/>
              <a:ext cx="420300" cy="42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17"/>
            <p:cNvCxnSpPr>
              <a:stCxn id="364" idx="6"/>
              <a:endCxn id="368" idx="0"/>
            </p:cNvCxnSpPr>
            <p:nvPr/>
          </p:nvCxnSpPr>
          <p:spPr>
            <a:xfrm>
              <a:off x="7204250" y="3550575"/>
              <a:ext cx="420300" cy="42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17"/>
            <p:cNvCxnSpPr>
              <a:stCxn id="366" idx="4"/>
              <a:endCxn id="367" idx="0"/>
            </p:cNvCxnSpPr>
            <p:nvPr/>
          </p:nvCxnSpPr>
          <p:spPr>
            <a:xfrm flipH="1">
              <a:off x="6481550" y="4197075"/>
              <a:ext cx="76200" cy="45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9" name="Google Shape;379;p17"/>
            <p:cNvCxnSpPr>
              <a:stCxn id="360" idx="6"/>
              <a:endCxn id="361" idx="2"/>
            </p:cNvCxnSpPr>
            <p:nvPr/>
          </p:nvCxnSpPr>
          <p:spPr>
            <a:xfrm>
              <a:off x="6594650" y="2864775"/>
              <a:ext cx="916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17"/>
            <p:cNvCxnSpPr>
              <a:stCxn id="360" idx="5"/>
              <a:endCxn id="364" idx="1"/>
            </p:cNvCxnSpPr>
            <p:nvPr/>
          </p:nvCxnSpPr>
          <p:spPr>
            <a:xfrm>
              <a:off x="6561524" y="2944749"/>
              <a:ext cx="449700" cy="525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386" name="Google Shape;386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poliedrală a lui EULER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planar </a:t>
            </a:r>
            <a:r>
              <a:rPr lang="en-GB"/>
              <a:t>conex</a:t>
            </a:r>
            <a:r>
              <a:rPr b="0" lang="en-GB"/>
              <a:t> și M = (V, E, F) o hartă a lui. Are loc relația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</a:t>
            </a:r>
            <a:r>
              <a:rPr lang="en-GB"/>
              <a:t>|V| - |E| + |F| = 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Consecință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	</a:t>
            </a:r>
            <a:r>
              <a:rPr b="0" lang="en-GB"/>
              <a:t>Orice hartă M a lui G are 2 - |V| + |E| fețe.</a:t>
            </a:r>
            <a:endParaRPr b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392" name="Google Shape;392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Proprietăți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planar convex, cu n = |V| &gt; 2 și m = |E|.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lphaLcParenR"/>
            </a:pPr>
            <a:r>
              <a:rPr lang="en-GB"/>
              <a:t>m ≤ 3n - 6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lphaLcParenR"/>
            </a:pPr>
            <a:r>
              <a:rPr lang="en-GB"/>
              <a:t>∃ x ∈ V cu d(x) ≤ 5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398" name="Google Shape;398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Proprietăți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planar convex, cu n = |V| &gt; 2 și m = |E|.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lphaLcParenR"/>
            </a:pPr>
            <a:r>
              <a:rPr lang="en-GB"/>
              <a:t>m ≤ 3n - 6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lphaLcParenR"/>
            </a:pPr>
            <a:r>
              <a:rPr lang="en-GB"/>
              <a:t>∃ x ∈ V cu d(x) ≤ 5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pic>
        <p:nvPicPr>
          <p:cNvPr descr="\sum\limits_{f \in F} d_M(f) = 2|E|" id="399" name="Google Shape;399;p20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550" y="3287525"/>
            <a:ext cx="2084350" cy="59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_M(f) \geq 3" id="400" name="Google Shape;400;p20" title="MathEquation,#31394d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2550" y="3980550"/>
            <a:ext cx="1074950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|V| - |E| + |F| = 2" id="401" name="Google Shape;401;p20" title="MathEquation,#31394d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2550" y="4434650"/>
            <a:ext cx="1956920" cy="2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407" name="Google Shape;407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Proprietăți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planar convex, cu n = |V| &gt; 2 și m = |E|.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lphaLcParenR"/>
            </a:pPr>
            <a:r>
              <a:rPr lang="en-GB"/>
              <a:t>m ≤ 3n - 6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lphaLcParenR"/>
            </a:pPr>
            <a:r>
              <a:rPr lang="en-GB"/>
              <a:t>∃ x ∈ V cu d(x) ≤ 5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pic>
        <p:nvPicPr>
          <p:cNvPr descr="\sum\limits_{f \in F} d_M(f) = 2|E|" id="408" name="Google Shape;408;p21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550" y="3287525"/>
            <a:ext cx="2084350" cy="59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_M(f) \geq 3" id="409" name="Google Shape;409;p21" title="MathEquation,#31394d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2550" y="3980550"/>
            <a:ext cx="1074950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|V| - |E| + |F| = 2" id="410" name="Google Shape;410;p21" title="MathEquation,#31394d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2550" y="4434650"/>
            <a:ext cx="1956920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|V| - |E| + |2E| / 3 \leq 2" id="411" name="Google Shape;411;p21" title="MathEquation,#31394d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8436" y="3595375"/>
            <a:ext cx="2312714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|V| - |E|  \leq 6 \Rightarrow a)" id="412" name="Google Shape;412;p21" title="MathEquation,#31394d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48426" y="4086625"/>
            <a:ext cx="2062702" cy="2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418" name="Google Shape;418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Proprietăți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planar convex, cu n = |V| &gt; 2 și m = |E|.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lphaLcParenR"/>
            </a:pPr>
            <a:r>
              <a:rPr lang="en-GB"/>
              <a:t>m ≤ 3n - 6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lphaLcParenR"/>
            </a:pPr>
            <a:r>
              <a:rPr lang="en-GB"/>
              <a:t>∃ x ∈ V cu d(x) ≤ 5 		(exercițiu)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Consecință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K</a:t>
            </a:r>
            <a:r>
              <a:rPr b="0" baseline="-25000" lang="en-GB"/>
              <a:t>5</a:t>
            </a:r>
            <a:r>
              <a:rPr b="0" lang="en-GB"/>
              <a:t> nu este graf planar (exercițiu)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424" name="Google Shape;424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Proprietăți (temă)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planar conex </a:t>
            </a:r>
            <a:r>
              <a:rPr lang="en-GB" u="sng"/>
              <a:t>bipartit</a:t>
            </a:r>
            <a:r>
              <a:rPr b="0" lang="en-GB"/>
              <a:t>, cu n = |V| &gt; 2 și m = |E|.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lphaLcParenR"/>
            </a:pPr>
            <a:r>
              <a:rPr lang="en-GB"/>
              <a:t>m ≤ 2n - 4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lphaLcParenR"/>
            </a:pPr>
            <a:r>
              <a:rPr lang="en-GB"/>
              <a:t>∃ x ∈ V cu d(x) ≤ 3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Consecință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K</a:t>
            </a:r>
            <a:r>
              <a:rPr b="0" baseline="-25000" lang="en-GB"/>
              <a:t>3, 3</a:t>
            </a:r>
            <a:r>
              <a:rPr b="0" lang="en-GB"/>
              <a:t> nu este graf planar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430" name="Google Shape;430;p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celor 6 culori</a:t>
            </a:r>
            <a:endParaRPr u="sng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Orice graf planar conex este 6-colorabil.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Algoritm de colorare a unui graf planar cu 6 culori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436" name="Google Shape;436;p25"/>
          <p:cNvSpPr txBox="1"/>
          <p:nvPr>
            <p:ph idx="1" type="body"/>
          </p:nvPr>
        </p:nvSpPr>
        <p:spPr>
          <a:xfrm>
            <a:off x="311700" y="906225"/>
            <a:ext cx="88323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celor 6 culori</a:t>
            </a:r>
            <a:endParaRPr u="sng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Orice graf planar conex este 6-colorabil.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 de colorare a unui graf planar cu 6 culori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colorare(G)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|V(G)| ≤ 6,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colorează vârfurile cu 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culori distincte din {1,</a:t>
            </a:r>
            <a:r>
              <a:rPr b="0" lang="en-GB" sz="1300"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,6}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442" name="Google Shape;442;p26"/>
          <p:cNvSpPr txBox="1"/>
          <p:nvPr>
            <p:ph idx="1" type="body"/>
          </p:nvPr>
        </p:nvSpPr>
        <p:spPr>
          <a:xfrm>
            <a:off x="311700" y="906225"/>
            <a:ext cx="88323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celor 6 culori</a:t>
            </a:r>
            <a:endParaRPr u="sng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Orice graf planar conex este 6-colorabil.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 de colorare a unui graf planar cu 6 culori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colorare(G)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dacă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|V(G)| ≤ 6,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colorează vârfurile cu 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culori distincte din {1,</a:t>
            </a:r>
            <a:r>
              <a:rPr b="0" lang="en-GB" sz="1300"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,6}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altfel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alege x cu d(x) ≤ 5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448" name="Google Shape;448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celor 6 culori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Orice graf planar conex este 6-colorabil.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 de colorare a unui graf planar cu 6 culori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colorare(G)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dacă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|V(G)| ≤ 6,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colorează vârfurile cu 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culori distincte din {1,</a:t>
            </a:r>
            <a:r>
              <a:rPr b="0" lang="en-GB" sz="1300"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,6}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altfel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alege x cu d(x) ≤ 5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colorare(G-x)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454" name="Google Shape;454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celor 6 culori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Orice graf planar conex este 6-colorabil.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 de colorare a unui graf planar cu 6 culori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colorare(G)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dacă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|V(G)| ≤ 6,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colorează vârfurile cu 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culori distincte din {1,</a:t>
            </a:r>
            <a:r>
              <a:rPr b="0" lang="en-GB" sz="1300"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,6}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altfel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alege x cu d(x) ≤ 5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colorare(G-x)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colorează x cu o culoare din {1,...,6} 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diferită de culorile vecinilor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460" name="Google Shape;460;p29"/>
          <p:cNvSpPr txBox="1"/>
          <p:nvPr>
            <p:ph idx="1" type="body"/>
          </p:nvPr>
        </p:nvSpPr>
        <p:spPr>
          <a:xfrm>
            <a:off x="311700" y="906225"/>
            <a:ext cx="8832300" cy="4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6250"/>
              <a:buNone/>
            </a:pPr>
            <a:r>
              <a:rPr lang="en-GB" u="sng"/>
              <a:t>Teorema celor 6 culori</a:t>
            </a:r>
            <a:endParaRPr u="sng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6250"/>
              <a:buNone/>
            </a:pPr>
            <a:r>
              <a:rPr b="0" lang="en-GB"/>
              <a:t>Orice graf planar conex este 6-colorabil.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6250"/>
              <a:buNone/>
            </a:pPr>
            <a:r>
              <a:rPr lang="en-GB"/>
              <a:t>Algoritm de colorare a unui graf planar cu 6 culori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1428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colorare(G)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dacă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|V(G)| ≤ 6,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colorează vârfurile cu 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1428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culori distincte din {1,</a:t>
            </a:r>
            <a:r>
              <a:rPr b="0" lang="en-GB" sz="1300"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,6}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1428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altfel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alege x cu d(x) ≤ 5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colorare(G-x)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colorează x cu o culoare din {1,...,6} 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1428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diferită de culorile vecinilor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ct val="106250"/>
              <a:buNone/>
            </a:pPr>
            <a:br>
              <a:rPr lang="en-GB"/>
            </a:br>
            <a:r>
              <a:rPr lang="en-GB"/>
              <a:t>Sugestie de implementare </a:t>
            </a:r>
            <a:r>
              <a:rPr b="0" lang="en-GB"/>
              <a:t>- determinarea iterativă a ordinii în care sunt colorate vârfurile (similar parcurgere BF, sortare topologică)</a:t>
            </a:r>
            <a:endParaRPr b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466" name="Google Shape;466;p30"/>
          <p:cNvSpPr txBox="1"/>
          <p:nvPr>
            <p:ph idx="1" type="body"/>
          </p:nvPr>
        </p:nvSpPr>
        <p:spPr>
          <a:xfrm>
            <a:off x="311700" y="906225"/>
            <a:ext cx="8520600" cy="4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celor 5 culori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Orice graf planar conex este 5-colorabil.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Suplimentar - Temă (+ algoritm de 5-colorare)</a:t>
            </a:r>
            <a:endParaRPr b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planar</a:t>
            </a:r>
            <a:endParaRPr/>
          </a:p>
        </p:txBody>
      </p:sp>
      <p:sp>
        <p:nvSpPr>
          <p:cNvPr id="472" name="Google Shape;472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celor 4 culori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Orice graf planar conex este 4-colorabil.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Peste nivelul cursului.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te a new document." ma:contentTypeScope="" ma:versionID="a24da269fcca2a905fc9c8ad0066c42c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06b7b4207b8b883b4ffcfbd92386e0fc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17FD64-4818-4166-8619-627D6758D0F9}"/>
</file>

<file path=customXml/itemProps2.xml><?xml version="1.0" encoding="utf-8"?>
<ds:datastoreItem xmlns:ds="http://schemas.openxmlformats.org/officeDocument/2006/customXml" ds:itemID="{FA43E301-6B35-490E-B41F-7F4D7904D3E5}"/>
</file>

<file path=customXml/itemProps3.xml><?xml version="1.0" encoding="utf-8"?>
<ds:datastoreItem xmlns:ds="http://schemas.openxmlformats.org/officeDocument/2006/customXml" ds:itemID="{C6032781-B4F3-43A3-A20D-1745273FCD40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