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  <p:embeddedFont>
      <p:font typeface="Roboto Mono"/>
      <p:regular r:id="rId61"/>
      <p:bold r:id="rId62"/>
      <p:italic r:id="rId63"/>
      <p:boldItalic r:id="rId64"/>
    </p:embeddedFont>
    <p:embeddedFont>
      <p:font typeface="Merriweather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9" roundtripDataSignature="AMtx7mgGzcbRAfZ6d7KTLJrIIJfI3V5+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D42C80-69B9-4CBF-9975-66A484430DEF}">
  <a:tblStyle styleId="{C3D42C80-69B9-4CBF-9975-66A484430DE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font" Target="fonts/RobotoMono-italic.fntdata"/><Relationship Id="rId21" Type="http://schemas.openxmlformats.org/officeDocument/2006/relationships/slide" Target="slides/slide15.xml"/><Relationship Id="rId68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71" Type="http://schemas.openxmlformats.org/officeDocument/2006/relationships/customXml" Target="../customXml/item2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66" Type="http://schemas.openxmlformats.org/officeDocument/2006/relationships/font" Target="fonts/Merriweather-bold.fntdata"/><Relationship Id="rId24" Type="http://schemas.openxmlformats.org/officeDocument/2006/relationships/slide" Target="slides/slide18.xml"/><Relationship Id="rId53" Type="http://schemas.openxmlformats.org/officeDocument/2006/relationships/slide" Target="slides/slide47.xml"/><Relationship Id="rId11" Type="http://schemas.openxmlformats.org/officeDocument/2006/relationships/slide" Target="slides/slide5.xml"/><Relationship Id="rId58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1" Type="http://schemas.openxmlformats.org/officeDocument/2006/relationships/font" Target="fonts/RobotoMono-regular.fntdata"/><Relationship Id="rId19" Type="http://schemas.openxmlformats.org/officeDocument/2006/relationships/slide" Target="slides/slide13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64" Type="http://schemas.openxmlformats.org/officeDocument/2006/relationships/font" Target="fonts/RobotoMono-boldItalic.fntdata"/><Relationship Id="rId22" Type="http://schemas.openxmlformats.org/officeDocument/2006/relationships/slide" Target="slides/slide16.xml"/><Relationship Id="rId69" Type="http://customschemas.google.com/relationships/presentationmetadata" Target="metadata"/><Relationship Id="rId27" Type="http://schemas.openxmlformats.org/officeDocument/2006/relationships/slide" Target="slides/slide21.xml"/><Relationship Id="rId56" Type="http://schemas.openxmlformats.org/officeDocument/2006/relationships/slide" Target="slides/slide50.xml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customXml" Target="../customXml/item3.xml"/><Relationship Id="rId3" Type="http://schemas.openxmlformats.org/officeDocument/2006/relationships/presProps" Target="presProps.xml"/><Relationship Id="rId46" Type="http://schemas.openxmlformats.org/officeDocument/2006/relationships/slide" Target="slides/slide40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67" Type="http://schemas.openxmlformats.org/officeDocument/2006/relationships/font" Target="fonts/Merriweather-italic.fntdata"/><Relationship Id="rId25" Type="http://schemas.openxmlformats.org/officeDocument/2006/relationships/slide" Target="slides/slide19.xml"/><Relationship Id="rId12" Type="http://schemas.openxmlformats.org/officeDocument/2006/relationships/slide" Target="slides/slide6.xml"/><Relationship Id="rId59" Type="http://schemas.openxmlformats.org/officeDocument/2006/relationships/font" Target="fonts/Roboto-italic.fntdata"/><Relationship Id="rId17" Type="http://schemas.openxmlformats.org/officeDocument/2006/relationships/slide" Target="slides/slide11.xml"/><Relationship Id="rId41" Type="http://schemas.openxmlformats.org/officeDocument/2006/relationships/slide" Target="slides/slide35.xml"/><Relationship Id="rId62" Type="http://schemas.openxmlformats.org/officeDocument/2006/relationships/font" Target="fonts/RobotoMono-bold.fntdata"/><Relationship Id="rId20" Type="http://schemas.openxmlformats.org/officeDocument/2006/relationships/slide" Target="slides/slide14.xml"/><Relationship Id="rId54" Type="http://schemas.openxmlformats.org/officeDocument/2006/relationships/slide" Target="slides/slide48.xml"/><Relationship Id="rId70" Type="http://schemas.openxmlformats.org/officeDocument/2006/relationships/customXml" Target="../customXml/item1.xml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49" Type="http://schemas.openxmlformats.org/officeDocument/2006/relationships/slide" Target="slides/slide43.xml"/><Relationship Id="rId36" Type="http://schemas.openxmlformats.org/officeDocument/2006/relationships/slide" Target="slides/slide30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7" Type="http://schemas.openxmlformats.org/officeDocument/2006/relationships/font" Target="fonts/Roboto-regular.fntdata"/><Relationship Id="rId15" Type="http://schemas.openxmlformats.org/officeDocument/2006/relationships/slide" Target="slides/slide9.xml"/><Relationship Id="rId44" Type="http://schemas.openxmlformats.org/officeDocument/2006/relationships/slide" Target="slides/slide38.xml"/><Relationship Id="rId31" Type="http://schemas.openxmlformats.org/officeDocument/2006/relationships/slide" Target="slides/slide25.xml"/><Relationship Id="rId65" Type="http://schemas.openxmlformats.org/officeDocument/2006/relationships/font" Target="fonts/Merriweather-regular.fntdata"/><Relationship Id="rId60" Type="http://schemas.openxmlformats.org/officeDocument/2006/relationships/font" Target="fonts/Roboto-boldItalic.fntdata"/><Relationship Id="rId52" Type="http://schemas.openxmlformats.org/officeDocument/2006/relationships/slide" Target="slides/slide46.xml"/><Relationship Id="rId10" Type="http://schemas.openxmlformats.org/officeDocument/2006/relationships/slide" Target="slides/slide4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39" Type="http://schemas.openxmlformats.org/officeDocument/2006/relationships/slide" Target="slides/slide3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5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6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p56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6" name="Google Shape;26;p56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7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7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1" name="Google Shape;31;p57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2" name="Google Shape;32;p5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5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8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8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8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5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6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3" name="Google Shape;53;p6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8" name="Google Shape;5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6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64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Drumuri minime între toate perechile de vârfuri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800"/>
              <a:t>Algoritmul Floyd-Warshall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Se dă: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un graf </a:t>
            </a:r>
            <a:r>
              <a:rPr lang="en-GB">
                <a:solidFill>
                  <a:srgbClr val="CC0000"/>
                </a:solidFill>
              </a:rPr>
              <a:t>orientat</a:t>
            </a:r>
            <a:r>
              <a:rPr b="0" lang="en-GB">
                <a:solidFill>
                  <a:srgbClr val="CC0000"/>
                </a:solidFill>
              </a:rPr>
              <a:t> </a:t>
            </a:r>
            <a:r>
              <a:rPr b="0" lang="en-GB"/>
              <a:t>ponderat G = (V, E, w)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oricare două vârfuri x și y ale lui G, să se determine distanța de la x la y și un drum minim de la x la y.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Ponderile pot fi și </a:t>
            </a:r>
            <a:r>
              <a:rPr lang="en-GB">
                <a:solidFill>
                  <a:srgbClr val="CC0000"/>
                </a:solidFill>
              </a:rPr>
              <a:t>negative</a:t>
            </a:r>
            <a:r>
              <a:rPr b="0" lang="en-GB">
                <a:solidFill>
                  <a:srgbClr val="CC0000"/>
                </a:solidFill>
              </a:rPr>
              <a:t> </a:t>
            </a:r>
            <a:r>
              <a:rPr b="0" lang="en-GB"/>
              <a:t>dar </a:t>
            </a:r>
            <a:r>
              <a:rPr lang="en-GB">
                <a:solidFill>
                  <a:srgbClr val="CC0000"/>
                </a:solidFill>
              </a:rPr>
              <a:t>NU</a:t>
            </a:r>
            <a:r>
              <a:rPr b="0" lang="en-GB">
                <a:solidFill>
                  <a:srgbClr val="CC0000"/>
                </a:solidFill>
              </a:rPr>
              <a:t> </a:t>
            </a:r>
            <a:r>
              <a:rPr b="0" lang="en-GB"/>
              <a:t>există </a:t>
            </a:r>
            <a:r>
              <a:rPr lang="en-GB">
                <a:solidFill>
                  <a:srgbClr val="CC0000"/>
                </a:solidFill>
              </a:rPr>
              <a:t>circuite cu cost negativ</a:t>
            </a:r>
            <a:r>
              <a:rPr b="0" lang="en-GB"/>
              <a:t> în G.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85" name="Google Shape;85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Soluția 1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Se aplică algoritmul lui Dijkstra pentru fiecare vârf x.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7"/>
            <a:ext cx="810925" cy="14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Soluția 1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Se aplică algoritmul lui Dijkstra pentru fiecare vârf x.</a:t>
            </a:r>
            <a:endParaRPr b="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r>
              <a:rPr lang="en-GB">
                <a:solidFill>
                  <a:srgbClr val="CC0000"/>
                </a:solidFill>
              </a:rPr>
              <a:t>!!! funcționează dacă ponderile sunt pozitive</a:t>
            </a:r>
            <a:endParaRPr>
              <a:solidFill>
                <a:srgbClr val="CC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Complexitate = n * complexitate Dijkstra</a:t>
            </a:r>
            <a:endParaRPr/>
          </a:p>
        </p:txBody>
      </p:sp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9875"/>
            <a:ext cx="1617050" cy="14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Soluția 2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Se aplică algoritmul lui Bellman Ford pentru fiecare vârf x.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7"/>
            <a:ext cx="810925" cy="14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Soluția 2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Se aplică algoritmul lui Bellman Ford pentru fiecare vârf x.</a:t>
            </a:r>
            <a:endParaRPr b="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 </a:t>
            </a:r>
            <a:endParaRPr b="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Complexitate = n * Complexitate Bellman Ford 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→ n * n * m = n</a:t>
            </a:r>
            <a:r>
              <a:rPr baseline="30000" lang="en-GB"/>
              <a:t>2</a:t>
            </a:r>
            <a:r>
              <a:rPr lang="en-GB"/>
              <a:t> * m 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  </a:t>
            </a:r>
            <a:endParaRPr/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7"/>
            <a:ext cx="810925" cy="14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4574" y="3497925"/>
            <a:ext cx="810925" cy="108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Soluția 3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Algoritmul Floyd-Warshall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7"/>
            <a:ext cx="810925" cy="14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Floyd-Warshall</a:t>
            </a:r>
            <a:endParaRPr/>
          </a:p>
        </p:txBody>
      </p:sp>
      <p:sp>
        <p:nvSpPr>
          <p:cNvPr id="121" name="Google Shape;121;p8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W = (w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r>
              <a:rPr b="0" lang="en-GB"/>
              <a:t> </a:t>
            </a:r>
            <a:r>
              <a:rPr lang="en-GB">
                <a:solidFill>
                  <a:srgbClr val="CC0000"/>
                </a:solidFill>
              </a:rPr>
              <a:t>matricea costurilor</a:t>
            </a:r>
            <a:r>
              <a:rPr b="0" lang="en-GB"/>
              <a:t> grafului G: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    0, 		dacă i = j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w</a:t>
            </a:r>
            <a:r>
              <a:rPr b="0" baseline="-25000" lang="en-GB"/>
              <a:t>ij</a:t>
            </a:r>
            <a:r>
              <a:rPr b="0" lang="en-GB"/>
              <a:t> = 	    w(i, j), 	dacă ij ∈ 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    ∞, 	dacă ij ∉ 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Vrem să calculăm </a:t>
            </a:r>
            <a:r>
              <a:rPr lang="en-GB" u="sng">
                <a:solidFill>
                  <a:srgbClr val="CC0000"/>
                </a:solidFill>
              </a:rPr>
              <a:t>matricea distanțelor</a:t>
            </a:r>
            <a:r>
              <a:rPr b="0" lang="en-GB"/>
              <a:t> D = (d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r>
              <a:rPr b="0" lang="en-GB"/>
              <a:t>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	</a:t>
            </a:r>
            <a:r>
              <a:rPr lang="en-GB"/>
              <a:t>d</a:t>
            </a:r>
            <a:r>
              <a:rPr baseline="-25000" lang="en-GB"/>
              <a:t>ij</a:t>
            </a:r>
            <a:r>
              <a:rPr lang="en-GB"/>
              <a:t> =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(i, j)</a:t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3156275" y="1329400"/>
            <a:ext cx="135600" cy="1325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34" name="Google Shape;134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W = (w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r>
              <a:rPr b="0" lang="en-GB"/>
              <a:t> </a:t>
            </a:r>
            <a:r>
              <a:rPr lang="en-GB">
                <a:solidFill>
                  <a:srgbClr val="CC0000"/>
                </a:solidFill>
              </a:rPr>
              <a:t>matricea costurilor</a:t>
            </a:r>
            <a:r>
              <a:rPr b="0" lang="en-GB"/>
              <a:t> grafului G: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    0, 		dacă i = j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w</a:t>
            </a:r>
            <a:r>
              <a:rPr b="0" baseline="-25000" lang="en-GB"/>
              <a:t>ij</a:t>
            </a:r>
            <a:r>
              <a:rPr b="0" lang="en-GB"/>
              <a:t> = 	    w(i, j), 	dacă ij ∈ 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	    ∞, 	dacă ij ∉ 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Vrem să calculăm </a:t>
            </a:r>
            <a:r>
              <a:rPr lang="en-GB" u="sng">
                <a:solidFill>
                  <a:srgbClr val="CC0000"/>
                </a:solidFill>
              </a:rPr>
              <a:t>matricea distanțelor</a:t>
            </a:r>
            <a:r>
              <a:rPr b="0" lang="en-GB"/>
              <a:t> D = (d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r>
              <a:rPr b="0" lang="en-GB"/>
              <a:t>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</a:t>
            </a:r>
            <a:r>
              <a:rPr lang="en-GB"/>
              <a:t>d</a:t>
            </a:r>
            <a:r>
              <a:rPr baseline="-25000" lang="en-GB"/>
              <a:t>ij</a:t>
            </a:r>
            <a:r>
              <a:rPr lang="en-GB"/>
              <a:t> =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(i, j)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solidFill>
                  <a:srgbClr val="CC0000"/>
                </a:solidFill>
              </a:rPr>
              <a:t>Observație:</a:t>
            </a:r>
            <a:r>
              <a:rPr b="0" lang="en-GB"/>
              <a:t> w</a:t>
            </a:r>
            <a:r>
              <a:rPr b="0" baseline="-25000" lang="en-GB"/>
              <a:t>ij</a:t>
            </a:r>
            <a:r>
              <a:rPr b="0" lang="en-GB"/>
              <a:t> = costul minim al unui i-j drum, fără vârfuri intermediare (cu cel mult un arc)</a:t>
            </a:r>
            <a:endParaRPr b="0"/>
          </a:p>
        </p:txBody>
      </p:sp>
      <p:sp>
        <p:nvSpPr>
          <p:cNvPr id="135" name="Google Shape;135;p10"/>
          <p:cNvSpPr/>
          <p:nvPr/>
        </p:nvSpPr>
        <p:spPr>
          <a:xfrm>
            <a:off x="3156275" y="1329400"/>
            <a:ext cx="135600" cy="1325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algoritmului Floyd-Warshall: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k = 1, 2, …, n, calculăm, pentru oricare două vârfuri i, j: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</a:t>
            </a:r>
            <a:r>
              <a:rPr lang="en-GB">
                <a:solidFill>
                  <a:srgbClr val="CC0000"/>
                </a:solidFill>
              </a:rPr>
              <a:t>costul minim al unui drum de la i la j, care are ca vârfuri intermediare doar vârfuri </a:t>
            </a:r>
            <a:br>
              <a:rPr lang="en-GB">
                <a:solidFill>
                  <a:srgbClr val="CC0000"/>
                </a:solidFill>
              </a:rPr>
            </a:br>
            <a:r>
              <a:rPr lang="en-GB">
                <a:solidFill>
                  <a:srgbClr val="CC0000"/>
                </a:solidFill>
              </a:rPr>
              <a:t>	din mulțimea {1, 2, …, k}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2243050" y="30388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517925" y="3144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540925" y="30388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2619450" y="3204793"/>
            <a:ext cx="1890225" cy="231725"/>
          </a:xfrm>
          <a:custGeom>
            <a:rect b="b" l="l" r="r" t="t"/>
            <a:pathLst>
              <a:path extrusionOk="0" h="9269" w="75609">
                <a:moveTo>
                  <a:pt x="0" y="2297"/>
                </a:moveTo>
                <a:cubicBezTo>
                  <a:pt x="3866" y="3452"/>
                  <a:pt x="15464" y="9577"/>
                  <a:pt x="23195" y="9225"/>
                </a:cubicBezTo>
                <a:cubicBezTo>
                  <a:pt x="30927" y="8874"/>
                  <a:pt x="38658" y="941"/>
                  <a:pt x="46389" y="188"/>
                </a:cubicBezTo>
                <a:cubicBezTo>
                  <a:pt x="54121" y="-565"/>
                  <a:pt x="64714" y="4053"/>
                  <a:pt x="69584" y="4706"/>
                </a:cubicBezTo>
                <a:cubicBezTo>
                  <a:pt x="74454" y="5359"/>
                  <a:pt x="74605" y="4204"/>
                  <a:pt x="75609" y="410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878675" y="32321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4070313" y="3917925"/>
            <a:ext cx="122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∈ {1, …, k}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1"/>
          <p:cNvCxnSpPr/>
          <p:nvPr/>
        </p:nvCxnSpPr>
        <p:spPr>
          <a:xfrm>
            <a:off x="4684113" y="3661725"/>
            <a:ext cx="0" cy="25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311700" y="906225"/>
            <a:ext cx="92028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algoritmului Floyd-Warshall: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Astfel, pentru k = 1, 2, …, n, calculăm matricea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D</a:t>
            </a:r>
            <a:r>
              <a:rPr b="0" baseline="30000" lang="en-GB"/>
              <a:t>(k)</a:t>
            </a:r>
            <a:r>
              <a:rPr b="0" lang="en-GB"/>
              <a:t> = (d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d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 = costul minim al unui drum de la i la j</a:t>
            </a:r>
            <a:endParaRPr b="0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care are vârfurile intermediare în {1, 2,…, k}</a:t>
            </a:r>
            <a:endParaRPr b="0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Inițializare:</a:t>
            </a:r>
            <a:endParaRPr/>
          </a:p>
        </p:txBody>
      </p:sp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1577" y="3505525"/>
            <a:ext cx="681700" cy="10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algoritmului Floyd-Warshall: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Astfel, pentru k = 1, 2, …, n, calculăm matricea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D</a:t>
            </a:r>
            <a:r>
              <a:rPr b="0" baseline="30000" lang="en-GB"/>
              <a:t>(k)</a:t>
            </a:r>
            <a:r>
              <a:rPr b="0" lang="en-GB"/>
              <a:t> = (d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d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 = costul minim al unui drum de la i la j</a:t>
            </a:r>
            <a:endParaRPr b="0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care are vârfurile intermediare în {1, 2, …, k}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Inițializare:    D</a:t>
            </a:r>
            <a:r>
              <a:rPr baseline="30000" lang="en-GB"/>
              <a:t>(0)</a:t>
            </a:r>
            <a:r>
              <a:rPr lang="en-GB"/>
              <a:t> = W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Care este matricea distanțelor?</a:t>
            </a:r>
            <a:endParaRPr/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602" y="3808900"/>
            <a:ext cx="681700" cy="10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68" name="Google Shape;168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algoritmului Floyd-Warshall: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Astfel, pentru k = 1, 2, …, n, calculăm matricea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D</a:t>
            </a:r>
            <a:r>
              <a:rPr b="0" baseline="30000" lang="en-GB"/>
              <a:t>(k)</a:t>
            </a:r>
            <a:r>
              <a:rPr b="0" lang="en-GB"/>
              <a:t> = (d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d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 = costul minim al unui drum de la i la j</a:t>
            </a:r>
            <a:endParaRPr b="0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care are vârfurile intermediare în {1, 2, …, k}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Inițializare:    D</a:t>
            </a:r>
            <a:r>
              <a:rPr baseline="30000" lang="en-GB"/>
              <a:t>(0)</a:t>
            </a:r>
            <a:r>
              <a:rPr lang="en-GB"/>
              <a:t> = W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Avem D</a:t>
            </a:r>
            <a:r>
              <a:rPr baseline="30000" lang="en-GB"/>
              <a:t>(n)</a:t>
            </a:r>
            <a:r>
              <a:rPr lang="en-GB"/>
              <a:t> = 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74" name="Google Shape;174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algoritmului Floyd-Warshall: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Pentru a </a:t>
            </a:r>
            <a:r>
              <a:rPr lang="en-GB"/>
              <a:t>reține și un drum minim</a:t>
            </a:r>
            <a:endParaRPr/>
          </a:p>
        </p:txBody>
      </p:sp>
      <p:pic>
        <p:nvPicPr>
          <p:cNvPr id="175" name="Google Shape;1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427" y="1408650"/>
            <a:ext cx="681700" cy="10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algoritmului Floyd-Warshall: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a </a:t>
            </a:r>
            <a:r>
              <a:rPr lang="en-GB"/>
              <a:t>reține și un drum minim</a:t>
            </a:r>
            <a:endParaRPr/>
          </a:p>
          <a:p>
            <a:pPr indent="-3365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matrice de predecesori P</a:t>
            </a:r>
            <a:r>
              <a:rPr b="0" baseline="30000" lang="en-GB"/>
              <a:t>(k)</a:t>
            </a:r>
            <a:r>
              <a:rPr b="0" lang="en-GB"/>
              <a:t> = (p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endParaRPr b="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</a:t>
            </a:r>
            <a:r>
              <a:rPr baseline="30000" lang="en-GB"/>
              <a:t>k</a:t>
            </a:r>
            <a:r>
              <a:rPr baseline="-25000" lang="en-GB"/>
              <a:t>ij</a:t>
            </a:r>
            <a:r>
              <a:rPr lang="en-GB"/>
              <a:t> </a:t>
            </a:r>
            <a:r>
              <a:rPr b="0" lang="en-GB"/>
              <a:t>= predecesorul lui j pe drumul minim curent găsit de la i la j, </a:t>
            </a:r>
            <a:endParaRPr b="0"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care are vârfurile intermediare în {1, 2, …, k}</a:t>
            </a:r>
            <a:endParaRPr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Cum calculăm elementele matricei D</a:t>
            </a:r>
            <a:r>
              <a:rPr baseline="30000" lang="en-GB"/>
              <a:t>(k)</a:t>
            </a:r>
            <a:r>
              <a:rPr lang="en-GB"/>
              <a:t>?</a:t>
            </a:r>
            <a:endParaRPr/>
          </a:p>
        </p:txBody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152" y="1047175"/>
            <a:ext cx="681700" cy="10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calculăm elementele matricei D</a:t>
            </a:r>
            <a:r>
              <a:rPr baseline="30000" lang="en-GB"/>
              <a:t>(k)</a:t>
            </a:r>
            <a:r>
              <a:rPr lang="en-GB"/>
              <a:t>?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Relație de recurență</a:t>
            </a:r>
            <a:endParaRPr/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850" y="1666852"/>
            <a:ext cx="810925" cy="14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01" name="Google Shape;201;p19"/>
          <p:cNvSpPr txBox="1"/>
          <p:nvPr>
            <p:ph idx="1" type="body"/>
          </p:nvPr>
        </p:nvSpPr>
        <p:spPr>
          <a:xfrm>
            <a:off x="311700" y="906225"/>
            <a:ext cx="8686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de calcul a matricei D</a:t>
            </a:r>
            <a:r>
              <a:rPr baseline="30000" lang="en-GB"/>
              <a:t>(k)</a:t>
            </a:r>
            <a:r>
              <a:rPr lang="en-GB"/>
              <a:t>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P un drum de cost minim de la i la j, cu vârfurile intermediare în mulțimea {1, 2, …, k}.</a:t>
            </a:r>
            <a:endParaRPr b="0"/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vârful k este vârf intermediar al lui 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grpSp>
        <p:nvGrpSpPr>
          <p:cNvPr id="202" name="Google Shape;202;p19"/>
          <p:cNvGrpSpPr/>
          <p:nvPr/>
        </p:nvGrpSpPr>
        <p:grpSpPr>
          <a:xfrm>
            <a:off x="2243063" y="2559075"/>
            <a:ext cx="4657875" cy="1249350"/>
            <a:chOff x="2243063" y="2559075"/>
            <a:chExt cx="4657875" cy="1249350"/>
          </a:xfrm>
        </p:grpSpPr>
        <p:sp>
          <p:nvSpPr>
            <p:cNvPr id="203" name="Google Shape;203;p19"/>
            <p:cNvSpPr/>
            <p:nvPr/>
          </p:nvSpPr>
          <p:spPr>
            <a:xfrm>
              <a:off x="2243063" y="25590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4517938" y="26645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6540938" y="25590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2619463" y="2724993"/>
              <a:ext cx="1890225" cy="231725"/>
            </a:xfrm>
            <a:custGeom>
              <a:rect b="b" l="l" r="r" t="t"/>
              <a:pathLst>
                <a:path extrusionOk="0" h="9269" w="75609">
                  <a:moveTo>
                    <a:pt x="0" y="2297"/>
                  </a:moveTo>
                  <a:cubicBezTo>
                    <a:pt x="3866" y="3452"/>
                    <a:pt x="15464" y="9577"/>
                    <a:pt x="23195" y="9225"/>
                  </a:cubicBezTo>
                  <a:cubicBezTo>
                    <a:pt x="30927" y="8874"/>
                    <a:pt x="38658" y="941"/>
                    <a:pt x="46389" y="188"/>
                  </a:cubicBezTo>
                  <a:cubicBezTo>
                    <a:pt x="54121" y="-565"/>
                    <a:pt x="64714" y="4053"/>
                    <a:pt x="69584" y="4706"/>
                  </a:cubicBezTo>
                  <a:cubicBezTo>
                    <a:pt x="74454" y="5359"/>
                    <a:pt x="74605" y="4204"/>
                    <a:pt x="75609" y="4104"/>
                  </a:cubicBezTo>
                </a:path>
              </a:pathLst>
            </a:cu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4878688" y="2752300"/>
              <a:ext cx="1664300" cy="193750"/>
            </a:xfrm>
            <a:custGeom>
              <a:rect b="b" l="l" r="r" t="t"/>
              <a:pathLst>
                <a:path extrusionOk="0" h="7750" w="66572">
                  <a:moveTo>
                    <a:pt x="0" y="2711"/>
                  </a:moveTo>
                  <a:cubicBezTo>
                    <a:pt x="1757" y="2410"/>
                    <a:pt x="5422" y="100"/>
                    <a:pt x="10543" y="903"/>
                  </a:cubicBezTo>
                  <a:cubicBezTo>
                    <a:pt x="15664" y="1706"/>
                    <a:pt x="24801" y="6777"/>
                    <a:pt x="30725" y="7530"/>
                  </a:cubicBezTo>
                  <a:cubicBezTo>
                    <a:pt x="36649" y="8283"/>
                    <a:pt x="41319" y="6527"/>
                    <a:pt x="46088" y="5422"/>
                  </a:cubicBezTo>
                  <a:cubicBezTo>
                    <a:pt x="50858" y="4318"/>
                    <a:pt x="55928" y="1807"/>
                    <a:pt x="59342" y="903"/>
                  </a:cubicBezTo>
                  <a:cubicBezTo>
                    <a:pt x="62756" y="-1"/>
                    <a:pt x="65367" y="151"/>
                    <a:pt x="66572" y="0"/>
                  </a:cubicBezTo>
                </a:path>
              </a:pathLst>
            </a:cu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 rot="-5400000">
              <a:off x="3494325" y="2285325"/>
              <a:ext cx="158100" cy="20259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rgbClr val="3139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2775075" y="3377325"/>
              <a:ext cx="1596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drum minim</a:t>
              </a:r>
              <a:endParaRPr b="1" i="0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 rot="-5400000">
              <a:off x="5704125" y="2285325"/>
              <a:ext cx="158100" cy="20259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rgbClr val="3139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4984875" y="3377325"/>
              <a:ext cx="1596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drum minim</a:t>
              </a:r>
              <a:endParaRPr b="1" i="0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17" name="Google Shape;217;p20"/>
          <p:cNvSpPr txBox="1"/>
          <p:nvPr>
            <p:ph idx="1" type="body"/>
          </p:nvPr>
        </p:nvSpPr>
        <p:spPr>
          <a:xfrm>
            <a:off x="311700" y="906225"/>
            <a:ext cx="88323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de calcul a matricei D</a:t>
            </a:r>
            <a:r>
              <a:rPr baseline="30000" lang="en-GB"/>
              <a:t>(k)</a:t>
            </a:r>
            <a:r>
              <a:rPr lang="en-GB"/>
              <a:t>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P un drum de cost minim de la i la j, cu vârfurile intermediare în mulțimea {1, 2, …, k}.</a:t>
            </a:r>
            <a:endParaRPr b="0"/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vârful k este vârf intermediar al lui 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218" name="Google Shape;218;p20"/>
          <p:cNvSpPr/>
          <p:nvPr/>
        </p:nvSpPr>
        <p:spPr>
          <a:xfrm>
            <a:off x="2243063" y="2559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517938" y="26645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540938" y="2559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619463" y="2724993"/>
            <a:ext cx="1890225" cy="231725"/>
          </a:xfrm>
          <a:custGeom>
            <a:rect b="b" l="l" r="r" t="t"/>
            <a:pathLst>
              <a:path extrusionOk="0" h="9269" w="75609">
                <a:moveTo>
                  <a:pt x="0" y="2297"/>
                </a:moveTo>
                <a:cubicBezTo>
                  <a:pt x="3866" y="3452"/>
                  <a:pt x="15464" y="9577"/>
                  <a:pt x="23195" y="9225"/>
                </a:cubicBezTo>
                <a:cubicBezTo>
                  <a:pt x="30927" y="8874"/>
                  <a:pt x="38658" y="941"/>
                  <a:pt x="46389" y="188"/>
                </a:cubicBezTo>
                <a:cubicBezTo>
                  <a:pt x="54121" y="-565"/>
                  <a:pt x="64714" y="4053"/>
                  <a:pt x="69584" y="4706"/>
                </a:cubicBezTo>
                <a:cubicBezTo>
                  <a:pt x="74454" y="5359"/>
                  <a:pt x="74605" y="4204"/>
                  <a:pt x="75609" y="410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878688" y="27523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 rot="-5400000">
            <a:off x="3494325" y="2285325"/>
            <a:ext cx="158100" cy="202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313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775075" y="3377325"/>
            <a:ext cx="159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drum minim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cost d</a:t>
            </a:r>
            <a:r>
              <a:rPr b="1" baseline="30000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ik</a:t>
            </a:r>
            <a:endParaRPr b="1" baseline="-25000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 rot="-5400000">
            <a:off x="5704125" y="2285325"/>
            <a:ext cx="158100" cy="202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313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984875" y="3377325"/>
            <a:ext cx="159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drum minim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cost d</a:t>
            </a:r>
            <a:r>
              <a:rPr b="1" baseline="30000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kj</a:t>
            </a:r>
            <a:endParaRPr b="1" baseline="-25000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32" name="Google Shape;232;p21"/>
          <p:cNvSpPr txBox="1"/>
          <p:nvPr>
            <p:ph idx="1" type="body"/>
          </p:nvPr>
        </p:nvSpPr>
        <p:spPr>
          <a:xfrm>
            <a:off x="311700" y="906225"/>
            <a:ext cx="8686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Ideea de calcul a matricei D</a:t>
            </a:r>
            <a:r>
              <a:rPr baseline="30000" lang="en-GB"/>
              <a:t>(k)</a:t>
            </a:r>
            <a:r>
              <a:rPr lang="en-GB"/>
              <a:t>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P un drum de cost minim de la i la j, cu vârfurile intermediare în mulțimea {1, 2, …, k}.</a:t>
            </a:r>
            <a:endParaRPr b="0"/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vârful k este vârf intermediar al lui 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233" name="Google Shape;233;p21"/>
          <p:cNvSpPr/>
          <p:nvPr/>
        </p:nvSpPr>
        <p:spPr>
          <a:xfrm>
            <a:off x="2243063" y="2559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517938" y="26645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540938" y="2559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619463" y="2724993"/>
            <a:ext cx="1890225" cy="231725"/>
          </a:xfrm>
          <a:custGeom>
            <a:rect b="b" l="l" r="r" t="t"/>
            <a:pathLst>
              <a:path extrusionOk="0" h="9269" w="75609">
                <a:moveTo>
                  <a:pt x="0" y="2297"/>
                </a:moveTo>
                <a:cubicBezTo>
                  <a:pt x="3866" y="3452"/>
                  <a:pt x="15464" y="9577"/>
                  <a:pt x="23195" y="9225"/>
                </a:cubicBezTo>
                <a:cubicBezTo>
                  <a:pt x="30927" y="8874"/>
                  <a:pt x="38658" y="941"/>
                  <a:pt x="46389" y="188"/>
                </a:cubicBezTo>
                <a:cubicBezTo>
                  <a:pt x="54121" y="-565"/>
                  <a:pt x="64714" y="4053"/>
                  <a:pt x="69584" y="4706"/>
                </a:cubicBezTo>
                <a:cubicBezTo>
                  <a:pt x="74454" y="5359"/>
                  <a:pt x="74605" y="4204"/>
                  <a:pt x="75609" y="410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878688" y="27523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 rot="-5400000">
            <a:off x="3494325" y="2285325"/>
            <a:ext cx="158100" cy="202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313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775075" y="3377325"/>
            <a:ext cx="159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 minim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d</a:t>
            </a:r>
            <a:r>
              <a:rPr b="1" baseline="30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ik</a:t>
            </a:r>
            <a:endParaRPr b="1" baseline="-2500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 rot="-5400000">
            <a:off x="5704125" y="2285325"/>
            <a:ext cx="158100" cy="202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313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984875" y="3377325"/>
            <a:ext cx="159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 minim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d</a:t>
            </a:r>
            <a:r>
              <a:rPr b="1" baseline="30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kj</a:t>
            </a:r>
            <a:endParaRPr b="1" baseline="-2500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737050" y="4351975"/>
            <a:ext cx="36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⇒ d</a:t>
            </a:r>
            <a:r>
              <a:rPr b="1" baseline="30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1" baseline="-25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b="1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= min { d</a:t>
            </a:r>
            <a:r>
              <a:rPr b="1" baseline="30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b="1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, d</a:t>
            </a:r>
            <a:r>
              <a:rPr b="1" baseline="30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ik </a:t>
            </a:r>
            <a:r>
              <a:rPr b="1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="1" baseline="30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kj</a:t>
            </a:r>
            <a:r>
              <a:rPr b="1" i="0" lang="en-GB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1" baseline="-2500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48" name="Google Shape;248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obține, astfel, relația:</a:t>
            </a:r>
            <a:endParaRPr/>
          </a:p>
          <a:p>
            <a:pPr indent="457200" lvl="0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800"/>
              <a:t>d</a:t>
            </a:r>
            <a:r>
              <a:rPr baseline="30000" lang="en-GB" sz="1800"/>
              <a:t>k</a:t>
            </a:r>
            <a:r>
              <a:rPr baseline="-25000" lang="en-GB" sz="1800"/>
              <a:t>ij</a:t>
            </a:r>
            <a:r>
              <a:rPr lang="en-GB" sz="1800"/>
              <a:t> = min { d</a:t>
            </a:r>
            <a:r>
              <a:rPr baseline="30000" lang="en-GB" sz="1800"/>
              <a:t>k-1</a:t>
            </a:r>
            <a:r>
              <a:rPr baseline="-25000" lang="en-GB" sz="1800"/>
              <a:t>ij</a:t>
            </a:r>
            <a:r>
              <a:rPr lang="en-GB" sz="1800"/>
              <a:t> , d</a:t>
            </a:r>
            <a:r>
              <a:rPr baseline="30000" lang="en-GB" sz="1800"/>
              <a:t>k-1</a:t>
            </a:r>
            <a:r>
              <a:rPr baseline="-25000" lang="en-GB" sz="1800"/>
              <a:t>ik </a:t>
            </a:r>
            <a:r>
              <a:rPr lang="en-GB" sz="1800"/>
              <a:t>+ d</a:t>
            </a:r>
            <a:r>
              <a:rPr baseline="30000" lang="en-GB" sz="1800"/>
              <a:t>k-1</a:t>
            </a:r>
            <a:r>
              <a:rPr baseline="-25000" lang="en-GB" sz="1800"/>
              <a:t>kj</a:t>
            </a:r>
            <a:r>
              <a:rPr lang="en-GB" sz="1800"/>
              <a:t>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Observații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Avem: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d</a:t>
            </a:r>
            <a:r>
              <a:rPr baseline="30000" lang="en-GB"/>
              <a:t>k</a:t>
            </a:r>
            <a:r>
              <a:rPr baseline="-25000" lang="en-GB"/>
              <a:t>ik</a:t>
            </a:r>
            <a:r>
              <a:rPr lang="en-GB"/>
              <a:t> = d</a:t>
            </a:r>
            <a:r>
              <a:rPr baseline="30000" lang="en-GB"/>
              <a:t>k-1</a:t>
            </a:r>
            <a:r>
              <a:rPr baseline="-25000" lang="en-GB"/>
              <a:t>ik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aseline="-25000" lang="en-GB"/>
              <a:t>			</a:t>
            </a:r>
            <a:r>
              <a:rPr lang="en-GB"/>
              <a:t>d</a:t>
            </a:r>
            <a:r>
              <a:rPr baseline="30000" lang="en-GB"/>
              <a:t>k</a:t>
            </a:r>
            <a:r>
              <a:rPr baseline="-25000" lang="en-GB"/>
              <a:t>kj</a:t>
            </a:r>
            <a:r>
              <a:rPr lang="en-GB"/>
              <a:t> = d</a:t>
            </a:r>
            <a:r>
              <a:rPr baseline="30000" lang="en-GB"/>
              <a:t>k-1</a:t>
            </a:r>
            <a:r>
              <a:rPr baseline="-25000" lang="en-GB"/>
              <a:t>kj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De aceea, în implementarea algoritmului, putem folosi o singură matrice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54" name="Google Shape;254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obține, astfel, relația:</a:t>
            </a:r>
            <a:endParaRPr/>
          </a:p>
          <a:p>
            <a:pPr indent="457200" lvl="0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800"/>
              <a:t>d</a:t>
            </a:r>
            <a:r>
              <a:rPr baseline="30000" lang="en-GB" sz="1800"/>
              <a:t>k</a:t>
            </a:r>
            <a:r>
              <a:rPr baseline="-25000" lang="en-GB" sz="1800"/>
              <a:t>ij</a:t>
            </a:r>
            <a:r>
              <a:rPr lang="en-GB" sz="1800"/>
              <a:t> = min { d</a:t>
            </a:r>
            <a:r>
              <a:rPr baseline="30000" lang="en-GB" sz="1800"/>
              <a:t>k-1</a:t>
            </a:r>
            <a:r>
              <a:rPr baseline="-25000" lang="en-GB" sz="1800"/>
              <a:t>ij</a:t>
            </a:r>
            <a:r>
              <a:rPr lang="en-GB" sz="1800"/>
              <a:t> , d</a:t>
            </a:r>
            <a:r>
              <a:rPr baseline="30000" lang="en-GB" sz="1800"/>
              <a:t>k-1</a:t>
            </a:r>
            <a:r>
              <a:rPr baseline="-25000" lang="en-GB" sz="1800"/>
              <a:t>ik </a:t>
            </a:r>
            <a:r>
              <a:rPr lang="en-GB" sz="1800"/>
              <a:t>+ d</a:t>
            </a:r>
            <a:r>
              <a:rPr baseline="30000" lang="en-GB" sz="1800"/>
              <a:t>k-1</a:t>
            </a:r>
            <a:r>
              <a:rPr baseline="-25000" lang="en-GB" sz="1800"/>
              <a:t>kj</a:t>
            </a:r>
            <a:r>
              <a:rPr lang="en-GB" sz="1800"/>
              <a:t>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Observații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Când se actualizează </a:t>
            </a:r>
            <a:r>
              <a:rPr lang="en-GB"/>
              <a:t>d</a:t>
            </a:r>
            <a:r>
              <a:rPr baseline="30000" lang="en-GB"/>
              <a:t>k</a:t>
            </a:r>
            <a:r>
              <a:rPr baseline="-25000" lang="en-GB"/>
              <a:t>ij </a:t>
            </a:r>
            <a:r>
              <a:rPr lang="en-GB"/>
              <a:t>= d</a:t>
            </a:r>
            <a:r>
              <a:rPr baseline="30000" lang="en-GB"/>
              <a:t>k-1</a:t>
            </a:r>
            <a:r>
              <a:rPr baseline="-25000" lang="en-GB"/>
              <a:t>ik </a:t>
            </a:r>
            <a:r>
              <a:rPr lang="en-GB"/>
              <a:t>+ d</a:t>
            </a:r>
            <a:r>
              <a:rPr baseline="30000" lang="en-GB"/>
              <a:t>k-1</a:t>
            </a:r>
            <a:r>
              <a:rPr baseline="-25000" lang="en-GB"/>
              <a:t>kj </a:t>
            </a:r>
            <a:r>
              <a:rPr lang="en-GB"/>
              <a:t>,</a:t>
            </a:r>
            <a:r>
              <a:rPr b="0" lang="en-GB"/>
              <a:t>trebuie actualizat și </a:t>
            </a:r>
            <a:r>
              <a:rPr lang="en-GB"/>
              <a:t>p</a:t>
            </a:r>
            <a:r>
              <a:rPr baseline="30000" lang="en-GB"/>
              <a:t>k</a:t>
            </a:r>
            <a:r>
              <a:rPr baseline="-25000" lang="en-GB"/>
              <a:t>ij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p</a:t>
            </a:r>
            <a:r>
              <a:rPr baseline="30000" lang="en-GB"/>
              <a:t>k</a:t>
            </a:r>
            <a:r>
              <a:rPr baseline="-25000" lang="en-GB"/>
              <a:t>ij</a:t>
            </a:r>
            <a:r>
              <a:rPr lang="en-GB"/>
              <a:t> = p</a:t>
            </a:r>
            <a:r>
              <a:rPr baseline="30000" lang="en-GB"/>
              <a:t>k-1</a:t>
            </a:r>
            <a:r>
              <a:rPr baseline="-25000" lang="en-GB"/>
              <a:t>kj</a:t>
            </a:r>
            <a:endParaRPr b="0" baseline="-25000"/>
          </a:p>
        </p:txBody>
      </p:sp>
      <p:sp>
        <p:nvSpPr>
          <p:cNvPr id="255" name="Google Shape;255;p23"/>
          <p:cNvSpPr/>
          <p:nvPr/>
        </p:nvSpPr>
        <p:spPr>
          <a:xfrm>
            <a:off x="2243063" y="38544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517938" y="39599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540938" y="38544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619463" y="4020393"/>
            <a:ext cx="1890225" cy="231725"/>
          </a:xfrm>
          <a:custGeom>
            <a:rect b="b" l="l" r="r" t="t"/>
            <a:pathLst>
              <a:path extrusionOk="0" h="9269" w="75609">
                <a:moveTo>
                  <a:pt x="0" y="2297"/>
                </a:moveTo>
                <a:cubicBezTo>
                  <a:pt x="3866" y="3452"/>
                  <a:pt x="15464" y="9577"/>
                  <a:pt x="23195" y="9225"/>
                </a:cubicBezTo>
                <a:cubicBezTo>
                  <a:pt x="30927" y="8874"/>
                  <a:pt x="38658" y="941"/>
                  <a:pt x="46389" y="188"/>
                </a:cubicBezTo>
                <a:cubicBezTo>
                  <a:pt x="54121" y="-565"/>
                  <a:pt x="64714" y="4053"/>
                  <a:pt x="69584" y="4706"/>
                </a:cubicBezTo>
                <a:cubicBezTo>
                  <a:pt x="74454" y="5359"/>
                  <a:pt x="74605" y="4204"/>
                  <a:pt x="75609" y="410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5276775" y="4518300"/>
            <a:ext cx="159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30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r>
              <a:rPr b="1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kj</a:t>
            </a:r>
            <a:endParaRPr b="1" baseline="-2500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895063" y="36877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23"/>
          <p:cNvCxnSpPr/>
          <p:nvPr/>
        </p:nvCxnSpPr>
        <p:spPr>
          <a:xfrm>
            <a:off x="6255063" y="3867700"/>
            <a:ext cx="304200" cy="1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23"/>
          <p:cNvCxnSpPr/>
          <p:nvPr/>
        </p:nvCxnSpPr>
        <p:spPr>
          <a:xfrm rot="10800000">
            <a:off x="6075075" y="4194600"/>
            <a:ext cx="0" cy="3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3" name="Google Shape;263;p23"/>
          <p:cNvSpPr/>
          <p:nvPr/>
        </p:nvSpPr>
        <p:spPr>
          <a:xfrm rot="-1273833">
            <a:off x="4850623" y="3926447"/>
            <a:ext cx="1095649" cy="231717"/>
          </a:xfrm>
          <a:custGeom>
            <a:rect b="b" l="l" r="r" t="t"/>
            <a:pathLst>
              <a:path extrusionOk="0" h="9269" w="75609">
                <a:moveTo>
                  <a:pt x="0" y="2297"/>
                </a:moveTo>
                <a:cubicBezTo>
                  <a:pt x="3866" y="3452"/>
                  <a:pt x="15464" y="9577"/>
                  <a:pt x="23195" y="9225"/>
                </a:cubicBezTo>
                <a:cubicBezTo>
                  <a:pt x="30927" y="8874"/>
                  <a:pt x="38658" y="941"/>
                  <a:pt x="46389" y="188"/>
                </a:cubicBezTo>
                <a:cubicBezTo>
                  <a:pt x="54121" y="-565"/>
                  <a:pt x="64714" y="4053"/>
                  <a:pt x="69584" y="4706"/>
                </a:cubicBezTo>
                <a:cubicBezTo>
                  <a:pt x="74454" y="5359"/>
                  <a:pt x="74605" y="4204"/>
                  <a:pt x="75609" y="410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Implementare</a:t>
            </a:r>
            <a:endParaRPr/>
          </a:p>
        </p:txBody>
      </p:sp>
      <p:sp>
        <p:nvSpPr>
          <p:cNvPr id="269" name="Google Shape;269;p2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75" name="Google Shape;275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Conform observațiilor anterioare, putem folosi o unică matrice D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d[i][j] = w(i,j) </a:t>
            </a:r>
            <a:r>
              <a:rPr b="0" lang="en-GB"/>
              <a:t>- costul arcului (i, j)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p[i][j] =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2522775" y="2939625"/>
            <a:ext cx="433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i,  dacă ij ∈ 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0,  altfel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2387250" y="2997225"/>
            <a:ext cx="105300" cy="623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83" name="Google Shape;283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(i=1; i &lt;= n; i++)		// inițial d = matricea costurilor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(j=1; j &lt;= n; j++)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d[i][j] = w[i][j];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(w[i][j] == ∞)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p[i][j] = 0;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p[i][j] = i;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89" name="Google Shape;289;p27"/>
          <p:cNvSpPr txBox="1"/>
          <p:nvPr>
            <p:ph idx="1" type="body"/>
          </p:nvPr>
        </p:nvSpPr>
        <p:spPr>
          <a:xfrm>
            <a:off x="311700" y="906225"/>
            <a:ext cx="85206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(i=1; i &lt;= n; i++)		// inițial d = matricea costurilor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(j=1; j &lt;= n; j++)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d[i][j] = w[i][j];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(w[i][j] == ∞)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p[i][j] = 0;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p[i][j] = i;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(k=1; k &lt;= n; k++)	// vârfuri intermediare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295" name="Google Shape;295;p28"/>
          <p:cNvSpPr txBox="1"/>
          <p:nvPr>
            <p:ph idx="1" type="body"/>
          </p:nvPr>
        </p:nvSpPr>
        <p:spPr>
          <a:xfrm>
            <a:off x="311700" y="906225"/>
            <a:ext cx="85206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(i=1; i &lt;= n; i++)		// inițial d = matricea costurilor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(j=1; j &lt;= n; j++)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d[i][j] = w[i][j];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(w[i][j] == ∞)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p[i][j] = 0;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p[i][j] = i;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(k=1; k &lt;= n; k++)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(i=1; i &lt;= n; i++)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(j=1; j &lt;= n; j++) 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301" name="Google Shape;301;p29"/>
          <p:cNvSpPr txBox="1"/>
          <p:nvPr>
            <p:ph idx="1" type="body"/>
          </p:nvPr>
        </p:nvSpPr>
        <p:spPr>
          <a:xfrm>
            <a:off x="311700" y="906225"/>
            <a:ext cx="85206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(i=1; i &lt;= n; i++)		// inițial d = matricea costurilor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(j=1; j &lt;= n; j++)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d[i][j] = w[i][j];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(w[i][j] == ∞)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p[i][j] = 0;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p[i][j] = i;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(k=1; k &lt;= n; k++)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(i=1; i &lt;= n; i++)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(j=1; j &lt;= n; j++) 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(d[i][j] &gt; d[i][k]+d[k][j])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d[i][j] = d[i][k]+d[k][j];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p[i][j] = p[k][j];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307" name="Google Shape;307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Ieșire:</a:t>
            </a:r>
            <a:r>
              <a:rPr b="0" lang="en-GB"/>
              <a:t> matricea d = </a:t>
            </a:r>
            <a:r>
              <a:rPr lang="en-GB"/>
              <a:t>matricea distanțelor minime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Afișarea unui drum de la i la j, </a:t>
            </a:r>
            <a:r>
              <a:rPr lang="en-GB">
                <a:solidFill>
                  <a:srgbClr val="CC0000"/>
                </a:solidFill>
              </a:rPr>
              <a:t>dacă d[i][j] &lt; ∞</a:t>
            </a:r>
            <a:r>
              <a:rPr lang="en-GB"/>
              <a:t>, </a:t>
            </a:r>
            <a:r>
              <a:rPr b="0" lang="en-GB"/>
              <a:t>se face folosind matricea </a:t>
            </a:r>
            <a:r>
              <a:rPr lang="en-GB"/>
              <a:t>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313" name="Google Shape;313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Ieșire:</a:t>
            </a:r>
            <a:r>
              <a:rPr b="0" lang="en-GB"/>
              <a:t> matricea d = </a:t>
            </a:r>
            <a:r>
              <a:rPr lang="en-GB"/>
              <a:t>matricea distanțelor minime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Afișarea unui drum de la i la j, </a:t>
            </a:r>
            <a:r>
              <a:rPr lang="en-GB">
                <a:solidFill>
                  <a:srgbClr val="CC0000"/>
                </a:solidFill>
              </a:rPr>
              <a:t>dacă d[i][j] &lt; ∞</a:t>
            </a:r>
            <a:r>
              <a:rPr lang="en-GB"/>
              <a:t>, </a:t>
            </a:r>
            <a:r>
              <a:rPr b="0" lang="en-GB"/>
              <a:t>se face folosind matricea </a:t>
            </a:r>
            <a:r>
              <a:rPr lang="en-GB"/>
              <a:t>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drum(int i, int j) {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(i != j)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drum(i, p[i][j]);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cout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&lt;&lt; j &lt;&lt; ” ”;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319" name="Google Shape;319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/>
              <a:t>Complexitate - ?</a:t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/>
              <a:t>Complexitate - O(n</a:t>
            </a:r>
            <a:r>
              <a:rPr baseline="30000" lang="en-GB" sz="2000"/>
              <a:t>3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/>
          <p:nvPr/>
        </p:nvSpPr>
        <p:spPr>
          <a:xfrm>
            <a:off x="311700" y="99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4"/>
          <p:cNvSpPr/>
          <p:nvPr/>
        </p:nvSpPr>
        <p:spPr>
          <a:xfrm>
            <a:off x="1048725" y="175216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2441450" y="99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1389600" y="817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34"/>
          <p:cNvCxnSpPr>
            <a:stCxn id="330" idx="6"/>
            <a:endCxn id="332" idx="2"/>
          </p:cNvCxnSpPr>
          <p:nvPr/>
        </p:nvCxnSpPr>
        <p:spPr>
          <a:xfrm>
            <a:off x="671700" y="1176475"/>
            <a:ext cx="1769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5" name="Google Shape;335;p34"/>
          <p:cNvCxnSpPr>
            <a:stCxn id="330" idx="7"/>
            <a:endCxn id="333" idx="2"/>
          </p:cNvCxnSpPr>
          <p:nvPr/>
        </p:nvCxnSpPr>
        <p:spPr>
          <a:xfrm flipH="1" rot="10800000">
            <a:off x="618979" y="261696"/>
            <a:ext cx="7707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6" name="Google Shape;336;p34"/>
          <p:cNvCxnSpPr>
            <a:stCxn id="331" idx="6"/>
            <a:endCxn id="332" idx="4"/>
          </p:cNvCxnSpPr>
          <p:nvPr/>
        </p:nvCxnSpPr>
        <p:spPr>
          <a:xfrm flipH="1" rot="10800000">
            <a:off x="1408725" y="1356463"/>
            <a:ext cx="1212600" cy="57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37" name="Google Shape;337;p34"/>
          <p:cNvCxnSpPr>
            <a:stCxn id="331" idx="5"/>
          </p:cNvCxnSpPr>
          <p:nvPr/>
        </p:nvCxnSpPr>
        <p:spPr>
          <a:xfrm>
            <a:off x="1356004" y="2059442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34"/>
          <p:cNvCxnSpPr>
            <a:stCxn id="330" idx="4"/>
            <a:endCxn id="331" idx="1"/>
          </p:cNvCxnSpPr>
          <p:nvPr/>
        </p:nvCxnSpPr>
        <p:spPr>
          <a:xfrm>
            <a:off x="491700" y="1356475"/>
            <a:ext cx="609600" cy="44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39" name="Google Shape;339;p34"/>
          <p:cNvCxnSpPr>
            <a:stCxn id="331" idx="0"/>
            <a:endCxn id="333" idx="4"/>
          </p:cNvCxnSpPr>
          <p:nvPr/>
        </p:nvCxnSpPr>
        <p:spPr>
          <a:xfrm flipH="1" rot="10800000">
            <a:off x="1228725" y="441763"/>
            <a:ext cx="340800" cy="13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0" name="Google Shape;340;p34"/>
          <p:cNvCxnSpPr>
            <a:stCxn id="333" idx="6"/>
            <a:endCxn id="332" idx="1"/>
          </p:cNvCxnSpPr>
          <p:nvPr/>
        </p:nvCxnSpPr>
        <p:spPr>
          <a:xfrm>
            <a:off x="1749600" y="261725"/>
            <a:ext cx="7446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1" name="Google Shape;341;p34"/>
          <p:cNvSpPr txBox="1"/>
          <p:nvPr/>
        </p:nvSpPr>
        <p:spPr>
          <a:xfrm>
            <a:off x="347625" y="149466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4"/>
          <p:cNvSpPr txBox="1"/>
          <p:nvPr/>
        </p:nvSpPr>
        <p:spPr>
          <a:xfrm>
            <a:off x="1668600" y="7762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2009150" y="3411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1875313" y="15583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4"/>
          <p:cNvSpPr txBox="1"/>
          <p:nvPr/>
        </p:nvSpPr>
        <p:spPr>
          <a:xfrm>
            <a:off x="697738" y="3760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788175" y="13582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1070763" y="6726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414200" y="1367925"/>
            <a:ext cx="640100" cy="537350"/>
          </a:xfrm>
          <a:custGeom>
            <a:rect b="b" l="l" r="r" t="t"/>
            <a:pathLst>
              <a:path extrusionOk="0" h="21494" w="25604">
                <a:moveTo>
                  <a:pt x="0" y="0"/>
                </a:moveTo>
                <a:cubicBezTo>
                  <a:pt x="1657" y="2227"/>
                  <a:pt x="5673" y="9779"/>
                  <a:pt x="9940" y="13361"/>
                </a:cubicBezTo>
                <a:cubicBezTo>
                  <a:pt x="14207" y="16943"/>
                  <a:pt x="22993" y="20139"/>
                  <a:pt x="25604" y="2149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1443025" y="1330275"/>
            <a:ext cx="1026996" cy="537379"/>
          </a:xfrm>
          <a:custGeom>
            <a:rect b="b" l="l" r="r" t="t"/>
            <a:pathLst>
              <a:path extrusionOk="0" h="28014" w="51209">
                <a:moveTo>
                  <a:pt x="0" y="28014"/>
                </a:moveTo>
                <a:cubicBezTo>
                  <a:pt x="3816" y="25002"/>
                  <a:pt x="14359" y="14609"/>
                  <a:pt x="22894" y="9940"/>
                </a:cubicBezTo>
                <a:cubicBezTo>
                  <a:pt x="31429" y="5271"/>
                  <a:pt x="46490" y="1657"/>
                  <a:pt x="51209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1443025" y="13037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35"/>
          <p:cNvGraphicFramePr/>
          <p:nvPr/>
        </p:nvGraphicFramePr>
        <p:xfrm>
          <a:off x="45006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6" name="Google Shape;356;p35"/>
          <p:cNvSpPr txBox="1"/>
          <p:nvPr/>
        </p:nvSpPr>
        <p:spPr>
          <a:xfrm>
            <a:off x="3521725" y="774100"/>
            <a:ext cx="97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= 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35"/>
          <p:cNvGraphicFramePr/>
          <p:nvPr/>
        </p:nvGraphicFramePr>
        <p:xfrm>
          <a:off x="70152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8" name="Google Shape;358;p35"/>
          <p:cNvSpPr txBox="1"/>
          <p:nvPr/>
        </p:nvSpPr>
        <p:spPr>
          <a:xfrm>
            <a:off x="6495925" y="7131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311700" y="99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5"/>
          <p:cNvSpPr/>
          <p:nvPr/>
        </p:nvSpPr>
        <p:spPr>
          <a:xfrm>
            <a:off x="1048725" y="175216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2441450" y="99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/>
          <p:nvPr/>
        </p:nvSpPr>
        <p:spPr>
          <a:xfrm>
            <a:off x="1389600" y="817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35"/>
          <p:cNvCxnSpPr>
            <a:stCxn id="359" idx="6"/>
            <a:endCxn id="361" idx="2"/>
          </p:cNvCxnSpPr>
          <p:nvPr/>
        </p:nvCxnSpPr>
        <p:spPr>
          <a:xfrm>
            <a:off x="671700" y="1176475"/>
            <a:ext cx="1769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4" name="Google Shape;364;p35"/>
          <p:cNvCxnSpPr>
            <a:stCxn id="359" idx="7"/>
            <a:endCxn id="362" idx="2"/>
          </p:cNvCxnSpPr>
          <p:nvPr/>
        </p:nvCxnSpPr>
        <p:spPr>
          <a:xfrm flipH="1" rot="10800000">
            <a:off x="618979" y="261696"/>
            <a:ext cx="7707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5" name="Google Shape;365;p35"/>
          <p:cNvCxnSpPr>
            <a:stCxn id="360" idx="6"/>
            <a:endCxn id="361" idx="4"/>
          </p:cNvCxnSpPr>
          <p:nvPr/>
        </p:nvCxnSpPr>
        <p:spPr>
          <a:xfrm flipH="1" rot="10800000">
            <a:off x="1408725" y="1356463"/>
            <a:ext cx="1212600" cy="57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66" name="Google Shape;366;p35"/>
          <p:cNvCxnSpPr>
            <a:stCxn id="360" idx="5"/>
          </p:cNvCxnSpPr>
          <p:nvPr/>
        </p:nvCxnSpPr>
        <p:spPr>
          <a:xfrm>
            <a:off x="1356004" y="2059442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35"/>
          <p:cNvCxnSpPr>
            <a:stCxn id="359" idx="4"/>
            <a:endCxn id="360" idx="1"/>
          </p:cNvCxnSpPr>
          <p:nvPr/>
        </p:nvCxnSpPr>
        <p:spPr>
          <a:xfrm>
            <a:off x="491700" y="1356475"/>
            <a:ext cx="609600" cy="44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68" name="Google Shape;368;p35"/>
          <p:cNvCxnSpPr>
            <a:stCxn id="360" idx="0"/>
            <a:endCxn id="362" idx="4"/>
          </p:cNvCxnSpPr>
          <p:nvPr/>
        </p:nvCxnSpPr>
        <p:spPr>
          <a:xfrm flipH="1" rot="10800000">
            <a:off x="1228725" y="441763"/>
            <a:ext cx="340800" cy="13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9" name="Google Shape;369;p35"/>
          <p:cNvCxnSpPr>
            <a:stCxn id="362" idx="6"/>
            <a:endCxn id="361" idx="1"/>
          </p:cNvCxnSpPr>
          <p:nvPr/>
        </p:nvCxnSpPr>
        <p:spPr>
          <a:xfrm>
            <a:off x="1749600" y="261725"/>
            <a:ext cx="7446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0" name="Google Shape;370;p35"/>
          <p:cNvSpPr txBox="1"/>
          <p:nvPr/>
        </p:nvSpPr>
        <p:spPr>
          <a:xfrm>
            <a:off x="347625" y="149466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5"/>
          <p:cNvSpPr txBox="1"/>
          <p:nvPr/>
        </p:nvSpPr>
        <p:spPr>
          <a:xfrm>
            <a:off x="1668600" y="7762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5"/>
          <p:cNvSpPr txBox="1"/>
          <p:nvPr/>
        </p:nvSpPr>
        <p:spPr>
          <a:xfrm>
            <a:off x="2009150" y="3411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1875313" y="15583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697738" y="3760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788175" y="13582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1070763" y="6726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1443025" y="13037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35"/>
          <p:cNvCxnSpPr>
            <a:stCxn id="359" idx="3"/>
            <a:endCxn id="360" idx="2"/>
          </p:cNvCxnSpPr>
          <p:nvPr/>
        </p:nvCxnSpPr>
        <p:spPr>
          <a:xfrm>
            <a:off x="364421" y="1303754"/>
            <a:ext cx="684300" cy="6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5"/>
          <p:cNvCxnSpPr>
            <a:stCxn id="360" idx="7"/>
            <a:endCxn id="361" idx="3"/>
          </p:cNvCxnSpPr>
          <p:nvPr/>
        </p:nvCxnSpPr>
        <p:spPr>
          <a:xfrm flipH="1" rot="10800000">
            <a:off x="1356004" y="1303884"/>
            <a:ext cx="1138200" cy="5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311700" y="99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1048725" y="175216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2441450" y="99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1389600" y="817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36"/>
          <p:cNvCxnSpPr>
            <a:stCxn id="384" idx="6"/>
            <a:endCxn id="386" idx="2"/>
          </p:cNvCxnSpPr>
          <p:nvPr/>
        </p:nvCxnSpPr>
        <p:spPr>
          <a:xfrm>
            <a:off x="671700" y="1176475"/>
            <a:ext cx="1769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89" name="Google Shape;389;p36"/>
          <p:cNvCxnSpPr>
            <a:stCxn id="384" idx="7"/>
            <a:endCxn id="387" idx="2"/>
          </p:cNvCxnSpPr>
          <p:nvPr/>
        </p:nvCxnSpPr>
        <p:spPr>
          <a:xfrm flipH="1" rot="10800000">
            <a:off x="618979" y="261696"/>
            <a:ext cx="7707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0" name="Google Shape;390;p36"/>
          <p:cNvCxnSpPr>
            <a:stCxn id="385" idx="6"/>
            <a:endCxn id="386" idx="4"/>
          </p:cNvCxnSpPr>
          <p:nvPr/>
        </p:nvCxnSpPr>
        <p:spPr>
          <a:xfrm flipH="1" rot="10800000">
            <a:off x="1408725" y="1356463"/>
            <a:ext cx="1212600" cy="57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91" name="Google Shape;391;p36"/>
          <p:cNvCxnSpPr>
            <a:stCxn id="385" idx="5"/>
          </p:cNvCxnSpPr>
          <p:nvPr/>
        </p:nvCxnSpPr>
        <p:spPr>
          <a:xfrm>
            <a:off x="1356004" y="2059442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36"/>
          <p:cNvCxnSpPr>
            <a:stCxn id="384" idx="4"/>
            <a:endCxn id="385" idx="1"/>
          </p:cNvCxnSpPr>
          <p:nvPr/>
        </p:nvCxnSpPr>
        <p:spPr>
          <a:xfrm>
            <a:off x="491700" y="1356475"/>
            <a:ext cx="609600" cy="44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93" name="Google Shape;393;p36"/>
          <p:cNvCxnSpPr>
            <a:stCxn id="385" idx="0"/>
            <a:endCxn id="387" idx="4"/>
          </p:cNvCxnSpPr>
          <p:nvPr/>
        </p:nvCxnSpPr>
        <p:spPr>
          <a:xfrm flipH="1" rot="10800000">
            <a:off x="1228725" y="441763"/>
            <a:ext cx="340800" cy="13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4" name="Google Shape;394;p36"/>
          <p:cNvCxnSpPr>
            <a:stCxn id="387" idx="6"/>
            <a:endCxn id="386" idx="1"/>
          </p:cNvCxnSpPr>
          <p:nvPr/>
        </p:nvCxnSpPr>
        <p:spPr>
          <a:xfrm>
            <a:off x="1749600" y="261725"/>
            <a:ext cx="7446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5" name="Google Shape;395;p36"/>
          <p:cNvSpPr txBox="1"/>
          <p:nvPr/>
        </p:nvSpPr>
        <p:spPr>
          <a:xfrm>
            <a:off x="347625" y="149466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1668600" y="7762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6"/>
          <p:cNvSpPr txBox="1"/>
          <p:nvPr/>
        </p:nvSpPr>
        <p:spPr>
          <a:xfrm>
            <a:off x="2009150" y="3411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6"/>
          <p:cNvSpPr txBox="1"/>
          <p:nvPr/>
        </p:nvSpPr>
        <p:spPr>
          <a:xfrm>
            <a:off x="1875313" y="15583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697738" y="3760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6"/>
          <p:cNvSpPr txBox="1"/>
          <p:nvPr/>
        </p:nvSpPr>
        <p:spPr>
          <a:xfrm>
            <a:off x="788175" y="13582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1070763" y="6726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414200" y="1367925"/>
            <a:ext cx="640100" cy="537350"/>
          </a:xfrm>
          <a:custGeom>
            <a:rect b="b" l="l" r="r" t="t"/>
            <a:pathLst>
              <a:path extrusionOk="0" h="21494" w="25604">
                <a:moveTo>
                  <a:pt x="0" y="0"/>
                </a:moveTo>
                <a:cubicBezTo>
                  <a:pt x="1657" y="2227"/>
                  <a:pt x="5673" y="9779"/>
                  <a:pt x="9940" y="13361"/>
                </a:cubicBezTo>
                <a:cubicBezTo>
                  <a:pt x="14207" y="16943"/>
                  <a:pt x="22993" y="20139"/>
                  <a:pt x="25604" y="2149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1443025" y="1330275"/>
            <a:ext cx="1026996" cy="537379"/>
          </a:xfrm>
          <a:custGeom>
            <a:rect b="b" l="l" r="r" t="t"/>
            <a:pathLst>
              <a:path extrusionOk="0" h="28014" w="51209">
                <a:moveTo>
                  <a:pt x="0" y="28014"/>
                </a:moveTo>
                <a:cubicBezTo>
                  <a:pt x="3816" y="25002"/>
                  <a:pt x="14359" y="14609"/>
                  <a:pt x="22894" y="9940"/>
                </a:cubicBezTo>
                <a:cubicBezTo>
                  <a:pt x="31429" y="5271"/>
                  <a:pt x="46490" y="1657"/>
                  <a:pt x="51209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1443025" y="13037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5" name="Google Shape;405;p36"/>
          <p:cNvGraphicFramePr/>
          <p:nvPr/>
        </p:nvGraphicFramePr>
        <p:xfrm>
          <a:off x="45006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6" name="Google Shape;406;p36"/>
          <p:cNvSpPr txBox="1"/>
          <p:nvPr/>
        </p:nvSpPr>
        <p:spPr>
          <a:xfrm>
            <a:off x="3521725" y="774100"/>
            <a:ext cx="97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= 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7" name="Google Shape;407;p36"/>
          <p:cNvGraphicFramePr/>
          <p:nvPr/>
        </p:nvGraphicFramePr>
        <p:xfrm>
          <a:off x="70152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8" name="Google Shape;408;p36"/>
          <p:cNvSpPr txBox="1"/>
          <p:nvPr/>
        </p:nvSpPr>
        <p:spPr>
          <a:xfrm>
            <a:off x="6495925" y="7131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9" name="Google Shape;409;p36"/>
          <p:cNvGraphicFramePr/>
          <p:nvPr/>
        </p:nvGraphicFramePr>
        <p:xfrm>
          <a:off x="6255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13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0" name="Google Shape;410;p36"/>
          <p:cNvSpPr txBox="1"/>
          <p:nvPr/>
        </p:nvSpPr>
        <p:spPr>
          <a:xfrm>
            <a:off x="106250" y="27800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1" name="Google Shape;411;p36"/>
          <p:cNvGraphicFramePr/>
          <p:nvPr/>
        </p:nvGraphicFramePr>
        <p:xfrm>
          <a:off x="6255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2" name="Google Shape;412;p36"/>
          <p:cNvSpPr txBox="1"/>
          <p:nvPr/>
        </p:nvSpPr>
        <p:spPr>
          <a:xfrm>
            <a:off x="106250" y="42278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6"/>
          <p:cNvSpPr txBox="1"/>
          <p:nvPr/>
        </p:nvSpPr>
        <p:spPr>
          <a:xfrm>
            <a:off x="1062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/>
          <p:nvPr/>
        </p:nvSpPr>
        <p:spPr>
          <a:xfrm>
            <a:off x="311700" y="99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1048725" y="175216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2441450" y="99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1389600" y="817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37"/>
          <p:cNvCxnSpPr>
            <a:stCxn id="418" idx="6"/>
            <a:endCxn id="420" idx="2"/>
          </p:cNvCxnSpPr>
          <p:nvPr/>
        </p:nvCxnSpPr>
        <p:spPr>
          <a:xfrm>
            <a:off x="671700" y="1176475"/>
            <a:ext cx="1769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3" name="Google Shape;423;p37"/>
          <p:cNvCxnSpPr>
            <a:stCxn id="418" idx="7"/>
            <a:endCxn id="421" idx="2"/>
          </p:cNvCxnSpPr>
          <p:nvPr/>
        </p:nvCxnSpPr>
        <p:spPr>
          <a:xfrm flipH="1" rot="10800000">
            <a:off x="618979" y="261696"/>
            <a:ext cx="7707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4" name="Google Shape;424;p37"/>
          <p:cNvCxnSpPr>
            <a:stCxn id="419" idx="6"/>
            <a:endCxn id="420" idx="4"/>
          </p:cNvCxnSpPr>
          <p:nvPr/>
        </p:nvCxnSpPr>
        <p:spPr>
          <a:xfrm flipH="1" rot="10800000">
            <a:off x="1408725" y="1356463"/>
            <a:ext cx="1212600" cy="57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425" name="Google Shape;425;p37"/>
          <p:cNvCxnSpPr>
            <a:stCxn id="419" idx="5"/>
          </p:cNvCxnSpPr>
          <p:nvPr/>
        </p:nvCxnSpPr>
        <p:spPr>
          <a:xfrm>
            <a:off x="1356004" y="2059442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37"/>
          <p:cNvCxnSpPr>
            <a:stCxn id="418" idx="4"/>
            <a:endCxn id="419" idx="1"/>
          </p:cNvCxnSpPr>
          <p:nvPr/>
        </p:nvCxnSpPr>
        <p:spPr>
          <a:xfrm>
            <a:off x="491700" y="1356475"/>
            <a:ext cx="609600" cy="44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427" name="Google Shape;427;p37"/>
          <p:cNvCxnSpPr>
            <a:stCxn id="419" idx="0"/>
            <a:endCxn id="421" idx="4"/>
          </p:cNvCxnSpPr>
          <p:nvPr/>
        </p:nvCxnSpPr>
        <p:spPr>
          <a:xfrm flipH="1" rot="10800000">
            <a:off x="1228725" y="441763"/>
            <a:ext cx="340800" cy="13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8" name="Google Shape;428;p37"/>
          <p:cNvCxnSpPr>
            <a:stCxn id="421" idx="6"/>
            <a:endCxn id="420" idx="1"/>
          </p:cNvCxnSpPr>
          <p:nvPr/>
        </p:nvCxnSpPr>
        <p:spPr>
          <a:xfrm>
            <a:off x="1749600" y="261725"/>
            <a:ext cx="7446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29" name="Google Shape;429;p37"/>
          <p:cNvSpPr txBox="1"/>
          <p:nvPr/>
        </p:nvSpPr>
        <p:spPr>
          <a:xfrm>
            <a:off x="347625" y="149466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7"/>
          <p:cNvSpPr txBox="1"/>
          <p:nvPr/>
        </p:nvSpPr>
        <p:spPr>
          <a:xfrm>
            <a:off x="1668600" y="7762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7"/>
          <p:cNvSpPr txBox="1"/>
          <p:nvPr/>
        </p:nvSpPr>
        <p:spPr>
          <a:xfrm>
            <a:off x="2009150" y="3411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7"/>
          <p:cNvSpPr txBox="1"/>
          <p:nvPr/>
        </p:nvSpPr>
        <p:spPr>
          <a:xfrm>
            <a:off x="1875313" y="15583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697738" y="3760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788175" y="13582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7"/>
          <p:cNvSpPr txBox="1"/>
          <p:nvPr/>
        </p:nvSpPr>
        <p:spPr>
          <a:xfrm>
            <a:off x="1070763" y="6726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414200" y="1367925"/>
            <a:ext cx="640100" cy="537350"/>
          </a:xfrm>
          <a:custGeom>
            <a:rect b="b" l="l" r="r" t="t"/>
            <a:pathLst>
              <a:path extrusionOk="0" h="21494" w="25604">
                <a:moveTo>
                  <a:pt x="0" y="0"/>
                </a:moveTo>
                <a:cubicBezTo>
                  <a:pt x="1657" y="2227"/>
                  <a:pt x="5673" y="9779"/>
                  <a:pt x="9940" y="13361"/>
                </a:cubicBezTo>
                <a:cubicBezTo>
                  <a:pt x="14207" y="16943"/>
                  <a:pt x="22993" y="20139"/>
                  <a:pt x="25604" y="2149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1443025" y="1330275"/>
            <a:ext cx="1026996" cy="537379"/>
          </a:xfrm>
          <a:custGeom>
            <a:rect b="b" l="l" r="r" t="t"/>
            <a:pathLst>
              <a:path extrusionOk="0" h="28014" w="51209">
                <a:moveTo>
                  <a:pt x="0" y="28014"/>
                </a:moveTo>
                <a:cubicBezTo>
                  <a:pt x="3816" y="25002"/>
                  <a:pt x="14359" y="14609"/>
                  <a:pt x="22894" y="9940"/>
                </a:cubicBezTo>
                <a:cubicBezTo>
                  <a:pt x="31429" y="5271"/>
                  <a:pt x="46490" y="1657"/>
                  <a:pt x="51209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7"/>
          <p:cNvSpPr txBox="1"/>
          <p:nvPr/>
        </p:nvSpPr>
        <p:spPr>
          <a:xfrm>
            <a:off x="1443025" y="13037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9" name="Google Shape;439;p37"/>
          <p:cNvGraphicFramePr/>
          <p:nvPr/>
        </p:nvGraphicFramePr>
        <p:xfrm>
          <a:off x="45006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0" name="Google Shape;440;p37"/>
          <p:cNvSpPr txBox="1"/>
          <p:nvPr/>
        </p:nvSpPr>
        <p:spPr>
          <a:xfrm>
            <a:off x="3521725" y="774100"/>
            <a:ext cx="97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= 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1" name="Google Shape;441;p37"/>
          <p:cNvGraphicFramePr/>
          <p:nvPr/>
        </p:nvGraphicFramePr>
        <p:xfrm>
          <a:off x="70152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2" name="Google Shape;442;p37"/>
          <p:cNvSpPr txBox="1"/>
          <p:nvPr/>
        </p:nvSpPr>
        <p:spPr>
          <a:xfrm>
            <a:off x="6495925" y="7131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3" name="Google Shape;443;p37"/>
          <p:cNvGraphicFramePr/>
          <p:nvPr/>
        </p:nvGraphicFramePr>
        <p:xfrm>
          <a:off x="6255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13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4" name="Google Shape;444;p37"/>
          <p:cNvSpPr txBox="1"/>
          <p:nvPr/>
        </p:nvSpPr>
        <p:spPr>
          <a:xfrm>
            <a:off x="106250" y="27800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5" name="Google Shape;445;p37"/>
          <p:cNvGraphicFramePr/>
          <p:nvPr/>
        </p:nvGraphicFramePr>
        <p:xfrm>
          <a:off x="6255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6" name="Google Shape;446;p37"/>
          <p:cNvSpPr txBox="1"/>
          <p:nvPr/>
        </p:nvSpPr>
        <p:spPr>
          <a:xfrm>
            <a:off x="106250" y="42278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1062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8" name="Google Shape;448;p37"/>
          <p:cNvGraphicFramePr/>
          <p:nvPr/>
        </p:nvGraphicFramePr>
        <p:xfrm>
          <a:off x="26829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11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9" name="Google Shape;449;p37"/>
          <p:cNvGraphicFramePr/>
          <p:nvPr/>
        </p:nvGraphicFramePr>
        <p:xfrm>
          <a:off x="26829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0" name="Google Shape;450;p37"/>
          <p:cNvSpPr txBox="1"/>
          <p:nvPr/>
        </p:nvSpPr>
        <p:spPr>
          <a:xfrm>
            <a:off x="21636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8"/>
          <p:cNvSpPr/>
          <p:nvPr/>
        </p:nvSpPr>
        <p:spPr>
          <a:xfrm>
            <a:off x="311700" y="99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1048725" y="175216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2441450" y="99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1389600" y="817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38"/>
          <p:cNvCxnSpPr>
            <a:stCxn id="455" idx="6"/>
            <a:endCxn id="457" idx="2"/>
          </p:cNvCxnSpPr>
          <p:nvPr/>
        </p:nvCxnSpPr>
        <p:spPr>
          <a:xfrm>
            <a:off x="671700" y="1176475"/>
            <a:ext cx="1769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0" name="Google Shape;460;p38"/>
          <p:cNvCxnSpPr>
            <a:stCxn id="455" idx="7"/>
            <a:endCxn id="458" idx="2"/>
          </p:cNvCxnSpPr>
          <p:nvPr/>
        </p:nvCxnSpPr>
        <p:spPr>
          <a:xfrm flipH="1" rot="10800000">
            <a:off x="618979" y="261696"/>
            <a:ext cx="7707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1" name="Google Shape;461;p38"/>
          <p:cNvCxnSpPr>
            <a:stCxn id="456" idx="6"/>
            <a:endCxn id="457" idx="4"/>
          </p:cNvCxnSpPr>
          <p:nvPr/>
        </p:nvCxnSpPr>
        <p:spPr>
          <a:xfrm flipH="1" rot="10800000">
            <a:off x="1408725" y="1356463"/>
            <a:ext cx="1212600" cy="57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462" name="Google Shape;462;p38"/>
          <p:cNvCxnSpPr>
            <a:stCxn id="456" idx="5"/>
          </p:cNvCxnSpPr>
          <p:nvPr/>
        </p:nvCxnSpPr>
        <p:spPr>
          <a:xfrm>
            <a:off x="1356004" y="2059442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38"/>
          <p:cNvCxnSpPr>
            <a:stCxn id="455" idx="4"/>
            <a:endCxn id="456" idx="1"/>
          </p:cNvCxnSpPr>
          <p:nvPr/>
        </p:nvCxnSpPr>
        <p:spPr>
          <a:xfrm>
            <a:off x="491700" y="1356475"/>
            <a:ext cx="609600" cy="44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464" name="Google Shape;464;p38"/>
          <p:cNvCxnSpPr>
            <a:stCxn id="456" idx="0"/>
            <a:endCxn id="458" idx="4"/>
          </p:cNvCxnSpPr>
          <p:nvPr/>
        </p:nvCxnSpPr>
        <p:spPr>
          <a:xfrm flipH="1" rot="10800000">
            <a:off x="1228725" y="441763"/>
            <a:ext cx="340800" cy="13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5" name="Google Shape;465;p38"/>
          <p:cNvCxnSpPr>
            <a:stCxn id="458" idx="6"/>
            <a:endCxn id="457" idx="1"/>
          </p:cNvCxnSpPr>
          <p:nvPr/>
        </p:nvCxnSpPr>
        <p:spPr>
          <a:xfrm>
            <a:off x="1749600" y="261725"/>
            <a:ext cx="7446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6" name="Google Shape;466;p38"/>
          <p:cNvSpPr txBox="1"/>
          <p:nvPr/>
        </p:nvSpPr>
        <p:spPr>
          <a:xfrm>
            <a:off x="347625" y="149466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8"/>
          <p:cNvSpPr txBox="1"/>
          <p:nvPr/>
        </p:nvSpPr>
        <p:spPr>
          <a:xfrm>
            <a:off x="1668600" y="7762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8"/>
          <p:cNvSpPr txBox="1"/>
          <p:nvPr/>
        </p:nvSpPr>
        <p:spPr>
          <a:xfrm>
            <a:off x="2009150" y="3411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8"/>
          <p:cNvSpPr txBox="1"/>
          <p:nvPr/>
        </p:nvSpPr>
        <p:spPr>
          <a:xfrm>
            <a:off x="1875313" y="15583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8"/>
          <p:cNvSpPr txBox="1"/>
          <p:nvPr/>
        </p:nvSpPr>
        <p:spPr>
          <a:xfrm>
            <a:off x="697738" y="3760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8"/>
          <p:cNvSpPr txBox="1"/>
          <p:nvPr/>
        </p:nvSpPr>
        <p:spPr>
          <a:xfrm>
            <a:off x="788175" y="13582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8"/>
          <p:cNvSpPr txBox="1"/>
          <p:nvPr/>
        </p:nvSpPr>
        <p:spPr>
          <a:xfrm>
            <a:off x="1070763" y="6726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414200" y="1367925"/>
            <a:ext cx="640100" cy="537350"/>
          </a:xfrm>
          <a:custGeom>
            <a:rect b="b" l="l" r="r" t="t"/>
            <a:pathLst>
              <a:path extrusionOk="0" h="21494" w="25604">
                <a:moveTo>
                  <a:pt x="0" y="0"/>
                </a:moveTo>
                <a:cubicBezTo>
                  <a:pt x="1657" y="2227"/>
                  <a:pt x="5673" y="9779"/>
                  <a:pt x="9940" y="13361"/>
                </a:cubicBezTo>
                <a:cubicBezTo>
                  <a:pt x="14207" y="16943"/>
                  <a:pt x="22993" y="20139"/>
                  <a:pt x="25604" y="2149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1443025" y="1330275"/>
            <a:ext cx="1026996" cy="537379"/>
          </a:xfrm>
          <a:custGeom>
            <a:rect b="b" l="l" r="r" t="t"/>
            <a:pathLst>
              <a:path extrusionOk="0" h="28014" w="51209">
                <a:moveTo>
                  <a:pt x="0" y="28014"/>
                </a:moveTo>
                <a:cubicBezTo>
                  <a:pt x="3816" y="25002"/>
                  <a:pt x="14359" y="14609"/>
                  <a:pt x="22894" y="9940"/>
                </a:cubicBezTo>
                <a:cubicBezTo>
                  <a:pt x="31429" y="5271"/>
                  <a:pt x="46490" y="1657"/>
                  <a:pt x="51209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8"/>
          <p:cNvSpPr txBox="1"/>
          <p:nvPr/>
        </p:nvSpPr>
        <p:spPr>
          <a:xfrm>
            <a:off x="1443025" y="13037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" name="Google Shape;476;p38"/>
          <p:cNvGraphicFramePr/>
          <p:nvPr/>
        </p:nvGraphicFramePr>
        <p:xfrm>
          <a:off x="45006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7" name="Google Shape;477;p38"/>
          <p:cNvSpPr txBox="1"/>
          <p:nvPr/>
        </p:nvSpPr>
        <p:spPr>
          <a:xfrm>
            <a:off x="3521725" y="774100"/>
            <a:ext cx="97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= 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8" name="Google Shape;478;p38"/>
          <p:cNvGraphicFramePr/>
          <p:nvPr/>
        </p:nvGraphicFramePr>
        <p:xfrm>
          <a:off x="70152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9" name="Google Shape;479;p38"/>
          <p:cNvSpPr txBox="1"/>
          <p:nvPr/>
        </p:nvSpPr>
        <p:spPr>
          <a:xfrm>
            <a:off x="6495925" y="7131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0" name="Google Shape;480;p38"/>
          <p:cNvGraphicFramePr/>
          <p:nvPr/>
        </p:nvGraphicFramePr>
        <p:xfrm>
          <a:off x="6255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13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1" name="Google Shape;481;p38"/>
          <p:cNvSpPr txBox="1"/>
          <p:nvPr/>
        </p:nvSpPr>
        <p:spPr>
          <a:xfrm>
            <a:off x="106250" y="27800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8"/>
          <p:cNvGraphicFramePr/>
          <p:nvPr/>
        </p:nvGraphicFramePr>
        <p:xfrm>
          <a:off x="6255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3" name="Google Shape;483;p38"/>
          <p:cNvSpPr txBox="1"/>
          <p:nvPr/>
        </p:nvSpPr>
        <p:spPr>
          <a:xfrm>
            <a:off x="106250" y="42278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1062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5" name="Google Shape;485;p38"/>
          <p:cNvGraphicFramePr/>
          <p:nvPr/>
        </p:nvGraphicFramePr>
        <p:xfrm>
          <a:off x="26829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6" name="Google Shape;486;p38"/>
          <p:cNvGraphicFramePr/>
          <p:nvPr/>
        </p:nvGraphicFramePr>
        <p:xfrm>
          <a:off x="26829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7" name="Google Shape;487;p38"/>
          <p:cNvSpPr txBox="1"/>
          <p:nvPr/>
        </p:nvSpPr>
        <p:spPr>
          <a:xfrm>
            <a:off x="21636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8" name="Google Shape;488;p38"/>
          <p:cNvGraphicFramePr/>
          <p:nvPr/>
        </p:nvGraphicFramePr>
        <p:xfrm>
          <a:off x="47403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9" name="Google Shape;489;p38"/>
          <p:cNvGraphicFramePr/>
          <p:nvPr/>
        </p:nvGraphicFramePr>
        <p:xfrm>
          <a:off x="47403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0" name="Google Shape;490;p38"/>
          <p:cNvSpPr txBox="1"/>
          <p:nvPr/>
        </p:nvSpPr>
        <p:spPr>
          <a:xfrm>
            <a:off x="42210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9"/>
          <p:cNvSpPr/>
          <p:nvPr/>
        </p:nvSpPr>
        <p:spPr>
          <a:xfrm>
            <a:off x="311700" y="99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1048725" y="175216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2441450" y="99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1389600" y="817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39"/>
          <p:cNvCxnSpPr>
            <a:stCxn id="495" idx="6"/>
            <a:endCxn id="497" idx="2"/>
          </p:cNvCxnSpPr>
          <p:nvPr/>
        </p:nvCxnSpPr>
        <p:spPr>
          <a:xfrm>
            <a:off x="671700" y="1176475"/>
            <a:ext cx="1769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0" name="Google Shape;500;p39"/>
          <p:cNvCxnSpPr>
            <a:stCxn id="495" idx="7"/>
            <a:endCxn id="498" idx="2"/>
          </p:cNvCxnSpPr>
          <p:nvPr/>
        </p:nvCxnSpPr>
        <p:spPr>
          <a:xfrm flipH="1" rot="10800000">
            <a:off x="618979" y="261696"/>
            <a:ext cx="7707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1" name="Google Shape;501;p39"/>
          <p:cNvCxnSpPr>
            <a:stCxn id="496" idx="6"/>
            <a:endCxn id="497" idx="4"/>
          </p:cNvCxnSpPr>
          <p:nvPr/>
        </p:nvCxnSpPr>
        <p:spPr>
          <a:xfrm flipH="1" rot="10800000">
            <a:off x="1408725" y="1356463"/>
            <a:ext cx="1212600" cy="57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502" name="Google Shape;502;p39"/>
          <p:cNvCxnSpPr>
            <a:stCxn id="496" idx="5"/>
          </p:cNvCxnSpPr>
          <p:nvPr/>
        </p:nvCxnSpPr>
        <p:spPr>
          <a:xfrm>
            <a:off x="1356004" y="2059442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39"/>
          <p:cNvCxnSpPr>
            <a:stCxn id="495" idx="4"/>
            <a:endCxn id="496" idx="1"/>
          </p:cNvCxnSpPr>
          <p:nvPr/>
        </p:nvCxnSpPr>
        <p:spPr>
          <a:xfrm>
            <a:off x="491700" y="1356475"/>
            <a:ext cx="609600" cy="44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504" name="Google Shape;504;p39"/>
          <p:cNvCxnSpPr>
            <a:stCxn id="496" idx="0"/>
            <a:endCxn id="498" idx="4"/>
          </p:cNvCxnSpPr>
          <p:nvPr/>
        </p:nvCxnSpPr>
        <p:spPr>
          <a:xfrm flipH="1" rot="10800000">
            <a:off x="1228725" y="441763"/>
            <a:ext cx="340800" cy="13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5" name="Google Shape;505;p39"/>
          <p:cNvCxnSpPr>
            <a:stCxn id="498" idx="6"/>
            <a:endCxn id="497" idx="1"/>
          </p:cNvCxnSpPr>
          <p:nvPr/>
        </p:nvCxnSpPr>
        <p:spPr>
          <a:xfrm>
            <a:off x="1749600" y="261725"/>
            <a:ext cx="744600" cy="78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6" name="Google Shape;506;p39"/>
          <p:cNvSpPr txBox="1"/>
          <p:nvPr/>
        </p:nvSpPr>
        <p:spPr>
          <a:xfrm>
            <a:off x="347625" y="149466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9"/>
          <p:cNvSpPr txBox="1"/>
          <p:nvPr/>
        </p:nvSpPr>
        <p:spPr>
          <a:xfrm>
            <a:off x="1668600" y="7762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9"/>
          <p:cNvSpPr txBox="1"/>
          <p:nvPr/>
        </p:nvSpPr>
        <p:spPr>
          <a:xfrm>
            <a:off x="2009150" y="3411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9"/>
          <p:cNvSpPr txBox="1"/>
          <p:nvPr/>
        </p:nvSpPr>
        <p:spPr>
          <a:xfrm>
            <a:off x="1875313" y="15583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9"/>
          <p:cNvSpPr txBox="1"/>
          <p:nvPr/>
        </p:nvSpPr>
        <p:spPr>
          <a:xfrm>
            <a:off x="697738" y="3760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9"/>
          <p:cNvSpPr txBox="1"/>
          <p:nvPr/>
        </p:nvSpPr>
        <p:spPr>
          <a:xfrm>
            <a:off x="788175" y="13582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9"/>
          <p:cNvSpPr txBox="1"/>
          <p:nvPr/>
        </p:nvSpPr>
        <p:spPr>
          <a:xfrm>
            <a:off x="1070763" y="67261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414200" y="1367925"/>
            <a:ext cx="640100" cy="537350"/>
          </a:xfrm>
          <a:custGeom>
            <a:rect b="b" l="l" r="r" t="t"/>
            <a:pathLst>
              <a:path extrusionOk="0" h="21494" w="25604">
                <a:moveTo>
                  <a:pt x="0" y="0"/>
                </a:moveTo>
                <a:cubicBezTo>
                  <a:pt x="1657" y="2227"/>
                  <a:pt x="5673" y="9779"/>
                  <a:pt x="9940" y="13361"/>
                </a:cubicBezTo>
                <a:cubicBezTo>
                  <a:pt x="14207" y="16943"/>
                  <a:pt x="22993" y="20139"/>
                  <a:pt x="25604" y="21494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1443025" y="1330275"/>
            <a:ext cx="1026996" cy="537379"/>
          </a:xfrm>
          <a:custGeom>
            <a:rect b="b" l="l" r="r" t="t"/>
            <a:pathLst>
              <a:path extrusionOk="0" h="28014" w="51209">
                <a:moveTo>
                  <a:pt x="0" y="28014"/>
                </a:moveTo>
                <a:cubicBezTo>
                  <a:pt x="3816" y="25002"/>
                  <a:pt x="14359" y="14609"/>
                  <a:pt x="22894" y="9940"/>
                </a:cubicBezTo>
                <a:cubicBezTo>
                  <a:pt x="31429" y="5271"/>
                  <a:pt x="46490" y="1657"/>
                  <a:pt x="51209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9"/>
          <p:cNvSpPr txBox="1"/>
          <p:nvPr/>
        </p:nvSpPr>
        <p:spPr>
          <a:xfrm>
            <a:off x="1443025" y="13037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6" name="Google Shape;516;p39"/>
          <p:cNvGraphicFramePr/>
          <p:nvPr/>
        </p:nvGraphicFramePr>
        <p:xfrm>
          <a:off x="45006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∞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7" name="Google Shape;517;p39"/>
          <p:cNvSpPr txBox="1"/>
          <p:nvPr/>
        </p:nvSpPr>
        <p:spPr>
          <a:xfrm>
            <a:off x="3521725" y="774100"/>
            <a:ext cx="97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= 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8" name="Google Shape;518;p39"/>
          <p:cNvGraphicFramePr/>
          <p:nvPr/>
        </p:nvGraphicFramePr>
        <p:xfrm>
          <a:off x="7015225" y="1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9" name="Google Shape;519;p39"/>
          <p:cNvSpPr txBox="1"/>
          <p:nvPr/>
        </p:nvSpPr>
        <p:spPr>
          <a:xfrm>
            <a:off x="6495925" y="7131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0" name="Google Shape;520;p39"/>
          <p:cNvGraphicFramePr/>
          <p:nvPr/>
        </p:nvGraphicFramePr>
        <p:xfrm>
          <a:off x="6255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13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1" name="Google Shape;521;p39"/>
          <p:cNvSpPr txBox="1"/>
          <p:nvPr/>
        </p:nvSpPr>
        <p:spPr>
          <a:xfrm>
            <a:off x="106250" y="27800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2" name="Google Shape;522;p39"/>
          <p:cNvGraphicFramePr/>
          <p:nvPr/>
        </p:nvGraphicFramePr>
        <p:xfrm>
          <a:off x="6255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3" name="Google Shape;523;p39"/>
          <p:cNvSpPr txBox="1"/>
          <p:nvPr/>
        </p:nvSpPr>
        <p:spPr>
          <a:xfrm>
            <a:off x="106250" y="4227838"/>
            <a:ext cx="5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9"/>
          <p:cNvSpPr txBox="1"/>
          <p:nvPr/>
        </p:nvSpPr>
        <p:spPr>
          <a:xfrm>
            <a:off x="1062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k=1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5" name="Google Shape;525;p39"/>
          <p:cNvGraphicFramePr/>
          <p:nvPr/>
        </p:nvGraphicFramePr>
        <p:xfrm>
          <a:off x="26829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∞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11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6" name="Google Shape;526;p39"/>
          <p:cNvGraphicFramePr/>
          <p:nvPr/>
        </p:nvGraphicFramePr>
        <p:xfrm>
          <a:off x="26829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7" name="Google Shape;527;p39"/>
          <p:cNvSpPr txBox="1"/>
          <p:nvPr/>
        </p:nvSpPr>
        <p:spPr>
          <a:xfrm>
            <a:off x="21636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8" name="Google Shape;528;p39"/>
          <p:cNvGraphicFramePr/>
          <p:nvPr/>
        </p:nvGraphicFramePr>
        <p:xfrm>
          <a:off x="47403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9" name="Google Shape;529;p39"/>
          <p:cNvGraphicFramePr/>
          <p:nvPr/>
        </p:nvGraphicFramePr>
        <p:xfrm>
          <a:off x="47403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b="1"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0" name="Google Shape;530;p39"/>
          <p:cNvSpPr txBox="1"/>
          <p:nvPr/>
        </p:nvSpPr>
        <p:spPr>
          <a:xfrm>
            <a:off x="42210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k=3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1" name="Google Shape;531;p39"/>
          <p:cNvGraphicFramePr/>
          <p:nvPr/>
        </p:nvGraphicFramePr>
        <p:xfrm>
          <a:off x="6797750" y="226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8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10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2" name="Google Shape;532;p39"/>
          <p:cNvGraphicFramePr/>
          <p:nvPr/>
        </p:nvGraphicFramePr>
        <p:xfrm>
          <a:off x="6797750" y="371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{C3D42C80-69B9-4CBF-9975-66A484430DEF}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b="1" sz="11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3" name="Google Shape;533;p39"/>
          <p:cNvSpPr txBox="1"/>
          <p:nvPr/>
        </p:nvSpPr>
        <p:spPr>
          <a:xfrm>
            <a:off x="6278450" y="2248400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k=4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539" name="Google Shape;539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Algoritmul funcționează corect chiar dacă arcele au și costuri negative (dar graful nu are circuite negative).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putem detecta, pe parcursul algoritmului, existența unui circuit negativ? (⇒ datele de intrare nu sunt corecte)</a:t>
            </a:r>
            <a:endParaRPr/>
          </a:p>
        </p:txBody>
      </p:sp>
      <p:pic>
        <p:nvPicPr>
          <p:cNvPr id="540" name="Google Shape;54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477" y="1849775"/>
            <a:ext cx="681700" cy="10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Floyd-Warshall</a:t>
            </a:r>
            <a:endParaRPr/>
          </a:p>
        </p:txBody>
      </p:sp>
      <p:sp>
        <p:nvSpPr>
          <p:cNvPr id="546" name="Google Shape;546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Algoritmul funcționează corect chiar dacă arcele au și costuri negative (dar graful nu are circuite negative).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putem detecta, pe parcursul algoritmului, existența unui circuit negativ? (⇒ datele de intrare nu sunt corecte)</a:t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Reușim să optimizăm diagonala principală să obținem un cost negativ!</a:t>
            </a:r>
            <a:endParaRPr/>
          </a:p>
        </p:txBody>
      </p:sp>
      <p:pic>
        <p:nvPicPr>
          <p:cNvPr id="547" name="Google Shape;54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477" y="1849775"/>
            <a:ext cx="681700" cy="10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/>
          <p:nvPr>
            <p:ph type="ctrTitle"/>
          </p:nvPr>
        </p:nvSpPr>
        <p:spPr>
          <a:xfrm>
            <a:off x="719350" y="531725"/>
            <a:ext cx="60666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Aplicație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Închiderea tranzitivă a unui graf orientat</a:t>
            </a:r>
            <a:endParaRPr/>
          </a:p>
        </p:txBody>
      </p:sp>
      <p:sp>
        <p:nvSpPr>
          <p:cNvPr id="553" name="Google Shape;553;p42"/>
          <p:cNvSpPr txBox="1"/>
          <p:nvPr>
            <p:ph idx="1" type="subTitle"/>
          </p:nvPr>
        </p:nvSpPr>
        <p:spPr>
          <a:xfrm>
            <a:off x="719350" y="23197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800"/>
              <a:t>Algoritmul Roy-Warshall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Roy-Warshall</a:t>
            </a:r>
            <a:endParaRPr/>
          </a:p>
        </p:txBody>
      </p:sp>
      <p:sp>
        <p:nvSpPr>
          <p:cNvPr id="559" name="Google Shape;559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Aplicație: Închiderea tranzitivă </a:t>
            </a:r>
            <a:r>
              <a:rPr b="0" lang="en-GB"/>
              <a:t>a unui graf orientat G=(V, E) (</a:t>
            </a:r>
            <a:r>
              <a:rPr lang="en-GB">
                <a:solidFill>
                  <a:srgbClr val="CC0000"/>
                </a:solidFill>
              </a:rPr>
              <a:t>!!! neponderat</a:t>
            </a:r>
            <a:r>
              <a:rPr b="0" lang="en-GB"/>
              <a:t>):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G</a:t>
            </a:r>
            <a:r>
              <a:rPr b="0" baseline="30000" lang="en-GB" sz="1700"/>
              <a:t>*</a:t>
            </a:r>
            <a:r>
              <a:rPr b="0" lang="en-GB"/>
              <a:t> = (V, E</a:t>
            </a:r>
            <a:r>
              <a:rPr b="0" baseline="30000" lang="en-GB"/>
              <a:t>*</a:t>
            </a:r>
            <a:r>
              <a:rPr b="0" lang="en-GB"/>
              <a:t>), unde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E</a:t>
            </a:r>
            <a:r>
              <a:rPr b="0" baseline="30000" lang="en-GB"/>
              <a:t>*</a:t>
            </a:r>
            <a:r>
              <a:rPr b="0" lang="en-GB"/>
              <a:t> = { (i, j) | </a:t>
            </a:r>
            <a:r>
              <a:rPr lang="en-GB"/>
              <a:t>există drum</a:t>
            </a:r>
            <a:r>
              <a:rPr b="0" lang="en-GB"/>
              <a:t> (de lungime minim 1) de la i la j în G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Utilitate: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grupări de obiecte aflate în relație (directă sau indirectă):</a:t>
            </a:r>
            <a:r>
              <a:rPr b="0" lang="en-GB"/>
              <a:t> optimizări în baze de date, analize în rețele, logică</a:t>
            </a:r>
            <a:endParaRPr b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Roy-Warshall</a:t>
            </a:r>
            <a:endParaRPr/>
          </a:p>
        </p:txBody>
      </p:sp>
      <p:sp>
        <p:nvSpPr>
          <p:cNvPr id="565" name="Google Shape;565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Exemplul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Închiderea tranzitivă</a:t>
            </a:r>
            <a:endParaRPr/>
          </a:p>
        </p:txBody>
      </p:sp>
      <p:sp>
        <p:nvSpPr>
          <p:cNvPr id="566" name="Google Shape;566;p44"/>
          <p:cNvSpPr/>
          <p:nvPr/>
        </p:nvSpPr>
        <p:spPr>
          <a:xfrm>
            <a:off x="1278050" y="18524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4"/>
          <p:cNvSpPr/>
          <p:nvPr/>
        </p:nvSpPr>
        <p:spPr>
          <a:xfrm>
            <a:off x="2204375" y="13025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4"/>
          <p:cNvSpPr/>
          <p:nvPr/>
        </p:nvSpPr>
        <p:spPr>
          <a:xfrm>
            <a:off x="3130725" y="18524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4"/>
          <p:cNvSpPr/>
          <p:nvPr/>
        </p:nvSpPr>
        <p:spPr>
          <a:xfrm>
            <a:off x="4392000" y="13025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4"/>
          <p:cNvSpPr/>
          <p:nvPr/>
        </p:nvSpPr>
        <p:spPr>
          <a:xfrm>
            <a:off x="5055075" y="23917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6191950" y="18471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44"/>
          <p:cNvCxnSpPr>
            <a:stCxn id="566" idx="7"/>
            <a:endCxn id="567" idx="2"/>
          </p:cNvCxnSpPr>
          <p:nvPr/>
        </p:nvCxnSpPr>
        <p:spPr>
          <a:xfrm flipH="1" rot="10800000">
            <a:off x="1585329" y="1482509"/>
            <a:ext cx="6189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3" name="Google Shape;573;p44"/>
          <p:cNvCxnSpPr>
            <a:stCxn id="567" idx="6"/>
            <a:endCxn id="568" idx="1"/>
          </p:cNvCxnSpPr>
          <p:nvPr/>
        </p:nvCxnSpPr>
        <p:spPr>
          <a:xfrm>
            <a:off x="2564375" y="1482588"/>
            <a:ext cx="6192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4" name="Google Shape;574;p44"/>
          <p:cNvCxnSpPr>
            <a:stCxn id="569" idx="2"/>
            <a:endCxn id="568" idx="7"/>
          </p:cNvCxnSpPr>
          <p:nvPr/>
        </p:nvCxnSpPr>
        <p:spPr>
          <a:xfrm flipH="1">
            <a:off x="3438000" y="1482588"/>
            <a:ext cx="9540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5" name="Google Shape;575;p44"/>
          <p:cNvCxnSpPr>
            <a:stCxn id="570" idx="1"/>
            <a:endCxn id="569" idx="5"/>
          </p:cNvCxnSpPr>
          <p:nvPr/>
        </p:nvCxnSpPr>
        <p:spPr>
          <a:xfrm rot="10800000">
            <a:off x="4699196" y="1609859"/>
            <a:ext cx="408600" cy="83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44"/>
          <p:cNvCxnSpPr>
            <a:stCxn id="571" idx="3"/>
            <a:endCxn id="570" idx="7"/>
          </p:cNvCxnSpPr>
          <p:nvPr/>
        </p:nvCxnSpPr>
        <p:spPr>
          <a:xfrm flipH="1">
            <a:off x="5362371" y="2154417"/>
            <a:ext cx="882300" cy="29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7" name="Google Shape;577;p44"/>
          <p:cNvSpPr/>
          <p:nvPr/>
        </p:nvSpPr>
        <p:spPr>
          <a:xfrm>
            <a:off x="1278050" y="39098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4"/>
          <p:cNvSpPr/>
          <p:nvPr/>
        </p:nvSpPr>
        <p:spPr>
          <a:xfrm>
            <a:off x="2204375" y="33599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4"/>
          <p:cNvSpPr/>
          <p:nvPr/>
        </p:nvSpPr>
        <p:spPr>
          <a:xfrm>
            <a:off x="3130725" y="39098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4"/>
          <p:cNvSpPr/>
          <p:nvPr/>
        </p:nvSpPr>
        <p:spPr>
          <a:xfrm>
            <a:off x="4392000" y="33599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5055075" y="44491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6191950" y="39045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44"/>
          <p:cNvCxnSpPr>
            <a:stCxn id="577" idx="7"/>
            <a:endCxn id="578" idx="2"/>
          </p:cNvCxnSpPr>
          <p:nvPr/>
        </p:nvCxnSpPr>
        <p:spPr>
          <a:xfrm flipH="1" rot="10800000">
            <a:off x="1585329" y="3539909"/>
            <a:ext cx="6189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4" name="Google Shape;584;p44"/>
          <p:cNvCxnSpPr>
            <a:stCxn id="578" idx="6"/>
            <a:endCxn id="579" idx="1"/>
          </p:cNvCxnSpPr>
          <p:nvPr/>
        </p:nvCxnSpPr>
        <p:spPr>
          <a:xfrm>
            <a:off x="2564375" y="3539988"/>
            <a:ext cx="6192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5" name="Google Shape;585;p44"/>
          <p:cNvCxnSpPr>
            <a:stCxn id="580" idx="2"/>
            <a:endCxn id="579" idx="7"/>
          </p:cNvCxnSpPr>
          <p:nvPr/>
        </p:nvCxnSpPr>
        <p:spPr>
          <a:xfrm flipH="1">
            <a:off x="3438000" y="3539988"/>
            <a:ext cx="9540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6" name="Google Shape;586;p44"/>
          <p:cNvCxnSpPr>
            <a:stCxn id="581" idx="1"/>
            <a:endCxn id="580" idx="5"/>
          </p:cNvCxnSpPr>
          <p:nvPr/>
        </p:nvCxnSpPr>
        <p:spPr>
          <a:xfrm rot="10800000">
            <a:off x="4699196" y="3667259"/>
            <a:ext cx="408600" cy="83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7" name="Google Shape;587;p44"/>
          <p:cNvCxnSpPr>
            <a:stCxn id="582" idx="3"/>
            <a:endCxn id="581" idx="7"/>
          </p:cNvCxnSpPr>
          <p:nvPr/>
        </p:nvCxnSpPr>
        <p:spPr>
          <a:xfrm flipH="1">
            <a:off x="5362371" y="4211817"/>
            <a:ext cx="882300" cy="29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8" name="Google Shape;588;p44"/>
          <p:cNvCxnSpPr>
            <a:stCxn id="577" idx="6"/>
            <a:endCxn id="579" idx="2"/>
          </p:cNvCxnSpPr>
          <p:nvPr/>
        </p:nvCxnSpPr>
        <p:spPr>
          <a:xfrm>
            <a:off x="1638050" y="4089888"/>
            <a:ext cx="1492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89" name="Google Shape;589;p44"/>
          <p:cNvCxnSpPr>
            <a:stCxn id="582" idx="1"/>
            <a:endCxn id="580" idx="6"/>
          </p:cNvCxnSpPr>
          <p:nvPr/>
        </p:nvCxnSpPr>
        <p:spPr>
          <a:xfrm rot="10800000">
            <a:off x="4751871" y="3539959"/>
            <a:ext cx="1492800" cy="417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90" name="Google Shape;590;p44"/>
          <p:cNvCxnSpPr>
            <a:stCxn id="581" idx="2"/>
            <a:endCxn id="579" idx="5"/>
          </p:cNvCxnSpPr>
          <p:nvPr/>
        </p:nvCxnSpPr>
        <p:spPr>
          <a:xfrm rot="10800000">
            <a:off x="3438075" y="4217238"/>
            <a:ext cx="1617000" cy="411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91" name="Google Shape;591;p44"/>
          <p:cNvCxnSpPr>
            <a:stCxn id="582" idx="2"/>
            <a:endCxn id="579" idx="6"/>
          </p:cNvCxnSpPr>
          <p:nvPr/>
        </p:nvCxnSpPr>
        <p:spPr>
          <a:xfrm flipH="1">
            <a:off x="3490750" y="4084538"/>
            <a:ext cx="2701200" cy="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Roy-Warshall</a:t>
            </a:r>
            <a:endParaRPr/>
          </a:p>
        </p:txBody>
      </p:sp>
      <p:sp>
        <p:nvSpPr>
          <p:cNvPr id="597" name="Google Shape;597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Exemplul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Închiderea tranzitivă</a:t>
            </a:r>
            <a:endParaRPr/>
          </a:p>
        </p:txBody>
      </p:sp>
      <p:sp>
        <p:nvSpPr>
          <p:cNvPr id="598" name="Google Shape;598;p45"/>
          <p:cNvSpPr/>
          <p:nvPr/>
        </p:nvSpPr>
        <p:spPr>
          <a:xfrm>
            <a:off x="1278050" y="18524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5"/>
          <p:cNvSpPr/>
          <p:nvPr/>
        </p:nvSpPr>
        <p:spPr>
          <a:xfrm>
            <a:off x="2204375" y="13025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5"/>
          <p:cNvSpPr/>
          <p:nvPr/>
        </p:nvSpPr>
        <p:spPr>
          <a:xfrm>
            <a:off x="3130725" y="18524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5"/>
          <p:cNvSpPr/>
          <p:nvPr/>
        </p:nvSpPr>
        <p:spPr>
          <a:xfrm>
            <a:off x="4392000" y="13025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5"/>
          <p:cNvSpPr/>
          <p:nvPr/>
        </p:nvSpPr>
        <p:spPr>
          <a:xfrm>
            <a:off x="5055075" y="23917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5"/>
          <p:cNvSpPr/>
          <p:nvPr/>
        </p:nvSpPr>
        <p:spPr>
          <a:xfrm>
            <a:off x="6191950" y="18471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45"/>
          <p:cNvCxnSpPr>
            <a:stCxn id="598" idx="7"/>
            <a:endCxn id="599" idx="2"/>
          </p:cNvCxnSpPr>
          <p:nvPr/>
        </p:nvCxnSpPr>
        <p:spPr>
          <a:xfrm flipH="1" rot="10800000">
            <a:off x="1585329" y="1482509"/>
            <a:ext cx="6189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5" name="Google Shape;605;p45"/>
          <p:cNvCxnSpPr>
            <a:stCxn id="599" idx="6"/>
            <a:endCxn id="600" idx="1"/>
          </p:cNvCxnSpPr>
          <p:nvPr/>
        </p:nvCxnSpPr>
        <p:spPr>
          <a:xfrm>
            <a:off x="2564375" y="1482588"/>
            <a:ext cx="6192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" name="Google Shape;606;p45"/>
          <p:cNvCxnSpPr>
            <a:stCxn id="601" idx="2"/>
            <a:endCxn id="600" idx="7"/>
          </p:cNvCxnSpPr>
          <p:nvPr/>
        </p:nvCxnSpPr>
        <p:spPr>
          <a:xfrm flipH="1">
            <a:off x="3438000" y="1482588"/>
            <a:ext cx="9540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7" name="Google Shape;607;p45"/>
          <p:cNvCxnSpPr>
            <a:stCxn id="602" idx="1"/>
            <a:endCxn id="601" idx="5"/>
          </p:cNvCxnSpPr>
          <p:nvPr/>
        </p:nvCxnSpPr>
        <p:spPr>
          <a:xfrm rot="10800000">
            <a:off x="4699196" y="1609859"/>
            <a:ext cx="408600" cy="83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p45"/>
          <p:cNvCxnSpPr>
            <a:stCxn id="603" idx="3"/>
            <a:endCxn id="602" idx="7"/>
          </p:cNvCxnSpPr>
          <p:nvPr/>
        </p:nvCxnSpPr>
        <p:spPr>
          <a:xfrm flipH="1">
            <a:off x="5362371" y="2154417"/>
            <a:ext cx="882300" cy="29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9" name="Google Shape;609;p45"/>
          <p:cNvSpPr/>
          <p:nvPr/>
        </p:nvSpPr>
        <p:spPr>
          <a:xfrm>
            <a:off x="1278050" y="39098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5"/>
          <p:cNvSpPr/>
          <p:nvPr/>
        </p:nvSpPr>
        <p:spPr>
          <a:xfrm>
            <a:off x="2204375" y="33599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5"/>
          <p:cNvSpPr/>
          <p:nvPr/>
        </p:nvSpPr>
        <p:spPr>
          <a:xfrm>
            <a:off x="3130725" y="39098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5"/>
          <p:cNvSpPr/>
          <p:nvPr/>
        </p:nvSpPr>
        <p:spPr>
          <a:xfrm>
            <a:off x="4392000" y="335998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5"/>
          <p:cNvSpPr/>
          <p:nvPr/>
        </p:nvSpPr>
        <p:spPr>
          <a:xfrm>
            <a:off x="5055075" y="44491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5"/>
          <p:cNvSpPr/>
          <p:nvPr/>
        </p:nvSpPr>
        <p:spPr>
          <a:xfrm>
            <a:off x="6191950" y="39045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p45"/>
          <p:cNvCxnSpPr>
            <a:stCxn id="609" idx="7"/>
            <a:endCxn id="610" idx="2"/>
          </p:cNvCxnSpPr>
          <p:nvPr/>
        </p:nvCxnSpPr>
        <p:spPr>
          <a:xfrm flipH="1" rot="10800000">
            <a:off x="1585329" y="3539909"/>
            <a:ext cx="6189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6" name="Google Shape;616;p45"/>
          <p:cNvCxnSpPr>
            <a:stCxn id="610" idx="6"/>
            <a:endCxn id="611" idx="1"/>
          </p:cNvCxnSpPr>
          <p:nvPr/>
        </p:nvCxnSpPr>
        <p:spPr>
          <a:xfrm>
            <a:off x="2564375" y="3539988"/>
            <a:ext cx="6192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7" name="Google Shape;617;p45"/>
          <p:cNvCxnSpPr>
            <a:stCxn id="612" idx="2"/>
            <a:endCxn id="611" idx="7"/>
          </p:cNvCxnSpPr>
          <p:nvPr/>
        </p:nvCxnSpPr>
        <p:spPr>
          <a:xfrm flipH="1">
            <a:off x="3438000" y="3539988"/>
            <a:ext cx="954000" cy="4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45"/>
          <p:cNvCxnSpPr>
            <a:stCxn id="613" idx="1"/>
            <a:endCxn id="612" idx="5"/>
          </p:cNvCxnSpPr>
          <p:nvPr/>
        </p:nvCxnSpPr>
        <p:spPr>
          <a:xfrm rot="10800000">
            <a:off x="4699196" y="3667259"/>
            <a:ext cx="408600" cy="83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9" name="Google Shape;619;p45"/>
          <p:cNvCxnSpPr>
            <a:stCxn id="614" idx="3"/>
            <a:endCxn id="613" idx="7"/>
          </p:cNvCxnSpPr>
          <p:nvPr/>
        </p:nvCxnSpPr>
        <p:spPr>
          <a:xfrm flipH="1">
            <a:off x="5362371" y="4211817"/>
            <a:ext cx="882300" cy="29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0" name="Google Shape;620;p45"/>
          <p:cNvCxnSpPr>
            <a:stCxn id="609" idx="6"/>
            <a:endCxn id="611" idx="2"/>
          </p:cNvCxnSpPr>
          <p:nvPr/>
        </p:nvCxnSpPr>
        <p:spPr>
          <a:xfrm>
            <a:off x="1638050" y="4089888"/>
            <a:ext cx="1492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45"/>
          <p:cNvCxnSpPr/>
          <p:nvPr/>
        </p:nvCxnSpPr>
        <p:spPr>
          <a:xfrm rot="10800000">
            <a:off x="4699221" y="3597271"/>
            <a:ext cx="1492800" cy="417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45"/>
          <p:cNvCxnSpPr>
            <a:stCxn id="613" idx="2"/>
            <a:endCxn id="611" idx="5"/>
          </p:cNvCxnSpPr>
          <p:nvPr/>
        </p:nvCxnSpPr>
        <p:spPr>
          <a:xfrm rot="10800000">
            <a:off x="3438075" y="4217238"/>
            <a:ext cx="1617000" cy="411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45"/>
          <p:cNvCxnSpPr>
            <a:stCxn id="614" idx="2"/>
            <a:endCxn id="611" idx="6"/>
          </p:cNvCxnSpPr>
          <p:nvPr/>
        </p:nvCxnSpPr>
        <p:spPr>
          <a:xfrm flipH="1">
            <a:off x="3490750" y="4084538"/>
            <a:ext cx="2701200" cy="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45"/>
          <p:cNvCxnSpPr>
            <a:stCxn id="601" idx="6"/>
            <a:endCxn id="603" idx="1"/>
          </p:cNvCxnSpPr>
          <p:nvPr/>
        </p:nvCxnSpPr>
        <p:spPr>
          <a:xfrm>
            <a:off x="4752000" y="1482588"/>
            <a:ext cx="1492800" cy="41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5" name="Google Shape;625;p45"/>
          <p:cNvCxnSpPr>
            <a:stCxn id="613" idx="6"/>
            <a:endCxn id="614" idx="4"/>
          </p:cNvCxnSpPr>
          <p:nvPr/>
        </p:nvCxnSpPr>
        <p:spPr>
          <a:xfrm flipH="1" rot="10800000">
            <a:off x="5415075" y="4264638"/>
            <a:ext cx="957000" cy="364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626" name="Google Shape;626;p45"/>
          <p:cNvSpPr/>
          <p:nvPr/>
        </p:nvSpPr>
        <p:spPr>
          <a:xfrm>
            <a:off x="4356877" y="2923187"/>
            <a:ext cx="402550" cy="471400"/>
          </a:xfrm>
          <a:custGeom>
            <a:rect b="b" l="l" r="r" t="t"/>
            <a:pathLst>
              <a:path extrusionOk="0" h="18856" w="16102">
                <a:moveTo>
                  <a:pt x="5165" y="18007"/>
                </a:moveTo>
                <a:cubicBezTo>
                  <a:pt x="4305" y="16478"/>
                  <a:pt x="-185" y="11701"/>
                  <a:pt x="6" y="8834"/>
                </a:cubicBezTo>
                <a:cubicBezTo>
                  <a:pt x="197" y="5968"/>
                  <a:pt x="4019" y="2050"/>
                  <a:pt x="6312" y="808"/>
                </a:cubicBezTo>
                <a:cubicBezTo>
                  <a:pt x="8605" y="-434"/>
                  <a:pt x="12141" y="-243"/>
                  <a:pt x="13765" y="1381"/>
                </a:cubicBezTo>
                <a:cubicBezTo>
                  <a:pt x="15389" y="3005"/>
                  <a:pt x="16321" y="7642"/>
                  <a:pt x="16058" y="10554"/>
                </a:cubicBezTo>
                <a:cubicBezTo>
                  <a:pt x="15795" y="13467"/>
                  <a:pt x="12831" y="17472"/>
                  <a:pt x="12186" y="1885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5"/>
          <p:cNvSpPr/>
          <p:nvPr/>
        </p:nvSpPr>
        <p:spPr>
          <a:xfrm rot="5190159">
            <a:off x="6545502" y="3813597"/>
            <a:ext cx="402535" cy="471382"/>
          </a:xfrm>
          <a:custGeom>
            <a:rect b="b" l="l" r="r" t="t"/>
            <a:pathLst>
              <a:path extrusionOk="0" h="18856" w="16102">
                <a:moveTo>
                  <a:pt x="5165" y="18007"/>
                </a:moveTo>
                <a:cubicBezTo>
                  <a:pt x="4305" y="16478"/>
                  <a:pt x="-185" y="11701"/>
                  <a:pt x="6" y="8834"/>
                </a:cubicBezTo>
                <a:cubicBezTo>
                  <a:pt x="197" y="5968"/>
                  <a:pt x="4019" y="2050"/>
                  <a:pt x="6312" y="808"/>
                </a:cubicBezTo>
                <a:cubicBezTo>
                  <a:pt x="8605" y="-434"/>
                  <a:pt x="12141" y="-243"/>
                  <a:pt x="13765" y="1381"/>
                </a:cubicBezTo>
                <a:cubicBezTo>
                  <a:pt x="15389" y="3005"/>
                  <a:pt x="16321" y="7642"/>
                  <a:pt x="16058" y="10554"/>
                </a:cubicBezTo>
                <a:cubicBezTo>
                  <a:pt x="15795" y="13467"/>
                  <a:pt x="12831" y="17472"/>
                  <a:pt x="12186" y="1885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5"/>
          <p:cNvSpPr/>
          <p:nvPr/>
        </p:nvSpPr>
        <p:spPr>
          <a:xfrm rot="7223157">
            <a:off x="5365000" y="4584004"/>
            <a:ext cx="402532" cy="471379"/>
          </a:xfrm>
          <a:custGeom>
            <a:rect b="b" l="l" r="r" t="t"/>
            <a:pathLst>
              <a:path extrusionOk="0" h="18856" w="16102">
                <a:moveTo>
                  <a:pt x="5165" y="18007"/>
                </a:moveTo>
                <a:cubicBezTo>
                  <a:pt x="4305" y="16478"/>
                  <a:pt x="-185" y="11701"/>
                  <a:pt x="6" y="8834"/>
                </a:cubicBezTo>
                <a:cubicBezTo>
                  <a:pt x="197" y="5968"/>
                  <a:pt x="4019" y="2050"/>
                  <a:pt x="6312" y="808"/>
                </a:cubicBezTo>
                <a:cubicBezTo>
                  <a:pt x="8605" y="-434"/>
                  <a:pt x="12141" y="-243"/>
                  <a:pt x="13765" y="1381"/>
                </a:cubicBezTo>
                <a:cubicBezTo>
                  <a:pt x="15389" y="3005"/>
                  <a:pt x="16321" y="7642"/>
                  <a:pt x="16058" y="10554"/>
                </a:cubicBezTo>
                <a:cubicBezTo>
                  <a:pt x="15795" y="13467"/>
                  <a:pt x="12831" y="17472"/>
                  <a:pt x="12186" y="1885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45"/>
          <p:cNvCxnSpPr>
            <a:stCxn id="612" idx="4"/>
            <a:endCxn id="613" idx="2"/>
          </p:cNvCxnSpPr>
          <p:nvPr/>
        </p:nvCxnSpPr>
        <p:spPr>
          <a:xfrm>
            <a:off x="4572000" y="3719988"/>
            <a:ext cx="483000" cy="909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30" name="Google Shape;630;p45"/>
          <p:cNvCxnSpPr>
            <a:stCxn id="612" idx="6"/>
            <a:endCxn id="614" idx="1"/>
          </p:cNvCxnSpPr>
          <p:nvPr/>
        </p:nvCxnSpPr>
        <p:spPr>
          <a:xfrm>
            <a:off x="4752000" y="3539988"/>
            <a:ext cx="1492800" cy="41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Roy-Warshall</a:t>
            </a:r>
            <a:endParaRPr/>
          </a:p>
        </p:txBody>
      </p:sp>
      <p:sp>
        <p:nvSpPr>
          <p:cNvPr id="636" name="Google Shape;636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Închiderea tranzitivă</a:t>
            </a:r>
            <a:r>
              <a:rPr b="0" lang="en-GB"/>
              <a:t> ⇔ calculăm </a:t>
            </a:r>
            <a:r>
              <a:rPr lang="en-GB" u="sng"/>
              <a:t>matricea existenței drumurilor</a:t>
            </a:r>
            <a:r>
              <a:rPr b="0" lang="en-GB"/>
              <a:t> (matricea de adiacență a închiderii tranzitive)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 = (d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r>
              <a:rPr b="0" lang="en-GB"/>
              <a:t>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</a:t>
            </a:r>
            <a:br>
              <a:rPr b="0" lang="en-GB"/>
            </a:br>
            <a:r>
              <a:rPr b="0" lang="en-GB"/>
              <a:t>		</a:t>
            </a:r>
            <a:r>
              <a:rPr lang="en-GB"/>
              <a:t>d</a:t>
            </a:r>
            <a:r>
              <a:rPr baseline="-25000" lang="en-GB"/>
              <a:t>ij</a:t>
            </a:r>
            <a:r>
              <a:rPr lang="en-GB"/>
              <a:t> =  </a:t>
            </a:r>
            <a:endParaRPr/>
          </a:p>
        </p:txBody>
      </p:sp>
      <p:sp>
        <p:nvSpPr>
          <p:cNvPr id="637" name="Google Shape;637;p46"/>
          <p:cNvSpPr txBox="1"/>
          <p:nvPr/>
        </p:nvSpPr>
        <p:spPr>
          <a:xfrm>
            <a:off x="1837500" y="2628250"/>
            <a:ext cx="4337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 dacă există drum nevid de la i la j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 altfel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46"/>
          <p:cNvSpPr/>
          <p:nvPr/>
        </p:nvSpPr>
        <p:spPr>
          <a:xfrm>
            <a:off x="1799850" y="2628250"/>
            <a:ext cx="67800" cy="714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Roy-Warshall</a:t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inițial d = matricea de adiacență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(k=1; k&lt;=n; k++)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(i=1; i&lt;=n; i++)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(j=1; j&lt;=n; j++)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d[i][j] = d[i][j]  ∨  (d[i][k]  ∧  d[k][j]);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5" name="Google Shape;645;p47"/>
          <p:cNvSpPr txBox="1"/>
          <p:nvPr/>
        </p:nvSpPr>
        <p:spPr>
          <a:xfrm>
            <a:off x="3560350" y="2808725"/>
            <a:ext cx="65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7"/>
          <p:cNvSpPr txBox="1"/>
          <p:nvPr/>
        </p:nvSpPr>
        <p:spPr>
          <a:xfrm>
            <a:off x="5031325" y="2808725"/>
            <a:ext cx="45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Roy-Warshall</a:t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Dacă A este matricea de adiacență a unui graf și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</a:t>
            </a:r>
            <a:r>
              <a:rPr lang="en-GB"/>
              <a:t>A</a:t>
            </a:r>
            <a:r>
              <a:rPr baseline="30000" lang="en-GB"/>
              <a:t>k</a:t>
            </a:r>
            <a:r>
              <a:rPr lang="en-GB"/>
              <a:t> </a:t>
            </a:r>
            <a:r>
              <a:rPr b="0" lang="en-GB"/>
              <a:t>= (a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r>
              <a:rPr b="0" lang="en-GB"/>
              <a:t> : </a:t>
            </a:r>
            <a:r>
              <a:rPr lang="en-GB"/>
              <a:t>puterea k a matricei </a:t>
            </a:r>
            <a:r>
              <a:rPr b="0" lang="en-GB"/>
              <a:t>(k &lt;n)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 </a:t>
            </a:r>
            <a:r>
              <a:rPr lang="en-GB"/>
              <a:t>a</a:t>
            </a:r>
            <a:r>
              <a:rPr baseline="30000" lang="en-GB"/>
              <a:t>k</a:t>
            </a:r>
            <a:r>
              <a:rPr baseline="-25000" lang="en-GB"/>
              <a:t>ij</a:t>
            </a:r>
            <a:r>
              <a:rPr lang="en-GB"/>
              <a:t> = numărul de drumuri distincte</a:t>
            </a:r>
            <a:r>
              <a:rPr b="0" lang="en-GB"/>
              <a:t> de lungime k de la i la j (! nu neapărat </a:t>
            </a:r>
            <a:br>
              <a:rPr b="0" lang="en-GB"/>
            </a:br>
            <a:r>
              <a:rPr b="0" lang="en-GB"/>
              <a:t>		  elementare)</a:t>
            </a:r>
            <a:br>
              <a:rPr b="0" lang="en-GB"/>
            </a:b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Demonstrație - Inducție. Temă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Roy-Warshall</a:t>
            </a:r>
            <a:endParaRPr/>
          </a:p>
        </p:txBody>
      </p:sp>
      <p:sp>
        <p:nvSpPr>
          <p:cNvPr id="658" name="Google Shape;658;p49"/>
          <p:cNvSpPr txBox="1"/>
          <p:nvPr>
            <p:ph idx="1" type="body"/>
          </p:nvPr>
        </p:nvSpPr>
        <p:spPr>
          <a:xfrm>
            <a:off x="311700" y="906225"/>
            <a:ext cx="8520600" cy="4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Dacă A este matricea de adiacență a unui graf și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</a:t>
            </a:r>
            <a:r>
              <a:rPr lang="en-GB"/>
              <a:t>A</a:t>
            </a:r>
            <a:r>
              <a:rPr baseline="30000" lang="en-GB"/>
              <a:t>k</a:t>
            </a:r>
            <a:r>
              <a:rPr lang="en-GB"/>
              <a:t> </a:t>
            </a:r>
            <a:r>
              <a:rPr b="0" lang="en-GB"/>
              <a:t>= (a</a:t>
            </a:r>
            <a:r>
              <a:rPr b="0" baseline="30000" lang="en-GB"/>
              <a:t>k</a:t>
            </a:r>
            <a:r>
              <a:rPr b="0" baseline="-25000" lang="en-GB"/>
              <a:t>ij</a:t>
            </a:r>
            <a:r>
              <a:rPr b="0" lang="en-GB"/>
              <a:t>)</a:t>
            </a:r>
            <a:r>
              <a:rPr b="0" baseline="-25000" lang="en-GB"/>
              <a:t>i, j = 1,...,n</a:t>
            </a:r>
            <a:r>
              <a:rPr b="0" lang="en-GB"/>
              <a:t> : </a:t>
            </a:r>
            <a:r>
              <a:rPr lang="en-GB"/>
              <a:t>puterea k a matricei </a:t>
            </a:r>
            <a:r>
              <a:rPr b="0" lang="en-GB"/>
              <a:t>(k &lt;n)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 </a:t>
            </a:r>
            <a:r>
              <a:rPr lang="en-GB"/>
              <a:t>a</a:t>
            </a:r>
            <a:r>
              <a:rPr baseline="30000" lang="en-GB"/>
              <a:t>k</a:t>
            </a:r>
            <a:r>
              <a:rPr baseline="-25000" lang="en-GB"/>
              <a:t>ij</a:t>
            </a:r>
            <a:r>
              <a:rPr lang="en-GB"/>
              <a:t> = numărul de drumuri distincte</a:t>
            </a:r>
            <a:r>
              <a:rPr b="0" lang="en-GB"/>
              <a:t> de lungime k de la i la j (! nu neapărat </a:t>
            </a:r>
            <a:br>
              <a:rPr b="0" lang="en-GB"/>
            </a:br>
            <a:r>
              <a:rPr b="0" lang="en-GB"/>
              <a:t>		  elementare)</a:t>
            </a:r>
            <a:br>
              <a:rPr b="0" lang="en-GB"/>
            </a:b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Consecință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D = A 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r>
              <a:rPr lang="en-GB"/>
              <a:t> A</a:t>
            </a:r>
            <a:r>
              <a:rPr baseline="30000" lang="en-GB"/>
              <a:t>2</a:t>
            </a:r>
            <a:r>
              <a:rPr lang="en-GB"/>
              <a:t>  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∨ </a:t>
            </a:r>
            <a:r>
              <a:rPr lang="en-GB"/>
              <a:t>… 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∨ </a:t>
            </a:r>
            <a:r>
              <a:rPr lang="en-GB"/>
              <a:t>A</a:t>
            </a:r>
            <a:r>
              <a:rPr baseline="30000" lang="en-GB"/>
              <a:t>n-1</a:t>
            </a:r>
            <a:endParaRPr baseline="30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unde o valoare diferită de 0 se interpretează ca </a:t>
            </a:r>
            <a:r>
              <a:rPr lang="en-GB"/>
              <a:t>true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5b26d7e5f69bac2af62e29e49cdf0427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93cf751f5f765d8fe52b73c6c71c5142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D99654-6E5F-4F10-9412-ED933EF27444}"/>
</file>

<file path=customXml/itemProps2.xml><?xml version="1.0" encoding="utf-8"?>
<ds:datastoreItem xmlns:ds="http://schemas.openxmlformats.org/officeDocument/2006/customXml" ds:itemID="{53E4BE74-6078-4904-A623-AD92177BD1AB}"/>
</file>

<file path=customXml/itemProps3.xml><?xml version="1.0" encoding="utf-8"?>
<ds:datastoreItem xmlns:ds="http://schemas.openxmlformats.org/officeDocument/2006/customXml" ds:itemID="{7C7EDE9F-4CF3-472E-83A3-0C662564F69E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