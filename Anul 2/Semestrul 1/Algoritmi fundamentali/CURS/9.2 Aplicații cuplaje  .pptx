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goB03UQtz2PdRPoVjNtyP0i6C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customXml" Target="../customXml/item1.xml"/><Relationship Id="rId21" Type="http://schemas.openxmlformats.org/officeDocument/2006/relationships/slide" Target="slides/slide16.xml"/><Relationship Id="rId34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1" Type="http://schemas.openxmlformats.org/officeDocument/2006/relationships/customXml" Target="../customXml/item3.xml"/><Relationship Id="rId24" Type="http://schemas.openxmlformats.org/officeDocument/2006/relationships/slide" Target="slides/slide1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Roboto-italic.fntdata"/><Relationship Id="rId37" Type="http://schemas.openxmlformats.org/officeDocument/2006/relationships/font" Target="fonts/Merriweather-boldItalic.fntdata"/><Relationship Id="rId40" Type="http://schemas.openxmlformats.org/officeDocument/2006/relationships/customXml" Target="../customXml/item2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font" Target="fonts/Merriweather-italic.fntdata"/><Relationship Id="rId31" Type="http://schemas.openxmlformats.org/officeDocument/2006/relationships/font" Target="fonts/Roboto-bold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slide" Target="slides/slide22.xml"/><Relationship Id="rId30" Type="http://schemas.openxmlformats.org/officeDocument/2006/relationships/font" Target="fonts/Roboto-regular.fntdata"/><Relationship Id="rId35" Type="http://schemas.openxmlformats.org/officeDocument/2006/relationships/font" Target="fonts/Merriweather-bold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25" Type="http://schemas.openxmlformats.org/officeDocument/2006/relationships/slide" Target="slides/slide20.xml"/><Relationship Id="rId33" Type="http://schemas.openxmlformats.org/officeDocument/2006/relationships/font" Target="fonts/Roboto-bold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29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0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30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31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1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4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34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34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6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37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Aplicații cuplaje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Aplicație: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Matrice de permutări</a:t>
            </a:r>
            <a:endParaRPr/>
          </a:p>
        </p:txBody>
      </p:sp>
      <p:sp>
        <p:nvSpPr>
          <p:cNvPr id="79" name="Google Shape;79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>
                <a:solidFill>
                  <a:schemeClr val="dk1"/>
                </a:solidFill>
              </a:rPr>
              <a:t>Pe o tablă de tip șah de dimensiuni </a:t>
            </a:r>
            <a:r>
              <a:rPr lang="en-GB">
                <a:solidFill>
                  <a:schemeClr val="dk1"/>
                </a:solidFill>
              </a:rPr>
              <a:t>nxn</a:t>
            </a:r>
            <a:r>
              <a:rPr b="0" lang="en-GB">
                <a:solidFill>
                  <a:schemeClr val="dk1"/>
                </a:solidFill>
              </a:rPr>
              <a:t> sunt așezate ture, astfel încât pe fiecare linie și fiecare coloană se află </a:t>
            </a:r>
            <a:r>
              <a:rPr lang="en-GB">
                <a:solidFill>
                  <a:schemeClr val="dk1"/>
                </a:solidFill>
              </a:rPr>
              <a:t>același număr de ture</a:t>
            </a:r>
            <a:r>
              <a:rPr b="0" lang="en-GB">
                <a:solidFill>
                  <a:schemeClr val="dk1"/>
                </a:solidFill>
              </a:rPr>
              <a:t>.</a:t>
            </a:r>
            <a:r>
              <a:rPr b="0" lang="en-GB"/>
              <a:t> Să se arate că se pot păstra pe tablă </a:t>
            </a:r>
            <a:r>
              <a:rPr lang="en-GB"/>
              <a:t>n</a:t>
            </a:r>
            <a:r>
              <a:rPr b="0" lang="en-GB"/>
              <a:t> dintre aceste ture, care nu se atacă două câte două.</a:t>
            </a:r>
            <a:endParaRPr b="0">
              <a:solidFill>
                <a:schemeClr val="dk1"/>
              </a:solidFill>
            </a:endParaRPr>
          </a:p>
        </p:txBody>
      </p:sp>
      <p:pic>
        <p:nvPicPr>
          <p:cNvPr id="86" name="Google Shape;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156" y="2194604"/>
            <a:ext cx="1925749" cy="191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2525" y="2241302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5753" y="2232276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5185" y="2718708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5753" y="2718708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9689" y="3221962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4965" y="3221962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5185" y="3688944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9689" y="3688944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701" y="2194604"/>
            <a:ext cx="1925749" cy="191384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2206600" y="2191125"/>
            <a:ext cx="1925700" cy="191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thickThin" w="55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378271" y="3151524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411144" y="2191125"/>
            <a:ext cx="1925700" cy="1918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thickThin" w="55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7070" y="2241302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297" y="2718708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234" y="3221962"/>
            <a:ext cx="330046" cy="3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9730" y="3688944"/>
            <a:ext cx="330046" cy="36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grpSp>
        <p:nvGrpSpPr>
          <p:cNvPr id="108" name="Google Shape;108;p4"/>
          <p:cNvGrpSpPr/>
          <p:nvPr/>
        </p:nvGrpSpPr>
        <p:grpSpPr>
          <a:xfrm>
            <a:off x="2206600" y="906225"/>
            <a:ext cx="5137850" cy="1918200"/>
            <a:chOff x="2206600" y="906225"/>
            <a:chExt cx="5137850" cy="1918200"/>
          </a:xfrm>
        </p:grpSpPr>
        <p:pic>
          <p:nvPicPr>
            <p:cNvPr id="109" name="Google Shape;109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14156" y="909704"/>
              <a:ext cx="1925749" cy="1913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12525" y="956402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5753" y="947376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5185" y="1433808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5753" y="1433808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89689" y="1937062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4965" y="1937062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5185" y="2404044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89689" y="2404044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18701" y="909704"/>
              <a:ext cx="1925749" cy="1913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4"/>
            <p:cNvSpPr/>
            <p:nvPr/>
          </p:nvSpPr>
          <p:spPr>
            <a:xfrm>
              <a:off x="2206600" y="906225"/>
              <a:ext cx="1925700" cy="191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thickThin" w="55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411144" y="906225"/>
              <a:ext cx="1925700" cy="191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thickThin" w="550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21" name="Google Shape;12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17070" y="956402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10297" y="1433808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94234" y="1937062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59730" y="2404044"/>
              <a:ext cx="330046" cy="363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4"/>
            <p:cNvSpPr/>
            <p:nvPr/>
          </p:nvSpPr>
          <p:spPr>
            <a:xfrm>
              <a:off x="4416600" y="1826725"/>
              <a:ext cx="725400" cy="798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1738675" y="3182483"/>
            <a:ext cx="5975350" cy="1534541"/>
            <a:chOff x="1738675" y="3182483"/>
            <a:chExt cx="5975350" cy="1534541"/>
          </a:xfrm>
        </p:grpSpPr>
        <p:pic>
          <p:nvPicPr>
            <p:cNvPr id="127" name="Google Shape;12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38675" y="3182483"/>
              <a:ext cx="2382962" cy="15345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29418" y="3182525"/>
              <a:ext cx="2284607" cy="1534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/>
            <p:nvPr/>
          </p:nvSpPr>
          <p:spPr>
            <a:xfrm>
              <a:off x="4412813" y="3909850"/>
              <a:ext cx="725400" cy="798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Reformulare cu matrice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p &gt; 1 și M o matrice nxn cu elemente {0, 1}, astfel încât pe fiecare linie și pe fiecare coloană sunt exact p elemente 1.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Atunci M conține o matrice de permutări (având un unic 1 pe fiecare linie și coloană).</a:t>
            </a:r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/>
          </a:p>
          <a:p>
            <a:pPr indent="-32004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40"/>
              <a:buChar char="⏵"/>
            </a:pPr>
            <a:r>
              <a:rPr lang="en-GB" sz="1440"/>
              <a:t>există matrice de permutări în M ⇔ </a:t>
            </a:r>
            <a:r>
              <a:rPr b="0" lang="en-GB" sz="1440"/>
              <a:t>există cuplaj perfect în G</a:t>
            </a:r>
            <a:endParaRPr b="0" sz="1440"/>
          </a:p>
          <a:p>
            <a:pPr indent="-3200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Char char="⏵"/>
            </a:pPr>
            <a:r>
              <a:rPr lang="en-GB" sz="1440"/>
              <a:t>rezultă din consecințele teoremei lui HALL (teorema căsătoriei)</a:t>
            </a:r>
            <a:endParaRPr sz="1440"/>
          </a:p>
        </p:txBody>
      </p:sp>
      <p:sp>
        <p:nvSpPr>
          <p:cNvPr id="142" name="Google Shape;142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Reformulare cu matrice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288" y="906225"/>
            <a:ext cx="2180902" cy="1329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3597273" y="1536463"/>
            <a:ext cx="663900" cy="6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6"/>
          <p:cNvGrpSpPr/>
          <p:nvPr/>
        </p:nvGrpSpPr>
        <p:grpSpPr>
          <a:xfrm>
            <a:off x="4868665" y="906227"/>
            <a:ext cx="3564681" cy="1970317"/>
            <a:chOff x="2493750" y="2341475"/>
            <a:chExt cx="4080450" cy="2255400"/>
          </a:xfrm>
        </p:grpSpPr>
        <p:sp>
          <p:nvSpPr>
            <p:cNvPr id="146" name="Google Shape;146;p6"/>
            <p:cNvSpPr/>
            <p:nvPr/>
          </p:nvSpPr>
          <p:spPr>
            <a:xfrm>
              <a:off x="2493750" y="2341475"/>
              <a:ext cx="1217700" cy="22554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cap="flat" cmpd="thickThin" w="55000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5356500" y="2341475"/>
              <a:ext cx="1217700" cy="225540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cap="flat" cmpd="thickThin" w="550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5724840" y="2606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724840" y="3051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724840" y="3496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724840" y="3941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3146990" y="2606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3146990" y="3051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3146990" y="3496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3146990" y="3941272"/>
              <a:ext cx="216000" cy="229500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2076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2785000" y="2526300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l1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2785000" y="2965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l2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2785000" y="3855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2785000" y="3410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5940850" y="2526300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5940850" y="2965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c2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>
            <a:xfrm>
              <a:off x="5940850" y="3855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c4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5940850" y="3410913"/>
              <a:ext cx="446700" cy="4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6"/>
            <p:cNvCxnSpPr>
              <a:stCxn id="152" idx="6"/>
              <a:endCxn id="148" idx="2"/>
            </p:cNvCxnSpPr>
            <p:nvPr/>
          </p:nvCxnSpPr>
          <p:spPr>
            <a:xfrm>
              <a:off x="3362990" y="2721022"/>
              <a:ext cx="2361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>
              <a:stCxn id="152" idx="6"/>
              <a:endCxn id="150" idx="2"/>
            </p:cNvCxnSpPr>
            <p:nvPr/>
          </p:nvCxnSpPr>
          <p:spPr>
            <a:xfrm>
              <a:off x="3362990" y="2721022"/>
              <a:ext cx="2361900" cy="890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>
              <a:stCxn id="153" idx="6"/>
              <a:endCxn id="149" idx="2"/>
            </p:cNvCxnSpPr>
            <p:nvPr/>
          </p:nvCxnSpPr>
          <p:spPr>
            <a:xfrm>
              <a:off x="3362990" y="3166022"/>
              <a:ext cx="2361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>
              <a:stCxn id="153" idx="6"/>
              <a:endCxn id="150" idx="2"/>
            </p:cNvCxnSpPr>
            <p:nvPr/>
          </p:nvCxnSpPr>
          <p:spPr>
            <a:xfrm>
              <a:off x="3362990" y="3166022"/>
              <a:ext cx="2361900" cy="44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>
              <a:stCxn id="154" idx="6"/>
              <a:endCxn id="148" idx="2"/>
            </p:cNvCxnSpPr>
            <p:nvPr/>
          </p:nvCxnSpPr>
          <p:spPr>
            <a:xfrm flipH="1" rot="10800000">
              <a:off x="3362990" y="2720922"/>
              <a:ext cx="2361900" cy="890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>
              <a:stCxn id="154" idx="6"/>
              <a:endCxn id="151" idx="2"/>
            </p:cNvCxnSpPr>
            <p:nvPr/>
          </p:nvCxnSpPr>
          <p:spPr>
            <a:xfrm>
              <a:off x="3362990" y="3611022"/>
              <a:ext cx="2361900" cy="44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>
              <a:stCxn id="155" idx="6"/>
              <a:endCxn id="149" idx="2"/>
            </p:cNvCxnSpPr>
            <p:nvPr/>
          </p:nvCxnSpPr>
          <p:spPr>
            <a:xfrm flipH="1" rot="10800000">
              <a:off x="3362990" y="3165922"/>
              <a:ext cx="2361900" cy="890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6"/>
            <p:cNvCxnSpPr>
              <a:stCxn id="155" idx="6"/>
              <a:endCxn id="151" idx="2"/>
            </p:cNvCxnSpPr>
            <p:nvPr/>
          </p:nvCxnSpPr>
          <p:spPr>
            <a:xfrm>
              <a:off x="3362990" y="4056022"/>
              <a:ext cx="2361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2" name="Google Shape;172;p6"/>
          <p:cNvSpPr txBox="1"/>
          <p:nvPr>
            <p:ph idx="1" type="body"/>
          </p:nvPr>
        </p:nvSpPr>
        <p:spPr>
          <a:xfrm>
            <a:off x="7540295" y="2942201"/>
            <a:ext cx="892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b="1" lang="en-GB" sz="1440"/>
              <a:t>coloane</a:t>
            </a:r>
            <a:endParaRPr b="1" sz="1440"/>
          </a:p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5138353" y="2942200"/>
            <a:ext cx="551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b="1" lang="en-GB" sz="1440"/>
              <a:t>linii</a:t>
            </a:r>
            <a:endParaRPr b="1" sz="1440"/>
          </a:p>
        </p:txBody>
      </p:sp>
      <p:sp>
        <p:nvSpPr>
          <p:cNvPr id="174" name="Google Shape;174;p6"/>
          <p:cNvSpPr txBox="1"/>
          <p:nvPr>
            <p:ph idx="1" type="body"/>
          </p:nvPr>
        </p:nvSpPr>
        <p:spPr>
          <a:xfrm>
            <a:off x="5472763" y="3240050"/>
            <a:ext cx="2356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G - graf bipartit p-regulat</a:t>
            </a:r>
            <a:endParaRPr sz="1440"/>
          </a:p>
        </p:txBody>
      </p:sp>
      <p:sp>
        <p:nvSpPr>
          <p:cNvPr id="175" name="Google Shape;175;p6"/>
          <p:cNvSpPr txBox="1"/>
          <p:nvPr>
            <p:ph idx="1" type="body"/>
          </p:nvPr>
        </p:nvSpPr>
        <p:spPr>
          <a:xfrm>
            <a:off x="5689799" y="2643950"/>
            <a:ext cx="2139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b="0" lang="en-GB" sz="1440"/>
              <a:t>muchie ⇔ M[li, cj] = 1</a:t>
            </a:r>
            <a:endParaRPr b="0" sz="14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Reformulare cu matrice</a:t>
            </a:r>
            <a:endParaRPr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8026" y="900336"/>
            <a:ext cx="2090888" cy="1329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4856623" y="1530538"/>
            <a:ext cx="663900" cy="6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25265" y="906227"/>
            <a:ext cx="1063783" cy="1970317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026163" y="906227"/>
            <a:ext cx="1063783" cy="1970317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thickThin" w="550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347945" y="1137554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47945" y="1526306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347945" y="1915058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347945" y="2303810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95935" y="1137554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095935" y="1526306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095935" y="1915058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095935" y="2303810"/>
            <a:ext cx="188698" cy="200491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779701" y="1067690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779701" y="1451736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779701" y="2229240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779701" y="1840488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3536651" y="1067690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3536651" y="1451736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536651" y="2229240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536651" y="1840488"/>
            <a:ext cx="390237" cy="4001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7"/>
          <p:cNvCxnSpPr>
            <a:stCxn id="189" idx="6"/>
            <a:endCxn id="185" idx="2"/>
          </p:cNvCxnSpPr>
          <p:nvPr/>
        </p:nvCxnSpPr>
        <p:spPr>
          <a:xfrm>
            <a:off x="1284633" y="1237800"/>
            <a:ext cx="2063400" cy="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>
            <a:stCxn id="189" idx="6"/>
            <a:endCxn id="187" idx="2"/>
          </p:cNvCxnSpPr>
          <p:nvPr/>
        </p:nvCxnSpPr>
        <p:spPr>
          <a:xfrm>
            <a:off x="1284633" y="1237800"/>
            <a:ext cx="2063400" cy="77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7"/>
          <p:cNvCxnSpPr>
            <a:stCxn id="190" idx="6"/>
            <a:endCxn id="186" idx="2"/>
          </p:cNvCxnSpPr>
          <p:nvPr/>
        </p:nvCxnSpPr>
        <p:spPr>
          <a:xfrm>
            <a:off x="1284633" y="1626552"/>
            <a:ext cx="206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7"/>
          <p:cNvCxnSpPr>
            <a:stCxn id="190" idx="6"/>
            <a:endCxn id="187" idx="2"/>
          </p:cNvCxnSpPr>
          <p:nvPr/>
        </p:nvCxnSpPr>
        <p:spPr>
          <a:xfrm>
            <a:off x="1284633" y="1626552"/>
            <a:ext cx="2063400" cy="3888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7"/>
          <p:cNvCxnSpPr>
            <a:stCxn id="191" idx="6"/>
            <a:endCxn id="185" idx="2"/>
          </p:cNvCxnSpPr>
          <p:nvPr/>
        </p:nvCxnSpPr>
        <p:spPr>
          <a:xfrm flipH="1" rot="10800000">
            <a:off x="1284633" y="1237704"/>
            <a:ext cx="2063400" cy="77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7"/>
          <p:cNvCxnSpPr>
            <a:stCxn id="191" idx="6"/>
            <a:endCxn id="188" idx="2"/>
          </p:cNvCxnSpPr>
          <p:nvPr/>
        </p:nvCxnSpPr>
        <p:spPr>
          <a:xfrm>
            <a:off x="1284633" y="2015304"/>
            <a:ext cx="2063400" cy="3888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7"/>
          <p:cNvCxnSpPr>
            <a:stCxn id="192" idx="6"/>
            <a:endCxn id="186" idx="2"/>
          </p:cNvCxnSpPr>
          <p:nvPr/>
        </p:nvCxnSpPr>
        <p:spPr>
          <a:xfrm flipH="1" rot="10800000">
            <a:off x="1284633" y="1626456"/>
            <a:ext cx="2063400" cy="7776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7"/>
          <p:cNvCxnSpPr>
            <a:stCxn id="192" idx="6"/>
            <a:endCxn id="188" idx="2"/>
          </p:cNvCxnSpPr>
          <p:nvPr/>
        </p:nvCxnSpPr>
        <p:spPr>
          <a:xfrm>
            <a:off x="1284633" y="2404056"/>
            <a:ext cx="2063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7"/>
          <p:cNvSpPr txBox="1"/>
          <p:nvPr>
            <p:ph idx="1" type="body"/>
          </p:nvPr>
        </p:nvSpPr>
        <p:spPr>
          <a:xfrm>
            <a:off x="3196895" y="2942201"/>
            <a:ext cx="892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b="1" lang="en-GB" sz="1440"/>
              <a:t>coloane</a:t>
            </a:r>
            <a:endParaRPr b="1" sz="1440"/>
          </a:p>
        </p:txBody>
      </p:sp>
      <p:sp>
        <p:nvSpPr>
          <p:cNvPr id="210" name="Google Shape;210;p7"/>
          <p:cNvSpPr txBox="1"/>
          <p:nvPr>
            <p:ph idx="1" type="body"/>
          </p:nvPr>
        </p:nvSpPr>
        <p:spPr>
          <a:xfrm>
            <a:off x="794953" y="2942200"/>
            <a:ext cx="551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b="1" lang="en-GB" sz="1440"/>
              <a:t>linii</a:t>
            </a:r>
            <a:endParaRPr b="1" sz="1440"/>
          </a:p>
        </p:txBody>
      </p:sp>
      <p:sp>
        <p:nvSpPr>
          <p:cNvPr id="211" name="Google Shape;211;p7"/>
          <p:cNvSpPr txBox="1"/>
          <p:nvPr>
            <p:ph idx="1" type="body"/>
          </p:nvPr>
        </p:nvSpPr>
        <p:spPr>
          <a:xfrm>
            <a:off x="1578012" y="2653575"/>
            <a:ext cx="14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Cuplaj perfect</a:t>
            </a:r>
            <a:endParaRPr sz="14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Aplicație: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Acoperire tablă cu piese de domino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sp>
        <p:nvSpPr>
          <p:cNvPr id="222" name="Google Shape;222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Acoperirea unei table cu piese de domino</a:t>
            </a:r>
            <a:endParaRPr b="1"/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8073" y="1491860"/>
            <a:ext cx="2038524" cy="215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5200" y="1491863"/>
            <a:ext cx="2059850" cy="215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sz="1614"/>
          </a:p>
        </p:txBody>
      </p:sp>
      <p:sp>
        <p:nvSpPr>
          <p:cNvPr id="230" name="Google Shape;230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pic>
        <p:nvPicPr>
          <p:cNvPr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1500" y="1914275"/>
            <a:ext cx="2177700" cy="227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493" y="1923100"/>
            <a:ext cx="2177700" cy="225773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 txBox="1"/>
          <p:nvPr>
            <p:ph idx="1" type="body"/>
          </p:nvPr>
        </p:nvSpPr>
        <p:spPr>
          <a:xfrm>
            <a:off x="2542024" y="10549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Tabla</a:t>
            </a:r>
            <a:endParaRPr/>
          </a:p>
        </p:txBody>
      </p:sp>
      <p:sp>
        <p:nvSpPr>
          <p:cNvPr id="234" name="Google Shape;234;p10"/>
          <p:cNvSpPr txBox="1"/>
          <p:nvPr>
            <p:ph idx="1" type="body"/>
          </p:nvPr>
        </p:nvSpPr>
        <p:spPr>
          <a:xfrm>
            <a:off x="4440485" y="1054900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35" name="Google Shape;235;p10"/>
          <p:cNvSpPr txBox="1"/>
          <p:nvPr>
            <p:ph idx="1" type="body"/>
          </p:nvPr>
        </p:nvSpPr>
        <p:spPr>
          <a:xfrm>
            <a:off x="5980100" y="1054900"/>
            <a:ext cx="1253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Graful grid</a:t>
            </a:r>
            <a:endParaRPr/>
          </a:p>
        </p:txBody>
      </p:sp>
      <p:sp>
        <p:nvSpPr>
          <p:cNvPr id="236" name="Google Shape;236;p10"/>
          <p:cNvSpPr txBox="1"/>
          <p:nvPr>
            <p:ph idx="1" type="body"/>
          </p:nvPr>
        </p:nvSpPr>
        <p:spPr>
          <a:xfrm>
            <a:off x="2338950" y="1460925"/>
            <a:ext cx="1150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Acoperire</a:t>
            </a: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5862899" y="1460925"/>
            <a:ext cx="1552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Cuplaj perfect</a:t>
            </a:r>
            <a:endParaRPr/>
          </a:p>
        </p:txBody>
      </p:sp>
      <p:sp>
        <p:nvSpPr>
          <p:cNvPr id="238" name="Google Shape;238;p10"/>
          <p:cNvSpPr txBox="1"/>
          <p:nvPr>
            <p:ph idx="1" type="body"/>
          </p:nvPr>
        </p:nvSpPr>
        <p:spPr>
          <a:xfrm>
            <a:off x="4440473" y="1460925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39" name="Google Shape;239;p10"/>
          <p:cNvSpPr txBox="1"/>
          <p:nvPr>
            <p:ph idx="1" type="body"/>
          </p:nvPr>
        </p:nvSpPr>
        <p:spPr>
          <a:xfrm>
            <a:off x="5980100" y="4179100"/>
            <a:ext cx="1253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Graful grid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1900" y="1941725"/>
            <a:ext cx="2106899" cy="21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875" y="1895875"/>
            <a:ext cx="2178000" cy="22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>
            <p:ph idx="1" type="body"/>
          </p:nvPr>
        </p:nvSpPr>
        <p:spPr>
          <a:xfrm>
            <a:off x="2338950" y="1454525"/>
            <a:ext cx="1150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Acoperire</a:t>
            </a:r>
            <a:endParaRPr/>
          </a:p>
        </p:txBody>
      </p:sp>
      <p:sp>
        <p:nvSpPr>
          <p:cNvPr id="249" name="Google Shape;249;p11"/>
          <p:cNvSpPr txBox="1"/>
          <p:nvPr>
            <p:ph idx="1" type="body"/>
          </p:nvPr>
        </p:nvSpPr>
        <p:spPr>
          <a:xfrm>
            <a:off x="5862899" y="1460925"/>
            <a:ext cx="1552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Cuplaj perfect</a:t>
            </a:r>
            <a:endParaRPr/>
          </a:p>
        </p:txBody>
      </p:sp>
      <p:sp>
        <p:nvSpPr>
          <p:cNvPr id="250" name="Google Shape;250;p11"/>
          <p:cNvSpPr txBox="1"/>
          <p:nvPr>
            <p:ph idx="1" type="body"/>
          </p:nvPr>
        </p:nvSpPr>
        <p:spPr>
          <a:xfrm>
            <a:off x="4440473" y="1454525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51" name="Google Shape;251;p11"/>
          <p:cNvSpPr txBox="1"/>
          <p:nvPr>
            <p:ph idx="1" type="body"/>
          </p:nvPr>
        </p:nvSpPr>
        <p:spPr>
          <a:xfrm>
            <a:off x="2542024" y="10485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Tabla</a:t>
            </a:r>
            <a:endParaRPr/>
          </a:p>
        </p:txBody>
      </p:sp>
      <p:sp>
        <p:nvSpPr>
          <p:cNvPr id="252" name="Google Shape;252;p11"/>
          <p:cNvSpPr txBox="1"/>
          <p:nvPr>
            <p:ph idx="1" type="body"/>
          </p:nvPr>
        </p:nvSpPr>
        <p:spPr>
          <a:xfrm>
            <a:off x="4440485" y="1054900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53" name="Google Shape;253;p11"/>
          <p:cNvSpPr txBox="1"/>
          <p:nvPr>
            <p:ph idx="1" type="body"/>
          </p:nvPr>
        </p:nvSpPr>
        <p:spPr>
          <a:xfrm>
            <a:off x="5980100" y="1054900"/>
            <a:ext cx="1253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Graful grid</a:t>
            </a:r>
            <a:endParaRPr/>
          </a:p>
        </p:txBody>
      </p:sp>
      <p:sp>
        <p:nvSpPr>
          <p:cNvPr id="254" name="Google Shape;254;p11"/>
          <p:cNvSpPr txBox="1"/>
          <p:nvPr>
            <p:ph idx="1" type="body"/>
          </p:nvPr>
        </p:nvSpPr>
        <p:spPr>
          <a:xfrm>
            <a:off x="5980100" y="4179100"/>
            <a:ext cx="1253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Graful grid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sp>
        <p:nvSpPr>
          <p:cNvPr id="260" name="Google Shape;260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Acoperirea unei table cu piese de domino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Tabla poate fi acoperită ⇔ m*n par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Dacă tabla de șah poate fi acoperită, dar eliminăm două pătrățele din ea, în ce condiții rămâne acoperibilă?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00" y="1887125"/>
            <a:ext cx="750150" cy="11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sp>
        <p:nvSpPr>
          <p:cNvPr id="267" name="Google Shape;267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1516"/>
          <a:stretch/>
        </p:blipFill>
        <p:spPr>
          <a:xfrm>
            <a:off x="1683875" y="2033825"/>
            <a:ext cx="2178000" cy="22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7294" y="2033824"/>
            <a:ext cx="2216104" cy="227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 txBox="1"/>
          <p:nvPr>
            <p:ph idx="1" type="body"/>
          </p:nvPr>
        </p:nvSpPr>
        <p:spPr>
          <a:xfrm>
            <a:off x="2338950" y="1454525"/>
            <a:ext cx="1150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Acoperire</a:t>
            </a:r>
            <a:endParaRPr/>
          </a:p>
        </p:txBody>
      </p:sp>
      <p:sp>
        <p:nvSpPr>
          <p:cNvPr id="271" name="Google Shape;271;p13"/>
          <p:cNvSpPr txBox="1"/>
          <p:nvPr>
            <p:ph idx="1" type="body"/>
          </p:nvPr>
        </p:nvSpPr>
        <p:spPr>
          <a:xfrm>
            <a:off x="5862899" y="1460925"/>
            <a:ext cx="1552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Cuplaj perfect</a:t>
            </a:r>
            <a:endParaRPr/>
          </a:p>
        </p:txBody>
      </p:sp>
      <p:sp>
        <p:nvSpPr>
          <p:cNvPr id="272" name="Google Shape;272;p13"/>
          <p:cNvSpPr txBox="1"/>
          <p:nvPr>
            <p:ph idx="1" type="body"/>
          </p:nvPr>
        </p:nvSpPr>
        <p:spPr>
          <a:xfrm>
            <a:off x="4440473" y="1454525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73" name="Google Shape;273;p13"/>
          <p:cNvSpPr txBox="1"/>
          <p:nvPr>
            <p:ph idx="1" type="body"/>
          </p:nvPr>
        </p:nvSpPr>
        <p:spPr>
          <a:xfrm>
            <a:off x="2542024" y="10485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Tabla</a:t>
            </a:r>
            <a:endParaRPr/>
          </a:p>
        </p:txBody>
      </p:sp>
      <p:sp>
        <p:nvSpPr>
          <p:cNvPr id="274" name="Google Shape;274;p13"/>
          <p:cNvSpPr txBox="1"/>
          <p:nvPr>
            <p:ph idx="1" type="body"/>
          </p:nvPr>
        </p:nvSpPr>
        <p:spPr>
          <a:xfrm>
            <a:off x="4440485" y="1054900"/>
            <a:ext cx="696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 sz="2000"/>
              <a:t>⇒</a:t>
            </a:r>
            <a:endParaRPr sz="2000"/>
          </a:p>
        </p:txBody>
      </p:sp>
      <p:sp>
        <p:nvSpPr>
          <p:cNvPr id="275" name="Google Shape;275;p13"/>
          <p:cNvSpPr txBox="1"/>
          <p:nvPr>
            <p:ph idx="1" type="body"/>
          </p:nvPr>
        </p:nvSpPr>
        <p:spPr>
          <a:xfrm>
            <a:off x="5980100" y="1054900"/>
            <a:ext cx="1253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688"/>
              <a:buNone/>
            </a:pPr>
            <a:r>
              <a:rPr lang="en-GB"/>
              <a:t>Graful grid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Probleme</a:t>
            </a:r>
            <a:endParaRPr/>
          </a:p>
        </p:txBody>
      </p:sp>
      <p:sp>
        <p:nvSpPr>
          <p:cNvPr id="281" name="Google Shape;281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Acoperirea unei table cu piese de domino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Tabla poate fi acoperită ⇔ m*n par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Dacă tabla de șah poate fi acoperită, dar eliminăm două pătrățele din ea, în ce condiții rămâne acoperibilă?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r>
              <a:rPr lang="en-GB">
                <a:solidFill>
                  <a:srgbClr val="CC0000"/>
                </a:solidFill>
              </a:rPr>
              <a:t>Dacă și numai dacă pătrățelele au culori diferite</a:t>
            </a:r>
            <a:endParaRPr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500" y="2846650"/>
            <a:ext cx="638875" cy="11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ctrTitle"/>
          </p:nvPr>
        </p:nvSpPr>
        <p:spPr>
          <a:xfrm>
            <a:off x="719350" y="531725"/>
            <a:ext cx="60666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Aplicație: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Sistem de reprezentanți distincți pentru submulțimi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293" name="Google Shape;293;p16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A - mulțime finită cu n elemente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X</a:t>
            </a:r>
            <a:r>
              <a:rPr b="0" baseline="-25000" lang="en-GB"/>
              <a:t>1</a:t>
            </a:r>
            <a:r>
              <a:rPr b="0" lang="en-GB"/>
              <a:t>, X</a:t>
            </a:r>
            <a:r>
              <a:rPr b="0" baseline="-25000" lang="en-GB"/>
              <a:t>2</a:t>
            </a:r>
            <a:r>
              <a:rPr b="0" lang="en-GB"/>
              <a:t>, …, X</a:t>
            </a:r>
            <a:r>
              <a:rPr b="0" baseline="-25000" lang="en-GB"/>
              <a:t>m</a:t>
            </a:r>
            <a:r>
              <a:rPr b="0" lang="en-GB"/>
              <a:t> ⊆ A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S. n. </a:t>
            </a:r>
            <a:r>
              <a:rPr lang="en-GB"/>
              <a:t>sistem de reprezentanți distincți</a:t>
            </a:r>
            <a:r>
              <a:rPr b="0" lang="en-GB"/>
              <a:t> pentru colecția de submulțimi (X</a:t>
            </a:r>
            <a:r>
              <a:rPr b="0" baseline="-25000" lang="en-GB"/>
              <a:t>1</a:t>
            </a:r>
            <a:r>
              <a:rPr b="0" lang="en-GB"/>
              <a:t>, X</a:t>
            </a:r>
            <a:r>
              <a:rPr b="0" baseline="-25000" lang="en-GB"/>
              <a:t>2</a:t>
            </a:r>
            <a:r>
              <a:rPr b="0" lang="en-GB"/>
              <a:t>, …, X</a:t>
            </a:r>
            <a:r>
              <a:rPr b="0" baseline="-25000" lang="en-GB"/>
              <a:t>m</a:t>
            </a:r>
            <a:r>
              <a:rPr b="0" lang="en-GB"/>
              <a:t>) un vector (r</a:t>
            </a:r>
            <a:r>
              <a:rPr b="0" baseline="-25000" lang="en-GB"/>
              <a:t>1</a:t>
            </a:r>
            <a:r>
              <a:rPr b="0" lang="en-GB"/>
              <a:t>, r</a:t>
            </a:r>
            <a:r>
              <a:rPr b="0" baseline="-25000" lang="en-GB"/>
              <a:t>2</a:t>
            </a:r>
            <a:r>
              <a:rPr b="0" lang="en-GB"/>
              <a:t>, …, r</a:t>
            </a:r>
            <a:r>
              <a:rPr b="0" baseline="-25000" lang="en-GB"/>
              <a:t>m</a:t>
            </a:r>
            <a:r>
              <a:rPr b="0" lang="en-GB"/>
              <a:t>) cu proprietățile: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</a:t>
            </a:r>
            <a:r>
              <a:rPr b="0" baseline="-25000" lang="en-GB"/>
              <a:t>i</a:t>
            </a:r>
            <a:r>
              <a:rPr b="0" lang="en-GB"/>
              <a:t> ∈ X</a:t>
            </a:r>
            <a:r>
              <a:rPr b="0" baseline="-25000" lang="en-GB"/>
              <a:t>i</a:t>
            </a:r>
            <a:r>
              <a:rPr b="0" lang="en-GB"/>
              <a:t>,   	∀ i = 1, …, m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r</a:t>
            </a:r>
            <a:r>
              <a:rPr b="0" baseline="-25000" lang="en-GB"/>
              <a:t>i</a:t>
            </a:r>
            <a:r>
              <a:rPr b="0" lang="en-GB"/>
              <a:t> ≠ r</a:t>
            </a:r>
            <a:r>
              <a:rPr b="0" baseline="-25000" lang="en-GB"/>
              <a:t>j</a:t>
            </a:r>
            <a:r>
              <a:rPr b="0" lang="en-GB"/>
              <a:t>,     	∀ i, j = 1, …, m,  i ≠ j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 = {1, 2, 3, 4}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1</a:t>
            </a:r>
            <a:r>
              <a:rPr b="0" lang="en-GB"/>
              <a:t> = {2, 3}			⇒ r</a:t>
            </a:r>
            <a:r>
              <a:rPr b="0" baseline="-25000" lang="en-GB"/>
              <a:t>1</a:t>
            </a:r>
            <a:r>
              <a:rPr b="0" lang="en-GB"/>
              <a:t> = 2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2</a:t>
            </a:r>
            <a:r>
              <a:rPr b="0" lang="en-GB"/>
              <a:t> = {1, 3, 4}		⇒ r</a:t>
            </a:r>
            <a:r>
              <a:rPr b="0" baseline="-25000" lang="en-GB"/>
              <a:t>2</a:t>
            </a:r>
            <a:r>
              <a:rPr b="0" lang="en-GB"/>
              <a:t> = 3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3</a:t>
            </a:r>
            <a:r>
              <a:rPr b="0" lang="en-GB"/>
              <a:t> = {2, 4}			⇒ r</a:t>
            </a:r>
            <a:r>
              <a:rPr b="0" baseline="-25000" lang="en-GB"/>
              <a:t>3</a:t>
            </a:r>
            <a:r>
              <a:rPr b="0" lang="en-GB"/>
              <a:t> = 4</a:t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299" name="Google Shape;299;p17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orice colecție de submulțimi admite un sistem de reprezentanți distincți.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 = {1, 2, 3, 4}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1</a:t>
            </a:r>
            <a:r>
              <a:rPr b="0" lang="en-GB"/>
              <a:t> = {2, 3}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2</a:t>
            </a:r>
            <a:r>
              <a:rPr b="0" lang="en-GB"/>
              <a:t> = {3}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3</a:t>
            </a:r>
            <a:r>
              <a:rPr b="0" lang="en-GB"/>
              <a:t> = {2}</a:t>
            </a:r>
            <a:endParaRPr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05" name="Google Shape;305;p18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br>
              <a:rPr lang="en-GB"/>
            </a:br>
            <a:r>
              <a:rPr lang="en-GB"/>
              <a:t>Condiții necesare și suficiente pentru existența unui sistem de reprezentanți distincți ai unei colecții de submulțimi din A?</a:t>
            </a:r>
            <a:endParaRPr/>
          </a:p>
        </p:txBody>
      </p:sp>
      <p:pic>
        <p:nvPicPr>
          <p:cNvPr id="306" name="Google Shape;3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750" y="939950"/>
            <a:ext cx="750150" cy="11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12" name="Google Shape;312;p19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br>
              <a:rPr lang="en-GB"/>
            </a:br>
            <a:r>
              <a:rPr lang="en-GB"/>
              <a:t>Condiții necesare și suficiente pentru existența unui sistem de reprezentanți distincți ai unei colecții de submulțimi din A?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	Modelăm problema cu ajutorul unui graf bipartit:</a:t>
            </a:r>
            <a:endParaRPr/>
          </a:p>
          <a:p>
            <a:pPr indent="-33655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vârf x</a:t>
            </a:r>
            <a:r>
              <a:rPr b="0" baseline="-25000" lang="en-GB"/>
              <a:t>i</a:t>
            </a:r>
            <a:r>
              <a:rPr b="0" lang="en-GB"/>
              <a:t> - asociat submulțimii X</a:t>
            </a:r>
            <a:r>
              <a:rPr b="0" baseline="-25000" lang="en-GB"/>
              <a:t>i</a:t>
            </a:r>
            <a:r>
              <a:rPr b="0" lang="en-GB"/>
              <a:t>, i = 1, …, 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		⇒ mulțimea </a:t>
            </a:r>
            <a:r>
              <a:rPr lang="en-GB"/>
              <a:t>X</a:t>
            </a:r>
            <a:r>
              <a:rPr b="0" lang="en-GB"/>
              <a:t> de vârfuri</a:t>
            </a:r>
            <a:endParaRPr b="0"/>
          </a:p>
          <a:p>
            <a:pPr indent="-33655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vârf a</a:t>
            </a:r>
            <a:r>
              <a:rPr b="0" baseline="-25000" lang="en-GB"/>
              <a:t>j</a:t>
            </a:r>
            <a:r>
              <a:rPr b="0" lang="en-GB"/>
              <a:t> - asociat fiecărui element din A, j = 1, …, n</a:t>
            </a:r>
            <a:endParaRPr b="0"/>
          </a:p>
          <a:p>
            <a:pPr indent="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⇒ mulțimea </a:t>
            </a:r>
            <a:r>
              <a:rPr lang="en-GB"/>
              <a:t>Y</a:t>
            </a:r>
            <a:r>
              <a:rPr b="0" lang="en-GB"/>
              <a:t> de vârfuri</a:t>
            </a:r>
            <a:endParaRPr b="0"/>
          </a:p>
          <a:p>
            <a:pPr indent="-336550" lvl="0" marL="1828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muchie de la </a:t>
            </a:r>
            <a:r>
              <a:rPr lang="en-GB"/>
              <a:t>x</a:t>
            </a:r>
            <a:r>
              <a:rPr baseline="-25000" lang="en-GB"/>
              <a:t>i</a:t>
            </a:r>
            <a:r>
              <a:rPr lang="en-GB"/>
              <a:t> </a:t>
            </a:r>
            <a:r>
              <a:rPr b="0" lang="en-GB"/>
              <a:t>la </a:t>
            </a:r>
            <a:r>
              <a:rPr lang="en-GB"/>
              <a:t>a</a:t>
            </a:r>
            <a:r>
              <a:rPr baseline="-25000" lang="en-GB"/>
              <a:t>j</a:t>
            </a:r>
            <a:r>
              <a:rPr b="0" lang="en-GB"/>
              <a:t>     ⇔     a</a:t>
            </a:r>
            <a:r>
              <a:rPr b="0" baseline="-25000" lang="en-GB"/>
              <a:t>j</a:t>
            </a:r>
            <a:r>
              <a:rPr b="0" lang="en-GB"/>
              <a:t> ∈ X</a:t>
            </a:r>
            <a:r>
              <a:rPr b="0" baseline="-25000" lang="en-GB"/>
              <a:t>i</a:t>
            </a:r>
            <a:endParaRPr b="0"/>
          </a:p>
        </p:txBody>
      </p:sp>
      <p:pic>
        <p:nvPicPr>
          <p:cNvPr id="313" name="Google Shape;3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825" y="1801775"/>
            <a:ext cx="638875" cy="11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19" name="Google Shape;319;p20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Exemplu: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 = {1, 2, 3, 4}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1</a:t>
            </a:r>
            <a:r>
              <a:rPr b="0" lang="en-GB"/>
              <a:t> = {2, 3}	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2</a:t>
            </a:r>
            <a:r>
              <a:rPr b="0" lang="en-GB"/>
              <a:t> = {1, 3, 4}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3</a:t>
            </a:r>
            <a:r>
              <a:rPr b="0" lang="en-GB"/>
              <a:t> = {2, 4}	</a:t>
            </a:r>
            <a:endParaRPr b="0"/>
          </a:p>
        </p:txBody>
      </p:sp>
      <p:sp>
        <p:nvSpPr>
          <p:cNvPr id="320" name="Google Shape;320;p20"/>
          <p:cNvSpPr/>
          <p:nvPr/>
        </p:nvSpPr>
        <p:spPr>
          <a:xfrm>
            <a:off x="7133135" y="978025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4293975" y="978025"/>
            <a:ext cx="1087500" cy="28179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4860200" y="145963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4860200" y="223310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7433189" y="1231039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7433189" y="1852105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7433189" y="3182960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20"/>
          <p:cNvCxnSpPr>
            <a:stCxn id="322" idx="6"/>
            <a:endCxn id="325" idx="2"/>
          </p:cNvCxnSpPr>
          <p:nvPr/>
        </p:nvCxnSpPr>
        <p:spPr>
          <a:xfrm>
            <a:off x="5069900" y="1564489"/>
            <a:ext cx="2363400" cy="39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0"/>
          <p:cNvCxnSpPr>
            <a:stCxn id="322" idx="5"/>
            <a:endCxn id="329" idx="1"/>
          </p:cNvCxnSpPr>
          <p:nvPr/>
        </p:nvCxnSpPr>
        <p:spPr>
          <a:xfrm>
            <a:off x="5039190" y="1638629"/>
            <a:ext cx="2424600" cy="95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0"/>
          <p:cNvCxnSpPr>
            <a:stCxn id="323" idx="7"/>
          </p:cNvCxnSpPr>
          <p:nvPr/>
        </p:nvCxnSpPr>
        <p:spPr>
          <a:xfrm>
            <a:off x="5039190" y="2263815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0"/>
          <p:cNvSpPr/>
          <p:nvPr/>
        </p:nvSpPr>
        <p:spPr>
          <a:xfrm>
            <a:off x="4860200" y="309529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7433189" y="2561894"/>
            <a:ext cx="209700" cy="2097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4493778" y="133144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4405054" y="210490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4405054" y="29670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7642909" y="305476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7687833" y="243369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7687833" y="1723909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7612150" y="1102844"/>
            <a:ext cx="4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20"/>
          <p:cNvCxnSpPr>
            <a:stCxn id="323" idx="7"/>
            <a:endCxn id="324" idx="2"/>
          </p:cNvCxnSpPr>
          <p:nvPr/>
        </p:nvCxnSpPr>
        <p:spPr>
          <a:xfrm flipH="1" rot="10800000">
            <a:off x="5039190" y="1335915"/>
            <a:ext cx="2394000" cy="92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20"/>
          <p:cNvCxnSpPr>
            <a:stCxn id="323" idx="5"/>
            <a:endCxn id="326" idx="1"/>
          </p:cNvCxnSpPr>
          <p:nvPr/>
        </p:nvCxnSpPr>
        <p:spPr>
          <a:xfrm>
            <a:off x="5039190" y="2412095"/>
            <a:ext cx="2424600" cy="80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20"/>
          <p:cNvCxnSpPr>
            <a:stCxn id="331" idx="7"/>
            <a:endCxn id="325" idx="3"/>
          </p:cNvCxnSpPr>
          <p:nvPr/>
        </p:nvCxnSpPr>
        <p:spPr>
          <a:xfrm flipH="1" rot="10800000">
            <a:off x="5039190" y="2031004"/>
            <a:ext cx="2424600" cy="109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0"/>
          <p:cNvCxnSpPr>
            <a:stCxn id="331" idx="6"/>
            <a:endCxn id="326" idx="2"/>
          </p:cNvCxnSpPr>
          <p:nvPr/>
        </p:nvCxnSpPr>
        <p:spPr>
          <a:xfrm>
            <a:off x="5069900" y="3200144"/>
            <a:ext cx="2363400" cy="8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20"/>
          <p:cNvCxnSpPr>
            <a:stCxn id="323" idx="6"/>
            <a:endCxn id="329" idx="2"/>
          </p:cNvCxnSpPr>
          <p:nvPr/>
        </p:nvCxnSpPr>
        <p:spPr>
          <a:xfrm>
            <a:off x="5069900" y="2337955"/>
            <a:ext cx="2363400" cy="328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0"/>
          <p:cNvSpPr txBox="1"/>
          <p:nvPr>
            <p:ph idx="1" type="body"/>
          </p:nvPr>
        </p:nvSpPr>
        <p:spPr>
          <a:xfrm>
            <a:off x="6909675" y="3932800"/>
            <a:ext cx="1624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elementele lui A</a:t>
            </a:r>
            <a:endParaRPr b="1" sz="1440"/>
          </a:p>
        </p:txBody>
      </p:sp>
      <p:sp>
        <p:nvSpPr>
          <p:cNvPr id="345" name="Google Shape;345;p20"/>
          <p:cNvSpPr txBox="1"/>
          <p:nvPr>
            <p:ph idx="1" type="body"/>
          </p:nvPr>
        </p:nvSpPr>
        <p:spPr>
          <a:xfrm>
            <a:off x="4293975" y="3932800"/>
            <a:ext cx="1166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submulțimi</a:t>
            </a:r>
            <a:endParaRPr b="1" sz="1440"/>
          </a:p>
        </p:txBody>
      </p:sp>
      <p:sp>
        <p:nvSpPr>
          <p:cNvPr id="346" name="Google Shape;346;p20"/>
          <p:cNvSpPr txBox="1"/>
          <p:nvPr>
            <p:ph idx="1" type="body"/>
          </p:nvPr>
        </p:nvSpPr>
        <p:spPr>
          <a:xfrm>
            <a:off x="5812155" y="3554775"/>
            <a:ext cx="848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conține</a:t>
            </a:r>
            <a:endParaRPr sz="14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52" name="Google Shape;352;p21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Există un sistem de reprezentanți pentru colecția de submulțimi (X</a:t>
            </a:r>
            <a:r>
              <a:rPr b="0" baseline="-25000" lang="en-GB"/>
              <a:t>1</a:t>
            </a:r>
            <a:r>
              <a:rPr b="0" lang="en-GB"/>
              <a:t>, X</a:t>
            </a:r>
            <a:r>
              <a:rPr b="0" baseline="-25000" lang="en-GB"/>
              <a:t>2</a:t>
            </a:r>
            <a:r>
              <a:rPr b="0" lang="en-GB"/>
              <a:t>, …, X</a:t>
            </a:r>
            <a:r>
              <a:rPr b="0" baseline="-25000" lang="en-GB"/>
              <a:t>m</a:t>
            </a:r>
            <a:r>
              <a:rPr b="0" lang="en-GB"/>
              <a:t>) ale lui A ⇔ </a:t>
            </a:r>
            <a:r>
              <a:rPr lang="en-GB"/>
              <a:t>există un cuplaj al lui X în Y în graful asociat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1</a:t>
            </a:r>
            <a:r>
              <a:rPr b="0" lang="en-GB"/>
              <a:t> = {2, 3}	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2</a:t>
            </a:r>
            <a:r>
              <a:rPr b="0" lang="en-GB"/>
              <a:t> = {1, 3, 4}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X</a:t>
            </a:r>
            <a:r>
              <a:rPr b="0" baseline="-25000" lang="en-GB"/>
              <a:t>3</a:t>
            </a:r>
            <a:r>
              <a:rPr b="0" lang="en-GB"/>
              <a:t> = {2, 4}	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r = (2, 3, 4)</a:t>
            </a:r>
            <a:endParaRPr b="0"/>
          </a:p>
        </p:txBody>
      </p:sp>
      <p:sp>
        <p:nvSpPr>
          <p:cNvPr id="353" name="Google Shape;353;p21"/>
          <p:cNvSpPr/>
          <p:nvPr/>
        </p:nvSpPr>
        <p:spPr>
          <a:xfrm>
            <a:off x="6978334" y="2121025"/>
            <a:ext cx="882300" cy="2286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674975" y="2121025"/>
            <a:ext cx="882300" cy="2286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5134343" y="25117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5134343" y="3139246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7221762" y="2326290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7221762" y="2830148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7221762" y="3909844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1"/>
          <p:cNvCxnSpPr>
            <a:stCxn id="355" idx="6"/>
            <a:endCxn id="358" idx="2"/>
          </p:cNvCxnSpPr>
          <p:nvPr/>
        </p:nvCxnSpPr>
        <p:spPr>
          <a:xfrm>
            <a:off x="5304443" y="2596799"/>
            <a:ext cx="1917300" cy="31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21"/>
          <p:cNvCxnSpPr>
            <a:stCxn id="355" idx="5"/>
            <a:endCxn id="362" idx="1"/>
          </p:cNvCxnSpPr>
          <p:nvPr/>
        </p:nvCxnSpPr>
        <p:spPr>
          <a:xfrm>
            <a:off x="5279532" y="2656938"/>
            <a:ext cx="1967100" cy="77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21"/>
          <p:cNvCxnSpPr>
            <a:stCxn id="356" idx="7"/>
          </p:cNvCxnSpPr>
          <p:nvPr/>
        </p:nvCxnSpPr>
        <p:spPr>
          <a:xfrm>
            <a:off x="5279532" y="3164157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21"/>
          <p:cNvSpPr/>
          <p:nvPr/>
        </p:nvSpPr>
        <p:spPr>
          <a:xfrm>
            <a:off x="5134343" y="3838723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7221762" y="3405986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837072" y="2407746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765092" y="3035244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765092" y="3734721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7391905" y="3805842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7428350" y="3301984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7428350" y="2726146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7366950" y="2222288"/>
            <a:ext cx="3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1"/>
          <p:cNvCxnSpPr>
            <a:stCxn id="356" idx="7"/>
            <a:endCxn id="357" idx="2"/>
          </p:cNvCxnSpPr>
          <p:nvPr/>
        </p:nvCxnSpPr>
        <p:spPr>
          <a:xfrm flipH="1" rot="10800000">
            <a:off x="5279532" y="2411457"/>
            <a:ext cx="1942200" cy="75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1"/>
          <p:cNvCxnSpPr>
            <a:stCxn id="356" idx="5"/>
            <a:endCxn id="359" idx="1"/>
          </p:cNvCxnSpPr>
          <p:nvPr/>
        </p:nvCxnSpPr>
        <p:spPr>
          <a:xfrm>
            <a:off x="5279532" y="3284435"/>
            <a:ext cx="1967100" cy="65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1"/>
          <p:cNvCxnSpPr>
            <a:stCxn id="364" idx="7"/>
            <a:endCxn id="358" idx="3"/>
          </p:cNvCxnSpPr>
          <p:nvPr/>
        </p:nvCxnSpPr>
        <p:spPr>
          <a:xfrm flipH="1" rot="10800000">
            <a:off x="5279532" y="2975334"/>
            <a:ext cx="1967100" cy="88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1"/>
          <p:cNvCxnSpPr>
            <a:stCxn id="364" idx="6"/>
            <a:endCxn id="359" idx="2"/>
          </p:cNvCxnSpPr>
          <p:nvPr/>
        </p:nvCxnSpPr>
        <p:spPr>
          <a:xfrm>
            <a:off x="5304443" y="3923773"/>
            <a:ext cx="1917300" cy="7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1"/>
          <p:cNvCxnSpPr>
            <a:stCxn id="356" idx="6"/>
            <a:endCxn id="362" idx="2"/>
          </p:cNvCxnSpPr>
          <p:nvPr/>
        </p:nvCxnSpPr>
        <p:spPr>
          <a:xfrm>
            <a:off x="5304443" y="3224296"/>
            <a:ext cx="1917300" cy="26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21"/>
          <p:cNvSpPr txBox="1"/>
          <p:nvPr>
            <p:ph idx="1" type="body"/>
          </p:nvPr>
        </p:nvSpPr>
        <p:spPr>
          <a:xfrm>
            <a:off x="6797050" y="4518175"/>
            <a:ext cx="1750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elementele lui A</a:t>
            </a:r>
            <a:endParaRPr b="1" sz="1440"/>
          </a:p>
        </p:txBody>
      </p:sp>
      <p:sp>
        <p:nvSpPr>
          <p:cNvPr id="378" name="Google Shape;378;p21"/>
          <p:cNvSpPr txBox="1"/>
          <p:nvPr>
            <p:ph idx="1" type="body"/>
          </p:nvPr>
        </p:nvSpPr>
        <p:spPr>
          <a:xfrm>
            <a:off x="4543525" y="4518175"/>
            <a:ext cx="11607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submulțimi</a:t>
            </a:r>
            <a:endParaRPr b="1" sz="1440"/>
          </a:p>
        </p:txBody>
      </p:sp>
      <p:sp>
        <p:nvSpPr>
          <p:cNvPr id="379" name="Google Shape;379;p21"/>
          <p:cNvSpPr txBox="1"/>
          <p:nvPr>
            <p:ph idx="1" type="body"/>
          </p:nvPr>
        </p:nvSpPr>
        <p:spPr>
          <a:xfrm>
            <a:off x="5826651" y="4206050"/>
            <a:ext cx="8823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852"/>
              <a:buNone/>
            </a:pPr>
            <a:r>
              <a:rPr lang="en-GB" sz="1440"/>
              <a:t>conține</a:t>
            </a:r>
            <a:endParaRPr sz="14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85" name="Google Shape;385;p22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Observație: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Există un sistem de reprezentanți pentru colecția de submulțimi (X</a:t>
            </a:r>
            <a:r>
              <a:rPr b="0" baseline="-25000" lang="en-GB"/>
              <a:t>1</a:t>
            </a:r>
            <a:r>
              <a:rPr b="0" lang="en-GB"/>
              <a:t>, X</a:t>
            </a:r>
            <a:r>
              <a:rPr b="0" baseline="-25000" lang="en-GB"/>
              <a:t>2</a:t>
            </a:r>
            <a:r>
              <a:rPr b="0" lang="en-GB"/>
              <a:t>, …, X</a:t>
            </a:r>
            <a:r>
              <a:rPr b="0" baseline="-25000" lang="en-GB"/>
              <a:t>m</a:t>
            </a:r>
            <a:r>
              <a:rPr b="0" lang="en-GB"/>
              <a:t>) ale lui A ⇔ </a:t>
            </a:r>
            <a:r>
              <a:rPr lang="en-GB"/>
              <a:t>există un cuplaj al lui X în Y în graful asociat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Teorema lui HALL</a:t>
            </a:r>
            <a:endParaRPr b="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pentru orice submulțime S = {x</a:t>
            </a:r>
            <a:r>
              <a:rPr b="0" baseline="-25000" lang="en-GB"/>
              <a:t>i1</a:t>
            </a:r>
            <a:r>
              <a:rPr b="0" lang="en-GB"/>
              <a:t>, x</a:t>
            </a:r>
            <a:r>
              <a:rPr b="0" baseline="-25000" lang="en-GB"/>
              <a:t>i2</a:t>
            </a:r>
            <a:r>
              <a:rPr b="0" lang="en-GB"/>
              <a:t>, …, x</a:t>
            </a:r>
            <a:r>
              <a:rPr b="0" baseline="-25000" lang="en-GB"/>
              <a:t>ik</a:t>
            </a:r>
            <a:r>
              <a:rPr b="0" lang="en-GB"/>
              <a:t>} ⊆ X avem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|N(S)| ≥ |S| = k (imaginea lui S)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N(S) = X</a:t>
            </a:r>
            <a:r>
              <a:rPr b="0" baseline="-25000" lang="en-GB"/>
              <a:t>i1</a:t>
            </a:r>
            <a:r>
              <a:rPr b="0" lang="en-GB"/>
              <a:t> ∪ X</a:t>
            </a:r>
            <a:r>
              <a:rPr b="0" baseline="-25000" lang="en-GB"/>
              <a:t>i2</a:t>
            </a:r>
            <a:r>
              <a:rPr b="0" lang="en-GB"/>
              <a:t> ∪ … ∪ X</a:t>
            </a:r>
            <a:r>
              <a:rPr b="0" baseline="-25000" lang="en-GB"/>
              <a:t>ik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Astfel, are loc următorul rezultat</a:t>
            </a:r>
            <a:endParaRPr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>
            <p:ph idx="1" type="body"/>
          </p:nvPr>
        </p:nvSpPr>
        <p:spPr>
          <a:xfrm>
            <a:off x="311700" y="906225"/>
            <a:ext cx="8520600" cy="4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 - existența unui sistem de reprezentanți distincți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A o mulțime finită și (X</a:t>
            </a:r>
            <a:r>
              <a:rPr b="0" baseline="-25000" lang="en-GB"/>
              <a:t>1</a:t>
            </a:r>
            <a:r>
              <a:rPr b="0" lang="en-GB"/>
              <a:t>, X</a:t>
            </a:r>
            <a:r>
              <a:rPr b="0" baseline="-25000" lang="en-GB"/>
              <a:t>2</a:t>
            </a:r>
            <a:r>
              <a:rPr b="0" lang="en-GB"/>
              <a:t>, …, X</a:t>
            </a:r>
            <a:r>
              <a:rPr b="0" baseline="-25000" lang="en-GB"/>
              <a:t>m</a:t>
            </a:r>
            <a:r>
              <a:rPr b="0" lang="en-GB"/>
              <a:t>) o colecție de submulțimi din A.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Colecția </a:t>
            </a:r>
            <a:r>
              <a:rPr lang="en-GB"/>
              <a:t>nu</a:t>
            </a:r>
            <a:r>
              <a:rPr b="0" lang="en-GB"/>
              <a:t> are un sistem de reprezentanți distincți   ⇔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∃ k submulțimi în colecție </a:t>
            </a:r>
            <a:r>
              <a:rPr lang="en-GB"/>
              <a:t>a căror reuniune are mai puțin de k elemente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2543420" y="2586912"/>
            <a:ext cx="3926650" cy="1606100"/>
          </a:xfrm>
          <a:custGeom>
            <a:rect b="b" l="l" r="r" t="t"/>
            <a:pathLst>
              <a:path extrusionOk="0" h="64244" w="157066">
                <a:moveTo>
                  <a:pt x="62208" y="1956"/>
                </a:moveTo>
                <a:cubicBezTo>
                  <a:pt x="40861" y="3080"/>
                  <a:pt x="24278" y="2405"/>
                  <a:pt x="13941" y="9236"/>
                </a:cubicBezTo>
                <a:cubicBezTo>
                  <a:pt x="3605" y="16067"/>
                  <a:pt x="-1024" y="33774"/>
                  <a:pt x="189" y="42942"/>
                </a:cubicBezTo>
                <a:cubicBezTo>
                  <a:pt x="1403" y="52110"/>
                  <a:pt x="-574" y="64199"/>
                  <a:pt x="21222" y="64244"/>
                </a:cubicBezTo>
                <a:cubicBezTo>
                  <a:pt x="43019" y="64289"/>
                  <a:pt x="108453" y="49008"/>
                  <a:pt x="130968" y="43211"/>
                </a:cubicBezTo>
                <a:cubicBezTo>
                  <a:pt x="153483" y="37414"/>
                  <a:pt x="154472" y="36246"/>
                  <a:pt x="156314" y="29460"/>
                </a:cubicBezTo>
                <a:cubicBezTo>
                  <a:pt x="158157" y="22674"/>
                  <a:pt x="157707" y="7079"/>
                  <a:pt x="142023" y="2495"/>
                </a:cubicBezTo>
                <a:cubicBezTo>
                  <a:pt x="126339" y="-2089"/>
                  <a:pt x="83555" y="833"/>
                  <a:pt x="62208" y="1956"/>
                </a:cubicBezTo>
                <a:close/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Sistem de reprezentanți distincți</a:t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5282534" y="2754700"/>
            <a:ext cx="882300" cy="22860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2979175" y="2754700"/>
            <a:ext cx="882300" cy="22860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3305543" y="30451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5621562" y="3012090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3305543" y="34261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5621562" y="3469290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3305543" y="38833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5621562" y="3850290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3305543" y="46453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621562" y="4459890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3305543" y="4264349"/>
            <a:ext cx="170100" cy="170100"/>
          </a:xfrm>
          <a:prstGeom prst="ellipse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23"/>
          <p:cNvCxnSpPr>
            <a:stCxn id="395" idx="6"/>
            <a:endCxn id="396" idx="2"/>
          </p:cNvCxnSpPr>
          <p:nvPr/>
        </p:nvCxnSpPr>
        <p:spPr>
          <a:xfrm flipH="1" rot="10800000">
            <a:off x="3475643" y="3097199"/>
            <a:ext cx="2145900" cy="3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23"/>
          <p:cNvCxnSpPr>
            <a:stCxn id="395" idx="5"/>
            <a:endCxn id="398" idx="1"/>
          </p:cNvCxnSpPr>
          <p:nvPr/>
        </p:nvCxnSpPr>
        <p:spPr>
          <a:xfrm>
            <a:off x="3450732" y="3190338"/>
            <a:ext cx="2195700" cy="30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3"/>
          <p:cNvCxnSpPr>
            <a:stCxn id="397" idx="7"/>
            <a:endCxn id="396" idx="3"/>
          </p:cNvCxnSpPr>
          <p:nvPr/>
        </p:nvCxnSpPr>
        <p:spPr>
          <a:xfrm flipH="1" rot="10800000">
            <a:off x="3450732" y="3157360"/>
            <a:ext cx="2195700" cy="29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23"/>
          <p:cNvCxnSpPr>
            <a:stCxn id="397" idx="6"/>
            <a:endCxn id="398" idx="2"/>
          </p:cNvCxnSpPr>
          <p:nvPr/>
        </p:nvCxnSpPr>
        <p:spPr>
          <a:xfrm>
            <a:off x="3475643" y="3511199"/>
            <a:ext cx="2145900" cy="4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23"/>
          <p:cNvCxnSpPr>
            <a:stCxn id="399" idx="7"/>
            <a:endCxn id="396" idx="4"/>
          </p:cNvCxnSpPr>
          <p:nvPr/>
        </p:nvCxnSpPr>
        <p:spPr>
          <a:xfrm flipH="1" rot="10800000">
            <a:off x="3450732" y="3182260"/>
            <a:ext cx="2256000" cy="72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23"/>
          <p:cNvCxnSpPr>
            <a:stCxn id="399" idx="6"/>
            <a:endCxn id="398" idx="3"/>
          </p:cNvCxnSpPr>
          <p:nvPr/>
        </p:nvCxnSpPr>
        <p:spPr>
          <a:xfrm flipH="1" rot="10800000">
            <a:off x="3475643" y="3614399"/>
            <a:ext cx="2170800" cy="35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23"/>
          <p:cNvCxnSpPr>
            <a:stCxn id="403" idx="6"/>
            <a:endCxn id="400" idx="2"/>
          </p:cNvCxnSpPr>
          <p:nvPr/>
        </p:nvCxnSpPr>
        <p:spPr>
          <a:xfrm flipH="1" rot="10800000">
            <a:off x="3475643" y="3935399"/>
            <a:ext cx="21459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27EBEC-D6D2-449D-9734-E640ED596791}"/>
</file>

<file path=customXml/itemProps2.xml><?xml version="1.0" encoding="utf-8"?>
<ds:datastoreItem xmlns:ds="http://schemas.openxmlformats.org/officeDocument/2006/customXml" ds:itemID="{69431646-8C78-42B7-9ADC-3F09D77B6206}"/>
</file>

<file path=customXml/itemProps3.xml><?xml version="1.0" encoding="utf-8"?>
<ds:datastoreItem xmlns:ds="http://schemas.openxmlformats.org/officeDocument/2006/customXml" ds:itemID="{8023A490-7051-411C-93C3-1EE458A1D0A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