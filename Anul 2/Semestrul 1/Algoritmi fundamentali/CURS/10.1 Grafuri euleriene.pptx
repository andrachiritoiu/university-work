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143500" cx="9144000"/>
  <p:notesSz cx="6858000" cy="9144000"/>
  <p:embeddedFontLst>
    <p:embeddedFont>
      <p:font typeface="Roboto"/>
      <p:regular r:id="rId78"/>
      <p:bold r:id="rId79"/>
      <p:italic r:id="rId80"/>
      <p:boldItalic r:id="rId81"/>
    </p:embeddedFont>
    <p:embeddedFont>
      <p:font typeface="Roboto Mono"/>
      <p:regular r:id="rId82"/>
      <p:bold r:id="rId83"/>
      <p:italic r:id="rId84"/>
      <p:boldItalic r:id="rId85"/>
    </p:embeddedFont>
    <p:embeddedFont>
      <p:font typeface="Merriweather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0" roundtripDataSignature="AMtx7mjBwPwwQWheOqMtgoAapUe6rT0o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4" Type="http://schemas.openxmlformats.org/officeDocument/2006/relationships/font" Target="fonts/RobotoMono-italic.fntdata"/><Relationship Id="rId42" Type="http://schemas.openxmlformats.org/officeDocument/2006/relationships/slide" Target="slides/slide37.xml"/><Relationship Id="rId89" Type="http://schemas.openxmlformats.org/officeDocument/2006/relationships/font" Target="fonts/Merriweather-boldItalic.fntdata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21" Type="http://schemas.openxmlformats.org/officeDocument/2006/relationships/slide" Target="slides/slide16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74" Type="http://schemas.openxmlformats.org/officeDocument/2006/relationships/slide" Target="slides/slide69.xml"/><Relationship Id="rId32" Type="http://schemas.openxmlformats.org/officeDocument/2006/relationships/slide" Target="slides/slide27.xml"/><Relationship Id="rId79" Type="http://schemas.openxmlformats.org/officeDocument/2006/relationships/font" Target="fonts/Roboto-bold.fntdata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5" Type="http://schemas.openxmlformats.org/officeDocument/2006/relationships/notesMaster" Target="notesMasters/notesMaster1.xml"/><Relationship Id="rId90" Type="http://customschemas.google.com/relationships/presentationmetadata" Target="metadata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22" Type="http://schemas.openxmlformats.org/officeDocument/2006/relationships/slide" Target="slides/slide17.xml"/><Relationship Id="rId69" Type="http://schemas.openxmlformats.org/officeDocument/2006/relationships/slide" Target="slides/slide64.xml"/><Relationship Id="rId27" Type="http://schemas.openxmlformats.org/officeDocument/2006/relationships/slide" Target="slides/slide22.xml"/><Relationship Id="rId85" Type="http://schemas.openxmlformats.org/officeDocument/2006/relationships/font" Target="fonts/RobotoMono-boldItalic.fntdata"/><Relationship Id="rId80" Type="http://schemas.openxmlformats.org/officeDocument/2006/relationships/font" Target="fonts/Roboto-italic.fntdata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93" Type="http://schemas.openxmlformats.org/officeDocument/2006/relationships/customXml" Target="../customXml/item3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slide" Target="slides/slide62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83" Type="http://schemas.openxmlformats.org/officeDocument/2006/relationships/font" Target="fonts/RobotoMono-bold.fntdata"/><Relationship Id="rId41" Type="http://schemas.openxmlformats.org/officeDocument/2006/relationships/slide" Target="slides/slide36.xml"/><Relationship Id="rId88" Type="http://schemas.openxmlformats.org/officeDocument/2006/relationships/font" Target="fonts/Merriweather-italic.fntdata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91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86" Type="http://schemas.openxmlformats.org/officeDocument/2006/relationships/font" Target="fonts/Merriweather-regular.fntdata"/><Relationship Id="rId44" Type="http://schemas.openxmlformats.org/officeDocument/2006/relationships/slide" Target="slides/slide39.xml"/><Relationship Id="rId81" Type="http://schemas.openxmlformats.org/officeDocument/2006/relationships/font" Target="fonts/Roboto-boldItalic.fntdata"/><Relationship Id="rId73" Type="http://schemas.openxmlformats.org/officeDocument/2006/relationships/slide" Target="slides/slide68.xml"/><Relationship Id="rId31" Type="http://schemas.openxmlformats.org/officeDocument/2006/relationships/slide" Target="slides/slide26.xml"/><Relationship Id="rId78" Type="http://schemas.openxmlformats.org/officeDocument/2006/relationships/font" Target="fonts/Roboto-regular.fntdata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76" Type="http://schemas.openxmlformats.org/officeDocument/2006/relationships/slide" Target="slides/slide7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customXml" Target="../customXml/item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87" Type="http://schemas.openxmlformats.org/officeDocument/2006/relationships/font" Target="fonts/Merriweather-bold.fntdata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24" Type="http://schemas.openxmlformats.org/officeDocument/2006/relationships/slide" Target="slides/slide19.xml"/><Relationship Id="rId82" Type="http://schemas.openxmlformats.org/officeDocument/2006/relationships/font" Target="fonts/RobotoMono-regular.fntdata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30" Type="http://schemas.openxmlformats.org/officeDocument/2006/relationships/slide" Target="slides/slide25.xml"/><Relationship Id="rId77" Type="http://schemas.openxmlformats.org/officeDocument/2006/relationships/slide" Target="slides/slide72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7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7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7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77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77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8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78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78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7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7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9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9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0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8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8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3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4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84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5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hyperlink" Target="https://www.maa.org/book/export/html/116597" TargetMode="External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3.gif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infoarena.ro/problema/ciclueuler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Istoric. Aplicații</a:t>
            </a:r>
            <a:endParaRPr/>
          </a:p>
        </p:txBody>
      </p:sp>
      <p:sp>
        <p:nvSpPr>
          <p:cNvPr id="79" name="Google Shape;79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4656950" y="2382250"/>
            <a:ext cx="41754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Este posibil ca un om să facă o plimbare în care să treacă pe toate cele 7 poduri, o singură dată?</a:t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7138"/>
            <a:ext cx="4061525" cy="32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>
            <p:ph idx="1" type="body"/>
          </p:nvPr>
        </p:nvSpPr>
        <p:spPr>
          <a:xfrm>
            <a:off x="812313" y="4196375"/>
            <a:ext cx="3060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ct val="85000"/>
              <a:buNone/>
            </a:pPr>
            <a:r>
              <a:rPr lang="en-GB" sz="1100" u="sng">
                <a:solidFill>
                  <a:schemeClr val="hlink"/>
                </a:solidFill>
                <a:hlinkClick r:id="rId4"/>
              </a:rPr>
              <a:t>https://www.maa.org/book/export/html/116597</a:t>
            </a:r>
            <a:r>
              <a:rPr lang="en-GB" sz="1100"/>
              <a:t> </a:t>
            </a:r>
            <a:endParaRPr sz="1100"/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239" y="1007400"/>
            <a:ext cx="806212" cy="12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7138"/>
            <a:ext cx="4061525" cy="32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7826" y="1554947"/>
            <a:ext cx="2009275" cy="17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 txBox="1"/>
          <p:nvPr>
            <p:ph idx="1" type="body"/>
          </p:nvPr>
        </p:nvSpPr>
        <p:spPr>
          <a:xfrm>
            <a:off x="6431163" y="947150"/>
            <a:ext cx="11826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Modelare: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7138"/>
            <a:ext cx="4061525" cy="32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7826" y="1554947"/>
            <a:ext cx="2009275" cy="17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3925" y="3220100"/>
            <a:ext cx="2033181" cy="17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6431163" y="947150"/>
            <a:ext cx="11826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Modelare: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50" y="1001100"/>
            <a:ext cx="2033181" cy="17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50" y="1001100"/>
            <a:ext cx="2033181" cy="17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4">
            <a:alphaModFix/>
          </a:blip>
          <a:srcRect b="-3453" l="51610" r="-1537" t="-3464"/>
          <a:stretch/>
        </p:blipFill>
        <p:spPr>
          <a:xfrm>
            <a:off x="5135750" y="986238"/>
            <a:ext cx="2278474" cy="195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5648074" y="2999000"/>
            <a:ext cx="11847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35"/>
              <a:buNone/>
            </a:pPr>
            <a:r>
              <a:rPr lang="en-GB" sz="1400"/>
              <a:t>graf simplu</a:t>
            </a:r>
            <a:endParaRPr b="1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50" y="1001100"/>
            <a:ext cx="2033181" cy="17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4">
            <a:alphaModFix/>
          </a:blip>
          <a:srcRect b="-3453" l="51610" r="-1537" t="-3464"/>
          <a:stretch/>
        </p:blipFill>
        <p:spPr>
          <a:xfrm>
            <a:off x="5135750" y="986238"/>
            <a:ext cx="2278474" cy="195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1736 - </a:t>
            </a:r>
            <a:r>
              <a:rPr b="1" lang="en-GB"/>
              <a:t>Leonhard Euler</a:t>
            </a:r>
            <a:endParaRPr b="1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i="1" lang="en-GB" sz="1200"/>
              <a:t>Solutio problematis ad geometriam situs pertinentis</a:t>
            </a:r>
            <a:endParaRPr i="1" sz="1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Ciclu eulerian</a:t>
            </a:r>
            <a:r>
              <a:rPr lang="en-GB"/>
              <a:t> - traseu închis care trece o singură dată prin toate muchiile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Graf eulerian</a:t>
            </a:r>
            <a:r>
              <a:rPr lang="en-GB"/>
              <a:t> - conține un ciclu eulerian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Interpretare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Se poate desena diagrama printr-o curbă continuă închisă, fără a ridica pixul de pe hârtie şi fără a desena o linie de două ori (în plus: să terminăm desenul în punctul în care l-am început)?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tăierea unui material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762" y="2893377"/>
            <a:ext cx="6420475" cy="16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Problema celor 7 poduri din Königsberg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Interpretare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De câte ori (minim) trebuie să ridicăm pixul de pe hârtie pentru a desena diagrama?</a:t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73328" r="0" t="0"/>
          <a:stretch/>
        </p:blipFill>
        <p:spPr>
          <a:xfrm>
            <a:off x="3715784" y="1938400"/>
            <a:ext cx="1712450" cy="16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311700" y="906225"/>
            <a:ext cx="8728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Problema lui POSTHUMUS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f(n) = numărul minim de cifre de 0 și 1 care se pot dispune circular a.î. între cele f(n) secvențe de lungime n de cifre succesive apar toți cei 2</a:t>
            </a:r>
            <a:r>
              <a:rPr b="0" baseline="30000" lang="en-GB"/>
              <a:t>n</a:t>
            </a:r>
            <a:r>
              <a:rPr b="0" lang="en-GB"/>
              <a:t> vectori de lungime n peste {0, 1} (citite în același sens).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Evident, f(n) ≥ 2</a:t>
            </a:r>
            <a:r>
              <a:rPr b="0" baseline="30000" lang="en-GB"/>
              <a:t>n</a:t>
            </a:r>
            <a:r>
              <a:rPr b="0" lang="en-GB"/>
              <a:t>. </a:t>
            </a:r>
            <a:r>
              <a:rPr lang="en-GB"/>
              <a:t>Are loc chiar egalitate?</a:t>
            </a:r>
            <a:endParaRPr/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713" y="2822900"/>
            <a:ext cx="4140574" cy="21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Etichete pe arce: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În general:</a:t>
            </a:r>
            <a:endParaRPr b="0"/>
          </a:p>
        </p:txBody>
      </p:sp>
      <p:sp>
        <p:nvSpPr>
          <p:cNvPr id="157" name="Google Shape;157;p12"/>
          <p:cNvSpPr/>
          <p:nvPr/>
        </p:nvSpPr>
        <p:spPr>
          <a:xfrm>
            <a:off x="3383150" y="18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059550" y="18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2"/>
          <p:cNvCxnSpPr>
            <a:stCxn id="157" idx="6"/>
            <a:endCxn id="158" idx="2"/>
          </p:cNvCxnSpPr>
          <p:nvPr/>
        </p:nvCxnSpPr>
        <p:spPr>
          <a:xfrm>
            <a:off x="3743150" y="1989050"/>
            <a:ext cx="131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2"/>
          <p:cNvSpPr txBox="1"/>
          <p:nvPr/>
        </p:nvSpPr>
        <p:spPr>
          <a:xfrm>
            <a:off x="4131650" y="1681200"/>
            <a:ext cx="5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3246250" y="1281000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începe cu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4581350" y="1281000"/>
            <a:ext cx="13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termină cu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3651125" y="1620539"/>
            <a:ext cx="640425" cy="107850"/>
          </a:xfrm>
          <a:custGeom>
            <a:rect b="b" l="l" r="r" t="t"/>
            <a:pathLst>
              <a:path extrusionOk="0" h="4314" w="25617">
                <a:moveTo>
                  <a:pt x="25617" y="4314"/>
                </a:moveTo>
                <a:cubicBezTo>
                  <a:pt x="23909" y="3595"/>
                  <a:pt x="19640" y="45"/>
                  <a:pt x="15370" y="0"/>
                </a:cubicBezTo>
                <a:cubicBezTo>
                  <a:pt x="11101" y="-45"/>
                  <a:pt x="2562" y="3370"/>
                  <a:pt x="0" y="4044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 flipH="1">
            <a:off x="4413125" y="1620539"/>
            <a:ext cx="640425" cy="107850"/>
          </a:xfrm>
          <a:custGeom>
            <a:rect b="b" l="l" r="r" t="t"/>
            <a:pathLst>
              <a:path extrusionOk="0" h="4314" w="25617">
                <a:moveTo>
                  <a:pt x="25617" y="4314"/>
                </a:moveTo>
                <a:cubicBezTo>
                  <a:pt x="23909" y="3595"/>
                  <a:pt x="19640" y="45"/>
                  <a:pt x="15370" y="0"/>
                </a:cubicBezTo>
                <a:cubicBezTo>
                  <a:pt x="11101" y="-45"/>
                  <a:pt x="2562" y="3370"/>
                  <a:pt x="0" y="4044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2152538" y="3282950"/>
            <a:ext cx="1415700" cy="437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2"/>
          <p:cNvCxnSpPr>
            <a:stCxn id="165" idx="6"/>
            <a:endCxn id="167" idx="2"/>
          </p:cNvCxnSpPr>
          <p:nvPr/>
        </p:nvCxnSpPr>
        <p:spPr>
          <a:xfrm>
            <a:off x="3568238" y="3501500"/>
            <a:ext cx="2008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12"/>
          <p:cNvSpPr txBox="1"/>
          <p:nvPr/>
        </p:nvSpPr>
        <p:spPr>
          <a:xfrm>
            <a:off x="4002600" y="3101300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5576663" y="3283700"/>
            <a:ext cx="1414800" cy="435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851425" y="3954425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∈ {0, 1}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900" y="830025"/>
            <a:ext cx="3307875" cy="21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9030" y="830021"/>
            <a:ext cx="3466067" cy="21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896" y="3092525"/>
            <a:ext cx="3230325" cy="19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 txBox="1"/>
          <p:nvPr/>
        </p:nvSpPr>
        <p:spPr>
          <a:xfrm>
            <a:off x="5155713" y="3498650"/>
            <a:ext cx="297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Soluția la problema lui POSTHUMUS pentru n = 3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⇔ etichetele arcelor unui circuit eulerian în graful B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3"/>
          <p:cNvCxnSpPr/>
          <p:nvPr/>
        </p:nvCxnSpPr>
        <p:spPr>
          <a:xfrm>
            <a:off x="4125575" y="3876175"/>
            <a:ext cx="82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graf neorientat.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Ciclu eulerian </a:t>
            </a:r>
            <a:r>
              <a:rPr b="0" lang="en-GB"/>
              <a:t>al lui G = ciclu C în G cu</a:t>
            </a:r>
            <a:br>
              <a:rPr b="0" lang="en-GB"/>
            </a:br>
            <a:r>
              <a:rPr b="0" lang="en-GB"/>
              <a:t>		E(C) = E(G)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</a:t>
            </a:r>
            <a:r>
              <a:rPr lang="en-GB"/>
              <a:t> eulerian</a:t>
            </a:r>
            <a:r>
              <a:rPr b="0" lang="en-GB"/>
              <a:t> = conține un </a:t>
            </a:r>
            <a:r>
              <a:rPr lang="en-GB">
                <a:solidFill>
                  <a:srgbClr val="CC0000"/>
                </a:solidFill>
              </a:rPr>
              <a:t>ciclu</a:t>
            </a:r>
            <a:r>
              <a:rPr b="0" lang="en-GB"/>
              <a:t> eulerian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Lanț eulerian</a:t>
            </a:r>
            <a:r>
              <a:rPr b="0" lang="en-GB"/>
              <a:t> al lui G = lanț simplu P în G cu</a:t>
            </a:r>
            <a:br>
              <a:rPr b="0" lang="en-GB"/>
            </a:br>
            <a:r>
              <a:rPr b="0" lang="en-GB"/>
              <a:t>		E(P) = E(G)</a:t>
            </a:r>
            <a:endParaRPr b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= [v</a:t>
            </a:r>
            <a:r>
              <a:rPr b="0" baseline="-25000" lang="en-GB"/>
              <a:t>1</a:t>
            </a:r>
            <a:r>
              <a:rPr b="0" lang="en-GB"/>
              <a:t>, …, v</a:t>
            </a:r>
            <a:r>
              <a:rPr b="0" baseline="-25000" lang="en-GB"/>
              <a:t>k</a:t>
            </a:r>
            <a:r>
              <a:rPr b="0" lang="en-GB"/>
              <a:t>]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</a:t>
            </a:r>
            <a:r>
              <a:rPr b="0" baseline="-25000" lang="en-GB"/>
              <a:t>1</a:t>
            </a:r>
            <a:r>
              <a:rPr b="0" lang="en-GB"/>
              <a:t> ≠ v</a:t>
            </a:r>
            <a:r>
              <a:rPr b="0" baseline="-25000" lang="en-GB"/>
              <a:t>k</a:t>
            </a:r>
            <a:r>
              <a:rPr b="0" lang="en-GB"/>
              <a:t>, atunci vârfurile interne din P au gradul în P par, iar extremitățile au gradul în P impar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</a:t>
            </a:r>
            <a:r>
              <a:rPr b="0" baseline="-25000" lang="en-GB"/>
              <a:t>1</a:t>
            </a:r>
            <a:r>
              <a:rPr b="0" lang="en-GB"/>
              <a:t> = v</a:t>
            </a:r>
            <a:r>
              <a:rPr b="0" baseline="-25000" lang="en-GB"/>
              <a:t>k</a:t>
            </a:r>
            <a:r>
              <a:rPr b="0" lang="en-GB"/>
              <a:t>, atunci toate vârfurile din P au gradul în P par</a:t>
            </a:r>
            <a:endParaRPr b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Lemă: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neorientat, conex, cu </a:t>
            </a:r>
            <a:r>
              <a:rPr lang="en-GB">
                <a:solidFill>
                  <a:srgbClr val="CC0000"/>
                </a:solidFill>
              </a:rPr>
              <a:t>toate vârfurile de grad par</a:t>
            </a:r>
            <a:r>
              <a:rPr b="0" lang="en-GB"/>
              <a:t> și E ≠ ∅.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Atunci, pentru orice x ∈ V, există un ciclu C în G cu </a:t>
            </a:r>
            <a:r>
              <a:rPr lang="en-GB"/>
              <a:t>x ∈ V(C)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(ciclu care conține x, nu neapărat eulerian, nici neapărat elementar).</a:t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03" name="Google Shape;203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- Algoritm de determinare a unui ciclu care conține x: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i = 1, v</a:t>
            </a:r>
            <a:r>
              <a:rPr b="0" baseline="-25000" lang="en-GB"/>
              <a:t>1</a:t>
            </a:r>
            <a:r>
              <a:rPr b="0" lang="en-GB"/>
              <a:t> = x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E(C) = ∅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Repetă</a:t>
            </a:r>
            <a:br>
              <a:rPr b="0" lang="en-GB"/>
            </a:br>
            <a:br>
              <a:rPr b="0" lang="en-GB"/>
            </a:br>
            <a:br>
              <a:rPr b="0" lang="en-GB"/>
            </a:br>
            <a:br>
              <a:rPr b="0" lang="en-GB"/>
            </a:br>
            <a:r>
              <a:rPr b="0" lang="en-GB"/>
              <a:t>până când v</a:t>
            </a:r>
            <a:r>
              <a:rPr b="0" baseline="-25000" lang="en-GB"/>
              <a:t>i</a:t>
            </a:r>
            <a:r>
              <a:rPr b="0" lang="en-GB"/>
              <a:t> = x</a:t>
            </a:r>
            <a:endParaRPr b="0"/>
          </a:p>
        </p:txBody>
      </p:sp>
      <p:sp>
        <p:nvSpPr>
          <p:cNvPr id="204" name="Google Shape;204;p17"/>
          <p:cNvSpPr/>
          <p:nvPr/>
        </p:nvSpPr>
        <p:spPr>
          <a:xfrm>
            <a:off x="7193150" y="17328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i+1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80313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4311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7"/>
          <p:cNvCxnSpPr>
            <a:stCxn id="204" idx="5"/>
            <a:endCxn id="205" idx="1"/>
          </p:cNvCxnSpPr>
          <p:nvPr/>
        </p:nvCxnSpPr>
        <p:spPr>
          <a:xfrm>
            <a:off x="7534230" y="2073930"/>
            <a:ext cx="555600" cy="708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7"/>
          <p:cNvSpPr/>
          <p:nvPr/>
        </p:nvSpPr>
        <p:spPr>
          <a:xfrm>
            <a:off x="6837825" y="2916900"/>
            <a:ext cx="1199925" cy="272875"/>
          </a:xfrm>
          <a:custGeom>
            <a:rect b="b" l="l" r="r" t="t"/>
            <a:pathLst>
              <a:path extrusionOk="0" h="10915" w="47997">
                <a:moveTo>
                  <a:pt x="0" y="890"/>
                </a:moveTo>
                <a:cubicBezTo>
                  <a:pt x="1079" y="2059"/>
                  <a:pt x="3910" y="7317"/>
                  <a:pt x="6472" y="7901"/>
                </a:cubicBezTo>
                <a:cubicBezTo>
                  <a:pt x="9034" y="8485"/>
                  <a:pt x="11955" y="3901"/>
                  <a:pt x="15370" y="4395"/>
                </a:cubicBezTo>
                <a:cubicBezTo>
                  <a:pt x="18786" y="4889"/>
                  <a:pt x="23100" y="11541"/>
                  <a:pt x="26965" y="10867"/>
                </a:cubicBezTo>
                <a:cubicBezTo>
                  <a:pt x="30830" y="10193"/>
                  <a:pt x="35054" y="1743"/>
                  <a:pt x="38559" y="350"/>
                </a:cubicBezTo>
                <a:cubicBezTo>
                  <a:pt x="42064" y="-1043"/>
                  <a:pt x="46424" y="2148"/>
                  <a:pt x="47997" y="250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7760114" y="2073925"/>
            <a:ext cx="3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- Algoritm de determinare a unui ciclu care conține x: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i = 1, v</a:t>
            </a:r>
            <a:r>
              <a:rPr b="0" baseline="-25000" lang="en-GB"/>
              <a:t>1</a:t>
            </a:r>
            <a:r>
              <a:rPr b="0" lang="en-GB"/>
              <a:t> = x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E(C) = ∅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Repetă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selectează e</a:t>
            </a:r>
            <a:r>
              <a:rPr baseline="-25000" lang="en-GB" sz="1600"/>
              <a:t>i</a:t>
            </a:r>
            <a:r>
              <a:rPr lang="en-GB" sz="1600"/>
              <a:t> = v</a:t>
            </a:r>
            <a:r>
              <a:rPr baseline="-25000" lang="en-GB" sz="1600"/>
              <a:t>i</a:t>
            </a:r>
            <a:r>
              <a:rPr lang="en-GB" sz="1600"/>
              <a:t>v</a:t>
            </a:r>
            <a:r>
              <a:rPr baseline="-25000" lang="en-GB" sz="1600"/>
              <a:t>i+1</a:t>
            </a:r>
            <a:r>
              <a:rPr lang="en-GB" sz="1600"/>
              <a:t> ∈ E(G) - E(C)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E(C) = E(C) ∪ {e</a:t>
            </a:r>
            <a:r>
              <a:rPr baseline="-25000" lang="en-GB" sz="1600"/>
              <a:t>i</a:t>
            </a:r>
            <a:r>
              <a:rPr lang="en-GB" sz="1600"/>
              <a:t>}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i = i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până când v</a:t>
            </a:r>
            <a:r>
              <a:rPr b="0" baseline="-25000" lang="en-GB"/>
              <a:t>i</a:t>
            </a:r>
            <a:r>
              <a:rPr b="0" lang="en-GB"/>
              <a:t> = x</a:t>
            </a:r>
            <a:endParaRPr b="0"/>
          </a:p>
        </p:txBody>
      </p:sp>
      <p:sp>
        <p:nvSpPr>
          <p:cNvPr id="216" name="Google Shape;216;p18"/>
          <p:cNvSpPr/>
          <p:nvPr/>
        </p:nvSpPr>
        <p:spPr>
          <a:xfrm>
            <a:off x="7193150" y="17328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i+1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80313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4311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8"/>
          <p:cNvCxnSpPr>
            <a:stCxn id="216" idx="5"/>
            <a:endCxn id="217" idx="1"/>
          </p:cNvCxnSpPr>
          <p:nvPr/>
        </p:nvCxnSpPr>
        <p:spPr>
          <a:xfrm>
            <a:off x="7534230" y="2073930"/>
            <a:ext cx="555600" cy="708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8"/>
          <p:cNvSpPr/>
          <p:nvPr/>
        </p:nvSpPr>
        <p:spPr>
          <a:xfrm>
            <a:off x="6837825" y="2916900"/>
            <a:ext cx="1199925" cy="272875"/>
          </a:xfrm>
          <a:custGeom>
            <a:rect b="b" l="l" r="r" t="t"/>
            <a:pathLst>
              <a:path extrusionOk="0" h="10915" w="47997">
                <a:moveTo>
                  <a:pt x="0" y="890"/>
                </a:moveTo>
                <a:cubicBezTo>
                  <a:pt x="1079" y="2059"/>
                  <a:pt x="3910" y="7317"/>
                  <a:pt x="6472" y="7901"/>
                </a:cubicBezTo>
                <a:cubicBezTo>
                  <a:pt x="9034" y="8485"/>
                  <a:pt x="11955" y="3901"/>
                  <a:pt x="15370" y="4395"/>
                </a:cubicBezTo>
                <a:cubicBezTo>
                  <a:pt x="18786" y="4889"/>
                  <a:pt x="23100" y="11541"/>
                  <a:pt x="26965" y="10867"/>
                </a:cubicBezTo>
                <a:cubicBezTo>
                  <a:pt x="30830" y="10193"/>
                  <a:pt x="35054" y="1743"/>
                  <a:pt x="38559" y="350"/>
                </a:cubicBezTo>
                <a:cubicBezTo>
                  <a:pt x="42064" y="-1043"/>
                  <a:pt x="46424" y="2148"/>
                  <a:pt x="47997" y="250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7760114" y="2073925"/>
            <a:ext cx="3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- Algoritm de determinare a unui ciclu care conține x: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i = 1, v</a:t>
            </a:r>
            <a:r>
              <a:rPr b="0" baseline="-25000" lang="en-GB"/>
              <a:t>1</a:t>
            </a:r>
            <a:r>
              <a:rPr b="0" lang="en-GB"/>
              <a:t> = x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E(C) = ∅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Repetă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selectează e</a:t>
            </a:r>
            <a:r>
              <a:rPr baseline="-25000" lang="en-GB" sz="1600"/>
              <a:t>i</a:t>
            </a:r>
            <a:r>
              <a:rPr lang="en-GB" sz="1600"/>
              <a:t> = v</a:t>
            </a:r>
            <a:r>
              <a:rPr baseline="-25000" lang="en-GB" sz="1600"/>
              <a:t>i</a:t>
            </a:r>
            <a:r>
              <a:rPr lang="en-GB" sz="1600"/>
              <a:t>v</a:t>
            </a:r>
            <a:r>
              <a:rPr baseline="-25000" lang="en-GB" sz="1600"/>
              <a:t>i+1</a:t>
            </a:r>
            <a:r>
              <a:rPr lang="en-GB" sz="1600"/>
              <a:t> ∈ E(G) - E(C)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E(C) = E(C) ∪ {e</a:t>
            </a:r>
            <a:r>
              <a:rPr baseline="-25000" lang="en-GB" sz="1600"/>
              <a:t>i</a:t>
            </a:r>
            <a:r>
              <a:rPr lang="en-GB" sz="1600"/>
              <a:t>}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i = i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până când v</a:t>
            </a:r>
            <a:r>
              <a:rPr b="0" baseline="-25000" lang="en-GB"/>
              <a:t>i</a:t>
            </a:r>
            <a:r>
              <a:rPr b="0" lang="en-GB"/>
              <a:t> = x</a:t>
            </a:r>
            <a:endParaRPr b="0"/>
          </a:p>
        </p:txBody>
      </p:sp>
      <p:sp>
        <p:nvSpPr>
          <p:cNvPr id="228" name="Google Shape;228;p19"/>
          <p:cNvSpPr/>
          <p:nvPr/>
        </p:nvSpPr>
        <p:spPr>
          <a:xfrm>
            <a:off x="7193150" y="17328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i+1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80313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431150" y="2723450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9"/>
          <p:cNvCxnSpPr>
            <a:stCxn id="228" idx="5"/>
            <a:endCxn id="229" idx="1"/>
          </p:cNvCxnSpPr>
          <p:nvPr/>
        </p:nvCxnSpPr>
        <p:spPr>
          <a:xfrm>
            <a:off x="7534230" y="2073930"/>
            <a:ext cx="555600" cy="708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9"/>
          <p:cNvSpPr/>
          <p:nvPr/>
        </p:nvSpPr>
        <p:spPr>
          <a:xfrm>
            <a:off x="6837825" y="2916900"/>
            <a:ext cx="1199925" cy="272875"/>
          </a:xfrm>
          <a:custGeom>
            <a:rect b="b" l="l" r="r" t="t"/>
            <a:pathLst>
              <a:path extrusionOk="0" h="10915" w="47997">
                <a:moveTo>
                  <a:pt x="0" y="890"/>
                </a:moveTo>
                <a:cubicBezTo>
                  <a:pt x="1079" y="2059"/>
                  <a:pt x="3910" y="7317"/>
                  <a:pt x="6472" y="7901"/>
                </a:cubicBezTo>
                <a:cubicBezTo>
                  <a:pt x="9034" y="8485"/>
                  <a:pt x="11955" y="3901"/>
                  <a:pt x="15370" y="4395"/>
                </a:cubicBezTo>
                <a:cubicBezTo>
                  <a:pt x="18786" y="4889"/>
                  <a:pt x="23100" y="11541"/>
                  <a:pt x="26965" y="10867"/>
                </a:cubicBezTo>
                <a:cubicBezTo>
                  <a:pt x="30830" y="10193"/>
                  <a:pt x="35054" y="1743"/>
                  <a:pt x="38559" y="350"/>
                </a:cubicBezTo>
                <a:cubicBezTo>
                  <a:pt x="42064" y="-1043"/>
                  <a:pt x="46424" y="2148"/>
                  <a:pt x="47997" y="250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7760114" y="2073925"/>
            <a:ext cx="3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36113" y="4032050"/>
            <a:ext cx="297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Algoritmul este corect deoarece: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- Algoritm de determinare a unui ciclu care conține x: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i = 1, v</a:t>
            </a:r>
            <a:r>
              <a:rPr b="0" baseline="-25000" lang="en-GB"/>
              <a:t>1</a:t>
            </a:r>
            <a:r>
              <a:rPr b="0" lang="en-GB"/>
              <a:t> = x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E(C) = ∅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Repetă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selectează e</a:t>
            </a:r>
            <a:r>
              <a:rPr baseline="-25000" lang="en-GB" sz="1600"/>
              <a:t>i</a:t>
            </a:r>
            <a:r>
              <a:rPr lang="en-GB" sz="1600"/>
              <a:t> = v</a:t>
            </a:r>
            <a:r>
              <a:rPr baseline="-25000" lang="en-GB" sz="1600"/>
              <a:t>i</a:t>
            </a:r>
            <a:r>
              <a:rPr lang="en-GB" sz="1600"/>
              <a:t>v</a:t>
            </a:r>
            <a:r>
              <a:rPr baseline="-25000" lang="en-GB" sz="1600"/>
              <a:t>i+1</a:t>
            </a:r>
            <a:r>
              <a:rPr lang="en-GB" sz="1600"/>
              <a:t> ∈ E(G) - E(C)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E(C) = E(C) ∪ {e</a:t>
            </a:r>
            <a:r>
              <a:rPr baseline="-25000" lang="en-GB" sz="1600"/>
              <a:t>i</a:t>
            </a:r>
            <a:r>
              <a:rPr lang="en-GB" sz="1600"/>
              <a:t>}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i = i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până când v</a:t>
            </a:r>
            <a:r>
              <a:rPr b="0" baseline="-25000" lang="en-GB"/>
              <a:t>i</a:t>
            </a:r>
            <a:r>
              <a:rPr b="0" lang="en-GB"/>
              <a:t> = x</a:t>
            </a:r>
            <a:endParaRPr b="0"/>
          </a:p>
        </p:txBody>
      </p:sp>
      <p:sp>
        <p:nvSpPr>
          <p:cNvPr id="241" name="Google Shape;241;p20"/>
          <p:cNvSpPr txBox="1"/>
          <p:nvPr/>
        </p:nvSpPr>
        <p:spPr>
          <a:xfrm>
            <a:off x="5487302" y="2216725"/>
            <a:ext cx="3345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Dacă 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 ≠ x, atunci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este impar.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Din ipoteză,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este par, deci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G-E(C)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este impar deci 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G-E(C)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&gt; 0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⇒ muchia e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există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 rot="10800000">
            <a:off x="4617825" y="2426825"/>
            <a:ext cx="80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48" name="Google Shape;248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- Algoritm de determinare a unui ciclu care conține x: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i = 1, v</a:t>
            </a:r>
            <a:r>
              <a:rPr b="0" baseline="-25000" lang="en-GB"/>
              <a:t>1</a:t>
            </a:r>
            <a:r>
              <a:rPr b="0" lang="en-GB"/>
              <a:t> = x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E(C) = ∅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Repetă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selectează e</a:t>
            </a:r>
            <a:r>
              <a:rPr baseline="-25000" lang="en-GB" sz="1600"/>
              <a:t>i</a:t>
            </a:r>
            <a:r>
              <a:rPr lang="en-GB" sz="1600"/>
              <a:t> = v</a:t>
            </a:r>
            <a:r>
              <a:rPr baseline="-25000" lang="en-GB" sz="1600"/>
              <a:t>i</a:t>
            </a:r>
            <a:r>
              <a:rPr lang="en-GB" sz="1600"/>
              <a:t>v</a:t>
            </a:r>
            <a:r>
              <a:rPr baseline="-25000" lang="en-GB" sz="1600"/>
              <a:t>i+1</a:t>
            </a:r>
            <a:r>
              <a:rPr lang="en-GB" sz="1600"/>
              <a:t> ∈ E(G) - E(C)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E(C) = E(C) ∪ {e</a:t>
            </a:r>
            <a:r>
              <a:rPr baseline="-25000" lang="en-GB" sz="1600"/>
              <a:t>i</a:t>
            </a:r>
            <a:r>
              <a:rPr lang="en-GB" sz="1600"/>
              <a:t>}</a:t>
            </a:r>
            <a:endParaRPr sz="16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i = i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până când v</a:t>
            </a:r>
            <a:r>
              <a:rPr b="0" baseline="-25000" lang="en-GB"/>
              <a:t>i</a:t>
            </a:r>
            <a:r>
              <a:rPr b="0" lang="en-GB"/>
              <a:t> = x</a:t>
            </a:r>
            <a:endParaRPr b="0"/>
          </a:p>
        </p:txBody>
      </p:sp>
      <p:sp>
        <p:nvSpPr>
          <p:cNvPr id="249" name="Google Shape;249;p21"/>
          <p:cNvSpPr txBox="1"/>
          <p:nvPr/>
        </p:nvSpPr>
        <p:spPr>
          <a:xfrm>
            <a:off x="5487302" y="2216725"/>
            <a:ext cx="3345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Dacă 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 ≠ x, atunci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este impar.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Din ipoteză,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este par, deci d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G-E(C)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) &gt; 0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⇒ muchia e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există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 rot="10800000">
            <a:off x="4617825" y="2426825"/>
            <a:ext cx="80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21"/>
          <p:cNvSpPr txBox="1"/>
          <p:nvPr/>
        </p:nvSpPr>
        <p:spPr>
          <a:xfrm>
            <a:off x="1405002" y="3948450"/>
            <a:ext cx="3345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|E(G)| &lt; ∞, deci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algoritmul se termină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1" baseline="-25000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GB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 ajunge egal cu x)</a:t>
            </a:r>
            <a:endParaRPr b="1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 rot="10800000">
            <a:off x="2278500" y="3651050"/>
            <a:ext cx="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58" name="Google Shape;258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22"/>
          <p:cNvCxnSpPr>
            <a:stCxn id="259" idx="6"/>
            <a:endCxn id="260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2"/>
          <p:cNvCxnSpPr>
            <a:stCxn id="260" idx="6"/>
            <a:endCxn id="264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2"/>
          <p:cNvCxnSpPr>
            <a:stCxn id="260" idx="3"/>
            <a:endCxn id="261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2"/>
          <p:cNvCxnSpPr>
            <a:stCxn id="259" idx="5"/>
            <a:endCxn id="263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2"/>
          <p:cNvCxnSpPr>
            <a:stCxn id="260" idx="4"/>
            <a:endCxn id="262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2"/>
          <p:cNvCxnSpPr>
            <a:stCxn id="264" idx="4"/>
            <a:endCxn id="263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2"/>
          <p:cNvCxnSpPr>
            <a:stCxn id="261" idx="6"/>
            <a:endCxn id="262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22"/>
          <p:cNvCxnSpPr>
            <a:stCxn id="262" idx="6"/>
            <a:endCxn id="263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22"/>
          <p:cNvCxnSpPr>
            <a:stCxn id="262" idx="5"/>
            <a:endCxn id="265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22"/>
          <p:cNvCxnSpPr>
            <a:stCxn id="263" idx="3"/>
            <a:endCxn id="265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22"/>
          <p:cNvCxnSpPr>
            <a:stCxn id="261" idx="3"/>
            <a:endCxn id="267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22"/>
          <p:cNvCxnSpPr>
            <a:stCxn id="261" idx="5"/>
            <a:endCxn id="266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22"/>
          <p:cNvCxnSpPr>
            <a:stCxn id="267" idx="6"/>
            <a:endCxn id="266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2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22"/>
          <p:cNvCxnSpPr>
            <a:stCxn id="281" idx="6"/>
            <a:endCxn id="282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3"/>
          <p:cNvCxnSpPr>
            <a:stCxn id="290" idx="6"/>
            <a:endCxn id="291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23"/>
          <p:cNvCxnSpPr>
            <a:stCxn id="291" idx="6"/>
            <a:endCxn id="295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23"/>
          <p:cNvCxnSpPr>
            <a:stCxn id="291" idx="3"/>
            <a:endCxn id="292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23"/>
          <p:cNvCxnSpPr>
            <a:stCxn id="290" idx="5"/>
            <a:endCxn id="294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3"/>
          <p:cNvCxnSpPr>
            <a:stCxn id="291" idx="4"/>
            <a:endCxn id="293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23"/>
          <p:cNvCxnSpPr>
            <a:stCxn id="295" idx="4"/>
            <a:endCxn id="294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23"/>
          <p:cNvCxnSpPr>
            <a:stCxn id="292" idx="6"/>
            <a:endCxn id="293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23"/>
          <p:cNvCxnSpPr>
            <a:stCxn id="293" idx="6"/>
            <a:endCxn id="294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23"/>
          <p:cNvCxnSpPr>
            <a:stCxn id="293" idx="5"/>
            <a:endCxn id="296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23"/>
          <p:cNvCxnSpPr>
            <a:stCxn id="294" idx="3"/>
            <a:endCxn id="296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23"/>
          <p:cNvCxnSpPr>
            <a:stCxn id="292" idx="3"/>
            <a:endCxn id="298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3"/>
          <p:cNvCxnSpPr>
            <a:stCxn id="292" idx="5"/>
            <a:endCxn id="297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3"/>
          <p:cNvCxnSpPr>
            <a:stCxn id="298" idx="6"/>
            <a:endCxn id="297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3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3"/>
          <p:cNvCxnSpPr>
            <a:stCxn id="312" idx="6"/>
            <a:endCxn id="313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3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23"/>
          <p:cNvCxnSpPr>
            <a:stCxn id="313" idx="5"/>
            <a:endCxn id="315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322" name="Google Shape;322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24"/>
          <p:cNvCxnSpPr>
            <a:stCxn id="323" idx="6"/>
            <a:endCxn id="324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24"/>
          <p:cNvCxnSpPr>
            <a:stCxn id="324" idx="6"/>
            <a:endCxn id="328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4"/>
          <p:cNvCxnSpPr>
            <a:stCxn id="324" idx="3"/>
            <a:endCxn id="325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4"/>
          <p:cNvCxnSpPr>
            <a:stCxn id="323" idx="5"/>
            <a:endCxn id="327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4"/>
          <p:cNvCxnSpPr>
            <a:stCxn id="324" idx="4"/>
            <a:endCxn id="326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4"/>
          <p:cNvCxnSpPr>
            <a:stCxn id="328" idx="4"/>
            <a:endCxn id="327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4"/>
          <p:cNvCxnSpPr>
            <a:stCxn id="325" idx="6"/>
            <a:endCxn id="326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4"/>
          <p:cNvCxnSpPr>
            <a:stCxn id="326" idx="6"/>
            <a:endCxn id="327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24"/>
          <p:cNvCxnSpPr>
            <a:stCxn id="326" idx="5"/>
            <a:endCxn id="329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24"/>
          <p:cNvCxnSpPr>
            <a:stCxn id="327" idx="3"/>
            <a:endCxn id="329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4"/>
          <p:cNvCxnSpPr>
            <a:stCxn id="325" idx="3"/>
            <a:endCxn id="331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24"/>
          <p:cNvCxnSpPr>
            <a:stCxn id="325" idx="5"/>
            <a:endCxn id="330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24"/>
          <p:cNvCxnSpPr>
            <a:stCxn id="331" idx="6"/>
            <a:endCxn id="330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4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/>
          <p:cNvCxnSpPr>
            <a:stCxn id="345" idx="6"/>
            <a:endCxn id="346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4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24"/>
          <p:cNvCxnSpPr>
            <a:stCxn id="346" idx="5"/>
            <a:endCxn id="348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24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4"/>
          <p:cNvCxnSpPr>
            <a:stCxn id="348" idx="4"/>
            <a:endCxn id="350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357" name="Google Shape;357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25"/>
          <p:cNvCxnSpPr>
            <a:stCxn id="358" idx="6"/>
            <a:endCxn id="359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5"/>
          <p:cNvCxnSpPr>
            <a:stCxn id="359" idx="6"/>
            <a:endCxn id="363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25"/>
          <p:cNvCxnSpPr>
            <a:stCxn id="359" idx="3"/>
            <a:endCxn id="360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5"/>
          <p:cNvCxnSpPr>
            <a:stCxn id="358" idx="5"/>
            <a:endCxn id="362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5"/>
          <p:cNvCxnSpPr>
            <a:stCxn id="359" idx="4"/>
            <a:endCxn id="361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25"/>
          <p:cNvCxnSpPr>
            <a:stCxn id="363" idx="4"/>
            <a:endCxn id="362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5"/>
          <p:cNvCxnSpPr>
            <a:stCxn id="360" idx="6"/>
            <a:endCxn id="361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5"/>
          <p:cNvCxnSpPr>
            <a:stCxn id="361" idx="6"/>
            <a:endCxn id="362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5"/>
          <p:cNvCxnSpPr>
            <a:stCxn id="361" idx="5"/>
            <a:endCxn id="364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5"/>
          <p:cNvCxnSpPr>
            <a:stCxn id="362" idx="3"/>
            <a:endCxn id="364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5"/>
          <p:cNvCxnSpPr>
            <a:stCxn id="360" idx="3"/>
            <a:endCxn id="366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5"/>
          <p:cNvCxnSpPr>
            <a:stCxn id="360" idx="5"/>
            <a:endCxn id="365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5"/>
          <p:cNvCxnSpPr>
            <a:stCxn id="366" idx="6"/>
            <a:endCxn id="365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25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25"/>
          <p:cNvCxnSpPr>
            <a:stCxn id="380" idx="6"/>
            <a:endCxn id="381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5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25"/>
          <p:cNvCxnSpPr>
            <a:stCxn id="381" idx="5"/>
            <a:endCxn id="383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5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25"/>
          <p:cNvCxnSpPr>
            <a:stCxn id="383" idx="4"/>
            <a:endCxn id="385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25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25"/>
          <p:cNvCxnSpPr>
            <a:stCxn id="387" idx="6"/>
            <a:endCxn id="385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394" name="Google Shape;394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26"/>
          <p:cNvCxnSpPr>
            <a:stCxn id="395" idx="6"/>
            <a:endCxn id="396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26"/>
          <p:cNvCxnSpPr>
            <a:stCxn id="396" idx="6"/>
            <a:endCxn id="400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6"/>
          <p:cNvCxnSpPr>
            <a:stCxn id="396" idx="3"/>
            <a:endCxn id="397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26"/>
          <p:cNvCxnSpPr>
            <a:stCxn id="395" idx="5"/>
            <a:endCxn id="399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26"/>
          <p:cNvCxnSpPr>
            <a:stCxn id="396" idx="4"/>
            <a:endCxn id="398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26"/>
          <p:cNvCxnSpPr>
            <a:stCxn id="400" idx="4"/>
            <a:endCxn id="399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26"/>
          <p:cNvCxnSpPr>
            <a:stCxn id="397" idx="6"/>
            <a:endCxn id="398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26"/>
          <p:cNvCxnSpPr>
            <a:stCxn id="398" idx="6"/>
            <a:endCxn id="399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26"/>
          <p:cNvCxnSpPr>
            <a:stCxn id="398" idx="5"/>
            <a:endCxn id="401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26"/>
          <p:cNvCxnSpPr>
            <a:stCxn id="399" idx="3"/>
            <a:endCxn id="401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26"/>
          <p:cNvCxnSpPr>
            <a:stCxn id="397" idx="3"/>
            <a:endCxn id="403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26"/>
          <p:cNvCxnSpPr>
            <a:stCxn id="397" idx="5"/>
            <a:endCxn id="402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26"/>
          <p:cNvCxnSpPr>
            <a:stCxn id="403" idx="6"/>
            <a:endCxn id="402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6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26"/>
          <p:cNvCxnSpPr>
            <a:stCxn id="417" idx="6"/>
            <a:endCxn id="418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26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26"/>
          <p:cNvCxnSpPr>
            <a:stCxn id="418" idx="5"/>
            <a:endCxn id="420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6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26"/>
          <p:cNvCxnSpPr>
            <a:stCxn id="420" idx="4"/>
            <a:endCxn id="422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26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26"/>
          <p:cNvCxnSpPr>
            <a:stCxn id="424" idx="6"/>
            <a:endCxn id="422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26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26"/>
          <p:cNvCxnSpPr>
            <a:stCxn id="424" idx="2"/>
            <a:endCxn id="426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433" name="Google Shape;433;p27"/>
          <p:cNvSpPr txBox="1"/>
          <p:nvPr>
            <p:ph idx="1" type="body"/>
          </p:nvPr>
        </p:nvSpPr>
        <p:spPr>
          <a:xfrm>
            <a:off x="311700" y="83107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27"/>
          <p:cNvCxnSpPr>
            <a:stCxn id="434" idx="6"/>
            <a:endCxn id="435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27"/>
          <p:cNvCxnSpPr>
            <a:stCxn id="435" idx="6"/>
            <a:endCxn id="439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27"/>
          <p:cNvCxnSpPr>
            <a:stCxn id="435" idx="3"/>
            <a:endCxn id="436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27"/>
          <p:cNvCxnSpPr>
            <a:stCxn id="434" idx="5"/>
            <a:endCxn id="438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27"/>
          <p:cNvCxnSpPr>
            <a:stCxn id="435" idx="4"/>
            <a:endCxn id="437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27"/>
          <p:cNvCxnSpPr>
            <a:stCxn id="439" idx="4"/>
            <a:endCxn id="438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27"/>
          <p:cNvCxnSpPr>
            <a:stCxn id="436" idx="6"/>
            <a:endCxn id="437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27"/>
          <p:cNvCxnSpPr>
            <a:stCxn id="437" idx="6"/>
            <a:endCxn id="438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27"/>
          <p:cNvCxnSpPr>
            <a:stCxn id="437" idx="5"/>
            <a:endCxn id="440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27"/>
          <p:cNvCxnSpPr>
            <a:stCxn id="438" idx="3"/>
            <a:endCxn id="440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27"/>
          <p:cNvCxnSpPr>
            <a:stCxn id="436" idx="3"/>
            <a:endCxn id="442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27"/>
          <p:cNvCxnSpPr>
            <a:stCxn id="436" idx="5"/>
            <a:endCxn id="441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27"/>
          <p:cNvCxnSpPr>
            <a:stCxn id="442" idx="6"/>
            <a:endCxn id="441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7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27"/>
          <p:cNvCxnSpPr>
            <a:stCxn id="456" idx="6"/>
            <a:endCxn id="457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27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27"/>
          <p:cNvCxnSpPr>
            <a:stCxn id="457" idx="5"/>
            <a:endCxn id="459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7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27"/>
          <p:cNvCxnSpPr>
            <a:stCxn id="459" idx="4"/>
            <a:endCxn id="461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7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p27"/>
          <p:cNvCxnSpPr>
            <a:stCxn id="463" idx="6"/>
            <a:endCxn id="461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7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27"/>
          <p:cNvCxnSpPr>
            <a:stCxn id="463" idx="2"/>
            <a:endCxn id="465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27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27"/>
          <p:cNvCxnSpPr>
            <a:stCxn id="465" idx="0"/>
            <a:endCxn id="467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474" name="Google Shape;474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x = 1</a:t>
            </a:r>
            <a:endParaRPr/>
          </a:p>
        </p:txBody>
      </p:sp>
      <p:sp>
        <p:nvSpPr>
          <p:cNvPr id="475" name="Google Shape;475;p28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8"/>
          <p:cNvCxnSpPr>
            <a:stCxn id="475" idx="6"/>
            <a:endCxn id="476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28"/>
          <p:cNvCxnSpPr>
            <a:stCxn id="476" idx="6"/>
            <a:endCxn id="480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28"/>
          <p:cNvCxnSpPr>
            <a:stCxn id="476" idx="3"/>
            <a:endCxn id="477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28"/>
          <p:cNvCxnSpPr>
            <a:stCxn id="475" idx="5"/>
            <a:endCxn id="479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28"/>
          <p:cNvCxnSpPr>
            <a:stCxn id="476" idx="4"/>
            <a:endCxn id="478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8"/>
          <p:cNvCxnSpPr>
            <a:stCxn id="480" idx="4"/>
            <a:endCxn id="479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28"/>
          <p:cNvCxnSpPr>
            <a:stCxn id="477" idx="6"/>
            <a:endCxn id="478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28"/>
          <p:cNvCxnSpPr>
            <a:stCxn id="478" idx="6"/>
            <a:endCxn id="479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28"/>
          <p:cNvCxnSpPr>
            <a:stCxn id="478" idx="5"/>
            <a:endCxn id="481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28"/>
          <p:cNvCxnSpPr>
            <a:stCxn id="479" idx="3"/>
            <a:endCxn id="481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28"/>
          <p:cNvCxnSpPr>
            <a:stCxn id="477" idx="3"/>
            <a:endCxn id="483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28"/>
          <p:cNvCxnSpPr>
            <a:stCxn id="477" idx="5"/>
            <a:endCxn id="482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28"/>
          <p:cNvCxnSpPr>
            <a:stCxn id="483" idx="6"/>
            <a:endCxn id="482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28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28"/>
          <p:cNvCxnSpPr>
            <a:stCxn id="497" idx="6"/>
            <a:endCxn id="498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28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28"/>
          <p:cNvCxnSpPr>
            <a:stCxn id="498" idx="5"/>
            <a:endCxn id="500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8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28"/>
          <p:cNvCxnSpPr>
            <a:stCxn id="500" idx="4"/>
            <a:endCxn id="502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28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28"/>
          <p:cNvCxnSpPr>
            <a:stCxn id="504" idx="6"/>
            <a:endCxn id="502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8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28"/>
          <p:cNvCxnSpPr>
            <a:stCxn id="504" idx="2"/>
            <a:endCxn id="506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28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28"/>
          <p:cNvCxnSpPr>
            <a:stCxn id="506" idx="0"/>
            <a:endCxn id="508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28"/>
          <p:cNvCxnSpPr>
            <a:stCxn id="508" idx="7"/>
            <a:endCxn id="497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516" name="Google Shape;516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Euler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(</a:t>
            </a:r>
            <a:r>
              <a:rPr lang="en-GB">
                <a:solidFill>
                  <a:srgbClr val="CC0000"/>
                </a:solidFill>
              </a:rPr>
              <a:t>multi</a:t>
            </a:r>
            <a:r>
              <a:rPr b="0" lang="en-GB"/>
              <a:t>)</a:t>
            </a:r>
            <a:r>
              <a:rPr lang="en-GB"/>
              <a:t>graf </a:t>
            </a:r>
            <a:r>
              <a:rPr b="0" lang="en-GB"/>
              <a:t>neorientat, conex, cu E ≠ ∅.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G este eulerian  ⇔  </a:t>
            </a:r>
            <a:r>
              <a:rPr lang="en-GB"/>
              <a:t>orice vârf din G are grad par si toate muchiile sunt in aceiasi componenta conexa.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22" name="Google Shape;522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Determinarea unui ciclu eulerian într-un graf conex </a:t>
            </a:r>
            <a:r>
              <a:rPr b="0" lang="en-GB"/>
              <a:t>(sau un graf conex + vârfuri izolate) </a:t>
            </a:r>
            <a:r>
              <a:rPr lang="en-GB"/>
              <a:t>cu toate vârfurile de grad par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bazat pe ideea demonstrației teoremei lui Euler - </a:t>
            </a:r>
            <a:r>
              <a:rPr lang="en-GB"/>
              <a:t>fuziune de cicluri (succesiv)</a:t>
            </a:r>
            <a:endParaRPr/>
          </a:p>
        </p:txBody>
      </p:sp>
      <p:pic>
        <p:nvPicPr>
          <p:cNvPr id="523" name="Google Shape;5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871" y="2571750"/>
            <a:ext cx="3834249" cy="23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35" name="Google Shape;535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1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alege v ∈ V arbitrar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 un ciclu în G care începe cu v (cu algoritmul din Lemă)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41" name="Google Shape;541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1</a:t>
            </a:r>
            <a:endParaRPr b="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alege v ∈ V arbitrar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 un ciclu în G care începe cu v (cu algoritmul din Lemă)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cât timp |E(C)| &lt; |E(G)| execută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selectează v ∈ V(C) cu d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G-E(C)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 &gt; 0 (în care sunt indicate muchii care nu aparțin lui C)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47" name="Google Shape;547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1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alege v ∈ V arbitrar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 un ciclu în G care începe cu v (cu algoritmul din Lemă)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cât timp |E(C)| &lt; |E(G)| execută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selectează v ∈ V(C) cu d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G-E(C)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 &gt; 0 (în care sunt indicate muchii care nu aparțin lui C)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C’ un ciclu în G - E(C) care începe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53" name="Google Shape;553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1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alege v ∈ V arbitrar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 un ciclu în G care începe cu v (cu algoritmul din Lemă)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cât timp |E(C)| &lt; |E(G)| execută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selectează v ∈ V(C) cu d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G-E(C)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 &gt; 0 (în care sunt indicate muchii care nu aparțin lui C)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C’ un ciclu în G - E(C) care începe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 = ciclul obținut prin fuziunea ciclurilor C și C’ în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59" name="Google Shape;559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0</a:t>
            </a:r>
            <a:r>
              <a:rPr b="0" lang="en-GB"/>
              <a:t> - verificare condiții (conex + vf. izolate, grade pare)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Pasul 1</a:t>
            </a:r>
            <a:endParaRPr b="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alege v ∈ V arbitrar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 un ciclu în G care începe cu v (cu algoritmul din Lemă)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cât timp |E(C)| &lt; |E(G)| execută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selectează v ∈ V(C) cu d</a:t>
            </a:r>
            <a:r>
              <a:rPr baseline="-25000" lang="en-GB">
                <a:latin typeface="Roboto Mono"/>
                <a:ea typeface="Roboto Mono"/>
                <a:cs typeface="Roboto Mono"/>
                <a:sym typeface="Roboto Mono"/>
              </a:rPr>
              <a:t>G-E(C)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 &gt; 0 (în care sunt indicate muchii care nu aparțin lui C)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construiește C’ un ciclu în G - E(C) care începe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○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 = ciclul obținut prin fuziunea ciclurilor C și C’ în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lang="en-GB"/>
              <a:t>scrie C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37"/>
          <p:cNvCxnSpPr>
            <a:stCxn id="565" idx="6"/>
            <a:endCxn id="566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37"/>
          <p:cNvCxnSpPr>
            <a:stCxn id="566" idx="6"/>
            <a:endCxn id="570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7"/>
          <p:cNvCxnSpPr>
            <a:stCxn id="566" idx="3"/>
            <a:endCxn id="567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7"/>
          <p:cNvCxnSpPr>
            <a:stCxn id="565" idx="5"/>
            <a:endCxn id="569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7"/>
          <p:cNvCxnSpPr>
            <a:stCxn id="566" idx="4"/>
            <a:endCxn id="568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7"/>
          <p:cNvCxnSpPr>
            <a:stCxn id="570" idx="4"/>
            <a:endCxn id="569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37"/>
          <p:cNvCxnSpPr>
            <a:stCxn id="567" idx="6"/>
            <a:endCxn id="568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37"/>
          <p:cNvCxnSpPr>
            <a:stCxn id="568" idx="6"/>
            <a:endCxn id="569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37"/>
          <p:cNvCxnSpPr>
            <a:stCxn id="568" idx="5"/>
            <a:endCxn id="571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37"/>
          <p:cNvCxnSpPr>
            <a:stCxn id="569" idx="3"/>
            <a:endCxn id="571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37"/>
          <p:cNvCxnSpPr>
            <a:stCxn id="567" idx="3"/>
            <a:endCxn id="573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37"/>
          <p:cNvCxnSpPr>
            <a:stCxn id="567" idx="5"/>
            <a:endCxn id="572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37"/>
          <p:cNvCxnSpPr>
            <a:stCxn id="573" idx="6"/>
            <a:endCxn id="572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37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37"/>
          <p:cNvCxnSpPr>
            <a:stCxn id="587" idx="6"/>
            <a:endCxn id="588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37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37"/>
          <p:cNvCxnSpPr>
            <a:stCxn id="588" idx="5"/>
            <a:endCxn id="590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37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37"/>
          <p:cNvCxnSpPr>
            <a:stCxn id="590" idx="4"/>
            <a:endCxn id="592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37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" name="Google Shape;595;p37"/>
          <p:cNvCxnSpPr>
            <a:stCxn id="594" idx="6"/>
            <a:endCxn id="592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37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37"/>
          <p:cNvCxnSpPr>
            <a:stCxn id="594" idx="2"/>
            <a:endCxn id="596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8" name="Google Shape;598;p37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37"/>
          <p:cNvCxnSpPr>
            <a:stCxn id="596" idx="0"/>
            <a:endCxn id="598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37"/>
          <p:cNvCxnSpPr>
            <a:stCxn id="598" idx="7"/>
            <a:endCxn id="587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37"/>
          <p:cNvSpPr txBox="1"/>
          <p:nvPr/>
        </p:nvSpPr>
        <p:spPr>
          <a:xfrm>
            <a:off x="6311751" y="3984175"/>
            <a:ext cx="21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3, 4, 2, 6, 5,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607" name="Google Shape;607;p38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38"/>
          <p:cNvCxnSpPr>
            <a:stCxn id="607" idx="6"/>
            <a:endCxn id="608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38"/>
          <p:cNvCxnSpPr>
            <a:stCxn id="608" idx="6"/>
            <a:endCxn id="612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38"/>
          <p:cNvCxnSpPr>
            <a:stCxn id="608" idx="3"/>
            <a:endCxn id="609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38"/>
          <p:cNvCxnSpPr>
            <a:stCxn id="607" idx="5"/>
            <a:endCxn id="611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38"/>
          <p:cNvCxnSpPr>
            <a:stCxn id="608" idx="4"/>
            <a:endCxn id="610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8"/>
          <p:cNvCxnSpPr>
            <a:stCxn id="612" idx="4"/>
            <a:endCxn id="611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8"/>
          <p:cNvCxnSpPr>
            <a:stCxn id="609" idx="6"/>
            <a:endCxn id="610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8"/>
          <p:cNvCxnSpPr>
            <a:stCxn id="610" idx="6"/>
            <a:endCxn id="611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8"/>
          <p:cNvCxnSpPr>
            <a:stCxn id="610" idx="5"/>
            <a:endCxn id="613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38"/>
          <p:cNvCxnSpPr>
            <a:stCxn id="611" idx="3"/>
            <a:endCxn id="613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38"/>
          <p:cNvCxnSpPr>
            <a:stCxn id="609" idx="3"/>
            <a:endCxn id="615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8"/>
          <p:cNvCxnSpPr>
            <a:stCxn id="609" idx="5"/>
            <a:endCxn id="614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8"/>
          <p:cNvCxnSpPr>
            <a:stCxn id="615" idx="6"/>
            <a:endCxn id="614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38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38"/>
          <p:cNvCxnSpPr>
            <a:stCxn id="629" idx="6"/>
            <a:endCxn id="630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38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38"/>
          <p:cNvCxnSpPr>
            <a:stCxn id="630" idx="5"/>
            <a:endCxn id="632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38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38"/>
          <p:cNvCxnSpPr>
            <a:stCxn id="632" idx="4"/>
            <a:endCxn id="634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8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38"/>
          <p:cNvCxnSpPr>
            <a:stCxn id="636" idx="6"/>
            <a:endCxn id="634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38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38"/>
          <p:cNvCxnSpPr>
            <a:stCxn id="636" idx="2"/>
            <a:endCxn id="638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38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38"/>
          <p:cNvCxnSpPr>
            <a:stCxn id="638" idx="0"/>
            <a:endCxn id="640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8"/>
          <p:cNvCxnSpPr>
            <a:stCxn id="640" idx="7"/>
            <a:endCxn id="629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38"/>
          <p:cNvSpPr txBox="1"/>
          <p:nvPr/>
        </p:nvSpPr>
        <p:spPr>
          <a:xfrm>
            <a:off x="6540351" y="4212775"/>
            <a:ext cx="21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3, 4, 2, 6,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5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8"/>
          <p:cNvSpPr txBox="1"/>
          <p:nvPr/>
        </p:nvSpPr>
        <p:spPr>
          <a:xfrm>
            <a:off x="5322950" y="1020800"/>
            <a:ext cx="258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Alegem un vârf din C în care mai sunt incidente muchii,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exemplu v =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38"/>
          <p:cNvCxnSpPr/>
          <p:nvPr/>
        </p:nvCxnSpPr>
        <p:spPr>
          <a:xfrm>
            <a:off x="6228825" y="1867300"/>
            <a:ext cx="7410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651" name="Google Shape;651;p39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9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9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9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9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9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9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39"/>
          <p:cNvCxnSpPr>
            <a:stCxn id="651" idx="6"/>
            <a:endCxn id="652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39"/>
          <p:cNvCxnSpPr>
            <a:stCxn id="652" idx="6"/>
            <a:endCxn id="656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39"/>
          <p:cNvCxnSpPr>
            <a:stCxn id="652" idx="3"/>
            <a:endCxn id="653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39"/>
          <p:cNvCxnSpPr>
            <a:stCxn id="651" idx="5"/>
            <a:endCxn id="655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9"/>
          <p:cNvCxnSpPr>
            <a:stCxn id="652" idx="4"/>
            <a:endCxn id="654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39"/>
          <p:cNvCxnSpPr>
            <a:stCxn id="656" idx="4"/>
            <a:endCxn id="655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39"/>
          <p:cNvCxnSpPr>
            <a:stCxn id="653" idx="6"/>
            <a:endCxn id="654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39"/>
          <p:cNvCxnSpPr>
            <a:stCxn id="654" idx="6"/>
            <a:endCxn id="655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39"/>
          <p:cNvCxnSpPr>
            <a:stCxn id="654" idx="5"/>
            <a:endCxn id="657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p39"/>
          <p:cNvCxnSpPr>
            <a:stCxn id="655" idx="3"/>
            <a:endCxn id="657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39"/>
          <p:cNvCxnSpPr>
            <a:stCxn id="653" idx="3"/>
            <a:endCxn id="659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39"/>
          <p:cNvCxnSpPr>
            <a:stCxn id="653" idx="5"/>
            <a:endCxn id="658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39"/>
          <p:cNvCxnSpPr>
            <a:stCxn id="659" idx="6"/>
            <a:endCxn id="658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3" name="Google Shape;673;p39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p39"/>
          <p:cNvCxnSpPr>
            <a:stCxn id="673" idx="6"/>
            <a:endCxn id="674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39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39"/>
          <p:cNvCxnSpPr>
            <a:stCxn id="674" idx="5"/>
            <a:endCxn id="676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39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p39"/>
          <p:cNvCxnSpPr>
            <a:stCxn id="676" idx="4"/>
            <a:endCxn id="678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p39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39"/>
          <p:cNvCxnSpPr>
            <a:stCxn id="680" idx="6"/>
            <a:endCxn id="678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39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39"/>
          <p:cNvCxnSpPr>
            <a:stCxn id="680" idx="2"/>
            <a:endCxn id="682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39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39"/>
          <p:cNvCxnSpPr>
            <a:stCxn id="682" idx="0"/>
            <a:endCxn id="684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39"/>
          <p:cNvCxnSpPr>
            <a:stCxn id="684" idx="7"/>
            <a:endCxn id="673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39"/>
          <p:cNvSpPr txBox="1"/>
          <p:nvPr/>
        </p:nvSpPr>
        <p:spPr>
          <a:xfrm>
            <a:off x="5519850" y="3907975"/>
            <a:ext cx="331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Un nou ciclu obținut prin fuziunea celor două cicluri</a:t>
            </a:r>
            <a:b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3, 4, 2, 6,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5, 4, 7, 5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5322950" y="1020800"/>
            <a:ext cx="258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Construim un ciclu C’ cu muchiile rămase, care conține v = 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39"/>
          <p:cNvCxnSpPr/>
          <p:nvPr/>
        </p:nvCxnSpPr>
        <p:spPr>
          <a:xfrm flipH="1">
            <a:off x="6093925" y="1649525"/>
            <a:ext cx="168600" cy="37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0" name="Google Shape;690;p39"/>
          <p:cNvSpPr/>
          <p:nvPr/>
        </p:nvSpPr>
        <p:spPr>
          <a:xfrm>
            <a:off x="5519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9"/>
          <p:cNvSpPr/>
          <p:nvPr/>
        </p:nvSpPr>
        <p:spPr>
          <a:xfrm>
            <a:off x="5291250" y="2684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39"/>
          <p:cNvCxnSpPr>
            <a:stCxn id="684" idx="1"/>
            <a:endCxn id="690" idx="5"/>
          </p:cNvCxnSpPr>
          <p:nvPr/>
        </p:nvCxnSpPr>
        <p:spPr>
          <a:xfrm rot="10800000">
            <a:off x="5727043" y="2129818"/>
            <a:ext cx="575100" cy="285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39"/>
          <p:cNvCxnSpPr>
            <a:stCxn id="690" idx="4"/>
            <a:endCxn id="691" idx="0"/>
          </p:cNvCxnSpPr>
          <p:nvPr/>
        </p:nvCxnSpPr>
        <p:spPr>
          <a:xfrm flipH="1">
            <a:off x="5412600" y="2165375"/>
            <a:ext cx="228600" cy="519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39"/>
          <p:cNvCxnSpPr>
            <a:stCxn id="691" idx="6"/>
            <a:endCxn id="684" idx="3"/>
          </p:cNvCxnSpPr>
          <p:nvPr/>
        </p:nvCxnSpPr>
        <p:spPr>
          <a:xfrm flipH="1" rot="10800000">
            <a:off x="5533950" y="2587325"/>
            <a:ext cx="768300" cy="2187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700" name="Google Shape;700;p40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0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0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0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40"/>
          <p:cNvCxnSpPr>
            <a:stCxn id="700" idx="6"/>
            <a:endCxn id="701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0"/>
          <p:cNvCxnSpPr>
            <a:stCxn id="701" idx="6"/>
            <a:endCxn id="705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40"/>
          <p:cNvCxnSpPr>
            <a:stCxn id="701" idx="3"/>
            <a:endCxn id="702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40"/>
          <p:cNvCxnSpPr>
            <a:stCxn id="700" idx="5"/>
            <a:endCxn id="704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40"/>
          <p:cNvCxnSpPr>
            <a:stCxn id="701" idx="4"/>
            <a:endCxn id="703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40"/>
          <p:cNvCxnSpPr>
            <a:stCxn id="705" idx="4"/>
            <a:endCxn id="704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40"/>
          <p:cNvCxnSpPr>
            <a:stCxn id="702" idx="6"/>
            <a:endCxn id="703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40"/>
          <p:cNvCxnSpPr>
            <a:stCxn id="703" idx="6"/>
            <a:endCxn id="704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p40"/>
          <p:cNvCxnSpPr>
            <a:stCxn id="703" idx="5"/>
            <a:endCxn id="706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p40"/>
          <p:cNvCxnSpPr>
            <a:stCxn id="704" idx="3"/>
            <a:endCxn id="706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40"/>
          <p:cNvCxnSpPr>
            <a:stCxn id="702" idx="3"/>
            <a:endCxn id="708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40"/>
          <p:cNvCxnSpPr>
            <a:stCxn id="702" idx="5"/>
            <a:endCxn id="707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40"/>
          <p:cNvCxnSpPr>
            <a:stCxn id="708" idx="6"/>
            <a:endCxn id="707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40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0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40"/>
          <p:cNvCxnSpPr>
            <a:stCxn id="722" idx="6"/>
            <a:endCxn id="723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40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6" name="Google Shape;726;p40"/>
          <p:cNvCxnSpPr>
            <a:stCxn id="723" idx="5"/>
            <a:endCxn id="725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7" name="Google Shape;727;p40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40"/>
          <p:cNvCxnSpPr>
            <a:stCxn id="725" idx="4"/>
            <a:endCxn id="727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40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40"/>
          <p:cNvCxnSpPr>
            <a:stCxn id="729" idx="6"/>
            <a:endCxn id="727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40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40"/>
          <p:cNvCxnSpPr>
            <a:stCxn id="729" idx="2"/>
            <a:endCxn id="731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3" name="Google Shape;733;p40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4" name="Google Shape;734;p40"/>
          <p:cNvCxnSpPr>
            <a:stCxn id="731" idx="0"/>
            <a:endCxn id="733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40"/>
          <p:cNvCxnSpPr>
            <a:stCxn id="733" idx="7"/>
            <a:endCxn id="722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40"/>
          <p:cNvSpPr txBox="1"/>
          <p:nvPr/>
        </p:nvSpPr>
        <p:spPr>
          <a:xfrm>
            <a:off x="5519850" y="4060375"/>
            <a:ext cx="3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</a:t>
            </a:r>
            <a:r>
              <a:rPr b="1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4, 2, 6,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 4, 7, 5,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5322950" y="1020800"/>
            <a:ext cx="33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Alegem un vârf din C în care mai sunt incidente muchii, de exemplu v =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5519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/>
          <p:nvPr/>
        </p:nvSpPr>
        <p:spPr>
          <a:xfrm>
            <a:off x="5291250" y="2684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40"/>
          <p:cNvCxnSpPr>
            <a:stCxn id="733" idx="1"/>
            <a:endCxn id="738" idx="5"/>
          </p:cNvCxnSpPr>
          <p:nvPr/>
        </p:nvCxnSpPr>
        <p:spPr>
          <a:xfrm rot="10800000">
            <a:off x="5727043" y="2129818"/>
            <a:ext cx="575100" cy="285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1" name="Google Shape;741;p40"/>
          <p:cNvCxnSpPr>
            <a:stCxn id="738" idx="4"/>
            <a:endCxn id="739" idx="0"/>
          </p:cNvCxnSpPr>
          <p:nvPr/>
        </p:nvCxnSpPr>
        <p:spPr>
          <a:xfrm flipH="1">
            <a:off x="5412600" y="2165375"/>
            <a:ext cx="228600" cy="519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40"/>
          <p:cNvCxnSpPr>
            <a:stCxn id="739" idx="6"/>
            <a:endCxn id="733" idx="3"/>
          </p:cNvCxnSpPr>
          <p:nvPr/>
        </p:nvCxnSpPr>
        <p:spPr>
          <a:xfrm flipH="1" rot="10800000">
            <a:off x="5533950" y="2587325"/>
            <a:ext cx="768300" cy="2187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748" name="Google Shape;748;p41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1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1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1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1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7" name="Google Shape;757;p41"/>
          <p:cNvCxnSpPr>
            <a:stCxn id="748" idx="6"/>
            <a:endCxn id="749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8" name="Google Shape;758;p41"/>
          <p:cNvCxnSpPr>
            <a:stCxn id="749" idx="6"/>
            <a:endCxn id="753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41"/>
          <p:cNvCxnSpPr>
            <a:stCxn id="749" idx="3"/>
            <a:endCxn id="750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41"/>
          <p:cNvCxnSpPr>
            <a:stCxn id="748" idx="5"/>
            <a:endCxn id="752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41"/>
          <p:cNvCxnSpPr>
            <a:stCxn id="749" idx="4"/>
            <a:endCxn id="751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2" name="Google Shape;762;p41"/>
          <p:cNvCxnSpPr>
            <a:stCxn id="753" idx="4"/>
            <a:endCxn id="752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3" name="Google Shape;763;p41"/>
          <p:cNvCxnSpPr>
            <a:stCxn id="750" idx="6"/>
            <a:endCxn id="751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4" name="Google Shape;764;p41"/>
          <p:cNvCxnSpPr>
            <a:stCxn id="751" idx="6"/>
            <a:endCxn id="752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5" name="Google Shape;765;p41"/>
          <p:cNvCxnSpPr>
            <a:stCxn id="751" idx="5"/>
            <a:endCxn id="754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6" name="Google Shape;766;p41"/>
          <p:cNvCxnSpPr>
            <a:stCxn id="752" idx="3"/>
            <a:endCxn id="754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7" name="Google Shape;767;p41"/>
          <p:cNvCxnSpPr>
            <a:stCxn id="750" idx="3"/>
            <a:endCxn id="756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41"/>
          <p:cNvCxnSpPr>
            <a:stCxn id="750" idx="5"/>
            <a:endCxn id="755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41"/>
          <p:cNvCxnSpPr>
            <a:stCxn id="756" idx="6"/>
            <a:endCxn id="755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41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1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2" name="Google Shape;772;p41"/>
          <p:cNvCxnSpPr>
            <a:stCxn id="770" idx="6"/>
            <a:endCxn id="771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3" name="Google Shape;773;p41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41"/>
          <p:cNvCxnSpPr>
            <a:stCxn id="771" idx="5"/>
            <a:endCxn id="773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p41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p41"/>
          <p:cNvCxnSpPr>
            <a:stCxn id="773" idx="4"/>
            <a:endCxn id="775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7" name="Google Shape;777;p41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" name="Google Shape;778;p41"/>
          <p:cNvCxnSpPr>
            <a:stCxn id="777" idx="6"/>
            <a:endCxn id="775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9" name="Google Shape;779;p41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41"/>
          <p:cNvCxnSpPr>
            <a:stCxn id="777" idx="2"/>
            <a:endCxn id="779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41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" name="Google Shape;782;p41"/>
          <p:cNvCxnSpPr>
            <a:stCxn id="779" idx="0"/>
            <a:endCxn id="781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1"/>
          <p:cNvCxnSpPr>
            <a:stCxn id="781" idx="7"/>
            <a:endCxn id="770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41"/>
          <p:cNvSpPr txBox="1"/>
          <p:nvPr/>
        </p:nvSpPr>
        <p:spPr>
          <a:xfrm>
            <a:off x="5519850" y="3907975"/>
            <a:ext cx="331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Un nou ciclu obținut prin fuziunea celor două cicluri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</a:t>
            </a:r>
            <a:r>
              <a:rPr b="1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3, 8, 9, 3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4, 2, 6,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 4, 7, 5,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1"/>
          <p:cNvSpPr txBox="1"/>
          <p:nvPr/>
        </p:nvSpPr>
        <p:spPr>
          <a:xfrm>
            <a:off x="5322950" y="1020800"/>
            <a:ext cx="33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Construim un ciclu C’ cu muchiile rămase, care conține v =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1"/>
          <p:cNvSpPr/>
          <p:nvPr/>
        </p:nvSpPr>
        <p:spPr>
          <a:xfrm>
            <a:off x="5519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1"/>
          <p:cNvSpPr/>
          <p:nvPr/>
        </p:nvSpPr>
        <p:spPr>
          <a:xfrm>
            <a:off x="5291250" y="2684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41"/>
          <p:cNvCxnSpPr>
            <a:stCxn id="781" idx="1"/>
            <a:endCxn id="786" idx="5"/>
          </p:cNvCxnSpPr>
          <p:nvPr/>
        </p:nvCxnSpPr>
        <p:spPr>
          <a:xfrm rot="10800000">
            <a:off x="5727043" y="2129818"/>
            <a:ext cx="575100" cy="285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41"/>
          <p:cNvCxnSpPr>
            <a:stCxn id="786" idx="4"/>
            <a:endCxn id="787" idx="0"/>
          </p:cNvCxnSpPr>
          <p:nvPr/>
        </p:nvCxnSpPr>
        <p:spPr>
          <a:xfrm flipH="1">
            <a:off x="5412600" y="2165375"/>
            <a:ext cx="228600" cy="519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41"/>
          <p:cNvCxnSpPr>
            <a:stCxn id="787" idx="6"/>
            <a:endCxn id="781" idx="3"/>
          </p:cNvCxnSpPr>
          <p:nvPr/>
        </p:nvCxnSpPr>
        <p:spPr>
          <a:xfrm flipH="1" rot="10800000">
            <a:off x="5533950" y="2587325"/>
            <a:ext cx="768300" cy="2187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41"/>
          <p:cNvCxnSpPr/>
          <p:nvPr/>
        </p:nvCxnSpPr>
        <p:spPr>
          <a:xfrm>
            <a:off x="7941075" y="1523500"/>
            <a:ext cx="492000" cy="9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2" name="Google Shape;792;p41"/>
          <p:cNvSpPr/>
          <p:nvPr/>
        </p:nvSpPr>
        <p:spPr>
          <a:xfrm>
            <a:off x="8589600" y="34822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876400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4" name="Google Shape;794;p41"/>
          <p:cNvCxnSpPr>
            <a:stCxn id="773" idx="7"/>
            <a:endCxn id="793" idx="2"/>
          </p:cNvCxnSpPr>
          <p:nvPr/>
        </p:nvCxnSpPr>
        <p:spPr>
          <a:xfrm flipH="1" rot="10800000">
            <a:off x="8339507" y="2882118"/>
            <a:ext cx="424500" cy="209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41"/>
          <p:cNvCxnSpPr>
            <a:stCxn id="773" idx="5"/>
            <a:endCxn id="792" idx="1"/>
          </p:cNvCxnSpPr>
          <p:nvPr/>
        </p:nvCxnSpPr>
        <p:spPr>
          <a:xfrm>
            <a:off x="8339507" y="3263432"/>
            <a:ext cx="285600" cy="254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41"/>
          <p:cNvCxnSpPr>
            <a:stCxn id="793" idx="4"/>
            <a:endCxn id="792" idx="7"/>
          </p:cNvCxnSpPr>
          <p:nvPr/>
        </p:nvCxnSpPr>
        <p:spPr>
          <a:xfrm flipH="1">
            <a:off x="8796850" y="3003575"/>
            <a:ext cx="885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02" name="Google Shape;802;p42"/>
          <p:cNvSpPr/>
          <p:nvPr/>
        </p:nvSpPr>
        <p:spPr>
          <a:xfrm>
            <a:off x="1328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25480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2"/>
          <p:cNvSpPr/>
          <p:nvPr/>
        </p:nvSpPr>
        <p:spPr>
          <a:xfrm>
            <a:off x="1328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2"/>
          <p:cNvSpPr/>
          <p:nvPr/>
        </p:nvSpPr>
        <p:spPr>
          <a:xfrm>
            <a:off x="254805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2"/>
          <p:cNvSpPr/>
          <p:nvPr/>
        </p:nvSpPr>
        <p:spPr>
          <a:xfrm>
            <a:off x="3614850" y="27608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3614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2"/>
          <p:cNvSpPr/>
          <p:nvPr/>
        </p:nvSpPr>
        <p:spPr>
          <a:xfrm>
            <a:off x="3081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2"/>
          <p:cNvSpPr/>
          <p:nvPr/>
        </p:nvSpPr>
        <p:spPr>
          <a:xfrm>
            <a:off x="18622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2"/>
          <p:cNvSpPr/>
          <p:nvPr/>
        </p:nvSpPr>
        <p:spPr>
          <a:xfrm>
            <a:off x="795450" y="3446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42"/>
          <p:cNvCxnSpPr>
            <a:stCxn id="802" idx="6"/>
            <a:endCxn id="803" idx="2"/>
          </p:cNvCxnSpPr>
          <p:nvPr/>
        </p:nvCxnSpPr>
        <p:spPr>
          <a:xfrm>
            <a:off x="1571550" y="20440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2"/>
          <p:cNvCxnSpPr>
            <a:stCxn id="803" idx="6"/>
            <a:endCxn id="807" idx="2"/>
          </p:cNvCxnSpPr>
          <p:nvPr/>
        </p:nvCxnSpPr>
        <p:spPr>
          <a:xfrm>
            <a:off x="2790750" y="2044025"/>
            <a:ext cx="824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2"/>
          <p:cNvCxnSpPr>
            <a:stCxn id="803" idx="3"/>
            <a:endCxn id="804" idx="7"/>
          </p:cNvCxnSpPr>
          <p:nvPr/>
        </p:nvCxnSpPr>
        <p:spPr>
          <a:xfrm flipH="1">
            <a:off x="1535993" y="2129832"/>
            <a:ext cx="10476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>
            <a:stCxn id="802" idx="5"/>
            <a:endCxn id="806" idx="1"/>
          </p:cNvCxnSpPr>
          <p:nvPr/>
        </p:nvCxnSpPr>
        <p:spPr>
          <a:xfrm>
            <a:off x="1536007" y="2129832"/>
            <a:ext cx="2114400" cy="66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2"/>
          <p:cNvCxnSpPr>
            <a:stCxn id="803" idx="4"/>
            <a:endCxn id="805" idx="0"/>
          </p:cNvCxnSpPr>
          <p:nvPr/>
        </p:nvCxnSpPr>
        <p:spPr>
          <a:xfrm>
            <a:off x="26694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42"/>
          <p:cNvCxnSpPr>
            <a:stCxn id="807" idx="4"/>
            <a:endCxn id="806" idx="0"/>
          </p:cNvCxnSpPr>
          <p:nvPr/>
        </p:nvCxnSpPr>
        <p:spPr>
          <a:xfrm>
            <a:off x="3736200" y="2165375"/>
            <a:ext cx="0" cy="5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42"/>
          <p:cNvCxnSpPr>
            <a:stCxn id="804" idx="6"/>
            <a:endCxn id="805" idx="2"/>
          </p:cNvCxnSpPr>
          <p:nvPr/>
        </p:nvCxnSpPr>
        <p:spPr>
          <a:xfrm>
            <a:off x="1571550" y="2882225"/>
            <a:ext cx="97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42"/>
          <p:cNvCxnSpPr>
            <a:stCxn id="805" idx="6"/>
            <a:endCxn id="806" idx="2"/>
          </p:cNvCxnSpPr>
          <p:nvPr/>
        </p:nvCxnSpPr>
        <p:spPr>
          <a:xfrm>
            <a:off x="2790750" y="28822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42"/>
          <p:cNvCxnSpPr>
            <a:stCxn id="805" idx="5"/>
            <a:endCxn id="808" idx="1"/>
          </p:cNvCxnSpPr>
          <p:nvPr/>
        </p:nvCxnSpPr>
        <p:spPr>
          <a:xfrm>
            <a:off x="27552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42"/>
          <p:cNvCxnSpPr>
            <a:stCxn id="806" idx="3"/>
            <a:endCxn id="808" idx="7"/>
          </p:cNvCxnSpPr>
          <p:nvPr/>
        </p:nvCxnSpPr>
        <p:spPr>
          <a:xfrm flipH="1">
            <a:off x="3288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42"/>
          <p:cNvCxnSpPr>
            <a:stCxn id="804" idx="3"/>
            <a:endCxn id="810" idx="7"/>
          </p:cNvCxnSpPr>
          <p:nvPr/>
        </p:nvCxnSpPr>
        <p:spPr>
          <a:xfrm flipH="1">
            <a:off x="1002593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p42"/>
          <p:cNvCxnSpPr>
            <a:stCxn id="804" idx="5"/>
            <a:endCxn id="809" idx="1"/>
          </p:cNvCxnSpPr>
          <p:nvPr/>
        </p:nvCxnSpPr>
        <p:spPr>
          <a:xfrm>
            <a:off x="1536007" y="2968032"/>
            <a:ext cx="3618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2"/>
          <p:cNvCxnSpPr>
            <a:stCxn id="810" idx="6"/>
            <a:endCxn id="809" idx="2"/>
          </p:cNvCxnSpPr>
          <p:nvPr/>
        </p:nvCxnSpPr>
        <p:spPr>
          <a:xfrm>
            <a:off x="1038150" y="3568025"/>
            <a:ext cx="824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42"/>
          <p:cNvSpPr/>
          <p:nvPr/>
        </p:nvSpPr>
        <p:spPr>
          <a:xfrm>
            <a:off x="7196250" y="1998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2"/>
          <p:cNvSpPr/>
          <p:nvPr/>
        </p:nvSpPr>
        <p:spPr>
          <a:xfrm>
            <a:off x="7889650" y="23801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42"/>
          <p:cNvCxnSpPr>
            <a:stCxn id="824" idx="6"/>
            <a:endCxn id="825" idx="1"/>
          </p:cNvCxnSpPr>
          <p:nvPr/>
        </p:nvCxnSpPr>
        <p:spPr>
          <a:xfrm>
            <a:off x="7438950" y="2120225"/>
            <a:ext cx="4863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42"/>
          <p:cNvSpPr/>
          <p:nvPr/>
        </p:nvSpPr>
        <p:spPr>
          <a:xfrm>
            <a:off x="8132350" y="30562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42"/>
          <p:cNvCxnSpPr>
            <a:stCxn id="825" idx="5"/>
            <a:endCxn id="827" idx="0"/>
          </p:cNvCxnSpPr>
          <p:nvPr/>
        </p:nvCxnSpPr>
        <p:spPr>
          <a:xfrm>
            <a:off x="8096807" y="2587332"/>
            <a:ext cx="156900" cy="46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p42"/>
          <p:cNvSpPr/>
          <p:nvPr/>
        </p:nvSpPr>
        <p:spPr>
          <a:xfrm>
            <a:off x="7768300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Google Shape;830;p42"/>
          <p:cNvCxnSpPr>
            <a:stCxn id="827" idx="4"/>
            <a:endCxn id="829" idx="7"/>
          </p:cNvCxnSpPr>
          <p:nvPr/>
        </p:nvCxnSpPr>
        <p:spPr>
          <a:xfrm flipH="1">
            <a:off x="7975600" y="3298975"/>
            <a:ext cx="278100" cy="35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42"/>
          <p:cNvSpPr/>
          <p:nvPr/>
        </p:nvSpPr>
        <p:spPr>
          <a:xfrm>
            <a:off x="6873825" y="36230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2" name="Google Shape;832;p42"/>
          <p:cNvCxnSpPr>
            <a:stCxn id="831" idx="6"/>
            <a:endCxn id="829" idx="2"/>
          </p:cNvCxnSpPr>
          <p:nvPr/>
        </p:nvCxnSpPr>
        <p:spPr>
          <a:xfrm>
            <a:off x="7116525" y="3744375"/>
            <a:ext cx="651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42"/>
          <p:cNvSpPr/>
          <p:nvPr/>
        </p:nvSpPr>
        <p:spPr>
          <a:xfrm>
            <a:off x="6190400" y="31037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4" name="Google Shape;834;p42"/>
          <p:cNvCxnSpPr>
            <a:stCxn id="831" idx="2"/>
            <a:endCxn id="833" idx="5"/>
          </p:cNvCxnSpPr>
          <p:nvPr/>
        </p:nvCxnSpPr>
        <p:spPr>
          <a:xfrm rot="10800000">
            <a:off x="6397425" y="3310875"/>
            <a:ext cx="476400" cy="4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5" name="Google Shape;835;p42"/>
          <p:cNvSpPr/>
          <p:nvPr/>
        </p:nvSpPr>
        <p:spPr>
          <a:xfrm>
            <a:off x="6266600" y="2380175"/>
            <a:ext cx="242700" cy="242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42"/>
          <p:cNvCxnSpPr>
            <a:stCxn id="833" idx="0"/>
            <a:endCxn id="835" idx="4"/>
          </p:cNvCxnSpPr>
          <p:nvPr/>
        </p:nvCxnSpPr>
        <p:spPr>
          <a:xfrm flipH="1" rot="10800000">
            <a:off x="6311750" y="2622875"/>
            <a:ext cx="76200" cy="480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42"/>
          <p:cNvCxnSpPr>
            <a:stCxn id="835" idx="7"/>
            <a:endCxn id="824" idx="2"/>
          </p:cNvCxnSpPr>
          <p:nvPr/>
        </p:nvCxnSpPr>
        <p:spPr>
          <a:xfrm flipH="1" rot="10800000">
            <a:off x="6473757" y="2120218"/>
            <a:ext cx="722400" cy="29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42"/>
          <p:cNvSpPr txBox="1"/>
          <p:nvPr/>
        </p:nvSpPr>
        <p:spPr>
          <a:xfrm>
            <a:off x="5519850" y="3984175"/>
            <a:ext cx="331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[1, 2, 3, 8, 9, 3, 4, 2, 6,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 4, 7, 5, 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Ciclul conține toate muchiile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este eulerian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2"/>
          <p:cNvSpPr/>
          <p:nvPr/>
        </p:nvSpPr>
        <p:spPr>
          <a:xfrm>
            <a:off x="5519850" y="1922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2"/>
          <p:cNvSpPr/>
          <p:nvPr/>
        </p:nvSpPr>
        <p:spPr>
          <a:xfrm>
            <a:off x="5291250" y="26846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42"/>
          <p:cNvCxnSpPr>
            <a:stCxn id="835" idx="1"/>
            <a:endCxn id="839" idx="5"/>
          </p:cNvCxnSpPr>
          <p:nvPr/>
        </p:nvCxnSpPr>
        <p:spPr>
          <a:xfrm rot="10800000">
            <a:off x="5727043" y="2129818"/>
            <a:ext cx="575100" cy="285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42"/>
          <p:cNvCxnSpPr>
            <a:stCxn id="839" idx="4"/>
            <a:endCxn id="840" idx="0"/>
          </p:cNvCxnSpPr>
          <p:nvPr/>
        </p:nvCxnSpPr>
        <p:spPr>
          <a:xfrm flipH="1">
            <a:off x="5412600" y="2165375"/>
            <a:ext cx="228600" cy="519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42"/>
          <p:cNvCxnSpPr>
            <a:stCxn id="840" idx="6"/>
            <a:endCxn id="835" idx="3"/>
          </p:cNvCxnSpPr>
          <p:nvPr/>
        </p:nvCxnSpPr>
        <p:spPr>
          <a:xfrm flipH="1" rot="10800000">
            <a:off x="5533950" y="2587325"/>
            <a:ext cx="768300" cy="2187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p42"/>
          <p:cNvSpPr/>
          <p:nvPr/>
        </p:nvSpPr>
        <p:spPr>
          <a:xfrm>
            <a:off x="8589600" y="348222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2"/>
          <p:cNvSpPr/>
          <p:nvPr/>
        </p:nvSpPr>
        <p:spPr>
          <a:xfrm>
            <a:off x="8764000" y="2760875"/>
            <a:ext cx="242700" cy="2427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42"/>
          <p:cNvCxnSpPr>
            <a:stCxn id="827" idx="7"/>
            <a:endCxn id="845" idx="2"/>
          </p:cNvCxnSpPr>
          <p:nvPr/>
        </p:nvCxnSpPr>
        <p:spPr>
          <a:xfrm flipH="1" rot="10800000">
            <a:off x="8339507" y="2882118"/>
            <a:ext cx="424500" cy="209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42"/>
          <p:cNvCxnSpPr>
            <a:stCxn id="827" idx="5"/>
            <a:endCxn id="844" idx="1"/>
          </p:cNvCxnSpPr>
          <p:nvPr/>
        </p:nvCxnSpPr>
        <p:spPr>
          <a:xfrm>
            <a:off x="8339507" y="3263432"/>
            <a:ext cx="285600" cy="254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42"/>
          <p:cNvCxnSpPr>
            <a:stCxn id="845" idx="4"/>
            <a:endCxn id="844" idx="7"/>
          </p:cNvCxnSpPr>
          <p:nvPr/>
        </p:nvCxnSpPr>
        <p:spPr>
          <a:xfrm flipH="1">
            <a:off x="8796850" y="3003575"/>
            <a:ext cx="88500" cy="514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54" name="Google Shape;854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1800"/>
              <a:t>Complexitate - O(m)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60" name="Google Shape;860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Posibile implementări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Varianta 1 </a:t>
            </a:r>
            <a:r>
              <a:rPr b="0" lang="en-GB"/>
              <a:t>- stivă (dfs)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Muchiile folosite - marcate (nu neapărat șterse)</a:t>
            </a:r>
            <a:endParaRPr b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66" name="Google Shape;866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Posibile implementări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Varianta 2 - posibilă implementare recursivă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euler(nod 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cât timp d(v) &gt;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vw o muchie incidentă în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șterge muchia vw din G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euler(w)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 = C + v	// adăugăm v la ciclul C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Inițial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400"/>
              <a:t>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 = ∅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euler(1)	// pornim construcția din vârful 1</a:t>
            </a:r>
            <a:endParaRPr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72" name="Google Shape;872;p46"/>
          <p:cNvSpPr txBox="1"/>
          <p:nvPr>
            <p:ph idx="1" type="body"/>
          </p:nvPr>
        </p:nvSpPr>
        <p:spPr>
          <a:xfrm>
            <a:off x="311700" y="8300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Posibile implementări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Varianta 2 - posibilă implementare recursivă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euler(nod 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cât timp d(v) &gt;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vw o muchie incidentă în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șterge muchia vw din G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euler(w)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 = C + v	// adăugăm v la ciclul C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Observație</a:t>
            </a:r>
            <a:r>
              <a:rPr b="0" lang="en-GB"/>
              <a:t> - putem alege muchiile incidente în v, de exemplu, în ordinea dată de listele de adiacență</a:t>
            </a:r>
            <a:endParaRPr b="0"/>
          </a:p>
        </p:txBody>
      </p:sp>
      <p:sp>
        <p:nvSpPr>
          <p:cNvPr id="873" name="Google Shape;873;p46"/>
          <p:cNvSpPr txBox="1"/>
          <p:nvPr/>
        </p:nvSpPr>
        <p:spPr>
          <a:xfrm>
            <a:off x="485375" y="3923350"/>
            <a:ext cx="44022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cât timp d(v) &gt; 0</a:t>
            </a:r>
            <a:b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alege vw o muchie incidentă în v</a:t>
            </a:r>
            <a:b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șterge muchia vw din G</a:t>
            </a:r>
            <a:b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euler(w)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46"/>
          <p:cNvCxnSpPr/>
          <p:nvPr/>
        </p:nvCxnSpPr>
        <p:spPr>
          <a:xfrm>
            <a:off x="5008650" y="3787900"/>
            <a:ext cx="0" cy="10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46"/>
          <p:cNvSpPr txBox="1"/>
          <p:nvPr/>
        </p:nvSpPr>
        <p:spPr>
          <a:xfrm>
            <a:off x="5426625" y="3923350"/>
            <a:ext cx="3093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pentru vw ∈ E</a:t>
            </a:r>
            <a:b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șterge muchia vw din G</a:t>
            </a:r>
            <a:b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3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euler(w)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46"/>
          <p:cNvSpPr/>
          <p:nvPr/>
        </p:nvSpPr>
        <p:spPr>
          <a:xfrm>
            <a:off x="4806450" y="4213225"/>
            <a:ext cx="4347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Hierholzer</a:t>
            </a:r>
            <a:endParaRPr/>
          </a:p>
        </p:txBody>
      </p:sp>
      <p:sp>
        <p:nvSpPr>
          <p:cNvPr id="882" name="Google Shape;882;p47"/>
          <p:cNvSpPr txBox="1"/>
          <p:nvPr>
            <p:ph idx="1" type="body"/>
          </p:nvPr>
        </p:nvSpPr>
        <p:spPr>
          <a:xfrm>
            <a:off x="311700" y="906225"/>
            <a:ext cx="85206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6250"/>
              <a:buNone/>
            </a:pPr>
            <a:r>
              <a:rPr lang="en-GB"/>
              <a:t>Posibile implementări</a:t>
            </a:r>
            <a:endParaRPr/>
          </a:p>
          <a:p>
            <a:pPr indent="-32845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Varianta 2 - posibilă implementare recursivă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1428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euler(nod n)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cât timp d(v) &gt;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vw o muchie incidentă în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șterge muchia vw din G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euler(w)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C = C + v	// adăugăm v la ciclul C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6250"/>
              <a:buNone/>
            </a:pPr>
            <a:r>
              <a:rPr lang="en-GB"/>
              <a:t>	Inițial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38774"/>
              <a:buNone/>
            </a:pPr>
            <a:r>
              <a:rPr lang="en-GB"/>
              <a:t>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 = ∅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euler(1)	// pornim construcția din vârful 1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41666"/>
              <a:buNone/>
            </a:pPr>
            <a:r>
              <a:t/>
            </a:r>
            <a:endParaRPr b="0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ct val="141666"/>
              <a:buNone/>
            </a:pPr>
            <a:r>
              <a:rPr b="0" lang="en-GB" sz="1200" u="sng">
                <a:solidFill>
                  <a:schemeClr val="hlink"/>
                </a:solidFill>
                <a:hlinkClick r:id="rId3"/>
              </a:rPr>
              <a:t>https://www.infoarena.ro/problema/ciclueuler</a:t>
            </a:r>
            <a:endParaRPr b="0"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Lanțuri euleriene</a:t>
            </a:r>
            <a:endParaRPr/>
          </a:p>
        </p:txBody>
      </p:sp>
      <p:sp>
        <p:nvSpPr>
          <p:cNvPr id="888" name="Google Shape;888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Euler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neorientat, conex, cu E ≠ ∅.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G are un lanț eulerian  ⇔  </a:t>
            </a:r>
            <a:r>
              <a:rPr lang="en-GB"/>
              <a:t>G are cel mult două vârfuri de grad impar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Descompuneri euleriene în lanțuri (suplimentar)</a:t>
            </a:r>
            <a:endParaRPr/>
          </a:p>
        </p:txBody>
      </p:sp>
      <p:sp>
        <p:nvSpPr>
          <p:cNvPr id="894" name="Google Shape;894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k-descompunere euleriană în lanțuri</a:t>
            </a:r>
            <a:r>
              <a:rPr b="0" lang="en-GB"/>
              <a:t> a unui graf G =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o mulțime de k lanțuri simple, muchie-disjuncte</a:t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Δ = {P</a:t>
            </a:r>
            <a:r>
              <a:rPr b="0" baseline="-25000" lang="en-GB"/>
              <a:t>1</a:t>
            </a:r>
            <a:r>
              <a:rPr b="0" lang="en-GB"/>
              <a:t>, P</a:t>
            </a:r>
            <a:r>
              <a:rPr b="0" baseline="-25000" lang="en-GB"/>
              <a:t>2</a:t>
            </a:r>
            <a:r>
              <a:rPr b="0" lang="en-GB"/>
              <a:t>, …, P</a:t>
            </a:r>
            <a:r>
              <a:rPr b="0" baseline="-25000" lang="en-GB"/>
              <a:t>k</a:t>
            </a:r>
            <a:r>
              <a:rPr b="0" lang="en-GB"/>
              <a:t>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ale căror muchii induc o k-partiție a lui E(G)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E(G) = E(P</a:t>
            </a:r>
            <a:r>
              <a:rPr b="0" baseline="-25000" lang="en-GB"/>
              <a:t>1</a:t>
            </a:r>
            <a:r>
              <a:rPr b="0" lang="en-GB"/>
              <a:t>) ∪ E(P</a:t>
            </a:r>
            <a:r>
              <a:rPr b="0" baseline="-25000" lang="en-GB"/>
              <a:t>2</a:t>
            </a:r>
            <a:r>
              <a:rPr b="0" lang="en-GB"/>
              <a:t>) ∪ … ∪ E(P</a:t>
            </a:r>
            <a:r>
              <a:rPr b="0" baseline="-25000" lang="en-GB"/>
              <a:t>k</a:t>
            </a:r>
            <a:r>
              <a:rPr b="0" lang="en-GB"/>
              <a:t>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Descompuneri euleriene în lanțuri (suplimentar)</a:t>
            </a:r>
            <a:endParaRPr/>
          </a:p>
        </p:txBody>
      </p:sp>
      <p:sp>
        <p:nvSpPr>
          <p:cNvPr id="900" name="Google Shape;900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Interpretare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De câte ori (minim) trebuie să ridicăm creionul de pe hârtie, pentru a desena diagrama?</a:t>
            </a:r>
            <a:endParaRPr b="0"/>
          </a:p>
        </p:txBody>
      </p:sp>
      <p:grpSp>
        <p:nvGrpSpPr>
          <p:cNvPr id="901" name="Google Shape;901;p50"/>
          <p:cNvGrpSpPr/>
          <p:nvPr/>
        </p:nvGrpSpPr>
        <p:grpSpPr>
          <a:xfrm>
            <a:off x="3529500" y="2162700"/>
            <a:ext cx="2085000" cy="1538100"/>
            <a:chOff x="3529500" y="2162700"/>
            <a:chExt cx="2085000" cy="1538100"/>
          </a:xfrm>
        </p:grpSpPr>
        <p:sp>
          <p:nvSpPr>
            <p:cNvPr id="902" name="Google Shape;902;p50"/>
            <p:cNvSpPr/>
            <p:nvPr/>
          </p:nvSpPr>
          <p:spPr>
            <a:xfrm>
              <a:off x="3529500" y="3458100"/>
              <a:ext cx="242700" cy="242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0"/>
            <p:cNvSpPr/>
            <p:nvPr/>
          </p:nvSpPr>
          <p:spPr>
            <a:xfrm>
              <a:off x="3529500" y="2619900"/>
              <a:ext cx="242700" cy="242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0"/>
            <p:cNvSpPr/>
            <p:nvPr/>
          </p:nvSpPr>
          <p:spPr>
            <a:xfrm>
              <a:off x="4443900" y="2162700"/>
              <a:ext cx="242700" cy="242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0"/>
            <p:cNvSpPr/>
            <p:nvPr/>
          </p:nvSpPr>
          <p:spPr>
            <a:xfrm>
              <a:off x="5371800" y="2619900"/>
              <a:ext cx="242700" cy="242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0"/>
            <p:cNvSpPr/>
            <p:nvPr/>
          </p:nvSpPr>
          <p:spPr>
            <a:xfrm>
              <a:off x="5371800" y="3458100"/>
              <a:ext cx="242700" cy="242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6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7" name="Google Shape;907;p50"/>
            <p:cNvCxnSpPr>
              <a:stCxn id="903" idx="7"/>
              <a:endCxn id="904" idx="2"/>
            </p:cNvCxnSpPr>
            <p:nvPr/>
          </p:nvCxnSpPr>
          <p:spPr>
            <a:xfrm flipH="1" rot="10800000">
              <a:off x="3736657" y="2284043"/>
              <a:ext cx="707100" cy="37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8" name="Google Shape;908;p50"/>
            <p:cNvCxnSpPr>
              <a:stCxn id="904" idx="6"/>
              <a:endCxn id="905" idx="1"/>
            </p:cNvCxnSpPr>
            <p:nvPr/>
          </p:nvCxnSpPr>
          <p:spPr>
            <a:xfrm>
              <a:off x="4686600" y="2284050"/>
              <a:ext cx="720600" cy="37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9" name="Google Shape;909;p50"/>
            <p:cNvCxnSpPr>
              <a:stCxn id="903" idx="4"/>
              <a:endCxn id="902" idx="0"/>
            </p:cNvCxnSpPr>
            <p:nvPr/>
          </p:nvCxnSpPr>
          <p:spPr>
            <a:xfrm>
              <a:off x="3650850" y="2862600"/>
              <a:ext cx="0" cy="59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0" name="Google Shape;910;p50"/>
            <p:cNvCxnSpPr>
              <a:stCxn id="902" idx="6"/>
              <a:endCxn id="906" idx="2"/>
            </p:cNvCxnSpPr>
            <p:nvPr/>
          </p:nvCxnSpPr>
          <p:spPr>
            <a:xfrm>
              <a:off x="3772200" y="3579450"/>
              <a:ext cx="1599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1" name="Google Shape;911;p50"/>
            <p:cNvCxnSpPr>
              <a:stCxn id="905" idx="4"/>
              <a:endCxn id="906" idx="0"/>
            </p:cNvCxnSpPr>
            <p:nvPr/>
          </p:nvCxnSpPr>
          <p:spPr>
            <a:xfrm>
              <a:off x="5493150" y="2862600"/>
              <a:ext cx="0" cy="59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2" name="Google Shape;912;p50"/>
            <p:cNvCxnSpPr>
              <a:stCxn id="903" idx="5"/>
              <a:endCxn id="906" idx="1"/>
            </p:cNvCxnSpPr>
            <p:nvPr/>
          </p:nvCxnSpPr>
          <p:spPr>
            <a:xfrm>
              <a:off x="3736657" y="2827057"/>
              <a:ext cx="1670700" cy="666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3" name="Google Shape;913;p50"/>
            <p:cNvCxnSpPr>
              <a:stCxn id="902" idx="7"/>
              <a:endCxn id="905" idx="3"/>
            </p:cNvCxnSpPr>
            <p:nvPr/>
          </p:nvCxnSpPr>
          <p:spPr>
            <a:xfrm flipH="1" rot="10800000">
              <a:off x="3736657" y="2827043"/>
              <a:ext cx="1670700" cy="666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Descompuneri euleriene în lanțuri (suplimentar)</a:t>
            </a:r>
            <a:endParaRPr/>
          </a:p>
        </p:txBody>
      </p:sp>
      <p:sp>
        <p:nvSpPr>
          <p:cNvPr id="919" name="Google Shape;919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 - Descompunerea euleriană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orientat, conex (= graful neorientat asociat este conex), cu exact </a:t>
            </a:r>
            <a:r>
              <a:rPr lang="en-GB"/>
              <a:t>2k vârfuri de grad impar</a:t>
            </a:r>
            <a:r>
              <a:rPr b="0" lang="en-GB"/>
              <a:t> (k &gt; 0).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Atunci există o k-descompunere euleriană a lui G și k este cel mai mic cu această proprietate.</a:t>
            </a:r>
            <a:endParaRPr b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orientate euleriene</a:t>
            </a:r>
            <a:endParaRPr/>
          </a:p>
        </p:txBody>
      </p:sp>
      <p:sp>
        <p:nvSpPr>
          <p:cNvPr id="925" name="Google Shape;925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Euler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orientat, conex (= graful neorientat asociat este conex), cu E ≠ ∅.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G este eulerian  ⇔  ∀ v ∈ V,   d</a:t>
            </a:r>
            <a:r>
              <a:rPr b="0" baseline="30000" lang="en-GB"/>
              <a:t>-</a:t>
            </a:r>
            <a:r>
              <a:rPr b="0" baseline="-25000" lang="en-GB"/>
              <a:t>G</a:t>
            </a:r>
            <a:r>
              <a:rPr b="0" lang="en-GB"/>
              <a:t>(v) = d</a:t>
            </a:r>
            <a:r>
              <a:rPr b="0" baseline="30000" lang="en-GB"/>
              <a:t>+</a:t>
            </a:r>
            <a:r>
              <a:rPr b="0" baseline="-25000" lang="en-GB"/>
              <a:t>G</a:t>
            </a:r>
            <a:r>
              <a:rPr b="0" lang="en-GB"/>
              <a:t>(v)</a:t>
            </a:r>
            <a:endParaRPr b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Lanțuri euleriene</a:t>
            </a:r>
            <a:endParaRPr/>
          </a:p>
        </p:txBody>
      </p:sp>
      <p:sp>
        <p:nvSpPr>
          <p:cNvPr id="931" name="Google Shape;931;p53"/>
          <p:cNvSpPr txBox="1"/>
          <p:nvPr>
            <p:ph idx="1" type="body"/>
          </p:nvPr>
        </p:nvSpPr>
        <p:spPr>
          <a:xfrm>
            <a:off x="311700" y="906225"/>
            <a:ext cx="85206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Euler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orientat, conex (= graful neorientat asociat este conex), cu E ≠ ∅.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G are un drum eulerian  ⇔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∀ v ∈ V,   d</a:t>
            </a:r>
            <a:r>
              <a:rPr b="0" baseline="30000" lang="en-GB"/>
              <a:t>-</a:t>
            </a:r>
            <a:r>
              <a:rPr b="0" baseline="-25000" lang="en-GB"/>
              <a:t>G</a:t>
            </a:r>
            <a:r>
              <a:rPr b="0" lang="en-GB"/>
              <a:t>(v) = d</a:t>
            </a:r>
            <a:r>
              <a:rPr b="0" baseline="30000" lang="en-GB"/>
              <a:t>+</a:t>
            </a:r>
            <a:r>
              <a:rPr b="0" baseline="-25000" lang="en-GB"/>
              <a:t>G</a:t>
            </a:r>
            <a:r>
              <a:rPr b="0" lang="en-GB"/>
              <a:t>(v)		SAU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∃ x ∈ V  cu  d</a:t>
            </a:r>
            <a:r>
              <a:rPr b="0" baseline="30000" lang="en-GB"/>
              <a:t>-</a:t>
            </a:r>
            <a:r>
              <a:rPr b="0" baseline="-25000" lang="en-GB"/>
              <a:t>G</a:t>
            </a:r>
            <a:r>
              <a:rPr b="0" lang="en-GB"/>
              <a:t>(x) = d</a:t>
            </a:r>
            <a:r>
              <a:rPr b="0" baseline="30000" lang="en-GB"/>
              <a:t>+</a:t>
            </a:r>
            <a:r>
              <a:rPr b="0" baseline="-25000" lang="en-GB"/>
              <a:t>G</a:t>
            </a:r>
            <a:r>
              <a:rPr b="0" lang="en-GB"/>
              <a:t>(x) - 1,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∃ y ∈ V  cu  d</a:t>
            </a:r>
            <a:r>
              <a:rPr b="0" baseline="30000" lang="en-GB"/>
              <a:t>-</a:t>
            </a:r>
            <a:r>
              <a:rPr b="0" baseline="-25000" lang="en-GB"/>
              <a:t>G</a:t>
            </a:r>
            <a:r>
              <a:rPr b="0" lang="en-GB"/>
              <a:t>(y) = d</a:t>
            </a:r>
            <a:r>
              <a:rPr b="0" baseline="30000" lang="en-GB"/>
              <a:t>+</a:t>
            </a:r>
            <a:r>
              <a:rPr b="0" baseline="-25000" lang="en-GB"/>
              <a:t>G</a:t>
            </a:r>
            <a:r>
              <a:rPr b="0" lang="en-GB"/>
              <a:t>(y) + 1,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∀ v ∈ V-{x, y}   d</a:t>
            </a:r>
            <a:r>
              <a:rPr b="0" baseline="30000" lang="en-GB"/>
              <a:t>-</a:t>
            </a:r>
            <a:r>
              <a:rPr b="0" baseline="-25000" lang="en-GB"/>
              <a:t>G</a:t>
            </a:r>
            <a:r>
              <a:rPr b="0" lang="en-GB"/>
              <a:t>(v) = d</a:t>
            </a:r>
            <a:r>
              <a:rPr b="0" baseline="30000" lang="en-GB"/>
              <a:t>+</a:t>
            </a:r>
            <a:r>
              <a:rPr b="0" baseline="-25000" lang="en-GB"/>
              <a:t>G</a:t>
            </a:r>
            <a:r>
              <a:rPr b="0" lang="en-GB"/>
              <a:t>(v)</a:t>
            </a:r>
            <a:endParaRPr b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37" name="Google Shape;937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Piesă de domino - două fețe, numere 0, …, n, de obicei n = 6</a:t>
            </a:r>
            <a:endParaRPr b="0"/>
          </a:p>
        </p:txBody>
      </p:sp>
      <p:pic>
        <p:nvPicPr>
          <p:cNvPr id="938" name="Google Shape;9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3708" y="1917325"/>
            <a:ext cx="4136575" cy="30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44" name="Google Shape;944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Șir de piese de domino - respectă regula de construcție: primul număr de pe piesa adăugată la șir = al doilea număr de pe ultima piesă din șir</a:t>
            </a:r>
            <a:endParaRPr b="0"/>
          </a:p>
        </p:txBody>
      </p:sp>
      <p:pic>
        <p:nvPicPr>
          <p:cNvPr id="945" name="Google Shape;94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663" y="2221325"/>
            <a:ext cx="3382675" cy="5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51" name="Google Shape;951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Se poate forma un șir de piese de domino care să conțină toate piesele + să se termine cu același număr cu care a început (un șir circular)?</a:t>
            </a:r>
            <a:endParaRPr b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57" name="Google Shape;957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Exemplu - dacă folosim doar piese cu numere 0, …, 2, putem forma un ciclu</a:t>
            </a:r>
            <a:endParaRPr b="0"/>
          </a:p>
        </p:txBody>
      </p:sp>
      <p:pic>
        <p:nvPicPr>
          <p:cNvPr id="958" name="Google Shape;95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588" y="2048300"/>
            <a:ext cx="2084825" cy="13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64" name="Google Shape;964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Graf asociat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vârfuri - numerele de pe piese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muchii - perechi de numere (piesele)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se pot lipi doar piese asociate muchiilor adiacente</a:t>
            </a:r>
            <a:endParaRPr b="0"/>
          </a:p>
        </p:txBody>
      </p:sp>
      <p:grpSp>
        <p:nvGrpSpPr>
          <p:cNvPr id="965" name="Google Shape;965;p58"/>
          <p:cNvGrpSpPr/>
          <p:nvPr/>
        </p:nvGrpSpPr>
        <p:grpSpPr>
          <a:xfrm>
            <a:off x="3229200" y="3293775"/>
            <a:ext cx="2685600" cy="644600"/>
            <a:chOff x="2392550" y="3469050"/>
            <a:chExt cx="2685600" cy="644600"/>
          </a:xfrm>
        </p:grpSpPr>
        <p:sp>
          <p:nvSpPr>
            <p:cNvPr id="966" name="Google Shape;966;p58"/>
            <p:cNvSpPr/>
            <p:nvPr/>
          </p:nvSpPr>
          <p:spPr>
            <a:xfrm>
              <a:off x="2392550" y="3714050"/>
              <a:ext cx="399600" cy="3996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baseline="-2500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8"/>
            <p:cNvSpPr/>
            <p:nvPr/>
          </p:nvSpPr>
          <p:spPr>
            <a:xfrm>
              <a:off x="4678550" y="3714050"/>
              <a:ext cx="399600" cy="3996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baseline="-2500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8" name="Google Shape;968;p58"/>
            <p:cNvCxnSpPr>
              <a:stCxn id="966" idx="6"/>
              <a:endCxn id="967" idx="2"/>
            </p:cNvCxnSpPr>
            <p:nvPr/>
          </p:nvCxnSpPr>
          <p:spPr>
            <a:xfrm>
              <a:off x="2792150" y="3913850"/>
              <a:ext cx="1886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58"/>
            <p:cNvSpPr txBox="1"/>
            <p:nvPr/>
          </p:nvSpPr>
          <p:spPr>
            <a:xfrm>
              <a:off x="3360600" y="3469050"/>
              <a:ext cx="363900" cy="40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0" name="Google Shape;970;p58"/>
            <p:cNvSpPr txBox="1"/>
            <p:nvPr/>
          </p:nvSpPr>
          <p:spPr>
            <a:xfrm>
              <a:off x="3724500" y="3469050"/>
              <a:ext cx="363900" cy="40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76" name="Google Shape;976;p5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Problemă - joc domino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n = 2</a:t>
            </a:r>
            <a:endParaRPr b="0"/>
          </a:p>
        </p:txBody>
      </p:sp>
      <p:pic>
        <p:nvPicPr>
          <p:cNvPr id="977" name="Google Shape;9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787" y="1468500"/>
            <a:ext cx="4628425" cy="31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983" name="Google Shape;983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Există ciclu de piese  ⇔  există ciclu eulerian în (multi)graf</a:t>
            </a:r>
            <a:endParaRPr/>
          </a:p>
        </p:txBody>
      </p:sp>
      <p:pic>
        <p:nvPicPr>
          <p:cNvPr id="984" name="Google Shape;98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550" y="1837038"/>
            <a:ext cx="3844599" cy="2582924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60"/>
          <p:cNvSpPr txBox="1"/>
          <p:nvPr/>
        </p:nvSpPr>
        <p:spPr>
          <a:xfrm>
            <a:off x="1855950" y="1714275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60"/>
          <p:cNvSpPr txBox="1"/>
          <p:nvPr/>
        </p:nvSpPr>
        <p:spPr>
          <a:xfrm>
            <a:off x="1879350" y="2937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60"/>
          <p:cNvSpPr txBox="1"/>
          <p:nvPr/>
        </p:nvSpPr>
        <p:spPr>
          <a:xfrm>
            <a:off x="355350" y="33947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0"/>
          <p:cNvSpPr txBox="1"/>
          <p:nvPr/>
        </p:nvSpPr>
        <p:spPr>
          <a:xfrm>
            <a:off x="2260350" y="33947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0"/>
          <p:cNvSpPr txBox="1"/>
          <p:nvPr/>
        </p:nvSpPr>
        <p:spPr>
          <a:xfrm>
            <a:off x="4012950" y="32423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60"/>
          <p:cNvSpPr txBox="1"/>
          <p:nvPr/>
        </p:nvSpPr>
        <p:spPr>
          <a:xfrm>
            <a:off x="2641350" y="2937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1" name="Google Shape;99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2463" y="1751675"/>
            <a:ext cx="2084825" cy="13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60"/>
          <p:cNvSpPr txBox="1"/>
          <p:nvPr/>
        </p:nvSpPr>
        <p:spPr>
          <a:xfrm>
            <a:off x="6603750" y="1413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0"/>
          <p:cNvSpPr txBox="1"/>
          <p:nvPr/>
        </p:nvSpPr>
        <p:spPr>
          <a:xfrm>
            <a:off x="7441950" y="1413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60"/>
          <p:cNvSpPr txBox="1"/>
          <p:nvPr/>
        </p:nvSpPr>
        <p:spPr>
          <a:xfrm>
            <a:off x="6984750" y="2937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60"/>
          <p:cNvSpPr txBox="1"/>
          <p:nvPr/>
        </p:nvSpPr>
        <p:spPr>
          <a:xfrm>
            <a:off x="7899150" y="24041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60"/>
          <p:cNvSpPr txBox="1"/>
          <p:nvPr/>
        </p:nvSpPr>
        <p:spPr>
          <a:xfrm>
            <a:off x="6222750" y="29375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60"/>
          <p:cNvSpPr txBox="1"/>
          <p:nvPr/>
        </p:nvSpPr>
        <p:spPr>
          <a:xfrm>
            <a:off x="5613150" y="1946950"/>
            <a:ext cx="4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003" name="Google Shape;1003;p6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Pentru ce valori ale lui n există un ciclu eulerian în (multi)graful asociat?</a:t>
            </a:r>
            <a:endParaRPr/>
          </a:p>
        </p:txBody>
      </p:sp>
      <p:pic>
        <p:nvPicPr>
          <p:cNvPr id="1004" name="Google Shape;100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550" y="1837038"/>
            <a:ext cx="3844599" cy="25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51" y="823950"/>
            <a:ext cx="689721" cy="10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011" name="Google Shape;1011;p6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Pentru ce valori ale lui n există un ciclu eulerian în (multi)graful asociat?</a:t>
            </a:r>
            <a:endParaRPr/>
          </a:p>
        </p:txBody>
      </p:sp>
      <p:pic>
        <p:nvPicPr>
          <p:cNvPr id="1012" name="Google Shape;101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550" y="1837038"/>
            <a:ext cx="3844599" cy="25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51" y="823950"/>
            <a:ext cx="689721" cy="10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2"/>
          <p:cNvSpPr txBox="1"/>
          <p:nvPr/>
        </p:nvSpPr>
        <p:spPr>
          <a:xfrm>
            <a:off x="4972400" y="2479525"/>
            <a:ext cx="277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d(i) = ?, pentru i = 0, …, n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020" name="Google Shape;1020;p6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Pentru ce valori ale lui n există un ciclu eulerian în (multi)graful asociat?</a:t>
            </a:r>
            <a:endParaRPr/>
          </a:p>
        </p:txBody>
      </p:sp>
      <p:pic>
        <p:nvPicPr>
          <p:cNvPr id="1021" name="Google Shape;102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51" y="823950"/>
            <a:ext cx="689721" cy="10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63"/>
          <p:cNvSpPr txBox="1"/>
          <p:nvPr/>
        </p:nvSpPr>
        <p:spPr>
          <a:xfrm>
            <a:off x="3988200" y="2110050"/>
            <a:ext cx="4657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d(i) = n + 2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muchiile incidente în i sunt: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bucla neetichetată (i, i) și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muchiile etichetate {i, j} cu i ≠ j, j ∉ {0, …, n}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trebuie ca n să fie par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3"/>
          <p:cNvSpPr/>
          <p:nvPr/>
        </p:nvSpPr>
        <p:spPr>
          <a:xfrm>
            <a:off x="1429325" y="2495275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3"/>
          <p:cNvSpPr/>
          <p:nvPr/>
        </p:nvSpPr>
        <p:spPr>
          <a:xfrm>
            <a:off x="1429325" y="3693975"/>
            <a:ext cx="399600" cy="399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baseline="-25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5" name="Google Shape;1025;p63"/>
          <p:cNvCxnSpPr>
            <a:stCxn id="1023" idx="4"/>
            <a:endCxn id="1024" idx="0"/>
          </p:cNvCxnSpPr>
          <p:nvPr/>
        </p:nvCxnSpPr>
        <p:spPr>
          <a:xfrm>
            <a:off x="1629125" y="2894875"/>
            <a:ext cx="0" cy="79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6" name="Google Shape;1026;p63"/>
          <p:cNvSpPr txBox="1"/>
          <p:nvPr/>
        </p:nvSpPr>
        <p:spPr>
          <a:xfrm>
            <a:off x="1682650" y="3065175"/>
            <a:ext cx="363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63"/>
          <p:cNvSpPr txBox="1"/>
          <p:nvPr/>
        </p:nvSpPr>
        <p:spPr>
          <a:xfrm>
            <a:off x="2046550" y="3065175"/>
            <a:ext cx="363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63"/>
          <p:cNvSpPr txBox="1"/>
          <p:nvPr/>
        </p:nvSpPr>
        <p:spPr>
          <a:xfrm>
            <a:off x="1911250" y="1998375"/>
            <a:ext cx="363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63"/>
          <p:cNvSpPr txBox="1"/>
          <p:nvPr/>
        </p:nvSpPr>
        <p:spPr>
          <a:xfrm>
            <a:off x="2275150" y="1998375"/>
            <a:ext cx="3639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3"/>
          <p:cNvSpPr/>
          <p:nvPr/>
        </p:nvSpPr>
        <p:spPr>
          <a:xfrm>
            <a:off x="1394067" y="2115268"/>
            <a:ext cx="434475" cy="459850"/>
          </a:xfrm>
          <a:custGeom>
            <a:rect b="b" l="l" r="r" t="t"/>
            <a:pathLst>
              <a:path extrusionOk="0" h="18394" w="17379">
                <a:moveTo>
                  <a:pt x="1941" y="18394"/>
                </a:moveTo>
                <a:cubicBezTo>
                  <a:pt x="1627" y="16641"/>
                  <a:pt x="-350" y="10844"/>
                  <a:pt x="54" y="7878"/>
                </a:cubicBezTo>
                <a:cubicBezTo>
                  <a:pt x="459" y="4912"/>
                  <a:pt x="2121" y="1676"/>
                  <a:pt x="4368" y="597"/>
                </a:cubicBezTo>
                <a:cubicBezTo>
                  <a:pt x="6615" y="-482"/>
                  <a:pt x="11379" y="-32"/>
                  <a:pt x="13536" y="1406"/>
                </a:cubicBezTo>
                <a:cubicBezTo>
                  <a:pt x="15693" y="2844"/>
                  <a:pt x="16907" y="6395"/>
                  <a:pt x="17311" y="9226"/>
                </a:cubicBezTo>
                <a:cubicBezTo>
                  <a:pt x="17716" y="12057"/>
                  <a:pt x="16188" y="16866"/>
                  <a:pt x="15963" y="1839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036" name="Google Shape;1036;p64"/>
          <p:cNvSpPr txBox="1"/>
          <p:nvPr>
            <p:ph idx="1" type="body"/>
          </p:nvPr>
        </p:nvSpPr>
        <p:spPr>
          <a:xfrm>
            <a:off x="311700" y="906225"/>
            <a:ext cx="8728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Problema lui POSTHUMUS (Suplimentar)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f(n) = numărul minim de cifre de 0 și 1 care se pot dispune circular a.î. între cele f(n) secvențe de lungime n de cifre succesive apar toți cei 2</a:t>
            </a:r>
            <a:r>
              <a:rPr b="0" baseline="30000" lang="en-GB"/>
              <a:t>n</a:t>
            </a:r>
            <a:r>
              <a:rPr b="0" lang="en-GB"/>
              <a:t> vectori de lungime n peste {0, 1} (citite în același sens).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Evident, f(n) ≥ 2</a:t>
            </a:r>
            <a:r>
              <a:rPr b="0" baseline="30000" lang="en-GB"/>
              <a:t>n</a:t>
            </a:r>
            <a:r>
              <a:rPr b="0" lang="en-GB"/>
              <a:t>. </a:t>
            </a:r>
            <a:r>
              <a:rPr lang="en-GB"/>
              <a:t>Are loc chiar egalitate?</a:t>
            </a:r>
            <a:endParaRPr/>
          </a:p>
        </p:txBody>
      </p:sp>
      <p:pic>
        <p:nvPicPr>
          <p:cNvPr id="1037" name="Google Shape;103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713" y="2822900"/>
            <a:ext cx="4140574" cy="21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pic>
        <p:nvPicPr>
          <p:cNvPr id="1043" name="Google Shape;104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063" y="910925"/>
            <a:ext cx="3307875" cy="21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896" y="3092525"/>
            <a:ext cx="3230325" cy="19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 txBox="1"/>
          <p:nvPr/>
        </p:nvSpPr>
        <p:spPr>
          <a:xfrm>
            <a:off x="4373749" y="3641700"/>
            <a:ext cx="445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Prima cifră din etichetele arcelor unui circuit eulerian în B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n-1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 soluție pentru problema lui Posthumus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sp>
        <p:nvSpPr>
          <p:cNvPr id="1051" name="Google Shape;1051;p6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Multigraf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V(B</a:t>
            </a:r>
            <a:r>
              <a:rPr b="0" baseline="-25000" lang="en-GB"/>
              <a:t>n</a:t>
            </a:r>
            <a:r>
              <a:rPr b="0" lang="en-GB"/>
              <a:t>) = {0, 1}</a:t>
            </a:r>
            <a:r>
              <a:rPr b="0" baseline="30000" lang="en-GB"/>
              <a:t>n</a:t>
            </a:r>
            <a:r>
              <a:rPr b="0" lang="en-GB"/>
              <a:t>			(mai general {0, 1, …, p}</a:t>
            </a:r>
            <a:r>
              <a:rPr b="0" baseline="30000" lang="en-GB"/>
              <a:t>n</a:t>
            </a:r>
            <a:r>
              <a:rPr b="0" lang="en-GB"/>
              <a:t>)</a:t>
            </a:r>
            <a:br>
              <a:rPr b="0" lang="en-GB"/>
            </a:br>
            <a:r>
              <a:rPr b="0" lang="en-GB" sz="1200"/>
              <a:t>				(sau cuvinte de lungime n peste un alfabet finit)</a:t>
            </a:r>
            <a:endParaRPr b="0" sz="12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2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E(B</a:t>
            </a:r>
            <a:r>
              <a:rPr b="0" baseline="-25000" lang="en-GB"/>
              <a:t>n</a:t>
            </a:r>
            <a:r>
              <a:rPr b="0" lang="en-GB"/>
              <a:t>) etichetate cu {0, 1}</a:t>
            </a:r>
            <a:r>
              <a:rPr b="0" baseline="30000" lang="en-GB"/>
              <a:t>n+1</a:t>
            </a:r>
            <a:r>
              <a:rPr b="0" lang="en-GB"/>
              <a:t>		({0, 1, …, p}</a:t>
            </a:r>
            <a:r>
              <a:rPr b="0" baseline="30000" lang="en-GB"/>
              <a:t>n+1</a:t>
            </a:r>
            <a:r>
              <a:rPr b="0" lang="en-GB"/>
              <a:t>)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b</a:t>
            </a:r>
            <a:r>
              <a:rPr b="0" baseline="-25000" lang="en-GB"/>
              <a:t>1</a:t>
            </a:r>
            <a:r>
              <a:rPr b="0" lang="en-GB"/>
              <a:t>b</a:t>
            </a:r>
            <a:r>
              <a:rPr b="0" baseline="-25000" lang="en-GB"/>
              <a:t>2</a:t>
            </a:r>
            <a:r>
              <a:rPr b="0" lang="en-GB"/>
              <a:t>...b</a:t>
            </a:r>
            <a:r>
              <a:rPr b="0" baseline="-25000" lang="en-GB"/>
              <a:t>n</a:t>
            </a:r>
            <a:r>
              <a:rPr b="0" lang="en-GB"/>
              <a:t>b</a:t>
            </a:r>
            <a:r>
              <a:rPr b="0" baseline="-25000" lang="en-GB"/>
              <a:t>n+1</a:t>
            </a:r>
            <a:r>
              <a:rPr b="0" lang="en-GB"/>
              <a:t>	etichetează arcul de la 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b</a:t>
            </a:r>
            <a:r>
              <a:rPr b="0" baseline="-25000" lang="en-GB"/>
              <a:t>1</a:t>
            </a:r>
            <a:r>
              <a:rPr lang="en-GB"/>
              <a:t>b</a:t>
            </a:r>
            <a:r>
              <a:rPr baseline="-25000" lang="en-GB"/>
              <a:t>2</a:t>
            </a:r>
            <a:r>
              <a:rPr lang="en-GB"/>
              <a:t>...b</a:t>
            </a:r>
            <a:r>
              <a:rPr baseline="-25000" lang="en-GB"/>
              <a:t>n</a:t>
            </a:r>
            <a:r>
              <a:rPr b="0" lang="en-GB"/>
              <a:t>	la	</a:t>
            </a:r>
            <a:r>
              <a:rPr lang="en-GB"/>
              <a:t>b</a:t>
            </a:r>
            <a:r>
              <a:rPr baseline="-25000" lang="en-GB"/>
              <a:t>2</a:t>
            </a:r>
            <a:r>
              <a:rPr lang="en-GB"/>
              <a:t>...b</a:t>
            </a:r>
            <a:r>
              <a:rPr baseline="-25000" lang="en-GB"/>
              <a:t>n</a:t>
            </a:r>
            <a:r>
              <a:rPr b="0" lang="en-GB"/>
              <a:t>b</a:t>
            </a:r>
            <a:r>
              <a:rPr b="0" baseline="-25000" lang="en-GB"/>
              <a:t>n+1</a:t>
            </a:r>
            <a:endParaRPr b="0" baseline="30000"/>
          </a:p>
        </p:txBody>
      </p:sp>
      <p:sp>
        <p:nvSpPr>
          <p:cNvPr id="1052" name="Google Shape;1052;p66"/>
          <p:cNvSpPr/>
          <p:nvPr/>
        </p:nvSpPr>
        <p:spPr>
          <a:xfrm>
            <a:off x="2152538" y="3968750"/>
            <a:ext cx="1415700" cy="437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3" name="Google Shape;1053;p66"/>
          <p:cNvCxnSpPr>
            <a:stCxn id="1052" idx="6"/>
            <a:endCxn id="1054" idx="2"/>
          </p:cNvCxnSpPr>
          <p:nvPr/>
        </p:nvCxnSpPr>
        <p:spPr>
          <a:xfrm>
            <a:off x="3568238" y="4187300"/>
            <a:ext cx="2008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5" name="Google Shape;1055;p66"/>
          <p:cNvSpPr txBox="1"/>
          <p:nvPr/>
        </p:nvSpPr>
        <p:spPr>
          <a:xfrm>
            <a:off x="4002600" y="3787100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576663" y="3969500"/>
            <a:ext cx="1414800" cy="435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pic>
        <p:nvPicPr>
          <p:cNvPr id="1061" name="Google Shape;106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350" y="899272"/>
            <a:ext cx="2440225" cy="12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0575" y="899275"/>
            <a:ext cx="2890600" cy="15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2630025"/>
            <a:ext cx="3476500" cy="22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7875" y="2689862"/>
            <a:ext cx="3594424" cy="21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sp>
        <p:nvSpPr>
          <p:cNvPr id="1070" name="Google Shape;1070;p6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B</a:t>
            </a:r>
            <a:r>
              <a:rPr b="0" baseline="-25000" lang="en-GB"/>
              <a:t>n</a:t>
            </a:r>
            <a:r>
              <a:rPr b="0" lang="en-GB"/>
              <a:t> este eulerian?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</a:t>
            </a:r>
            <a:r>
              <a:rPr b="0" baseline="30000" lang="en-GB"/>
              <a:t>+</a:t>
            </a:r>
            <a:r>
              <a:rPr b="0" lang="en-GB"/>
              <a:t>(v) = 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d</a:t>
            </a:r>
            <a:r>
              <a:rPr b="0" baseline="30000" lang="en-GB"/>
              <a:t>-</a:t>
            </a:r>
            <a:r>
              <a:rPr b="0" lang="en-GB"/>
              <a:t>(v) = ?</a:t>
            </a:r>
            <a:endParaRPr b="0"/>
          </a:p>
        </p:txBody>
      </p:sp>
      <p:sp>
        <p:nvSpPr>
          <p:cNvPr id="1071" name="Google Shape;1071;p68"/>
          <p:cNvSpPr/>
          <p:nvPr/>
        </p:nvSpPr>
        <p:spPr>
          <a:xfrm>
            <a:off x="2152538" y="2597150"/>
            <a:ext cx="1415700" cy="437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2" name="Google Shape;1072;p68"/>
          <p:cNvCxnSpPr>
            <a:stCxn id="1071" idx="6"/>
            <a:endCxn id="1073" idx="2"/>
          </p:cNvCxnSpPr>
          <p:nvPr/>
        </p:nvCxnSpPr>
        <p:spPr>
          <a:xfrm>
            <a:off x="3568238" y="2815700"/>
            <a:ext cx="2008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4" name="Google Shape;1074;p68"/>
          <p:cNvSpPr txBox="1"/>
          <p:nvPr/>
        </p:nvSpPr>
        <p:spPr>
          <a:xfrm>
            <a:off x="4002600" y="2415500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8"/>
          <p:cNvSpPr/>
          <p:nvPr/>
        </p:nvSpPr>
        <p:spPr>
          <a:xfrm>
            <a:off x="5576663" y="2597900"/>
            <a:ext cx="1414800" cy="435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8"/>
          <p:cNvSpPr txBox="1"/>
          <p:nvPr/>
        </p:nvSpPr>
        <p:spPr>
          <a:xfrm>
            <a:off x="2728250" y="3087825"/>
            <a:ext cx="2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8"/>
          <p:cNvSpPr txBox="1"/>
          <p:nvPr/>
        </p:nvSpPr>
        <p:spPr>
          <a:xfrm>
            <a:off x="5387375" y="3087825"/>
            <a:ext cx="179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orice b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 alfabet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B</a:t>
            </a:r>
            <a:r>
              <a:rPr b="0" baseline="-25000" lang="en-GB"/>
              <a:t>n</a:t>
            </a:r>
            <a:r>
              <a:rPr b="0" lang="en-GB"/>
              <a:t> este eulerian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</a:t>
            </a:r>
            <a:r>
              <a:rPr b="0" baseline="30000" lang="en-GB"/>
              <a:t>+</a:t>
            </a:r>
            <a:r>
              <a:rPr b="0" lang="en-GB"/>
              <a:t>(v) = |{0, 1}| = 2   		</a:t>
            </a:r>
            <a:r>
              <a:rPr b="0" lang="en-GB" sz="1200"/>
              <a:t>(mai general = |{0, 1, …, p}|)</a:t>
            </a:r>
            <a:endParaRPr b="0" sz="1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d</a:t>
            </a:r>
            <a:r>
              <a:rPr b="0" baseline="30000" lang="en-GB"/>
              <a:t>-</a:t>
            </a:r>
            <a:r>
              <a:rPr b="0" lang="en-GB"/>
              <a:t>(v) = d</a:t>
            </a:r>
            <a:r>
              <a:rPr b="0" baseline="30000" lang="en-GB"/>
              <a:t>+</a:t>
            </a:r>
            <a:r>
              <a:rPr b="0" lang="en-GB"/>
              <a:t>(v)</a:t>
            </a:r>
            <a:endParaRPr b="0"/>
          </a:p>
        </p:txBody>
      </p:sp>
      <p:sp>
        <p:nvSpPr>
          <p:cNvPr id="1082" name="Google Shape;1082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  <p:sp>
        <p:nvSpPr>
          <p:cNvPr id="1083" name="Google Shape;1083;p69"/>
          <p:cNvSpPr/>
          <p:nvPr/>
        </p:nvSpPr>
        <p:spPr>
          <a:xfrm>
            <a:off x="2152538" y="2597150"/>
            <a:ext cx="1415700" cy="437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69"/>
          <p:cNvCxnSpPr>
            <a:stCxn id="1083" idx="6"/>
            <a:endCxn id="1085" idx="2"/>
          </p:cNvCxnSpPr>
          <p:nvPr/>
        </p:nvCxnSpPr>
        <p:spPr>
          <a:xfrm>
            <a:off x="3568238" y="2815700"/>
            <a:ext cx="2008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69"/>
          <p:cNvSpPr txBox="1"/>
          <p:nvPr/>
        </p:nvSpPr>
        <p:spPr>
          <a:xfrm>
            <a:off x="4002600" y="2415500"/>
            <a:ext cx="11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5576663" y="2597900"/>
            <a:ext cx="1414800" cy="4356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...b</a:t>
            </a:r>
            <a:r>
              <a:rPr b="0" baseline="-2500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9"/>
          <p:cNvSpPr txBox="1"/>
          <p:nvPr/>
        </p:nvSpPr>
        <p:spPr>
          <a:xfrm>
            <a:off x="2728250" y="3087825"/>
            <a:ext cx="2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9"/>
          <p:cNvSpPr txBox="1"/>
          <p:nvPr/>
        </p:nvSpPr>
        <p:spPr>
          <a:xfrm>
            <a:off x="5387375" y="3087825"/>
            <a:ext cx="179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orice b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 alfabet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Prima cifră din etichetele arcelor unui circuit eulerian în B</a:t>
            </a:r>
            <a:r>
              <a:rPr baseline="-25000" lang="en-GB">
                <a:solidFill>
                  <a:srgbClr val="CC0000"/>
                </a:solidFill>
              </a:rPr>
              <a:t>n-1</a:t>
            </a:r>
            <a:r>
              <a:rPr lang="en-GB">
                <a:solidFill>
                  <a:srgbClr val="CC0000"/>
                </a:solidFill>
              </a:rPr>
              <a:t> - soluție pentru problema lui Posthumus</a:t>
            </a:r>
            <a:endParaRPr>
              <a:solidFill>
                <a:srgbClr val="CC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⇒ f(n) = 2</a:t>
            </a:r>
            <a:r>
              <a:rPr baseline="30000" lang="en-GB">
                <a:solidFill>
                  <a:srgbClr val="CC0000"/>
                </a:solidFill>
              </a:rPr>
              <a:t>n</a:t>
            </a:r>
            <a:endParaRPr baseline="300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aseline="30000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b="0" lang="en-GB"/>
              <a:t>Circuit eulerian în B</a:t>
            </a:r>
            <a:r>
              <a:rPr b="0" baseline="-25000" lang="en-GB"/>
              <a:t>n-1</a:t>
            </a:r>
            <a:r>
              <a:rPr b="0" lang="en-GB"/>
              <a:t>   ↔   circuit hamiltonian în B</a:t>
            </a:r>
            <a:r>
              <a:rPr b="0" baseline="-25000" lang="en-GB"/>
              <a:t>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094" name="Google Shape;1094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Aplicație</a:t>
            </a:r>
            <a:r>
              <a:rPr b="0" lang="en-GB"/>
              <a:t> - genetică (</a:t>
            </a:r>
            <a:r>
              <a:rPr b="0" i="1" lang="en-GB"/>
              <a:t>Genome Assembly</a:t>
            </a:r>
            <a:r>
              <a:rPr b="0" lang="en-GB"/>
              <a:t>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100" name="Google Shape;1100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de Bruijn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te a new document." ma:contentTypeScope="" ma:versionID="a24da269fcca2a905fc9c8ad0066c42c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06b7b4207b8b883b4ffcfbd92386e0fc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49B4AE-3303-4711-BB70-293D76A09B48}"/>
</file>

<file path=customXml/itemProps2.xml><?xml version="1.0" encoding="utf-8"?>
<ds:datastoreItem xmlns:ds="http://schemas.openxmlformats.org/officeDocument/2006/customXml" ds:itemID="{AF814864-D986-455C-89E9-9BF91AE2D539}"/>
</file>

<file path=customXml/itemProps3.xml><?xml version="1.0" encoding="utf-8"?>
<ds:datastoreItem xmlns:ds="http://schemas.openxmlformats.org/officeDocument/2006/customXml" ds:itemID="{DB34E5C7-8D32-4190-B02C-4FCC0AE71C9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