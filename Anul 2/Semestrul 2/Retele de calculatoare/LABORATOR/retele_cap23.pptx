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6"/>
  </p:notesMasterIdLst>
  <p:sldIdLst>
    <p:sldId id="256" r:id="rId5"/>
    <p:sldId id="258" r:id="rId6"/>
    <p:sldId id="259" r:id="rId7"/>
    <p:sldId id="260" r:id="rId8"/>
    <p:sldId id="261" r:id="rId9"/>
    <p:sldId id="262" r:id="rId10"/>
    <p:sldId id="288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86" r:id="rId19"/>
    <p:sldId id="270" r:id="rId20"/>
    <p:sldId id="287" r:id="rId21"/>
    <p:sldId id="271" r:id="rId22"/>
    <p:sldId id="274" r:id="rId23"/>
    <p:sldId id="275" r:id="rId24"/>
    <p:sldId id="272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1B2CCAA-50CF-7748-2260-A2DB5E2AFFBC}" v="1" dt="2026-04-02T09:40:21.6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E WIN TINT SABEI" userId="S::soe-win.tint-sabei@s.unibuc.ro::5c0a03ff-2e26-455d-8c1b-7516baa3440b" providerId="AD" clId="Web-{B1B2CCAA-50CF-7748-2260-A2DB5E2AFFBC}"/>
    <pc:docChg chg="addSld">
      <pc:chgData name="SOE WIN TINT SABEI" userId="S::soe-win.tint-sabei@s.unibuc.ro::5c0a03ff-2e26-455d-8c1b-7516baa3440b" providerId="AD" clId="Web-{B1B2CCAA-50CF-7748-2260-A2DB5E2AFFBC}" dt="2026-04-02T09:40:21.661" v="0"/>
      <pc:docMkLst>
        <pc:docMk/>
      </pc:docMkLst>
      <pc:sldChg chg="new">
        <pc:chgData name="SOE WIN TINT SABEI" userId="S::soe-win.tint-sabei@s.unibuc.ro::5c0a03ff-2e26-455d-8c1b-7516baa3440b" providerId="AD" clId="Web-{B1B2CCAA-50CF-7748-2260-A2DB5E2AFFBC}" dt="2026-04-02T09:40:21.661" v="0"/>
        <pc:sldMkLst>
          <pc:docMk/>
          <pc:sldMk cId="1382611183" sldId="28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0164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10268-6172-44DA-9C06-EF8C11E6D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126EEF-C51D-9981-AB83-F11E95C7D5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0693D5-7903-9541-7144-600F791EF3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CF10F8-46F7-DD6D-D179-DFAD6D0A1B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3149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hub.docker.com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B_WOsTHsUlE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xv2m5PnX8rw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9A0"/>
          </a:solidFill>
          <a:ln w="12700">
            <a:solidFill>
              <a:srgbClr val="02C9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760720" y="-822960"/>
            <a:ext cx="4389120" cy="4389120"/>
          </a:xfrm>
          <a:prstGeom prst="ellipse">
            <a:avLst/>
          </a:prstGeom>
          <a:solidFill>
            <a:srgbClr val="065A82">
              <a:alpha val="28000"/>
            </a:srgbClr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0" y="-274320"/>
            <a:ext cx="2926080" cy="2926080"/>
          </a:xfrm>
          <a:prstGeom prst="ellipse">
            <a:avLst/>
          </a:prstGeom>
          <a:solidFill>
            <a:srgbClr val="1C7293">
              <a:alpha val="20000"/>
            </a:srgbClr>
          </a:solidFill>
          <a:ln w="12700">
            <a:solidFill>
              <a:srgbClr val="02C9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804672"/>
            <a:ext cx="7772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6000" b="1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Lab </a:t>
            </a:r>
            <a:r>
              <a:rPr lang="en-US" sz="6000" b="1" err="1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Retele</a:t>
            </a:r>
            <a:endParaRPr lang="en-US" sz="6000"/>
          </a:p>
        </p:txBody>
      </p:sp>
      <p:sp>
        <p:nvSpPr>
          <p:cNvPr id="7" name="Text 5"/>
          <p:cNvSpPr/>
          <p:nvPr/>
        </p:nvSpPr>
        <p:spPr>
          <a:xfrm>
            <a:off x="411480" y="2907792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Capitolele 2 &amp; 3: DNS · HTTP · Flask · Docker · UDP · TCP · Scapy</a:t>
            </a:r>
            <a:endParaRPr lang="en-US" sz="1400"/>
          </a:p>
        </p:txBody>
      </p:sp>
      <p:sp>
        <p:nvSpPr>
          <p:cNvPr id="8" name="Shape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478231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github.com/senisioi/computer-networks · 2026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9A0"/>
          </a:solidFill>
          <a:ln w="12700">
            <a:solidFill>
              <a:srgbClr val="02C9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400" b="1">
                <a:solidFill>
                  <a:srgbClr val="02C9A0">
                    <a:alpha val="82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lang="en-US" sz="10400"/>
          </a:p>
        </p:txBody>
      </p:sp>
      <p:sp>
        <p:nvSpPr>
          <p:cNvPr id="5" name="Text 3"/>
          <p:cNvSpPr/>
          <p:nvPr/>
        </p:nvSpPr>
        <p:spPr>
          <a:xfrm>
            <a:off x="411480" y="1371600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</a:t>
            </a:r>
            <a:endParaRPr lang="en-US" sz="4400"/>
          </a:p>
        </p:txBody>
      </p:sp>
      <p:sp>
        <p:nvSpPr>
          <p:cNvPr id="6" name="Text 4"/>
          <p:cNvSpPr/>
          <p:nvPr/>
        </p:nvSpPr>
        <p:spPr>
          <a:xfrm>
            <a:off x="411480" y="2450592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Name System: </a:t>
            </a:r>
            <a:r>
              <a:rPr lang="en-US" sz="1500" i="1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traducerea</a:t>
            </a:r>
            <a:r>
              <a:rPr lang="en-US" sz="1500" i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numelor in adrese IP</a:t>
            </a:r>
            <a:endParaRPr lang="en-US" sz="1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9A0"/>
          </a:solidFill>
          <a:ln w="12700">
            <a:solidFill>
              <a:srgbClr val="02C9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>
                <a:solidFill>
                  <a:srgbClr val="02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· REZOLUTIE ITERATIVA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411480" y="438912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 ajunge 'fmi.unibuc.ro' la un IP</a:t>
            </a:r>
            <a:endParaRPr lang="en-US" sz="2600"/>
          </a:p>
        </p:txBody>
      </p:sp>
      <p:sp>
        <p:nvSpPr>
          <p:cNvPr id="5" name="Shape 3"/>
          <p:cNvSpPr/>
          <p:nvPr/>
        </p:nvSpPr>
        <p:spPr>
          <a:xfrm>
            <a:off x="347472" y="1234440"/>
            <a:ext cx="438912" cy="43891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47472" y="12344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/>
          </a:p>
        </p:txBody>
      </p:sp>
      <p:sp>
        <p:nvSpPr>
          <p:cNvPr id="7" name="Shape 5"/>
          <p:cNvSpPr/>
          <p:nvPr/>
        </p:nvSpPr>
        <p:spPr>
          <a:xfrm>
            <a:off x="914400" y="1143000"/>
            <a:ext cx="78638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14400" y="1143000"/>
            <a:ext cx="64008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51560" y="118872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→ Resolver local (8.8.8.8 / ISP)</a:t>
            </a:r>
            <a:endParaRPr lang="en-US" sz="1300"/>
          </a:p>
        </p:txBody>
      </p:sp>
      <p:sp>
        <p:nvSpPr>
          <p:cNvPr id="10" name="Text 8"/>
          <p:cNvSpPr/>
          <p:nvPr/>
        </p:nvSpPr>
        <p:spPr>
          <a:xfrm>
            <a:off x="1051560" y="1472184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Trimite query. Resolver-ul face munca in locul tau.</a:t>
            </a:r>
            <a:endParaRPr lang="en-US" sz="1050"/>
          </a:p>
        </p:txBody>
      </p:sp>
      <p:sp>
        <p:nvSpPr>
          <p:cNvPr id="11" name="Shape 9"/>
          <p:cNvSpPr/>
          <p:nvPr/>
        </p:nvSpPr>
        <p:spPr>
          <a:xfrm>
            <a:off x="548640" y="1673352"/>
            <a:ext cx="0" cy="292608"/>
          </a:xfrm>
          <a:prstGeom prst="line">
            <a:avLst/>
          </a:prstGeom>
          <a:noFill/>
          <a:ln w="12700">
            <a:solidFill>
              <a:srgbClr val="6B8FA3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47472" y="2075688"/>
            <a:ext cx="438912" cy="43891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7472" y="20756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/>
          </a:p>
        </p:txBody>
      </p:sp>
      <p:sp>
        <p:nvSpPr>
          <p:cNvPr id="14" name="Shape 12"/>
          <p:cNvSpPr/>
          <p:nvPr/>
        </p:nvSpPr>
        <p:spPr>
          <a:xfrm>
            <a:off x="914400" y="1984248"/>
            <a:ext cx="78638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14400" y="1984248"/>
            <a:ext cx="64008" cy="6400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51560" y="2029968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 → Root Server (.)</a:t>
            </a:r>
            <a:endParaRPr lang="en-US" sz="1300"/>
          </a:p>
        </p:txBody>
      </p:sp>
      <p:sp>
        <p:nvSpPr>
          <p:cNvPr id="17" name="Text 15"/>
          <p:cNvSpPr/>
          <p:nvPr/>
        </p:nvSpPr>
        <p:spPr>
          <a:xfrm>
            <a:off x="1051560" y="2313432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stie cine e responsabil de TLD-ul .ro → sec-dns-b.rotld.ro</a:t>
            </a:r>
            <a:endParaRPr lang="en-US" sz="1050"/>
          </a:p>
        </p:txBody>
      </p:sp>
      <p:sp>
        <p:nvSpPr>
          <p:cNvPr id="18" name="Shape 16"/>
          <p:cNvSpPr/>
          <p:nvPr/>
        </p:nvSpPr>
        <p:spPr>
          <a:xfrm>
            <a:off x="548640" y="2514600"/>
            <a:ext cx="0" cy="292608"/>
          </a:xfrm>
          <a:prstGeom prst="line">
            <a:avLst/>
          </a:prstGeom>
          <a:noFill/>
          <a:ln w="12700">
            <a:solidFill>
              <a:srgbClr val="6B8FA3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47472" y="2916936"/>
            <a:ext cx="438912" cy="438912"/>
          </a:xfrm>
          <a:prstGeom prst="ellipse">
            <a:avLst/>
          </a:prstGeom>
          <a:solidFill>
            <a:srgbClr val="02C9A0"/>
          </a:solidFill>
          <a:ln w="12700">
            <a:solidFill>
              <a:srgbClr val="02C9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47472" y="291693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/>
          </a:p>
        </p:txBody>
      </p:sp>
      <p:sp>
        <p:nvSpPr>
          <p:cNvPr id="21" name="Shape 19"/>
          <p:cNvSpPr/>
          <p:nvPr/>
        </p:nvSpPr>
        <p:spPr>
          <a:xfrm>
            <a:off x="914400" y="2825496"/>
            <a:ext cx="78638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14400" y="2825496"/>
            <a:ext cx="64008" cy="640080"/>
          </a:xfrm>
          <a:prstGeom prst="rect">
            <a:avLst/>
          </a:prstGeom>
          <a:solidFill>
            <a:srgbClr val="02C9A0"/>
          </a:solidFill>
          <a:ln w="12700">
            <a:solidFill>
              <a:srgbClr val="02C9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51560" y="2871216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 → TLD Server (.ro)</a:t>
            </a:r>
            <a:endParaRPr lang="en-US" sz="1300"/>
          </a:p>
        </p:txBody>
      </p:sp>
      <p:sp>
        <p:nvSpPr>
          <p:cNvPr id="24" name="Text 22"/>
          <p:cNvSpPr/>
          <p:nvPr/>
        </p:nvSpPr>
        <p:spPr>
          <a:xfrm>
            <a:off x="1051560" y="315468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Serverul .ro stie ca ns.unibuc.ro e responsabil → 80.96.21.3</a:t>
            </a:r>
            <a:endParaRPr lang="en-US" sz="1050"/>
          </a:p>
        </p:txBody>
      </p:sp>
      <p:sp>
        <p:nvSpPr>
          <p:cNvPr id="25" name="Shape 23"/>
          <p:cNvSpPr/>
          <p:nvPr/>
        </p:nvSpPr>
        <p:spPr>
          <a:xfrm>
            <a:off x="548640" y="3355848"/>
            <a:ext cx="0" cy="292608"/>
          </a:xfrm>
          <a:prstGeom prst="line">
            <a:avLst/>
          </a:prstGeom>
          <a:noFill/>
          <a:ln w="12700">
            <a:solidFill>
              <a:srgbClr val="6B8FA3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47472" y="3758184"/>
            <a:ext cx="438912" cy="438912"/>
          </a:xfrm>
          <a:prstGeom prst="ellipse">
            <a:avLst/>
          </a:prstGeom>
          <a:solidFill>
            <a:srgbClr val="2D9E5A"/>
          </a:solidFill>
          <a:ln w="12700">
            <a:solidFill>
              <a:srgbClr val="2D9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47472" y="375818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/>
          </a:p>
        </p:txBody>
      </p:sp>
      <p:sp>
        <p:nvSpPr>
          <p:cNvPr id="28" name="Shape 26"/>
          <p:cNvSpPr/>
          <p:nvPr/>
        </p:nvSpPr>
        <p:spPr>
          <a:xfrm>
            <a:off x="914400" y="3666744"/>
            <a:ext cx="78638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914400" y="3666744"/>
            <a:ext cx="64008" cy="640080"/>
          </a:xfrm>
          <a:prstGeom prst="rect">
            <a:avLst/>
          </a:prstGeom>
          <a:solidFill>
            <a:srgbClr val="2D9E5A"/>
          </a:solidFill>
          <a:ln w="12700">
            <a:solidFill>
              <a:srgbClr val="2D9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051560" y="3712464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 → ns.unibuc.ro → raspuns final</a:t>
            </a:r>
            <a:endParaRPr lang="en-US" sz="1300"/>
          </a:p>
        </p:txBody>
      </p:sp>
      <p:sp>
        <p:nvSpPr>
          <p:cNvPr id="31" name="Text 29"/>
          <p:cNvSpPr/>
          <p:nvPr/>
        </p:nvSpPr>
        <p:spPr>
          <a:xfrm>
            <a:off x="1051560" y="3995928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Authoritative NS returneaza: fmi.unibuc.ro = 193.226.51.15 ✓</a:t>
            </a:r>
            <a:endParaRPr lang="en-US" sz="1050"/>
          </a:p>
        </p:txBody>
      </p:sp>
      <p:sp>
        <p:nvSpPr>
          <p:cNvPr id="32" name="Shape 30"/>
          <p:cNvSpPr/>
          <p:nvPr/>
        </p:nvSpPr>
        <p:spPr>
          <a:xfrm>
            <a:off x="320040" y="4681728"/>
            <a:ext cx="8503920" cy="365760"/>
          </a:xfrm>
          <a:prstGeom prst="rect">
            <a:avLst/>
          </a:prstGeom>
          <a:solidFill>
            <a:srgbClr val="0D2137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7FDB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= UDP port 53  |  Iterativ: resolver face toti pasii  |  Cache TTL reduce nr. cereri  |  dig @8.8.8.8 fmi.unibuc.ro</a:t>
            </a:r>
            <a:endParaRPr lang="en-US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9A0"/>
          </a:solidFill>
          <a:ln w="12700">
            <a:solidFill>
              <a:srgbClr val="02C9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>
                <a:solidFill>
                  <a:srgbClr val="02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· TIPURI DE INREGISTRARI SI DIG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411480" y="438912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types si cum le interogam</a:t>
            </a:r>
            <a:endParaRPr lang="en-US" sz="260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78992"/>
          <a:ext cx="5120640" cy="2487168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 stocheaza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Exemplu / Comanda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1A2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1A2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 -&gt; IPv4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1A2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fmi.unibuc.ro -&gt; 193.226.51.15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1A2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AAAA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1A2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 -&gt; IPv6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1A2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google.com -&gt; 2a00:1450::...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1A2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CNAME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1A2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Alias pentru alt nume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1A2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nlp.unibuc.ro -&gt; nlp-unibuc.github.io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1A2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MX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1A2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email SMTP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1A2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 @8.8.8.8 fmi.unibuc.ro MX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1A2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1A2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Nameserver responsabil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1A2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 @8.8.8.8 fmi.unibuc.ro NS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1A2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TXT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1A2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 text arbitrare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1A2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 @8.8.8.8 fmi.unibuc.ro TXT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1A2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PTR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1A2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 -&gt; Nume (reverse)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1A2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 -x 193.226.51.15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3"/>
          <p:cNvSpPr/>
          <p:nvPr/>
        </p:nvSpPr>
        <p:spPr>
          <a:xfrm>
            <a:off x="5623560" y="107899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dig:</a:t>
            </a:r>
            <a:endParaRPr lang="en-US" sz="1100"/>
          </a:p>
        </p:txBody>
      </p:sp>
      <p:sp>
        <p:nvSpPr>
          <p:cNvPr id="7" name="Shape 4"/>
          <p:cNvSpPr/>
          <p:nvPr/>
        </p:nvSpPr>
        <p:spPr>
          <a:xfrm>
            <a:off x="5623560" y="1371600"/>
            <a:ext cx="3200400" cy="3401568"/>
          </a:xfrm>
          <a:prstGeom prst="rect">
            <a:avLst/>
          </a:prstGeom>
          <a:solidFill>
            <a:srgbClr val="0D2137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742432" y="1463040"/>
            <a:ext cx="2962656" cy="3218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Rezolutie iterativa manuala</a:t>
            </a:r>
            <a:endParaRPr lang="en-US" sz="850"/>
          </a:p>
          <a:p>
            <a:pPr marL="0" indent="0">
              <a:buNone/>
            </a:pPr>
            <a:r>
              <a:rPr lang="en-US" sz="85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 @a.root-servers.net fmi.unibuc.ro</a:t>
            </a:r>
            <a:endParaRPr lang="en-US" sz="850"/>
          </a:p>
          <a:p>
            <a:pPr marL="0" indent="0">
              <a:buNone/>
            </a:pPr>
            <a:r>
              <a:rPr lang="en-US" sz="85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 @sec-dns-b.rotld.ro fmi.unibuc.ro</a:t>
            </a:r>
            <a:endParaRPr lang="en-US" sz="850"/>
          </a:p>
          <a:p>
            <a:pPr marL="0" indent="0">
              <a:buNone/>
            </a:pPr>
            <a:r>
              <a:rPr lang="en-US" sz="85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 @80.96.21.3 fmi.unibuc.ro</a:t>
            </a:r>
            <a:endParaRPr lang="en-US" sz="850"/>
          </a:p>
          <a:p>
            <a:pPr marL="0" indent="0">
              <a:buNone/>
            </a:pPr>
            <a:endParaRPr lang="en-US" sz="850"/>
          </a:p>
          <a:p>
            <a:pPr marL="0" indent="0">
              <a:buNone/>
            </a:pPr>
            <a:r>
              <a:rPr lang="en-US" sz="85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Google DNS (face toti pasii)</a:t>
            </a:r>
            <a:endParaRPr lang="en-US" sz="850"/>
          </a:p>
          <a:p>
            <a:pPr marL="0" indent="0">
              <a:buNone/>
            </a:pPr>
            <a:r>
              <a:rPr lang="en-US" sz="85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 @8.8.8.8 fmi.unibuc.ro</a:t>
            </a:r>
            <a:endParaRPr lang="en-US" sz="850"/>
          </a:p>
          <a:p>
            <a:pPr marL="0" indent="0">
              <a:buNone/>
            </a:pPr>
            <a:endParaRPr lang="en-US" sz="850"/>
          </a:p>
          <a:p>
            <a:pPr marL="0" indent="0">
              <a:buNone/>
            </a:pPr>
            <a:r>
              <a:rPr lang="en-US" sz="85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Tipuri diferite</a:t>
            </a:r>
            <a:endParaRPr lang="en-US" sz="850"/>
          </a:p>
          <a:p>
            <a:pPr marL="0" indent="0">
              <a:buNone/>
            </a:pPr>
            <a:r>
              <a:rPr lang="en-US" sz="85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 @8.8.8.8 fmi.unibuc.ro MX</a:t>
            </a:r>
            <a:endParaRPr lang="en-US" sz="850"/>
          </a:p>
          <a:p>
            <a:pPr marL="0" indent="0">
              <a:buNone/>
            </a:pPr>
            <a:r>
              <a:rPr lang="en-US" sz="85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 @8.8.8.8 fmi.unibuc.ro NS</a:t>
            </a:r>
            <a:endParaRPr lang="en-US" sz="850"/>
          </a:p>
          <a:p>
            <a:pPr marL="0" indent="0">
              <a:buNone/>
            </a:pPr>
            <a:r>
              <a:rPr lang="en-US" sz="85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 @8.8.8.8 fmi.unibuc.ro TXT</a:t>
            </a:r>
            <a:endParaRPr lang="en-US" sz="850"/>
          </a:p>
          <a:p>
            <a:pPr marL="0" indent="0">
              <a:buNone/>
            </a:pPr>
            <a:r>
              <a:rPr lang="en-US" sz="85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 -x 193.226.51.15</a:t>
            </a:r>
            <a:endParaRPr lang="en-US" sz="850"/>
          </a:p>
        </p:txBody>
      </p:sp>
      <p:sp>
        <p:nvSpPr>
          <p:cNvPr id="9" name="Shape 6"/>
          <p:cNvSpPr/>
          <p:nvPr/>
        </p:nvSpPr>
        <p:spPr>
          <a:xfrm>
            <a:off x="32657" y="4811424"/>
            <a:ext cx="8503920" cy="310896"/>
          </a:xfrm>
          <a:prstGeom prst="rect">
            <a:avLst/>
          </a:prstGeom>
          <a:solidFill>
            <a:srgbClr val="02C9A0">
              <a:alpha val="12000"/>
            </a:srgbClr>
          </a:solidFill>
          <a:ln w="12700">
            <a:solidFill>
              <a:srgbClr val="02C9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91440" y="484800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container: docker compose exec rt1 bash  apoi dig @8.8.8.8 fmi.unibuc.ro</a:t>
            </a:r>
            <a:endParaRPr lang="en-US" sz="10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9A0"/>
          </a:solidFill>
          <a:ln w="12700">
            <a:solidFill>
              <a:srgbClr val="02C9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400" b="1">
                <a:solidFill>
                  <a:srgbClr val="02C9A0">
                    <a:alpha val="82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10400"/>
          </a:p>
        </p:txBody>
      </p:sp>
      <p:sp>
        <p:nvSpPr>
          <p:cNvPr id="5" name="Text 3"/>
          <p:cNvSpPr/>
          <p:nvPr/>
        </p:nvSpPr>
        <p:spPr>
          <a:xfrm>
            <a:off x="411480" y="1371600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+ Flask</a:t>
            </a:r>
            <a:endParaRPr lang="en-US" sz="4400"/>
          </a:p>
        </p:txBody>
      </p:sp>
      <p:sp>
        <p:nvSpPr>
          <p:cNvPr id="6" name="Text 4"/>
          <p:cNvSpPr/>
          <p:nvPr/>
        </p:nvSpPr>
        <p:spPr>
          <a:xfrm>
            <a:off x="411480" y="2450592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Layer; server web in Python</a:t>
            </a:r>
            <a:endParaRPr lang="en-US" sz="1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9A0"/>
          </a:solidFill>
          <a:ln w="12700">
            <a:solidFill>
              <a:srgbClr val="02C9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>
                <a:solidFill>
                  <a:srgbClr val="02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· MODELUL REQUEST/RESPONSE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411480" y="438912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 comunica clientul cu serverul</a:t>
            </a:r>
            <a:endParaRPr lang="en-US" sz="260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103120" cy="1005840"/>
          </a:xfrm>
          <a:prstGeom prst="rect">
            <a:avLst/>
          </a:prstGeom>
          <a:solidFill>
            <a:srgbClr val="065A82">
              <a:alpha val="82000"/>
            </a:srgbClr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200"/>
          </a:p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/ curl</a:t>
            </a:r>
            <a:endParaRPr lang="en-US" sz="1200"/>
          </a:p>
        </p:txBody>
      </p:sp>
      <p:sp>
        <p:nvSpPr>
          <p:cNvPr id="7" name="Shape 5"/>
          <p:cNvSpPr/>
          <p:nvPr/>
        </p:nvSpPr>
        <p:spPr>
          <a:xfrm>
            <a:off x="6675120" y="1097280"/>
            <a:ext cx="2103120" cy="1005840"/>
          </a:xfrm>
          <a:prstGeom prst="rect">
            <a:avLst/>
          </a:prstGeom>
          <a:solidFill>
            <a:srgbClr val="02C9A0">
              <a:alpha val="82000"/>
            </a:srgbClr>
          </a:solidFill>
          <a:ln w="12700">
            <a:solidFill>
              <a:srgbClr val="02C9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675120" y="109728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200"/>
          </a:p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/ nginx</a:t>
            </a:r>
            <a:endParaRPr lang="en-US" sz="1200"/>
          </a:p>
        </p:txBody>
      </p:sp>
      <p:sp>
        <p:nvSpPr>
          <p:cNvPr id="9" name="Shape 7"/>
          <p:cNvSpPr/>
          <p:nvPr/>
        </p:nvSpPr>
        <p:spPr>
          <a:xfrm>
            <a:off x="2487168" y="1417320"/>
            <a:ext cx="4160520" cy="0"/>
          </a:xfrm>
          <a:prstGeom prst="line">
            <a:avLst/>
          </a:prstGeom>
          <a:noFill/>
          <a:ln w="25400">
            <a:solidFill>
              <a:srgbClr val="F5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560320" y="118872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/item/5 HTTP/1.1  |  Host: localhost:8001</a:t>
            </a:r>
            <a:endParaRPr lang="en-US" sz="1000"/>
          </a:p>
        </p:txBody>
      </p:sp>
      <p:sp>
        <p:nvSpPr>
          <p:cNvPr id="11" name="Shape 9"/>
          <p:cNvSpPr/>
          <p:nvPr/>
        </p:nvSpPr>
        <p:spPr>
          <a:xfrm>
            <a:off x="2487168" y="1938528"/>
            <a:ext cx="4160520" cy="0"/>
          </a:xfrm>
          <a:prstGeom prst="line">
            <a:avLst/>
          </a:prstGeom>
          <a:noFill/>
          <a:ln w="25400">
            <a:solidFill>
              <a:srgbClr val="02C9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560320" y="173736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02C9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HTTP/1.1 200 OK  |  {"item_id":"5"}</a:t>
            </a:r>
            <a:endParaRPr lang="en-US" sz="100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331720"/>
          <a:ext cx="4206240" cy="164592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Metoda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Uz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Body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2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2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Citire date / pagini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2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2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2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Trimitere / creare resurse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2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2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2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Actualizare completa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2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2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2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Stergere resursa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2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2331720"/>
          <a:ext cx="4160520" cy="1975104"/>
        </p:xfrm>
        <a:graphic>
          <a:graphicData uri="http://schemas.openxmlformats.org/drawingml/2006/table">
            <a:tbl>
              <a:tblPr/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Semnificatie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2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OK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2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2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 Created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2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Resursa creata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2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 Bad Request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2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Cerere invalida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2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404 Not Found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2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 exista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2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 Server Error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2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Eroare server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26111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9A0"/>
          </a:solidFill>
          <a:ln w="12700">
            <a:solidFill>
              <a:srgbClr val="02C9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>
                <a:solidFill>
                  <a:srgbClr val="02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· STRUCTURA UNUI SERVER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3954780" y="315468"/>
            <a:ext cx="48691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Decoratoare, endpoint-uri, jsonify</a:t>
            </a:r>
            <a:endParaRPr lang="en-US" sz="2600"/>
          </a:p>
        </p:txBody>
      </p:sp>
      <p:sp>
        <p:nvSpPr>
          <p:cNvPr id="5" name="Shape 3"/>
          <p:cNvSpPr/>
          <p:nvPr/>
        </p:nvSpPr>
        <p:spPr>
          <a:xfrm>
            <a:off x="320040" y="864108"/>
            <a:ext cx="4837176" cy="4192524"/>
          </a:xfrm>
          <a:prstGeom prst="rect">
            <a:avLst/>
          </a:prstGeom>
          <a:solidFill>
            <a:srgbClr val="0D2137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38912" y="923544"/>
            <a:ext cx="4837176" cy="3950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flask import Flask, request, jsonify</a:t>
            </a:r>
            <a:endParaRPr lang="en-US" sz="850"/>
          </a:p>
          <a:p>
            <a:pPr marL="0" indent="0">
              <a:buNone/>
            </a:pPr>
            <a:r>
              <a:rPr lang="en-US" sz="85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socket</a:t>
            </a:r>
            <a:endParaRPr lang="en-US" sz="850"/>
          </a:p>
          <a:p>
            <a:pPr marL="0" indent="0">
              <a:buNone/>
            </a:pPr>
            <a:endParaRPr lang="en-US" sz="850"/>
          </a:p>
          <a:p>
            <a:pPr marL="0" indent="0">
              <a:buNone/>
            </a:pPr>
            <a:r>
              <a:rPr lang="en-US" sz="85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Flask(__name__)</a:t>
            </a:r>
            <a:endParaRPr lang="en-US" sz="850"/>
          </a:p>
          <a:p>
            <a:pPr marL="0" indent="0">
              <a:buNone/>
            </a:pPr>
            <a:endParaRPr lang="en-US" sz="850"/>
          </a:p>
          <a:p>
            <a:pPr marL="0" indent="0">
              <a:buNone/>
            </a:pPr>
            <a:r>
              <a:rPr lang="en-US" sz="85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@app.route mapeaza URL -&gt; functie Python</a:t>
            </a:r>
            <a:endParaRPr lang="en-US" sz="850"/>
          </a:p>
          <a:p>
            <a:pPr marL="0" indent="0">
              <a:buNone/>
            </a:pPr>
            <a:r>
              <a:rPr lang="en-US" sz="85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@app.route('/', methods=['GET'])</a:t>
            </a:r>
            <a:endParaRPr lang="en-US" sz="850"/>
          </a:p>
          <a:p>
            <a:pPr marL="0" indent="0">
              <a:buNone/>
            </a:pPr>
            <a:r>
              <a:rPr lang="en-US" sz="85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index():</a:t>
            </a:r>
            <a:endParaRPr lang="en-US" sz="850"/>
          </a:p>
          <a:p>
            <a:pPr marL="0" indent="0">
              <a:buNone/>
            </a:pPr>
            <a:r>
              <a:rPr lang="en-US" sz="85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"Serverul functioneaza!"</a:t>
            </a:r>
            <a:endParaRPr lang="en-US" sz="850"/>
          </a:p>
          <a:p>
            <a:pPr marL="0" indent="0">
              <a:buNone/>
            </a:pPr>
            <a:endParaRPr lang="en-US" sz="850"/>
          </a:p>
          <a:p>
            <a:pPr marL="0" indent="0">
              <a:buNone/>
            </a:pPr>
            <a:r>
              <a:rPr lang="en-US" sz="85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&lt;item_id&gt; = parametru dinamic in URL</a:t>
            </a:r>
            <a:endParaRPr lang="en-US" sz="850"/>
          </a:p>
          <a:p>
            <a:pPr marL="0" indent="0">
              <a:buNone/>
            </a:pPr>
            <a:r>
              <a:rPr lang="en-US" sz="85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@app.route('/item/&lt;item_id&gt;', methods=['GET'])</a:t>
            </a:r>
            <a:endParaRPr lang="en-US" sz="850"/>
          </a:p>
          <a:p>
            <a:pPr marL="0" indent="0">
              <a:buNone/>
            </a:pPr>
            <a:r>
              <a:rPr lang="en-US" sz="85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get_item(item_id):</a:t>
            </a:r>
            <a:endParaRPr lang="en-US" sz="850"/>
          </a:p>
          <a:p>
            <a:pPr marL="0" indent="0">
              <a:buNone/>
            </a:pPr>
            <a:r>
              <a:rPr lang="en-US" sz="85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jsonify({"item_id": item_id})</a:t>
            </a:r>
            <a:endParaRPr lang="en-US" sz="850"/>
          </a:p>
          <a:p>
            <a:pPr marL="0" indent="0">
              <a:buNone/>
            </a:pPr>
            <a:endParaRPr lang="en-US" sz="850"/>
          </a:p>
          <a:p>
            <a:pPr marL="0" indent="0">
              <a:buNone/>
            </a:pPr>
            <a:r>
              <a:rPr lang="en-US" sz="85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IP-ul real</a:t>
            </a:r>
          </a:p>
          <a:p>
            <a:pPr marL="0" indent="0">
              <a:buNone/>
            </a:pPr>
            <a:r>
              <a:rPr lang="en-US" sz="85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@app.route('/ip', methods=['GET'])</a:t>
            </a:r>
            <a:endParaRPr lang="en-US" sz="850"/>
          </a:p>
          <a:p>
            <a:pPr marL="0" indent="0">
              <a:buNone/>
            </a:pPr>
            <a:r>
              <a:rPr lang="en-US" sz="85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get_ip():</a:t>
            </a:r>
            <a:endParaRPr lang="en-US" sz="850"/>
          </a:p>
          <a:p>
            <a:pPr marL="0" indent="0">
              <a:buNone/>
            </a:pPr>
            <a:r>
              <a:rPr lang="en-US" sz="85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ip = socket.gethostbyname(socket.gethostname())</a:t>
            </a:r>
            <a:endParaRPr lang="en-US" sz="850"/>
          </a:p>
          <a:p>
            <a:pPr marL="0" indent="0">
              <a:buNone/>
            </a:pPr>
            <a:r>
              <a:rPr lang="en-US" sz="85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jsonify({"ip": ip})</a:t>
            </a:r>
            <a:endParaRPr lang="en-US" sz="850"/>
          </a:p>
          <a:p>
            <a:pPr marL="0" indent="0">
              <a:buNone/>
            </a:pPr>
            <a:endParaRPr lang="en-US" sz="850"/>
          </a:p>
          <a:p>
            <a:pPr marL="0" indent="0">
              <a:buNone/>
            </a:pPr>
            <a:r>
              <a:rPr lang="en-US" sz="85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POST: citeste body JSON</a:t>
            </a:r>
            <a:endParaRPr lang="en-US" sz="850"/>
          </a:p>
          <a:p>
            <a:pPr marL="0" indent="0">
              <a:buNone/>
            </a:pPr>
            <a:r>
              <a:rPr lang="en-US" sz="85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@app.route('/post', methods=['POST'])</a:t>
            </a:r>
            <a:endParaRPr lang="en-US" sz="850"/>
          </a:p>
          <a:p>
            <a:pPr marL="0" indent="0">
              <a:buNone/>
            </a:pPr>
            <a:r>
              <a:rPr lang="en-US" sz="85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post_data():</a:t>
            </a:r>
            <a:endParaRPr lang="en-US" sz="850"/>
          </a:p>
          <a:p>
            <a:pPr marL="0" indent="0">
              <a:buNone/>
            </a:pPr>
            <a:r>
              <a:rPr lang="en-US" sz="85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 = request.json  # dict Python din body</a:t>
            </a:r>
            <a:endParaRPr lang="en-US" sz="850"/>
          </a:p>
          <a:p>
            <a:pPr marL="0" indent="0">
              <a:buNone/>
            </a:pPr>
            <a:r>
              <a:rPr lang="en-US" sz="85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value = data.get('value', 0)</a:t>
            </a:r>
            <a:endParaRPr lang="en-US" sz="850"/>
          </a:p>
          <a:p>
            <a:pPr marL="0" indent="0">
              <a:buNone/>
            </a:pPr>
            <a:r>
              <a:rPr lang="en-US" sz="85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jsonify({"received": value})</a:t>
            </a:r>
            <a:endParaRPr lang="en-US" sz="850"/>
          </a:p>
          <a:p>
            <a:pPr marL="0" indent="0">
              <a:buNone/>
            </a:pPr>
            <a:endParaRPr lang="en-US" sz="850"/>
          </a:p>
          <a:p>
            <a:pPr marL="0" indent="0">
              <a:buNone/>
            </a:pPr>
            <a:r>
              <a:rPr lang="en-US" sz="85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__name__ == '__main__':</a:t>
            </a:r>
            <a:endParaRPr lang="en-US" sz="850"/>
          </a:p>
          <a:p>
            <a:pPr marL="0" indent="0">
              <a:buNone/>
            </a:pPr>
            <a:r>
              <a:rPr lang="en-US" sz="85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0.0.0.0 = TOATE interfetele (nu doar localhost!)</a:t>
            </a:r>
            <a:endParaRPr lang="en-US" sz="850"/>
          </a:p>
          <a:p>
            <a:pPr marL="0" indent="0">
              <a:buNone/>
            </a:pPr>
            <a:r>
              <a:rPr lang="en-US" sz="85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app.run(host='0.0.0.0', port=8001, debug=True)</a:t>
            </a:r>
            <a:endParaRPr lang="en-US" sz="850"/>
          </a:p>
        </p:txBody>
      </p:sp>
      <p:sp>
        <p:nvSpPr>
          <p:cNvPr id="7" name="Shape 5"/>
          <p:cNvSpPr/>
          <p:nvPr/>
        </p:nvSpPr>
        <p:spPr>
          <a:xfrm>
            <a:off x="5577840" y="1188720"/>
            <a:ext cx="32461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577840" y="1188720"/>
            <a:ext cx="64008" cy="42062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687568" y="1261872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Importam Flask + request (date cerere) + jsonify (dict-&gt;JSON)</a:t>
            </a:r>
            <a:endParaRPr lang="en-US" sz="950"/>
          </a:p>
        </p:txBody>
      </p:sp>
      <p:sp>
        <p:nvSpPr>
          <p:cNvPr id="10" name="Shape 8"/>
          <p:cNvSpPr/>
          <p:nvPr/>
        </p:nvSpPr>
        <p:spPr>
          <a:xfrm>
            <a:off x="5577840" y="1783080"/>
            <a:ext cx="32461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577840" y="1783080"/>
            <a:ext cx="64008" cy="42062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687568" y="1856232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@app.route: primul arg = URL, methods = metode acceptate</a:t>
            </a:r>
            <a:endParaRPr lang="en-US" sz="950"/>
          </a:p>
        </p:txBody>
      </p:sp>
      <p:sp>
        <p:nvSpPr>
          <p:cNvPr id="13" name="Shape 11"/>
          <p:cNvSpPr/>
          <p:nvPr/>
        </p:nvSpPr>
        <p:spPr>
          <a:xfrm>
            <a:off x="5577840" y="2395728"/>
            <a:ext cx="32461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577840" y="2395728"/>
            <a:ext cx="64008" cy="42062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687568" y="24688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&lt;item_id&gt; in ruta -&gt; argument cu acelasi nume in functie</a:t>
            </a:r>
            <a:endParaRPr lang="en-US" sz="950"/>
          </a:p>
        </p:txBody>
      </p:sp>
      <p:sp>
        <p:nvSpPr>
          <p:cNvPr id="16" name="Shape 14"/>
          <p:cNvSpPr/>
          <p:nvPr/>
        </p:nvSpPr>
        <p:spPr>
          <a:xfrm>
            <a:off x="5577840" y="3063240"/>
            <a:ext cx="32461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577840" y="3063240"/>
            <a:ext cx="64008" cy="42062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687568" y="3136392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gethostbyname(gethostname()) = IP containerului, NU 127.0.0.1</a:t>
            </a:r>
            <a:endParaRPr lang="en-US" sz="950"/>
          </a:p>
        </p:txBody>
      </p:sp>
      <p:sp>
        <p:nvSpPr>
          <p:cNvPr id="19" name="Shape 17"/>
          <p:cNvSpPr/>
          <p:nvPr/>
        </p:nvSpPr>
        <p:spPr>
          <a:xfrm>
            <a:off x="5577840" y="3730752"/>
            <a:ext cx="32461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577840" y="3730752"/>
            <a:ext cx="64008" cy="42062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687568" y="3803904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request.json citeste body-ul cererii POST ca dict Python</a:t>
            </a:r>
            <a:endParaRPr lang="en-US" sz="950"/>
          </a:p>
        </p:txBody>
      </p:sp>
      <p:sp>
        <p:nvSpPr>
          <p:cNvPr id="22" name="Shape 20"/>
          <p:cNvSpPr/>
          <p:nvPr/>
        </p:nvSpPr>
        <p:spPr>
          <a:xfrm>
            <a:off x="5577840" y="4526280"/>
            <a:ext cx="32461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577840" y="4526280"/>
            <a:ext cx="64008" cy="42062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687568" y="4599432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host='0.0.0.0' este OBLIGATORIU — altfel nu e accesibil din afara</a:t>
            </a:r>
            <a:endParaRPr lang="en-US" sz="9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9A0"/>
          </a:solidFill>
          <a:ln w="12700">
            <a:solidFill>
              <a:srgbClr val="02C9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>
                <a:solidFill>
                  <a:srgbClr val="02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 · CLIENT HTTP DIN TERMINAL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411480" y="438912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Sintaxa esentiala pentru testarea API-urilor</a:t>
            </a:r>
            <a:endParaRPr lang="en-US" sz="260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5029200" cy="4005072"/>
          </a:xfrm>
          <a:prstGeom prst="rect">
            <a:avLst/>
          </a:prstGeom>
          <a:solidFill>
            <a:srgbClr val="0D2137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38912" y="1170432"/>
            <a:ext cx="4791456" cy="3822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GET simplu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http://localhost:8001/</a:t>
            </a:r>
            <a:endParaRPr lang="en-US" sz="900"/>
          </a:p>
          <a:p>
            <a:pPr marL="0" indent="0">
              <a:buNone/>
            </a:pP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GET cu parametru in URL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http://localhost:8001/item/10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 {"item_id":“10"}</a:t>
            </a:r>
            <a:endParaRPr lang="en-US" sz="900"/>
          </a:p>
          <a:p>
            <a:pPr marL="0" indent="0">
              <a:buNone/>
            </a:pP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GET IP-ul </a:t>
            </a:r>
            <a:r>
              <a:rPr lang="en-US" sz="900" err="1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containerului</a:t>
            </a:r>
            <a:r>
              <a:rPr lang="en-US" sz="90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err="1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daca</a:t>
            </a:r>
            <a:r>
              <a:rPr lang="en-US" sz="90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err="1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serverul</a:t>
            </a:r>
            <a:r>
              <a:rPr lang="en-US" sz="90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err="1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ruleaza</a:t>
            </a:r>
            <a:r>
              <a:rPr lang="en-US" sz="90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 docker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http://localhost:8001/ip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 {"ip":"172.111.0.x"}  ← NU 127.0.0.1!</a:t>
            </a:r>
            <a:endParaRPr lang="en-US" sz="900"/>
          </a:p>
          <a:p>
            <a:pPr marL="0" indent="0">
              <a:buNone/>
            </a:pP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POST cu JSON body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-X POST http://localhost:8001/post \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-H 'Content-Type: application/json' \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-d '{"value": 10}'</a:t>
            </a:r>
          </a:p>
          <a:p>
            <a:pPr marL="0" indent="0">
              <a:buNone/>
            </a:pPr>
            <a:endParaRPr lang="en-US" sz="900"/>
          </a:p>
        </p:txBody>
      </p:sp>
      <p:sp>
        <p:nvSpPr>
          <p:cNvPr id="7" name="Text 5"/>
          <p:cNvSpPr/>
          <p:nvPr/>
        </p:nvSpPr>
        <p:spPr>
          <a:xfrm>
            <a:off x="5532120" y="107899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Optiuni curl: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>
            <a:off x="5532120" y="1389888"/>
            <a:ext cx="329184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532120" y="1389888"/>
            <a:ext cx="64008" cy="5212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650992" y="1426464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-v</a:t>
            </a:r>
            <a:endParaRPr lang="en-US" sz="1100"/>
          </a:p>
        </p:txBody>
      </p:sp>
      <p:sp>
        <p:nvSpPr>
          <p:cNvPr id="11" name="Text 9"/>
          <p:cNvSpPr/>
          <p:nvPr/>
        </p:nvSpPr>
        <p:spPr>
          <a:xfrm>
            <a:off x="5650992" y="1682496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Verbose — headere request + response</a:t>
            </a:r>
            <a:endParaRPr lang="en-US" sz="950"/>
          </a:p>
        </p:txBody>
      </p:sp>
      <p:sp>
        <p:nvSpPr>
          <p:cNvPr id="12" name="Shape 10"/>
          <p:cNvSpPr/>
          <p:nvPr/>
        </p:nvSpPr>
        <p:spPr>
          <a:xfrm>
            <a:off x="5532120" y="1993392"/>
            <a:ext cx="329184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532120" y="1993392"/>
            <a:ext cx="64008" cy="5212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650992" y="2029968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-i</a:t>
            </a:r>
            <a:endParaRPr lang="en-US" sz="1100"/>
          </a:p>
        </p:txBody>
      </p:sp>
      <p:sp>
        <p:nvSpPr>
          <p:cNvPr id="15" name="Text 13"/>
          <p:cNvSpPr/>
          <p:nvPr/>
        </p:nvSpPr>
        <p:spPr>
          <a:xfrm>
            <a:off x="5650992" y="228600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Afiseaza headerele response</a:t>
            </a:r>
            <a:endParaRPr lang="en-US" sz="950"/>
          </a:p>
        </p:txBody>
      </p:sp>
      <p:sp>
        <p:nvSpPr>
          <p:cNvPr id="16" name="Shape 14"/>
          <p:cNvSpPr/>
          <p:nvPr/>
        </p:nvSpPr>
        <p:spPr>
          <a:xfrm>
            <a:off x="5532120" y="2596896"/>
            <a:ext cx="329184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532120" y="2596896"/>
            <a:ext cx="64008" cy="5212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650992" y="2633472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-X METHOD</a:t>
            </a:r>
            <a:endParaRPr lang="en-US" sz="1100"/>
          </a:p>
        </p:txBody>
      </p:sp>
      <p:sp>
        <p:nvSpPr>
          <p:cNvPr id="19" name="Text 17"/>
          <p:cNvSpPr/>
          <p:nvPr/>
        </p:nvSpPr>
        <p:spPr>
          <a:xfrm>
            <a:off x="5650992" y="2889504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 metoda HTTP</a:t>
            </a:r>
            <a:endParaRPr lang="en-US" sz="950"/>
          </a:p>
        </p:txBody>
      </p:sp>
      <p:sp>
        <p:nvSpPr>
          <p:cNvPr id="20" name="Shape 18"/>
          <p:cNvSpPr/>
          <p:nvPr/>
        </p:nvSpPr>
        <p:spPr>
          <a:xfrm>
            <a:off x="5532120" y="3200400"/>
            <a:ext cx="329184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532120" y="3200400"/>
            <a:ext cx="64008" cy="5212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650992" y="3236976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-H 'key: val'</a:t>
            </a:r>
            <a:endParaRPr lang="en-US" sz="1100"/>
          </a:p>
        </p:txBody>
      </p:sp>
      <p:sp>
        <p:nvSpPr>
          <p:cNvPr id="23" name="Text 21"/>
          <p:cNvSpPr/>
          <p:nvPr/>
        </p:nvSpPr>
        <p:spPr>
          <a:xfrm>
            <a:off x="5650992" y="3493008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Adauga un header</a:t>
            </a:r>
            <a:endParaRPr lang="en-US" sz="950"/>
          </a:p>
        </p:txBody>
      </p:sp>
      <p:sp>
        <p:nvSpPr>
          <p:cNvPr id="24" name="Shape 22"/>
          <p:cNvSpPr/>
          <p:nvPr/>
        </p:nvSpPr>
        <p:spPr>
          <a:xfrm>
            <a:off x="5532120" y="3803904"/>
            <a:ext cx="329184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532120" y="3803904"/>
            <a:ext cx="64008" cy="5212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650992" y="3840480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-d 'body'</a:t>
            </a:r>
            <a:endParaRPr lang="en-US" sz="1100"/>
          </a:p>
        </p:txBody>
      </p:sp>
      <p:sp>
        <p:nvSpPr>
          <p:cNvPr id="27" name="Text 25"/>
          <p:cNvSpPr/>
          <p:nvPr/>
        </p:nvSpPr>
        <p:spPr>
          <a:xfrm>
            <a:off x="5650992" y="409651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Body-ul cererii POST</a:t>
            </a:r>
            <a:endParaRPr lang="en-US" sz="950"/>
          </a:p>
        </p:txBody>
      </p:sp>
      <p:sp>
        <p:nvSpPr>
          <p:cNvPr id="28" name="Shape 26"/>
          <p:cNvSpPr/>
          <p:nvPr/>
        </p:nvSpPr>
        <p:spPr>
          <a:xfrm>
            <a:off x="5532120" y="4407408"/>
            <a:ext cx="329184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532120" y="4407408"/>
            <a:ext cx="64008" cy="5212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650992" y="4443984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python3 -m json.tool</a:t>
            </a:r>
            <a:endParaRPr lang="en-US" sz="1100"/>
          </a:p>
        </p:txBody>
      </p:sp>
      <p:sp>
        <p:nvSpPr>
          <p:cNvPr id="31" name="Text 29"/>
          <p:cNvSpPr/>
          <p:nvPr/>
        </p:nvSpPr>
        <p:spPr>
          <a:xfrm>
            <a:off x="5650992" y="4700016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Formateaza JSON frumos</a:t>
            </a:r>
            <a:endParaRPr lang="en-US" sz="9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9A0"/>
          </a:solidFill>
          <a:ln w="12700">
            <a:solidFill>
              <a:srgbClr val="02C9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>
                <a:solidFill>
                  <a:srgbClr val="02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· GHID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411480" y="438912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Gandeste pasii inainte sa scrii cod</a:t>
            </a:r>
            <a:endParaRPr lang="en-US" sz="260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4023360" cy="1618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4023360" cy="365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29768" y="12161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 Serverul returneaza nume + nr. matricol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429768" y="1609344"/>
            <a:ext cx="3840480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returneaza un endpoint GET / daca ii spui return 'text'?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simplu sau jsonify? Cum verifici cu curl?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apare in terminal?</a:t>
            </a:r>
            <a:endParaRPr lang="en-US" sz="950"/>
          </a:p>
        </p:txBody>
      </p:sp>
      <p:sp>
        <p:nvSpPr>
          <p:cNvPr id="9" name="Shape 7"/>
          <p:cNvSpPr/>
          <p:nvPr/>
        </p:nvSpPr>
        <p:spPr>
          <a:xfrm>
            <a:off x="4800600" y="1170432"/>
            <a:ext cx="4023360" cy="1618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00600" y="1170432"/>
            <a:ext cx="402336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10328" y="12161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 {"item_id":"5"} cu curl</a:t>
            </a:r>
            <a:endParaRPr lang="en-US" sz="1200"/>
          </a:p>
        </p:txBody>
      </p:sp>
      <p:sp>
        <p:nvSpPr>
          <p:cNvPr id="12" name="Text 10"/>
          <p:cNvSpPr/>
          <p:nvPr/>
        </p:nvSpPr>
        <p:spPr>
          <a:xfrm>
            <a:off x="4910328" y="1609344"/>
            <a:ext cx="3840480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 definesti un parametru dinamic in ruta? (hint: &lt;...&gt; in path)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 ajunge valoarea ca argument in functia Python?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cheie trebuie sa aiba dictionarul din jsonify?</a:t>
            </a:r>
            <a:endParaRPr lang="en-US" sz="950"/>
          </a:p>
        </p:txBody>
      </p:sp>
      <p:sp>
        <p:nvSpPr>
          <p:cNvPr id="13" name="Shape 11"/>
          <p:cNvSpPr/>
          <p:nvPr/>
        </p:nvSpPr>
        <p:spPr>
          <a:xfrm>
            <a:off x="320040" y="2907792"/>
            <a:ext cx="4023360" cy="1618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" y="2907792"/>
            <a:ext cx="4023360" cy="365760"/>
          </a:xfrm>
          <a:prstGeom prst="rect">
            <a:avLst/>
          </a:prstGeom>
          <a:solidFill>
            <a:srgbClr val="02C9A0"/>
          </a:solidFill>
          <a:ln w="12700">
            <a:solidFill>
              <a:srgbClr val="02C9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29768" y="29535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 {"ip":"ip-containerului"}</a:t>
            </a:r>
            <a:endParaRPr lang="en-US" sz="1200"/>
          </a:p>
        </p:txBody>
      </p:sp>
      <p:sp>
        <p:nvSpPr>
          <p:cNvPr id="16" name="Text 14"/>
          <p:cNvSpPr/>
          <p:nvPr/>
        </p:nvSpPr>
        <p:spPr>
          <a:xfrm>
            <a:off x="429768" y="3346704"/>
            <a:ext cx="3840480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Ruleaza si compara in container: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socket.gethostbyname('localhost')       -&gt; ?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socket.gethostbyname(socket.gethostname()) -&gt; ?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Daca raspunsul e 127.0.0.1, ceva e gresit!</a:t>
            </a:r>
            <a:endParaRPr lang="en-US" sz="950"/>
          </a:p>
        </p:txBody>
      </p:sp>
      <p:sp>
        <p:nvSpPr>
          <p:cNvPr id="17" name="Shape 15"/>
          <p:cNvSpPr/>
          <p:nvPr/>
        </p:nvSpPr>
        <p:spPr>
          <a:xfrm>
            <a:off x="4800600" y="2907792"/>
            <a:ext cx="4023360" cy="1618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800600" y="2907792"/>
            <a:ext cx="4023360" cy="365760"/>
          </a:xfrm>
          <a:prstGeom prst="rect">
            <a:avLst/>
          </a:prstGeom>
          <a:solidFill>
            <a:srgbClr val="2D9E5A"/>
          </a:solidFill>
          <a:ln w="12700">
            <a:solidFill>
              <a:srgbClr val="2D9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10328" y="29535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  Subnet mask pentru N noduri</a:t>
            </a:r>
            <a:endParaRPr lang="en-US" sz="1200"/>
          </a:p>
        </p:txBody>
      </p:sp>
      <p:sp>
        <p:nvSpPr>
          <p:cNvPr id="20" name="Text 18"/>
          <p:cNvSpPr/>
          <p:nvPr/>
        </p:nvSpPr>
        <p:spPr>
          <a:xfrm>
            <a:off x="4910328" y="3346704"/>
            <a:ext cx="3840480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Pasi: (1) cati biti de host trebuie pentru N+2 valori?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(2) prefix = 32 - biti_host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(3) cum construiesti masca dotted-decimal din prefix?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pe hartie: 250 noduri -&gt; ? bits -&gt; /? -&gt; 255.255.255.?</a:t>
            </a:r>
            <a:endParaRPr lang="en-US" sz="9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9A0"/>
          </a:solidFill>
          <a:ln w="12700">
            <a:solidFill>
              <a:srgbClr val="02C9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>
                <a:solidFill>
                  <a:srgbClr val="02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· GHID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411480" y="438912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Algoritmul </a:t>
            </a:r>
            <a:r>
              <a:rPr lang="en-US" sz="2600" b="1" err="1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teoretic</a:t>
            </a:r>
            <a:r>
              <a:rPr lang="en-US" sz="2600" b="1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3 </a:t>
            </a:r>
            <a:r>
              <a:rPr lang="en-US" sz="2600" b="1" err="1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pasi</a:t>
            </a:r>
            <a:endParaRPr lang="en-US" sz="260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2724912" cy="2542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2724912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115568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11556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795528" y="1133856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noduri -&gt; biti_host</a:t>
            </a:r>
            <a:endParaRPr lang="en-US" sz="1200"/>
          </a:p>
        </p:txBody>
      </p:sp>
      <p:sp>
        <p:nvSpPr>
          <p:cNvPr id="10" name="Text 8"/>
          <p:cNvSpPr/>
          <p:nvPr/>
        </p:nvSpPr>
        <p:spPr>
          <a:xfrm>
            <a:off x="429768" y="1536192"/>
            <a:ext cx="2542032" cy="2029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hosturi_utile = 2^(biti_host) - 2 &gt;= noduri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Deci: 2^(biti_host) &gt;= noduri + 2</a:t>
            </a:r>
            <a:endParaRPr lang="en-US" sz="1050"/>
          </a:p>
          <a:p>
            <a:pPr marL="0" indent="0">
              <a:buNone/>
            </a:pP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biti_host = ceil(log2(noduri + 2))</a:t>
            </a:r>
            <a:endParaRPr lang="en-US" sz="1050"/>
          </a:p>
          <a:p>
            <a:pPr marL="0" indent="0">
              <a:buNone/>
            </a:pP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250 noduri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2^x &gt;= 252 -&gt; x = 8</a:t>
            </a:r>
            <a:endParaRPr lang="en-US" sz="1050"/>
          </a:p>
        </p:txBody>
      </p:sp>
      <p:sp>
        <p:nvSpPr>
          <p:cNvPr id="11" name="Shape 9"/>
          <p:cNvSpPr/>
          <p:nvPr/>
        </p:nvSpPr>
        <p:spPr>
          <a:xfrm>
            <a:off x="3227832" y="1078992"/>
            <a:ext cx="2724912" cy="2542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27832" y="1078992"/>
            <a:ext cx="2724912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319272" y="1115568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19272" y="111556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/>
          </a:p>
        </p:txBody>
      </p:sp>
      <p:sp>
        <p:nvSpPr>
          <p:cNvPr id="15" name="Text 13"/>
          <p:cNvSpPr/>
          <p:nvPr/>
        </p:nvSpPr>
        <p:spPr>
          <a:xfrm>
            <a:off x="3703320" y="1133856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biti_host -&gt; prefix</a:t>
            </a:r>
            <a:endParaRPr lang="en-US" sz="1200"/>
          </a:p>
        </p:txBody>
      </p:sp>
      <p:sp>
        <p:nvSpPr>
          <p:cNvPr id="16" name="Text 14"/>
          <p:cNvSpPr/>
          <p:nvPr/>
        </p:nvSpPr>
        <p:spPr>
          <a:xfrm>
            <a:off x="3337560" y="1536192"/>
            <a:ext cx="2542032" cy="2029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biti IP = 32</a:t>
            </a:r>
            <a:endParaRPr lang="en-US" sz="1050"/>
          </a:p>
          <a:p>
            <a:pPr marL="0" indent="0">
              <a:buNone/>
            </a:pP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= 32 - biti_host</a:t>
            </a:r>
            <a:endParaRPr lang="en-US" sz="1050"/>
          </a:p>
          <a:p>
            <a:pPr marL="0" indent="0">
              <a:buNone/>
            </a:pP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biti_host = 8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prefix = 32 - 8 = 24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-&gt; /24</a:t>
            </a:r>
            <a:endParaRPr lang="en-US" sz="1050"/>
          </a:p>
        </p:txBody>
      </p:sp>
      <p:sp>
        <p:nvSpPr>
          <p:cNvPr id="17" name="Shape 15"/>
          <p:cNvSpPr/>
          <p:nvPr/>
        </p:nvSpPr>
        <p:spPr>
          <a:xfrm>
            <a:off x="6135624" y="1078992"/>
            <a:ext cx="2724912" cy="2542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135624" y="1078992"/>
            <a:ext cx="2724912" cy="384048"/>
          </a:xfrm>
          <a:prstGeom prst="rect">
            <a:avLst/>
          </a:prstGeom>
          <a:solidFill>
            <a:srgbClr val="02C9A0"/>
          </a:solidFill>
          <a:ln w="12700">
            <a:solidFill>
              <a:srgbClr val="02C9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227064" y="1115568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27064" y="111556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2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/>
          </a:p>
        </p:txBody>
      </p:sp>
      <p:sp>
        <p:nvSpPr>
          <p:cNvPr id="21" name="Text 19"/>
          <p:cNvSpPr/>
          <p:nvPr/>
        </p:nvSpPr>
        <p:spPr>
          <a:xfrm>
            <a:off x="6611112" y="1133856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-&gt; masca</a:t>
            </a:r>
            <a:endParaRPr lang="en-US" sz="1200"/>
          </a:p>
        </p:txBody>
      </p:sp>
      <p:sp>
        <p:nvSpPr>
          <p:cNvPr id="22" name="Text 20"/>
          <p:cNvSpPr/>
          <p:nvPr/>
        </p:nvSpPr>
        <p:spPr>
          <a:xfrm>
            <a:off x="6245352" y="1536192"/>
            <a:ext cx="2542032" cy="2029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de '1' urmate de 8 de '0':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11111111.11111111.11111111.00000000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255.255.255.0</a:t>
            </a:r>
            <a:endParaRPr lang="en-US" sz="1050"/>
          </a:p>
          <a:p>
            <a:pPr marL="0" indent="0">
              <a:buNone/>
            </a:pP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 cu operatii pe biti?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(hint: 0xFFFFFFFF, &lt;&lt;, &amp;)</a:t>
            </a:r>
            <a:endParaRPr lang="en-US" sz="105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7888799"/>
              </p:ext>
            </p:extLst>
          </p:nvPr>
        </p:nvGraphicFramePr>
        <p:xfrm>
          <a:off x="338328" y="3769194"/>
          <a:ext cx="8503920" cy="1170432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noduri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biti_host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prefix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masca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2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2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2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/24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2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255.255.255.0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2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2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2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2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2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2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2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2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 (cazul minim)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2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9A0"/>
          </a:solidFill>
          <a:ln w="12700">
            <a:solidFill>
              <a:srgbClr val="02C9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400" b="1">
                <a:solidFill>
                  <a:srgbClr val="02C9A0">
                    <a:alpha val="82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</a:t>
            </a:r>
            <a:endParaRPr lang="en-US" sz="10400"/>
          </a:p>
        </p:txBody>
      </p:sp>
      <p:sp>
        <p:nvSpPr>
          <p:cNvPr id="5" name="Text 3"/>
          <p:cNvSpPr/>
          <p:nvPr/>
        </p:nvSpPr>
        <p:spPr>
          <a:xfrm>
            <a:off x="411480" y="1371600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Build &amp; Push</a:t>
            </a:r>
            <a:endParaRPr lang="en-US" sz="4400"/>
          </a:p>
        </p:txBody>
      </p:sp>
      <p:sp>
        <p:nvSpPr>
          <p:cNvPr id="6" name="Text 4"/>
          <p:cNvSpPr/>
          <p:nvPr/>
        </p:nvSpPr>
        <p:spPr>
          <a:xfrm>
            <a:off x="411480" y="2450592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Pacheteaza serverul Flask </a:t>
            </a:r>
            <a:r>
              <a:rPr lang="en-US" sz="1500" i="1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</a:t>
            </a:r>
            <a:r>
              <a:rPr lang="en-US" sz="1500" i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publica in Docker Hub</a:t>
            </a:r>
            <a:endParaRPr lang="en-US" sz="15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9A0"/>
          </a:solidFill>
          <a:ln w="12700">
            <a:solidFill>
              <a:srgbClr val="02C9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>
                <a:solidFill>
                  <a:srgbClr val="02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· DOCKERFILE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411480" y="438912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Reteta pentru imaginea ta</a:t>
            </a:r>
            <a:endParaRPr lang="en-US" sz="260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4526280" cy="4041648"/>
          </a:xfrm>
          <a:prstGeom prst="rect">
            <a:avLst/>
          </a:prstGeom>
          <a:solidFill>
            <a:srgbClr val="0D2137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38912" y="1170432"/>
            <a:ext cx="4288536" cy="3858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8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Dockerfile</a:t>
            </a:r>
            <a:endParaRPr lang="en-US" sz="880"/>
          </a:p>
          <a:p>
            <a:pPr marL="0" indent="0">
              <a:buNone/>
            </a:pP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Imaginea de </a:t>
            </a:r>
            <a:r>
              <a:rPr lang="en-US" sz="880" err="1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baza</a:t>
            </a:r>
            <a:r>
              <a:rPr lang="en-US" sz="88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python:3.11-slim (~50MB)</a:t>
            </a: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python:3.11-slim</a:t>
            </a:r>
            <a:endParaRPr lang="en-US" sz="880"/>
          </a:p>
          <a:p>
            <a:pPr marL="0" indent="0">
              <a:buNone/>
            </a:pP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Directorul de lucru in container</a:t>
            </a: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</a:t>
            </a:r>
            <a:endParaRPr lang="en-US" sz="880"/>
          </a:p>
          <a:p>
            <a:pPr marL="0" indent="0">
              <a:buNone/>
            </a:pP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Copiem requirements PRIMUL (cache Docker)</a:t>
            </a: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Daca requirements.txt nu s-a schimbat,</a:t>
            </a: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Docker nu reinstaleaza pip la fiecare build</a:t>
            </a: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requirements.txt .</a:t>
            </a: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pip install --no-cache-dir -r requirements.txt</a:t>
            </a:r>
            <a:endParaRPr lang="en-US" sz="880"/>
          </a:p>
          <a:p>
            <a:pPr marL="0" indent="0">
              <a:buNone/>
            </a:pP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Copiem codul aplicatiei</a:t>
            </a: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server.py .</a:t>
            </a:r>
            <a:endParaRPr lang="en-US" sz="880"/>
          </a:p>
          <a:p>
            <a:pPr marL="0" indent="0">
              <a:buNone/>
            </a:pP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EXPOSE = documentatie, NU deschide portul!</a:t>
            </a: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Port mapping se face la docker run -p</a:t>
            </a: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EXPOSE 8001</a:t>
            </a:r>
            <a:endParaRPr lang="en-US" sz="880"/>
          </a:p>
          <a:p>
            <a:pPr marL="0" indent="0">
              <a:buNone/>
            </a:pP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Comanda la pornirea containerului</a:t>
            </a: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["python3", "server.py"]</a:t>
            </a:r>
            <a:endParaRPr lang="en-US" sz="880"/>
          </a:p>
        </p:txBody>
      </p:sp>
      <p:sp>
        <p:nvSpPr>
          <p:cNvPr id="7" name="Text 5"/>
          <p:cNvSpPr/>
          <p:nvPr/>
        </p:nvSpPr>
        <p:spPr>
          <a:xfrm>
            <a:off x="5029200" y="1078992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requirements.txt: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>
            <a:off x="5029200" y="1371600"/>
            <a:ext cx="3794760" cy="749808"/>
          </a:xfrm>
          <a:prstGeom prst="rect">
            <a:avLst/>
          </a:prstGeom>
          <a:solidFill>
            <a:srgbClr val="0D2137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148072" y="1463040"/>
            <a:ext cx="355701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flask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requests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beautifulsoup4</a:t>
            </a:r>
            <a:endParaRPr lang="en-US" sz="1050"/>
          </a:p>
        </p:txBody>
      </p:sp>
      <p:sp>
        <p:nvSpPr>
          <p:cNvPr id="10" name="Shape 8"/>
          <p:cNvSpPr/>
          <p:nvPr/>
        </p:nvSpPr>
        <p:spPr>
          <a:xfrm>
            <a:off x="5029200" y="2212848"/>
            <a:ext cx="37947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029200" y="2212848"/>
            <a:ext cx="64008" cy="43891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138928" y="2295144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imaginea de baza. slim = mai mica, fara pachete extra</a:t>
            </a:r>
            <a:endParaRPr lang="en-US" sz="950"/>
          </a:p>
        </p:txBody>
      </p:sp>
      <p:sp>
        <p:nvSpPr>
          <p:cNvPr id="13" name="Shape 11"/>
          <p:cNvSpPr/>
          <p:nvPr/>
        </p:nvSpPr>
        <p:spPr>
          <a:xfrm>
            <a:off x="5029200" y="2724912"/>
            <a:ext cx="37947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029200" y="2724912"/>
            <a:ext cx="64008" cy="43891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138928" y="2807208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WORKDIR: toate COPY/RUN/CMD urmatoare sunt relative la asta</a:t>
            </a:r>
            <a:endParaRPr lang="en-US" sz="950"/>
          </a:p>
        </p:txBody>
      </p:sp>
      <p:sp>
        <p:nvSpPr>
          <p:cNvPr id="16" name="Shape 14"/>
          <p:cNvSpPr/>
          <p:nvPr/>
        </p:nvSpPr>
        <p:spPr>
          <a:xfrm>
            <a:off x="5029200" y="3246120"/>
            <a:ext cx="37947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029200" y="3246120"/>
            <a:ext cx="64008" cy="43891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138928" y="3328416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Copiem requirements INAINTE de cod — Docker cache-uieste layer-ul pip</a:t>
            </a:r>
            <a:endParaRPr lang="en-US" sz="950"/>
          </a:p>
        </p:txBody>
      </p:sp>
      <p:sp>
        <p:nvSpPr>
          <p:cNvPr id="19" name="Shape 17"/>
          <p:cNvSpPr/>
          <p:nvPr/>
        </p:nvSpPr>
        <p:spPr>
          <a:xfrm>
            <a:off x="5029200" y="3794760"/>
            <a:ext cx="37947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029200" y="3794760"/>
            <a:ext cx="64008" cy="43891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138928" y="3877056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EXPOSE: documentatie. Portul se deschide cu -p la docker run!</a:t>
            </a:r>
            <a:endParaRPr lang="en-US" sz="950"/>
          </a:p>
        </p:txBody>
      </p:sp>
      <p:sp>
        <p:nvSpPr>
          <p:cNvPr id="22" name="Shape 20"/>
          <p:cNvSpPr/>
          <p:nvPr/>
        </p:nvSpPr>
        <p:spPr>
          <a:xfrm>
            <a:off x="5029200" y="4315968"/>
            <a:ext cx="37947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029200" y="4315968"/>
            <a:ext cx="64008" cy="43891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138928" y="4398264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CMD: comanda la pornire. Oprire = Ctrl+C sau docker stop</a:t>
            </a:r>
            <a:endParaRPr lang="en-US" sz="950"/>
          </a:p>
        </p:txBody>
      </p:sp>
      <p:sp>
        <p:nvSpPr>
          <p:cNvPr id="27" name="Shape 8">
            <a:extLst>
              <a:ext uri="{FF2B5EF4-FFF2-40B4-BE49-F238E27FC236}">
                <a16:creationId xmlns:a16="http://schemas.microsoft.com/office/drawing/2014/main" id="{07DCEE4E-17AC-4A8D-09E7-24FCAD890081}"/>
              </a:ext>
            </a:extLst>
          </p:cNvPr>
          <p:cNvSpPr/>
          <p:nvPr/>
        </p:nvSpPr>
        <p:spPr>
          <a:xfrm>
            <a:off x="4792980" y="510921"/>
            <a:ext cx="3794760" cy="31623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algn="ctr"/>
            <a:r>
              <a:rPr lang="en-US" sz="1400"/>
              <a:t>! </a:t>
            </a:r>
            <a:r>
              <a:rPr lang="en-US" sz="1400" err="1"/>
              <a:t>Necesar</a:t>
            </a:r>
            <a:r>
              <a:rPr lang="en-US" sz="1400"/>
              <a:t> </a:t>
            </a:r>
            <a:r>
              <a:rPr lang="en-US" sz="1400" err="1"/>
              <a:t>cont</a:t>
            </a:r>
            <a:r>
              <a:rPr lang="en-US" sz="1400"/>
              <a:t> pe </a:t>
            </a:r>
            <a:r>
              <a:rPr lang="en-US" sz="1400">
                <a:hlinkClick r:id="rId3"/>
              </a:rPr>
              <a:t>Docker Hub</a:t>
            </a:r>
            <a:endParaRPr lang="en-US" sz="1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9A0"/>
          </a:solidFill>
          <a:ln w="12700">
            <a:solidFill>
              <a:srgbClr val="02C9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>
                <a:solidFill>
                  <a:srgbClr val="02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· BUILD, TAG, PUSH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411480" y="438912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 5 pasi pentru a publica imaginea</a:t>
            </a:r>
            <a:endParaRPr lang="en-US" sz="260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8503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47472" y="1243584"/>
            <a:ext cx="384048" cy="384048"/>
          </a:xfrm>
          <a:prstGeom prst="ellipse">
            <a:avLst/>
          </a:prstGeom>
          <a:solidFill>
            <a:srgbClr val="02C9A0"/>
          </a:solidFill>
          <a:ln w="12700">
            <a:solidFill>
              <a:srgbClr val="02C9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" y="12435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/>
          </a:p>
        </p:txBody>
      </p:sp>
      <p:sp>
        <p:nvSpPr>
          <p:cNvPr id="8" name="Text 6"/>
          <p:cNvSpPr/>
          <p:nvPr/>
        </p:nvSpPr>
        <p:spPr>
          <a:xfrm>
            <a:off x="868680" y="1152144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build -t retele-server:latest .</a:t>
            </a:r>
            <a:endParaRPr lang="en-US" sz="1050"/>
          </a:p>
        </p:txBody>
      </p:sp>
      <p:sp>
        <p:nvSpPr>
          <p:cNvPr id="9" name="Text 7"/>
          <p:cNvSpPr/>
          <p:nvPr/>
        </p:nvSpPr>
        <p:spPr>
          <a:xfrm>
            <a:off x="868680" y="1444752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-t = tag (nume:versiune)  |  . = contextul (directorul cu Dockerfile-ul)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320040" y="1847088"/>
            <a:ext cx="8503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47472" y="1975104"/>
            <a:ext cx="384048" cy="384048"/>
          </a:xfrm>
          <a:prstGeom prst="ellipse">
            <a:avLst/>
          </a:prstGeom>
          <a:solidFill>
            <a:srgbClr val="02C9A0"/>
          </a:solidFill>
          <a:ln w="12700">
            <a:solidFill>
              <a:srgbClr val="02C9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7472" y="19751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/>
          </a:p>
        </p:txBody>
      </p:sp>
      <p:sp>
        <p:nvSpPr>
          <p:cNvPr id="13" name="Text 11"/>
          <p:cNvSpPr/>
          <p:nvPr/>
        </p:nvSpPr>
        <p:spPr>
          <a:xfrm>
            <a:off x="868680" y="1883664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-p 8001:8001 retele-server:latest</a:t>
            </a:r>
            <a:endParaRPr lang="en-US" sz="1050"/>
          </a:p>
        </p:txBody>
      </p:sp>
      <p:sp>
        <p:nvSpPr>
          <p:cNvPr id="14" name="Text 12"/>
          <p:cNvSpPr/>
          <p:nvPr/>
        </p:nvSpPr>
        <p:spPr>
          <a:xfrm>
            <a:off x="868680" y="2176272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Testeaza LOCAL inainte de push! -p host:container mapeaza portul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320040" y="2578608"/>
            <a:ext cx="8503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47472" y="2706624"/>
            <a:ext cx="384048" cy="384048"/>
          </a:xfrm>
          <a:prstGeom prst="ellipse">
            <a:avLst/>
          </a:prstGeom>
          <a:solidFill>
            <a:srgbClr val="02C9A0"/>
          </a:solidFill>
          <a:ln w="12700">
            <a:solidFill>
              <a:srgbClr val="02C9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47472" y="27066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868680" y="2615184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login</a:t>
            </a:r>
            <a:endParaRPr lang="en-US" sz="1050"/>
          </a:p>
        </p:txBody>
      </p:sp>
      <p:sp>
        <p:nvSpPr>
          <p:cNvPr id="19" name="Text 17"/>
          <p:cNvSpPr/>
          <p:nvPr/>
        </p:nvSpPr>
        <p:spPr>
          <a:xfrm>
            <a:off x="868680" y="2907792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Autentificare la Docker Hub. O singura data pe masina.</a:t>
            </a:r>
            <a:endParaRPr lang="en-US" sz="1000"/>
          </a:p>
        </p:txBody>
      </p:sp>
      <p:sp>
        <p:nvSpPr>
          <p:cNvPr id="20" name="Shape 18"/>
          <p:cNvSpPr/>
          <p:nvPr/>
        </p:nvSpPr>
        <p:spPr>
          <a:xfrm>
            <a:off x="320040" y="3310128"/>
            <a:ext cx="8503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47472" y="3438144"/>
            <a:ext cx="384048" cy="384048"/>
          </a:xfrm>
          <a:prstGeom prst="ellipse">
            <a:avLst/>
          </a:prstGeom>
          <a:solidFill>
            <a:srgbClr val="02C9A0"/>
          </a:solidFill>
          <a:ln w="12700">
            <a:solidFill>
              <a:srgbClr val="02C9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47472" y="34381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/>
          </a:p>
        </p:txBody>
      </p:sp>
      <p:sp>
        <p:nvSpPr>
          <p:cNvPr id="23" name="Text 21"/>
          <p:cNvSpPr/>
          <p:nvPr/>
        </p:nvSpPr>
        <p:spPr>
          <a:xfrm>
            <a:off x="868680" y="3346704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tag retele-server:latest username/retele-server:latest</a:t>
            </a:r>
            <a:endParaRPr lang="en-US" sz="1050"/>
          </a:p>
        </p:txBody>
      </p:sp>
      <p:sp>
        <p:nvSpPr>
          <p:cNvPr id="24" name="Text 22"/>
          <p:cNvSpPr/>
          <p:nvPr/>
        </p:nvSpPr>
        <p:spPr>
          <a:xfrm>
            <a:off x="868680" y="3639312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Adauga namespace-ul Docker Hub. Format: username/imagine:tag</a:t>
            </a:r>
            <a:endParaRPr lang="en-US" sz="1000"/>
          </a:p>
        </p:txBody>
      </p:sp>
      <p:sp>
        <p:nvSpPr>
          <p:cNvPr id="25" name="Shape 23"/>
          <p:cNvSpPr/>
          <p:nvPr/>
        </p:nvSpPr>
        <p:spPr>
          <a:xfrm>
            <a:off x="320040" y="4041648"/>
            <a:ext cx="8503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47472" y="4169664"/>
            <a:ext cx="384048" cy="384048"/>
          </a:xfrm>
          <a:prstGeom prst="ellipse">
            <a:avLst/>
          </a:prstGeom>
          <a:solidFill>
            <a:srgbClr val="02C9A0"/>
          </a:solidFill>
          <a:ln w="12700">
            <a:solidFill>
              <a:srgbClr val="02C9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47472" y="41696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/>
          </a:p>
        </p:txBody>
      </p:sp>
      <p:sp>
        <p:nvSpPr>
          <p:cNvPr id="28" name="Text 26"/>
          <p:cNvSpPr/>
          <p:nvPr/>
        </p:nvSpPr>
        <p:spPr>
          <a:xfrm>
            <a:off x="868680" y="4078224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push username/retele-server:latest</a:t>
            </a:r>
            <a:endParaRPr lang="en-US" sz="1050"/>
          </a:p>
        </p:txBody>
      </p:sp>
      <p:sp>
        <p:nvSpPr>
          <p:cNvPr id="29" name="Text 27"/>
          <p:cNvSpPr/>
          <p:nvPr/>
        </p:nvSpPr>
        <p:spPr>
          <a:xfrm>
            <a:off x="868680" y="4370832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Incarca pe hub.docker.com/r/username/retele-server</a:t>
            </a:r>
            <a:endParaRPr lang="en-US" sz="1000"/>
          </a:p>
        </p:txBody>
      </p:sp>
      <p:sp>
        <p:nvSpPr>
          <p:cNvPr id="30" name="Shape 28"/>
          <p:cNvSpPr/>
          <p:nvPr/>
        </p:nvSpPr>
        <p:spPr>
          <a:xfrm>
            <a:off x="320040" y="4773168"/>
            <a:ext cx="8503920" cy="320040"/>
          </a:xfrm>
          <a:prstGeom prst="rect">
            <a:avLst/>
          </a:prstGeom>
          <a:solidFill>
            <a:srgbClr val="F5C842">
              <a:alpha val="18000"/>
            </a:srgbClr>
          </a:solidFill>
          <a:ln w="12700">
            <a:solidFill>
              <a:srgbClr val="F5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57200" y="479145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final (simuleaza evaluatorul): docker pull username/retele-server:latest  -&gt;  docker run -p 8001:8001 ...  -&gt;  curl http://localhost:8001/</a:t>
            </a:r>
            <a:endParaRPr lang="en-US" sz="95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2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9A0"/>
          </a:solidFill>
          <a:ln w="12700">
            <a:solidFill>
              <a:srgbClr val="02C9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>
                <a:solidFill>
                  <a:srgbClr val="02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</a:t>
            </a:r>
            <a:endParaRPr lang="en-US" sz="1000"/>
          </a:p>
        </p:txBody>
      </p:sp>
      <p:sp>
        <p:nvSpPr>
          <p:cNvPr id="5" name="Text 3"/>
          <p:cNvSpPr/>
          <p:nvPr/>
        </p:nvSpPr>
        <p:spPr>
          <a:xfrm>
            <a:off x="411480" y="45720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trebuie sa functioneze la tema</a:t>
            </a:r>
            <a:endParaRPr lang="en-US" sz="260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8503920" cy="594360"/>
          </a:xfrm>
          <a:prstGeom prst="rect">
            <a:avLst/>
          </a:prstGeom>
          <a:solidFill>
            <a:srgbClr val="0A3046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47472" y="1225296"/>
            <a:ext cx="384048" cy="384048"/>
          </a:xfrm>
          <a:prstGeom prst="ellipse">
            <a:avLst/>
          </a:prstGeom>
          <a:solidFill>
            <a:srgbClr val="02C9A0"/>
          </a:solidFill>
          <a:ln w="12700">
            <a:solidFill>
              <a:srgbClr val="02C9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" y="12252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841248" y="116128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http://localhost:8001/</a:t>
            </a:r>
            <a:endParaRPr lang="en-US" sz="950"/>
          </a:p>
        </p:txBody>
      </p:sp>
      <p:sp>
        <p:nvSpPr>
          <p:cNvPr id="10" name="Text 8"/>
          <p:cNvSpPr/>
          <p:nvPr/>
        </p:nvSpPr>
        <p:spPr>
          <a:xfrm>
            <a:off x="841248" y="1453896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Returneaza numele si nr. matricol</a:t>
            </a:r>
            <a:endParaRPr lang="en-US" sz="1000"/>
          </a:p>
        </p:txBody>
      </p:sp>
      <p:sp>
        <p:nvSpPr>
          <p:cNvPr id="11" name="Shape 9"/>
          <p:cNvSpPr/>
          <p:nvPr/>
        </p:nvSpPr>
        <p:spPr>
          <a:xfrm>
            <a:off x="320040" y="1819656"/>
            <a:ext cx="8503920" cy="594360"/>
          </a:xfrm>
          <a:prstGeom prst="rect">
            <a:avLst/>
          </a:prstGeom>
          <a:solidFill>
            <a:srgbClr val="0A3046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47472" y="1929384"/>
            <a:ext cx="384048" cy="384048"/>
          </a:xfrm>
          <a:prstGeom prst="ellipse">
            <a:avLst/>
          </a:prstGeom>
          <a:solidFill>
            <a:srgbClr val="02C9A0"/>
          </a:solidFill>
          <a:ln w="12700">
            <a:solidFill>
              <a:srgbClr val="02C9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7472" y="19293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1100"/>
          </a:p>
        </p:txBody>
      </p:sp>
      <p:sp>
        <p:nvSpPr>
          <p:cNvPr id="14" name="Text 12"/>
          <p:cNvSpPr/>
          <p:nvPr/>
        </p:nvSpPr>
        <p:spPr>
          <a:xfrm>
            <a:off x="841248" y="1865376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http://localhost:8001/item/5</a:t>
            </a:r>
            <a:endParaRPr lang="en-US" sz="950"/>
          </a:p>
        </p:txBody>
      </p:sp>
      <p:sp>
        <p:nvSpPr>
          <p:cNvPr id="15" name="Text 13"/>
          <p:cNvSpPr/>
          <p:nvPr/>
        </p:nvSpPr>
        <p:spPr>
          <a:xfrm>
            <a:off x="841248" y="2157984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Output EXACT: {"item_id":"5"}  (nu 5.0, nu {"id":"5"})</a:t>
            </a:r>
            <a:endParaRPr lang="en-US" sz="1000"/>
          </a:p>
        </p:txBody>
      </p:sp>
      <p:sp>
        <p:nvSpPr>
          <p:cNvPr id="16" name="Shape 14"/>
          <p:cNvSpPr/>
          <p:nvPr/>
        </p:nvSpPr>
        <p:spPr>
          <a:xfrm>
            <a:off x="320040" y="2523744"/>
            <a:ext cx="8503920" cy="594360"/>
          </a:xfrm>
          <a:prstGeom prst="rect">
            <a:avLst/>
          </a:prstGeom>
          <a:solidFill>
            <a:srgbClr val="0A3046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47472" y="2633472"/>
            <a:ext cx="384048" cy="384048"/>
          </a:xfrm>
          <a:prstGeom prst="ellipse">
            <a:avLst/>
          </a:prstGeom>
          <a:solidFill>
            <a:srgbClr val="02C9A0"/>
          </a:solidFill>
          <a:ln w="12700">
            <a:solidFill>
              <a:srgbClr val="02C9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47472" y="26334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1100"/>
          </a:p>
        </p:txBody>
      </p:sp>
      <p:sp>
        <p:nvSpPr>
          <p:cNvPr id="19" name="Text 17"/>
          <p:cNvSpPr/>
          <p:nvPr/>
        </p:nvSpPr>
        <p:spPr>
          <a:xfrm>
            <a:off x="841248" y="2569464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http://localhost:8001/ip</a:t>
            </a:r>
            <a:endParaRPr lang="en-US" sz="950"/>
          </a:p>
        </p:txBody>
      </p:sp>
      <p:sp>
        <p:nvSpPr>
          <p:cNvPr id="20" name="Text 18"/>
          <p:cNvSpPr/>
          <p:nvPr/>
        </p:nvSpPr>
        <p:spPr>
          <a:xfrm>
            <a:off x="841248" y="286207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IP-ul real al containerului — NU 127.0.0.1!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>
          <a:xfrm>
            <a:off x="320040" y="3227832"/>
            <a:ext cx="8503920" cy="594360"/>
          </a:xfrm>
          <a:prstGeom prst="rect">
            <a:avLst/>
          </a:prstGeom>
          <a:solidFill>
            <a:srgbClr val="0A3046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47472" y="3337560"/>
            <a:ext cx="384048" cy="384048"/>
          </a:xfrm>
          <a:prstGeom prst="ellipse">
            <a:avLst/>
          </a:prstGeom>
          <a:solidFill>
            <a:srgbClr val="02C9A0"/>
          </a:solidFill>
          <a:ln w="12700">
            <a:solidFill>
              <a:srgbClr val="02C9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7472" y="33375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1100"/>
          </a:p>
        </p:txBody>
      </p:sp>
      <p:sp>
        <p:nvSpPr>
          <p:cNvPr id="24" name="Text 22"/>
          <p:cNvSpPr/>
          <p:nvPr/>
        </p:nvSpPr>
        <p:spPr>
          <a:xfrm>
            <a:off x="841248" y="327355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pull username/retele-server:latest  &amp;&amp;  docker run -p 8001:8001 ...</a:t>
            </a:r>
            <a:endParaRPr lang="en-US" sz="950"/>
          </a:p>
        </p:txBody>
      </p:sp>
      <p:sp>
        <p:nvSpPr>
          <p:cNvPr id="25" name="Text 23"/>
          <p:cNvSpPr/>
          <p:nvPr/>
        </p:nvSpPr>
        <p:spPr>
          <a:xfrm>
            <a:off x="841248" y="356616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Imaginea functioneaza dupa pull din Docker Hub</a:t>
            </a:r>
            <a:endParaRPr lang="en-US" sz="1000"/>
          </a:p>
        </p:txBody>
      </p:sp>
      <p:sp>
        <p:nvSpPr>
          <p:cNvPr id="26" name="Shape 24"/>
          <p:cNvSpPr/>
          <p:nvPr/>
        </p:nvSpPr>
        <p:spPr>
          <a:xfrm>
            <a:off x="320040" y="3931920"/>
            <a:ext cx="8503920" cy="594360"/>
          </a:xfrm>
          <a:prstGeom prst="rect">
            <a:avLst/>
          </a:prstGeom>
          <a:solidFill>
            <a:srgbClr val="0A3046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47472" y="4041648"/>
            <a:ext cx="384048" cy="384048"/>
          </a:xfrm>
          <a:prstGeom prst="ellipse">
            <a:avLst/>
          </a:prstGeom>
          <a:solidFill>
            <a:srgbClr val="02C9A0"/>
          </a:solidFill>
          <a:ln w="12700">
            <a:solidFill>
              <a:srgbClr val="02C9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47472" y="40416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</a:t>
            </a:r>
            <a:endParaRPr lang="en-US" sz="1100"/>
          </a:p>
        </p:txBody>
      </p:sp>
      <p:sp>
        <p:nvSpPr>
          <p:cNvPr id="29" name="Text 27"/>
          <p:cNvSpPr/>
          <p:nvPr/>
        </p:nvSpPr>
        <p:spPr>
          <a:xfrm>
            <a:off x="841248" y="397764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-X POST /subnet -H Content-Type:json -d '{"ip":"192.168.1.0","noduri":250}'</a:t>
            </a:r>
            <a:endParaRPr lang="en-US" sz="950"/>
          </a:p>
        </p:txBody>
      </p:sp>
      <p:sp>
        <p:nvSpPr>
          <p:cNvPr id="30" name="Text 28"/>
          <p:cNvSpPr/>
          <p:nvPr/>
        </p:nvSpPr>
        <p:spPr>
          <a:xfrm>
            <a:off x="841248" y="4270248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255.255.255.0 sau /24</a:t>
            </a:r>
            <a:endParaRPr lang="en-US" sz="1000"/>
          </a:p>
        </p:txBody>
      </p:sp>
      <p:sp>
        <p:nvSpPr>
          <p:cNvPr id="31" name="Text 29"/>
          <p:cNvSpPr/>
          <p:nvPr/>
        </p:nvSpPr>
        <p:spPr>
          <a:xfrm>
            <a:off x="365760" y="4782312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flask.palletsprojects.com  ·  docs.docker.com  ·  scapy.readthedocs.io  ·  github.com/senisioi/computer-networks</a:t>
            </a:r>
            <a:endParaRPr lang="en-US" sz="1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2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9A0"/>
          </a:solidFill>
          <a:ln w="12700">
            <a:solidFill>
              <a:srgbClr val="02C9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400" b="1">
                <a:solidFill>
                  <a:srgbClr val="02C9A0">
                    <a:alpha val="82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04</a:t>
            </a:r>
            <a:endParaRPr lang="en-US" sz="10400"/>
          </a:p>
        </p:txBody>
      </p:sp>
      <p:sp>
        <p:nvSpPr>
          <p:cNvPr id="5" name="Text 3"/>
          <p:cNvSpPr/>
          <p:nvPr/>
        </p:nvSpPr>
        <p:spPr>
          <a:xfrm>
            <a:off x="411480" y="1371600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 and TCP</a:t>
            </a:r>
            <a:endParaRPr lang="en-US" sz="4400"/>
          </a:p>
        </p:txBody>
      </p:sp>
      <p:sp>
        <p:nvSpPr>
          <p:cNvPr id="6" name="Text 4"/>
          <p:cNvSpPr/>
          <p:nvPr/>
        </p:nvSpPr>
        <p:spPr>
          <a:xfrm>
            <a:off x="411480" y="2450592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Datagram Protocol: rapid, connectionless, fara garantii</a:t>
            </a:r>
            <a:endParaRPr lang="en-US" sz="150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87E94548-76BE-AB84-9DA7-795EA6BEDB3E}"/>
              </a:ext>
            </a:extLst>
          </p:cNvPr>
          <p:cNvSpPr/>
          <p:nvPr/>
        </p:nvSpPr>
        <p:spPr>
          <a:xfrm>
            <a:off x="411480" y="2752344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 Control Protocol: conexiune garantata, ordine, flux</a:t>
            </a:r>
            <a:endParaRPr lang="en-US" sz="15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1B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97BF4B-902B-F297-37CE-D049634C1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2FCF636-F69D-AF2A-86C8-B46E7A73D32F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9A0"/>
          </a:solidFill>
          <a:ln w="12700">
            <a:solidFill>
              <a:srgbClr val="02C9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EFE3CB4-B177-04E2-A24F-48A29A17DF55}"/>
              </a:ext>
            </a:extLst>
          </p:cNvPr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A5F0E57-6FC4-7048-986D-0D981267E2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544" y="586740"/>
            <a:ext cx="4494998" cy="355854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6C2887A-A274-95A3-835F-13A60B4CB0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8961" y="513397"/>
            <a:ext cx="3495495" cy="3705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2959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9A0"/>
          </a:solidFill>
          <a:ln w="12700">
            <a:solidFill>
              <a:srgbClr val="02C9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>
                <a:solidFill>
                  <a:srgbClr val="02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 · HEADER SI CARACTERISTICI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411480" y="438912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UDP: 8 bytes, 4 </a:t>
            </a:r>
            <a:r>
              <a:rPr lang="en-US" sz="2600" b="1" err="1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campuri</a:t>
            </a:r>
            <a:endParaRPr lang="en-US" sz="260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1627632"/>
          </a:xfrm>
          <a:prstGeom prst="rect">
            <a:avLst/>
          </a:prstGeom>
          <a:solidFill>
            <a:srgbClr val="0D2137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38912" y="1143000"/>
            <a:ext cx="1938528" cy="548640"/>
          </a:xfrm>
          <a:prstGeom prst="rect">
            <a:avLst/>
          </a:prstGeom>
          <a:solidFill>
            <a:srgbClr val="065A82">
              <a:alpha val="72000"/>
            </a:srgbClr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38912" y="1143000"/>
            <a:ext cx="19385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Sursa (16 biti)</a:t>
            </a:r>
            <a:endParaRPr lang="en-US" sz="1050"/>
          </a:p>
        </p:txBody>
      </p:sp>
      <p:sp>
        <p:nvSpPr>
          <p:cNvPr id="8" name="Shape 6"/>
          <p:cNvSpPr/>
          <p:nvPr/>
        </p:nvSpPr>
        <p:spPr>
          <a:xfrm>
            <a:off x="2523744" y="1143000"/>
            <a:ext cx="1938528" cy="548640"/>
          </a:xfrm>
          <a:prstGeom prst="rect">
            <a:avLst/>
          </a:prstGeom>
          <a:solidFill>
            <a:srgbClr val="065A82">
              <a:alpha val="72000"/>
            </a:srgbClr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23744" y="1143000"/>
            <a:ext cx="19385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Destinatie (16 biti)</a:t>
            </a:r>
            <a:endParaRPr lang="en-US" sz="1050"/>
          </a:p>
        </p:txBody>
      </p:sp>
      <p:sp>
        <p:nvSpPr>
          <p:cNvPr id="10" name="Shape 8"/>
          <p:cNvSpPr/>
          <p:nvPr/>
        </p:nvSpPr>
        <p:spPr>
          <a:xfrm>
            <a:off x="4608576" y="1143000"/>
            <a:ext cx="1938528" cy="548640"/>
          </a:xfrm>
          <a:prstGeom prst="rect">
            <a:avLst/>
          </a:prstGeom>
          <a:solidFill>
            <a:srgbClr val="1C7293">
              <a:alpha val="72000"/>
            </a:srgbClr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08576" y="1143000"/>
            <a:ext cx="19385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Lungime (16 biti)</a:t>
            </a:r>
            <a:endParaRPr lang="en-US" sz="1050"/>
          </a:p>
        </p:txBody>
      </p:sp>
      <p:sp>
        <p:nvSpPr>
          <p:cNvPr id="12" name="Shape 10"/>
          <p:cNvSpPr/>
          <p:nvPr/>
        </p:nvSpPr>
        <p:spPr>
          <a:xfrm>
            <a:off x="6693408" y="1143000"/>
            <a:ext cx="1938528" cy="548640"/>
          </a:xfrm>
          <a:prstGeom prst="rect">
            <a:avLst/>
          </a:prstGeom>
          <a:solidFill>
            <a:srgbClr val="1C7293">
              <a:alpha val="72000"/>
            </a:srgbClr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693408" y="1143000"/>
            <a:ext cx="19385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Checksum (16 biti)</a:t>
            </a:r>
            <a:endParaRPr lang="en-US" sz="1050"/>
          </a:p>
        </p:txBody>
      </p:sp>
      <p:sp>
        <p:nvSpPr>
          <p:cNvPr id="14" name="Shape 12"/>
          <p:cNvSpPr/>
          <p:nvPr/>
        </p:nvSpPr>
        <p:spPr>
          <a:xfrm>
            <a:off x="438912" y="1792224"/>
            <a:ext cx="8304398" cy="749808"/>
          </a:xfrm>
          <a:prstGeom prst="rect">
            <a:avLst/>
          </a:prstGeom>
          <a:solidFill>
            <a:srgbClr val="02C9A0">
              <a:alpha val="20000"/>
            </a:srgbClr>
          </a:solidFill>
          <a:ln w="12700">
            <a:solidFill>
              <a:srgbClr val="02C9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38912" y="1792224"/>
            <a:ext cx="83027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/ Data  (datele aplicatiei)</a:t>
            </a:r>
            <a:endParaRPr lang="en-US" sz="1300"/>
          </a:p>
        </p:txBody>
      </p:sp>
      <p:sp>
        <p:nvSpPr>
          <p:cNvPr id="16" name="Text 14"/>
          <p:cNvSpPr/>
          <p:nvPr/>
        </p:nvSpPr>
        <p:spPr>
          <a:xfrm>
            <a:off x="457200" y="263347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header: 8 bytes  |  Port range: 0-65535  |  Sub 1024 = well-known (rezervate SO)</a:t>
            </a:r>
            <a:endParaRPr lang="en-US" sz="900"/>
          </a:p>
        </p:txBody>
      </p:sp>
      <p:sp>
        <p:nvSpPr>
          <p:cNvPr id="17" name="Shape 15"/>
          <p:cNvSpPr/>
          <p:nvPr/>
        </p:nvSpPr>
        <p:spPr>
          <a:xfrm>
            <a:off x="320040" y="2907792"/>
            <a:ext cx="267004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0040" y="2907792"/>
            <a:ext cx="64008" cy="7772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2962656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Fara conexiune</a:t>
            </a:r>
            <a:endParaRPr lang="en-US" sz="1200"/>
          </a:p>
        </p:txBody>
      </p:sp>
      <p:sp>
        <p:nvSpPr>
          <p:cNvPr id="20" name="Text 18"/>
          <p:cNvSpPr/>
          <p:nvPr/>
        </p:nvSpPr>
        <p:spPr>
          <a:xfrm>
            <a:off x="457200" y="3273552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 face handshake, trimite direct</a:t>
            </a:r>
            <a:endParaRPr lang="en-US" sz="950"/>
          </a:p>
        </p:txBody>
      </p:sp>
      <p:sp>
        <p:nvSpPr>
          <p:cNvPr id="21" name="Shape 19"/>
          <p:cNvSpPr/>
          <p:nvPr/>
        </p:nvSpPr>
        <p:spPr>
          <a:xfrm>
            <a:off x="3200400" y="2907792"/>
            <a:ext cx="267004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200400" y="2907792"/>
            <a:ext cx="64008" cy="7772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337560" y="2962656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Fara garantii</a:t>
            </a:r>
            <a:endParaRPr lang="en-US" sz="1200"/>
          </a:p>
        </p:txBody>
      </p:sp>
      <p:sp>
        <p:nvSpPr>
          <p:cNvPr id="24" name="Text 22"/>
          <p:cNvSpPr/>
          <p:nvPr/>
        </p:nvSpPr>
        <p:spPr>
          <a:xfrm>
            <a:off x="3337560" y="3273552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Pachete pot fi pierdute sau reordonate</a:t>
            </a:r>
            <a:endParaRPr lang="en-US" sz="950"/>
          </a:p>
        </p:txBody>
      </p:sp>
      <p:sp>
        <p:nvSpPr>
          <p:cNvPr id="25" name="Shape 23"/>
          <p:cNvSpPr/>
          <p:nvPr/>
        </p:nvSpPr>
        <p:spPr>
          <a:xfrm>
            <a:off x="6080760" y="2907792"/>
            <a:ext cx="267004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080760" y="2907792"/>
            <a:ext cx="64008" cy="7772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217920" y="2962656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Fara ordine</a:t>
            </a:r>
            <a:endParaRPr lang="en-US" sz="1200"/>
          </a:p>
        </p:txBody>
      </p:sp>
      <p:sp>
        <p:nvSpPr>
          <p:cNvPr id="28" name="Text 26"/>
          <p:cNvSpPr/>
          <p:nvPr/>
        </p:nvSpPr>
        <p:spPr>
          <a:xfrm>
            <a:off x="6217920" y="3273552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 garanteaza ordinea de sosire</a:t>
            </a:r>
            <a:endParaRPr lang="en-US" sz="950"/>
          </a:p>
        </p:txBody>
      </p:sp>
      <p:sp>
        <p:nvSpPr>
          <p:cNvPr id="29" name="Shape 27"/>
          <p:cNvSpPr/>
          <p:nvPr/>
        </p:nvSpPr>
        <p:spPr>
          <a:xfrm>
            <a:off x="320040" y="3822192"/>
            <a:ext cx="267004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20040" y="3822192"/>
            <a:ext cx="64008" cy="7772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57200" y="3877056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+ simplu</a:t>
            </a:r>
            <a:endParaRPr lang="en-US" sz="1200"/>
          </a:p>
        </p:txBody>
      </p:sp>
      <p:sp>
        <p:nvSpPr>
          <p:cNvPr id="32" name="Text 30"/>
          <p:cNvSpPr/>
          <p:nvPr/>
        </p:nvSpPr>
        <p:spPr>
          <a:xfrm>
            <a:off x="457200" y="4187952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 minim -&gt; ideal real-time</a:t>
            </a:r>
            <a:endParaRPr lang="en-US" sz="950"/>
          </a:p>
        </p:txBody>
      </p:sp>
      <p:sp>
        <p:nvSpPr>
          <p:cNvPr id="33" name="Shape 31"/>
          <p:cNvSpPr/>
          <p:nvPr/>
        </p:nvSpPr>
        <p:spPr>
          <a:xfrm>
            <a:off x="3200400" y="3822192"/>
            <a:ext cx="267004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200400" y="3822192"/>
            <a:ext cx="64008" cy="7772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337560" y="3877056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Uz: DNS VoIP gaming</a:t>
            </a:r>
            <a:endParaRPr lang="en-US" sz="1200"/>
          </a:p>
        </p:txBody>
      </p:sp>
      <p:sp>
        <p:nvSpPr>
          <p:cNvPr id="36" name="Text 34"/>
          <p:cNvSpPr/>
          <p:nvPr/>
        </p:nvSpPr>
        <p:spPr>
          <a:xfrm>
            <a:off x="3337560" y="4187952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Streaming, telemetrie IoT</a:t>
            </a:r>
            <a:endParaRPr lang="en-US" sz="950"/>
          </a:p>
        </p:txBody>
      </p:sp>
      <p:sp>
        <p:nvSpPr>
          <p:cNvPr id="37" name="Shape 35"/>
          <p:cNvSpPr/>
          <p:nvPr/>
        </p:nvSpPr>
        <p:spPr>
          <a:xfrm>
            <a:off x="6080760" y="3822192"/>
            <a:ext cx="267004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080760" y="3822192"/>
            <a:ext cx="64008" cy="7772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217920" y="3877056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Checksum optional</a:t>
            </a:r>
            <a:endParaRPr lang="en-US" sz="1200"/>
          </a:p>
        </p:txBody>
      </p:sp>
      <p:sp>
        <p:nvSpPr>
          <p:cNvPr id="40" name="Text 38"/>
          <p:cNvSpPr/>
          <p:nvPr/>
        </p:nvSpPr>
        <p:spPr>
          <a:xfrm>
            <a:off x="6217920" y="4187952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integritate daca activ</a:t>
            </a:r>
            <a:endParaRPr lang="en-US" sz="95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9A0"/>
          </a:solidFill>
          <a:ln w="12700">
            <a:solidFill>
              <a:srgbClr val="02C9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>
                <a:solidFill>
                  <a:srgbClr val="02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· HEADER SI FLAGS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411480" y="438912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 unui segment TCP — 20+ bytes</a:t>
            </a:r>
            <a:endParaRPr lang="en-US" sz="260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2423160"/>
          </a:xfrm>
          <a:prstGeom prst="rect">
            <a:avLst/>
          </a:prstGeom>
          <a:solidFill>
            <a:srgbClr val="0D2137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4105656" cy="365760"/>
          </a:xfrm>
          <a:prstGeom prst="rect">
            <a:avLst/>
          </a:prstGeom>
          <a:solidFill>
            <a:srgbClr val="065A82">
              <a:alpha val="72000"/>
            </a:srgbClr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143000"/>
            <a:ext cx="4105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Sursa (16)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4572000" y="1143000"/>
            <a:ext cx="4105656" cy="365760"/>
          </a:xfrm>
          <a:prstGeom prst="rect">
            <a:avLst/>
          </a:prstGeom>
          <a:solidFill>
            <a:srgbClr val="1C7293">
              <a:alpha val="72000"/>
            </a:srgbClr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0" y="1143000"/>
            <a:ext cx="4105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Destinatie (16)</a:t>
            </a:r>
            <a:endParaRPr lang="en-US" sz="950"/>
          </a:p>
        </p:txBody>
      </p:sp>
      <p:sp>
        <p:nvSpPr>
          <p:cNvPr id="10" name="Shape 8"/>
          <p:cNvSpPr/>
          <p:nvPr/>
        </p:nvSpPr>
        <p:spPr>
          <a:xfrm>
            <a:off x="411480" y="1563624"/>
            <a:ext cx="8266176" cy="365760"/>
          </a:xfrm>
          <a:prstGeom prst="rect">
            <a:avLst/>
          </a:prstGeom>
          <a:solidFill>
            <a:srgbClr val="065A82">
              <a:alpha val="72000"/>
            </a:srgbClr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1563624"/>
            <a:ext cx="82661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Number (32 biti)</a:t>
            </a:r>
            <a:endParaRPr lang="en-US" sz="950"/>
          </a:p>
        </p:txBody>
      </p:sp>
      <p:sp>
        <p:nvSpPr>
          <p:cNvPr id="12" name="Shape 10"/>
          <p:cNvSpPr/>
          <p:nvPr/>
        </p:nvSpPr>
        <p:spPr>
          <a:xfrm>
            <a:off x="411480" y="1984248"/>
            <a:ext cx="8266176" cy="365760"/>
          </a:xfrm>
          <a:prstGeom prst="rect">
            <a:avLst/>
          </a:prstGeom>
          <a:solidFill>
            <a:srgbClr val="1C7293">
              <a:alpha val="72000"/>
            </a:srgbClr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" y="1984248"/>
            <a:ext cx="82661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Acknowledgment Number (32 biti)</a:t>
            </a:r>
            <a:endParaRPr lang="en-US" sz="950"/>
          </a:p>
        </p:txBody>
      </p:sp>
      <p:sp>
        <p:nvSpPr>
          <p:cNvPr id="14" name="Shape 12"/>
          <p:cNvSpPr/>
          <p:nvPr/>
        </p:nvSpPr>
        <p:spPr>
          <a:xfrm>
            <a:off x="411480" y="2404872"/>
            <a:ext cx="4105656" cy="365760"/>
          </a:xfrm>
          <a:prstGeom prst="rect">
            <a:avLst/>
          </a:prstGeom>
          <a:solidFill>
            <a:srgbClr val="065A82">
              <a:alpha val="72000"/>
            </a:srgbClr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2404872"/>
            <a:ext cx="4105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Offset | Flags: SYN ACK PSH FIN RST CWR</a:t>
            </a:r>
            <a:endParaRPr lang="en-US" sz="950"/>
          </a:p>
        </p:txBody>
      </p:sp>
      <p:sp>
        <p:nvSpPr>
          <p:cNvPr id="16" name="Shape 14"/>
          <p:cNvSpPr/>
          <p:nvPr/>
        </p:nvSpPr>
        <p:spPr>
          <a:xfrm>
            <a:off x="4572000" y="2404872"/>
            <a:ext cx="4105656" cy="365760"/>
          </a:xfrm>
          <a:prstGeom prst="rect">
            <a:avLst/>
          </a:prstGeom>
          <a:solidFill>
            <a:srgbClr val="1C7293">
              <a:alpha val="72000"/>
            </a:srgbClr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0" y="2404872"/>
            <a:ext cx="4105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Size (16)</a:t>
            </a:r>
            <a:endParaRPr lang="en-US" sz="950"/>
          </a:p>
        </p:txBody>
      </p:sp>
      <p:sp>
        <p:nvSpPr>
          <p:cNvPr id="18" name="Shape 16"/>
          <p:cNvSpPr/>
          <p:nvPr/>
        </p:nvSpPr>
        <p:spPr>
          <a:xfrm>
            <a:off x="411480" y="2825496"/>
            <a:ext cx="4105656" cy="365760"/>
          </a:xfrm>
          <a:prstGeom prst="rect">
            <a:avLst/>
          </a:prstGeom>
          <a:solidFill>
            <a:srgbClr val="1C7293">
              <a:alpha val="72000"/>
            </a:srgbClr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1480" y="2825496"/>
            <a:ext cx="4105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Checksum (16)</a:t>
            </a:r>
            <a:endParaRPr lang="en-US" sz="950"/>
          </a:p>
        </p:txBody>
      </p:sp>
      <p:sp>
        <p:nvSpPr>
          <p:cNvPr id="20" name="Shape 18"/>
          <p:cNvSpPr/>
          <p:nvPr/>
        </p:nvSpPr>
        <p:spPr>
          <a:xfrm>
            <a:off x="4572000" y="2825496"/>
            <a:ext cx="4105656" cy="365760"/>
          </a:xfrm>
          <a:prstGeom prst="rect">
            <a:avLst/>
          </a:prstGeom>
          <a:solidFill>
            <a:srgbClr val="065A82">
              <a:alpha val="72000"/>
            </a:srgbClr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0" y="2825496"/>
            <a:ext cx="4105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Pointer (16)</a:t>
            </a:r>
            <a:endParaRPr lang="en-US" sz="950"/>
          </a:p>
        </p:txBody>
      </p:sp>
      <p:sp>
        <p:nvSpPr>
          <p:cNvPr id="22" name="Text 20"/>
          <p:cNvSpPr/>
          <p:nvPr/>
        </p:nvSpPr>
        <p:spPr>
          <a:xfrm>
            <a:off x="411480" y="3227832"/>
            <a:ext cx="83027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 (daca Data Offset &gt; 5)  |  Application Data</a:t>
            </a:r>
            <a:endParaRPr lang="en-US" sz="85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493008"/>
          <a:ext cx="8503920" cy="1591056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Semnificatie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Cand apare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2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2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Synchronize — initiere conexiune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2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Handshake pasii 1 si 2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2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ACK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2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Acknowledge — confirmare primire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2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Aproape toate pachetele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2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PSH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2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 — proceseaza imediat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2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Trimitere date reale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2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2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Finish — inchidere normala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2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Deconectare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2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2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Reset — inchidere fortata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2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Erori, refuz conexiune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9A0"/>
          </a:solidFill>
          <a:ln w="12700">
            <a:solidFill>
              <a:srgbClr val="02C9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>
                <a:solidFill>
                  <a:srgbClr val="02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· 3-WAY HANDSHAKE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411480" y="438912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Stabilirea conexiunii inainte de date – 3-Way Handshake</a:t>
            </a:r>
            <a:endParaRPr lang="en-US" sz="260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2011680" cy="5303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078992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500"/>
          </a:p>
        </p:txBody>
      </p:sp>
      <p:sp>
        <p:nvSpPr>
          <p:cNvPr id="7" name="Shape 5"/>
          <p:cNvSpPr/>
          <p:nvPr/>
        </p:nvSpPr>
        <p:spPr>
          <a:xfrm>
            <a:off x="1325880" y="1609344"/>
            <a:ext cx="0" cy="333756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812280" y="1078992"/>
            <a:ext cx="2011680" cy="530352"/>
          </a:xfrm>
          <a:prstGeom prst="rect">
            <a:avLst/>
          </a:prstGeom>
          <a:solidFill>
            <a:srgbClr val="02C9A0"/>
          </a:solidFill>
          <a:ln w="12700">
            <a:solidFill>
              <a:srgbClr val="02C9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12280" y="1078992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500"/>
          </a:p>
        </p:txBody>
      </p:sp>
      <p:sp>
        <p:nvSpPr>
          <p:cNvPr id="10" name="Shape 8"/>
          <p:cNvSpPr/>
          <p:nvPr/>
        </p:nvSpPr>
        <p:spPr>
          <a:xfrm>
            <a:off x="7818120" y="1609344"/>
            <a:ext cx="0" cy="3337560"/>
          </a:xfrm>
          <a:prstGeom prst="line">
            <a:avLst/>
          </a:prstGeom>
          <a:noFill/>
          <a:ln w="25400">
            <a:solidFill>
              <a:srgbClr val="02C9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325880" y="1920240"/>
            <a:ext cx="6492240" cy="0"/>
          </a:xfrm>
          <a:prstGeom prst="line">
            <a:avLst/>
          </a:prstGeom>
          <a:noFill/>
          <a:ln w="25400">
            <a:solidFill>
              <a:srgbClr val="F5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920240" y="164592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  seq=X</a:t>
            </a:r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1920240" y="1920240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6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Flags [S], seq 2416620956, win 29200, length 0</a:t>
            </a:r>
            <a:endParaRPr lang="en-US" sz="850"/>
          </a:p>
        </p:txBody>
      </p:sp>
      <p:sp>
        <p:nvSpPr>
          <p:cNvPr id="14" name="Shape 12"/>
          <p:cNvSpPr/>
          <p:nvPr/>
        </p:nvSpPr>
        <p:spPr>
          <a:xfrm>
            <a:off x="1325880" y="2633472"/>
            <a:ext cx="6492240" cy="0"/>
          </a:xfrm>
          <a:prstGeom prst="line">
            <a:avLst/>
          </a:prstGeom>
          <a:noFill/>
          <a:ln w="25400">
            <a:solidFill>
              <a:srgbClr val="02C9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920240" y="237744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02C9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SYN-ACK  seq=Y  ack=X+1</a:t>
            </a:r>
            <a:endParaRPr lang="en-US" sz="1100"/>
          </a:p>
        </p:txBody>
      </p:sp>
      <p:sp>
        <p:nvSpPr>
          <p:cNvPr id="16" name="Text 14"/>
          <p:cNvSpPr/>
          <p:nvPr/>
        </p:nvSpPr>
        <p:spPr>
          <a:xfrm>
            <a:off x="1920240" y="2633472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6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Flags [S.], seq 409643424, ack 2416620957, length 0</a:t>
            </a:r>
            <a:endParaRPr lang="en-US" sz="850"/>
          </a:p>
        </p:txBody>
      </p:sp>
      <p:sp>
        <p:nvSpPr>
          <p:cNvPr id="17" name="Shape 15"/>
          <p:cNvSpPr/>
          <p:nvPr/>
        </p:nvSpPr>
        <p:spPr>
          <a:xfrm>
            <a:off x="1325880" y="3346704"/>
            <a:ext cx="649224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920240" y="309067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ACK  ack=Y+1</a:t>
            </a:r>
            <a:endParaRPr lang="en-US" sz="1100"/>
          </a:p>
        </p:txBody>
      </p:sp>
      <p:sp>
        <p:nvSpPr>
          <p:cNvPr id="19" name="Text 17"/>
          <p:cNvSpPr/>
          <p:nvPr/>
        </p:nvSpPr>
        <p:spPr>
          <a:xfrm>
            <a:off x="1920240" y="3346704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6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Flags [.], ack 409643425, length 0  — conexiune stabilita!</a:t>
            </a:r>
            <a:endParaRPr lang="en-US" sz="850"/>
          </a:p>
        </p:txBody>
      </p:sp>
      <p:sp>
        <p:nvSpPr>
          <p:cNvPr id="20" name="Shape 18"/>
          <p:cNvSpPr/>
          <p:nvPr/>
        </p:nvSpPr>
        <p:spPr>
          <a:xfrm>
            <a:off x="1325880" y="4069080"/>
            <a:ext cx="6492240" cy="0"/>
          </a:xfrm>
          <a:prstGeom prst="line">
            <a:avLst/>
          </a:prstGeom>
          <a:noFill/>
          <a:ln w="19050">
            <a:solidFill>
              <a:srgbClr val="F5C84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920240" y="3822192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>
                <a:solidFill>
                  <a:srgbClr val="6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PSH+ACK  — date reale</a:t>
            </a:r>
            <a:endParaRPr lang="en-US" sz="1000"/>
          </a:p>
        </p:txBody>
      </p:sp>
      <p:sp>
        <p:nvSpPr>
          <p:cNvPr id="22" name="Text 20"/>
          <p:cNvSpPr/>
          <p:nvPr/>
        </p:nvSpPr>
        <p:spPr>
          <a:xfrm>
            <a:off x="1920240" y="4069080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6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Flags [P.], seq X:X+1, length 1</a:t>
            </a:r>
            <a:endParaRPr lang="en-US" sz="850"/>
          </a:p>
        </p:txBody>
      </p:sp>
      <p:sp>
        <p:nvSpPr>
          <p:cNvPr id="23" name="Shape 21">
            <a:hlinkClick r:id="rId3"/>
          </p:cNvPr>
          <p:cNvSpPr/>
          <p:nvPr/>
        </p:nvSpPr>
        <p:spPr>
          <a:xfrm>
            <a:off x="320040" y="4892040"/>
            <a:ext cx="8503920" cy="228600"/>
          </a:xfrm>
          <a:prstGeom prst="rect">
            <a:avLst/>
          </a:prstGeom>
          <a:solidFill>
            <a:srgbClr val="0D2137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491032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err="1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Animatie</a:t>
            </a:r>
            <a:r>
              <a:rPr lang="en-US" sz="140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err="1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simpla</a:t>
            </a:r>
            <a:r>
              <a:rPr lang="en-US" sz="140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3-way handshake</a:t>
            </a:r>
            <a:endParaRPr lang="en-US" sz="14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9A0"/>
          </a:solidFill>
          <a:ln w="12700">
            <a:solidFill>
              <a:srgbClr val="02C9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>
                <a:solidFill>
                  <a:srgbClr val="02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 · SERVER SI CLIENT PYTHON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411480" y="438912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 API</a:t>
            </a:r>
            <a:endParaRPr lang="en-US" sz="2600"/>
          </a:p>
        </p:txBody>
      </p:sp>
      <p:sp>
        <p:nvSpPr>
          <p:cNvPr id="5" name="Text 3"/>
          <p:cNvSpPr/>
          <p:nvPr/>
        </p:nvSpPr>
        <p:spPr>
          <a:xfrm>
            <a:off x="320040" y="1078992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Server: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4206240" cy="3639312"/>
          </a:xfrm>
          <a:prstGeom prst="rect">
            <a:avLst/>
          </a:prstGeom>
          <a:solidFill>
            <a:srgbClr val="0D2137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38912" y="1463040"/>
            <a:ext cx="3968496" cy="3456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8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socket</a:t>
            </a:r>
            <a:endParaRPr lang="en-US" sz="880"/>
          </a:p>
          <a:p>
            <a:pPr marL="0" indent="0">
              <a:buNone/>
            </a:pP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AF_INET=IPv4, SOCK_DGRAM=UDP</a:t>
            </a: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sock = socket.socket(</a:t>
            </a: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socket.AF_INET,</a:t>
            </a: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socket.SOCK_DGRAM,</a:t>
            </a: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proto=socket.IPPROTO_UDP)</a:t>
            </a:r>
            <a:endParaRPr lang="en-US" sz="880"/>
          </a:p>
          <a:p>
            <a:pPr marL="0" indent="0">
              <a:buNone/>
            </a:pP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0.0.0.0 = TOATE interfetele (nu localhost)</a:t>
            </a: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sock.bind(('0.0.0.0', 10000))</a:t>
            </a: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print('Server UDP pornit...')</a:t>
            </a:r>
            <a:endParaRPr lang="en-US" sz="880"/>
          </a:p>
          <a:p>
            <a:pPr marL="0" indent="0">
              <a:buNone/>
            </a:pP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True:</a:t>
            </a: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recvfrom = BLOCANT pana sosesc date</a:t>
            </a: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returneaza (bytes, (ip_sursa, port_sursa))</a:t>
            </a: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data, address = sock.recvfrom(1024)</a:t>
            </a: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print(f'De la {address}: {data}')</a:t>
            </a: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Trimite raspuns la aceeasi adresa</a:t>
            </a: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sock.sendto(b'ACK: ' + data, address)</a:t>
            </a:r>
            <a:endParaRPr lang="en-US" sz="880"/>
          </a:p>
        </p:txBody>
      </p:sp>
      <p:sp>
        <p:nvSpPr>
          <p:cNvPr id="8" name="Text 6"/>
          <p:cNvSpPr/>
          <p:nvPr/>
        </p:nvSpPr>
        <p:spPr>
          <a:xfrm>
            <a:off x="4709160" y="107899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Client:</a:t>
            </a:r>
            <a:endParaRPr lang="en-US" sz="110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4114800" cy="3639312"/>
          </a:xfrm>
          <a:prstGeom prst="rect">
            <a:avLst/>
          </a:prstGeom>
          <a:solidFill>
            <a:srgbClr val="0D2137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28032" y="1463040"/>
            <a:ext cx="3877056" cy="3456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8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socket, sys</a:t>
            </a:r>
            <a:endParaRPr lang="en-US" sz="880"/>
          </a:p>
          <a:p>
            <a:pPr marL="0" indent="0">
              <a:buNone/>
            </a:pP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sock = socket.socket(</a:t>
            </a: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socket.AF_INET,</a:t>
            </a: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socket.SOCK_DGRAM,</a:t>
            </a: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proto=socket.IPPROTO_UDP)</a:t>
            </a:r>
            <a:endParaRPr lang="en-US" sz="880"/>
          </a:p>
          <a:p>
            <a:pPr marL="0" indent="0">
              <a:buNone/>
            </a:pP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mesaj = sys.argv[1].encode('utf-8')</a:t>
            </a:r>
            <a:endParaRPr lang="en-US" sz="880"/>
          </a:p>
          <a:p>
            <a:pPr marL="0" indent="0">
              <a:buNone/>
            </a:pP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Nu e nevoie de bind() sau connect()</a:t>
            </a: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sendto aloca automat un port efemer</a:t>
            </a: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sock.sendto(mesaj, ('rt1', 10000))</a:t>
            </a:r>
            <a:endParaRPr lang="en-US" sz="880"/>
          </a:p>
          <a:p>
            <a:pPr marL="0" indent="0">
              <a:buNone/>
            </a:pP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Asteapta raspuns (blocant)</a:t>
            </a: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data, addr = sock.recvfrom(1024)</a:t>
            </a: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print(f'Raspuns: {data}')</a:t>
            </a:r>
            <a:endParaRPr lang="en-US" sz="880"/>
          </a:p>
          <a:p>
            <a:pPr marL="0" indent="0">
              <a:buNone/>
            </a:pP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sock.close()</a:t>
            </a:r>
            <a:endParaRPr lang="en-US" sz="880"/>
          </a:p>
        </p:txBody>
      </p:sp>
      <p:sp>
        <p:nvSpPr>
          <p:cNvPr id="11" name="Shape 9"/>
          <p:cNvSpPr/>
          <p:nvPr/>
        </p:nvSpPr>
        <p:spPr>
          <a:xfrm>
            <a:off x="320040" y="5102352"/>
            <a:ext cx="8503920" cy="201168"/>
          </a:xfrm>
          <a:prstGeom prst="rect">
            <a:avLst/>
          </a:prstGeom>
          <a:solidFill>
            <a:srgbClr val="0D2137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5120640"/>
            <a:ext cx="82296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tcpdump -nvvX -i any udp port 10000  →  verifica traficul in timp real din Terminal 3</a:t>
            </a:r>
            <a:endParaRPr lang="en-US" sz="9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9A0"/>
          </a:solidFill>
          <a:ln w="12700">
            <a:solidFill>
              <a:srgbClr val="02C9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>
                <a:solidFill>
                  <a:srgbClr val="02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· SERVER SI CLIENT PYTHON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411480" y="438912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SOCK_STREAM: stream de bytes ordonat si garantat</a:t>
            </a:r>
            <a:endParaRPr lang="en-US" sz="2600"/>
          </a:p>
        </p:txBody>
      </p:sp>
      <p:sp>
        <p:nvSpPr>
          <p:cNvPr id="5" name="Text 3"/>
          <p:cNvSpPr/>
          <p:nvPr/>
        </p:nvSpPr>
        <p:spPr>
          <a:xfrm>
            <a:off x="320040" y="1078992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Server: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4206240" cy="3657600"/>
          </a:xfrm>
          <a:prstGeom prst="rect">
            <a:avLst/>
          </a:prstGeom>
          <a:solidFill>
            <a:srgbClr val="0D2137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38912" y="1463040"/>
            <a:ext cx="3968496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6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socket</a:t>
            </a:r>
            <a:endParaRPr lang="en-US" sz="860"/>
          </a:p>
          <a:p>
            <a:pPr marL="0" indent="0">
              <a:buNone/>
            </a:pPr>
            <a:endParaRPr lang="en-US" sz="860"/>
          </a:p>
          <a:p>
            <a:pPr marL="0" indent="0">
              <a:buNone/>
            </a:pPr>
            <a:r>
              <a:rPr lang="en-US" sz="86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sock = socket.socket(</a:t>
            </a:r>
            <a:endParaRPr lang="en-US" sz="860"/>
          </a:p>
          <a:p>
            <a:pPr marL="0" indent="0">
              <a:buNone/>
            </a:pPr>
            <a:r>
              <a:rPr lang="en-US" sz="86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socket.AF_INET,</a:t>
            </a:r>
            <a:endParaRPr lang="en-US" sz="860"/>
          </a:p>
          <a:p>
            <a:pPr marL="0" indent="0">
              <a:buNone/>
            </a:pPr>
            <a:r>
              <a:rPr lang="en-US" sz="86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socket.SOCK_STREAM,  # TCP!</a:t>
            </a:r>
            <a:endParaRPr lang="en-US" sz="860"/>
          </a:p>
          <a:p>
            <a:pPr marL="0" indent="0">
              <a:buNone/>
            </a:pPr>
            <a:r>
              <a:rPr lang="en-US" sz="86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proto=socket.IPPROTO_TCP)</a:t>
            </a:r>
            <a:endParaRPr lang="en-US" sz="860"/>
          </a:p>
          <a:p>
            <a:pPr marL="0" indent="0">
              <a:buNone/>
            </a:pPr>
            <a:endParaRPr lang="en-US" sz="860"/>
          </a:p>
          <a:p>
            <a:pPr marL="0" indent="0">
              <a:buNone/>
            </a:pPr>
            <a:r>
              <a:rPr lang="en-US" sz="86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Refoloseste portul dupa restart</a:t>
            </a:r>
            <a:endParaRPr lang="en-US" sz="860"/>
          </a:p>
          <a:p>
            <a:pPr marL="0" indent="0">
              <a:buNone/>
            </a:pPr>
            <a:r>
              <a:rPr lang="en-US" sz="86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sock.setsockopt(socket.SOL_SOCKET,</a:t>
            </a:r>
            <a:endParaRPr lang="en-US" sz="860"/>
          </a:p>
          <a:p>
            <a:pPr marL="0" indent="0">
              <a:buNone/>
            </a:pPr>
            <a:r>
              <a:rPr lang="en-US" sz="86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socket.SO_REUSEADDR, 1)</a:t>
            </a:r>
            <a:endParaRPr lang="en-US" sz="860"/>
          </a:p>
          <a:p>
            <a:pPr marL="0" indent="0">
              <a:buNone/>
            </a:pPr>
            <a:r>
              <a:rPr lang="en-US" sz="86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sock.bind(('0.0.0.0', 10000))</a:t>
            </a:r>
            <a:endParaRPr lang="en-US" sz="860"/>
          </a:p>
          <a:p>
            <a:pPr marL="0" indent="0">
              <a:buNone/>
            </a:pPr>
            <a:r>
              <a:rPr lang="en-US" sz="86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sock.listen(5)  # max 5 conexiuni pending</a:t>
            </a:r>
            <a:endParaRPr lang="en-US" sz="860"/>
          </a:p>
          <a:p>
            <a:pPr marL="0" indent="0">
              <a:buNone/>
            </a:pPr>
            <a:endParaRPr lang="en-US" sz="860"/>
          </a:p>
          <a:p>
            <a:pPr marL="0" indent="0">
              <a:buNone/>
            </a:pPr>
            <a:r>
              <a:rPr lang="en-US" sz="86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True:</a:t>
            </a:r>
            <a:endParaRPr lang="en-US" sz="860"/>
          </a:p>
          <a:p>
            <a:pPr marL="0" indent="0">
              <a:buNone/>
            </a:pPr>
            <a:r>
              <a:rPr lang="en-US" sz="86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accept() = BLOCANT, executa handshake</a:t>
            </a:r>
            <a:endParaRPr lang="en-US" sz="860"/>
          </a:p>
          <a:p>
            <a:pPr marL="0" indent="0">
              <a:buNone/>
            </a:pPr>
            <a:r>
              <a:rPr lang="en-US" sz="86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Returneaza socket NOU per client!</a:t>
            </a:r>
            <a:endParaRPr lang="en-US" sz="860"/>
          </a:p>
          <a:p>
            <a:pPr marL="0" indent="0">
              <a:buNone/>
            </a:pPr>
            <a:r>
              <a:rPr lang="en-US" sz="86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conn, addr = sock.accept()</a:t>
            </a:r>
            <a:endParaRPr lang="en-US" sz="860"/>
          </a:p>
          <a:p>
            <a:pPr marL="0" indent="0">
              <a:buNone/>
            </a:pPr>
            <a:r>
              <a:rPr lang="en-US" sz="86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print(f'Nou: {addr}')</a:t>
            </a:r>
            <a:endParaRPr lang="en-US" sz="860"/>
          </a:p>
          <a:p>
            <a:pPr marL="0" indent="0">
              <a:buNone/>
            </a:pPr>
            <a:r>
              <a:rPr lang="en-US" sz="86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860"/>
          </a:p>
          <a:p>
            <a:pPr marL="0" indent="0">
              <a:buNone/>
            </a:pPr>
            <a:r>
              <a:rPr lang="en-US" sz="86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 = conn.recv(1024)</a:t>
            </a:r>
            <a:endParaRPr lang="en-US" sz="860"/>
          </a:p>
          <a:p>
            <a:pPr marL="0" indent="0">
              <a:buNone/>
            </a:pPr>
            <a:r>
              <a:rPr lang="en-US" sz="86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conn.send(b'Hello TCP!')</a:t>
            </a:r>
            <a:endParaRPr lang="en-US" sz="860"/>
          </a:p>
          <a:p>
            <a:pPr marL="0" indent="0">
              <a:buNone/>
            </a:pPr>
            <a:r>
              <a:rPr lang="en-US" sz="86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conn.close()  # inchide CONEXIUNEA</a:t>
            </a:r>
            <a:endParaRPr lang="en-US" sz="860"/>
          </a:p>
          <a:p>
            <a:pPr marL="0" indent="0">
              <a:buNone/>
            </a:pPr>
            <a:r>
              <a:rPr lang="en-US" sz="86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sock ramane deschis pt noi clienti</a:t>
            </a:r>
            <a:endParaRPr lang="en-US" sz="860"/>
          </a:p>
        </p:txBody>
      </p:sp>
      <p:sp>
        <p:nvSpPr>
          <p:cNvPr id="8" name="Text 6"/>
          <p:cNvSpPr/>
          <p:nvPr/>
        </p:nvSpPr>
        <p:spPr>
          <a:xfrm>
            <a:off x="4709160" y="107899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Client:</a:t>
            </a:r>
            <a:endParaRPr lang="en-US" sz="110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4114800" cy="3657600"/>
          </a:xfrm>
          <a:prstGeom prst="rect">
            <a:avLst/>
          </a:prstGeom>
          <a:solidFill>
            <a:srgbClr val="0D2137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28032" y="1463040"/>
            <a:ext cx="3877056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8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socket, sys</a:t>
            </a:r>
            <a:endParaRPr lang="en-US" sz="880"/>
          </a:p>
          <a:p>
            <a:pPr marL="0" indent="0">
              <a:buNone/>
            </a:pP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sock = socket.socket(</a:t>
            </a: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socket.AF_INET,</a:t>
            </a: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socket.SOCK_STREAM,</a:t>
            </a: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proto=socket.IPPROTO_TCP)</a:t>
            </a:r>
            <a:endParaRPr lang="en-US" sz="880"/>
          </a:p>
          <a:p>
            <a:pPr marL="0" indent="0">
              <a:buNone/>
            </a:pP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connect() executa 3-way handshake</a:t>
            </a: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Blocant pana conexiunea e stabilita</a:t>
            </a: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sock.connect(('rt1', 10000))</a:t>
            </a:r>
            <a:endParaRPr lang="en-US" sz="880"/>
          </a:p>
          <a:p>
            <a:pPr marL="0" indent="0">
              <a:buNone/>
            </a:pP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mesaj = sys.argv[1].encode('utf-8')</a:t>
            </a: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sock.send(mesaj)</a:t>
            </a:r>
            <a:endParaRPr lang="en-US" sz="880"/>
          </a:p>
          <a:p>
            <a:pPr marL="0" indent="0">
              <a:buNone/>
            </a:pP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sock.recv(1024)</a:t>
            </a: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print(f'Raspuns: {data}')</a:t>
            </a:r>
            <a:endParaRPr lang="en-US" sz="880"/>
          </a:p>
          <a:p>
            <a:pPr marL="0" indent="0">
              <a:buNone/>
            </a:pP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sock.close()</a:t>
            </a:r>
            <a:endParaRPr lang="en-US" sz="880"/>
          </a:p>
        </p:txBody>
      </p:sp>
      <p:sp>
        <p:nvSpPr>
          <p:cNvPr id="11" name="Shape 9"/>
          <p:cNvSpPr/>
          <p:nvPr/>
        </p:nvSpPr>
        <p:spPr>
          <a:xfrm>
            <a:off x="320040" y="5120640"/>
            <a:ext cx="2788920" cy="228600"/>
          </a:xfrm>
          <a:prstGeom prst="rect">
            <a:avLst/>
          </a:prstGeom>
          <a:solidFill>
            <a:srgbClr val="065A82">
              <a:alpha val="28000"/>
            </a:srgbClr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" y="5129784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A2E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UDP: sendto/recvfrom</a:t>
            </a:r>
            <a:endParaRPr lang="en-US" sz="900"/>
          </a:p>
        </p:txBody>
      </p:sp>
      <p:sp>
        <p:nvSpPr>
          <p:cNvPr id="13" name="Shape 11"/>
          <p:cNvSpPr/>
          <p:nvPr/>
        </p:nvSpPr>
        <p:spPr>
          <a:xfrm>
            <a:off x="3200400" y="5120640"/>
            <a:ext cx="2788920" cy="228600"/>
          </a:xfrm>
          <a:prstGeom prst="rect">
            <a:avLst/>
          </a:prstGeom>
          <a:solidFill>
            <a:srgbClr val="02C9A0">
              <a:alpha val="28000"/>
            </a:srgbClr>
          </a:solidFill>
          <a:ln w="12700">
            <a:solidFill>
              <a:srgbClr val="02C9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91840" y="5129784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A2E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TCP: connect, accept, send, recv</a:t>
            </a:r>
            <a:endParaRPr lang="en-US" sz="900"/>
          </a:p>
        </p:txBody>
      </p:sp>
      <p:sp>
        <p:nvSpPr>
          <p:cNvPr id="15" name="Shape 13"/>
          <p:cNvSpPr/>
          <p:nvPr/>
        </p:nvSpPr>
        <p:spPr>
          <a:xfrm>
            <a:off x="6080760" y="5120640"/>
            <a:ext cx="2788920" cy="228600"/>
          </a:xfrm>
          <a:prstGeom prst="rect">
            <a:avLst/>
          </a:prstGeom>
          <a:solidFill>
            <a:srgbClr val="F5C842">
              <a:alpha val="28000"/>
            </a:srgbClr>
          </a:solidFill>
          <a:ln w="12700">
            <a:solidFill>
              <a:srgbClr val="F5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72200" y="5129784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A2E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TCP: accept() = socket NOU per client</a:t>
            </a:r>
            <a:endParaRPr lang="en-US" sz="9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2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9A0"/>
          </a:solidFill>
          <a:ln w="12700">
            <a:solidFill>
              <a:srgbClr val="02C9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400" b="1">
                <a:solidFill>
                  <a:srgbClr val="02C9A0">
                    <a:alpha val="82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06</a:t>
            </a:r>
            <a:endParaRPr lang="en-US" sz="10400"/>
          </a:p>
        </p:txBody>
      </p:sp>
      <p:sp>
        <p:nvSpPr>
          <p:cNvPr id="5" name="Text 3"/>
          <p:cNvSpPr/>
          <p:nvPr/>
        </p:nvSpPr>
        <p:spPr>
          <a:xfrm>
            <a:off x="411480" y="1371600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Congestion Control</a:t>
            </a:r>
            <a:endParaRPr lang="en-US" sz="4400"/>
          </a:p>
        </p:txBody>
      </p:sp>
      <p:sp>
        <p:nvSpPr>
          <p:cNvPr id="6" name="Text 4"/>
          <p:cNvSpPr/>
          <p:nvPr/>
        </p:nvSpPr>
        <p:spPr>
          <a:xfrm>
            <a:off x="411480" y="2450592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 evita TCP sa </a:t>
            </a:r>
            <a:r>
              <a:rPr lang="en-US" sz="1500" i="1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blocheze</a:t>
            </a:r>
            <a:r>
              <a:rPr lang="en-US" sz="1500" i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i="1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reteaua</a:t>
            </a:r>
            <a:r>
              <a:rPr lang="en-US" sz="1500" i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500" i="1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cwnd</a:t>
            </a:r>
            <a:r>
              <a:rPr lang="en-US" sz="1500" i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ssthresh, slow start</a:t>
            </a:r>
            <a:endParaRPr lang="en-US" sz="15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9A0"/>
          </a:solidFill>
          <a:ln w="12700">
            <a:solidFill>
              <a:srgbClr val="02C9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>
                <a:solidFill>
                  <a:srgbClr val="02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· CONGESTION CONTROL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411480" y="382927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Fereastra de congestionare (</a:t>
            </a:r>
            <a:r>
              <a:rPr lang="en-US" sz="2600" b="1" err="1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cwnd</a:t>
            </a:r>
            <a:r>
              <a:rPr lang="en-US" sz="2600" b="1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):</a:t>
            </a:r>
            <a:endParaRPr lang="en-US" sz="2600"/>
          </a:p>
        </p:txBody>
      </p:sp>
      <p:sp>
        <p:nvSpPr>
          <p:cNvPr id="5" name="Shape 3"/>
          <p:cNvSpPr/>
          <p:nvPr/>
        </p:nvSpPr>
        <p:spPr>
          <a:xfrm>
            <a:off x="320040" y="1010412"/>
            <a:ext cx="5303520" cy="3465576"/>
          </a:xfrm>
          <a:prstGeom prst="rect">
            <a:avLst/>
          </a:prstGeom>
          <a:solidFill>
            <a:srgbClr val="0D2137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4297680"/>
            <a:ext cx="4663440" cy="0"/>
          </a:xfrm>
          <a:prstGeom prst="line">
            <a:avLst/>
          </a:prstGeom>
          <a:noFill/>
          <a:ln w="19050">
            <a:solidFill>
              <a:srgbClr val="6B8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1188720"/>
            <a:ext cx="0" cy="3108960"/>
          </a:xfrm>
          <a:prstGeom prst="line">
            <a:avLst/>
          </a:prstGeom>
          <a:noFill/>
          <a:ln w="19050">
            <a:solidFill>
              <a:srgbClr val="6B8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" y="1143000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cwnd</a:t>
            </a:r>
            <a:endParaRPr lang="en-US" sz="900"/>
          </a:p>
        </p:txBody>
      </p:sp>
      <p:sp>
        <p:nvSpPr>
          <p:cNvPr id="9" name="Text 7"/>
          <p:cNvSpPr/>
          <p:nvPr/>
        </p:nvSpPr>
        <p:spPr>
          <a:xfrm>
            <a:off x="5120640" y="4315968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RTT</a:t>
            </a:r>
            <a:endParaRPr lang="en-US" sz="900"/>
          </a:p>
        </p:txBody>
      </p:sp>
      <p:sp>
        <p:nvSpPr>
          <p:cNvPr id="10" name="Shape 8"/>
          <p:cNvSpPr/>
          <p:nvPr/>
        </p:nvSpPr>
        <p:spPr>
          <a:xfrm>
            <a:off x="640080" y="4279392"/>
            <a:ext cx="256032" cy="0"/>
          </a:xfrm>
          <a:prstGeom prst="line">
            <a:avLst/>
          </a:prstGeom>
          <a:noFill/>
          <a:ln w="31750">
            <a:solidFill>
              <a:srgbClr val="02C9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96112" y="3977640"/>
            <a:ext cx="256032" cy="0"/>
          </a:xfrm>
          <a:prstGeom prst="line">
            <a:avLst/>
          </a:prstGeom>
          <a:noFill/>
          <a:ln w="31750">
            <a:solidFill>
              <a:srgbClr val="02C9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152144" y="3474720"/>
            <a:ext cx="256032" cy="0"/>
          </a:xfrm>
          <a:prstGeom prst="line">
            <a:avLst/>
          </a:prstGeom>
          <a:noFill/>
          <a:ln w="31750">
            <a:solidFill>
              <a:srgbClr val="02C9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408176" y="2788920"/>
            <a:ext cx="256032" cy="0"/>
          </a:xfrm>
          <a:prstGeom prst="line">
            <a:avLst/>
          </a:prstGeom>
          <a:noFill/>
          <a:ln w="31750">
            <a:solidFill>
              <a:srgbClr val="02C9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664208" y="2212848"/>
            <a:ext cx="256032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920240" y="2029968"/>
            <a:ext cx="256032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176272" y="1874520"/>
            <a:ext cx="256032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432304" y="1737360"/>
            <a:ext cx="256032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688336" y="1627632"/>
            <a:ext cx="137160" cy="2487168"/>
          </a:xfrm>
          <a:prstGeom prst="line">
            <a:avLst/>
          </a:prstGeom>
          <a:noFill/>
          <a:ln w="25400">
            <a:solidFill>
              <a:srgbClr val="E0525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825496" y="4114800"/>
            <a:ext cx="256032" cy="0"/>
          </a:xfrm>
          <a:prstGeom prst="line">
            <a:avLst/>
          </a:prstGeom>
          <a:noFill/>
          <a:ln w="31750">
            <a:solidFill>
              <a:srgbClr val="F5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081528" y="3749040"/>
            <a:ext cx="256032" cy="0"/>
          </a:xfrm>
          <a:prstGeom prst="line">
            <a:avLst/>
          </a:prstGeom>
          <a:noFill/>
          <a:ln w="31750">
            <a:solidFill>
              <a:srgbClr val="F5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337560" y="3218688"/>
            <a:ext cx="256032" cy="0"/>
          </a:xfrm>
          <a:prstGeom prst="line">
            <a:avLst/>
          </a:prstGeom>
          <a:noFill/>
          <a:ln w="31750">
            <a:solidFill>
              <a:srgbClr val="F5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593592" y="2633472"/>
            <a:ext cx="256032" cy="0"/>
          </a:xfrm>
          <a:prstGeom prst="line">
            <a:avLst/>
          </a:prstGeom>
          <a:noFill/>
          <a:ln w="31750">
            <a:solidFill>
              <a:srgbClr val="F5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849624" y="2148840"/>
            <a:ext cx="256032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105656" y="1993392"/>
            <a:ext cx="256032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361688" y="1865376"/>
            <a:ext cx="256032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617720" y="1755648"/>
            <a:ext cx="256032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40080" y="2148840"/>
            <a:ext cx="4663440" cy="0"/>
          </a:xfrm>
          <a:prstGeom prst="line">
            <a:avLst/>
          </a:prstGeom>
          <a:noFill/>
          <a:ln w="12700">
            <a:solidFill>
              <a:srgbClr val="F5C84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983480" y="207568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ssthresh</a:t>
            </a:r>
            <a:endParaRPr lang="en-US" sz="800"/>
          </a:p>
        </p:txBody>
      </p:sp>
      <p:sp>
        <p:nvSpPr>
          <p:cNvPr id="29" name="Text 27"/>
          <p:cNvSpPr/>
          <p:nvPr/>
        </p:nvSpPr>
        <p:spPr>
          <a:xfrm>
            <a:off x="749808" y="324612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02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</a:t>
            </a:r>
            <a:endParaRPr lang="en-US" sz="850"/>
          </a:p>
          <a:p>
            <a:pPr marL="0" indent="0" algn="ctr">
              <a:buNone/>
            </a:pPr>
            <a:r>
              <a:rPr lang="en-US" sz="850" b="1">
                <a:solidFill>
                  <a:srgbClr val="02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850"/>
          </a:p>
        </p:txBody>
      </p:sp>
      <p:sp>
        <p:nvSpPr>
          <p:cNvPr id="30" name="Text 28"/>
          <p:cNvSpPr/>
          <p:nvPr/>
        </p:nvSpPr>
        <p:spPr>
          <a:xfrm>
            <a:off x="1828800" y="1298448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Cong.</a:t>
            </a:r>
            <a:endParaRPr lang="en-US" sz="850"/>
          </a:p>
          <a:p>
            <a:pPr marL="0" indent="0" algn="ctr">
              <a:buNone/>
            </a:pPr>
            <a:r>
              <a:rPr lang="en-US" sz="850" b="1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</a:t>
            </a:r>
            <a:endParaRPr lang="en-US" sz="850"/>
          </a:p>
        </p:txBody>
      </p:sp>
      <p:sp>
        <p:nvSpPr>
          <p:cNvPr id="31" name="Text 29"/>
          <p:cNvSpPr/>
          <p:nvPr/>
        </p:nvSpPr>
        <p:spPr>
          <a:xfrm>
            <a:off x="2578608" y="4315968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850"/>
          </a:p>
        </p:txBody>
      </p:sp>
      <p:sp>
        <p:nvSpPr>
          <p:cNvPr id="32" name="Shape 30"/>
          <p:cNvSpPr/>
          <p:nvPr/>
        </p:nvSpPr>
        <p:spPr>
          <a:xfrm>
            <a:off x="5806440" y="1078992"/>
            <a:ext cx="3017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806440" y="1078992"/>
            <a:ext cx="64008" cy="749808"/>
          </a:xfrm>
          <a:prstGeom prst="rect">
            <a:avLst/>
          </a:prstGeom>
          <a:solidFill>
            <a:srgbClr val="02C9A0"/>
          </a:solidFill>
          <a:ln w="12700">
            <a:solidFill>
              <a:srgbClr val="02C9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943600" y="1133856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Start</a:t>
            </a:r>
            <a:endParaRPr lang="en-US" sz="1200"/>
          </a:p>
        </p:txBody>
      </p:sp>
      <p:sp>
        <p:nvSpPr>
          <p:cNvPr id="35" name="Text 33"/>
          <p:cNvSpPr/>
          <p:nvPr/>
        </p:nvSpPr>
        <p:spPr>
          <a:xfrm>
            <a:off x="5943600" y="1408176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cwnd creste EXPONENTIAL (+1 MSS = maximum segment size  per segment confirmat). Rapid la inceput. Se opreste la ssthresh sau pierdere.</a:t>
            </a:r>
            <a:endParaRPr lang="en-US" sz="900"/>
          </a:p>
        </p:txBody>
      </p:sp>
      <p:sp>
        <p:nvSpPr>
          <p:cNvPr id="36" name="Shape 34"/>
          <p:cNvSpPr/>
          <p:nvPr/>
        </p:nvSpPr>
        <p:spPr>
          <a:xfrm>
            <a:off x="5806440" y="1929384"/>
            <a:ext cx="3017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806440" y="1929384"/>
            <a:ext cx="64008" cy="7498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943600" y="198424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Avoidance</a:t>
            </a:r>
            <a:endParaRPr lang="en-US" sz="1200"/>
          </a:p>
        </p:txBody>
      </p:sp>
      <p:sp>
        <p:nvSpPr>
          <p:cNvPr id="39" name="Text 37"/>
          <p:cNvSpPr/>
          <p:nvPr/>
        </p:nvSpPr>
        <p:spPr>
          <a:xfrm>
            <a:off x="5943600" y="2258568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Dupa ssthresh, cwnd creste LINEAR (+1 MSS/RTT). Crestere additiva, prudenta.</a:t>
            </a:r>
            <a:endParaRPr lang="en-US" sz="900"/>
          </a:p>
        </p:txBody>
      </p:sp>
      <p:sp>
        <p:nvSpPr>
          <p:cNvPr id="40" name="Shape 38"/>
          <p:cNvSpPr/>
          <p:nvPr/>
        </p:nvSpPr>
        <p:spPr>
          <a:xfrm>
            <a:off x="5806440" y="2779776"/>
            <a:ext cx="3017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5806440" y="2779776"/>
            <a:ext cx="64008" cy="749808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943600" y="283464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Pierdere (loss)</a:t>
            </a:r>
            <a:endParaRPr lang="en-US" sz="1200"/>
          </a:p>
        </p:txBody>
      </p:sp>
      <p:sp>
        <p:nvSpPr>
          <p:cNvPr id="43" name="Text 41"/>
          <p:cNvSpPr/>
          <p:nvPr/>
        </p:nvSpPr>
        <p:spPr>
          <a:xfrm>
            <a:off x="5943600" y="310896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ACK duplicate = Fast Retransmit. ssthresh = cwnd/2. cwnd = 1 MSS. Scadere multiplicativa.</a:t>
            </a:r>
            <a:endParaRPr lang="en-US" sz="900"/>
          </a:p>
        </p:txBody>
      </p:sp>
      <p:sp>
        <p:nvSpPr>
          <p:cNvPr id="44" name="Shape 42"/>
          <p:cNvSpPr/>
          <p:nvPr/>
        </p:nvSpPr>
        <p:spPr>
          <a:xfrm>
            <a:off x="5806440" y="3630168"/>
            <a:ext cx="3017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5806440" y="3630168"/>
            <a:ext cx="64008" cy="749808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943600" y="368503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Recovery</a:t>
            </a:r>
            <a:endParaRPr lang="en-US" sz="1200"/>
          </a:p>
        </p:txBody>
      </p:sp>
      <p:sp>
        <p:nvSpPr>
          <p:cNvPr id="47" name="Text 45"/>
          <p:cNvSpPr/>
          <p:nvPr/>
        </p:nvSpPr>
        <p:spPr>
          <a:xfrm>
            <a:off x="5943600" y="3959352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Dupa retransmisie, trece direct la Congestion Avoidance de la noul ssthresh. Nu reia Slow Start.</a:t>
            </a:r>
            <a:endParaRPr lang="en-US" sz="900"/>
          </a:p>
        </p:txBody>
      </p:sp>
      <p:sp>
        <p:nvSpPr>
          <p:cNvPr id="48" name="Shape 42">
            <a:hlinkClick r:id="rId3"/>
            <a:extLst>
              <a:ext uri="{FF2B5EF4-FFF2-40B4-BE49-F238E27FC236}">
                <a16:creationId xmlns:a16="http://schemas.microsoft.com/office/drawing/2014/main" id="{09D3F090-11A7-06AE-F84D-DE730B293BCC}"/>
              </a:ext>
            </a:extLst>
          </p:cNvPr>
          <p:cNvSpPr/>
          <p:nvPr/>
        </p:nvSpPr>
        <p:spPr>
          <a:xfrm>
            <a:off x="1083750" y="4622291"/>
            <a:ext cx="6976499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algn="ctr"/>
            <a:r>
              <a:rPr lang="en-US" err="1"/>
              <a:t>Animatie</a:t>
            </a:r>
            <a:r>
              <a:rPr lang="en-US"/>
              <a:t> care </a:t>
            </a:r>
            <a:r>
              <a:rPr lang="en-US" err="1"/>
              <a:t>explica</a:t>
            </a:r>
            <a:r>
              <a:rPr lang="en-US"/>
              <a:t> pe </a:t>
            </a:r>
            <a:r>
              <a:rPr lang="en-US" err="1"/>
              <a:t>scurt</a:t>
            </a:r>
            <a:r>
              <a:rPr lang="en-US"/>
              <a:t> 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2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9A0"/>
          </a:solidFill>
          <a:ln w="12700">
            <a:solidFill>
              <a:srgbClr val="02C9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400" b="1">
                <a:solidFill>
                  <a:srgbClr val="02C9A0">
                    <a:alpha val="82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07</a:t>
            </a:r>
            <a:endParaRPr lang="en-US" sz="10400"/>
          </a:p>
        </p:txBody>
      </p:sp>
      <p:sp>
        <p:nvSpPr>
          <p:cNvPr id="5" name="Text 3"/>
          <p:cNvSpPr/>
          <p:nvPr/>
        </p:nvSpPr>
        <p:spPr>
          <a:xfrm>
            <a:off x="411480" y="1371600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Scapy Fundamentals</a:t>
            </a:r>
            <a:endParaRPr lang="en-US" sz="4400"/>
          </a:p>
        </p:txBody>
      </p:sp>
      <p:sp>
        <p:nvSpPr>
          <p:cNvPr id="6" name="Text 4"/>
          <p:cNvSpPr/>
          <p:nvPr/>
        </p:nvSpPr>
        <p:spPr>
          <a:xfrm>
            <a:off x="411480" y="2450592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Construieste, trimite si captureaza pachete din cod Python</a:t>
            </a:r>
            <a:endParaRPr lang="en-US" sz="15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9A0"/>
          </a:solidFill>
          <a:ln w="12700">
            <a:solidFill>
              <a:srgbClr val="02C9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>
                <a:solidFill>
                  <a:srgbClr val="02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SCAPY · CONCEPTUL CENTRAL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411480" y="438912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err="1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Operatorul</a:t>
            </a:r>
            <a:r>
              <a:rPr lang="en-US" sz="2600" b="1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‘/’ - </a:t>
            </a:r>
            <a:r>
              <a:rPr lang="en-US" sz="2600" b="1" err="1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stivuieste</a:t>
            </a:r>
            <a:r>
              <a:rPr lang="en-US" sz="2600" b="1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600" b="1" err="1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straturi</a:t>
            </a:r>
            <a:endParaRPr lang="en-US" sz="260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388620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3886200" cy="365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078992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face Scapy</a:t>
            </a:r>
            <a:endParaRPr lang="en-US" sz="130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Captureaza pachete live (sniff)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457200" y="1755648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Construieste pachete camp cu camp</a:t>
            </a:r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457200" y="2002536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Trimite pe retea (send, sr1)</a:t>
            </a:r>
            <a:endParaRPr lang="en-US" sz="1100"/>
          </a:p>
        </p:txBody>
      </p:sp>
      <p:sp>
        <p:nvSpPr>
          <p:cNvPr id="11" name="Text 9"/>
          <p:cNvSpPr/>
          <p:nvPr/>
        </p:nvSpPr>
        <p:spPr>
          <a:xfrm>
            <a:off x="457200" y="2249424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Citeste/scrie fisiere .pcap</a:t>
            </a:r>
            <a:endParaRPr lang="en-US" sz="1100"/>
          </a:p>
        </p:txBody>
      </p:sp>
      <p:sp>
        <p:nvSpPr>
          <p:cNvPr id="12" name="Text 10"/>
          <p:cNvSpPr/>
          <p:nvPr/>
        </p:nvSpPr>
        <p:spPr>
          <a:xfrm>
            <a:off x="457200" y="2496312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Dezasambla bytes bruti din socket</a:t>
            </a:r>
            <a:endParaRPr lang="en-US" sz="1100"/>
          </a:p>
        </p:txBody>
      </p:sp>
      <p:sp>
        <p:nvSpPr>
          <p:cNvPr id="13" name="Shape 11"/>
          <p:cNvSpPr/>
          <p:nvPr/>
        </p:nvSpPr>
        <p:spPr>
          <a:xfrm>
            <a:off x="320040" y="2944368"/>
            <a:ext cx="3886200" cy="804672"/>
          </a:xfrm>
          <a:prstGeom prst="rect">
            <a:avLst/>
          </a:prstGeom>
          <a:solidFill>
            <a:srgbClr val="0D2137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2999232"/>
            <a:ext cx="3657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Socket obisnuit: tu dai datele, SO construieste headerele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Scapy: tu construiesti FIECARE CAMP manual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Campurile None = calculate automat la trimitere</a:t>
            </a:r>
            <a:endParaRPr lang="en-US" sz="950"/>
          </a:p>
        </p:txBody>
      </p:sp>
      <p:sp>
        <p:nvSpPr>
          <p:cNvPr id="15" name="Shape 13"/>
          <p:cNvSpPr/>
          <p:nvPr/>
        </p:nvSpPr>
        <p:spPr>
          <a:xfrm>
            <a:off x="320040" y="3822192"/>
            <a:ext cx="3886200" cy="914400"/>
          </a:xfrm>
          <a:prstGeom prst="rect">
            <a:avLst/>
          </a:prstGeom>
          <a:solidFill>
            <a:srgbClr val="02C9A0">
              <a:alpha val="12000"/>
            </a:srgbClr>
          </a:solidFill>
          <a:ln w="12700">
            <a:solidFill>
              <a:srgbClr val="02C9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38862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Instalare:</a:t>
            </a:r>
            <a:endParaRPr lang="en-US" sz="1000"/>
          </a:p>
        </p:txBody>
      </p:sp>
      <p:sp>
        <p:nvSpPr>
          <p:cNvPr id="17" name="Text 15"/>
          <p:cNvSpPr/>
          <p:nvPr/>
        </p:nvSpPr>
        <p:spPr>
          <a:xfrm>
            <a:off x="457200" y="41148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--pre scapy[complete]</a:t>
            </a:r>
            <a:endParaRPr lang="en-US" sz="1100"/>
          </a:p>
        </p:txBody>
      </p:sp>
      <p:sp>
        <p:nvSpPr>
          <p:cNvPr id="18" name="Text 16"/>
          <p:cNvSpPr/>
          <p:nvPr/>
        </p:nvSpPr>
        <p:spPr>
          <a:xfrm>
            <a:off x="457200" y="437083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Necesita root: docker compose exec --user root rt1 scapy</a:t>
            </a:r>
            <a:endParaRPr lang="en-US" sz="950"/>
          </a:p>
        </p:txBody>
      </p:sp>
      <p:sp>
        <p:nvSpPr>
          <p:cNvPr id="19" name="Shape 17"/>
          <p:cNvSpPr/>
          <p:nvPr/>
        </p:nvSpPr>
        <p:spPr>
          <a:xfrm>
            <a:off x="4389120" y="1078992"/>
            <a:ext cx="4434840" cy="3657600"/>
          </a:xfrm>
          <a:prstGeom prst="rect">
            <a:avLst/>
          </a:prstGeom>
          <a:solidFill>
            <a:srgbClr val="0D2137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07992" y="1170432"/>
            <a:ext cx="4197096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scapy.all import *</a:t>
            </a:r>
            <a:endParaRPr lang="en-US" sz="900"/>
          </a:p>
          <a:p>
            <a:pPr marL="0" indent="0">
              <a:buNone/>
            </a:pP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Operatorul / stivuieste straturi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pachet = Ether() / IP(dst='198.10.0.2') \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/ UDP(dport=10000) \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/ Raw(b'salut')</a:t>
            </a:r>
            <a:endParaRPr lang="en-US" sz="900"/>
          </a:p>
          <a:p>
            <a:pPr marL="0" indent="0">
              <a:buNone/>
            </a:pP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pachet.show()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###[ Ethernet ]###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dst= 02:42:c6:0a:00:02  # ARP automat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src= 02:42:c6:0a:00:01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###[ IP ]###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chksum= None  # calculat la trimitere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src= 198.10.0.1  # din interfata locala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dst= 198.10.0.2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###[ UDP ]###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len= None   # calculat la trimitere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dport= 10000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###[ Raw ]###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load= 'salut'</a:t>
            </a:r>
            <a:endParaRPr lang="en-US" sz="9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9A0"/>
          </a:solidFill>
          <a:ln w="12700">
            <a:solidFill>
              <a:srgbClr val="02C9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>
                <a:solidFill>
                  <a:srgbClr val="02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SCAPY · OBIECTELE PRINCIPALE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411480" y="438912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IP, UDP, TCP, ICMP, DNS</a:t>
            </a:r>
            <a:endParaRPr lang="en-US" sz="2600"/>
          </a:p>
        </p:txBody>
      </p:sp>
      <p:sp>
        <p:nvSpPr>
          <p:cNvPr id="5" name="Shape 3"/>
          <p:cNvSpPr/>
          <p:nvPr/>
        </p:nvSpPr>
        <p:spPr>
          <a:xfrm>
            <a:off x="259080" y="982980"/>
            <a:ext cx="8503920" cy="4160520"/>
          </a:xfrm>
          <a:prstGeom prst="rect">
            <a:avLst/>
          </a:prstGeom>
          <a:solidFill>
            <a:srgbClr val="0D2137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002792"/>
            <a:ext cx="8266176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2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─── IP ──────────────────────────────────────────────────</a:t>
            </a:r>
            <a:endParaRPr lang="en-US" sz="920"/>
          </a:p>
          <a:p>
            <a:pPr marL="0" indent="0">
              <a:buNone/>
            </a:pPr>
            <a:r>
              <a:rPr lang="en-US" sz="92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 = IP(dst='8.8.8.8', ttl=64)</a:t>
            </a:r>
            <a:endParaRPr lang="en-US" sz="920"/>
          </a:p>
          <a:p>
            <a:pPr marL="0" indent="0">
              <a:buNone/>
            </a:pPr>
            <a:r>
              <a:rPr lang="en-US" sz="92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ip.src = '1.2.3.4'   # spoofing (posibil cu Scapy!)</a:t>
            </a:r>
            <a:endParaRPr lang="en-US" sz="920"/>
          </a:p>
          <a:p>
            <a:pPr marL="0" indent="0">
              <a:buNone/>
            </a:pPr>
            <a:endParaRPr lang="en-US" sz="920"/>
          </a:p>
          <a:p>
            <a:pPr marL="0" indent="0">
              <a:buNone/>
            </a:pPr>
            <a:r>
              <a:rPr lang="en-US" sz="92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─── UDP ─────────────────────────────────────────────────</a:t>
            </a:r>
            <a:endParaRPr lang="en-US" sz="920"/>
          </a:p>
          <a:p>
            <a:pPr marL="0" indent="0">
              <a:buNone/>
            </a:pPr>
            <a:r>
              <a:rPr lang="en-US" sz="92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udp = UDP(sport=4444, dport=53)</a:t>
            </a:r>
            <a:endParaRPr lang="en-US" sz="920"/>
          </a:p>
          <a:p>
            <a:pPr marL="0" indent="0">
              <a:buNone/>
            </a:pPr>
            <a:r>
              <a:rPr lang="en-US" sz="92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len si chksum = calculate automat</a:t>
            </a:r>
            <a:endParaRPr lang="en-US" sz="920"/>
          </a:p>
          <a:p>
            <a:pPr marL="0" indent="0">
              <a:buNone/>
            </a:pPr>
            <a:endParaRPr lang="en-US" sz="920"/>
          </a:p>
          <a:p>
            <a:pPr marL="0" indent="0">
              <a:buNone/>
            </a:pPr>
            <a:r>
              <a:rPr lang="en-US" sz="92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─── TCP ─────────────────────────────────────────────────</a:t>
            </a:r>
            <a:endParaRPr lang="en-US" sz="920"/>
          </a:p>
          <a:p>
            <a:pPr marL="0" indent="0">
              <a:buNone/>
            </a:pPr>
            <a:r>
              <a:rPr lang="en-US" sz="92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tcp = TCP(sport=12345, dport=80)</a:t>
            </a:r>
            <a:endParaRPr lang="en-US" sz="920"/>
          </a:p>
          <a:p>
            <a:pPr marL="0" indent="0">
              <a:buNone/>
            </a:pPr>
            <a:r>
              <a:rPr lang="en-US" sz="92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tcp.flags  = 'S'    # SYN</a:t>
            </a:r>
            <a:endParaRPr lang="en-US" sz="920"/>
          </a:p>
          <a:p>
            <a:pPr marL="0" indent="0">
              <a:buNone/>
            </a:pPr>
            <a:r>
              <a:rPr lang="en-US" sz="92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tcp.flags  = 'SA'   # SYN-ACK</a:t>
            </a:r>
            <a:endParaRPr lang="en-US" sz="920"/>
          </a:p>
          <a:p>
            <a:pPr marL="0" indent="0">
              <a:buNone/>
            </a:pPr>
            <a:r>
              <a:rPr lang="en-US" sz="92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tcp.flags  = 'PA'   # PSH + ACK (date reale)</a:t>
            </a:r>
            <a:endParaRPr lang="en-US" sz="920"/>
          </a:p>
          <a:p>
            <a:pPr marL="0" indent="0">
              <a:buNone/>
            </a:pPr>
            <a:r>
              <a:rPr lang="en-US" sz="92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tcp.flags  = 'FA'   # FIN + ACK</a:t>
            </a:r>
            <a:endParaRPr lang="en-US" sz="920"/>
          </a:p>
          <a:p>
            <a:pPr marL="0" indent="0">
              <a:buNone/>
            </a:pPr>
            <a:r>
              <a:rPr lang="en-US" sz="92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tcp.seq    = 1000</a:t>
            </a:r>
            <a:endParaRPr lang="en-US" sz="920"/>
          </a:p>
          <a:p>
            <a:pPr marL="0" indent="0">
              <a:buNone/>
            </a:pPr>
            <a:r>
              <a:rPr lang="en-US" sz="92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tcp.ack    = 0</a:t>
            </a:r>
            <a:endParaRPr lang="en-US" sz="920"/>
          </a:p>
          <a:p>
            <a:pPr marL="0" indent="0">
              <a:buNone/>
            </a:pPr>
            <a:r>
              <a:rPr lang="en-US" sz="92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tcp.window = 8192</a:t>
            </a:r>
            <a:endParaRPr lang="en-US" sz="920"/>
          </a:p>
          <a:p>
            <a:pPr marL="0" indent="0">
              <a:buNone/>
            </a:pPr>
            <a:r>
              <a:rPr lang="en-US" sz="92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print(TCP.flags.names)  # 'FSRPAUECN'</a:t>
            </a:r>
            <a:endParaRPr lang="en-US" sz="920"/>
          </a:p>
          <a:p>
            <a:pPr marL="0" indent="0">
              <a:buNone/>
            </a:pPr>
            <a:endParaRPr lang="en-US" sz="920"/>
          </a:p>
          <a:p>
            <a:pPr marL="0" indent="0">
              <a:buNone/>
            </a:pPr>
            <a:r>
              <a:rPr lang="en-US" sz="92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─── ICMP ────────────────────────────────────────────────</a:t>
            </a:r>
            <a:endParaRPr lang="en-US" sz="920"/>
          </a:p>
          <a:p>
            <a:pPr marL="0" indent="0">
              <a:buNone/>
            </a:pPr>
            <a:r>
              <a:rPr lang="en-US" sz="92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icmp = ICMP(type=8)  # 8=Echo Request, 0=Echo Reply</a:t>
            </a:r>
            <a:endParaRPr lang="en-US" sz="920"/>
          </a:p>
          <a:p>
            <a:pPr marL="0" indent="0">
              <a:buNone/>
            </a:pPr>
            <a:endParaRPr lang="en-US" sz="920"/>
          </a:p>
          <a:p>
            <a:pPr marL="0" indent="0">
              <a:buNone/>
            </a:pPr>
            <a:r>
              <a:rPr lang="en-US" sz="92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─── DNS ─────────────────────────────────────────────────</a:t>
            </a:r>
            <a:endParaRPr lang="en-US" sz="920"/>
          </a:p>
          <a:p>
            <a:pPr marL="0" indent="0">
              <a:buNone/>
            </a:pPr>
            <a:r>
              <a:rPr lang="en-US" sz="92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dns = DNS(rd=1, qd=DNSQR(qname='fmi.unibuc.ro'))</a:t>
            </a:r>
            <a:endParaRPr lang="en-US" sz="920"/>
          </a:p>
          <a:p>
            <a:pPr marL="0" indent="0">
              <a:buNone/>
            </a:pPr>
            <a:r>
              <a:rPr lang="en-US" sz="92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rd=1 = recursion desired</a:t>
            </a:r>
            <a:endParaRPr lang="en-US" sz="920"/>
          </a:p>
          <a:p>
            <a:pPr marL="0" indent="0">
              <a:buNone/>
            </a:pPr>
            <a:endParaRPr lang="en-US" sz="920"/>
          </a:p>
          <a:p>
            <a:pPr marL="0" indent="0">
              <a:buNone/>
            </a:pPr>
            <a:r>
              <a:rPr lang="en-US" sz="92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─── Combini si trimiti ──────────────────────────────────</a:t>
            </a:r>
            <a:endParaRPr lang="en-US" sz="920"/>
          </a:p>
          <a:p>
            <a:pPr marL="0" indent="0">
              <a:buNone/>
            </a:pPr>
            <a:r>
              <a:rPr lang="en-US" sz="92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pachet = IP(dst='198.10.0.2') / UDP(dport=10000) / Raw(b'test')</a:t>
            </a:r>
            <a:endParaRPr lang="en-US" sz="920"/>
          </a:p>
          <a:p>
            <a:pPr marL="0" indent="0">
              <a:buNone/>
            </a:pPr>
            <a:r>
              <a:rPr lang="en-US" sz="92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send(pachet)  # Layer 3 — Ethernet completat de SO</a:t>
            </a:r>
            <a:endParaRPr lang="en-US" sz="92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9A0"/>
          </a:solidFill>
          <a:ln w="12700">
            <a:solidFill>
              <a:srgbClr val="02C9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>
                <a:solidFill>
                  <a:srgbClr val="02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SCAPY · SNIFF SI NAVIGARE STRATURI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411480" y="438912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Captureaza si proceseaza pachete</a:t>
            </a:r>
            <a:endParaRPr lang="en-US" sz="2600"/>
          </a:p>
        </p:txBody>
      </p:sp>
      <p:sp>
        <p:nvSpPr>
          <p:cNvPr id="5" name="Text 3"/>
          <p:cNvSpPr/>
          <p:nvPr/>
        </p:nvSpPr>
        <p:spPr>
          <a:xfrm>
            <a:off x="320040" y="1078992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sniff():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4206240" cy="3657600"/>
          </a:xfrm>
          <a:prstGeom prst="rect">
            <a:avLst/>
          </a:prstGeom>
          <a:solidFill>
            <a:srgbClr val="0D2137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38912" y="1463040"/>
            <a:ext cx="3968496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8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Captare simpla — Ctrl+C pt stop</a:t>
            </a: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pachete = sniff()</a:t>
            </a: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print(pachete)</a:t>
            </a: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&lt;Sniffed: TCP:2 UDP:1 ICMP:3&gt;</a:t>
            </a:r>
            <a:endParaRPr lang="en-US" sz="880"/>
          </a:p>
          <a:p>
            <a:pPr marL="0" indent="0">
              <a:buNone/>
            </a:pP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Fix N pachete</a:t>
            </a: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pachete = sniff(count=10)</a:t>
            </a:r>
            <a:endParaRPr lang="en-US" sz="880"/>
          </a:p>
          <a:p>
            <a:pPr marL="0" indent="0">
              <a:buNone/>
            </a:pP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Filtru BPF — aceeasi sintaxa ca tcpdump</a:t>
            </a: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pachete = sniff(filter='icmp', count=5)</a:t>
            </a: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pachete = sniff(filter='udp port 10000')</a:t>
            </a: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pachete = sniff(filter='tcp and host 8.8.8.8')</a:t>
            </a:r>
            <a:endParaRPr lang="en-US" sz="880"/>
          </a:p>
          <a:p>
            <a:pPr marL="0" indent="0">
              <a:buNone/>
            </a:pP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Handler in timp real</a:t>
            </a: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handler(p):</a:t>
            </a: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p.haslayer(IP):</a:t>
            </a: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print(f'{p[IP].src} -&gt; {p[IP].dst}')</a:t>
            </a: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p.haslayer(Raw):</a:t>
            </a: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print(f'  Payload: {p[Raw].load}')</a:t>
            </a:r>
            <a:endParaRPr lang="en-US" sz="880"/>
          </a:p>
          <a:p>
            <a:pPr marL="0" indent="0">
              <a:buNone/>
            </a:pP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store=False = nu tine in RAM</a:t>
            </a: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sniff(prn=handler, filter='udp', store=False)</a:t>
            </a:r>
            <a:endParaRPr lang="en-US" sz="880"/>
          </a:p>
        </p:txBody>
      </p:sp>
      <p:sp>
        <p:nvSpPr>
          <p:cNvPr id="8" name="Text 6"/>
          <p:cNvSpPr/>
          <p:nvPr/>
        </p:nvSpPr>
        <p:spPr>
          <a:xfrm>
            <a:off x="4709160" y="107899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Navigare + pcap:</a:t>
            </a:r>
            <a:endParaRPr lang="en-US" sz="110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4114800" cy="3657600"/>
          </a:xfrm>
          <a:prstGeom prst="rect">
            <a:avLst/>
          </a:prstGeom>
          <a:solidFill>
            <a:srgbClr val="0D2137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28032" y="1463040"/>
            <a:ext cx="3877056" cy="29111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8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Verifica prezenta unui layer</a:t>
            </a: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pachet.haslayer(TCP):</a:t>
            </a: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print('E TCP')</a:t>
            </a:r>
            <a:endParaRPr lang="en-US" sz="880"/>
          </a:p>
          <a:p>
            <a:pPr marL="0" indent="0">
              <a:buNone/>
            </a:pP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Acceseaza campuri direct</a:t>
            </a: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  = pachet[IP].src</a:t>
            </a: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 = pachet[TCP].dport</a:t>
            </a: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ttl  = pachet[IP].ttl</a:t>
            </a: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 = pachet[Raw].load</a:t>
            </a:r>
            <a:endParaRPr lang="en-US" sz="880"/>
          </a:p>
          <a:p>
            <a:pPr marL="0" indent="0">
              <a:buNone/>
            </a:pP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Sumar compact (o linie per pachet)</a:t>
            </a: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pachet.summary()</a:t>
            </a: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'Ether/IP/UDP/DNS Qry"fmi.unibuc.ro."'</a:t>
            </a:r>
            <a:endParaRPr lang="en-US" sz="880"/>
          </a:p>
          <a:p>
            <a:pPr marL="0" indent="0">
              <a:buNone/>
            </a:pP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Hex + ASCII (ca tcpdump -XX)</a:t>
            </a: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hexdump(pachet)</a:t>
            </a:r>
            <a:endParaRPr lang="en-US" sz="880"/>
          </a:p>
          <a:p>
            <a:pPr marL="0" indent="0">
              <a:buNone/>
            </a:pP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─── .pcap read/write ──────────────────</a:t>
            </a: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Scrie</a:t>
            </a: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pachete = sniff(count=20)</a:t>
            </a: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wrpcap('captura.pcap', pachete)</a:t>
            </a:r>
            <a:endParaRPr lang="en-US" sz="880"/>
          </a:p>
          <a:p>
            <a:pPr marL="0" indent="0">
              <a:buNone/>
            </a:pP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Citeste (interoperabil cu tcpdump/Wireshark)</a:t>
            </a: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pachete = rdpcap('captura.pcap')</a:t>
            </a: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p in pachete:</a:t>
            </a: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p.haslayer(ARP):</a:t>
            </a: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print(p[ARP].psrc)</a:t>
            </a:r>
            <a:endParaRPr lang="en-US" sz="880"/>
          </a:p>
        </p:txBody>
      </p:sp>
      <p:sp>
        <p:nvSpPr>
          <p:cNvPr id="11" name="Shape 9"/>
          <p:cNvSpPr/>
          <p:nvPr/>
        </p:nvSpPr>
        <p:spPr>
          <a:xfrm>
            <a:off x="320040" y="5120640"/>
            <a:ext cx="8503920" cy="201168"/>
          </a:xfrm>
          <a:prstGeom prst="rect">
            <a:avLst/>
          </a:prstGeom>
          <a:solidFill>
            <a:srgbClr val="02C9A0">
              <a:alpha val="15000"/>
            </a:srgbClr>
          </a:solidFill>
          <a:ln w="12700">
            <a:solidFill>
              <a:srgbClr val="02C9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5138928"/>
            <a:ext cx="82296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.pcap sunt interoperabile cu tcpdump si Wireshark  |  tcpdump -w cap.pcap  -&gt;  rdpcap('cap.pcap')</a:t>
            </a:r>
            <a:endParaRPr lang="en-US" sz="95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2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9A0"/>
          </a:solidFill>
          <a:ln w="12700">
            <a:solidFill>
              <a:srgbClr val="02C9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400" b="1">
                <a:solidFill>
                  <a:srgbClr val="02C9A0">
                    <a:alpha val="82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08</a:t>
            </a:r>
            <a:endParaRPr lang="en-US" sz="10400"/>
          </a:p>
        </p:txBody>
      </p:sp>
      <p:sp>
        <p:nvSpPr>
          <p:cNvPr id="5" name="Text 3"/>
          <p:cNvSpPr/>
          <p:nvPr/>
        </p:nvSpPr>
        <p:spPr>
          <a:xfrm>
            <a:off x="411480" y="1371600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Scapy Send Functions</a:t>
            </a:r>
            <a:endParaRPr lang="en-US" sz="4400"/>
          </a:p>
        </p:txBody>
      </p:sp>
      <p:sp>
        <p:nvSpPr>
          <p:cNvPr id="6" name="Text 4"/>
          <p:cNvSpPr/>
          <p:nvPr/>
        </p:nvSpPr>
        <p:spPr>
          <a:xfrm>
            <a:off x="411480" y="2450592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send, sr, sr1, </a:t>
            </a:r>
            <a:r>
              <a:rPr lang="en-US" sz="1500" i="1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sendp</a:t>
            </a:r>
            <a:r>
              <a:rPr lang="en-US" sz="1500" i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trimiterea pachetelor la Layer 2 si 3</a:t>
            </a:r>
            <a:endParaRPr lang="en-US" sz="15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9A0"/>
          </a:solidFill>
          <a:ln w="12700">
            <a:solidFill>
              <a:srgbClr val="02C9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>
                <a:solidFill>
                  <a:srgbClr val="02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SCAPY · FUNCTII DE TRIMITERE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766043" y="293798"/>
            <a:ext cx="8321040" cy="4115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(IP) </a:t>
            </a:r>
            <a:r>
              <a:rPr lang="en-US" sz="2000" b="1" err="1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</a:t>
            </a:r>
            <a:r>
              <a:rPr lang="en-US" sz="2000" b="1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Layer 2 (Ethernet): cand </a:t>
            </a:r>
            <a:r>
              <a:rPr lang="en-US" sz="2000" b="1" err="1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</a:t>
            </a:r>
            <a:r>
              <a:rPr lang="en-US" sz="2000" b="1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err="1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folosesti</a:t>
            </a:r>
            <a:r>
              <a:rPr lang="en-US" sz="2000" b="1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err="1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</a:t>
            </a:r>
            <a:endParaRPr lang="en-US" sz="200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8004588"/>
              </p:ext>
            </p:extLst>
          </p:nvPr>
        </p:nvGraphicFramePr>
        <p:xfrm>
          <a:off x="320040" y="684462"/>
          <a:ext cx="8503920" cy="181356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0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9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 face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9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2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send(p)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2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— IP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2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Trimite, nu asteapta raspuns. Ethernet completat de SO.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9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2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sr(p)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2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— IP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2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Send+Receive toate raspunsurile. Returneaza (answered, unanswered).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9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2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sr1(p)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2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— IP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2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 si returneaza PRIMUL raspuns. Cel mai folosit.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9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2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sendp(p)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2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— Ethernet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2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total inclusiv MAC-uri. Util pt ARP, VLAN etc.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9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2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srp(p)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2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— Ethernet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2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Send+Receive la Layer 2.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9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2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srp1(p)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2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— Ethernet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2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 si primul raspuns la Layer 2.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20040" y="2569746"/>
            <a:ext cx="8503920" cy="2569091"/>
          </a:xfrm>
          <a:prstGeom prst="rect">
            <a:avLst/>
          </a:prstGeom>
          <a:solidFill>
            <a:srgbClr val="0D2137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11480" y="2533264"/>
            <a:ext cx="3968869" cy="25690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2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send — trimite, nu asteapta</a:t>
            </a:r>
            <a:endParaRPr lang="en-US" sz="920"/>
          </a:p>
          <a:p>
            <a:pPr marL="0" indent="0">
              <a:buNone/>
            </a:pPr>
            <a:r>
              <a:rPr lang="en-US" sz="92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send(IP(dst='198.10.0.2') / UDP(dport=10000) / Raw(b'salut'))</a:t>
            </a:r>
            <a:endParaRPr lang="en-US" sz="920"/>
          </a:p>
          <a:p>
            <a:pPr marL="0" indent="0">
              <a:buNone/>
            </a:pPr>
            <a:endParaRPr lang="en-US" sz="920"/>
          </a:p>
          <a:p>
            <a:pPr marL="0" indent="0">
              <a:buNone/>
            </a:pPr>
            <a:r>
              <a:rPr lang="en-US" sz="92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sr1 — trimite si returneaza primul raspuns (timeout in sec)</a:t>
            </a:r>
            <a:endParaRPr lang="en-US" sz="920"/>
          </a:p>
          <a:p>
            <a:pPr marL="0" indent="0">
              <a:buNone/>
            </a:pPr>
            <a:r>
              <a:rPr lang="en-US" sz="92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raspuns = sr1(IP(dst='8.8.8.8') / ICMP(), timeout=2, verbose=0)</a:t>
            </a:r>
            <a:endParaRPr lang="en-US" sz="920"/>
          </a:p>
          <a:p>
            <a:pPr marL="0" indent="0">
              <a:buNone/>
            </a:pPr>
            <a:r>
              <a:rPr lang="en-US" sz="92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raspuns:</a:t>
            </a:r>
            <a:endParaRPr lang="en-US" sz="920"/>
          </a:p>
          <a:p>
            <a:pPr marL="0" indent="0">
              <a:buNone/>
            </a:pPr>
            <a:r>
              <a:rPr lang="en-US" sz="92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print(f'Reply de la {raspuns[IP].src}, TTL={raspuns[IP].ttl}')</a:t>
            </a:r>
            <a:endParaRPr lang="en-US" sz="920"/>
          </a:p>
          <a:p>
            <a:pPr marL="0" indent="0">
              <a:buNone/>
            </a:pPr>
            <a:endParaRPr lang="en-US" sz="920"/>
          </a:p>
          <a:p>
            <a:pPr marL="0" indent="0">
              <a:buNone/>
            </a:pPr>
            <a:r>
              <a:rPr lang="en-US" sz="92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DNS query cu sr1</a:t>
            </a:r>
            <a:endParaRPr lang="en-US" sz="920"/>
          </a:p>
          <a:p>
            <a:pPr marL="0" indent="0">
              <a:buNone/>
            </a:pPr>
            <a:r>
              <a:rPr lang="en-US" sz="92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dns_q = IP(dst='8.8.8.8') / UDP(dport=53) / DNS(rd=1, qd=DNSQR(qname='fmi.unibuc.ro'))</a:t>
            </a:r>
            <a:endParaRPr lang="en-US" sz="920"/>
          </a:p>
          <a:p>
            <a:pPr marL="0" indent="0">
              <a:buNone/>
            </a:pPr>
            <a:r>
              <a:rPr lang="en-US" sz="92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= sr1(dns_q, timeout=3, verbose=0)</a:t>
            </a:r>
            <a:endParaRPr lang="en-US" sz="920"/>
          </a:p>
          <a:p>
            <a:pPr marL="0" indent="0">
              <a:buNone/>
            </a:pPr>
            <a:r>
              <a:rPr lang="en-US" sz="92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r and r.haslayer(DNS):</a:t>
            </a:r>
            <a:endParaRPr lang="en-US" sz="920"/>
          </a:p>
          <a:p>
            <a:pPr marL="0" indent="0">
              <a:buNone/>
            </a:pPr>
            <a:r>
              <a:rPr lang="en-US" sz="92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print(r[DNS].an.rdata)   # -&gt; 193.226.51.15</a:t>
            </a:r>
            <a:endParaRPr lang="en-US" sz="920"/>
          </a:p>
          <a:p>
            <a:pPr marL="0" indent="0">
              <a:buNone/>
            </a:pPr>
            <a:endParaRPr lang="en-US" sz="92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7B27CD-6768-90EC-44FA-F029BDE3F5E0}"/>
              </a:ext>
            </a:extLst>
          </p:cNvPr>
          <p:cNvSpPr txBox="1"/>
          <p:nvPr/>
        </p:nvSpPr>
        <p:spPr>
          <a:xfrm>
            <a:off x="4997476" y="2961739"/>
            <a:ext cx="335528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</a:t>
            </a:r>
            <a:r>
              <a:rPr lang="en-US" sz="1000" err="1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</a:t>
            </a:r>
            <a:r>
              <a:rPr lang="en-US" sz="100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— scan </a:t>
            </a:r>
            <a:r>
              <a:rPr lang="en-US" sz="1000" err="1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hosturi</a:t>
            </a:r>
            <a:r>
              <a:rPr lang="en-US" sz="100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UP (</a:t>
            </a:r>
            <a:r>
              <a:rPr lang="en-US" sz="1000" err="1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trimite</a:t>
            </a:r>
            <a:r>
              <a:rPr lang="en-US" sz="100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la tot subnet)</a:t>
            </a:r>
            <a:endParaRPr lang="en-US" sz="1000"/>
          </a:p>
          <a:p>
            <a:r>
              <a:rPr lang="en-US" sz="100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answered, unanswered = </a:t>
            </a:r>
            <a:r>
              <a:rPr lang="en-US" sz="1000" err="1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</a:t>
            </a:r>
            <a:r>
              <a:rPr lang="en-US" sz="100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000"/>
          </a:p>
          <a:p>
            <a:r>
              <a:rPr lang="en-US" sz="100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IP(</a:t>
            </a:r>
            <a:r>
              <a:rPr lang="en-US" sz="1000" err="1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dst</a:t>
            </a:r>
            <a:r>
              <a:rPr lang="en-US" sz="100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='198.10.0.0/24') / ICMP(), timeout=2, verbose=0)</a:t>
            </a:r>
            <a:endParaRPr lang="en-US" sz="1000"/>
          </a:p>
          <a:p>
            <a:r>
              <a:rPr lang="en-US" sz="100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</a:t>
            </a:r>
            <a:r>
              <a:rPr lang="en-US" sz="1000" err="1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f'Hosturi</a:t>
            </a:r>
            <a:r>
              <a:rPr lang="en-US" sz="100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UP: {</a:t>
            </a:r>
            <a:r>
              <a:rPr lang="en-US" sz="1000" err="1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r>
              <a:rPr lang="en-US" sz="100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(answered)}')</a:t>
            </a:r>
            <a:endParaRPr lang="en-US" sz="1000"/>
          </a:p>
          <a:p>
            <a:r>
              <a:rPr lang="en-US" sz="100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sent, received in answered:</a:t>
            </a:r>
            <a:endParaRPr lang="en-US" sz="1000"/>
          </a:p>
          <a:p>
            <a:r>
              <a:rPr lang="en-US" sz="100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print(f'  {received[IP].</a:t>
            </a:r>
            <a:r>
              <a:rPr lang="en-US" sz="1000" err="1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</a:t>
            </a:r>
            <a:r>
              <a:rPr lang="en-US" sz="100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}')</a:t>
            </a:r>
            <a:endParaRPr lang="en-US" sz="1000"/>
          </a:p>
          <a:p>
            <a:endParaRPr lang="en-US" sz="10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9A0"/>
          </a:solidFill>
          <a:ln w="12700">
            <a:solidFill>
              <a:srgbClr val="02C9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>
                <a:solidFill>
                  <a:srgbClr val="02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SCAPY · DEMO LIVE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411480" y="438912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sniff + ping </a:t>
            </a:r>
            <a:r>
              <a:rPr lang="en-US" sz="2600" b="1" err="1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</a:t>
            </a:r>
            <a:endParaRPr lang="en-US" sz="2600"/>
          </a:p>
        </p:txBody>
      </p:sp>
      <p:sp>
        <p:nvSpPr>
          <p:cNvPr id="5" name="Text 3"/>
          <p:cNvSpPr/>
          <p:nvPr/>
        </p:nvSpPr>
        <p:spPr>
          <a:xfrm>
            <a:off x="320040" y="105156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1 -&gt; rt1 root -&gt; </a:t>
            </a:r>
            <a:r>
              <a:rPr lang="en-US" sz="1100" b="1" err="1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asculta</a:t>
            </a:r>
            <a:r>
              <a:rPr lang="en-US" sz="1100" b="1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ICMP: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5303520" cy="1691640"/>
          </a:xfrm>
          <a:prstGeom prst="rect">
            <a:avLst/>
          </a:prstGeom>
          <a:solidFill>
            <a:srgbClr val="0D2137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38912" y="1417320"/>
            <a:ext cx="5065776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scapy.all import *</a:t>
            </a:r>
            <a:endParaRPr lang="en-US" sz="950"/>
          </a:p>
          <a:p>
            <a:pPr marL="0" indent="0">
              <a:buNone/>
            </a:pP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show_icmp(p):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p.haslayer(ICMP) and p.haslayer(IP):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tip = 'REQUEST' if p[ICMP].type == 8 else 'REPLY  '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print(f'ICMP {tip}: {p[IP].src} -&gt; {p[IP].dst}  TTL={p[IP].ttl}')</a:t>
            </a:r>
            <a:endParaRPr lang="en-US" sz="950"/>
          </a:p>
          <a:p>
            <a:pPr marL="0" indent="0">
              <a:buNone/>
            </a:pP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sniff(prn=show_icmp, filter='icmp', store=False)</a:t>
            </a:r>
            <a:endParaRPr lang="en-US" sz="950"/>
          </a:p>
        </p:txBody>
      </p:sp>
      <p:sp>
        <p:nvSpPr>
          <p:cNvPr id="8" name="Text 6"/>
          <p:cNvSpPr/>
          <p:nvPr/>
        </p:nvSpPr>
        <p:spPr>
          <a:xfrm>
            <a:off x="5806440" y="105156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2:</a:t>
            </a:r>
            <a:endParaRPr lang="en-US" sz="1100"/>
          </a:p>
        </p:txBody>
      </p:sp>
      <p:sp>
        <p:nvSpPr>
          <p:cNvPr id="9" name="Shape 7"/>
          <p:cNvSpPr/>
          <p:nvPr/>
        </p:nvSpPr>
        <p:spPr>
          <a:xfrm>
            <a:off x="5806440" y="1325880"/>
            <a:ext cx="3017520" cy="640080"/>
          </a:xfrm>
          <a:prstGeom prst="rect">
            <a:avLst/>
          </a:prstGeom>
          <a:solidFill>
            <a:srgbClr val="0D2137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25312" y="1417320"/>
            <a:ext cx="277977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exec rt2 bash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ping -c 4 rt1</a:t>
            </a:r>
            <a:endParaRPr lang="en-US" sz="1000"/>
          </a:p>
        </p:txBody>
      </p:sp>
      <p:sp>
        <p:nvSpPr>
          <p:cNvPr id="11" name="Text 9"/>
          <p:cNvSpPr/>
          <p:nvPr/>
        </p:nvSpPr>
        <p:spPr>
          <a:xfrm>
            <a:off x="5806440" y="2029968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asteptat:</a:t>
            </a:r>
            <a:endParaRPr lang="en-US" sz="1000"/>
          </a:p>
        </p:txBody>
      </p:sp>
      <p:sp>
        <p:nvSpPr>
          <p:cNvPr id="12" name="Shape 10"/>
          <p:cNvSpPr/>
          <p:nvPr/>
        </p:nvSpPr>
        <p:spPr>
          <a:xfrm>
            <a:off x="5806440" y="2286000"/>
            <a:ext cx="3017520" cy="804672"/>
          </a:xfrm>
          <a:prstGeom prst="rect">
            <a:avLst/>
          </a:prstGeom>
          <a:solidFill>
            <a:srgbClr val="0D2137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25312" y="2377440"/>
            <a:ext cx="2779776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ICMP REQUEST: 172.111.0.3-&gt;172.111.0.2 TTL=64</a:t>
            </a:r>
            <a:endParaRPr lang="en-US" sz="800"/>
          </a:p>
          <a:p>
            <a:pPr marL="0" indent="0">
              <a:buNone/>
            </a:pPr>
            <a:r>
              <a:rPr lang="en-US" sz="80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ICMP REPLY  : 172.111.0.2-&gt;172.111.0.3 TTL=64</a:t>
            </a:r>
            <a:endParaRPr lang="en-US" sz="800"/>
          </a:p>
          <a:p>
            <a:pPr marL="0" indent="0">
              <a:buNone/>
            </a:pPr>
            <a:r>
              <a:rPr lang="en-US" sz="80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(repetat de 4 ori)</a:t>
            </a:r>
            <a:endParaRPr lang="en-US" sz="800"/>
          </a:p>
        </p:txBody>
      </p:sp>
      <p:sp>
        <p:nvSpPr>
          <p:cNvPr id="14" name="Text 12"/>
          <p:cNvSpPr/>
          <p:nvPr/>
        </p:nvSpPr>
        <p:spPr>
          <a:xfrm>
            <a:off x="320040" y="320040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Harta capitolelor 2 &amp; 3:</a:t>
            </a:r>
            <a:endParaRPr lang="en-US" sz="1100"/>
          </a:p>
        </p:txBody>
      </p:sp>
      <p:sp>
        <p:nvSpPr>
          <p:cNvPr id="15" name="Shape 13"/>
          <p:cNvSpPr/>
          <p:nvPr/>
        </p:nvSpPr>
        <p:spPr>
          <a:xfrm>
            <a:off x="320040" y="3520440"/>
            <a:ext cx="1965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0040" y="3520440"/>
            <a:ext cx="1965960" cy="640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0040" y="363016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</a:t>
            </a:r>
            <a:endParaRPr lang="en-US" sz="1300"/>
          </a:p>
        </p:txBody>
      </p:sp>
      <p:sp>
        <p:nvSpPr>
          <p:cNvPr id="18" name="Text 16"/>
          <p:cNvSpPr/>
          <p:nvPr/>
        </p:nvSpPr>
        <p:spPr>
          <a:xfrm>
            <a:off x="320040" y="3941064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rezolutie, dig, record types</a:t>
            </a:r>
            <a:endParaRPr lang="en-US" sz="850"/>
          </a:p>
        </p:txBody>
      </p:sp>
      <p:sp>
        <p:nvSpPr>
          <p:cNvPr id="19" name="Shape 17"/>
          <p:cNvSpPr/>
          <p:nvPr/>
        </p:nvSpPr>
        <p:spPr>
          <a:xfrm>
            <a:off x="2468880" y="3520440"/>
            <a:ext cx="1965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468880" y="3520440"/>
            <a:ext cx="1965960" cy="640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468880" y="363016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1300"/>
          </a:p>
        </p:txBody>
      </p:sp>
      <p:sp>
        <p:nvSpPr>
          <p:cNvPr id="22" name="Text 20"/>
          <p:cNvSpPr/>
          <p:nvPr/>
        </p:nvSpPr>
        <p:spPr>
          <a:xfrm>
            <a:off x="2468880" y="3941064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GET/POST, status codes</a:t>
            </a:r>
            <a:endParaRPr lang="en-US" sz="850"/>
          </a:p>
        </p:txBody>
      </p:sp>
      <p:sp>
        <p:nvSpPr>
          <p:cNvPr id="23" name="Shape 21"/>
          <p:cNvSpPr/>
          <p:nvPr/>
        </p:nvSpPr>
        <p:spPr>
          <a:xfrm>
            <a:off x="4617720" y="3520440"/>
            <a:ext cx="1965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617720" y="3520440"/>
            <a:ext cx="1965960" cy="64008"/>
          </a:xfrm>
          <a:prstGeom prst="rect">
            <a:avLst/>
          </a:prstGeom>
          <a:solidFill>
            <a:srgbClr val="02C9A0"/>
          </a:solidFill>
          <a:ln w="12700">
            <a:solidFill>
              <a:srgbClr val="02C9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617720" y="363016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300"/>
          </a:p>
        </p:txBody>
      </p:sp>
      <p:sp>
        <p:nvSpPr>
          <p:cNvPr id="26" name="Text 24"/>
          <p:cNvSpPr/>
          <p:nvPr/>
        </p:nvSpPr>
        <p:spPr>
          <a:xfrm>
            <a:off x="4617720" y="3941064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@route, jsonify, request.json</a:t>
            </a:r>
            <a:endParaRPr lang="en-US" sz="850"/>
          </a:p>
        </p:txBody>
      </p:sp>
      <p:sp>
        <p:nvSpPr>
          <p:cNvPr id="27" name="Shape 25"/>
          <p:cNvSpPr/>
          <p:nvPr/>
        </p:nvSpPr>
        <p:spPr>
          <a:xfrm>
            <a:off x="6766560" y="3520440"/>
            <a:ext cx="1965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766560" y="3520440"/>
            <a:ext cx="1965960" cy="64008"/>
          </a:xfrm>
          <a:prstGeom prst="rect">
            <a:avLst/>
          </a:prstGeom>
          <a:solidFill>
            <a:srgbClr val="2D9E5A"/>
          </a:solidFill>
          <a:ln w="12700">
            <a:solidFill>
              <a:srgbClr val="2D9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766560" y="363016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300"/>
          </a:p>
        </p:txBody>
      </p:sp>
      <p:sp>
        <p:nvSpPr>
          <p:cNvPr id="30" name="Text 28"/>
          <p:cNvSpPr/>
          <p:nvPr/>
        </p:nvSpPr>
        <p:spPr>
          <a:xfrm>
            <a:off x="6766560" y="3941064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tag, push, registry</a:t>
            </a:r>
            <a:endParaRPr lang="en-US" sz="850"/>
          </a:p>
        </p:txBody>
      </p:sp>
      <p:sp>
        <p:nvSpPr>
          <p:cNvPr id="31" name="Shape 29"/>
          <p:cNvSpPr/>
          <p:nvPr/>
        </p:nvSpPr>
        <p:spPr>
          <a:xfrm>
            <a:off x="320040" y="4343400"/>
            <a:ext cx="1965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20040" y="4343400"/>
            <a:ext cx="1965960" cy="640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20040" y="445312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</a:t>
            </a:r>
            <a:endParaRPr lang="en-US" sz="1300"/>
          </a:p>
        </p:txBody>
      </p:sp>
      <p:sp>
        <p:nvSpPr>
          <p:cNvPr id="34" name="Text 32"/>
          <p:cNvSpPr/>
          <p:nvPr/>
        </p:nvSpPr>
        <p:spPr>
          <a:xfrm>
            <a:off x="320040" y="4764024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SOCK_DGRAM, sendto/recvfrom</a:t>
            </a:r>
            <a:endParaRPr lang="en-US" sz="850"/>
          </a:p>
        </p:txBody>
      </p:sp>
      <p:sp>
        <p:nvSpPr>
          <p:cNvPr id="35" name="Shape 33"/>
          <p:cNvSpPr/>
          <p:nvPr/>
        </p:nvSpPr>
        <p:spPr>
          <a:xfrm>
            <a:off x="2468880" y="4343400"/>
            <a:ext cx="1965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2468880" y="4343400"/>
            <a:ext cx="1965960" cy="640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468880" y="445312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</a:t>
            </a:r>
            <a:endParaRPr lang="en-US" sz="1300"/>
          </a:p>
        </p:txBody>
      </p:sp>
      <p:sp>
        <p:nvSpPr>
          <p:cNvPr id="38" name="Text 36"/>
          <p:cNvSpPr/>
          <p:nvPr/>
        </p:nvSpPr>
        <p:spPr>
          <a:xfrm>
            <a:off x="2468880" y="4764024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3-way hs, flags, seq/ack</a:t>
            </a:r>
            <a:endParaRPr lang="en-US" sz="850"/>
          </a:p>
        </p:txBody>
      </p:sp>
      <p:sp>
        <p:nvSpPr>
          <p:cNvPr id="39" name="Shape 37"/>
          <p:cNvSpPr/>
          <p:nvPr/>
        </p:nvSpPr>
        <p:spPr>
          <a:xfrm>
            <a:off x="4617720" y="4343400"/>
            <a:ext cx="1965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617720" y="4343400"/>
            <a:ext cx="1965960" cy="64008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617720" y="445312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</a:t>
            </a:r>
            <a:endParaRPr lang="en-US" sz="1300"/>
          </a:p>
        </p:txBody>
      </p:sp>
      <p:sp>
        <p:nvSpPr>
          <p:cNvPr id="42" name="Text 40"/>
          <p:cNvSpPr/>
          <p:nvPr/>
        </p:nvSpPr>
        <p:spPr>
          <a:xfrm>
            <a:off x="4617720" y="4764024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cwnd, ssthresh, slow start</a:t>
            </a:r>
            <a:endParaRPr lang="en-US" sz="850"/>
          </a:p>
        </p:txBody>
      </p:sp>
      <p:sp>
        <p:nvSpPr>
          <p:cNvPr id="43" name="Shape 41"/>
          <p:cNvSpPr/>
          <p:nvPr/>
        </p:nvSpPr>
        <p:spPr>
          <a:xfrm>
            <a:off x="6766560" y="4343400"/>
            <a:ext cx="1965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6766560" y="4343400"/>
            <a:ext cx="1965960" cy="64008"/>
          </a:xfrm>
          <a:prstGeom prst="rect">
            <a:avLst/>
          </a:prstGeom>
          <a:solidFill>
            <a:srgbClr val="02C9A0"/>
          </a:solidFill>
          <a:ln w="12700">
            <a:solidFill>
              <a:srgbClr val="02C9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766560" y="445312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Scapy</a:t>
            </a:r>
            <a:endParaRPr lang="en-US" sz="1300"/>
          </a:p>
        </p:txBody>
      </p:sp>
      <p:sp>
        <p:nvSpPr>
          <p:cNvPr id="46" name="Text 44"/>
          <p:cNvSpPr/>
          <p:nvPr/>
        </p:nvSpPr>
        <p:spPr>
          <a:xfrm>
            <a:off x="6766560" y="4764024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operator, sniff, sr1, haslayer</a:t>
            </a:r>
            <a:endParaRPr lang="en-US" sz="8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221C8B2CFB0674DB019642B79189267" ma:contentTypeVersion="3" ma:contentTypeDescription="Create a new document." ma:contentTypeScope="" ma:versionID="3730ba48a3faed4d437cc028af4bfb75">
  <xsd:schema xmlns:xsd="http://www.w3.org/2001/XMLSchema" xmlns:xs="http://www.w3.org/2001/XMLSchema" xmlns:p="http://schemas.microsoft.com/office/2006/metadata/properties" xmlns:ns2="d08c9caa-a0fe-460d-8a2d-f490510db976" targetNamespace="http://schemas.microsoft.com/office/2006/metadata/properties" ma:root="true" ma:fieldsID="88bea3ddf6b4d86f276c91c496efd80d" ns2:_="">
    <xsd:import namespace="d08c9caa-a0fe-460d-8a2d-f490510db97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8c9caa-a0fe-460d-8a2d-f490510db97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2005B3C-DF31-4485-AC16-85B6D7C263C7}">
  <ds:schemaRefs>
    <ds:schemaRef ds:uri="d08c9caa-a0fe-460d-8a2d-f490510db97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B2FBB3E3-2B7D-47C0-8B75-36F1B109D66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651E79A-77B9-4C3F-B50D-57E9C5160762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31</Slides>
  <Notes>30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Retele Cap 2 &amp; 3</dc:title>
  <dc:subject>PptxGenJS Presentation</dc:subject>
  <dc:creator>PptxGenJS</dc:creator>
  <cp:revision>2</cp:revision>
  <dcterms:created xsi:type="dcterms:W3CDTF">2026-03-29T21:29:51Z</dcterms:created>
  <dcterms:modified xsi:type="dcterms:W3CDTF">2026-04-02T09:40:22Z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0x010100D221C8B2CFB0674DB019642B79189267</vt:lpwstr>
  </property>
</Properties>
</file>