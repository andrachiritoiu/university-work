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6" r:id="rId5"/>
    <p:sldId id="258" r:id="rId6"/>
    <p:sldId id="259" r:id="rId7"/>
    <p:sldId id="260" r:id="rId8"/>
    <p:sldId id="261" r:id="rId9"/>
    <p:sldId id="277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3" r:id="rId21"/>
    <p:sldId id="274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9B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27AF02-984E-4324-6C57-2A6C3F4A3EB5}" v="2" dt="2026-04-22T19:00:54.531"/>
    <p1510:client id="{D5A2DAEB-CE08-3248-5D10-4EEBACB73C03}" v="1" dt="2026-04-22T10:29:09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NEA ȘTEFAN CONDURAT" userId="S::mihnea-stefan.condurat@s.unibuc.ro::30ff23b2-ac44-490e-887d-9b1f7efe8dcc" providerId="AD" clId="Web-{5E27AF02-984E-4324-6C57-2A6C3F4A3EB5}"/>
    <pc:docChg chg="addSld delSld">
      <pc:chgData name="MIHNEA ȘTEFAN CONDURAT" userId="S::mihnea-stefan.condurat@s.unibuc.ro::30ff23b2-ac44-490e-887d-9b1f7efe8dcc" providerId="AD" clId="Web-{5E27AF02-984E-4324-6C57-2A6C3F4A3EB5}" dt="2026-04-22T19:00:54.531" v="1"/>
      <pc:docMkLst>
        <pc:docMk/>
      </pc:docMkLst>
      <pc:sldChg chg="new del">
        <pc:chgData name="MIHNEA ȘTEFAN CONDURAT" userId="S::mihnea-stefan.condurat@s.unibuc.ro::30ff23b2-ac44-490e-887d-9b1f7efe8dcc" providerId="AD" clId="Web-{5E27AF02-984E-4324-6C57-2A6C3F4A3EB5}" dt="2026-04-22T19:00:54.531" v="1"/>
        <pc:sldMkLst>
          <pc:docMk/>
          <pc:sldMk cId="4248812303" sldId="278"/>
        </pc:sldMkLst>
      </pc:sldChg>
    </pc:docChg>
  </pc:docChgLst>
  <pc:docChgLst>
    <pc:chgData name="ALEXANDRU ANDREI HANCU" userId="S::alexandru-andrei.hancu@s.unibuc.ro::3fae2c9f-dbac-46ad-9571-286c15ec6628" providerId="AD" clId="Web-{D5A2DAEB-CE08-3248-5D10-4EEBACB73C03}"/>
    <pc:docChg chg="modSld">
      <pc:chgData name="ALEXANDRU ANDREI HANCU" userId="S::alexandru-andrei.hancu@s.unibuc.ro::3fae2c9f-dbac-46ad-9571-286c15ec6628" providerId="AD" clId="Web-{D5A2DAEB-CE08-3248-5D10-4EEBACB73C03}" dt="2026-04-22T10:29:10.911" v="1" actId="20577"/>
      <pc:docMkLst>
        <pc:docMk/>
      </pc:docMkLst>
      <pc:sldChg chg="modSp">
        <pc:chgData name="ALEXANDRU ANDREI HANCU" userId="S::alexandru-andrei.hancu@s.unibuc.ro::3fae2c9f-dbac-46ad-9571-286c15ec6628" providerId="AD" clId="Web-{D5A2DAEB-CE08-3248-5D10-4EEBACB73C03}" dt="2026-04-22T10:29:10.911" v="1" actId="20577"/>
        <pc:sldMkLst>
          <pc:docMk/>
          <pc:sldMk cId="0" sldId="264"/>
        </pc:sldMkLst>
        <pc:spChg chg="mod">
          <ac:chgData name="ALEXANDRU ANDREI HANCU" userId="S::alexandru-andrei.hancu@s.unibuc.ro::3fae2c9f-dbac-46ad-9571-286c15ec6628" providerId="AD" clId="Web-{D5A2DAEB-CE08-3248-5D10-4EEBACB73C03}" dt="2026-04-22T10:29:10.911" v="1" actId="20577"/>
          <ac:spMkLst>
            <pc:docMk/>
            <pc:sldMk cId="0" sldId="264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69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4019C-EB9F-EDD7-2E0C-D4D391309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4422F-846C-3795-9BAA-A1F29BFDF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DFB5D-09AF-CC30-F87C-82398BE4B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AB24B-C1E0-0B6F-1282-24E361380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62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lot.com/ddos-attack-glossary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3D4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640080"/>
            <a:ext cx="164592" cy="164592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3232" y="722376"/>
            <a:ext cx="1097280" cy="0"/>
          </a:xfrm>
          <a:prstGeom prst="line">
            <a:avLst/>
          </a:prstGeom>
          <a:noFill/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840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· REȚELE DE CALCULATOARE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320040" y="82296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on Network Layer </a:t>
            </a:r>
            <a:endParaRPr lang="en-US" sz="5800"/>
          </a:p>
        </p:txBody>
      </p:sp>
      <p:sp>
        <p:nvSpPr>
          <p:cNvPr id="20" name="Text 18"/>
          <p:cNvSpPr/>
          <p:nvPr/>
        </p:nvSpPr>
        <p:spPr>
          <a:xfrm>
            <a:off x="320040" y="2944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Scapy · UDP · IP Spoofing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7132320" y="640080"/>
            <a:ext cx="1691640" cy="685800"/>
          </a:xfrm>
          <a:prstGeom prst="rect">
            <a:avLst/>
          </a:prstGeom>
          <a:solidFill>
            <a:srgbClr val="00B5A0">
              <a:alpha val="45000"/>
            </a:srgbClr>
          </a:solidFill>
          <a:ln w="6350">
            <a:solidFill>
              <a:srgbClr val="00B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0" y="6400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750"/>
          </a:p>
        </p:txBody>
      </p:sp>
      <p:sp>
        <p:nvSpPr>
          <p:cNvPr id="24" name="Shape 22"/>
          <p:cNvSpPr/>
          <p:nvPr/>
        </p:nvSpPr>
        <p:spPr>
          <a:xfrm>
            <a:off x="7132320" y="1508760"/>
            <a:ext cx="1691640" cy="685800"/>
          </a:xfrm>
          <a:prstGeom prst="rect">
            <a:avLst/>
          </a:prstGeom>
          <a:solidFill>
            <a:srgbClr val="00E5CC"/>
          </a:solidFill>
          <a:ln w="63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0" y="15087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</a:t>
            </a:r>
            <a:endParaRPr lang="en-US" sz="750"/>
          </a:p>
        </p:txBody>
      </p:sp>
      <p:sp>
        <p:nvSpPr>
          <p:cNvPr id="26" name="Shape 24"/>
          <p:cNvSpPr/>
          <p:nvPr/>
        </p:nvSpPr>
        <p:spPr>
          <a:xfrm>
            <a:off x="7132320" y="2377440"/>
            <a:ext cx="1691640" cy="685800"/>
          </a:xfrm>
          <a:prstGeom prst="rect">
            <a:avLst/>
          </a:prstGeom>
          <a:solidFill>
            <a:srgbClr val="1C7293">
              <a:alpha val="45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0" y="23774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</a:t>
            </a:r>
            <a:endParaRPr lang="en-US" sz="750"/>
          </a:p>
        </p:txBody>
      </p:sp>
      <p:sp>
        <p:nvSpPr>
          <p:cNvPr id="28" name="Shape 26"/>
          <p:cNvSpPr/>
          <p:nvPr/>
        </p:nvSpPr>
        <p:spPr>
          <a:xfrm>
            <a:off x="7132320" y="3246120"/>
            <a:ext cx="1691640" cy="685800"/>
          </a:xfrm>
          <a:prstGeom prst="rect">
            <a:avLst/>
          </a:prstGeom>
          <a:solidFill>
            <a:srgbClr val="3D4F6B">
              <a:alpha val="45000"/>
            </a:srgbClr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0" y="3246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LINK</a:t>
            </a:r>
            <a:endParaRPr lang="en-US" sz="750"/>
          </a:p>
        </p:txBody>
      </p:sp>
      <p:sp>
        <p:nvSpPr>
          <p:cNvPr id="30" name="Shape 28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3D4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github.com/senisioi/computer-networks/2026</a:t>
            </a:r>
            <a:endParaRPr lang="en-US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27432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2801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Image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320040" y="2514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 pt Tema 2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411480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IMAGINI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este o imagine Docker? = </a:t>
            </a:r>
            <a:r>
              <a:rPr lang="en-US" sz="2800" b="1" err="1">
                <a:solidFill>
                  <a:schemeClr val="bg1"/>
                </a:solidFill>
              </a:rPr>
              <a:t>șablon</a:t>
            </a:r>
            <a:r>
              <a:rPr lang="en-US" sz="2800" b="1">
                <a:solidFill>
                  <a:schemeClr val="bg1"/>
                </a:solidFill>
              </a:rPr>
              <a:t> read-only</a:t>
            </a:r>
            <a:endParaRPr lang="en-US" sz="270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657600" cy="566928"/>
          </a:xfrm>
          <a:prstGeom prst="rect">
            <a:avLst/>
          </a:prstGeom>
          <a:solidFill>
            <a:srgbClr val="00B5A0">
              <a:alpha val="55000"/>
            </a:srgbClr>
          </a:solidFill>
          <a:ln w="12700">
            <a:solidFill>
              <a:srgbClr val="00B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/ ENTRYPOINT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4206240" y="1453896"/>
            <a:ext cx="32004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17720" y="12984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rulează la pornire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657600" cy="566928"/>
          </a:xfrm>
          <a:prstGeom prst="rect">
            <a:avLst/>
          </a:prstGeom>
          <a:solidFill>
            <a:srgbClr val="1C7293">
              <a:alpha val="5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 —  </a:t>
            </a:r>
            <a:r>
              <a:rPr lang="en-US" sz="1050" b="1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codul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206240" y="2112264"/>
            <a:ext cx="32004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9568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Fișierele aplicației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3657600" cy="566928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48716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  —  pip / apt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206240" y="2770632"/>
            <a:ext cx="32004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26883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Pachete instalate → </a:t>
            </a:r>
            <a:r>
              <a:rPr lang="it-IT" sz="1050">
                <a:solidFill>
                  <a:srgbClr val="8B9BB4"/>
                </a:solidFill>
                <a:latin typeface="Trebuchet MS" panose="020B0603020202020204" pitchFamily="34" charset="0"/>
              </a:rPr>
              <a:t>fiecare instrucțiune din Dockerfile = un layer</a:t>
            </a:r>
            <a:endParaRPr lang="en-US" sz="1050">
              <a:solidFill>
                <a:srgbClr val="8B9BB4"/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57200" y="3145536"/>
            <a:ext cx="3657600" cy="566928"/>
          </a:xfrm>
          <a:prstGeom prst="rect">
            <a:avLst/>
          </a:prstGeom>
          <a:solidFill>
            <a:srgbClr val="0A3A55">
              <a:alpha val="55000"/>
            </a:srgbClr>
          </a:solidFill>
          <a:ln w="12700">
            <a:solidFill>
              <a:srgbClr val="0A3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14553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206240" y="3429000"/>
            <a:ext cx="32004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32735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Directorul de lucru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3657600" cy="566928"/>
          </a:xfrm>
          <a:prstGeom prst="rect">
            <a:avLst/>
          </a:prstGeom>
          <a:solidFill>
            <a:srgbClr val="0A2540">
              <a:alpha val="55000"/>
            </a:srgbClr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0390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617720" y="3931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Imaginea de bază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617720" y="45537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Fiecare instrucțiune = un layer read-only.</a:t>
            </a:r>
            <a:endParaRPr lang="en-US" sz="1000"/>
          </a:p>
          <a:p>
            <a:pPr marL="0" indent="0">
              <a:buNone/>
            </a:pPr>
            <a:r>
              <a:rPr lang="en-US" sz="1000" i="1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Containerul adaugă un layer writable deasupra.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3657600" cy="530352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54864" cy="5303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445312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Cache: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640080" y="4636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Dacă un layer nu s-a schimbat, Docker îl refolosește. De aceea requirements.txt se copiază ÎNAINTE de cod.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PACHETE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 install  vs  apt-get install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32004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Librării Python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94360" y="1938528"/>
            <a:ext cx="3566160" cy="1051560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2376" y="2029968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scapy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requests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numpy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Pachete Python = librării importabile în cod.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PyPI = registrul global.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640080" y="413308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flask   ✓ scapy   ✓ requests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3931920" cy="3200400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54864" cy="32004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261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apt-get install</a:t>
            </a:r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484632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Programe de sistem Linux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800600" y="1938528"/>
            <a:ext cx="3566160" cy="1051560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28616" y="2029968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apt-get update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apt-get install -y curl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apt-get install -y wget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apt-get install -y vim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484632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Binare de sistem = programe executabile,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 importabile în Python.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846320" y="413308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curl   ✓ wget   ✓ nmap   ✓ vim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WORKFLOW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 → Build → Tag → Push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4114800" cy="2514600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5216" y="1261872"/>
            <a:ext cx="38587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flask \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apt-get update \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apt-get install -y curl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8001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["bash"]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27432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26187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Baza - slim = ~50MB vs ~900MB pentru varianta full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572000" y="1801368"/>
            <a:ext cx="27432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69164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Directorul de </a:t>
            </a:r>
            <a:r>
              <a:rPr lang="en-US" sz="10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lucru</a:t>
            </a: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- </a:t>
            </a:r>
            <a:r>
              <a:rPr lang="en-US" sz="10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toate</a:t>
            </a: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comenzile sunt relative la /app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72000" y="2231136"/>
            <a:ext cx="27432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212140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Instalezi ambele tipuri de pachete într-un singur RUN (mai puține layers)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572000" y="2620035"/>
            <a:ext cx="27432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551175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EXPOSE = documentație, nu deschide portul! -p face asta la docker run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597193" y="3093285"/>
            <a:ext cx="27432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296246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CMD bash = containerul stă activ fără o aplicație specifică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57200" y="3739896"/>
            <a:ext cx="365760" cy="365760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39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932688" y="37490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tema_2 .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5120640" y="3749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construieste imaginea local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932688" y="40782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-it tema_2 bash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5120640" y="40782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verifici că pachetele există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57200" y="4398264"/>
            <a:ext cx="365760" cy="365760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398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932688" y="4407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tema_2 user/tema_2:latest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5120640" y="4407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tag pentru Docker Hub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57200" y="4727448"/>
            <a:ext cx="365760" cy="365760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727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932688" y="47365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user/tema_2:latest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5120640" y="4736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publici imaginea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1F3A86-C024-7F07-9349-03D76B11C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95041A-7D0D-0758-6709-4B0BC7A34794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B1694E-A1FD-B762-9DAF-23E70ACE9AFE}"/>
              </a:ext>
            </a:extLst>
          </p:cNvPr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WORKFLOW</a:t>
            </a:r>
            <a:endParaRPr lang="en-US" sz="8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00C62C-4B6E-0CF5-A22A-C64D7DB0F640}"/>
              </a:ext>
            </a:extLst>
          </p:cNvPr>
          <p:cNvSpPr/>
          <p:nvPr/>
        </p:nvSpPr>
        <p:spPr>
          <a:xfrm>
            <a:off x="457200" y="406908"/>
            <a:ext cx="509451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Images – </a:t>
            </a:r>
            <a:r>
              <a:rPr lang="en-US" sz="2700" b="1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comenzi</a:t>
            </a: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utile</a:t>
            </a:r>
            <a:endParaRPr lang="en-US" sz="27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3D63AC7-5620-487F-E043-C5EAF4145163}"/>
              </a:ext>
            </a:extLst>
          </p:cNvPr>
          <p:cNvSpPr/>
          <p:nvPr/>
        </p:nvSpPr>
        <p:spPr>
          <a:xfrm>
            <a:off x="2386584" y="1133856"/>
            <a:ext cx="4114800" cy="2514600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CE39893-F8E0-0E8A-6143-CC7319996472}"/>
              </a:ext>
            </a:extLst>
          </p:cNvPr>
          <p:cNvSpPr/>
          <p:nvPr/>
        </p:nvSpPr>
        <p:spPr>
          <a:xfrm>
            <a:off x="2642616" y="1478715"/>
            <a:ext cx="38587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Listezi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toate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imaginile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locale</a:t>
            </a:r>
          </a:p>
          <a:p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</a:p>
          <a:p>
            <a:endParaRPr lang="en-US" sz="950">
              <a:solidFill>
                <a:srgbClr val="7FDBC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Rulezi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să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verifici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instalat</a:t>
            </a:r>
            <a:endParaRPr lang="en-US" sz="950">
              <a:solidFill>
                <a:srgbClr val="7FDBC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-it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numele_meu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bash</a:t>
            </a:r>
          </a:p>
          <a:p>
            <a:endParaRPr lang="en-US" sz="950">
              <a:solidFill>
                <a:srgbClr val="7FDBC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Din container,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verifici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că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există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show flask</a:t>
            </a:r>
          </a:p>
          <a:p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--version</a:t>
            </a:r>
          </a:p>
          <a:p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python3 -c "import flask; print(</a:t>
            </a:r>
            <a:r>
              <a:rPr lang="en-US" sz="9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flask.__version</a:t>
            </a:r>
            <a:r>
              <a:rPr lang="en-US" sz="9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__)"</a:t>
            </a:r>
            <a:endParaRPr lang="en-US" sz="9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941338F-C7AD-E83A-E3F7-7B605E4DE26F}"/>
              </a:ext>
            </a:extLst>
          </p:cNvPr>
          <p:cNvSpPr/>
          <p:nvPr/>
        </p:nvSpPr>
        <p:spPr>
          <a:xfrm>
            <a:off x="457200" y="4005072"/>
            <a:ext cx="71053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</a:t>
            </a:r>
            <a:r>
              <a:rPr lang="en-US" sz="14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r>
              <a:rPr lang="en-US" sz="14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poate</a:t>
            </a:r>
            <a:r>
              <a:rPr lang="en-US" sz="14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fi </a:t>
            </a:r>
            <a:r>
              <a:rPr lang="en-US" sz="14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importantă</a:t>
            </a:r>
            <a:r>
              <a:rPr lang="en-US" sz="14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minimizarea</a:t>
            </a:r>
            <a:r>
              <a:rPr lang="en-US" sz="14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numărului</a:t>
            </a:r>
            <a:r>
              <a:rPr lang="en-US" sz="14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 </a:t>
            </a:r>
            <a:r>
              <a:rPr lang="en-US" sz="14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pachete</a:t>
            </a:r>
            <a:r>
              <a:rPr lang="en-US" sz="14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dintr</a:t>
            </a:r>
            <a:r>
              <a:rPr lang="en-US" sz="14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 imagine?</a:t>
            </a:r>
            <a:endParaRPr lang="en-US" sz="1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652228-3254-CF69-2C98-983D747EABDD}"/>
              </a:ext>
            </a:extLst>
          </p:cNvPr>
          <p:cNvSpPr/>
          <p:nvPr/>
        </p:nvSpPr>
        <p:spPr>
          <a:xfrm>
            <a:off x="457200" y="3739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6D3BD5E-344A-4B01-B4D6-D849B550CC14}"/>
              </a:ext>
            </a:extLst>
          </p:cNvPr>
          <p:cNvSpPr/>
          <p:nvPr/>
        </p:nvSpPr>
        <p:spPr>
          <a:xfrm>
            <a:off x="914400" y="4434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it-IT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Imagini mai mici = download mai rapid</a:t>
            </a:r>
          </a:p>
          <a:p>
            <a:endParaRPr lang="en-US" sz="1000">
              <a:solidFill>
                <a:srgbClr val="8B9BB4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it-IT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Suprafață de atac mai mică (mai puține vulnerabilități)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170E63F-9399-A74F-93C8-78045B7A2677}"/>
              </a:ext>
            </a:extLst>
          </p:cNvPr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46F4B8C-E2E2-0672-B76C-122AA05C09F6}"/>
              </a:ext>
            </a:extLst>
          </p:cNvPr>
          <p:cNvSpPr/>
          <p:nvPr/>
        </p:nvSpPr>
        <p:spPr>
          <a:xfrm>
            <a:off x="457200" y="4398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13FF211-89C7-C772-2DA4-380736A16FD9}"/>
              </a:ext>
            </a:extLst>
          </p:cNvPr>
          <p:cNvSpPr/>
          <p:nvPr/>
        </p:nvSpPr>
        <p:spPr>
          <a:xfrm>
            <a:off x="457200" y="4727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558547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27432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2801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</a:t>
            </a:r>
            <a:endParaRPr lang="en-US" sz="380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411480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BA08B-734F-A969-53D1-ADB3C1687DEE}"/>
              </a:ext>
            </a:extLst>
          </p:cNvPr>
          <p:cNvSpPr txBox="1"/>
          <p:nvPr/>
        </p:nvSpPr>
        <p:spPr>
          <a:xfrm>
            <a:off x="320040" y="2819545"/>
            <a:ext cx="56103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Când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ai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mai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multe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containere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care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trebuie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să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comunice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,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să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pornești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fiecare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cu docker run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devine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complicat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. Compose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definește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toate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serviciile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într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-un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singur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fișier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și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le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pornește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,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conectează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și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en-US" sz="1400" err="1">
                <a:solidFill>
                  <a:schemeClr val="tx2"/>
                </a:solidFill>
                <a:latin typeface="Trebuchet MS" panose="020B0603020202020204" pitchFamily="34" charset="0"/>
              </a:rPr>
              <a:t>configurează</a:t>
            </a:r>
            <a:r>
              <a:rPr lang="en-US" sz="1400">
                <a:solidFill>
                  <a:schemeClr val="tx2"/>
                </a:solidFill>
                <a:latin typeface="Trebuchet MS" panose="020B0603020202020204" pitchFamily="34" charset="0"/>
              </a:rPr>
              <a:t> automat.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 · CONCEPTE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Servicii, Rețele, Volume, depends_on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931920" cy="1600200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4864" cy="16002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Serviciu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21792" y="1664208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un container. Are imagine, rețea, volume, comenzi. Primește un </a:t>
            </a:r>
            <a:r>
              <a:rPr lang="en-US" sz="105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</a:t>
            </a: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care </a:t>
            </a:r>
            <a:r>
              <a:rPr lang="en-US" sz="105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devine</a:t>
            </a: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hostname-ul în rețea.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3931920" cy="1600200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207008"/>
            <a:ext cx="54864" cy="1600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65192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Rețea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965192" y="1664208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</a:t>
            </a:r>
            <a:r>
              <a:rPr lang="en-US" sz="105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Containere</a:t>
            </a: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din aceeași rețea se văd direct. Docker oferă DNS intern: 'server' → IP-ul containerului server.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457200" y="2990088"/>
            <a:ext cx="3931920" cy="1600200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54864" cy="1600200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 Volume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21792" y="3447288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folder partajat. ./app:/app face ca folderul local ./app să apară la /app în container. </a:t>
            </a:r>
            <a:r>
              <a:rPr lang="en-US" sz="105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Editezi</a:t>
            </a: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local (PyCharm, Visual Studio Code etc.), rulezi în container.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800600" y="2990088"/>
            <a:ext cx="3931920" cy="1600200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2990088"/>
            <a:ext cx="54864" cy="16002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65192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  depends_on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4965192" y="3447288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ordine de pornire. In </a:t>
            </a:r>
            <a:r>
              <a:rPr lang="en-US" sz="105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configuratia</a:t>
            </a: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05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noastra</a:t>
            </a: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server/client: </a:t>
            </a:r>
            <a:r>
              <a:rPr lang="en-US" sz="105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Clientul</a:t>
            </a: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pornește după server. Param nu garantează că serverul e gata, </a:t>
            </a:r>
            <a:r>
              <a:rPr lang="en-US" sz="105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doar</a:t>
            </a: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că a pornit.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 · YAML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66344" y="339919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 docker-compose.yml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420624" y="934279"/>
            <a:ext cx="4297680" cy="4016468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58927"/>
            <a:ext cx="4041648" cy="35844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850">
                <a:solidFill>
                  <a:srgbClr val="7FDBCA"/>
                </a:solidFill>
                <a:latin typeface="Consolas"/>
              </a:rPr>
              <a:t>version: '3'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services: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server: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image: tema_2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tty: true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networks: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  - app_net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volumes: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  - ./app:/app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client: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image: tema_2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tty: true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networks: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  - app_net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volumes: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  - ./app:/app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depends_on: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  - server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networks: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app_net: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ipam: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  driver: default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  config: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    - subnet: 172.20.0.0/16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850">
                <a:solidFill>
                  <a:srgbClr val="7FDBCA"/>
                </a:solidFill>
                <a:latin typeface="Consolas"/>
              </a:rPr>
              <a:t>          gateway: 172.20.0.1</a:t>
            </a:r>
            <a:endParaRPr lang="en-US" sz="8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880" y="1591056"/>
            <a:ext cx="228600" cy="0"/>
          </a:xfrm>
          <a:prstGeom prst="line">
            <a:avLst/>
          </a:prstGeom>
          <a:noFill/>
          <a:ln w="762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4813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image: de </a:t>
            </a:r>
            <a:r>
              <a:rPr lang="en-US" sz="10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exemplu</a:t>
            </a: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tema_2 = imaginea </a:t>
            </a:r>
            <a:r>
              <a:rPr lang="en-US" sz="10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construită</a:t>
            </a: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0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deja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754880" y="1929384"/>
            <a:ext cx="228600" cy="0"/>
          </a:xfrm>
          <a:prstGeom prst="line">
            <a:avLst/>
          </a:prstGeom>
          <a:noFill/>
          <a:ln w="762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8196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tty: true = ține containerul viu (fără un proces activ)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754880" y="2258568"/>
            <a:ext cx="228600" cy="0"/>
          </a:xfrm>
          <a:prstGeom prst="line">
            <a:avLst/>
          </a:prstGeom>
          <a:noFill/>
          <a:ln w="762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2148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networks: app_net = se conectează la rețeaua virtuală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754880" y="2596896"/>
            <a:ext cx="228600" cy="0"/>
          </a:xfrm>
          <a:prstGeom prst="line">
            <a:avLst/>
          </a:prstGeom>
          <a:noFill/>
          <a:ln w="762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24871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volumes: ./app:/app = editezi în PyCharm, rulezi în container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754880" y="3236976"/>
            <a:ext cx="228600" cy="0"/>
          </a:xfrm>
          <a:prstGeom prst="line">
            <a:avLst/>
          </a:prstGeom>
          <a:noFill/>
          <a:ln w="762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31272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depends_on = clientul pornește după server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754880" y="3968496"/>
            <a:ext cx="228600" cy="0"/>
          </a:xfrm>
          <a:prstGeom prst="line">
            <a:avLst/>
          </a:prstGeom>
          <a:noFill/>
          <a:ln w="762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38587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subnet definit = IP-uri predictibile în rețeaua Docker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846320" y="4160520"/>
            <a:ext cx="3931920" cy="804672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4160520"/>
            <a:ext cx="54864" cy="80467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4206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DNS intern Docker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4992624" y="4462272"/>
            <a:ext cx="3730752" cy="457200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57216" y="4473006"/>
            <a:ext cx="3474720" cy="446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Adresa serverului din client: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SERVER_IP = "server"   # ← </a:t>
            </a:r>
            <a:r>
              <a:rPr lang="en-US" sz="8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numele</a:t>
            </a: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serviciului</a:t>
            </a:r>
            <a:endParaRPr lang="en-US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27432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2801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UDP &amp; TCP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320040" y="2514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Porturi, headers, sport/</a:t>
            </a:r>
            <a:r>
              <a:rPr lang="en-US" sz="1400" i="1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dport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411480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 · PORTURI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+ Port = identificarea exactă a unui proces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474720" cy="2926080"/>
          </a:xfrm>
          <a:prstGeom prst="rect">
            <a:avLst/>
          </a:prstGeom>
          <a:solidFill>
            <a:srgbClr val="0A2540"/>
          </a:solidFill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172.20.0.2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3D4F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(adresa blocului)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3167276" cy="402336"/>
          </a:xfrm>
          <a:prstGeom prst="rect">
            <a:avLst/>
          </a:prstGeom>
          <a:solidFill>
            <a:srgbClr val="00E5CC">
              <a:alpha val="45000"/>
            </a:srgbClr>
          </a:solidFill>
          <a:ln w="63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9268" y="1938528"/>
            <a:ext cx="10580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:9999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828800" y="1984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UDP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94360" y="2564890"/>
            <a:ext cx="3167276" cy="374905"/>
          </a:xfrm>
          <a:prstGeom prst="rect">
            <a:avLst/>
          </a:prstGeom>
          <a:solidFill>
            <a:srgbClr val="00B5A0">
              <a:alpha val="45000"/>
            </a:srgbClr>
          </a:solidFill>
          <a:ln w="6350">
            <a:solidFill>
              <a:srgbClr val="00B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496312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B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:8001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82880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HTTP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594360" y="3118104"/>
            <a:ext cx="3167276" cy="384048"/>
          </a:xfrm>
          <a:prstGeom prst="rect">
            <a:avLst/>
          </a:prstGeom>
          <a:solidFill>
            <a:srgbClr val="1C7293">
              <a:alpha val="45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118104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::53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828800" y="3227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DNS server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627483" y="3612440"/>
            <a:ext cx="3134153" cy="356430"/>
          </a:xfrm>
          <a:prstGeom prst="rect">
            <a:avLst/>
          </a:prstGeom>
          <a:solidFill>
            <a:srgbClr val="3D4F6B">
              <a:alpha val="45000"/>
            </a:srgbClr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2677" y="3557016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D4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::22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1945434" y="3707799"/>
            <a:ext cx="1748742" cy="199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251960" y="1188720"/>
            <a:ext cx="4526280" cy="2926080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51960" y="1188720"/>
            <a:ext cx="54864" cy="292608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34840" y="12618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  vs  dport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4434840" y="1664208"/>
            <a:ext cx="4279392" cy="1828800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62856" y="1755648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dport  =  portul DESTINATIEI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unde vrei sa ajungi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tu il alegi, serverul il asculta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sport  =  portul SURSEI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de unde "esti"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ales de OS automat (1024-65535)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sau de tine cu Scapy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4434840" y="3566160"/>
            <a:ext cx="4279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Serverul vede addr = (ip_sursa, sport)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Dacă sport e ales de OS → aleatoriu la fiecare pachet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Dacă sport e setat de tine → predictibil, fix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457200" y="4169664"/>
            <a:ext cx="3474720" cy="274320"/>
          </a:xfrm>
          <a:prstGeom prst="rect">
            <a:avLst/>
          </a:prstGeom>
          <a:solidFill>
            <a:srgbClr val="FFB347">
              <a:alpha val="30000"/>
            </a:srgbClr>
          </a:solidFill>
          <a:ln w="508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1696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1023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2286000" y="41696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Well-known (root necesar)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457200" y="4498848"/>
            <a:ext cx="3474720" cy="274320"/>
          </a:xfrm>
          <a:prstGeom prst="rect">
            <a:avLst/>
          </a:prstGeom>
          <a:solidFill>
            <a:srgbClr val="1C7293">
              <a:alpha val="30000"/>
            </a:srgbClr>
          </a:solidFill>
          <a:ln w="508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4988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 – 49151</a:t>
            </a:r>
            <a:endParaRPr lang="en-US" sz="850"/>
          </a:p>
        </p:txBody>
      </p:sp>
      <p:sp>
        <p:nvSpPr>
          <p:cNvPr id="31" name="Text 29"/>
          <p:cNvSpPr/>
          <p:nvPr/>
        </p:nvSpPr>
        <p:spPr>
          <a:xfrm>
            <a:off x="2286000" y="44988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Registered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457200" y="4828032"/>
            <a:ext cx="3474720" cy="274320"/>
          </a:xfrm>
          <a:prstGeom prst="rect">
            <a:avLst/>
          </a:prstGeom>
          <a:solidFill>
            <a:srgbClr val="00B5A0">
              <a:alpha val="30000"/>
            </a:srgbClr>
          </a:solidFill>
          <a:ln w="5080">
            <a:solidFill>
              <a:srgbClr val="00B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4828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49152 – 65535</a:t>
            </a:r>
            <a:endParaRPr lang="en-US" sz="850"/>
          </a:p>
        </p:txBody>
      </p:sp>
      <p:sp>
        <p:nvSpPr>
          <p:cNvPr id="34" name="Text 32"/>
          <p:cNvSpPr/>
          <p:nvPr/>
        </p:nvSpPr>
        <p:spPr>
          <a:xfrm>
            <a:off x="2286000" y="4828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Ephemeral (OS le alege)</a:t>
            </a:r>
            <a:endParaRPr lang="en-US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 · HEADERS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UDP = simplu   vs   TCP = complex</a:t>
            </a:r>
            <a:endParaRPr lang="en-US" sz="270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Header  —  8 bytes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950976" cy="475488"/>
          </a:xfrm>
          <a:prstGeom prst="rect">
            <a:avLst/>
          </a:prstGeom>
          <a:solidFill>
            <a:srgbClr val="00E5CC">
              <a:alpha val="60000"/>
            </a:srgbClr>
          </a:solidFill>
          <a:ln w="63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sport (16)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1444752" y="1508760"/>
            <a:ext cx="950976" cy="475488"/>
          </a:xfrm>
          <a:prstGeom prst="rect">
            <a:avLst/>
          </a:prstGeom>
          <a:solidFill>
            <a:srgbClr val="00E5CC">
              <a:alpha val="40000"/>
            </a:srgbClr>
          </a:solidFill>
          <a:ln w="63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44752" y="1508760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dport (16)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2432304" y="1508760"/>
            <a:ext cx="950976" cy="475488"/>
          </a:xfrm>
          <a:prstGeom prst="rect">
            <a:avLst/>
          </a:prstGeom>
          <a:solidFill>
            <a:srgbClr val="00E5CC">
              <a:alpha val="40000"/>
            </a:srgbClr>
          </a:solidFill>
          <a:ln w="63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32304" y="1508760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(16)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3419856" y="1508760"/>
            <a:ext cx="950976" cy="475488"/>
          </a:xfrm>
          <a:prstGeom prst="rect">
            <a:avLst/>
          </a:prstGeom>
          <a:solidFill>
            <a:srgbClr val="00E5CC">
              <a:alpha val="40000"/>
            </a:srgbClr>
          </a:solidFill>
          <a:ln w="63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19856" y="1508760"/>
            <a:ext cx="950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checksum (16)</a:t>
            </a:r>
            <a:endParaRPr lang="en-US" sz="800"/>
          </a:p>
        </p:txBody>
      </p:sp>
      <p:sp>
        <p:nvSpPr>
          <p:cNvPr id="14" name="Shape 12"/>
          <p:cNvSpPr/>
          <p:nvPr/>
        </p:nvSpPr>
        <p:spPr>
          <a:xfrm>
            <a:off x="457200" y="2029968"/>
            <a:ext cx="3950208" cy="457200"/>
          </a:xfrm>
          <a:prstGeom prst="rect">
            <a:avLst/>
          </a:prstGeom>
          <a:solidFill>
            <a:srgbClr val="00E5CC">
              <a:alpha val="20000"/>
            </a:srgbClr>
          </a:solidFill>
          <a:ln w="508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029968"/>
            <a:ext cx="3950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/ data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Connectionless, aka fara handshake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457200" y="288950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Fara garantii de livrare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457200" y="314553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Fara ordine garantata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457200" y="340156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Simplu de manipulat cu Scapy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Rapid, overhead minim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75488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Header  —  20+ bytes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4754880" y="1508760"/>
            <a:ext cx="2020824" cy="384048"/>
          </a:xfrm>
          <a:prstGeom prst="rect">
            <a:avLst/>
          </a:prstGeom>
          <a:solidFill>
            <a:srgbClr val="1C7293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508760"/>
            <a:ext cx="2020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sport (16)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6812280" y="1508760"/>
            <a:ext cx="2020824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12280" y="1508760"/>
            <a:ext cx="2020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dport (16)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4754880" y="1929384"/>
            <a:ext cx="411480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92938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 Number (32)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4754880" y="2350008"/>
            <a:ext cx="411480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23500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Acknowledgment Number (32)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4754880" y="2770632"/>
            <a:ext cx="411480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7706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 | Window Size (16)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4754880" y="3191256"/>
            <a:ext cx="411480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31912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Checksum | Urgent (16+16)</a:t>
            </a:r>
            <a:endParaRPr lang="en-US" sz="850"/>
          </a:p>
        </p:txBody>
      </p:sp>
      <p:sp>
        <p:nvSpPr>
          <p:cNvPr id="34" name="Text 32"/>
          <p:cNvSpPr/>
          <p:nvPr/>
        </p:nvSpPr>
        <p:spPr>
          <a:xfrm>
            <a:off x="4754880" y="3593592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Connection-oriented, 3-way handshake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4754880" y="3831336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Garanteaza livrarea (retransmisii)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4754880" y="408736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Garanteaza ordinea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4754880" y="4343400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Flow control + congestion control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4754880" y="4599432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Mai complex de manipulat cu Scapy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434840" y="1170432"/>
            <a:ext cx="0" cy="3657600"/>
          </a:xfrm>
          <a:prstGeom prst="line">
            <a:avLst/>
          </a:prstGeom>
          <a:noFill/>
          <a:ln w="10160">
            <a:solidFill>
              <a:srgbClr val="3D4F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Lab-ul </a:t>
            </a:r>
            <a:r>
              <a:rPr lang="en-US" sz="950" i="1" err="1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folosește</a:t>
            </a:r>
            <a:r>
              <a:rPr lang="en-US" sz="950" i="1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UDP, </a:t>
            </a:r>
            <a:r>
              <a:rPr lang="en-US" sz="950" i="1" err="1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</a:t>
            </a:r>
            <a:r>
              <a:rPr lang="en-US" sz="950" i="1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simplu de manipulat la nivel de pachete</a:t>
            </a:r>
            <a:endParaRPr lang="en-US" sz="9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27432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2801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Scapy</a:t>
            </a:r>
            <a:endParaRPr lang="en-US" sz="380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411480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SCAPY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construiesti fiecare strat manual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931920" cy="1828800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" cy="1828800"/>
          </a:xfrm>
          <a:prstGeom prst="rect">
            <a:avLst/>
          </a:prstGeom>
          <a:solidFill>
            <a:srgbClr val="3D4F6B"/>
          </a:solidFill>
          <a:ln w="1270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Socket normal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3566160" cy="896112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2376" y="1664208"/>
            <a:ext cx="331012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sock.sendto(b"salut", (dest, 9999))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OS adauga UDP + IP + Ethernet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 ai control asupra campurilor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640080" y="25237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D4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sport aleatoriu  ❌ src = IP real  ❌ fara control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3931920" cy="1828800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54864" cy="18288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Scapy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4892040" y="1572768"/>
            <a:ext cx="3566160" cy="896112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0056" y="1664208"/>
            <a:ext cx="331012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IP(src=..., dst=...) \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UDP(sport=..., dport=...) \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Raw(b"salut")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 controlezi fiecare camp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4937760" y="25237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sport fix   ✓ src fals   ✓ control total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457200" y="312724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Operatorul  /  pt layering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8321040" cy="1481328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" y="3584448"/>
            <a:ext cx="80650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Fiecare / adauga un </a:t>
            </a:r>
            <a:r>
              <a:rPr lang="en-US" sz="9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</a:t>
            </a: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exact ca modelul OSI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 = Ether() / IP(dst="172.20.0.2") / UDP(dport=9999) / Raw(b"mesaj")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L2        L3                   L4               payload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Campurile None sunt calculate automat de Scapy la trimitere: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IP.src    = IP-ul tau real (daca nu il specifici tu)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UDP.sport = port efemer aleatoriu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IP.chksum = calculat din continut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SCAPY · OBIECTE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IP, UDP, TCP, ICMP, Raw — campuri si inspectare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484632" y="1082724"/>
            <a:ext cx="4206240" cy="2246438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69848"/>
            <a:ext cx="4136260" cy="20824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3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IP(src="...", dst="...", ttl=64)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#Layer 4 - UDP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UDP(sport=12345, dport=9999)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#Layer 4 - TCP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TCP(sport=..., dport=80, flags="S")  # S = SYN, PA = PSH+ACK</a:t>
            </a:r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</a:rPr>
              <a:t>#PSH = flag that indicates the receiving device should deliver the data to the receiving application as soon as possible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#ICMP (ping)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ICMP(type=8)   # 8=Echo Request, 0=Echo Reply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#Payload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Raw(load=b"bytes bruti")   # sau load="string"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84632" y="3415003"/>
            <a:ext cx="4206240" cy="1568477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" y="3383280"/>
            <a:ext cx="395020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9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Inspectare</a:t>
            </a:r>
            <a:endParaRPr lang="en-US" sz="900">
              <a:solidFill>
                <a:srgbClr val="7FDBC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pachet.show</a:t>
            </a: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900" err="1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pachet.summary</a:t>
            </a: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 prezenta unui layer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pachet.haslayer(UDP)    # True / False</a:t>
            </a:r>
            <a:endParaRPr lang="en-US" sz="900"/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Acceseaza campuri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pachet[IP].src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pachet[UDP].sport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pachet[Raw].load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4846320" y="1170432"/>
            <a:ext cx="3931920" cy="2880360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170432"/>
            <a:ext cx="54864" cy="288036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Functii de trimitere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5029200" y="1837944"/>
            <a:ext cx="3566160" cy="0"/>
          </a:xfrm>
          <a:prstGeom prst="line">
            <a:avLst/>
          </a:prstGeom>
          <a:noFill/>
          <a:ln w="508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6276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send(p)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6537960" y="16276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3, nu asteapta raspuns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029200" y="2276856"/>
            <a:ext cx="3566160" cy="0"/>
          </a:xfrm>
          <a:prstGeom prst="line">
            <a:avLst/>
          </a:prstGeom>
          <a:noFill/>
          <a:ln w="508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0665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sr1(p)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537960" y="20665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3, returneaza primul raspuns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5029200" y="2715768"/>
            <a:ext cx="3566160" cy="0"/>
          </a:xfrm>
          <a:prstGeom prst="line">
            <a:avLst/>
          </a:prstGeom>
          <a:noFill/>
          <a:ln w="508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25054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sr(p)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6537960" y="25054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3, returneaza toate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029200" y="3154680"/>
            <a:ext cx="3566160" cy="0"/>
          </a:xfrm>
          <a:prstGeom prst="line">
            <a:avLst/>
          </a:prstGeom>
          <a:noFill/>
          <a:ln w="508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9443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sendp(p)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6537960" y="29443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2, cu Ether(), nu asteapta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5029200" y="3593592"/>
            <a:ext cx="3566160" cy="0"/>
          </a:xfrm>
          <a:prstGeom prst="line">
            <a:avLst/>
          </a:prstGeom>
          <a:noFill/>
          <a:ln w="508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3383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srp1(p)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537960" y="33832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2, primul raspuns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846320" y="4160520"/>
            <a:ext cx="3931920" cy="804672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4160520"/>
            <a:ext cx="54864" cy="80467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B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loopback: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5029200" y="4434840"/>
            <a:ext cx="3730752" cy="475488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90782" y="4434840"/>
            <a:ext cx="354115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Daca send() nu merge pe localhost: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conf.L3socket = L3RawSocket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sau: send(p, iface="eth0")</a:t>
            </a:r>
            <a:endParaRPr lang="en-US" sz="8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27432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0" b="1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2801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Spoofing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320040" y="2514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Sursa declarata ≠ sursa reala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4114800" cy="0"/>
          </a:xfrm>
          <a:prstGeom prst="line">
            <a:avLst/>
          </a:prstGeom>
          <a:noFill/>
          <a:ln w="1016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SPOOFING · CONCEPT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Protocolul IP nu autentifica sursa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321040" cy="1234440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" cy="123444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✉  Analogia poștei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Trimiți o scrisoare cu o adresă de expeditor falsă pe plic. Poșta o livrează uitându-se DOAR la destinatar. Destinatarul citește expeditorul de pe plic și </a:t>
            </a:r>
            <a:r>
              <a:rPr lang="en-US" sz="11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îl</a:t>
            </a:r>
            <a:r>
              <a:rPr lang="en-US" sz="11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1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</a:t>
            </a:r>
            <a:r>
              <a:rPr lang="en-US" sz="11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, </a:t>
            </a:r>
            <a:r>
              <a:rPr lang="en-US" sz="110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pentru</a:t>
            </a:r>
            <a:r>
              <a:rPr lang="en-US" sz="11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ca nu există mecanism de verificare. IP-ul sursă e adresa de pe plic.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ce nu poți face asta cu socket normal?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321040" cy="1371600"/>
          </a:xfrm>
          <a:prstGeom prst="rect">
            <a:avLst/>
          </a:prstGeom>
          <a:solidFill>
            <a:srgbClr val="09111F"/>
          </a:solidFill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" y="2926080"/>
            <a:ext cx="80650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Socket standard — OS pune IP-ul real, nu poti schimba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sock.sendto(b"mesaj", ("dest", 9999))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addr pe server: ('IP_REAL_AL_TAU', port)  — mereu</a:t>
            </a:r>
            <a:endParaRPr lang="en-US" sz="920"/>
          </a:p>
          <a:p>
            <a:pPr marL="0" indent="0">
              <a:buNone/>
            </a:pP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Scapy — tu controlezi campul src din headerul IP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IP(src="172.20.0.99", dst="dest") / UDP(dport=9999) / Raw(b"mesaj")</a:t>
            </a:r>
            <a:endParaRPr lang="en-US" sz="920"/>
          </a:p>
          <a:p>
            <a:pPr marL="0" indent="0">
              <a:buNone/>
            </a:pPr>
            <a:r>
              <a:rPr lang="en-US" sz="92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addr pe server: ('172.20.0.99', port)  — IP fictiv!</a:t>
            </a:r>
            <a:endParaRPr lang="en-US" sz="920"/>
          </a:p>
        </p:txBody>
      </p:sp>
      <p:sp>
        <p:nvSpPr>
          <p:cNvPr id="12" name="Shape 10"/>
          <p:cNvSpPr/>
          <p:nvPr/>
        </p:nvSpPr>
        <p:spPr>
          <a:xfrm>
            <a:off x="457200" y="4315968"/>
            <a:ext cx="8321040" cy="658368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4315968"/>
            <a:ext cx="54864" cy="658368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370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face serverul: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640080" y="464515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data, addr = sock.recvfrom(1024)   →   addr = (ip_din_headerIP, sport_din_headerUDP)   ≠   neaparat realitatea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SPOOFING · EXPERIMENT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</a:rPr>
              <a:t>Experiment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321040" cy="658368"/>
          </a:xfrm>
          <a:prstGeom prst="rect">
            <a:avLst/>
          </a:prstGeom>
          <a:solidFill>
            <a:srgbClr val="111927"/>
          </a:solidFill>
          <a:ln w="508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4008" cy="658368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335024"/>
            <a:ext cx="365760" cy="365760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35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097280" y="12435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Trimite un pachet normal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389120" y="128016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Porneste server + client. Trimite un pachet fara a specifica src. Noteaza ce apare in addr pe server.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8321040" cy="658368"/>
          </a:xfrm>
          <a:prstGeom prst="rect">
            <a:avLst/>
          </a:prstGeom>
          <a:solidFill>
            <a:srgbClr val="111927"/>
          </a:solidFill>
          <a:ln w="508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64008" cy="658368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093976"/>
            <a:ext cx="365760" cy="365760"/>
          </a:xfrm>
          <a:prstGeom prst="ellipse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093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097280" y="20025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Afla IP-ul real al clientului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389120" y="20391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addr show eth0  sau  socket.gethostbyname(socket.gethostname()). Retine valoarea.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57200" y="2706624"/>
            <a:ext cx="8321040" cy="658368"/>
          </a:xfrm>
          <a:prstGeom prst="rect">
            <a:avLst/>
          </a:prstGeom>
          <a:solidFill>
            <a:srgbClr val="111927"/>
          </a:solidFill>
          <a:ln w="508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706624"/>
            <a:ext cx="64008" cy="658368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2852928"/>
            <a:ext cx="365760" cy="365760"/>
          </a:xfrm>
          <a:prstGeom prst="ellipse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1097280" y="2761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Adauga src=IP_REAL explicit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389120" y="27980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Pune IP-ul real in IP(src=...). Trimite. S-a schimbat ceva in addr? De ce / de ce nu?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solidFill>
            <a:srgbClr val="111927"/>
          </a:solidFill>
          <a:ln w="508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465576"/>
            <a:ext cx="64008" cy="6583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" y="3611880"/>
            <a:ext cx="365760" cy="3657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1097280" y="3520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Schimba src cu IP fictiv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4389120" y="355701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Alege un IP din acelasi subnet (ex: 172.20.0.99). Pune-l in src. Trimite. Ce apare acum in addr?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57200" y="4224528"/>
            <a:ext cx="8321040" cy="658368"/>
          </a:xfrm>
          <a:prstGeom prst="rect">
            <a:avLst/>
          </a:prstGeom>
          <a:solidFill>
            <a:srgbClr val="111927"/>
          </a:solidFill>
          <a:ln w="508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4224528"/>
            <a:ext cx="64008" cy="6583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4360" y="4370832"/>
            <a:ext cx="365760" cy="3657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4370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1097280" y="4279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Incearca IP din alta retea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4389120" y="43159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Alege un IP dintr-un alt subnet (ex: 10.0.0.99). Ce se intampla? Ajunge pachetul? De ce?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57200" y="4965192"/>
            <a:ext cx="8321040" cy="18288"/>
          </a:xfrm>
          <a:prstGeom prst="rect">
            <a:avLst/>
          </a:prstGeom>
          <a:solidFill>
            <a:srgbClr val="3D4F6B"/>
          </a:solidFill>
          <a:ln w="1270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SPOOFING · CONTEXT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ce conteaza in lumea reala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669280" cy="1024128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4864" cy="102412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🔊  DNS Flood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658368" y="157276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Trimiți cereri DNS cu src = victima. Serverul DNS răspunde victimei cu date mult mai mari decât cererea. Victima e inundată.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57200" y="2340864"/>
            <a:ext cx="5669280" cy="1024128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54864" cy="102412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41401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💀  SYN Flood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658368" y="2743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Inundezi un server cu SYN-uri cu IP-uri false. Serverul ține conexiuni half-open și epuizează resursele (tabela de conexiuni).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400800" y="1170432"/>
            <a:ext cx="2377440" cy="3364992"/>
          </a:xfrm>
          <a:prstGeom prst="rect">
            <a:avLst/>
          </a:prstGeom>
          <a:solidFill>
            <a:srgbClr val="111927"/>
          </a:solidFill>
          <a:ln w="6350">
            <a:solidFill>
              <a:srgbClr val="3D4F6B"/>
            </a:solidFill>
            <a:prstDash val="solid"/>
          </a:ln>
          <a:effectLst>
            <a:outerShdw blurRad="50800" dist="25400" dir="8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0" y="1170432"/>
            <a:ext cx="54864" cy="3364992"/>
          </a:xfrm>
          <a:prstGeom prst="rect">
            <a:avLst/>
          </a:prstGeom>
          <a:solidFill>
            <a:srgbClr val="00B5A0"/>
          </a:solidFill>
          <a:ln w="12700">
            <a:solidFill>
              <a:srgbClr val="00B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65392" y="123444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BCP38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6565392" y="1554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Current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38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565392" y="2011680"/>
            <a:ext cx="1920240" cy="0"/>
          </a:xfrm>
          <a:prstGeom prst="line">
            <a:avLst/>
          </a:prstGeom>
          <a:noFill/>
          <a:ln w="635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65392" y="2103120"/>
            <a:ext cx="2057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ISP-urile care implementeaza BCP38 blocheaza pachetele cu IP sursa care nu apartin subnet-ului clientului.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Spoofing-ul functioneaza in retele locale / Docker, dar e blocat pe internet de ISP-urile responsabile.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57201" y="3698748"/>
            <a:ext cx="5669280" cy="274320"/>
          </a:xfrm>
          <a:prstGeom prst="rect">
            <a:avLst/>
          </a:prstGeom>
          <a:solidFill>
            <a:srgbClr val="0A2540"/>
          </a:solidFill>
          <a:ln w="5080">
            <a:solidFill>
              <a:srgbClr val="3D4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6551" y="3717036"/>
            <a:ext cx="600424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sport fix + IP spoof: IP(src=FICTIV, dst=SERVER) / UDP(sport=12345, dport=9999) / Raw(b"mesaj")</a:t>
            </a:r>
            <a:endParaRPr lang="en-US" sz="8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F559D5-543D-580A-FD20-45A514F20431}"/>
              </a:ext>
            </a:extLst>
          </p:cNvPr>
          <p:cNvSpPr txBox="1"/>
          <p:nvPr/>
        </p:nvSpPr>
        <p:spPr>
          <a:xfrm>
            <a:off x="6020111" y="518782"/>
            <a:ext cx="152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Trebuchet MS" panose="020B0603020202020204" pitchFamily="34" charset="0"/>
                <a:hlinkClick r:id="rId3"/>
              </a:rPr>
              <a:t>DDoS Attacks</a:t>
            </a:r>
            <a:endParaRPr lang="en-US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21C8B2CFB0674DB019642B79189267" ma:contentTypeVersion="3" ma:contentTypeDescription="Create a new document." ma:contentTypeScope="" ma:versionID="3730ba48a3faed4d437cc028af4bfb75">
  <xsd:schema xmlns:xsd="http://www.w3.org/2001/XMLSchema" xmlns:xs="http://www.w3.org/2001/XMLSchema" xmlns:p="http://schemas.microsoft.com/office/2006/metadata/properties" xmlns:ns2="d08c9caa-a0fe-460d-8a2d-f490510db976" targetNamespace="http://schemas.microsoft.com/office/2006/metadata/properties" ma:root="true" ma:fieldsID="88bea3ddf6b4d86f276c91c496efd80d" ns2:_="">
    <xsd:import namespace="d08c9caa-a0fe-460d-8a2d-f490510db9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8c9caa-a0fe-460d-8a2d-f490510db9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4BA4B2-2DAE-4FD4-A56F-1C00B38EAB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EB3263-5B3C-4E6B-9DED-26BA10914747}">
  <ds:schemaRefs>
    <ds:schemaRef ds:uri="d08c9caa-a0fe-460d-8a2d-f490510db9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8D7EDF3-D565-48A7-8E39-950F134514E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Packet Cartography — Lab</dc:title>
  <dc:subject>PptxGenJS Presentation</dc:subject>
  <dc:creator>PptxGenJS</dc:creator>
  <cp:revision>3</cp:revision>
  <dcterms:created xsi:type="dcterms:W3CDTF">2026-04-19T22:11:48Z</dcterms:created>
  <dcterms:modified xsi:type="dcterms:W3CDTF">2026-04-22T19:01:01Z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0x010100D221C8B2CFB0674DB019642B79189267</vt:lpwstr>
  </property>
</Properties>
</file>