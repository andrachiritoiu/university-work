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5" autoAdjust="0"/>
    <p:restoredTop sz="94610"/>
  </p:normalViewPr>
  <p:slideViewPr>
    <p:cSldViewPr snapToGrid="0" snapToObjects="1">
      <p:cViewPr>
        <p:scale>
          <a:sx n="248" d="100"/>
          <a:sy n="248" d="100"/>
        </p:scale>
        <p:origin x="-4608" y="-22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76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36576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· IP · MAC · Netmask · Routing · Links · Ping · tcpdump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Capitolul 0 — Familiarizare cu mediul de lucru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502920"/>
            <a:ext cx="548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502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vs IP Address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1124712"/>
            <a:ext cx="548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124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&amp; </a:t>
            </a:r>
            <a:r>
              <a:rPr lang="en-US" sz="11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ifconfig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0" y="1746504"/>
            <a:ext cx="548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746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Netmask &amp; CIDR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0" y="2368296"/>
            <a:ext cx="548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368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(ip link)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2990088"/>
            <a:ext cx="548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Table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3611880"/>
            <a:ext cx="548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3611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&amp; ICMP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4233672"/>
            <a:ext cx="54864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4233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ADRESARE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Adresă MAC vs Adresă IP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3273552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32735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  →  Adresă MAC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1664208"/>
            <a:ext cx="3749040" cy="310896"/>
          </a:xfrm>
          <a:prstGeom prst="rect">
            <a:avLst/>
          </a:prstGeom>
          <a:solidFill>
            <a:srgbClr val="0F1E30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64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02:42:ac:1b:00:03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Identificator la nivel hardware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4323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octeți în hex (48 biți)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7797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Folosit doar în rețeaua locală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3127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Gândește-te la el ca numărul de serie al plăcii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4747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se schimbă în funcție de locație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4114800" cy="3273552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234440"/>
            <a:ext cx="64008" cy="32735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inet  →  Adresă IP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47488" y="1664208"/>
            <a:ext cx="3749040" cy="310896"/>
          </a:xfrm>
          <a:prstGeom prst="rect">
            <a:avLst/>
          </a:prstGeom>
          <a:solidFill>
            <a:srgbClr val="0F1E30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1664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172.27.0.3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47488" y="20848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Adresă logică / software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24323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octeți în zecimal (32 biți)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47488" y="27797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Folosit pentru rutare între rețele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47488" y="3127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Gândește-te la el ca o adresă poștală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34747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Poate fi atribuit și schimbat oricând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0D213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</a:rPr>
              <a:t>MAC = cine </a:t>
            </a:r>
            <a:r>
              <a:rPr lang="en-US" sz="1100" i="1" dirty="0" err="1">
                <a:solidFill>
                  <a:srgbClr val="CBD5E1"/>
                </a:solidFill>
              </a:rPr>
              <a:t>ești</a:t>
            </a:r>
            <a:r>
              <a:rPr lang="en-US" sz="1100" i="1" dirty="0">
                <a:solidFill>
                  <a:srgbClr val="CBD5E1"/>
                </a:solidFill>
              </a:rPr>
              <a:t> in </a:t>
            </a:r>
            <a:r>
              <a:rPr lang="en-US" sz="1100" i="1" dirty="0" err="1">
                <a:solidFill>
                  <a:srgbClr val="CBD5E1"/>
                </a:solidFill>
              </a:rPr>
              <a:t>reteaua</a:t>
            </a:r>
            <a:r>
              <a:rPr lang="en-US" sz="1100" i="1" dirty="0">
                <a:solidFill>
                  <a:srgbClr val="CBD5E1"/>
                </a:solidFill>
              </a:rPr>
              <a:t> </a:t>
            </a:r>
            <a:r>
              <a:rPr lang="en-US" sz="1100" i="1" dirty="0" err="1">
                <a:solidFill>
                  <a:srgbClr val="CBD5E1"/>
                </a:solidFill>
              </a:rPr>
              <a:t>locala</a:t>
            </a:r>
            <a:r>
              <a:rPr lang="en-US" sz="1100" i="1" dirty="0">
                <a:solidFill>
                  <a:srgbClr val="CBD5E1"/>
                </a:solidFill>
              </a:rPr>
              <a:t>   ·   IP = </a:t>
            </a:r>
            <a:r>
              <a:rPr lang="en-US" sz="1100" i="1" dirty="0" err="1">
                <a:solidFill>
                  <a:srgbClr val="CBD5E1"/>
                </a:solidFill>
              </a:rPr>
              <a:t>unde</a:t>
            </a:r>
            <a:r>
              <a:rPr lang="en-US" sz="1100" i="1" dirty="0">
                <a:solidFill>
                  <a:srgbClr val="CBD5E1"/>
                </a:solidFill>
              </a:rPr>
              <a:t> ești </a:t>
            </a:r>
            <a:r>
              <a:rPr lang="en-US" sz="1100" i="1" dirty="0" err="1">
                <a:solidFill>
                  <a:srgbClr val="CBD5E1"/>
                </a:solidFill>
              </a:rPr>
              <a:t>în</a:t>
            </a:r>
            <a:r>
              <a:rPr lang="en-US" sz="1100" i="1" dirty="0">
                <a:solidFill>
                  <a:srgbClr val="CBD5E1"/>
                </a:solidFill>
              </a:rPr>
              <a:t> </a:t>
            </a:r>
            <a:r>
              <a:rPr lang="en-US" sz="1100" i="1" dirty="0" err="1">
                <a:solidFill>
                  <a:srgbClr val="CBD5E1"/>
                </a:solidFill>
              </a:rPr>
              <a:t>rețeaua</a:t>
            </a:r>
            <a:r>
              <a:rPr lang="en-US" sz="1100" i="1" dirty="0">
                <a:solidFill>
                  <a:srgbClr val="CBD5E1"/>
                </a:solidFill>
              </a:rPr>
              <a:t> de internet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NIC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 Controller (Placa de rețea)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389120" cy="868680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64008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Componentă hardware (sau virtuală) care conectează o mașină la rețea. Fiecare container are NIC-uri virtuale.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389120" cy="868680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64008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50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624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de rețea Ethernet virtuală — folosită pentru comunicarea cu alte containere și cu exteriorul.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4389120" cy="868680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10128"/>
            <a:ext cx="64008" cy="8686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741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(loopback)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6484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Interfață virtuală care trimite traficul înapoi la aceeași mașină. Tot traficul 127.x.x.x ajunge aici.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261872"/>
            <a:ext cx="3749040" cy="3081528"/>
          </a:xfrm>
          <a:prstGeom prst="rect">
            <a:avLst/>
          </a:prstGeom>
          <a:solidFill>
            <a:srgbClr val="0F1E3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335024"/>
            <a:ext cx="347472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eth0: flags=4163&lt;UP,BROADCAST,RUNNING&gt;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mtu 1500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inet 172.27.0.3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netmask 255.255.0.0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ether 02:42:ac:1b:00:03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lo:   flags=73&lt;UP,LOOPBACK,RUNNING&gt;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mtu 65536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inet 127.0.0.1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netmask 255.0.0.0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4407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4D399"/>
                </a:solidFill>
              </a:rPr>
              <a:t>▲ inet = adresă IP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0" y="4407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B923C"/>
                </a:solidFill>
              </a:rPr>
              <a:t>▲ ether = adresă MAC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IPROUTE2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 show — înlocuitorul modern al ifconfig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992785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Comenzile iproute2 au fost introduse în Linux pentru a înlocui ifconfig. Aceleași informații, output mai detaliat.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385977"/>
            <a:ext cx="8412480" cy="1600200"/>
          </a:xfrm>
          <a:prstGeom prst="rect">
            <a:avLst/>
          </a:prstGeom>
          <a:solidFill>
            <a:srgbClr val="0F1E3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59129"/>
            <a:ext cx="81381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ip addr show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lo: &lt;LOOPBACK,UP,LOWER_UP&gt; mtu 65536 qdisc noqueue state UNKNOWN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link/loopback 00:00:00:00:00:00 brd 00:00:00:00:00:00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inet 127.0.0.1/8 scope host lo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valid_lft forever preferred_lft forever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 eth0@if12: &lt;BROADCAST,MULTICAST,UP,LOWER_UP&gt; mtu 1500 state 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link/ether 02:42:ac:12:00:04 brd ff:ff:ff:ff:ff:ff link-netnsid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inet 172.18.0.4/16 brd 172.18.255.255 scope global eth0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valid_lft forever preferred_lft forever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123337"/>
            <a:ext cx="2724912" cy="1508760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123337"/>
            <a:ext cx="64008" cy="1508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17820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inet 172.18.0.4/16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50738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 IP în notație CIDR — combină IP-ul și masca de rețea într-o singură linie (în loc de inet + netmask separate ca la ifconfig)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3123337"/>
            <a:ext cx="2724912" cy="1508760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3123337"/>
            <a:ext cx="64008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317820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brd 172.18.255.255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9856" y="350738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 de broadcast — calculată din subnet. Toate hosturile din 172.18.0.0/16 primesc pachetele trimise aici.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3123337"/>
            <a:ext cx="2724912" cy="1508760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3123337"/>
            <a:ext cx="64008" cy="15087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317820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valid_lft forever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2784" y="3507385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 de viață a adresei — 'forever' înseamnă că adresa e statică (nu vine de la DHCP cu expirare).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solidFill>
            <a:srgbClr val="0D2137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681728"/>
            <a:ext cx="64008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000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ifconfig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afișează inet + netmask separat    </a:t>
            </a: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addr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combină ca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inet 172.18.0.4/16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aceeași informație, notație CIDR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NETMASK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Netmask și notația Prefix (CIDR)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mască de rețea împarte o adresă IP în două părți: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663440" cy="749808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45920"/>
            <a:ext cx="64008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91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Partea de rețea (network part)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Identifică rețeaua în care te afli (octeții cu valoarea 255)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81948"/>
            <a:ext cx="4663440" cy="749808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81948"/>
            <a:ext cx="64008" cy="7498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76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Partea de host (host part)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8019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Identifică dispozitivul tău în cadrul rețelei (octeții cu valoarea 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17970"/>
            <a:ext cx="4663440" cy="1261872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317970"/>
            <a:ext cx="64008" cy="1261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7283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Notația prefix (CIDR)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366544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/16 = 16 biți de 1 în mască = 255.255.0.0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Numără biții de 1: 11111111.11111111.00000000.00000000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1234440"/>
            <a:ext cx="3474720" cy="3345402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Prefixuri comune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56248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Netmask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71816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Hosturi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0680" y="2240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56248" y="2240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255.0.0.0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71816" y="2240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~16 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2788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56248" y="2788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255.255.0.0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71816" y="27889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~65 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33375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/24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56248" y="33375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71816" y="33375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388620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/30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56248" y="388620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255.255.255.252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71816" y="388620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MTU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Transmission Unit (MTU)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Dimensiunea maximă a unui pachet (în bytes) care poate fi trimis dintr-o singură bucată pe o interfață de rețea.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114800" cy="2194560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64008" cy="2194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28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— Ethernet (eth0)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30906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MTU standard pentru Ethernet. Limită impusă de cablul fizic.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38" y="1737360"/>
            <a:ext cx="4114800" cy="2194560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38" y="1737360"/>
            <a:ext cx="64008" cy="21945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6" y="1828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65536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4864606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— Loopback (lo)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64606" y="30906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 cablu fizic, deci nicio limită reală. Totul se întâmplă în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LINKS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link show — Nivelul Data Link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1234440"/>
          </a:xfrm>
          <a:prstGeom prst="rect">
            <a:avLst/>
          </a:prstGeom>
          <a:solidFill>
            <a:srgbClr val="0F1E3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81381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ip link show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lo: &lt;LOOPBACK,UP,LOWER_UP&gt; mtu 65536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link/loopback 00:00:00:00:00:00 brd 00:00:00:00:00:00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 eth0@if12: &lt;BROADCAST,MULTICAST,UP,LOWER_UP&gt; mtu 1500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link/ether 02:42:ac:12:00:04 brd ff:ff:ff:ff:ff:ff link-netnsid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Flag-uri de interfață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4206240" cy="530352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71800"/>
            <a:ext cx="64008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008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246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Interfața este activată / pornită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2630" y="2971800"/>
            <a:ext cx="4206240" cy="530352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2630" y="2971800"/>
            <a:ext cx="64008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3798" y="3008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3798" y="3246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Cablul (fizic sau virtual) este conectat — există semnal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4206240" cy="530352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11880"/>
            <a:ext cx="64008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648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886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Poate trimite pachete tuturor dispozitivelor din rețea simultan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2630" y="3611880"/>
            <a:ext cx="4206240" cy="530352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2630" y="3611880"/>
            <a:ext cx="64008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3798" y="3648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MULTICAST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03798" y="3886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Poate trimite unui grup de dispozitive (nu unul, nu toate)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4206240" cy="530352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51960"/>
            <a:ext cx="64008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LOOPBACK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4526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Interfața trimite traficul înapoi la ea însăși (doar pe lo)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2630" y="4251960"/>
            <a:ext cx="4206240" cy="530352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2630" y="4251960"/>
            <a:ext cx="64008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3798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brd ff:ff:ff:ff:ff:ff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03798" y="4526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 MAC de broadcast — toate dispozitivele din rețeaua locală primesc pachetul (folosit de ARP)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851543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eth0@if12 — eth0-ul containerului este o jumătate dintr-un cablu virtual (veth pair) conectat la interfața #12 de pe host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ROUTING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route show — Tabela de rutare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31250"/>
            <a:ext cx="8412480" cy="777240"/>
          </a:xfrm>
          <a:prstGeom prst="rect">
            <a:avLst/>
          </a:prstGeom>
          <a:solidFill>
            <a:srgbClr val="0F1E3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4402"/>
            <a:ext cx="8138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ip route show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172.18.0.0/16 dev eth0 proto kernel scope link src 172.18.0.4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via 172.18.0.1 dev eth0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9522"/>
            <a:ext cx="8412480" cy="1298448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19522"/>
            <a:ext cx="64008" cy="12984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9267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172.18.0.0/16  dev eth0  src 172.18.0.4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36699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Rută directă / locală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65960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Destinația se potrivește cu propriul subnet (172.18.x.x)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Pachetele ies direct prin eth0 — fără intermediar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Adăugată automat de kernel când se atribuie un IP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"Pot striga direct la acești vecini"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436842"/>
            <a:ext cx="8412480" cy="1298448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36842"/>
            <a:ext cx="64008" cy="12984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50999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 via 172.18.0.1  dev eth0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78431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implicit (Default Route)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407692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Prinde tot traficul care nu se potrivește cu nicio altă regulă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172.18.0.1 este gateway-ul (bridge-ul Docker / router-ul)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Gateway-ul trimite mai departe pachetul spre internet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"Predă orice altceva acestui vecin, el știe ce să facă"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P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ChipBg"/>
          <p:cNvSpPr/>
          <p:nvPr/>
        </p:nvSpPr>
        <p:spPr>
          <a:xfrm>
            <a:off x="365760" y="164592"/>
            <a:ext cx="1000000" cy="256032"/>
          </a:xfrm>
          <a:prstGeom prst="roundRect">
            <a:avLst>
              <a:gd name="adj" fmla="val 14286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ChipTx"/>
          <p:cNvSpPr/>
          <p:nvPr/>
        </p:nvSpPr>
        <p:spPr>
          <a:xfrm>
            <a:off x="365760" y="164592"/>
            <a:ext cx="10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100" b="1" dirty="0">
                <a:solidFill>
                  <a:srgbClr val="34D399"/>
                </a:solidFill>
              </a:rPr>
              <a:t>RETELE</a:t>
            </a:r>
          </a:p>
        </p:txBody>
      </p:sp>
      <p:sp>
        <p:nvSpPr>
          <p:cNvPr id="5" name="Title"/>
          <p:cNvSpPr/>
          <p:nvPr/>
        </p:nvSpPr>
        <p:spPr>
          <a:xfrm>
            <a:off x="365760" y="480060"/>
            <a:ext cx="8412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800" b="1" dirty="0">
                <a:solidFill>
                  <a:srgbClr val="F1F5F9"/>
                </a:solidFill>
              </a:rPr>
              <a:t>ARP — Address Resolution Protocol</a:t>
            </a:r>
          </a:p>
        </p:txBody>
      </p:sp>
      <p:sp>
        <p:nvSpPr>
          <p:cNvPr id="6" name="Sub"/>
          <p:cNvSpPr/>
          <p:nvPr/>
        </p:nvSpPr>
        <p:spPr>
          <a:xfrm>
            <a:off x="365760" y="930000"/>
            <a:ext cx="84124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dirty="0">
                <a:solidFill>
                  <a:srgbClr val="94A3B8"/>
                </a:solidFill>
              </a:rPr>
              <a:t>Rezolvă adrese IP → adrese MAC în rețeaua locală. Fără ARP, pachetele nu pot fi livrate.</a:t>
            </a:r>
          </a:p>
        </p:txBody>
      </p:sp>
      <p:sp>
        <p:nvSpPr>
          <p:cNvPr id="10" name="CardBg10"/>
          <p:cNvSpPr/>
          <p:nvPr/>
        </p:nvSpPr>
        <p:spPr>
          <a:xfrm>
            <a:off x="365760" y="1302824"/>
            <a:ext cx="2560320" cy="330000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CardH10"/>
          <p:cNvSpPr/>
          <p:nvPr/>
        </p:nvSpPr>
        <p:spPr>
          <a:xfrm>
            <a:off x="457200" y="1394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dirty="0">
                <a:solidFill>
                  <a:srgbClr val="0EA5E9"/>
                </a:solidFill>
              </a:rPr>
              <a:t>Problema</a:t>
            </a:r>
          </a:p>
        </p:txBody>
      </p:sp>
      <p:sp>
        <p:nvSpPr>
          <p:cNvPr id="12" name="CardB10"/>
          <p:cNvSpPr/>
          <p:nvPr/>
        </p:nvSpPr>
        <p:spPr>
          <a:xfrm>
            <a:off x="457200" y="1668584"/>
            <a:ext cx="2377440" cy="284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Routerele ştiu IP-ul destinației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Dar pentru frame-ul Ethernet au nevoie de adresa MAC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ARP rezolvă legătura: IP → MAC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</p:txBody>
      </p:sp>
      <p:sp>
        <p:nvSpPr>
          <p:cNvPr id="20" name="CardBg20"/>
          <p:cNvSpPr/>
          <p:nvPr/>
        </p:nvSpPr>
        <p:spPr>
          <a:xfrm>
            <a:off x="3017520" y="1302824"/>
            <a:ext cx="2560320" cy="330000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1" name="CardH20"/>
          <p:cNvSpPr/>
          <p:nvPr/>
        </p:nvSpPr>
        <p:spPr>
          <a:xfrm>
            <a:off x="3108960" y="1394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dirty="0">
                <a:solidFill>
                  <a:srgbClr val="34D399"/>
                </a:solidFill>
              </a:rPr>
              <a:t>Cum funcționează</a:t>
            </a:r>
          </a:p>
        </p:txBody>
      </p:sp>
      <p:sp>
        <p:nvSpPr>
          <p:cNvPr id="22" name="CardB20"/>
          <p:cNvSpPr/>
          <p:nvPr/>
        </p:nvSpPr>
        <p:spPr>
          <a:xfrm>
            <a:off x="3108960" y="1668584"/>
            <a:ext cx="2377440" cy="284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1. Broadcast: „Cine are IP-ul X?‟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2. Răspuns: „Eu! MAC-ul meu este Y‟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3. Expeditorul salvează în ARP cache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4. Cache-ul expiră </a:t>
            </a:r>
            <a:r>
              <a:rPr lang="en-US" sz="1150" dirty="0" err="1">
                <a:solidFill>
                  <a:srgbClr val="CBD5E1"/>
                </a:solidFill>
              </a:rPr>
              <a:t>dar</a:t>
            </a:r>
            <a:r>
              <a:rPr lang="ro-RO" sz="1150" dirty="0">
                <a:solidFill>
                  <a:srgbClr val="CBD5E1"/>
                </a:solidFill>
              </a:rPr>
              <a:t> se repetă la nevoie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</p:txBody>
      </p:sp>
      <p:sp>
        <p:nvSpPr>
          <p:cNvPr id="30" name="CardBg30"/>
          <p:cNvSpPr/>
          <p:nvPr/>
        </p:nvSpPr>
        <p:spPr>
          <a:xfrm>
            <a:off x="5669280" y="1302824"/>
            <a:ext cx="3108960" cy="330000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CardH30"/>
          <p:cNvSpPr/>
          <p:nvPr/>
        </p:nvSpPr>
        <p:spPr>
          <a:xfrm>
            <a:off x="5760720" y="13942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dirty="0">
                <a:solidFill>
                  <a:srgbClr val="FB923C"/>
                </a:solidFill>
              </a:rPr>
              <a:t>Important</a:t>
            </a:r>
          </a:p>
        </p:txBody>
      </p:sp>
      <p:sp>
        <p:nvSpPr>
          <p:cNvPr id="32" name="CardB30"/>
          <p:cNvSpPr/>
          <p:nvPr/>
        </p:nvSpPr>
        <p:spPr>
          <a:xfrm>
            <a:off x="5760720" y="1668584"/>
            <a:ext cx="2926080" cy="284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Funcționează doar în rețeaua locală, nu traversează routere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Îl face expeditorul, nu receptorul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Vizibil în tcpdump: „who-has X tell Y‟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Când destinația e în alt subnet, ARP se face pentru gateway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</p:txBody>
      </p:sp>
      <p:sp>
        <p:nvSpPr>
          <p:cNvPr id="50" name="Footer"/>
          <p:cNvSpPr/>
          <p:nvPr/>
        </p:nvSpPr>
        <p:spPr>
          <a:xfrm>
            <a:off x="365760" y="47556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050" i="1" dirty="0">
                <a:solidFill>
                  <a:srgbClr val="CBD5E1"/>
                </a:solidFill>
              </a:rPr>
              <a:t>ARP = puntea dintre nivelul IP (logic) şi nivelul Ethernet (fizic)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GP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ChipBg"/>
          <p:cNvSpPr/>
          <p:nvPr/>
        </p:nvSpPr>
        <p:spPr>
          <a:xfrm>
            <a:off x="365760" y="164592"/>
            <a:ext cx="10000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ChipTx"/>
          <p:cNvSpPr/>
          <p:nvPr/>
        </p:nvSpPr>
        <p:spPr>
          <a:xfrm>
            <a:off x="365760" y="164592"/>
            <a:ext cx="10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100" b="1" dirty="0">
                <a:solidFill>
                  <a:srgbClr val="0EA5E9"/>
                </a:solidFill>
              </a:rPr>
              <a:t>RETELE</a:t>
            </a:r>
          </a:p>
        </p:txBody>
      </p:sp>
      <p:sp>
        <p:nvSpPr>
          <p:cNvPr id="5" name="Title"/>
          <p:cNvSpPr/>
          <p:nvPr/>
        </p:nvSpPr>
        <p:spPr>
          <a:xfrm>
            <a:off x="365760" y="480060"/>
            <a:ext cx="8412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800" b="1" dirty="0">
                <a:solidFill>
                  <a:srgbClr val="F1F5F9"/>
                </a:solidFill>
              </a:rPr>
              <a:t>BGP — Border Gateway Protocol</a:t>
            </a:r>
          </a:p>
        </p:txBody>
      </p:sp>
      <p:sp>
        <p:nvSpPr>
          <p:cNvPr id="6" name="Sub"/>
          <p:cNvSpPr/>
          <p:nvPr/>
        </p:nvSpPr>
        <p:spPr>
          <a:xfrm>
            <a:off x="365760" y="930000"/>
            <a:ext cx="84124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o-RO" sz="1300" dirty="0">
                <a:solidFill>
                  <a:srgbClr val="94A3B8"/>
                </a:solidFill>
              </a:rPr>
              <a:t>Protocolul care ține internetul laolaltă — routerele îşi anunță automat ce rețele pot ajunge.</a:t>
            </a:r>
          </a:p>
        </p:txBody>
      </p:sp>
      <p:sp>
        <p:nvSpPr>
          <p:cNvPr id="10" name="CardBg10"/>
          <p:cNvSpPr/>
          <p:nvPr/>
        </p:nvSpPr>
        <p:spPr>
          <a:xfrm>
            <a:off x="365760" y="1188720"/>
            <a:ext cx="2560320" cy="330000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CardH10"/>
          <p:cNvSpPr/>
          <p:nvPr/>
        </p:nvSpPr>
        <p:spPr>
          <a:xfrm>
            <a:off x="457200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dirty="0">
                <a:solidFill>
                  <a:srgbClr val="0EA5E9"/>
                </a:solidFill>
              </a:rPr>
              <a:t>Ce face</a:t>
            </a:r>
          </a:p>
        </p:txBody>
      </p:sp>
      <p:sp>
        <p:nvSpPr>
          <p:cNvPr id="12" name="CardB10"/>
          <p:cNvSpPr/>
          <p:nvPr/>
        </p:nvSpPr>
        <p:spPr>
          <a:xfrm>
            <a:off x="457200" y="1554480"/>
            <a:ext cx="2377440" cy="284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Fiecare router anunță vecinilor ce range-uri IP poate atinge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Vecinii re-anunță automat mai departe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Fiecare router îşi construieşte un tabel cu cele mai bune rute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</p:txBody>
      </p:sp>
      <p:sp>
        <p:nvSpPr>
          <p:cNvPr id="20" name="CardBg20"/>
          <p:cNvSpPr/>
          <p:nvPr/>
        </p:nvSpPr>
        <p:spPr>
          <a:xfrm>
            <a:off x="3017520" y="1188720"/>
            <a:ext cx="2560320" cy="330000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1" name="CardH20"/>
          <p:cNvSpPr/>
          <p:nvPr/>
        </p:nvSpPr>
        <p:spPr>
          <a:xfrm>
            <a:off x="3108960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dirty="0">
                <a:solidFill>
                  <a:srgbClr val="34D399"/>
                </a:solidFill>
              </a:rPr>
              <a:t>Topologie</a:t>
            </a:r>
          </a:p>
        </p:txBody>
      </p:sp>
      <p:sp>
        <p:nvSpPr>
          <p:cNvPr id="22" name="CardB20"/>
          <p:cNvSpPr/>
          <p:nvPr/>
        </p:nvSpPr>
        <p:spPr>
          <a:xfrm>
            <a:off x="3108960" y="1554480"/>
            <a:ext cx="2377440" cy="284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Nu e o listă lineară </a:t>
            </a:r>
            <a:r>
              <a:rPr lang="en-US" sz="1150" dirty="0">
                <a:solidFill>
                  <a:srgbClr val="CBD5E1"/>
                </a:solidFill>
              </a:rPr>
              <a:t>ci </a:t>
            </a:r>
            <a:r>
              <a:rPr lang="ro-RO" sz="1150" dirty="0">
                <a:solidFill>
                  <a:srgbClr val="CBD5E1"/>
                </a:solidFill>
              </a:rPr>
              <a:t>un graf direcționat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Fiecare router are mai mulți vecini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Ruta A→B poate fi complet diferită de B→A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traceroute arată doar drumul dus, nu şi întors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</p:txBody>
      </p:sp>
      <p:sp>
        <p:nvSpPr>
          <p:cNvPr id="30" name="CardBg30"/>
          <p:cNvSpPr/>
          <p:nvPr/>
        </p:nvSpPr>
        <p:spPr>
          <a:xfrm>
            <a:off x="5669280" y="1188720"/>
            <a:ext cx="3108960" cy="330000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CardH30"/>
          <p:cNvSpPr/>
          <p:nvPr/>
        </p:nvSpPr>
        <p:spPr>
          <a:xfrm>
            <a:off x="5760720" y="1280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dirty="0">
                <a:solidFill>
                  <a:srgbClr val="FB923C"/>
                </a:solidFill>
              </a:rPr>
              <a:t>De reținut</a:t>
            </a:r>
          </a:p>
        </p:txBody>
      </p:sp>
      <p:sp>
        <p:nvSpPr>
          <p:cNvPr id="32" name="CardB30"/>
          <p:cNvSpPr/>
          <p:nvPr/>
        </p:nvSpPr>
        <p:spPr>
          <a:xfrm>
            <a:off x="5760720" y="1554480"/>
            <a:ext cx="2926080" cy="284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Peering-ul se configurează manual</a:t>
            </a:r>
            <a:r>
              <a:rPr lang="en-US" sz="1150" dirty="0">
                <a:solidFill>
                  <a:srgbClr val="CBD5E1"/>
                </a:solidFill>
              </a:rPr>
              <a:t>, </a:t>
            </a:r>
            <a:r>
              <a:rPr lang="en-US" sz="1150" dirty="0" err="1">
                <a:solidFill>
                  <a:srgbClr val="CBD5E1"/>
                </a:solidFill>
              </a:rPr>
              <a:t>dar</a:t>
            </a:r>
            <a:r>
              <a:rPr lang="en-US" sz="1150" dirty="0">
                <a:solidFill>
                  <a:srgbClr val="CBD5E1"/>
                </a:solidFill>
              </a:rPr>
              <a:t> </a:t>
            </a:r>
            <a:r>
              <a:rPr lang="ro-RO" sz="1150" dirty="0">
                <a:solidFill>
                  <a:srgbClr val="CBD5E1"/>
                </a:solidFill>
              </a:rPr>
              <a:t>propagarea e automată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Un anunț greşit se răspândeşte în tot internetul rapid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TTL în pachete previne buclele infinite — decrementat la fiecare hop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  <a:p>
            <a:pPr marL="114300" indent="-114300">
              <a:buChar char="▸"/>
            </a:pPr>
            <a:r>
              <a:rPr lang="ro-RO" sz="1150" dirty="0">
                <a:solidFill>
                  <a:srgbClr val="CBD5E1"/>
                </a:solidFill>
              </a:rPr>
              <a:t>Rutarea e optimă pe rută, nu neapărat geografic</a:t>
            </a:r>
          </a:p>
          <a:p>
            <a:pPr marL="0" indent="0">
              <a:buNone/>
            </a:pPr>
            <a:r>
              <a:rPr lang="ro-RO" sz="880" dirty="0">
                <a:solidFill>
                  <a:srgbClr val="0A1628"/>
                </a:solidFill>
              </a:rPr>
              <a:t>.</a:t>
            </a:r>
          </a:p>
        </p:txBody>
      </p:sp>
      <p:sp>
        <p:nvSpPr>
          <p:cNvPr id="50" name="Footer"/>
          <p:cNvSpPr/>
          <p:nvPr/>
        </p:nvSpPr>
        <p:spPr>
          <a:xfrm>
            <a:off x="365760" y="47556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050" i="1" dirty="0">
                <a:solidFill>
                  <a:srgbClr val="CBD5E1"/>
                </a:solidFill>
              </a:rPr>
              <a:t>BGP: fiecare router ştie doar vecinii săi — comportamentul global emerge din decizii locale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C Hopping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ChipBg"/>
          <p:cNvSpPr/>
          <p:nvPr/>
        </p:nvSpPr>
        <p:spPr>
          <a:xfrm>
            <a:off x="365760" y="164592"/>
            <a:ext cx="1000000" cy="256032"/>
          </a:xfrm>
          <a:prstGeom prst="roundRect">
            <a:avLst>
              <a:gd name="adj" fmla="val 14286"/>
            </a:avLst>
          </a:prstGeom>
          <a:solidFill>
            <a:srgbClr val="FB923C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ChipTx"/>
          <p:cNvSpPr/>
          <p:nvPr/>
        </p:nvSpPr>
        <p:spPr>
          <a:xfrm>
            <a:off x="365760" y="164592"/>
            <a:ext cx="10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100" b="1" dirty="0">
                <a:solidFill>
                  <a:srgbClr val="FB923C"/>
                </a:solidFill>
              </a:rPr>
              <a:t>RETELE</a:t>
            </a:r>
          </a:p>
        </p:txBody>
      </p:sp>
      <p:sp>
        <p:nvSpPr>
          <p:cNvPr id="5" name="Title"/>
          <p:cNvSpPr/>
          <p:nvPr/>
        </p:nvSpPr>
        <p:spPr>
          <a:xfrm>
            <a:off x="365760" y="480060"/>
            <a:ext cx="841248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800" b="1" dirty="0">
                <a:solidFill>
                  <a:srgbClr val="F1F5F9"/>
                </a:solidFill>
              </a:rPr>
              <a:t>MAC Hopping — cum călătoreşte un pachet</a:t>
            </a:r>
          </a:p>
        </p:txBody>
      </p:sp>
      <p:sp>
        <p:nvSpPr>
          <p:cNvPr id="6" name="Sub"/>
          <p:cNvSpPr/>
          <p:nvPr/>
        </p:nvSpPr>
        <p:spPr>
          <a:xfrm>
            <a:off x="365760" y="930000"/>
            <a:ext cx="84124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dirty="0">
                <a:solidFill>
                  <a:srgbClr val="94A3B8"/>
                </a:solidFill>
              </a:rPr>
              <a:t>IP-ul destinației rămâne neschimbat. MAC-ul se schimbă la fiecare hop.</a:t>
            </a:r>
          </a:p>
        </p:txBody>
      </p:sp>
      <p:sp>
        <p:nvSpPr>
          <p:cNvPr id="10" name="N10"/>
          <p:cNvSpPr/>
          <p:nvPr/>
        </p:nvSpPr>
        <p:spPr>
          <a:xfrm>
            <a:off x="960000" y="1993424"/>
            <a:ext cx="1620000" cy="740000"/>
          </a:xfrm>
          <a:prstGeom prst="roundRect">
            <a:avLst>
              <a:gd name="adj" fmla="val 8000"/>
            </a:avLst>
          </a:prstGeom>
          <a:solidFill>
            <a:srgbClr val="0F2744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NT10"/>
          <p:cNvSpPr/>
          <p:nvPr/>
        </p:nvSpPr>
        <p:spPr>
          <a:xfrm>
            <a:off x="960000" y="1993424"/>
            <a:ext cx="162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300" b="1" dirty="0">
                <a:solidFill>
                  <a:srgbClr val="34D399"/>
                </a:solidFill>
              </a:rPr>
              <a:t>Container</a:t>
            </a:r>
          </a:p>
          <a:p>
            <a:pPr marL="0" indent="0" algn="ctr">
              <a:buNone/>
            </a:pPr>
            <a:r>
              <a:rPr lang="ro-RO" sz="1050" dirty="0">
                <a:solidFill>
                  <a:srgbClr val="94A3B8"/>
                </a:solidFill>
              </a:rPr>
              <a:t>172.18.0.4</a:t>
            </a:r>
          </a:p>
        </p:txBody>
      </p:sp>
      <p:sp>
        <p:nvSpPr>
          <p:cNvPr id="20" name="N20"/>
          <p:cNvSpPr/>
          <p:nvPr/>
        </p:nvSpPr>
        <p:spPr>
          <a:xfrm>
            <a:off x="2780000" y="1993424"/>
            <a:ext cx="1620000" cy="740000"/>
          </a:xfrm>
          <a:prstGeom prst="roundRect">
            <a:avLst>
              <a:gd name="adj" fmla="val 8000"/>
            </a:avLst>
          </a:prstGeom>
          <a:solidFill>
            <a:srgbClr val="0F274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1" name="NT20"/>
          <p:cNvSpPr/>
          <p:nvPr/>
        </p:nvSpPr>
        <p:spPr>
          <a:xfrm>
            <a:off x="2780000" y="1993424"/>
            <a:ext cx="162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300" b="1" dirty="0">
                <a:solidFill>
                  <a:srgbClr val="0EA5E9"/>
                </a:solidFill>
              </a:rPr>
              <a:t>Router / ISP</a:t>
            </a:r>
          </a:p>
          <a:p>
            <a:pPr marL="0" indent="0" algn="ctr">
              <a:buNone/>
            </a:pPr>
            <a:r>
              <a:rPr lang="ro-RO" sz="1050" dirty="0">
                <a:solidFill>
                  <a:srgbClr val="94A3B8"/>
                </a:solidFill>
              </a:rPr>
              <a:t>hop 1</a:t>
            </a:r>
          </a:p>
        </p:txBody>
      </p:sp>
      <p:sp>
        <p:nvSpPr>
          <p:cNvPr id="30" name="N30"/>
          <p:cNvSpPr/>
          <p:nvPr/>
        </p:nvSpPr>
        <p:spPr>
          <a:xfrm>
            <a:off x="4600000" y="1993424"/>
            <a:ext cx="1620000" cy="740000"/>
          </a:xfrm>
          <a:prstGeom prst="roundRect">
            <a:avLst>
              <a:gd name="adj" fmla="val 8000"/>
            </a:avLst>
          </a:prstGeom>
          <a:solidFill>
            <a:srgbClr val="0F274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1" name="NT30"/>
          <p:cNvSpPr/>
          <p:nvPr/>
        </p:nvSpPr>
        <p:spPr>
          <a:xfrm>
            <a:off x="4600000" y="1993424"/>
            <a:ext cx="162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300" b="1" dirty="0">
                <a:solidFill>
                  <a:srgbClr val="0EA5E9"/>
                </a:solidFill>
              </a:rPr>
              <a:t>Router internet</a:t>
            </a:r>
          </a:p>
          <a:p>
            <a:pPr marL="0" indent="0" algn="ctr">
              <a:buNone/>
            </a:pPr>
            <a:r>
              <a:rPr lang="ro-RO" sz="1050" dirty="0">
                <a:solidFill>
                  <a:srgbClr val="94A3B8"/>
                </a:solidFill>
              </a:rPr>
              <a:t>hop N</a:t>
            </a:r>
          </a:p>
        </p:txBody>
      </p:sp>
      <p:sp>
        <p:nvSpPr>
          <p:cNvPr id="40" name="N40"/>
          <p:cNvSpPr/>
          <p:nvPr/>
        </p:nvSpPr>
        <p:spPr>
          <a:xfrm>
            <a:off x="6420000" y="1993424"/>
            <a:ext cx="1620000" cy="740000"/>
          </a:xfrm>
          <a:prstGeom prst="roundRect">
            <a:avLst>
              <a:gd name="adj" fmla="val 8000"/>
            </a:avLst>
          </a:prstGeom>
          <a:solidFill>
            <a:srgbClr val="0F2744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NT40"/>
          <p:cNvSpPr/>
          <p:nvPr/>
        </p:nvSpPr>
        <p:spPr>
          <a:xfrm>
            <a:off x="6420000" y="1993424"/>
            <a:ext cx="162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300" b="1" dirty="0">
                <a:solidFill>
                  <a:srgbClr val="FB923C"/>
                </a:solidFill>
              </a:rPr>
              <a:t>yahoo.com</a:t>
            </a:r>
          </a:p>
          <a:p>
            <a:pPr marL="0" indent="0" algn="ctr">
              <a:buNone/>
            </a:pPr>
            <a:r>
              <a:rPr lang="ro-RO" sz="1050" dirty="0">
                <a:solidFill>
                  <a:srgbClr val="94A3B8"/>
                </a:solidFill>
              </a:rPr>
              <a:t>74.6.143.25</a:t>
            </a:r>
          </a:p>
        </p:txBody>
      </p:sp>
      <p:sp>
        <p:nvSpPr>
          <p:cNvPr id="50" name="Arr50"/>
          <p:cNvSpPr/>
          <p:nvPr/>
        </p:nvSpPr>
        <p:spPr>
          <a:xfrm>
            <a:off x="2590000" y="2263424"/>
            <a:ext cx="43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A5E9">
              <a:alpha val="80000"/>
            </a:srgbClr>
          </a:solidFill>
          <a:ln w="0">
            <a:noFill/>
          </a:ln>
        </p:spPr>
      </p:sp>
      <p:sp>
        <p:nvSpPr>
          <p:cNvPr id="51" name="Arr51"/>
          <p:cNvSpPr/>
          <p:nvPr/>
        </p:nvSpPr>
        <p:spPr>
          <a:xfrm>
            <a:off x="4410000" y="2263424"/>
            <a:ext cx="43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A5E9">
              <a:alpha val="80000"/>
            </a:srgbClr>
          </a:solidFill>
          <a:ln w="0">
            <a:noFill/>
          </a:ln>
        </p:spPr>
      </p:sp>
      <p:sp>
        <p:nvSpPr>
          <p:cNvPr id="52" name="Arr52"/>
          <p:cNvSpPr/>
          <p:nvPr/>
        </p:nvSpPr>
        <p:spPr>
          <a:xfrm>
            <a:off x="6230000" y="2263424"/>
            <a:ext cx="43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A5E9">
              <a:alpha val="80000"/>
            </a:srgbClr>
          </a:solidFill>
          <a:ln w="0">
            <a:noFill/>
          </a:ln>
        </p:spPr>
      </p:sp>
      <p:sp>
        <p:nvSpPr>
          <p:cNvPr id="60" name="IPL60"/>
          <p:cNvSpPr/>
          <p:nvPr/>
        </p:nvSpPr>
        <p:spPr>
          <a:xfrm>
            <a:off x="2590000" y="1653424"/>
            <a:ext cx="43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34D399"/>
                </a:solidFill>
              </a:rPr>
              <a:t>IP dst:</a:t>
            </a:r>
          </a:p>
          <a:p>
            <a:pPr marL="0" indent="0" algn="ctr">
              <a:buNone/>
            </a:pPr>
            <a:r>
              <a:rPr lang="ro-RO" sz="900" dirty="0">
                <a:solidFill>
                  <a:srgbClr val="34D399"/>
                </a:solidFill>
              </a:rPr>
              <a:t>74.6.x.x</a:t>
            </a:r>
          </a:p>
        </p:txBody>
      </p:sp>
      <p:sp>
        <p:nvSpPr>
          <p:cNvPr id="61" name="IPL61"/>
          <p:cNvSpPr/>
          <p:nvPr/>
        </p:nvSpPr>
        <p:spPr>
          <a:xfrm>
            <a:off x="4410000" y="1653424"/>
            <a:ext cx="43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34D399"/>
                </a:solidFill>
              </a:rPr>
              <a:t>IP dst:</a:t>
            </a:r>
          </a:p>
          <a:p>
            <a:pPr marL="0" indent="0" algn="ctr">
              <a:buNone/>
            </a:pPr>
            <a:r>
              <a:rPr lang="ro-RO" sz="900" dirty="0">
                <a:solidFill>
                  <a:srgbClr val="34D399"/>
                </a:solidFill>
              </a:rPr>
              <a:t>74.6.x.x</a:t>
            </a:r>
          </a:p>
        </p:txBody>
      </p:sp>
      <p:sp>
        <p:nvSpPr>
          <p:cNvPr id="62" name="IPL62"/>
          <p:cNvSpPr/>
          <p:nvPr/>
        </p:nvSpPr>
        <p:spPr>
          <a:xfrm>
            <a:off x="6230000" y="1653424"/>
            <a:ext cx="43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34D399"/>
                </a:solidFill>
              </a:rPr>
              <a:t>IP dst:</a:t>
            </a:r>
          </a:p>
          <a:p>
            <a:pPr marL="0" indent="0" algn="ctr">
              <a:buNone/>
            </a:pPr>
            <a:r>
              <a:rPr lang="ro-RO" sz="900" dirty="0">
                <a:solidFill>
                  <a:srgbClr val="34D399"/>
                </a:solidFill>
              </a:rPr>
              <a:t>74.6.x.x</a:t>
            </a:r>
          </a:p>
        </p:txBody>
      </p:sp>
      <p:sp>
        <p:nvSpPr>
          <p:cNvPr id="70" name="ML70"/>
          <p:cNvSpPr/>
          <p:nvPr/>
        </p:nvSpPr>
        <p:spPr>
          <a:xfrm>
            <a:off x="2510000" y="2863424"/>
            <a:ext cx="59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950" dirty="0">
                <a:solidFill>
                  <a:srgbClr val="FB923C"/>
                </a:solidFill>
              </a:rPr>
              <a:t>MAC dst:</a:t>
            </a:r>
          </a:p>
          <a:p>
            <a:pPr marL="0" indent="0" algn="ctr">
              <a:buNone/>
            </a:pPr>
            <a:r>
              <a:rPr lang="ro-RO" sz="950" dirty="0">
                <a:solidFill>
                  <a:srgbClr val="FB923C"/>
                </a:solidFill>
              </a:rPr>
              <a:t>MAC router ISP</a:t>
            </a:r>
          </a:p>
        </p:txBody>
      </p:sp>
      <p:sp>
        <p:nvSpPr>
          <p:cNvPr id="71" name="ML71"/>
          <p:cNvSpPr/>
          <p:nvPr/>
        </p:nvSpPr>
        <p:spPr>
          <a:xfrm>
            <a:off x="4330000" y="2863424"/>
            <a:ext cx="59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950" dirty="0">
                <a:solidFill>
                  <a:srgbClr val="FB923C"/>
                </a:solidFill>
              </a:rPr>
              <a:t>MAC dst:</a:t>
            </a:r>
          </a:p>
          <a:p>
            <a:pPr marL="0" indent="0" algn="ctr">
              <a:buNone/>
            </a:pPr>
            <a:r>
              <a:rPr lang="ro-RO" sz="950" dirty="0">
                <a:solidFill>
                  <a:srgbClr val="FB923C"/>
                </a:solidFill>
              </a:rPr>
              <a:t>MAC router următor</a:t>
            </a:r>
          </a:p>
        </p:txBody>
      </p:sp>
      <p:sp>
        <p:nvSpPr>
          <p:cNvPr id="72" name="ML72"/>
          <p:cNvSpPr/>
          <p:nvPr/>
        </p:nvSpPr>
        <p:spPr>
          <a:xfrm>
            <a:off x="6150000" y="2863424"/>
            <a:ext cx="59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950" dirty="0">
                <a:solidFill>
                  <a:srgbClr val="FB923C"/>
                </a:solidFill>
              </a:rPr>
              <a:t>MAC dst:</a:t>
            </a:r>
          </a:p>
          <a:p>
            <a:pPr marL="0" indent="0" algn="ctr">
              <a:buNone/>
            </a:pPr>
            <a:r>
              <a:rPr lang="ro-RO" sz="950" dirty="0">
                <a:solidFill>
                  <a:srgbClr val="FB923C"/>
                </a:solidFill>
              </a:rPr>
              <a:t>MAC Yahoo NIC</a:t>
            </a:r>
          </a:p>
        </p:txBody>
      </p:sp>
      <p:sp>
        <p:nvSpPr>
          <p:cNvPr id="80" name="LegIP"/>
          <p:cNvSpPr/>
          <p:nvPr/>
        </p:nvSpPr>
        <p:spPr>
          <a:xfrm>
            <a:off x="200000" y="3663424"/>
            <a:ext cx="2700000" cy="40000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1" name="LegIPT"/>
          <p:cNvSpPr/>
          <p:nvPr/>
        </p:nvSpPr>
        <p:spPr>
          <a:xfrm>
            <a:off x="200000" y="3663424"/>
            <a:ext cx="27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050" b="1" dirty="0">
                <a:solidFill>
                  <a:srgbClr val="34D399"/>
                </a:solidFill>
              </a:rPr>
              <a:t>IP (end-to-end): </a:t>
            </a:r>
            <a:r>
              <a:rPr lang="ro-RO" sz="1050" dirty="0">
                <a:solidFill>
                  <a:srgbClr val="CBD5E1"/>
                </a:solidFill>
              </a:rPr>
              <a:t>rămâne neschimbat toată calea</a:t>
            </a:r>
          </a:p>
        </p:txBody>
      </p:sp>
      <p:sp>
        <p:nvSpPr>
          <p:cNvPr id="82" name="LegMAC"/>
          <p:cNvSpPr/>
          <p:nvPr/>
        </p:nvSpPr>
        <p:spPr>
          <a:xfrm>
            <a:off x="3100000" y="3663424"/>
            <a:ext cx="2900000" cy="40000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3" name="LegMACT"/>
          <p:cNvSpPr/>
          <p:nvPr/>
        </p:nvSpPr>
        <p:spPr>
          <a:xfrm>
            <a:off x="3100000" y="3663424"/>
            <a:ext cx="29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050" b="1" dirty="0">
                <a:solidFill>
                  <a:srgbClr val="FB923C"/>
                </a:solidFill>
              </a:rPr>
              <a:t>MAC (hop-to-hop): </a:t>
            </a:r>
            <a:r>
              <a:rPr lang="ro-RO" sz="1050" dirty="0">
                <a:solidFill>
                  <a:srgbClr val="CBD5E1"/>
                </a:solidFill>
              </a:rPr>
              <a:t>se schimbă la fiecare router</a:t>
            </a:r>
          </a:p>
        </p:txBody>
      </p:sp>
      <p:sp>
        <p:nvSpPr>
          <p:cNvPr id="84" name="LegARP"/>
          <p:cNvSpPr/>
          <p:nvPr/>
        </p:nvSpPr>
        <p:spPr>
          <a:xfrm>
            <a:off x="6150000" y="3663424"/>
            <a:ext cx="2778240" cy="400000"/>
          </a:xfrm>
          <a:prstGeom prst="roundRect">
            <a:avLst>
              <a:gd name="adj" fmla="val 5000"/>
            </a:avLst>
          </a:prstGeom>
          <a:solidFill>
            <a:srgbClr val="0F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5" name="LegARPT"/>
          <p:cNvSpPr/>
          <p:nvPr/>
        </p:nvSpPr>
        <p:spPr>
          <a:xfrm>
            <a:off x="6150000" y="3663424"/>
            <a:ext cx="27782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050" b="1" dirty="0">
                <a:solidFill>
                  <a:srgbClr val="0EA5E9"/>
                </a:solidFill>
              </a:rPr>
              <a:t>ARP: </a:t>
            </a:r>
            <a:r>
              <a:rPr lang="ro-RO" sz="1050" dirty="0">
                <a:solidFill>
                  <a:srgbClr val="CBD5E1"/>
                </a:solidFill>
              </a:rPr>
              <a:t>rezolvă MAC-ul fiecărui hop</a:t>
            </a:r>
          </a:p>
        </p:txBody>
      </p:sp>
      <p:sp>
        <p:nvSpPr>
          <p:cNvPr id="90" name="Footer"/>
          <p:cNvSpPr/>
          <p:nvPr/>
        </p:nvSpPr>
        <p:spPr>
          <a:xfrm>
            <a:off x="1020965" y="4468816"/>
            <a:ext cx="7102069" cy="31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600" i="1" dirty="0">
                <a:solidFill>
                  <a:schemeClr val="accent2"/>
                </a:solidFill>
              </a:rPr>
              <a:t>public IP → router (NAT) → private IP → ARP → MAC → dispozitiv — macro la micro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PING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&amp; ICMP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trimite pachete ICMP Echo Request și așteaptă ICMP Echo Reply — verifică dacă un host este accesibil și măsoară latența.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14800" cy="3154680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Opțiuni importante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 10   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Trimite exact 10 pachete, apoi se oprește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 1000 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Schimbă dimensiunea payload-ului la 1000 bytes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      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Înregistrează ruta — arată calea parcursă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381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      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Flood ping (necesită root) — cât mai rapid posibil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77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-b      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Permite ping către o adresă de broadcast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 do   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Fără fragmentare — util pentru testarea MTU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023360" cy="960120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64008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funcționează ping 127.0.2.12?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6048" y="20574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Întregul subnet 127.0.0.0/8 este loopback. Orice adresă 127.x.x.x este rutată înapoi la aceeași mașină.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023360" cy="960120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43200"/>
            <a:ext cx="64008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807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ICMP?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31089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Control Message Protocol — protocol la nivelul rețea pentru diagnosticare, nu pentru date. Folosit de ping, traceroute etc.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794760"/>
            <a:ext cx="4023360" cy="960120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794760"/>
            <a:ext cx="64008" cy="9601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Ping-ul s-a oprit — ce s-a întâmplat?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41605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mai probabil containerul țintă a fost oprit. ping afișează 'Request timeout' sau 'Destination unreachable'.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TCPDUMP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— Monitorizarea pachetelor de rețea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Captează și afișează pachetele care trec printr-o interfață de rețea în timp real. Necesită rulare ca root.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7007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Afișează IP-urile numeric (fără rezoluție DNS)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3032" y="1664208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0192" y="17007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/ -vv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54632" y="17007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Crește nivelul de detaliu al output-ului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231136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2677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267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Afișează numerele de secvență TCP absolute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83032" y="2231136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0192" y="22677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54632" y="2267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Afișează conținutul pachetului în HEX și ASCII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798064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8346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28346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Afișează header-ul Ethernet (adresele MAC)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83032" y="2798064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0192" y="28346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 eth0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54632" y="28346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Ascultă pe o interfață specifică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364992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4015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 20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34015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Captează doar 20 de pachete, apoi se oprește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83032" y="3364992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20192" y="34015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 file.pcap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54632" y="34015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Salvează pachetele capturate într-un fișier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931920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9684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 file.pcap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37360" y="39684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Citește și afișează pachete dintr-un fișier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83032" y="3931920"/>
            <a:ext cx="4206240" cy="475488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20192" y="39684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X.X.X.X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54632" y="39684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Filtru: arată doar pachetele de la/spre acest host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544568"/>
            <a:ext cx="8412480" cy="365760"/>
          </a:xfrm>
          <a:prstGeom prst="rect">
            <a:avLst/>
          </a:prstGeom>
          <a:solidFill>
            <a:srgbClr val="0D2137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544568"/>
            <a:ext cx="64008" cy="3657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STACK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 TCP/IP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893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2893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HTTP, HTTPS, DNS...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893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folosesc utilizatorii direct — aplicațiile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112840"/>
          </a:solidFill>
          <a:ln w="6350">
            <a:solidFill>
              <a:srgbClr val="38BDF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64008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751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1975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/ UDP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9751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Livrare fiabilă (TCP) sau rapidă/negarantată (UDP) între aplicații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8412480" cy="594360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06040"/>
            <a:ext cx="6400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6609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IP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26609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+ ICMP + ARP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26609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Rutarea pachetelor între rețele folosind adrese IP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8412480" cy="594360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91840"/>
            <a:ext cx="64008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467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33467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Ethernet (ENET)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3467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Adresare MAC, livrare locală într-un singur segment de rețea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8412480" cy="594360"/>
          </a:xfrm>
          <a:prstGeom prst="rect">
            <a:avLst/>
          </a:prstGeom>
          <a:solidFill>
            <a:srgbClr val="112840"/>
          </a:solidFill>
          <a:ln w="63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977640"/>
            <a:ext cx="64008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0325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51760" y="40325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Cablu / WiFi / NIC virtual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40325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Biții efectivi pe fir (sau pe firul virtual în Docker)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operează la nivelul IP   ·   tcpdump cu -e arată nivelul Ethernet (MAC) de sub IP   ·   HTTP se află la nivelul Application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REZUMAT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 rapide — Cheat Sheet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64008" cy="6217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98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ether?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Adresă MAC — identificator hardware pentru rețeaua locală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61872"/>
            <a:ext cx="64008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1768" y="1298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inet?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1768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Adresă IPv4 — adresă logică pentru rutare între rețele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9339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93392"/>
            <a:ext cx="6400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029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netmask?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2313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Împarte IP-ul în partea de rețea și partea de host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99339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0EA5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993392"/>
            <a:ext cx="6400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029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înseamnă /16?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01768" y="2313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255.255.0.0 — 16 biți de 1 în mască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2491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38BDF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724912"/>
            <a:ext cx="64008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MTU?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044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Dimensiunea maximă a pachetului în bytes (Ethernet = 1500)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72491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724912"/>
            <a:ext cx="64008" cy="6217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lo?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01768" y="3044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— tot traficul 127.x.x.x ajunge aici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5643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456432"/>
            <a:ext cx="64008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493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ICMP?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Protocolul folosit de ping — diagnosticare rețea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45643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38BDF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456432"/>
            <a:ext cx="64008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3493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ARP?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01768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Rezolvă IP → adresă MAC în rețeaua locală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18795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187952"/>
            <a:ext cx="64008" cy="6217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default route?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pentru tot traficul care nu se potrivește cu o regulă locală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4187952"/>
            <a:ext cx="4206240" cy="621792"/>
          </a:xfrm>
          <a:prstGeom prst="rect">
            <a:avLst/>
          </a:prstGeom>
          <a:solidFill>
            <a:srgbClr val="112840"/>
          </a:solidFill>
          <a:ln w="63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4187952"/>
            <a:ext cx="64008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01768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arată ip link show?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01768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Starea interfețelor, flag-urile și adresele MAC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4352</TotalTime>
  <Words>2005</Words>
  <Application>Microsoft Office PowerPoint</Application>
  <PresentationFormat>On-screen Show (16:9)</PresentationFormat>
  <Paragraphs>317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Fundamentals</dc:title>
  <dc:subject>PptxGenJS Presentation</dc:subject>
  <dc:creator>PptxGenJS</dc:creator>
  <cp:lastModifiedBy>Andrei Ionete</cp:lastModifiedBy>
  <cp:revision>6</cp:revision>
  <dcterms:created xsi:type="dcterms:W3CDTF">2026-03-01T19:58:07Z</dcterms:created>
  <dcterms:modified xsi:type="dcterms:W3CDTF">2026-03-06T14:03:18Z</dcterms:modified>
</cp:coreProperties>
</file>