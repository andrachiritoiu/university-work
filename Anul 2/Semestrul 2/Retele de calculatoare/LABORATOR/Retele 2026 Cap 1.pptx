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x="18288000" cy="10287000"/>
  <p:notesSz cx="6858000" cy="9144000"/>
  <p:embeddedFontLst>
    <p:embeddedFont>
      <p:font typeface="Archivo Black" panose="020B0604020202020204" charset="0"/>
      <p:regular r:id="rId22"/>
    </p:embeddedFont>
    <p:embeddedFont>
      <p:font typeface="Arimo" panose="020B0604020202020204" charset="0"/>
      <p:regular r:id="rId23"/>
    </p:embeddedFont>
    <p:embeddedFont>
      <p:font typeface="JetBrains Mono" panose="020B0604020202020204" charset="0"/>
      <p:regular r:id="rId24"/>
    </p:embeddedFont>
    <p:embeddedFont>
      <p:font typeface="JetBrains Mono Bold" panose="020B0604020202020204" charset="0"/>
      <p:regular r:id="rId25"/>
    </p:embeddedFont>
    <p:embeddedFont>
      <p:font typeface="JetBrains Mono Medium" panose="020B0604020202020204" charset="0"/>
      <p:regular r:id="rId26"/>
    </p:embeddedFont>
    <p:embeddedFont>
      <p:font typeface="Mina" panose="020B0604020202020204" charset="0"/>
      <p:regular r:id="rId27"/>
    </p:embeddedFont>
    <p:embeddedFont>
      <p:font typeface="Mina Bold" panose="020B0604020202020204" charset="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7EF7F2-E72E-28E6-A40F-A5D216051C2A}" v="2" dt="2026-03-16T13:25:00.6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5.fntdata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4.fntdata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3.fntdata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forums.docker.com/t/traceroute-in-linux-containers/143526/3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medium.com/@tom_84912/unraveling-the-endianness-mess-86b7b0ef56a6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github.com/senisioi/computer-networks/tree/2026/capitolul1#tipuri-de-formatare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576684">
            <a:off x="8494843" y="-5393601"/>
            <a:ext cx="20048738" cy="11956338"/>
          </a:xfrm>
          <a:custGeom>
            <a:avLst/>
            <a:gdLst/>
            <a:ahLst/>
            <a:cxnLst/>
            <a:rect l="l" t="t" r="r" b="b"/>
            <a:pathLst>
              <a:path w="20048738" h="11956338">
                <a:moveTo>
                  <a:pt x="0" y="0"/>
                </a:moveTo>
                <a:lnTo>
                  <a:pt x="20048738" y="0"/>
                </a:lnTo>
                <a:lnTo>
                  <a:pt x="20048738" y="11956338"/>
                </a:lnTo>
                <a:lnTo>
                  <a:pt x="0" y="119563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2576684">
            <a:off x="-8708441" y="2329635"/>
            <a:ext cx="20048738" cy="11956338"/>
          </a:xfrm>
          <a:custGeom>
            <a:avLst/>
            <a:gdLst/>
            <a:ahLst/>
            <a:cxnLst/>
            <a:rect l="l" t="t" r="r" b="b"/>
            <a:pathLst>
              <a:path w="20048738" h="11956338">
                <a:moveTo>
                  <a:pt x="0" y="0"/>
                </a:moveTo>
                <a:lnTo>
                  <a:pt x="20048738" y="0"/>
                </a:lnTo>
                <a:lnTo>
                  <a:pt x="20048738" y="11956338"/>
                </a:lnTo>
                <a:lnTo>
                  <a:pt x="0" y="119563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654292" y="2476063"/>
            <a:ext cx="14979416" cy="297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699"/>
              </a:lnSpc>
            </a:pPr>
            <a:r>
              <a:rPr lang="en-US" sz="9999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LABORATOR REȚELE</a:t>
            </a:r>
          </a:p>
          <a:p>
            <a:pPr marL="0" lvl="0" indent="0" algn="ctr">
              <a:lnSpc>
                <a:spcPts val="11699"/>
              </a:lnSpc>
            </a:pPr>
            <a:endParaRPr lang="en-US" sz="9999">
              <a:solidFill>
                <a:srgbClr val="FFFFFF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2869148" y="5076825"/>
            <a:ext cx="13312134" cy="2657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Capitolul 1 - Programming Basics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endParaRPr lang="en-US" sz="3000">
              <a:solidFill>
                <a:srgbClr val="FFFFFF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Docker, Modelul OSI + TCP/IP, Adrese IP, netcat, traceroute, Manipularea Datelor (Endianness), Python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endParaRPr lang="en-US" sz="3000">
              <a:solidFill>
                <a:srgbClr val="FFFFFF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8112212" y="9201150"/>
            <a:ext cx="2063576" cy="43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Martie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028700"/>
            <a:ext cx="11886117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850"/>
              </a:lnSpc>
            </a:pPr>
            <a:r>
              <a:rPr lang="en-US" sz="500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Recap: Adrese IP și Subnetting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710588" y="2310266"/>
            <a:ext cx="15224251" cy="485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2"/>
              </a:lnSpc>
            </a:pPr>
            <a:r>
              <a:rPr lang="en-US" sz="2499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adresă IPv4 - stocată în calculator ca 32 de biți (noi o scriem în format zecimal punctat pentru lizibilitate)</a:t>
            </a:r>
          </a:p>
        </p:txBody>
      </p:sp>
      <p:sp>
        <p:nvSpPr>
          <p:cNvPr id="4" name="Freeform 4"/>
          <p:cNvSpPr/>
          <p:nvPr/>
        </p:nvSpPr>
        <p:spPr>
          <a:xfrm rot="-4545891">
            <a:off x="8112893" y="3470519"/>
            <a:ext cx="20079544" cy="12134401"/>
          </a:xfrm>
          <a:custGeom>
            <a:avLst/>
            <a:gdLst/>
            <a:ahLst/>
            <a:cxnLst/>
            <a:rect l="l" t="t" r="r" b="b"/>
            <a:pathLst>
              <a:path w="20079544" h="12134401">
                <a:moveTo>
                  <a:pt x="0" y="0"/>
                </a:moveTo>
                <a:lnTo>
                  <a:pt x="20079544" y="0"/>
                </a:lnTo>
                <a:lnTo>
                  <a:pt x="20079544" y="12134401"/>
                </a:lnTo>
                <a:lnTo>
                  <a:pt x="0" y="121344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5" name="Group 5"/>
          <p:cNvGrpSpPr/>
          <p:nvPr/>
        </p:nvGrpSpPr>
        <p:grpSpPr>
          <a:xfrm>
            <a:off x="1028700" y="2415041"/>
            <a:ext cx="304740" cy="304740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DDD3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36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5288421" y="3376748"/>
            <a:ext cx="7711157" cy="789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 b="1">
                <a:solidFill>
                  <a:srgbClr val="FFFFFF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Adresa:  192    .  168   .   5    .   1</a:t>
            </a:r>
          </a:p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 b="1">
                <a:solidFill>
                  <a:srgbClr val="FFFFFF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Binar:   11000000.10101000.00000101.00000001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10588" y="4915920"/>
            <a:ext cx="15224251" cy="999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2"/>
              </a:lnSpc>
            </a:pPr>
            <a:r>
              <a:rPr lang="en-US" sz="2499" b="1">
                <a:solidFill>
                  <a:srgbClr val="FFFFFF"/>
                </a:solidFill>
                <a:latin typeface="Mina Bold"/>
                <a:ea typeface="Mina Bold"/>
                <a:cs typeface="Mina Bold"/>
                <a:sym typeface="Mina Bold"/>
              </a:rPr>
              <a:t>Cum convertim manual un octet?</a:t>
            </a:r>
          </a:p>
          <a:p>
            <a:pPr marL="539749" lvl="1" indent="-269875" algn="l">
              <a:lnSpc>
                <a:spcPts val="4052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 Fiecare octet are 8 biți, cu valorile poziționale: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028700" y="5020695"/>
            <a:ext cx="304740" cy="304740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DDD3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36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224003" y="6496753"/>
            <a:ext cx="13495511" cy="789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 b="1">
                <a:solidFill>
                  <a:srgbClr val="FFFFFF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Poziție:  128  64  32  16   8   4   2   1</a:t>
            </a:r>
          </a:p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 b="1">
                <a:solidFill>
                  <a:srgbClr val="FFFFFF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                      Bit:    1   1   0   0   0   0   0   0  = 128 + 64 = 192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331643" y="7867083"/>
            <a:ext cx="6134026" cy="1589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 b="1">
                <a:solidFill>
                  <a:srgbClr val="FFFFFF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192 = 128 + 64           → 11000000</a:t>
            </a:r>
          </a:p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 b="1">
                <a:solidFill>
                  <a:srgbClr val="FFFFFF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168 = 128 + 32 + 8       → 10101000</a:t>
            </a:r>
          </a:p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 b="1">
                <a:solidFill>
                  <a:srgbClr val="FFFFFF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5   = 4 + 1              → 00000101</a:t>
            </a:r>
          </a:p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 b="1">
                <a:solidFill>
                  <a:srgbClr val="FFFFFF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1   = 1                  → 00000001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028700"/>
            <a:ext cx="11886117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850"/>
              </a:lnSpc>
            </a:pPr>
            <a:r>
              <a:rPr lang="en-US" sz="500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Recap: Adrese IP și Subnetting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710588" y="2310266"/>
            <a:ext cx="15224251" cy="20285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2"/>
              </a:lnSpc>
            </a:pPr>
            <a:r>
              <a:rPr lang="en-US" sz="2499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Orice adresă IP dintr-o rețea are două componente:</a:t>
            </a:r>
          </a:p>
          <a:p>
            <a:pPr marL="539749" lvl="1" indent="-269875" algn="l">
              <a:lnSpc>
                <a:spcPts val="4052"/>
              </a:lnSpc>
              <a:buFont typeface="Arial"/>
              <a:buChar char="•"/>
            </a:pPr>
            <a:r>
              <a:rPr lang="en-US" sz="2499" b="1">
                <a:solidFill>
                  <a:srgbClr val="FFFFFF"/>
                </a:solidFill>
                <a:latin typeface="Mina Bold"/>
                <a:ea typeface="Mina Bold"/>
                <a:cs typeface="Mina Bold"/>
                <a:sym typeface="Mina Bold"/>
              </a:rPr>
              <a:t>Prefixul de rețea</a:t>
            </a:r>
            <a:r>
              <a:rPr lang="en-US" sz="2499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 (fix) = identifică rețeaua</a:t>
            </a:r>
          </a:p>
          <a:p>
            <a:pPr marL="539749" lvl="1" indent="-269875" algn="l">
              <a:lnSpc>
                <a:spcPts val="4052"/>
              </a:lnSpc>
              <a:buFont typeface="Arial"/>
              <a:buChar char="•"/>
            </a:pPr>
            <a:r>
              <a:rPr lang="en-US" sz="2499" b="1">
                <a:solidFill>
                  <a:srgbClr val="FFFFFF"/>
                </a:solidFill>
                <a:latin typeface="Mina Bold"/>
                <a:ea typeface="Mina Bold"/>
                <a:cs typeface="Mina Bold"/>
                <a:sym typeface="Mina Bold"/>
              </a:rPr>
              <a:t>Sufixul de host</a:t>
            </a:r>
            <a:r>
              <a:rPr lang="en-US" sz="2499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 (variabil) = identifică dispozitivul în rețea</a:t>
            </a:r>
          </a:p>
          <a:p>
            <a:pPr algn="l">
              <a:lnSpc>
                <a:spcPts val="4052"/>
              </a:lnSpc>
            </a:pPr>
            <a:endParaRPr lang="en-US" sz="2499">
              <a:solidFill>
                <a:srgbClr val="FFFFFF"/>
              </a:solidFill>
              <a:latin typeface="Mina"/>
              <a:ea typeface="Mina"/>
              <a:cs typeface="Mina"/>
              <a:sym typeface="Mina"/>
            </a:endParaRPr>
          </a:p>
        </p:txBody>
      </p:sp>
      <p:sp>
        <p:nvSpPr>
          <p:cNvPr id="4" name="Freeform 4"/>
          <p:cNvSpPr/>
          <p:nvPr/>
        </p:nvSpPr>
        <p:spPr>
          <a:xfrm rot="-7839357">
            <a:off x="10248088" y="-711985"/>
            <a:ext cx="20079544" cy="12134401"/>
          </a:xfrm>
          <a:custGeom>
            <a:avLst/>
            <a:gdLst/>
            <a:ahLst/>
            <a:cxnLst/>
            <a:rect l="l" t="t" r="r" b="b"/>
            <a:pathLst>
              <a:path w="20079544" h="12134401">
                <a:moveTo>
                  <a:pt x="0" y="0"/>
                </a:moveTo>
                <a:lnTo>
                  <a:pt x="20079544" y="0"/>
                </a:lnTo>
                <a:lnTo>
                  <a:pt x="20079544" y="12134401"/>
                </a:lnTo>
                <a:lnTo>
                  <a:pt x="0" y="121344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5" name="Group 5"/>
          <p:cNvGrpSpPr/>
          <p:nvPr/>
        </p:nvGrpSpPr>
        <p:grpSpPr>
          <a:xfrm>
            <a:off x="1028700" y="2415041"/>
            <a:ext cx="304740" cy="304740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DDD3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36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710588" y="4374934"/>
            <a:ext cx="15224251" cy="485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2"/>
              </a:lnSpc>
            </a:pPr>
            <a:r>
              <a:rPr lang="en-US" sz="2499" b="1">
                <a:solidFill>
                  <a:srgbClr val="FFFFFF"/>
                </a:solidFill>
                <a:latin typeface="Mina Bold"/>
                <a:ea typeface="Mina Bold"/>
                <a:cs typeface="Mina Bold"/>
                <a:sym typeface="Mina Bold"/>
              </a:rPr>
              <a:t>Masca de rețea (netmask) </a:t>
            </a:r>
            <a:r>
              <a:rPr lang="en-US" sz="2499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specifică câți biți din stânga sunt prefixul de rețea (/x)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028700" y="4479709"/>
            <a:ext cx="304740" cy="304740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DDD3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36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447000" y="5761355"/>
            <a:ext cx="11556282" cy="3496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b="1">
                <a:solidFill>
                  <a:srgbClr val="FFFFFF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Adresa IP:    192.168.5.1   = 11000000.10101000.00000101.00000001</a:t>
            </a:r>
          </a:p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b="1">
                <a:solidFill>
                  <a:srgbClr val="FFFFFF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Masca /24:    255.255.255.0 = 11111111.11111111.11111111.00000000</a:t>
            </a:r>
          </a:p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b="1">
                <a:solidFill>
                  <a:srgbClr val="FFFFFF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                              ←-----rețea (24 biți)------→←-host-→</a:t>
            </a:r>
          </a:p>
          <a:p>
            <a:pPr algn="ctr">
              <a:lnSpc>
                <a:spcPts val="3079"/>
              </a:lnSpc>
              <a:spcBef>
                <a:spcPct val="0"/>
              </a:spcBef>
            </a:pPr>
            <a:endParaRPr lang="en-US" sz="2199" b="1">
              <a:solidFill>
                <a:srgbClr val="FFFFFF"/>
              </a:solidFill>
              <a:latin typeface="JetBrains Mono Medium"/>
              <a:ea typeface="JetBrains Mono Medium"/>
              <a:cs typeface="JetBrains Mono Medium"/>
              <a:sym typeface="JetBrains Mono Medium"/>
            </a:endParaRPr>
          </a:p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b="1">
                <a:solidFill>
                  <a:srgbClr val="FFFFFF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Adresa rețelei:  192.168.5.0   (toți biții de host = 0)</a:t>
            </a:r>
          </a:p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b="1">
                <a:solidFill>
                  <a:srgbClr val="FFFFFF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Prima adresă:    192.168.5.1   (primul host utilizabil)</a:t>
            </a:r>
          </a:p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b="1">
                <a:solidFill>
                  <a:srgbClr val="FFFFFF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Ultima adresă:   192.168.5.254 (ultimul host utilizabil)</a:t>
            </a:r>
          </a:p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b="1">
                <a:solidFill>
                  <a:srgbClr val="FFFFFF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Broadcast:       192.168.5.255 (toți biții de host = 1)</a:t>
            </a:r>
          </a:p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b="1">
                <a:solidFill>
                  <a:srgbClr val="FFFFFF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Hosturi utile:   254           (2^8 - 2 = 254)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47361" y="5060099"/>
            <a:ext cx="15224251" cy="485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2"/>
              </a:lnSpc>
            </a:pPr>
            <a:r>
              <a:rPr lang="en-US" sz="2499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Exemplu pt. 192.168.5.0/24 :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297431" y="7861300"/>
            <a:ext cx="6475664" cy="1397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2EDDD3"/>
                </a:solidFill>
                <a:latin typeface="Mina Bold"/>
                <a:ea typeface="Mina Bold"/>
                <a:cs typeface="Mina Bold"/>
                <a:sym typeface="Mina Bold"/>
              </a:rPr>
              <a:t>Hosturi utile = 2^(32 - prefix) - 2</a:t>
            </a:r>
          </a:p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2EDDD3"/>
                </a:solidFill>
                <a:latin typeface="Mina Bold"/>
                <a:ea typeface="Mina Bold"/>
                <a:cs typeface="Mina Bold"/>
                <a:sym typeface="Mina Bold"/>
              </a:rPr>
              <a:t>-2 deoarece:</a:t>
            </a:r>
          </a:p>
          <a:p>
            <a:pPr marL="431801" lvl="1" indent="-215900" algn="l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b="1">
                <a:solidFill>
                  <a:srgbClr val="2EDDD3"/>
                </a:solidFill>
                <a:latin typeface="Mina Bold"/>
                <a:ea typeface="Mina Bold"/>
                <a:cs typeface="Mina Bold"/>
                <a:sym typeface="Mina Bold"/>
              </a:rPr>
              <a:t>adresa rețelei (x.x.x.0) nu poate fi asignată</a:t>
            </a:r>
          </a:p>
          <a:p>
            <a:pPr marL="431801" lvl="1" indent="-215900" algn="l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b="1">
                <a:solidFill>
                  <a:srgbClr val="2EDDD3"/>
                </a:solidFill>
                <a:latin typeface="Mina Bold"/>
                <a:ea typeface="Mina Bold"/>
                <a:cs typeface="Mina Bold"/>
                <a:sym typeface="Mina Bold"/>
              </a:rPr>
              <a:t>adresa broadcast (x.x.x.255) nu poate fi asignată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028700"/>
            <a:ext cx="11886117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850"/>
              </a:lnSpc>
            </a:pPr>
            <a:r>
              <a:rPr lang="en-US" sz="500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Recap: Adrese IP și Subnetting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710588" y="3876434"/>
            <a:ext cx="15224251" cy="3057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2"/>
              </a:lnSpc>
            </a:pPr>
            <a:r>
              <a:rPr lang="en-US" sz="2499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Care este intervalul de IP-uri al adresei de retea 64.183.234.9/15?</a:t>
            </a:r>
          </a:p>
          <a:p>
            <a:pPr algn="l">
              <a:lnSpc>
                <a:spcPts val="4052"/>
              </a:lnSpc>
            </a:pPr>
            <a:endParaRPr lang="en-US" sz="2499">
              <a:solidFill>
                <a:srgbClr val="FFFFFF"/>
              </a:solidFill>
              <a:latin typeface="Mina"/>
              <a:ea typeface="Mina"/>
              <a:cs typeface="Mina"/>
              <a:sym typeface="Mina"/>
            </a:endParaRPr>
          </a:p>
          <a:p>
            <a:pPr algn="l">
              <a:lnSpc>
                <a:spcPts val="4052"/>
              </a:lnSpc>
            </a:pPr>
            <a:r>
              <a:rPr lang="en-US" sz="2499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Cate IP-uri pot fi atribuite in reteaua 192.168.0.0/16?</a:t>
            </a:r>
          </a:p>
          <a:p>
            <a:pPr algn="l">
              <a:lnSpc>
                <a:spcPts val="4052"/>
              </a:lnSpc>
            </a:pPr>
            <a:endParaRPr lang="en-US" sz="2499">
              <a:solidFill>
                <a:srgbClr val="FFFFFF"/>
              </a:solidFill>
              <a:latin typeface="Mina"/>
              <a:ea typeface="Mina"/>
              <a:cs typeface="Mina"/>
              <a:sym typeface="Mina"/>
            </a:endParaRPr>
          </a:p>
          <a:p>
            <a:pPr algn="l">
              <a:lnSpc>
                <a:spcPts val="4052"/>
              </a:lnSpc>
            </a:pPr>
            <a:r>
              <a:rPr lang="en-US" sz="2499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Care este ultimul IP din reteaua 164.88.24.37/29?</a:t>
            </a:r>
          </a:p>
          <a:p>
            <a:pPr algn="l">
              <a:lnSpc>
                <a:spcPts val="4052"/>
              </a:lnSpc>
            </a:pPr>
            <a:endParaRPr lang="en-US" sz="2499">
              <a:solidFill>
                <a:srgbClr val="FFFFFF"/>
              </a:solidFill>
              <a:latin typeface="Mina"/>
              <a:ea typeface="Mina"/>
              <a:cs typeface="Mina"/>
              <a:sym typeface="Mina"/>
            </a:endParaRPr>
          </a:p>
        </p:txBody>
      </p:sp>
      <p:sp>
        <p:nvSpPr>
          <p:cNvPr id="4" name="Freeform 4"/>
          <p:cNvSpPr/>
          <p:nvPr/>
        </p:nvSpPr>
        <p:spPr>
          <a:xfrm rot="-7230508">
            <a:off x="7256057" y="3790712"/>
            <a:ext cx="20079544" cy="12134401"/>
          </a:xfrm>
          <a:custGeom>
            <a:avLst/>
            <a:gdLst/>
            <a:ahLst/>
            <a:cxnLst/>
            <a:rect l="l" t="t" r="r" b="b"/>
            <a:pathLst>
              <a:path w="20079544" h="12134401">
                <a:moveTo>
                  <a:pt x="0" y="0"/>
                </a:moveTo>
                <a:lnTo>
                  <a:pt x="20079544" y="0"/>
                </a:lnTo>
                <a:lnTo>
                  <a:pt x="20079544" y="12134401"/>
                </a:lnTo>
                <a:lnTo>
                  <a:pt x="0" y="121344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5" name="Group 5"/>
          <p:cNvGrpSpPr/>
          <p:nvPr/>
        </p:nvGrpSpPr>
        <p:grpSpPr>
          <a:xfrm>
            <a:off x="1028700" y="3981209"/>
            <a:ext cx="304740" cy="304740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DDD3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36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28700" y="6045878"/>
            <a:ext cx="304740" cy="304740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DDD3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36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28700" y="5013543"/>
            <a:ext cx="304740" cy="304740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DDD3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36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028700" y="2661165"/>
            <a:ext cx="11886117" cy="449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09"/>
              </a:lnSpc>
            </a:pPr>
            <a:r>
              <a:rPr lang="en-US" sz="300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Exerciții!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028700"/>
            <a:ext cx="11886117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850"/>
              </a:lnSpc>
            </a:pPr>
            <a:r>
              <a:rPr lang="en-US" sz="500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Recap: Adrese IP și Subnetting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710588" y="2721977"/>
            <a:ext cx="15224251" cy="485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2"/>
              </a:lnSpc>
            </a:pPr>
            <a:r>
              <a:rPr lang="en-US" sz="2499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Care este intervalul de IP-uri al adresei de retea 64.183.234.9/15?</a:t>
            </a:r>
          </a:p>
        </p:txBody>
      </p:sp>
      <p:sp>
        <p:nvSpPr>
          <p:cNvPr id="4" name="Freeform 4"/>
          <p:cNvSpPr/>
          <p:nvPr/>
        </p:nvSpPr>
        <p:spPr>
          <a:xfrm rot="-7230508">
            <a:off x="7256057" y="3790712"/>
            <a:ext cx="20079544" cy="12134401"/>
          </a:xfrm>
          <a:custGeom>
            <a:avLst/>
            <a:gdLst/>
            <a:ahLst/>
            <a:cxnLst/>
            <a:rect l="l" t="t" r="r" b="b"/>
            <a:pathLst>
              <a:path w="20079544" h="12134401">
                <a:moveTo>
                  <a:pt x="0" y="0"/>
                </a:moveTo>
                <a:lnTo>
                  <a:pt x="20079544" y="0"/>
                </a:lnTo>
                <a:lnTo>
                  <a:pt x="20079544" y="12134401"/>
                </a:lnTo>
                <a:lnTo>
                  <a:pt x="0" y="121344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5" name="Group 5"/>
          <p:cNvGrpSpPr/>
          <p:nvPr/>
        </p:nvGrpSpPr>
        <p:grpSpPr>
          <a:xfrm>
            <a:off x="1028700" y="2826752"/>
            <a:ext cx="304740" cy="304740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DDD3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36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28700" y="2081897"/>
            <a:ext cx="11886117" cy="449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09"/>
              </a:lnSpc>
            </a:pPr>
            <a:r>
              <a:rPr lang="en-US" sz="300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Soluții!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3455084"/>
            <a:ext cx="16703864" cy="611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/15 înseamnă că primii 15 biți sunt fixați.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64.183.234.9 în binar: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  64 = 01000000  183 = 10110111  234 = 11101010  9 = 00001001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endParaRPr lang="en-US" sz="2499">
              <a:solidFill>
                <a:srgbClr val="FFFFFF"/>
              </a:solidFill>
              <a:latin typeface="Mina"/>
              <a:ea typeface="Mina"/>
              <a:cs typeface="Mina"/>
              <a:sym typeface="Mina"/>
            </a:endParaRP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/15 → primii 15 biți sunt rețeaua: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  01000000.1011011[1] → bitul 16 (ultimul din octetul 2) face parte din host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  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Masca /15 = 11111111.11111110.00000000.00000000 = 255.254.0.0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endParaRPr lang="en-US" sz="2499">
              <a:solidFill>
                <a:srgbClr val="FFFFFF"/>
              </a:solidFill>
              <a:latin typeface="Mina"/>
              <a:ea typeface="Mina"/>
              <a:cs typeface="Mina"/>
              <a:sym typeface="Mina"/>
            </a:endParaRP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Adresa rețelei: 64.182.0.0  (resetăm biții de host la 0)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  Octet 2: 183 = 10110111, masca octet 2: 11111110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  183 AND 254 = 10110110 = 182 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endParaRPr lang="en-US" sz="2499">
              <a:solidFill>
                <a:srgbClr val="FFFFFF"/>
              </a:solidFill>
              <a:latin typeface="Mina"/>
              <a:ea typeface="Mina"/>
              <a:cs typeface="Mina"/>
              <a:sym typeface="Mina"/>
            </a:endParaRP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Intervalul: 64.182.0.0 → 64.183.255.255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028700"/>
            <a:ext cx="11886117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850"/>
              </a:lnSpc>
            </a:pPr>
            <a:r>
              <a:rPr lang="en-US" sz="500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Recap: Adrese IP și Subnetting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710588" y="2721977"/>
            <a:ext cx="15224251" cy="485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2"/>
              </a:lnSpc>
            </a:pPr>
            <a:r>
              <a:rPr lang="en-US" sz="2499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Cate IP-uri pot fi atribuite in reteaua 192.168.0.0/16?</a:t>
            </a:r>
          </a:p>
        </p:txBody>
      </p:sp>
      <p:sp>
        <p:nvSpPr>
          <p:cNvPr id="4" name="Freeform 4"/>
          <p:cNvSpPr/>
          <p:nvPr/>
        </p:nvSpPr>
        <p:spPr>
          <a:xfrm rot="-7230508">
            <a:off x="8118808" y="3650264"/>
            <a:ext cx="20079544" cy="12134401"/>
          </a:xfrm>
          <a:custGeom>
            <a:avLst/>
            <a:gdLst/>
            <a:ahLst/>
            <a:cxnLst/>
            <a:rect l="l" t="t" r="r" b="b"/>
            <a:pathLst>
              <a:path w="20079544" h="12134401">
                <a:moveTo>
                  <a:pt x="0" y="0"/>
                </a:moveTo>
                <a:lnTo>
                  <a:pt x="20079544" y="0"/>
                </a:lnTo>
                <a:lnTo>
                  <a:pt x="20079544" y="12134401"/>
                </a:lnTo>
                <a:lnTo>
                  <a:pt x="0" y="121344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5" name="Group 5"/>
          <p:cNvGrpSpPr/>
          <p:nvPr/>
        </p:nvGrpSpPr>
        <p:grpSpPr>
          <a:xfrm>
            <a:off x="1028700" y="2826752"/>
            <a:ext cx="304740" cy="304740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DDD3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36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28700" y="2081897"/>
            <a:ext cx="11886117" cy="449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09"/>
              </a:lnSpc>
            </a:pPr>
            <a:r>
              <a:rPr lang="en-US" sz="300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Soluții!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455570" y="2785159"/>
            <a:ext cx="16703864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= 2^(32-16) - 2 = 2^16 - 2 = 65536 - 2 = 65534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10588" y="3635876"/>
            <a:ext cx="15224251" cy="485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2"/>
              </a:lnSpc>
            </a:pPr>
            <a:r>
              <a:rPr lang="en-US" sz="2499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Care este ultimul IP din reteaua 164.88.24.37/29?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028700" y="3778622"/>
            <a:ext cx="304740" cy="304740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DDD3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36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181070" y="4368983"/>
            <a:ext cx="12862192" cy="5434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/29 → primii 29 biți = rețea, ultimii 3 biți = host (max 32 biți)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Masca: 255.255.255.248 = 11111111.11111111.11111111.11111000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endParaRPr lang="en-US" sz="2400">
              <a:solidFill>
                <a:srgbClr val="FFFFFF"/>
              </a:solidFill>
              <a:latin typeface="Mina"/>
              <a:ea typeface="Mina"/>
              <a:cs typeface="Mina"/>
              <a:sym typeface="Mina"/>
            </a:endParaRP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Octetul 4: 37 = 00100101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Masca oct4: 11111000 → pe octetul 4: </a:t>
            </a:r>
            <a:r>
              <a:rPr lang="en-US" sz="2400">
                <a:solidFill>
                  <a:srgbClr val="E26EE8"/>
                </a:solidFill>
                <a:latin typeface="Mina"/>
                <a:ea typeface="Mina"/>
                <a:cs typeface="Mina"/>
                <a:sym typeface="Mina"/>
              </a:rPr>
              <a:t>0 0 1 0 0</a:t>
            </a:r>
            <a:r>
              <a:rPr lang="en-US" sz="2400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 </a:t>
            </a:r>
            <a:r>
              <a:rPr lang="en-US" sz="2400">
                <a:solidFill>
                  <a:srgbClr val="2EDDD3"/>
                </a:solidFill>
                <a:latin typeface="Mina"/>
                <a:ea typeface="Mina"/>
                <a:cs typeface="Mina"/>
                <a:sym typeface="Mina"/>
              </a:rPr>
              <a:t>| </a:t>
            </a:r>
            <a:r>
              <a:rPr lang="en-US" sz="2400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1 0 1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Rețea:       0 0 1 0 0 | 0 0 0   (= 32)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Broadcast:   0 0 1 0 0 |</a:t>
            </a:r>
            <a:r>
              <a:rPr lang="en-US" sz="2400">
                <a:solidFill>
                  <a:srgbClr val="2EDDD3"/>
                </a:solidFill>
                <a:latin typeface="Mina"/>
                <a:ea typeface="Mina"/>
                <a:cs typeface="Mina"/>
                <a:sym typeface="Mina"/>
              </a:rPr>
              <a:t> 1 1 1 </a:t>
            </a:r>
            <a:r>
              <a:rPr lang="en-US" sz="2400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  (= 32 + 4 + 2 + 1 = 39)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endParaRPr lang="en-US" sz="2400">
              <a:solidFill>
                <a:srgbClr val="FFFFFF"/>
              </a:solidFill>
              <a:latin typeface="Mina"/>
              <a:ea typeface="Mina"/>
              <a:cs typeface="Mina"/>
              <a:sym typeface="Mina"/>
            </a:endParaRP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Adresa rețelei: 164.88.24.32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Broadcast: 164.88.24.32 + 7 = 164.88.24.39 (2^3 = 8 adrese, ultimul = 39)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endParaRPr lang="en-US" sz="2400">
              <a:solidFill>
                <a:srgbClr val="FFFFFF"/>
              </a:solidFill>
              <a:latin typeface="Mina"/>
              <a:ea typeface="Mina"/>
              <a:cs typeface="Mina"/>
              <a:sym typeface="Mina"/>
            </a:endParaRP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Ultimul IP utilizabil: 164.88.24.38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Ultimul efectiv = broadcast = 164.88.24.39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028700"/>
            <a:ext cx="11886117" cy="6156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774"/>
              </a:lnSpc>
            </a:pPr>
            <a:r>
              <a:rPr lang="en-US" sz="408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netcat: Comunicare Client/Server 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309796" y="2050624"/>
            <a:ext cx="6806708" cy="8200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2"/>
              </a:lnSpc>
            </a:pPr>
            <a:r>
              <a:rPr lang="en-US" sz="2499" b="1">
                <a:solidFill>
                  <a:srgbClr val="FFFFFF"/>
                </a:solidFill>
                <a:latin typeface="Mina Bold"/>
                <a:ea typeface="Mina Bold"/>
                <a:cs typeface="Mina Bold"/>
                <a:sym typeface="Mina Bold"/>
              </a:rPr>
              <a:t>socket </a:t>
            </a:r>
            <a:r>
              <a:rPr lang="en-US" sz="2499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= capăt al unei conexiuni de rețea. </a:t>
            </a:r>
          </a:p>
          <a:p>
            <a:pPr marL="539749" lvl="1" indent="-269875" algn="l">
              <a:lnSpc>
                <a:spcPts val="4052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ca un telefon: un receptor care așteaptă apeluri (server) și un apelant (client)</a:t>
            </a:r>
          </a:p>
          <a:p>
            <a:pPr marL="539749" lvl="1" indent="-269875" algn="l">
              <a:lnSpc>
                <a:spcPts val="4052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indentificat prin:</a:t>
            </a:r>
          </a:p>
          <a:p>
            <a:pPr marL="1079499" lvl="2" indent="-359833" algn="l">
              <a:lnSpc>
                <a:spcPts val="4052"/>
              </a:lnSpc>
              <a:buFont typeface="Arial"/>
              <a:buChar char="⚬"/>
            </a:pPr>
            <a:r>
              <a:rPr lang="en-US" sz="2499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Adresa IP (pe ce mașină se află)</a:t>
            </a:r>
          </a:p>
          <a:p>
            <a:pPr marL="1079499" lvl="2" indent="-359833" algn="l">
              <a:lnSpc>
                <a:spcPts val="4052"/>
              </a:lnSpc>
              <a:buFont typeface="Arial"/>
              <a:buChar char="⚬"/>
            </a:pPr>
            <a:r>
              <a:rPr lang="en-US" sz="2499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Portul (pe ce ”canal” ascultă - număr 0–65535)</a:t>
            </a:r>
          </a:p>
          <a:p>
            <a:pPr marL="1079499" lvl="2" indent="-359833" algn="l">
              <a:lnSpc>
                <a:spcPts val="4052"/>
              </a:lnSpc>
              <a:buFont typeface="Arial"/>
              <a:buChar char="⚬"/>
            </a:pPr>
            <a:r>
              <a:rPr lang="en-US" sz="2499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Protocolul (TCP/UDP)</a:t>
            </a:r>
          </a:p>
          <a:p>
            <a:pPr algn="l">
              <a:lnSpc>
                <a:spcPts val="4052"/>
              </a:lnSpc>
            </a:pPr>
            <a:endParaRPr lang="en-US" sz="2499">
              <a:solidFill>
                <a:srgbClr val="FFFFFF"/>
              </a:solidFill>
              <a:latin typeface="Mina"/>
              <a:ea typeface="Mina"/>
              <a:cs typeface="Mina"/>
              <a:sym typeface="Mina"/>
            </a:endParaRPr>
          </a:p>
          <a:p>
            <a:pPr algn="l">
              <a:lnSpc>
                <a:spcPts val="4052"/>
              </a:lnSpc>
            </a:pPr>
            <a:r>
              <a:rPr lang="en-US" sz="2499" b="1">
                <a:solidFill>
                  <a:srgbClr val="FFFFFF"/>
                </a:solidFill>
                <a:latin typeface="Mina Bold"/>
                <a:ea typeface="Mina Bold"/>
                <a:cs typeface="Mina Bold"/>
                <a:sym typeface="Mina Bold"/>
              </a:rPr>
              <a:t>netcat </a:t>
            </a:r>
            <a:r>
              <a:rPr lang="en-US" sz="2499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= un utilitar de rețea extrem de simplu care poate:</a:t>
            </a:r>
          </a:p>
          <a:p>
            <a:pPr marL="539749" lvl="1" indent="-269875" algn="l">
              <a:lnSpc>
                <a:spcPts val="4052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deschide un socket și asculta pe un port (mod server)</a:t>
            </a:r>
          </a:p>
          <a:p>
            <a:pPr marL="539749" lvl="1" indent="-269875" algn="l">
              <a:lnSpc>
                <a:spcPts val="4052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conecta la un socket existent și trimite date (mod client)</a:t>
            </a:r>
          </a:p>
          <a:p>
            <a:pPr algn="l">
              <a:lnSpc>
                <a:spcPts val="4052"/>
              </a:lnSpc>
            </a:pPr>
            <a:endParaRPr lang="en-US" sz="2499">
              <a:solidFill>
                <a:srgbClr val="FFFFFF"/>
              </a:solidFill>
              <a:latin typeface="Mina"/>
              <a:ea typeface="Mina"/>
              <a:cs typeface="Mina"/>
              <a:sym typeface="Mina"/>
            </a:endParaRPr>
          </a:p>
        </p:txBody>
      </p:sp>
      <p:sp>
        <p:nvSpPr>
          <p:cNvPr id="4" name="Freeform 4"/>
          <p:cNvSpPr/>
          <p:nvPr/>
        </p:nvSpPr>
        <p:spPr>
          <a:xfrm rot="-10145285">
            <a:off x="8498875" y="-4291987"/>
            <a:ext cx="17504351" cy="10578169"/>
          </a:xfrm>
          <a:custGeom>
            <a:avLst/>
            <a:gdLst/>
            <a:ahLst/>
            <a:cxnLst/>
            <a:rect l="l" t="t" r="r" b="b"/>
            <a:pathLst>
              <a:path w="17504351" h="10578169">
                <a:moveTo>
                  <a:pt x="0" y="0"/>
                </a:moveTo>
                <a:lnTo>
                  <a:pt x="17504351" y="0"/>
                </a:lnTo>
                <a:lnTo>
                  <a:pt x="17504351" y="10578169"/>
                </a:lnTo>
                <a:lnTo>
                  <a:pt x="0" y="1057816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5" name="Group 5"/>
          <p:cNvGrpSpPr/>
          <p:nvPr/>
        </p:nvGrpSpPr>
        <p:grpSpPr>
          <a:xfrm>
            <a:off x="723960" y="2174449"/>
            <a:ext cx="304740" cy="304740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DDD3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36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23960" y="6825819"/>
            <a:ext cx="304740" cy="304740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26EE8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36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8757697" y="2069674"/>
            <a:ext cx="8672128" cy="87478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76"/>
              </a:lnSpc>
            </a:pPr>
            <a:r>
              <a:rPr lang="en-US" sz="2699" b="1">
                <a:solidFill>
                  <a:srgbClr val="06B6B1"/>
                </a:solidFill>
                <a:latin typeface="Mina Bold"/>
                <a:ea typeface="Mina Bold"/>
                <a:cs typeface="Mina Bold"/>
                <a:sym typeface="Mina Bold"/>
              </a:rPr>
              <a:t>LIVE DEMO Docker:</a:t>
            </a:r>
          </a:p>
          <a:p>
            <a:pPr algn="l">
              <a:lnSpc>
                <a:spcPts val="4052"/>
              </a:lnSpc>
            </a:pPr>
            <a:endParaRPr lang="en-US" sz="2699" b="1">
              <a:solidFill>
                <a:srgbClr val="06B6B1"/>
              </a:solidFill>
              <a:latin typeface="Mina Bold"/>
              <a:ea typeface="Mina Bold"/>
              <a:cs typeface="Mina Bold"/>
              <a:sym typeface="Mina Bold"/>
            </a:endParaRPr>
          </a:p>
          <a:p>
            <a:pPr algn="l">
              <a:lnSpc>
                <a:spcPts val="4052"/>
              </a:lnSpc>
            </a:pPr>
            <a:r>
              <a:rPr lang="en-US" sz="2499" b="1">
                <a:solidFill>
                  <a:srgbClr val="FFFFFF"/>
                </a:solidFill>
                <a:latin typeface="Mina Bold"/>
                <a:ea typeface="Mina Bold"/>
                <a:cs typeface="Mina Bold"/>
                <a:sym typeface="Mina Bold"/>
              </a:rPr>
              <a:t>Terminal 1 - Serverul (în rt1):</a:t>
            </a:r>
          </a:p>
          <a:p>
            <a:pPr algn="l">
              <a:lnSpc>
                <a:spcPts val="4052"/>
              </a:lnSpc>
            </a:pPr>
            <a:r>
              <a:rPr lang="en-US" sz="2499" b="1">
                <a:solidFill>
                  <a:srgbClr val="2EDDD3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&gt;&gt; </a:t>
            </a:r>
            <a:r>
              <a:rPr lang="en-US" sz="2499">
                <a:solidFill>
                  <a:srgbClr val="2EDDD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docker compose exec rt1 bash</a:t>
            </a:r>
          </a:p>
          <a:p>
            <a:pPr algn="l">
              <a:lnSpc>
                <a:spcPts val="4052"/>
              </a:lnSpc>
            </a:pPr>
            <a:r>
              <a:rPr lang="en-US" sz="2499" b="1">
                <a:solidFill>
                  <a:srgbClr val="2EDDD3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&gt;&gt; </a:t>
            </a:r>
            <a:r>
              <a:rPr lang="en-US" sz="2499">
                <a:solidFill>
                  <a:srgbClr val="2EDDD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nc -l 8081</a:t>
            </a:r>
          </a:p>
          <a:p>
            <a:pPr algn="l">
              <a:lnSpc>
                <a:spcPts val="4052"/>
              </a:lnSpc>
            </a:pPr>
            <a:endParaRPr lang="en-US" sz="2499">
              <a:solidFill>
                <a:srgbClr val="2EDDD3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algn="l">
              <a:lnSpc>
                <a:spcPts val="4052"/>
              </a:lnSpc>
            </a:pPr>
            <a:r>
              <a:rPr lang="en-US" sz="2499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→ se deschide un socket TCP pe portul 8081 și nu face nimic până când un client se conectează</a:t>
            </a:r>
          </a:p>
          <a:p>
            <a:pPr algn="l">
              <a:lnSpc>
                <a:spcPts val="4052"/>
              </a:lnSpc>
            </a:pPr>
            <a:endParaRPr lang="en-US" sz="2499">
              <a:solidFill>
                <a:srgbClr val="FFFFFF"/>
              </a:solidFill>
              <a:latin typeface="Mina"/>
              <a:ea typeface="Mina"/>
              <a:cs typeface="Mina"/>
              <a:sym typeface="Mina"/>
            </a:endParaRPr>
          </a:p>
          <a:p>
            <a:pPr algn="l">
              <a:lnSpc>
                <a:spcPts val="4052"/>
              </a:lnSpc>
            </a:pPr>
            <a:r>
              <a:rPr lang="en-US" sz="2499" b="1">
                <a:solidFill>
                  <a:srgbClr val="FFFFFF"/>
                </a:solidFill>
                <a:latin typeface="Mina Bold"/>
                <a:ea typeface="Mina Bold"/>
                <a:cs typeface="Mina Bold"/>
                <a:sym typeface="Mina Bold"/>
              </a:rPr>
              <a:t>Terminal 2 - Clientul (în rt2):</a:t>
            </a:r>
          </a:p>
          <a:p>
            <a:pPr algn="l">
              <a:lnSpc>
                <a:spcPts val="4052"/>
              </a:lnSpc>
            </a:pPr>
            <a:r>
              <a:rPr lang="en-US" sz="2499" b="1">
                <a:solidFill>
                  <a:srgbClr val="2EDDD3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&gt;&gt; </a:t>
            </a:r>
            <a:r>
              <a:rPr lang="en-US" sz="2499">
                <a:solidFill>
                  <a:srgbClr val="2EDDD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docker compose exec rt2 bash</a:t>
            </a:r>
          </a:p>
          <a:p>
            <a:pPr algn="l">
              <a:lnSpc>
                <a:spcPts val="4052"/>
              </a:lnSpc>
            </a:pPr>
            <a:r>
              <a:rPr lang="en-US" sz="2499" b="1">
                <a:solidFill>
                  <a:srgbClr val="2EDDD3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&gt;&gt; </a:t>
            </a:r>
            <a:r>
              <a:rPr lang="en-US" sz="2499">
                <a:solidFill>
                  <a:srgbClr val="2EDDD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echo "salut din rt2" | nc &lt;adresă IP rt1&gt; 8081</a:t>
            </a:r>
          </a:p>
          <a:p>
            <a:pPr algn="l">
              <a:lnSpc>
                <a:spcPts val="4052"/>
              </a:lnSpc>
            </a:pPr>
            <a:endParaRPr lang="en-US" sz="2499">
              <a:solidFill>
                <a:srgbClr val="2EDDD3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algn="l">
              <a:lnSpc>
                <a:spcPts val="4052"/>
              </a:lnSpc>
            </a:pPr>
            <a:r>
              <a:rPr lang="en-US" sz="2499" b="1">
                <a:solidFill>
                  <a:srgbClr val="E26EE8"/>
                </a:solidFill>
                <a:latin typeface="Mina Bold"/>
                <a:ea typeface="Mina Bold"/>
                <a:cs typeface="Mina Bold"/>
                <a:sym typeface="Mina Bold"/>
              </a:rPr>
              <a:t>→ Ce se întâmplă?</a:t>
            </a:r>
          </a:p>
          <a:p>
            <a:pPr algn="l">
              <a:lnSpc>
                <a:spcPts val="4052"/>
              </a:lnSpc>
            </a:pPr>
            <a:endParaRPr lang="en-US" sz="2499" b="1">
              <a:solidFill>
                <a:srgbClr val="E26EE8"/>
              </a:solidFill>
              <a:latin typeface="Mina Bold"/>
              <a:ea typeface="Mina Bold"/>
              <a:cs typeface="Mina Bold"/>
              <a:sym typeface="Mina Bold"/>
            </a:endParaRPr>
          </a:p>
          <a:p>
            <a:pPr algn="l">
              <a:lnSpc>
                <a:spcPts val="4052"/>
              </a:lnSpc>
            </a:pPr>
            <a:endParaRPr lang="en-US" sz="2499" b="1">
              <a:solidFill>
                <a:srgbClr val="E26EE8"/>
              </a:solidFill>
              <a:latin typeface="Mina Bold"/>
              <a:ea typeface="Mina Bold"/>
              <a:cs typeface="Mina Bold"/>
              <a:sym typeface="Mina 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028700"/>
            <a:ext cx="11886117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850"/>
              </a:lnSpc>
            </a:pPr>
            <a:r>
              <a:rPr lang="en-US" sz="500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traceroute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309796" y="2050624"/>
            <a:ext cx="15251837" cy="1514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2"/>
              </a:lnSpc>
            </a:pPr>
            <a:r>
              <a:rPr lang="en-US" sz="2499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= utilitar care arată fiecare router (hop) pe care îl traversează un pachet de la sursă la destinație, împreună cu latența la fiecare hop.</a:t>
            </a:r>
          </a:p>
          <a:p>
            <a:pPr algn="l">
              <a:lnSpc>
                <a:spcPts val="4052"/>
              </a:lnSpc>
            </a:pPr>
            <a:endParaRPr lang="en-US" sz="2499">
              <a:solidFill>
                <a:srgbClr val="FFFFFF"/>
              </a:solidFill>
              <a:latin typeface="Mina"/>
              <a:ea typeface="Mina"/>
              <a:cs typeface="Mina"/>
              <a:sym typeface="Mina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723960" y="2174449"/>
            <a:ext cx="304740" cy="304740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DDD3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36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 rot="285299">
            <a:off x="15983959" y="-1733152"/>
            <a:ext cx="8248460" cy="9570997"/>
          </a:xfrm>
          <a:custGeom>
            <a:avLst/>
            <a:gdLst/>
            <a:ahLst/>
            <a:cxnLst/>
            <a:rect l="l" t="t" r="r" b="b"/>
            <a:pathLst>
              <a:path w="8248460" h="9570997">
                <a:moveTo>
                  <a:pt x="0" y="0"/>
                </a:moveTo>
                <a:lnTo>
                  <a:pt x="8248460" y="0"/>
                </a:lnTo>
                <a:lnTo>
                  <a:pt x="8248460" y="9570998"/>
                </a:lnTo>
                <a:lnTo>
                  <a:pt x="0" y="95709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5400000">
            <a:off x="-6287979" y="4151065"/>
            <a:ext cx="8248460" cy="9570997"/>
          </a:xfrm>
          <a:custGeom>
            <a:avLst/>
            <a:gdLst/>
            <a:ahLst/>
            <a:cxnLst/>
            <a:rect l="l" t="t" r="r" b="b"/>
            <a:pathLst>
              <a:path w="8248460" h="9570997">
                <a:moveTo>
                  <a:pt x="0" y="0"/>
                </a:moveTo>
                <a:lnTo>
                  <a:pt x="8248460" y="0"/>
                </a:lnTo>
                <a:lnTo>
                  <a:pt x="8248460" y="9570998"/>
                </a:lnTo>
                <a:lnTo>
                  <a:pt x="0" y="95709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621750" y="3821956"/>
            <a:ext cx="14637550" cy="5114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2"/>
              </a:lnSpc>
            </a:pPr>
            <a:r>
              <a:rPr lang="en-US" sz="2499" b="1">
                <a:solidFill>
                  <a:srgbClr val="FFFFFF"/>
                </a:solidFill>
                <a:latin typeface="Mina Bold"/>
                <a:ea typeface="Mina Bold"/>
                <a:cs typeface="Mina Bold"/>
                <a:sym typeface="Mina Bold"/>
              </a:rPr>
              <a:t>Cum funcționează</a:t>
            </a:r>
            <a:r>
              <a:rPr lang="en-US" sz="2499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: traceroute explotează TTL (Time To Live)</a:t>
            </a:r>
          </a:p>
          <a:p>
            <a:pPr marL="539749" lvl="1" indent="-269875" algn="l">
              <a:lnSpc>
                <a:spcPts val="4052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TTL = câmp din headerul IP care se decrementează cu 1 la fiecare router traversat. </a:t>
            </a:r>
          </a:p>
          <a:p>
            <a:pPr marL="539749" lvl="1" indent="-269875" algn="l">
              <a:lnSpc>
                <a:spcPts val="4052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Când TTL ajunge la 0, routerul aruncă pachetul și trimite înapoi un mesaj ICMP ”Time Exceeded”</a:t>
            </a:r>
          </a:p>
          <a:p>
            <a:pPr marL="539749" lvl="1" indent="-269875" algn="l">
              <a:lnSpc>
                <a:spcPts val="4052"/>
              </a:lnSpc>
              <a:buFont typeface="Arial"/>
              <a:buChar char="•"/>
            </a:pPr>
            <a:r>
              <a:rPr lang="en-US" sz="2499" b="1">
                <a:solidFill>
                  <a:srgbClr val="FFFFFF"/>
                </a:solidFill>
                <a:latin typeface="Mina Bold"/>
                <a:ea typeface="Mina Bold"/>
                <a:cs typeface="Mina Bold"/>
                <a:sym typeface="Mina Bold"/>
              </a:rPr>
              <a:t>Pas 1</a:t>
            </a:r>
            <a:r>
              <a:rPr lang="en-US" sz="2499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: Trimite pachet cu TTL = 1 → Primul router decrementează la 0, aruncă pachetul → Trimite ICMP "Time Exceeded" înapoi → traceroute înregistrează: Hop 1 = IP router, latență = X ms </a:t>
            </a:r>
          </a:p>
          <a:p>
            <a:pPr marL="539749" lvl="1" indent="-269875" algn="l">
              <a:lnSpc>
                <a:spcPts val="4052"/>
              </a:lnSpc>
              <a:buFont typeface="Arial"/>
              <a:buChar char="•"/>
            </a:pPr>
            <a:r>
              <a:rPr lang="en-US" sz="2499" b="1">
                <a:solidFill>
                  <a:srgbClr val="FFFFFF"/>
                </a:solidFill>
                <a:latin typeface="Mina Bold"/>
                <a:ea typeface="Mina Bold"/>
                <a:cs typeface="Mina Bold"/>
                <a:sym typeface="Mina Bold"/>
              </a:rPr>
              <a:t>Pas 2</a:t>
            </a:r>
            <a:r>
              <a:rPr lang="en-US" sz="2499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: Trimite pachet cu TTL = 2 → Primul router decrementează la 1, pasează mai departe → Al doilea router decrementează la 0, aruncă → Trimite ICMP "Time Exceeded" → traceroute înregistrează: Hop 2 = IP router, latență = Y ms </a:t>
            </a:r>
          </a:p>
          <a:p>
            <a:pPr algn="l">
              <a:lnSpc>
                <a:spcPts val="4052"/>
              </a:lnSpc>
            </a:pPr>
            <a:r>
              <a:rPr lang="en-US" sz="2499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... și tot așa până când pachetul ajunge la destinație</a:t>
            </a:r>
          </a:p>
          <a:p>
            <a:pPr algn="l">
              <a:lnSpc>
                <a:spcPts val="4052"/>
              </a:lnSpc>
            </a:pPr>
            <a:endParaRPr lang="en-US" sz="2499">
              <a:solidFill>
                <a:srgbClr val="FFFFFF"/>
              </a:solidFill>
              <a:latin typeface="Mina"/>
              <a:ea typeface="Mina"/>
              <a:cs typeface="Mina"/>
              <a:sym typeface="Mina"/>
            </a:endParaRPr>
          </a:p>
        </p:txBody>
      </p:sp>
      <p:grpSp>
        <p:nvGrpSpPr>
          <p:cNvPr id="10" name="Group 10"/>
          <p:cNvGrpSpPr/>
          <p:nvPr/>
        </p:nvGrpSpPr>
        <p:grpSpPr>
          <a:xfrm>
            <a:off x="2056349" y="3926731"/>
            <a:ext cx="304740" cy="304740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DDD3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36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028700"/>
            <a:ext cx="11886117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850"/>
              </a:lnSpc>
            </a:pPr>
            <a:r>
              <a:rPr lang="en-US" sz="500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traceroute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1943533"/>
            <a:ext cx="12932820" cy="7449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28"/>
              </a:lnSpc>
            </a:pPr>
            <a:r>
              <a:rPr lang="en-US" sz="2300" b="1">
                <a:solidFill>
                  <a:srgbClr val="06B6B1"/>
                </a:solidFill>
                <a:latin typeface="Mina Bold"/>
                <a:ea typeface="Mina Bold"/>
                <a:cs typeface="Mina Bold"/>
                <a:sym typeface="Mina Bold"/>
              </a:rPr>
              <a:t>LIVE DEMO Docker:</a:t>
            </a:r>
          </a:p>
          <a:p>
            <a:pPr algn="l">
              <a:lnSpc>
                <a:spcPts val="3404"/>
              </a:lnSpc>
            </a:pPr>
            <a:endParaRPr lang="en-US" sz="2300" b="1">
              <a:solidFill>
                <a:srgbClr val="06B6B1"/>
              </a:solidFill>
              <a:latin typeface="Mina Bold"/>
              <a:ea typeface="Mina Bold"/>
              <a:cs typeface="Mina Bold"/>
              <a:sym typeface="Mina Bold"/>
            </a:endParaRPr>
          </a:p>
          <a:p>
            <a:pPr algn="l">
              <a:lnSpc>
                <a:spcPts val="3404"/>
              </a:lnSpc>
            </a:pPr>
            <a:r>
              <a:rPr lang="en-US" sz="2100">
                <a:solidFill>
                  <a:srgbClr val="2EDDD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</a:t>
            </a:r>
            <a:r>
              <a:rPr lang="en-US" sz="2100" b="1">
                <a:solidFill>
                  <a:srgbClr val="2EDDD3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 </a:t>
            </a:r>
            <a:r>
              <a:rPr lang="en-US" sz="2100">
                <a:solidFill>
                  <a:srgbClr val="2EDDD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docker compose exec rt1 bash</a:t>
            </a:r>
          </a:p>
          <a:p>
            <a:pPr algn="l">
              <a:lnSpc>
                <a:spcPts val="3404"/>
              </a:lnSpc>
            </a:pPr>
            <a:r>
              <a:rPr lang="en-US" sz="2100">
                <a:solidFill>
                  <a:srgbClr val="2EDDD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 traceroute www.google.ro</a:t>
            </a:r>
          </a:p>
          <a:p>
            <a:pPr algn="l">
              <a:lnSpc>
                <a:spcPts val="3728"/>
              </a:lnSpc>
            </a:pPr>
            <a:endParaRPr lang="en-US" sz="2100">
              <a:solidFill>
                <a:srgbClr val="2EDDD3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algn="l">
              <a:lnSpc>
                <a:spcPts val="3728"/>
              </a:lnSpc>
            </a:pPr>
            <a:r>
              <a:rPr lang="en-US" sz="2300" b="1">
                <a:solidFill>
                  <a:srgbClr val="FFFFFF"/>
                </a:solidFill>
                <a:latin typeface="Mina Bold"/>
                <a:ea typeface="Mina Bold"/>
                <a:cs typeface="Mina Bold"/>
                <a:sym typeface="Mina Bold"/>
              </a:rPr>
              <a:t>Output exemplu:</a:t>
            </a:r>
          </a:p>
          <a:p>
            <a:pPr algn="l">
              <a:lnSpc>
                <a:spcPts val="3404"/>
              </a:lnSpc>
            </a:pPr>
            <a:r>
              <a:rPr lang="en-US" sz="2100">
                <a:solidFill>
                  <a:srgbClr val="2EDDD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 traceroute to www.google.ro (142.250.185.163), 30 hops max</a:t>
            </a:r>
          </a:p>
          <a:p>
            <a:pPr algn="l">
              <a:lnSpc>
                <a:spcPts val="3404"/>
              </a:lnSpc>
            </a:pPr>
            <a:r>
              <a:rPr lang="en-US" sz="2100">
                <a:solidFill>
                  <a:srgbClr val="2EDDD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1     2 ms     1 ms     8 ms  192.168.1.1 [192.168.1.1]</a:t>
            </a:r>
          </a:p>
          <a:p>
            <a:pPr algn="l">
              <a:lnSpc>
                <a:spcPts val="3404"/>
              </a:lnSpc>
            </a:pPr>
            <a:r>
              <a:rPr lang="en-US" sz="2100">
                <a:solidFill>
                  <a:srgbClr val="2EDDD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2     3 ms     4 ms     3 ms  10.0.33.252 [10.0.33.252]</a:t>
            </a:r>
          </a:p>
          <a:p>
            <a:pPr algn="l">
              <a:lnSpc>
                <a:spcPts val="3404"/>
              </a:lnSpc>
            </a:pPr>
            <a:r>
              <a:rPr lang="en-US" sz="2100">
                <a:solidFill>
                  <a:srgbClr val="2EDDD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3     3 ms     2 ms     2 ms  10.12.100.33 [10.12.100.33]</a:t>
            </a:r>
          </a:p>
          <a:p>
            <a:pPr algn="l">
              <a:lnSpc>
                <a:spcPts val="3404"/>
              </a:lnSpc>
            </a:pPr>
            <a:r>
              <a:rPr lang="en-US" sz="2100">
                <a:solidFill>
                  <a:srgbClr val="2EDDD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...</a:t>
            </a:r>
          </a:p>
          <a:p>
            <a:pPr algn="l">
              <a:lnSpc>
                <a:spcPts val="3404"/>
              </a:lnSpc>
            </a:pPr>
            <a:r>
              <a:rPr lang="en-US" sz="210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:.</a:t>
            </a:r>
            <a:r>
              <a:rPr lang="en-US" sz="2100">
                <a:solidFill>
                  <a:srgbClr val="2EDDD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8    16 ms    15 ms    15 ms  72.14.216.212</a:t>
            </a:r>
          </a:p>
          <a:p>
            <a:pPr algn="l">
              <a:lnSpc>
                <a:spcPts val="3404"/>
              </a:lnSpc>
            </a:pPr>
            <a:r>
              <a:rPr lang="en-US" sz="2100">
                <a:solidFill>
                  <a:srgbClr val="2EDDD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9    17 ms    17 ms    17 ms  172.253.51.195</a:t>
            </a:r>
          </a:p>
          <a:p>
            <a:pPr algn="l">
              <a:lnSpc>
                <a:spcPts val="3404"/>
              </a:lnSpc>
            </a:pPr>
            <a:r>
              <a:rPr lang="en-US" sz="2100">
                <a:solidFill>
                  <a:srgbClr val="2EDDD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10    15 ms    15 ms    14 ms  209.85.244.147</a:t>
            </a:r>
          </a:p>
          <a:p>
            <a:pPr algn="l">
              <a:lnSpc>
                <a:spcPts val="3404"/>
              </a:lnSpc>
            </a:pPr>
            <a:r>
              <a:rPr lang="en-US" sz="2100">
                <a:solidFill>
                  <a:srgbClr val="2EDDD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11    15 ms    16 ms    16 ms  fjr04s12-in-f14.1e100.net [172.217.17.78]</a:t>
            </a:r>
          </a:p>
          <a:p>
            <a:pPr algn="l">
              <a:lnSpc>
                <a:spcPts val="3728"/>
              </a:lnSpc>
            </a:pPr>
            <a:endParaRPr lang="en-US" sz="2100">
              <a:solidFill>
                <a:srgbClr val="2EDDD3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algn="l">
              <a:lnSpc>
                <a:spcPts val="3728"/>
              </a:lnSpc>
            </a:pPr>
            <a:endParaRPr lang="en-US" sz="2100">
              <a:solidFill>
                <a:srgbClr val="2EDDD3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4" name="Freeform 4"/>
          <p:cNvSpPr/>
          <p:nvPr/>
        </p:nvSpPr>
        <p:spPr>
          <a:xfrm rot="285299">
            <a:off x="16243076" y="-1733152"/>
            <a:ext cx="8248460" cy="9570997"/>
          </a:xfrm>
          <a:custGeom>
            <a:avLst/>
            <a:gdLst/>
            <a:ahLst/>
            <a:cxnLst/>
            <a:rect l="l" t="t" r="r" b="b"/>
            <a:pathLst>
              <a:path w="8248460" h="9570997">
                <a:moveTo>
                  <a:pt x="0" y="0"/>
                </a:moveTo>
                <a:lnTo>
                  <a:pt x="8248459" y="0"/>
                </a:lnTo>
                <a:lnTo>
                  <a:pt x="8248459" y="9570998"/>
                </a:lnTo>
                <a:lnTo>
                  <a:pt x="0" y="95709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5400000">
            <a:off x="-6674557" y="7180170"/>
            <a:ext cx="8248460" cy="9570997"/>
          </a:xfrm>
          <a:custGeom>
            <a:avLst/>
            <a:gdLst/>
            <a:ahLst/>
            <a:cxnLst/>
            <a:rect l="l" t="t" r="r" b="b"/>
            <a:pathLst>
              <a:path w="8248460" h="9570997">
                <a:moveTo>
                  <a:pt x="0" y="0"/>
                </a:moveTo>
                <a:lnTo>
                  <a:pt x="8248460" y="0"/>
                </a:lnTo>
                <a:lnTo>
                  <a:pt x="8248460" y="9570997"/>
                </a:lnTo>
                <a:lnTo>
                  <a:pt x="0" y="95709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367521" y="9370381"/>
            <a:ext cx="16299412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Multe * = routerul a primit pachetul, dar nu a răspuns cu ICMP Time Exceeded - e configurat să nu răspundă (firewall)/răspunsul s-a pierdut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737520" y="717550"/>
            <a:ext cx="11792332" cy="692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FFFFFF"/>
                </a:solidFill>
                <a:latin typeface="Mina Bold"/>
                <a:ea typeface="Mina Bold"/>
                <a:cs typeface="Mina Bold"/>
                <a:sym typeface="Mina Bold"/>
              </a:rPr>
              <a:t>!! posibil să nu meargă pe Docker Desktop pt Windows/mac, </a:t>
            </a:r>
            <a:r>
              <a:rPr lang="en-US" sz="2000" b="1" u="sng">
                <a:solidFill>
                  <a:srgbClr val="FFFFFF"/>
                </a:solidFill>
                <a:latin typeface="Mina Bold"/>
                <a:ea typeface="Mina Bold"/>
                <a:cs typeface="Mina Bold"/>
                <a:sym typeface="Mina Bold"/>
                <a:hlinkClick r:id="rId4" tooltip="https://forums.docker.com/t/traceroute-in-linux-containers/143526/3"/>
              </a:rPr>
              <a:t>known bug</a:t>
            </a:r>
            <a:r>
              <a:rPr lang="en-US" sz="2000" b="1">
                <a:solidFill>
                  <a:srgbClr val="FFFFFF"/>
                </a:solidFill>
                <a:latin typeface="Mina Bold"/>
                <a:ea typeface="Mina Bold"/>
                <a:cs typeface="Mina Bold"/>
                <a:sym typeface="Mina Bold"/>
              </a:rPr>
              <a:t> → încercați local în cmd/terminal tracert pt Windows, traceroute pt mac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177729" y="2663825"/>
            <a:ext cx="5567582" cy="4921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l">
              <a:lnSpc>
                <a:spcPts val="2800"/>
              </a:lnSpc>
              <a:buAutoNum type="arabicPeriod"/>
            </a:pPr>
            <a:r>
              <a:rPr lang="en-US" sz="2000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DNS a găsit IP pt google → 142.250.185.163</a:t>
            </a:r>
          </a:p>
          <a:p>
            <a:pPr marL="431801" lvl="1" indent="-215900" algn="l">
              <a:lnSpc>
                <a:spcPts val="2800"/>
              </a:lnSpc>
              <a:buAutoNum type="arabicPeriod"/>
            </a:pPr>
            <a:r>
              <a:rPr lang="en-US" sz="2000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Prima rețea - IP privat, LAN, timp răspuns mic, echipament fizic apropiat</a:t>
            </a:r>
          </a:p>
          <a:p>
            <a:pPr marL="431801" lvl="1" indent="-215900" algn="l">
              <a:lnSpc>
                <a:spcPts val="2800"/>
              </a:lnSpc>
              <a:buAutoNum type="arabicPeriod"/>
            </a:pPr>
            <a:r>
              <a:rPr lang="en-US" sz="2000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10.x.x.x - tot rețele private! Fie rețea f mare, sau rețeaua privată a ISP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Carrier-Grade NAT (CGNAT) → Pachetul trece prin multiple routere interne ale providerului din România pentru a fi agregat cu traficul altor utilizatori, înainte de a ieși pe o singură adresă IP publică a ISP-ului</a:t>
            </a:r>
          </a:p>
          <a:p>
            <a:pPr marL="431801" lvl="1" indent="-215900" algn="l">
              <a:lnSpc>
                <a:spcPts val="2800"/>
              </a:lnSpc>
              <a:buAutoNum type="arabicPeriod"/>
            </a:pPr>
            <a:r>
              <a:rPr lang="en-US" sz="2000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72.x.x.x → am intrat pe internet! rețeaua Google</a:t>
            </a:r>
          </a:p>
          <a:p>
            <a:pPr marL="431801" lvl="1" indent="-215900" algn="l">
              <a:lnSpc>
                <a:spcPts val="2800"/>
              </a:lnSpc>
              <a:spcBef>
                <a:spcPct val="0"/>
              </a:spcBef>
              <a:buAutoNum type="arabicPeriod"/>
            </a:pPr>
            <a:r>
              <a:rPr lang="en-US" sz="2000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1e100.net = domeniul intern Google (10 la puterea 100 = un Googol)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028700"/>
            <a:ext cx="14007830" cy="8229600"/>
          </a:xfrm>
          <a:custGeom>
            <a:avLst/>
            <a:gdLst/>
            <a:ahLst/>
            <a:cxnLst/>
            <a:rect l="l" t="t" r="r" b="b"/>
            <a:pathLst>
              <a:path w="14007830" h="8229600">
                <a:moveTo>
                  <a:pt x="0" y="0"/>
                </a:moveTo>
                <a:lnTo>
                  <a:pt x="14007830" y="0"/>
                </a:lnTo>
                <a:lnTo>
                  <a:pt x="1400783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5206387" y="914400"/>
            <a:ext cx="2792682" cy="2644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Recap OSI Model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5036530" y="5076825"/>
            <a:ext cx="2962539" cy="2124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! Model teoretic, nu implementare efectivă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85299">
            <a:off x="15769416" y="-2441807"/>
            <a:ext cx="8248460" cy="9570997"/>
          </a:xfrm>
          <a:custGeom>
            <a:avLst/>
            <a:gdLst/>
            <a:ahLst/>
            <a:cxnLst/>
            <a:rect l="l" t="t" r="r" b="b"/>
            <a:pathLst>
              <a:path w="8248460" h="9570997">
                <a:moveTo>
                  <a:pt x="0" y="0"/>
                </a:moveTo>
                <a:lnTo>
                  <a:pt x="8248459" y="0"/>
                </a:lnTo>
                <a:lnTo>
                  <a:pt x="8248459" y="9570998"/>
                </a:lnTo>
                <a:lnTo>
                  <a:pt x="0" y="95709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>
            <a:off x="-7881028" y="4825272"/>
            <a:ext cx="8248460" cy="9570997"/>
          </a:xfrm>
          <a:custGeom>
            <a:avLst/>
            <a:gdLst/>
            <a:ahLst/>
            <a:cxnLst/>
            <a:rect l="l" t="t" r="r" b="b"/>
            <a:pathLst>
              <a:path w="8248460" h="9570997">
                <a:moveTo>
                  <a:pt x="0" y="0"/>
                </a:moveTo>
                <a:lnTo>
                  <a:pt x="8248459" y="0"/>
                </a:lnTo>
                <a:lnTo>
                  <a:pt x="8248459" y="9570997"/>
                </a:lnTo>
                <a:lnTo>
                  <a:pt x="0" y="95709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569135" y="2290256"/>
            <a:ext cx="6752477" cy="5589860"/>
          </a:xfrm>
          <a:custGeom>
            <a:avLst/>
            <a:gdLst/>
            <a:ahLst/>
            <a:cxnLst/>
            <a:rect l="l" t="t" r="r" b="b"/>
            <a:pathLst>
              <a:path w="6752477" h="5589860">
                <a:moveTo>
                  <a:pt x="0" y="0"/>
                </a:moveTo>
                <a:lnTo>
                  <a:pt x="6752476" y="0"/>
                </a:lnTo>
                <a:lnTo>
                  <a:pt x="6752476" y="5589860"/>
                </a:lnTo>
                <a:lnTo>
                  <a:pt x="0" y="55898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28700" y="1028700"/>
            <a:ext cx="14358216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850"/>
              </a:lnSpc>
            </a:pPr>
            <a:r>
              <a:rPr lang="en-US" sz="500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TCP/IP Model: Implementarea reală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144000" y="422275"/>
            <a:ext cx="6712724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Fun fact: A fost creat de US Department of Defence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321611" y="2440411"/>
            <a:ext cx="9295176" cy="5241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b="1">
                <a:solidFill>
                  <a:srgbClr val="FFFFFF"/>
                </a:solidFill>
                <a:latin typeface="Mina Bold"/>
                <a:ea typeface="Mina Bold"/>
                <a:cs typeface="Mina Bold"/>
                <a:sym typeface="Mina Bold"/>
              </a:rPr>
              <a:t>Application Layer</a:t>
            </a:r>
            <a:r>
              <a:rPr lang="en-US" sz="2499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: Interfața cu utilizatorul și programele (HTTP - accesare web, FTP - file transfer, SMTP - trimitere email, DNS - traducere nume domenii)</a:t>
            </a:r>
          </a:p>
          <a:p>
            <a:pPr marL="539749" lvl="1" indent="-269875" algn="l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b="1">
                <a:solidFill>
                  <a:srgbClr val="FFFFFF"/>
                </a:solidFill>
                <a:latin typeface="Mina Bold"/>
                <a:ea typeface="Mina Bold"/>
                <a:cs typeface="Mina Bold"/>
                <a:sym typeface="Mina Bold"/>
              </a:rPr>
              <a:t>Transport Layer</a:t>
            </a:r>
            <a:r>
              <a:rPr lang="en-US" sz="2499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: Gestionat de TCP/UDP, fragmentează datele în segmente, asigurând livrarea corectă și ordonată a acestora, reasamblându-le la destinație</a:t>
            </a:r>
          </a:p>
          <a:p>
            <a:pPr marL="539749" lvl="1" indent="-269875" algn="l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b="1">
                <a:solidFill>
                  <a:srgbClr val="FFFFFF"/>
                </a:solidFill>
                <a:latin typeface="Mina Bold"/>
                <a:ea typeface="Mina Bold"/>
                <a:cs typeface="Mina Bold"/>
                <a:sym typeface="Mina Bold"/>
              </a:rPr>
              <a:t>Internet Layer</a:t>
            </a:r>
            <a:r>
              <a:rPr lang="en-US" sz="2499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: Folosește IP (Internet Protocol) pt. a încapsula segmentele în pachete și a le ruta prin cea mai bună cale către destinație</a:t>
            </a:r>
          </a:p>
          <a:p>
            <a:pPr marL="539749" lvl="1" indent="-269875" algn="l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b="1">
                <a:solidFill>
                  <a:srgbClr val="FFFFFF"/>
                </a:solidFill>
                <a:latin typeface="Mina Bold"/>
                <a:ea typeface="Mina Bold"/>
                <a:cs typeface="Mina Bold"/>
                <a:sym typeface="Mina Bold"/>
              </a:rPr>
              <a:t>Network Access Layer</a:t>
            </a:r>
            <a:r>
              <a:rPr lang="en-US" sz="2499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: Gestionează transmisia fizică a datelor (cabluri, Wi-Fi), adresarea fizică și accesul la mediul de rețea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67622" y="8099191"/>
            <a:ext cx="5955503" cy="173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339D97"/>
                </a:solidFill>
                <a:latin typeface="Mina Bold"/>
                <a:ea typeface="Mina Bold"/>
                <a:cs typeface="Mina Bold"/>
                <a:sym typeface="Mina Bold"/>
              </a:rPr>
              <a:t>! Fiecare strat ia datele de la stratul superior, adaugă propriul header (antet) cu informații specifice și le dă mai departe (= încapsulare)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572751" y="8213771"/>
            <a:ext cx="9686549" cy="1397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2EDDD3"/>
                </a:solidFill>
                <a:latin typeface="Mina Bold"/>
                <a:ea typeface="Mina Bold"/>
                <a:cs typeface="Mina Bold"/>
                <a:sym typeface="Mina Bold"/>
              </a:rPr>
              <a:t>Date aplicație:       [Mesaj HTTP]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2EDDD3"/>
                </a:solidFill>
                <a:latin typeface="Mina Bold"/>
                <a:ea typeface="Mina Bold"/>
                <a:cs typeface="Mina Bold"/>
                <a:sym typeface="Mina Bold"/>
              </a:rPr>
              <a:t>Transport:            [TCP Header][Mesaj HTTP]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2EDDD3"/>
                </a:solidFill>
                <a:latin typeface="Mina Bold"/>
                <a:ea typeface="Mina Bold"/>
                <a:cs typeface="Mina Bold"/>
                <a:sym typeface="Mina Bold"/>
              </a:rPr>
              <a:t>Internet:               [IP Header][TCP Header][Mesaj HTTP]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2EDDD3"/>
                </a:solidFill>
                <a:latin typeface="Mina Bold"/>
                <a:ea typeface="Mina Bold"/>
                <a:cs typeface="Mina Bold"/>
                <a:sym typeface="Mina Bold"/>
              </a:rPr>
              <a:t>Network Access:   [MAC Header][IP Header][TCP Header][Mesaj HTTP][MAC Trailer]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31509" y="960274"/>
            <a:ext cx="11886117" cy="752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849"/>
              </a:lnSpc>
            </a:pPr>
            <a:r>
              <a:rPr lang="en-US" sz="4999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De ce nu OSI?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2203948"/>
            <a:ext cx="5945867" cy="5114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2"/>
              </a:lnSpc>
            </a:pPr>
            <a:r>
              <a:rPr lang="en-US" sz="2499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Modelul OSI a fost formalizat după ce rețelistica începuse deja să adopte protocoale practice, TCP/IP era deja funcțional și folosit la scară largă</a:t>
            </a:r>
          </a:p>
          <a:p>
            <a:pPr algn="l">
              <a:lnSpc>
                <a:spcPts val="4052"/>
              </a:lnSpc>
            </a:pPr>
            <a:endParaRPr lang="en-US" sz="2499">
              <a:solidFill>
                <a:srgbClr val="FFFFFF"/>
              </a:solidFill>
              <a:latin typeface="Mina"/>
              <a:ea typeface="Mina"/>
              <a:cs typeface="Mina"/>
              <a:sym typeface="Mina"/>
            </a:endParaRPr>
          </a:p>
          <a:p>
            <a:pPr algn="l">
              <a:lnSpc>
                <a:spcPts val="4052"/>
              </a:lnSpc>
            </a:pPr>
            <a:r>
              <a:rPr lang="en-US" sz="2499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OSI, cu 7 straturi, este mult mai complex și ”teoretic”, pe când TCP/IP e mai flexibil, simplu, mai practic ca fundație pentru internet</a:t>
            </a:r>
          </a:p>
          <a:p>
            <a:pPr algn="l">
              <a:lnSpc>
                <a:spcPts val="4052"/>
              </a:lnSpc>
            </a:pPr>
            <a:endParaRPr lang="en-US" sz="2499">
              <a:solidFill>
                <a:srgbClr val="FFFFFF"/>
              </a:solidFill>
              <a:latin typeface="Mina"/>
              <a:ea typeface="Mina"/>
              <a:cs typeface="Mina"/>
              <a:sym typeface="Mina"/>
            </a:endParaRPr>
          </a:p>
        </p:txBody>
      </p:sp>
      <p:sp>
        <p:nvSpPr>
          <p:cNvPr id="4" name="Freeform 4"/>
          <p:cNvSpPr/>
          <p:nvPr/>
        </p:nvSpPr>
        <p:spPr>
          <a:xfrm rot="10093611">
            <a:off x="-895772" y="6734492"/>
            <a:ext cx="20079544" cy="12134401"/>
          </a:xfrm>
          <a:custGeom>
            <a:avLst/>
            <a:gdLst/>
            <a:ahLst/>
            <a:cxnLst/>
            <a:rect l="l" t="t" r="r" b="b"/>
            <a:pathLst>
              <a:path w="20079544" h="12134401">
                <a:moveTo>
                  <a:pt x="0" y="0"/>
                </a:moveTo>
                <a:lnTo>
                  <a:pt x="20079544" y="0"/>
                </a:lnTo>
                <a:lnTo>
                  <a:pt x="20079544" y="12134401"/>
                </a:lnTo>
                <a:lnTo>
                  <a:pt x="0" y="121344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5" name="Group 5"/>
          <p:cNvGrpSpPr/>
          <p:nvPr/>
        </p:nvGrpSpPr>
        <p:grpSpPr>
          <a:xfrm>
            <a:off x="477284" y="2308723"/>
            <a:ext cx="304740" cy="304740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DDD3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36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77284" y="4838760"/>
            <a:ext cx="304740" cy="304740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26EE8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36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7342358" y="1336511"/>
            <a:ext cx="9919751" cy="4959875"/>
          </a:xfrm>
          <a:custGeom>
            <a:avLst/>
            <a:gdLst/>
            <a:ahLst/>
            <a:cxnLst/>
            <a:rect l="l" t="t" r="r" b="b"/>
            <a:pathLst>
              <a:path w="9919751" h="4959875">
                <a:moveTo>
                  <a:pt x="0" y="0"/>
                </a:moveTo>
                <a:lnTo>
                  <a:pt x="9919751" y="0"/>
                </a:lnTo>
                <a:lnTo>
                  <a:pt x="9919751" y="4959876"/>
                </a:lnTo>
                <a:lnTo>
                  <a:pt x="0" y="49598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031509" y="7213781"/>
            <a:ext cx="16230600" cy="999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2"/>
              </a:lnSpc>
            </a:pPr>
            <a:r>
              <a:rPr lang="en-US" sz="2499" b="1">
                <a:solidFill>
                  <a:srgbClr val="FFFFFF"/>
                </a:solidFill>
                <a:latin typeface="Mina Bold"/>
                <a:ea typeface="Mina Bold"/>
                <a:cs typeface="Mina Bold"/>
                <a:sym typeface="Mina Bold"/>
              </a:rPr>
              <a:t>De ce e totuși important OSI?</a:t>
            </a:r>
            <a:r>
              <a:rPr lang="en-US" sz="2499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 Este precum ”gramatica” unei limbi vorbite (aici, TCP/IP) - formalizează vocabularul și logica din spatele modelului practic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76330" y="3680381"/>
            <a:ext cx="304740" cy="30474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DDD3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36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-3054446">
            <a:off x="-3681455" y="6008462"/>
            <a:ext cx="8248460" cy="9570997"/>
          </a:xfrm>
          <a:custGeom>
            <a:avLst/>
            <a:gdLst/>
            <a:ahLst/>
            <a:cxnLst/>
            <a:rect l="l" t="t" r="r" b="b"/>
            <a:pathLst>
              <a:path w="8248460" h="9570997">
                <a:moveTo>
                  <a:pt x="0" y="0"/>
                </a:moveTo>
                <a:lnTo>
                  <a:pt x="8248460" y="0"/>
                </a:lnTo>
                <a:lnTo>
                  <a:pt x="8248460" y="9570998"/>
                </a:lnTo>
                <a:lnTo>
                  <a:pt x="0" y="95709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7720979">
            <a:off x="17199507" y="-3746433"/>
            <a:ext cx="8108454" cy="9408544"/>
          </a:xfrm>
          <a:custGeom>
            <a:avLst/>
            <a:gdLst/>
            <a:ahLst/>
            <a:cxnLst/>
            <a:rect l="l" t="t" r="r" b="b"/>
            <a:pathLst>
              <a:path w="8108454" h="9408544">
                <a:moveTo>
                  <a:pt x="0" y="0"/>
                </a:moveTo>
                <a:lnTo>
                  <a:pt x="8108454" y="0"/>
                </a:lnTo>
                <a:lnTo>
                  <a:pt x="8108454" y="9408544"/>
                </a:lnTo>
                <a:lnTo>
                  <a:pt x="0" y="94085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028700" y="1028700"/>
            <a:ext cx="11457744" cy="760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855"/>
              </a:lnSpc>
            </a:pPr>
            <a:r>
              <a:rPr lang="en-US" sz="5004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Problema antetelor: Endianness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14776" y="3575606"/>
            <a:ext cx="15944524" cy="999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52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Am stabilit că TCP/IP adaugă "Headers" (ex: Portul destinație 80). Dar pe cablu, acel port este doar un șir de semnale electrice (biți/octeți).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2352874"/>
            <a:ext cx="12552949" cy="485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52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Endianess = ordinea în care octeții (bytes) sunt așezați în reprezentarea datelor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876330" y="5242164"/>
            <a:ext cx="304740" cy="304740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E71B1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36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314776" y="4927839"/>
            <a:ext cx="15944524" cy="306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49"/>
              </a:lnSpc>
            </a:pPr>
            <a:r>
              <a:rPr lang="en-US" sz="2499" b="1">
                <a:solidFill>
                  <a:srgbClr val="FFFFFF"/>
                </a:solidFill>
                <a:latin typeface="Mina Bold"/>
                <a:ea typeface="Mina Bold"/>
                <a:cs typeface="Mina Bold"/>
                <a:sym typeface="Mina Bold"/>
              </a:rPr>
              <a:t>Analogia Datei: </a:t>
            </a:r>
            <a:r>
              <a:rPr lang="en-US" sz="2499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Dacă scriu data 05/04/2026, ce înseamnă? </a:t>
            </a:r>
          </a:p>
          <a:p>
            <a:pPr marL="539749" lvl="1" indent="-269875" algn="l">
              <a:lnSpc>
                <a:spcPts val="624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RO: 5 Aprilie; </a:t>
            </a:r>
          </a:p>
          <a:p>
            <a:pPr marL="539749" lvl="1" indent="-269875" algn="l">
              <a:lnSpc>
                <a:spcPts val="624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SUA: 4 Mai</a:t>
            </a:r>
          </a:p>
          <a:p>
            <a:pPr algn="l">
              <a:lnSpc>
                <a:spcPts val="6249"/>
              </a:lnSpc>
            </a:pPr>
            <a:r>
              <a:rPr lang="en-US" sz="2499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  → Datele nu s-au pierdut pe drum, dar ordinea de citire a fost greșită, ducând la un mesaj corupt.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654103" y="8344139"/>
            <a:ext cx="10979795" cy="692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49"/>
              </a:lnSpc>
            </a:pPr>
            <a:r>
              <a:rPr lang="en-US" sz="2499" b="1">
                <a:solidFill>
                  <a:srgbClr val="06B6B1"/>
                </a:solidFill>
                <a:latin typeface="Mina Bold"/>
                <a:ea typeface="Mina Bold"/>
                <a:cs typeface="Mina Bold"/>
                <a:sym typeface="Mina Bold"/>
              </a:rPr>
              <a:t>Exact aceeași problemă la Host (device-ul nostru) order vs Network order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606087" y="2273340"/>
            <a:ext cx="4055621" cy="701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u="sng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  <a:hlinkClick r:id="rId4" tooltip="https://medium.com/@tom_84912/unraveling-the-endianness-mess-86b7b0ef56a6"/>
              </a:rPr>
              <a:t>Articol care vorbește mai mult despre Endian(m)ess</a:t>
            </a:r>
            <a:r>
              <a:rPr lang="en-US" sz="2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:)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23960" y="2333025"/>
            <a:ext cx="304740" cy="30474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3053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36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-2142885">
            <a:off x="-4671171" y="5468822"/>
            <a:ext cx="8248460" cy="9570997"/>
          </a:xfrm>
          <a:custGeom>
            <a:avLst/>
            <a:gdLst/>
            <a:ahLst/>
            <a:cxnLst/>
            <a:rect l="l" t="t" r="r" b="b"/>
            <a:pathLst>
              <a:path w="8248460" h="9570997">
                <a:moveTo>
                  <a:pt x="0" y="0"/>
                </a:moveTo>
                <a:lnTo>
                  <a:pt x="8248459" y="0"/>
                </a:lnTo>
                <a:lnTo>
                  <a:pt x="8248459" y="9570998"/>
                </a:lnTo>
                <a:lnTo>
                  <a:pt x="0" y="95709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9423391">
            <a:off x="17363653" y="-5960495"/>
            <a:ext cx="8108454" cy="9408544"/>
          </a:xfrm>
          <a:custGeom>
            <a:avLst/>
            <a:gdLst/>
            <a:ahLst/>
            <a:cxnLst/>
            <a:rect l="l" t="t" r="r" b="b"/>
            <a:pathLst>
              <a:path w="8108454" h="9408544">
                <a:moveTo>
                  <a:pt x="0" y="0"/>
                </a:moveTo>
                <a:lnTo>
                  <a:pt x="8108454" y="0"/>
                </a:lnTo>
                <a:lnTo>
                  <a:pt x="8108454" y="9408544"/>
                </a:lnTo>
                <a:lnTo>
                  <a:pt x="0" y="94085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733485" y="3961295"/>
            <a:ext cx="304740" cy="304740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39D97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36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1420661" y="2224181"/>
            <a:ext cx="5838639" cy="2919319"/>
          </a:xfrm>
          <a:custGeom>
            <a:avLst/>
            <a:gdLst/>
            <a:ahLst/>
            <a:cxnLst/>
            <a:rect l="l" t="t" r="r" b="b"/>
            <a:pathLst>
              <a:path w="5838639" h="2919319">
                <a:moveTo>
                  <a:pt x="0" y="0"/>
                </a:moveTo>
                <a:lnTo>
                  <a:pt x="5838639" y="0"/>
                </a:lnTo>
                <a:lnTo>
                  <a:pt x="5838639" y="2919319"/>
                </a:lnTo>
                <a:lnTo>
                  <a:pt x="0" y="29193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038225" y="1028700"/>
            <a:ext cx="11457744" cy="760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855"/>
              </a:lnSpc>
            </a:pPr>
            <a:r>
              <a:rPr lang="en-US" sz="5004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Network vs Host Order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05133" y="1985950"/>
            <a:ext cx="9777142" cy="306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49"/>
              </a:lnSpc>
            </a:pPr>
            <a:r>
              <a:rPr lang="en-US" sz="2499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Network Order = Big Endian (trimite octeții de la stânga la dreapta, primul octet = MSB = most singificant byte)</a:t>
            </a:r>
          </a:p>
          <a:p>
            <a:pPr algn="l">
              <a:lnSpc>
                <a:spcPts val="6249"/>
              </a:lnSpc>
            </a:pPr>
            <a:r>
              <a:rPr lang="en-US" sz="2499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Host Order = Little Endian (trimite octeții de la dreapta la stânga, primul octet = LSB = least significant byte)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288636" y="5343525"/>
            <a:ext cx="5710727" cy="2273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49"/>
              </a:lnSpc>
            </a:pPr>
            <a:r>
              <a:rPr lang="en-US" sz="2499">
                <a:solidFill>
                  <a:srgbClr val="06B6B1"/>
                </a:solidFill>
                <a:latin typeface="Mina"/>
                <a:ea typeface="Mina"/>
                <a:cs typeface="Mina"/>
                <a:sym typeface="Mina"/>
              </a:rPr>
              <a:t>Ex: numărul hexazecimal 0x12345678: </a:t>
            </a:r>
          </a:p>
          <a:p>
            <a:pPr marL="539749" lvl="1" indent="-269875" algn="l">
              <a:lnSpc>
                <a:spcPts val="6249"/>
              </a:lnSpc>
              <a:buFont typeface="Arial"/>
              <a:buChar char="•"/>
            </a:pPr>
            <a:r>
              <a:rPr lang="en-US" sz="2499">
                <a:solidFill>
                  <a:srgbClr val="06B6B1"/>
                </a:solidFill>
                <a:latin typeface="Mina"/>
                <a:ea typeface="Mina"/>
                <a:cs typeface="Mina"/>
                <a:sym typeface="Mina"/>
              </a:rPr>
              <a:t>LE (Host): 78 56 34 12</a:t>
            </a:r>
          </a:p>
          <a:p>
            <a:pPr marL="539749" lvl="1" indent="-269875" algn="l">
              <a:lnSpc>
                <a:spcPts val="6249"/>
              </a:lnSpc>
              <a:buFont typeface="Arial"/>
              <a:buChar char="•"/>
            </a:pPr>
            <a:r>
              <a:rPr lang="en-US" sz="2499">
                <a:solidFill>
                  <a:srgbClr val="06B6B1"/>
                </a:solidFill>
                <a:latin typeface="Mina"/>
                <a:ea typeface="Mina"/>
                <a:cs typeface="Mina"/>
                <a:sym typeface="Mina"/>
              </a:rPr>
              <a:t>BE (Network): 12 34 56 78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7775575"/>
            <a:ext cx="16230600" cy="1482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49"/>
              </a:lnSpc>
            </a:pPr>
            <a:r>
              <a:rPr lang="en-US" sz="2499" b="1">
                <a:solidFill>
                  <a:srgbClr val="FFFFFF"/>
                </a:solidFill>
                <a:latin typeface="Mina Bold"/>
                <a:ea typeface="Mina Bold"/>
                <a:cs typeface="Mina Bold"/>
                <a:sym typeface="Mina Bold"/>
              </a:rPr>
              <a:t>De ce sunt diferite? </a:t>
            </a:r>
            <a:r>
              <a:rPr lang="en-US" sz="2499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→ design pt. scopuri diferite; host order prioritizează eficiența CPU (calcule mai rapide) vs network order (BE) reprezintă ordinea standard de transmitere pt. majoritatea arhitecturilor hardware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028700"/>
            <a:ext cx="11886117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850"/>
              </a:lnSpc>
            </a:pPr>
            <a:r>
              <a:rPr lang="en-US" sz="500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Intro Python pt. Rețele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708863" y="2606842"/>
            <a:ext cx="11205954" cy="25428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2"/>
              </a:lnSpc>
            </a:pPr>
            <a:r>
              <a:rPr lang="en-US" sz="2499" b="1">
                <a:solidFill>
                  <a:srgbClr val="FFFFFF"/>
                </a:solidFill>
                <a:latin typeface="Mina Bold"/>
                <a:ea typeface="Mina Bold"/>
                <a:cs typeface="Mina Bold"/>
                <a:sym typeface="Mina Bold"/>
              </a:rPr>
              <a:t>De ce Python pentru Rețele?</a:t>
            </a:r>
          </a:p>
          <a:p>
            <a:pPr marL="539749" lvl="1" indent="-269875" algn="l">
              <a:lnSpc>
                <a:spcPts val="4052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Sintaxă clară și concisă</a:t>
            </a:r>
          </a:p>
          <a:p>
            <a:pPr marL="539749" lvl="1" indent="-269875" algn="l">
              <a:lnSpc>
                <a:spcPts val="4052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Librării bune: socket, struct, scapy</a:t>
            </a:r>
          </a:p>
          <a:p>
            <a:pPr marL="539749" lvl="1" indent="-269875" algn="l">
              <a:lnSpc>
                <a:spcPts val="4052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Portabilitate: rulează identic pe orice OS</a:t>
            </a:r>
          </a:p>
          <a:p>
            <a:pPr algn="l">
              <a:lnSpc>
                <a:spcPts val="4052"/>
              </a:lnSpc>
            </a:pPr>
            <a:endParaRPr lang="en-US" sz="2499">
              <a:solidFill>
                <a:srgbClr val="FFFFFF"/>
              </a:solidFill>
              <a:latin typeface="Mina"/>
              <a:ea typeface="Mina"/>
              <a:cs typeface="Mina"/>
              <a:sym typeface="Mina"/>
            </a:endParaRPr>
          </a:p>
        </p:txBody>
      </p:sp>
      <p:sp>
        <p:nvSpPr>
          <p:cNvPr id="4" name="Freeform 4"/>
          <p:cNvSpPr/>
          <p:nvPr/>
        </p:nvSpPr>
        <p:spPr>
          <a:xfrm rot="-4545891">
            <a:off x="4422742" y="2955614"/>
            <a:ext cx="20079544" cy="12134401"/>
          </a:xfrm>
          <a:custGeom>
            <a:avLst/>
            <a:gdLst/>
            <a:ahLst/>
            <a:cxnLst/>
            <a:rect l="l" t="t" r="r" b="b"/>
            <a:pathLst>
              <a:path w="20079544" h="12134401">
                <a:moveTo>
                  <a:pt x="0" y="0"/>
                </a:moveTo>
                <a:lnTo>
                  <a:pt x="20079545" y="0"/>
                </a:lnTo>
                <a:lnTo>
                  <a:pt x="20079545" y="12134401"/>
                </a:lnTo>
                <a:lnTo>
                  <a:pt x="0" y="121344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5" name="Group 5"/>
          <p:cNvGrpSpPr/>
          <p:nvPr/>
        </p:nvGrpSpPr>
        <p:grpSpPr>
          <a:xfrm>
            <a:off x="1028700" y="2711617"/>
            <a:ext cx="304740" cy="304740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DDD3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36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9615503" y="6105894"/>
            <a:ext cx="1952925" cy="1952925"/>
          </a:xfrm>
          <a:custGeom>
            <a:avLst/>
            <a:gdLst/>
            <a:ahLst/>
            <a:cxnLst/>
            <a:rect l="l" t="t" r="r" b="b"/>
            <a:pathLst>
              <a:path w="1952925" h="1952925">
                <a:moveTo>
                  <a:pt x="0" y="0"/>
                </a:moveTo>
                <a:lnTo>
                  <a:pt x="1952925" y="0"/>
                </a:lnTo>
                <a:lnTo>
                  <a:pt x="1952925" y="1952924"/>
                </a:lnTo>
                <a:lnTo>
                  <a:pt x="0" y="19529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708863" y="6272890"/>
            <a:ext cx="11205954" cy="1514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2"/>
              </a:lnSpc>
            </a:pPr>
            <a:r>
              <a:rPr lang="en-US" sz="2499" b="1">
                <a:solidFill>
                  <a:srgbClr val="FFFFFF"/>
                </a:solidFill>
                <a:latin typeface="Mina Bold"/>
                <a:ea typeface="Mina Bold"/>
                <a:cs typeface="Mina Bold"/>
                <a:sym typeface="Mina Bold"/>
              </a:rPr>
              <a:t>Exerciții în Python!</a:t>
            </a:r>
          </a:p>
          <a:p>
            <a:pPr marL="539749" lvl="1" indent="-269875" algn="l">
              <a:lnSpc>
                <a:spcPts val="4052"/>
              </a:lnSpc>
              <a:buAutoNum type="arabicPeriod"/>
            </a:pPr>
            <a:r>
              <a:rPr lang="en-US" sz="2499" b="1">
                <a:solidFill>
                  <a:srgbClr val="FFFFFF"/>
                </a:solidFill>
                <a:latin typeface="Mina Bold"/>
                <a:ea typeface="Mina Bold"/>
                <a:cs typeface="Mina Bold"/>
                <a:sym typeface="Mina Bold"/>
              </a:rPr>
              <a:t>conversia unui octet IP</a:t>
            </a:r>
          </a:p>
          <a:p>
            <a:pPr marL="539749" lvl="1" indent="-269875" algn="l">
              <a:lnSpc>
                <a:spcPts val="4052"/>
              </a:lnSpc>
              <a:buAutoNum type="arabicPeriod"/>
            </a:pPr>
            <a:r>
              <a:rPr lang="en-US" sz="2499" b="1">
                <a:solidFill>
                  <a:srgbClr val="FFFFFF"/>
                </a:solidFill>
                <a:latin typeface="Mina Bold"/>
                <a:ea typeface="Mina Bold"/>
                <a:cs typeface="Mina Bold"/>
                <a:sym typeface="Mina Bold"/>
              </a:rPr>
              <a:t>construiește adresa de rețea din IP și mască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028700" y="6377665"/>
            <a:ext cx="304740" cy="304740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DDD3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36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028700"/>
            <a:ext cx="11886117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850"/>
              </a:lnSpc>
            </a:pPr>
            <a:r>
              <a:rPr lang="en-US" sz="500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Python struct: Bytes ca C Types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708863" y="2606842"/>
            <a:ext cx="11928257" cy="25428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2"/>
              </a:lnSpc>
            </a:pPr>
            <a:r>
              <a:rPr lang="en-US" sz="2499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Protocoalele de rețea definesc headerele în termeni de tipuri C cu lungimi fixe:</a:t>
            </a:r>
          </a:p>
          <a:p>
            <a:pPr marL="539749" lvl="1" indent="-269875" algn="l">
              <a:lnSpc>
                <a:spcPts val="4052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primii 4 biți = versiunea IP (unsigned nibble)</a:t>
            </a:r>
          </a:p>
          <a:p>
            <a:pPr marL="539749" lvl="1" indent="-269875" algn="l">
              <a:lnSpc>
                <a:spcPts val="4052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bytes 0-1 = portul sursă (unsigned short, 16 biți)</a:t>
            </a:r>
          </a:p>
          <a:p>
            <a:pPr marL="539749" lvl="1" indent="-269875" algn="l">
              <a:lnSpc>
                <a:spcPts val="4052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bytes 2-5 = numărul de secvență (unsigned int, 32 biți)</a:t>
            </a:r>
          </a:p>
          <a:p>
            <a:pPr algn="l">
              <a:lnSpc>
                <a:spcPts val="4052"/>
              </a:lnSpc>
            </a:pPr>
            <a:endParaRPr lang="en-US" sz="2499">
              <a:solidFill>
                <a:srgbClr val="FFFFFF"/>
              </a:solidFill>
              <a:latin typeface="Mina"/>
              <a:ea typeface="Mina"/>
              <a:cs typeface="Mina"/>
              <a:sym typeface="Mina"/>
            </a:endParaRPr>
          </a:p>
        </p:txBody>
      </p:sp>
      <p:sp>
        <p:nvSpPr>
          <p:cNvPr id="4" name="Freeform 4"/>
          <p:cNvSpPr/>
          <p:nvPr/>
        </p:nvSpPr>
        <p:spPr>
          <a:xfrm rot="1693426">
            <a:off x="12484755" y="2564748"/>
            <a:ext cx="16876795" cy="10198927"/>
          </a:xfrm>
          <a:custGeom>
            <a:avLst/>
            <a:gdLst/>
            <a:ahLst/>
            <a:cxnLst/>
            <a:rect l="l" t="t" r="r" b="b"/>
            <a:pathLst>
              <a:path w="16876795" h="10198927">
                <a:moveTo>
                  <a:pt x="0" y="0"/>
                </a:moveTo>
                <a:lnTo>
                  <a:pt x="16876795" y="0"/>
                </a:lnTo>
                <a:lnTo>
                  <a:pt x="16876795" y="10198927"/>
                </a:lnTo>
                <a:lnTo>
                  <a:pt x="0" y="101989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5" name="Group 5"/>
          <p:cNvGrpSpPr/>
          <p:nvPr/>
        </p:nvGrpSpPr>
        <p:grpSpPr>
          <a:xfrm>
            <a:off x="1028700" y="2711617"/>
            <a:ext cx="304740" cy="304740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DDD3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36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588479" y="5019675"/>
            <a:ext cx="13854398" cy="999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2"/>
              </a:lnSpc>
            </a:pPr>
            <a:r>
              <a:rPr lang="en-US" sz="2499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Python lucrează cu integers de dimensiune arbitrară, nu cu tipuri C fixe</a:t>
            </a:r>
          </a:p>
          <a:p>
            <a:pPr algn="l">
              <a:lnSpc>
                <a:spcPts val="4052"/>
              </a:lnSpc>
            </a:pPr>
            <a:r>
              <a:rPr lang="en-US" sz="2499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→ modulul </a:t>
            </a:r>
            <a:r>
              <a:rPr lang="en-US" sz="2499" b="1">
                <a:solidFill>
                  <a:srgbClr val="FFFFFF"/>
                </a:solidFill>
                <a:latin typeface="Mina Bold"/>
                <a:ea typeface="Mina Bold"/>
                <a:cs typeface="Mina Bold"/>
                <a:sym typeface="Mina Bold"/>
              </a:rPr>
              <a:t>struct </a:t>
            </a:r>
            <a:r>
              <a:rPr lang="en-US" sz="2499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convertește tipuri Python ↔ bytes cu tipuri C cu lungimi exacte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028700" y="5143500"/>
            <a:ext cx="304740" cy="304740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DDD3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36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5161301" y="6687749"/>
            <a:ext cx="1952925" cy="1952925"/>
          </a:xfrm>
          <a:custGeom>
            <a:avLst/>
            <a:gdLst/>
            <a:ahLst/>
            <a:cxnLst/>
            <a:rect l="l" t="t" r="r" b="b"/>
            <a:pathLst>
              <a:path w="1952925" h="1952925">
                <a:moveTo>
                  <a:pt x="0" y="0"/>
                </a:moveTo>
                <a:lnTo>
                  <a:pt x="1952924" y="0"/>
                </a:lnTo>
                <a:lnTo>
                  <a:pt x="1952924" y="1952925"/>
                </a:lnTo>
                <a:lnTo>
                  <a:pt x="0" y="19529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708863" y="6854745"/>
            <a:ext cx="3452438" cy="1514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2"/>
              </a:lnSpc>
            </a:pPr>
            <a:r>
              <a:rPr lang="en-US" sz="2499" b="1">
                <a:solidFill>
                  <a:srgbClr val="FFFFFF"/>
                </a:solidFill>
                <a:latin typeface="Mina Bold"/>
                <a:ea typeface="Mina Bold"/>
                <a:cs typeface="Mina Bold"/>
                <a:sym typeface="Mina Bold"/>
              </a:rPr>
              <a:t>Exerciții în Python!</a:t>
            </a:r>
          </a:p>
          <a:p>
            <a:pPr marL="539749" lvl="1" indent="-269875" algn="l">
              <a:lnSpc>
                <a:spcPts val="4052"/>
              </a:lnSpc>
              <a:buAutoNum type="arabicPeriod"/>
            </a:pPr>
            <a:r>
              <a:rPr lang="en-US" sz="2499" b="1">
                <a:solidFill>
                  <a:srgbClr val="FFFFFF"/>
                </a:solidFill>
                <a:latin typeface="Mina Bold"/>
                <a:ea typeface="Mina Bold"/>
                <a:cs typeface="Mina Bold"/>
                <a:sym typeface="Mina Bold"/>
              </a:rPr>
              <a:t>Struct</a:t>
            </a:r>
          </a:p>
          <a:p>
            <a:pPr marL="539749" lvl="1" indent="-269875" algn="l">
              <a:lnSpc>
                <a:spcPts val="4052"/>
              </a:lnSpc>
              <a:buAutoNum type="arabicPeriod"/>
            </a:pPr>
            <a:r>
              <a:rPr lang="en-US" sz="2499" b="1">
                <a:solidFill>
                  <a:srgbClr val="FFFFFF"/>
                </a:solidFill>
                <a:latin typeface="Mina Bold"/>
                <a:ea typeface="Mina Bold"/>
                <a:cs typeface="Mina Bold"/>
                <a:sym typeface="Mina Bold"/>
              </a:rPr>
              <a:t>Endian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028700" y="6959520"/>
            <a:ext cx="304740" cy="304740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DDD3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36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8515678" y="7369095"/>
            <a:ext cx="5121441" cy="485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2"/>
              </a:lnSpc>
            </a:pPr>
            <a:r>
              <a:rPr lang="en-US" sz="2499" b="1" u="sng">
                <a:solidFill>
                  <a:srgbClr val="FFFFFF"/>
                </a:solidFill>
                <a:latin typeface="Mina Bold"/>
                <a:ea typeface="Mina Bold"/>
                <a:cs typeface="Mina Bold"/>
                <a:sym typeface="Mina Bold"/>
                <a:hlinkClick r:id="rId4" tooltip="https://github.com/senisioi/computer-networks/tree/2026/capitolul1#tipuri-de-formatare"/>
              </a:rPr>
              <a:t>! Tabel complet cu C Types în repo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2273827"/>
            <a:ext cx="304740" cy="30474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DDD3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36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-3054446">
            <a:off x="-3256042" y="5641949"/>
            <a:ext cx="8248460" cy="9570997"/>
          </a:xfrm>
          <a:custGeom>
            <a:avLst/>
            <a:gdLst/>
            <a:ahLst/>
            <a:cxnLst/>
            <a:rect l="l" t="t" r="r" b="b"/>
            <a:pathLst>
              <a:path w="8248460" h="9570997">
                <a:moveTo>
                  <a:pt x="0" y="0"/>
                </a:moveTo>
                <a:lnTo>
                  <a:pt x="8248460" y="0"/>
                </a:lnTo>
                <a:lnTo>
                  <a:pt x="8248460" y="9570998"/>
                </a:lnTo>
                <a:lnTo>
                  <a:pt x="0" y="95709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9690128">
            <a:off x="14782582" y="-4503333"/>
            <a:ext cx="8108454" cy="9408544"/>
          </a:xfrm>
          <a:custGeom>
            <a:avLst/>
            <a:gdLst/>
            <a:ahLst/>
            <a:cxnLst/>
            <a:rect l="l" t="t" r="r" b="b"/>
            <a:pathLst>
              <a:path w="8108454" h="9408544">
                <a:moveTo>
                  <a:pt x="0" y="0"/>
                </a:moveTo>
                <a:lnTo>
                  <a:pt x="8108454" y="0"/>
                </a:lnTo>
                <a:lnTo>
                  <a:pt x="8108454" y="9408544"/>
                </a:lnTo>
                <a:lnTo>
                  <a:pt x="0" y="94085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028700" y="1028700"/>
            <a:ext cx="14018868" cy="760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855"/>
              </a:lnSpc>
            </a:pPr>
            <a:r>
              <a:rPr lang="en-US" sz="5004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Scapy: Capturarea Pachetelor în Cod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81403" y="2169052"/>
            <a:ext cx="16079496" cy="35715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2"/>
              </a:lnSpc>
            </a:pPr>
            <a:r>
              <a:rPr lang="en-US" sz="2499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librărie Python care permite:</a:t>
            </a:r>
          </a:p>
          <a:p>
            <a:pPr marL="539749" lvl="1" indent="-269875" algn="l">
              <a:lnSpc>
                <a:spcPts val="4052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Capturarea pachetelor (similar cu tcpdump, dar în cod)</a:t>
            </a:r>
          </a:p>
          <a:p>
            <a:pPr marL="539749" lvl="1" indent="-269875" algn="l">
              <a:lnSpc>
                <a:spcPts val="4052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Construirea pachetelor de la zero, câmp cu câmp</a:t>
            </a:r>
          </a:p>
          <a:p>
            <a:pPr marL="539749" lvl="1" indent="-269875" algn="l">
              <a:lnSpc>
                <a:spcPts val="4052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Trimiterea pachetelor în rețea</a:t>
            </a:r>
          </a:p>
          <a:p>
            <a:pPr marL="539749" lvl="1" indent="-269875" algn="l">
              <a:lnSpc>
                <a:spcPts val="4052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Parsarea pachetelor capturate sau citite din fișiere .pcap</a:t>
            </a:r>
          </a:p>
          <a:p>
            <a:pPr marL="539749" lvl="1" indent="-269875" algn="l">
              <a:lnSpc>
                <a:spcPts val="4052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permite procesarea programatică = poți scrie logică complexă de filtrare, statistici, modificare de pachete.</a:t>
            </a:r>
          </a:p>
          <a:p>
            <a:pPr marL="0" lvl="0" indent="0" algn="l">
              <a:lnSpc>
                <a:spcPts val="4052"/>
              </a:lnSpc>
              <a:spcBef>
                <a:spcPct val="0"/>
              </a:spcBef>
            </a:pPr>
            <a:endParaRPr lang="en-US" sz="2499">
              <a:solidFill>
                <a:srgbClr val="FFFFFF"/>
              </a:solidFill>
              <a:latin typeface="Mina"/>
              <a:ea typeface="Mina"/>
              <a:cs typeface="Mina"/>
              <a:sym typeface="Mina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681403" y="7261434"/>
            <a:ext cx="6095628" cy="70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EDDD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docker compose exec --user root rt1 bash</a:t>
            </a:r>
          </a:p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EDDD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pip3 install --pre scapy[complete]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521528" y="6178759"/>
            <a:ext cx="7508723" cy="3521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EDDD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from scapy.all import *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endParaRPr lang="en-US" sz="2000">
              <a:solidFill>
                <a:srgbClr val="2EDDD3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EDDD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pachete = sniff()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EDDD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#Ctrl+C pentru oprire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endParaRPr lang="en-US" sz="2000">
              <a:solidFill>
                <a:srgbClr val="2EDDD3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EDDD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#facem chestii pe retea, ping de pe rt2 etc.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EDDD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print(pachete)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endParaRPr lang="en-US" sz="2000">
              <a:solidFill>
                <a:srgbClr val="2EDDD3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EDDD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#afisarea pachet capturat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EDDD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pachete[0].show()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81403" y="6229718"/>
            <a:ext cx="16079496" cy="485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2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Instalare: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221C8B2CFB0674DB019642B79189267" ma:contentTypeVersion="3" ma:contentTypeDescription="Create a new document." ma:contentTypeScope="" ma:versionID="3730ba48a3faed4d437cc028af4bfb75">
  <xsd:schema xmlns:xsd="http://www.w3.org/2001/XMLSchema" xmlns:xs="http://www.w3.org/2001/XMLSchema" xmlns:p="http://schemas.microsoft.com/office/2006/metadata/properties" xmlns:ns2="d08c9caa-a0fe-460d-8a2d-f490510db976" targetNamespace="http://schemas.microsoft.com/office/2006/metadata/properties" ma:root="true" ma:fieldsID="88bea3ddf6b4d86f276c91c496efd80d" ns2:_="">
    <xsd:import namespace="d08c9caa-a0fe-460d-8a2d-f490510db97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08c9caa-a0fe-460d-8a2d-f490510db97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C7CD165-F83D-4211-B497-64ACE1F5BFBC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7B88008A-73EB-4CA8-851B-0203AFF6573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08c9caa-a0fe-460d-8a2d-f490510db97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EDE5B86-737B-40C1-9820-94889B013A8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17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Retele 2026 Cap 1</dc:title>
  <cp:revision>3</cp:revision>
  <dcterms:created xsi:type="dcterms:W3CDTF">2006-08-16T00:00:00Z</dcterms:created>
  <dcterms:modified xsi:type="dcterms:W3CDTF">2026-03-16T13:36:13Z</dcterms:modified>
  <dc:identifier>DAHD3JP-L4c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0x010100D221C8B2CFB0674DB019642B79189267</vt:lpwstr>
  </property>
</Properties>
</file>