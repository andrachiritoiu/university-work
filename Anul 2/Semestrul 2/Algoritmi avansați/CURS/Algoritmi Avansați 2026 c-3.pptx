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jWROuD9LQbZC27Dk0wqQeoVNV9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e7a6748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ce7a6748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e7a67488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ce7a67488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3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3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3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tefan.popescu@fmi.unibuc.ro" TargetMode="External"/><Relationship Id="rId4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-plxTcicBexi6NKf1bURYGCw1slfoZJU/vie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-plxTcicBexi6NKf1bURYGCw1slfoZJU/view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file/d/1-plxTcicBexi6NKf1bURYGCw1slfoZJU/vie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hyperlink" Target="https://stefanpopescu-ai.github.io/Aproximare-2-pentru-TSP-Metric/" TargetMode="External"/><Relationship Id="rId6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hyperlink" Target="https://stefanpopescu-ai.github.io/Aproximare-2-pentru-TSP-Metric/" TargetMode="External"/><Relationship Id="rId6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file/d/1-plxTcicBexi6NKf1bURYGCw1slfoZJU/vie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rive.google.com/drive/folders/1LHrsPY8bB9LvEgbB_7oguAf-Tu6PlJv9?usp=drive_link" TargetMode="Externa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82375" y="763200"/>
            <a:ext cx="777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71048"/>
              <a:buNone/>
            </a:pPr>
            <a:r>
              <a:rPr lang="ro"/>
              <a:t>Algoritmi Avansați 2026</a:t>
            </a:r>
            <a:br>
              <a:rPr lang="ro"/>
            </a:br>
            <a:r>
              <a:rPr lang="ro"/>
              <a:t>c-3</a:t>
            </a:r>
            <a:br>
              <a:rPr lang="ro"/>
            </a:br>
            <a:r>
              <a:rPr lang="ro" sz="3300"/>
              <a:t>Hamiltonian Cycle Problem, TSP,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ro" sz="3300"/>
              <a:t>bonus: Christofides’ algorithm</a:t>
            </a:r>
            <a:endParaRPr sz="33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401500"/>
            <a:ext cx="7688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Lect. Dr. Ștefan Popescu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Email: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stefan.popescu@fmi.unibuc.ro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ro"/>
              <a:t>Grup Teams:</a:t>
            </a:r>
            <a:br>
              <a:rPr lang="ro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000" y="3358800"/>
            <a:ext cx="5485325" cy="17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Ciclu Hamiltonian (HC-Problem)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</a:t>
            </a:r>
            <a:r>
              <a:rPr b="1" i="1" lang="ro"/>
              <a:t>G=(V,E)</a:t>
            </a:r>
            <a:r>
              <a:rPr b="1" lang="ro"/>
              <a:t> un graf neorientat.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Numim </a:t>
            </a:r>
            <a:r>
              <a:rPr b="1" i="1" lang="ro"/>
              <a:t>ciclu hamiltonian</a:t>
            </a:r>
            <a:r>
              <a:rPr b="1" lang="ro"/>
              <a:t> un ciclu în </a:t>
            </a:r>
            <a:r>
              <a:rPr b="1" i="1" lang="ro"/>
              <a:t>G</a:t>
            </a:r>
            <a:r>
              <a:rPr b="1" lang="ro"/>
              <a:t> cu proprietatea că fiecare nod apare exact o singură dată.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HC-Problem este problema de decizie dacă într-un graf oarecare există sau nu un astfel de ciclu.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u="sng"/>
              <a:t>HC-Problem este NP-Completa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Fie G un graf complet cu ponderi&gt;0 pe muchii.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Evident G este graf hamiltonian, dar se pune problema găsirii ciclului hamiltonian de cost total minim</a:t>
            </a:r>
            <a:r>
              <a:rPr b="1" lang="ro"/>
              <a:t>.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Costul unui ciclu este suma costurilor muchiilor din componența sa.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15616" l="0" r="47432" t="0"/>
          <a:stretch/>
        </p:blipFill>
        <p:spPr>
          <a:xfrm>
            <a:off x="7037925" y="464900"/>
            <a:ext cx="2032424" cy="183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Fie G un graf complet cu ponderi&gt;0 pe muchii.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Evident G este graf hamiltonian, dar se pune problema găsirii ciclului hamiltonian de cost total minim</a:t>
            </a:r>
            <a:r>
              <a:rPr b="1" lang="ro"/>
              <a:t>.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Costul unui ciclu este suma costurilor muchiilor din componența sa.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TSP: </a:t>
            </a:r>
            <a:br>
              <a:rPr lang="ro"/>
            </a:br>
            <a:r>
              <a:rPr lang="ro"/>
              <a:t>”Un vânzător ambulant vrea să își promoveze produsele în </a:t>
            </a:r>
            <a:r>
              <a:rPr i="1" lang="ro"/>
              <a:t>n</a:t>
            </a:r>
            <a:r>
              <a:rPr lang="ro"/>
              <a:t> locații. El dorește să treacă prin toate localitățile o singură dată, la final ajungând în localitatea de unde a plecat. Pentru a lucra cât mai eficient, vânzătorul dorește să minimizeze costul total al deplasării”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15616" l="0" r="47432" t="0"/>
          <a:stretch/>
        </p:blipFill>
        <p:spPr>
          <a:xfrm>
            <a:off x="7037925" y="464900"/>
            <a:ext cx="2032424" cy="183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Fie G un graf complet cu ponderi&gt;0 pe muchii.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Evident G este graf hamiltonian, dar se pune problema găsirii ciclului hamiltonian de cost total minim</a:t>
            </a:r>
            <a:r>
              <a:rPr b="1" lang="ro"/>
              <a:t>.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Costul unui ciclu este suma costurilor muchiilor din componența sa.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TSP: </a:t>
            </a:r>
            <a:br>
              <a:rPr lang="ro"/>
            </a:br>
            <a:r>
              <a:rPr lang="ro"/>
              <a:t>”Un vânzător ambulant vrea să își promoveze produsele în </a:t>
            </a:r>
            <a:r>
              <a:rPr i="1" lang="ro"/>
              <a:t>n</a:t>
            </a:r>
            <a:r>
              <a:rPr lang="ro"/>
              <a:t> locații. El dorește să treacă prin toate localitățile o singură dată, la final ajungând în localitatea de unde a plecat. Pentru a lucra cât mai eficient, vânzătorul dorește să minimizeze costul total al deplasării”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TSP </a:t>
            </a:r>
            <a:r>
              <a:rPr lang="ro"/>
              <a:t>este o problema </a:t>
            </a:r>
            <a:r>
              <a:rPr b="1" lang="ro"/>
              <a:t>NP-hard</a:t>
            </a:r>
            <a:r>
              <a:rPr lang="ro"/>
              <a:t>. </a:t>
            </a:r>
            <a:r>
              <a:rPr b="1" lang="ro"/>
              <a:t>Găsirea unui algoritm aproximativ este necesar</a:t>
            </a:r>
            <a:r>
              <a:rPr b="1" lang="ro" sz="1400"/>
              <a:t>ă</a:t>
            </a:r>
            <a:r>
              <a:rPr b="1" lang="ro"/>
              <a:t>!</a:t>
            </a:r>
            <a:endParaRPr b="1"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15616" l="0" r="47432" t="0"/>
          <a:stretch/>
        </p:blipFill>
        <p:spPr>
          <a:xfrm>
            <a:off x="7037925" y="464900"/>
            <a:ext cx="2032424" cy="183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TSP: </a:t>
            </a:r>
            <a:br>
              <a:rPr lang="ro"/>
            </a:br>
            <a:r>
              <a:rPr lang="ro"/>
              <a:t>”Un vânzător ambulant vrea să își promoveze produsele în </a:t>
            </a:r>
            <a:r>
              <a:rPr i="1" lang="ro"/>
              <a:t>n</a:t>
            </a:r>
            <a:r>
              <a:rPr lang="ro"/>
              <a:t> locații. El dorește să treacă prin toate localitățile o singură dată, la final ajungând în localitatea de unde a plecat. Pentru a lucra cât mai eficient, vânzătorul dorește să minimizeze costul total al deplasării”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TSP </a:t>
            </a:r>
            <a:r>
              <a:rPr lang="ro"/>
              <a:t>este o problema </a:t>
            </a:r>
            <a:r>
              <a:rPr b="1" lang="ro"/>
              <a:t>NP-hard</a:t>
            </a:r>
            <a:r>
              <a:rPr lang="ro"/>
              <a:t>. </a:t>
            </a:r>
            <a:r>
              <a:rPr b="1" lang="ro"/>
              <a:t>Găsirea unui algoritm aproximativ este necesara!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După cum vom vedea, nu dispunem de un astfel de algoritm.</a:t>
            </a:r>
            <a:endParaRPr b="1"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15616" l="0" r="47432" t="0"/>
          <a:stretch/>
        </p:blipFill>
        <p:spPr>
          <a:xfrm>
            <a:off x="7037925" y="464900"/>
            <a:ext cx="2032424" cy="183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8400" y="464900"/>
            <a:ext cx="2536750" cy="19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TSP: </a:t>
            </a:r>
            <a:br>
              <a:rPr lang="ro"/>
            </a:br>
            <a:r>
              <a:rPr lang="ro"/>
              <a:t>”Un vânzător ambulant vrea să își promoveze produsele în </a:t>
            </a:r>
            <a:r>
              <a:rPr i="1" lang="ro"/>
              <a:t>n</a:t>
            </a:r>
            <a:r>
              <a:rPr lang="ro"/>
              <a:t> locații. El dorește să treacă prin toate localitățile o singură dată, la final ajungând în localitatea de unde a plecat. Pentru a lucra cât mai eficient, vânzătorul dorește să minimizeze costul total al deplasării”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Teorema 1.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Nu există nicio valoare </a:t>
            </a:r>
            <a:r>
              <a:rPr i="1" lang="ro"/>
              <a:t>c</a:t>
            </a:r>
            <a:r>
              <a:rPr lang="ro"/>
              <a:t> pentru care să existe un algoritm în timp polinomial și care să ofere o soluție cu un factor de aproximare </a:t>
            </a:r>
            <a:r>
              <a:rPr i="1" lang="ro"/>
              <a:t>c</a:t>
            </a:r>
            <a:r>
              <a:rPr lang="ro"/>
              <a:t> pentru TSP, decât dacă </a:t>
            </a:r>
            <a:r>
              <a:rPr b="1" lang="ro"/>
              <a:t>P=NP</a:t>
            </a:r>
            <a:r>
              <a:rPr lang="ro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Demo: Vom arată că există un asemenea algoritm aproximativ, dacă și numai dacă putem rezolva problema HC în timp polinomial.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Justificare</a:t>
            </a:r>
            <a:endParaRPr/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5">
            <a:alphaModFix/>
          </a:blip>
          <a:srcRect b="15616" l="0" r="47432" t="0"/>
          <a:stretch/>
        </p:blipFill>
        <p:spPr>
          <a:xfrm>
            <a:off x="7037925" y="464900"/>
            <a:ext cx="2032424" cy="183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8400" y="464900"/>
            <a:ext cx="2536750" cy="19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În ciuda pesimismului oferit de rezultatul anterior, putem fi optimiști. :-)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Pug-ul nostru comis-voiajor se deplasează într-un spațiu euclidian. Deci se respectă întotdeauna regula triunghiului!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5428" l="0" r="11213" t="0"/>
          <a:stretch/>
        </p:blipFill>
        <p:spPr>
          <a:xfrm>
            <a:off x="7047825" y="464900"/>
            <a:ext cx="2032425" cy="192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În ciuda pesimismului oferit de rezultatul anterior, putem fi optimiști. :-)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Pug-ul nostru comis-voiajor se deplasează într-un spațiu euclidian. Deci se respectă întotdeauna regula triunghiului!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Regula triunghiului (recap): Pentru orice triunghi cu lungimea laturilor L</a:t>
            </a:r>
            <a:r>
              <a:rPr b="1" baseline="-25000" lang="ro"/>
              <a:t>1</a:t>
            </a:r>
            <a:r>
              <a:rPr b="1" lang="ro"/>
              <a:t>≥L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3</a:t>
            </a:r>
            <a:r>
              <a:rPr b="1" lang="ro"/>
              <a:t>, avem L</a:t>
            </a:r>
            <a:r>
              <a:rPr b="1" baseline="-25000" lang="ro"/>
              <a:t>3</a:t>
            </a:r>
            <a:r>
              <a:rPr b="1" lang="ro"/>
              <a:t>+L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1</a:t>
            </a:r>
            <a:endParaRPr b="1" baseline="-25000"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5428" l="0" r="11213" t="0"/>
          <a:stretch/>
        </p:blipFill>
        <p:spPr>
          <a:xfrm>
            <a:off x="7047825" y="464900"/>
            <a:ext cx="2032425" cy="192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În ciuda pesimismului oferit de rezultatul anterior, putem fi optimiști. :-)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Pug-ul nostru comis-voiajor se deplasează într-un spațiu euclidian. Deci se respectă întotdeauna regula triunghiului!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Regula triunghiului (recap): Pentru orice triunghi cu lungimea laturilor L</a:t>
            </a:r>
            <a:r>
              <a:rPr b="1" baseline="-25000" lang="ro"/>
              <a:t>1</a:t>
            </a:r>
            <a:r>
              <a:rPr b="1" lang="ro"/>
              <a:t>≥L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3</a:t>
            </a:r>
            <a:r>
              <a:rPr b="1" lang="ro"/>
              <a:t>, avem L</a:t>
            </a:r>
            <a:r>
              <a:rPr b="1" baseline="-25000" lang="ro"/>
              <a:t>3</a:t>
            </a:r>
            <a:r>
              <a:rPr b="1" lang="ro"/>
              <a:t>+L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1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Pentru un graf complet, ponderat, care respectă regula triunghiului, există algoritmi aproximativi pentru rezolvarea TSP! </a:t>
            </a:r>
            <a:endParaRPr b="1"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5428" l="0" r="11213" t="0"/>
          <a:stretch/>
        </p:blipFill>
        <p:spPr>
          <a:xfrm>
            <a:off x="7047825" y="464900"/>
            <a:ext cx="2032425" cy="192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În ciuda pesimismului oferit de rezultatul anterior, putem fi optimiști. :-)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Pug-ul nostru comis-voiajor se deplasează într-un spațiu euclidian. Deci se respectă întotdeauna regula triunghiului!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Regula triunghiului (recap): Pentru orice triunghi cu lungimea laturilor L</a:t>
            </a:r>
            <a:r>
              <a:rPr b="1" baseline="-25000" lang="ro"/>
              <a:t>1</a:t>
            </a:r>
            <a:r>
              <a:rPr b="1" lang="ro"/>
              <a:t>≥L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3</a:t>
            </a:r>
            <a:r>
              <a:rPr b="1" lang="ro"/>
              <a:t>, avem L</a:t>
            </a:r>
            <a:r>
              <a:rPr b="1" baseline="-25000" lang="ro"/>
              <a:t>3</a:t>
            </a:r>
            <a:r>
              <a:rPr b="1" lang="ro"/>
              <a:t>+L</a:t>
            </a:r>
            <a:r>
              <a:rPr b="1" baseline="-25000" lang="ro"/>
              <a:t>2</a:t>
            </a:r>
            <a:r>
              <a:rPr b="1" lang="ro"/>
              <a:t>≥L</a:t>
            </a:r>
            <a:r>
              <a:rPr b="1" baseline="-25000" lang="ro"/>
              <a:t>1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Pentru un graf complet, ponderat, care respectă regula triunghiului, există algoritmi aproximativi pentru rezolvarea TSP!!! </a:t>
            </a:r>
            <a:endParaRPr b="1"/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5428" l="0" r="11213" t="0"/>
          <a:stretch/>
        </p:blipFill>
        <p:spPr>
          <a:xfrm>
            <a:off x="7047825" y="464900"/>
            <a:ext cx="2032425" cy="1927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8975" y="4114300"/>
            <a:ext cx="766050" cy="8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Regula triunghiului pe grafuri ne spune că pentru oricare 3 noduri interconectate  </a:t>
            </a:r>
            <a:r>
              <a:rPr b="1" i="1" lang="ro"/>
              <a:t>u,v,w</a:t>
            </a:r>
            <a:r>
              <a:rPr b="1" lang="ro"/>
              <a:t> avem: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len((u,v))≤len((v,w))+len((w,u))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Altfel spus, odată ce am traversat nodurile </a:t>
            </a:r>
            <a:r>
              <a:rPr b="1" i="1" lang="ro"/>
              <a:t>u,v,w</a:t>
            </a:r>
            <a:r>
              <a:rPr b="1" lang="ro"/>
              <a:t> - în această ordine, este mai eficient ca să ne întoarcem în </a:t>
            </a:r>
            <a:r>
              <a:rPr b="1" i="1" lang="ro"/>
              <a:t>u </a:t>
            </a:r>
            <a:r>
              <a:rPr b="1" lang="ro"/>
              <a:t>direct din </a:t>
            </a:r>
            <a:r>
              <a:rPr b="1" i="1" lang="ro"/>
              <a:t>w </a:t>
            </a:r>
            <a:r>
              <a:rPr b="1" lang="ro"/>
              <a:t>decât via </a:t>
            </a:r>
            <a:r>
              <a:rPr b="1" i="1" lang="ro"/>
              <a:t>v</a:t>
            </a:r>
            <a:r>
              <a:rPr b="1" lang="ro"/>
              <a:t>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Observație 2: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G un graf complet, ponderat, care respectă regula triunghiului. Și fie  v</a:t>
            </a:r>
            <a:r>
              <a:rPr b="1" baseline="-25000" lang="ro"/>
              <a:t>1</a:t>
            </a:r>
            <a:r>
              <a:rPr b="1" lang="ro"/>
              <a:t>, v</a:t>
            </a:r>
            <a:r>
              <a:rPr b="1" baseline="-25000" lang="ro"/>
              <a:t>2</a:t>
            </a:r>
            <a:r>
              <a:rPr b="1" lang="ro"/>
              <a:t>, v</a:t>
            </a:r>
            <a:r>
              <a:rPr b="1" baseline="-25000" lang="ro"/>
              <a:t>3</a:t>
            </a:r>
            <a:r>
              <a:rPr b="1" lang="ro"/>
              <a:t>, …., v</a:t>
            </a:r>
            <a:r>
              <a:rPr b="1" baseline="-25000" lang="ro"/>
              <a:t>k</a:t>
            </a:r>
            <a:r>
              <a:rPr b="1" lang="ro"/>
              <a:t>  un lanț în graful G. Atunci avem len((v</a:t>
            </a:r>
            <a:r>
              <a:rPr b="1" baseline="-25000" lang="ro"/>
              <a:t>1</a:t>
            </a:r>
            <a:r>
              <a:rPr b="1" lang="ro"/>
              <a:t>,v</a:t>
            </a:r>
            <a:r>
              <a:rPr b="1" baseline="-25000" lang="ro"/>
              <a:t>k</a:t>
            </a:r>
            <a:r>
              <a:rPr b="1" lang="ro"/>
              <a:t>))≤len(v</a:t>
            </a:r>
            <a:r>
              <a:rPr b="1" baseline="-25000" lang="ro"/>
              <a:t>1</a:t>
            </a:r>
            <a:r>
              <a:rPr b="1" lang="ro"/>
              <a:t>, v</a:t>
            </a:r>
            <a:r>
              <a:rPr b="1" baseline="-25000" lang="ro"/>
              <a:t>2</a:t>
            </a:r>
            <a:r>
              <a:rPr b="1" lang="ro"/>
              <a:t>, v</a:t>
            </a:r>
            <a:r>
              <a:rPr b="1" baseline="-25000" lang="ro"/>
              <a:t>3</a:t>
            </a:r>
            <a:r>
              <a:rPr b="1" lang="ro"/>
              <a:t>, …., v</a:t>
            </a:r>
            <a:r>
              <a:rPr b="1" baseline="-25000" lang="ro"/>
              <a:t>k</a:t>
            </a:r>
            <a:r>
              <a:rPr b="1" lang="ro"/>
              <a:t>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Justificare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Arbore parțial de cost minim - algoritmi și timpi de lucru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Asemănare dintre MST și TSP?</a:t>
            </a:r>
            <a:endParaRPr b="1" sz="2300"/>
          </a:p>
        </p:txBody>
      </p:sp>
      <p:pic>
        <p:nvPicPr>
          <p:cNvPr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Arbore parțial de cost minim - algoritmi și timpi de lucru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Asemănare dintre MST și TSP?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Ambele caută un traseu de cost total minim care  să cuprindă toate nodurile</a:t>
            </a:r>
            <a:endParaRPr b="1" sz="2300"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Arbore parțial de cost minim - algoritmi și timpi de lucru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Diferențe dintre MST și TSP?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2300"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Arbore parțial de cost minim - algoritmi și timpi de lucru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Diferențe dintre MST și TSP?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-"/>
            </a:pPr>
            <a:r>
              <a:rPr b="1" lang="ro" sz="2300"/>
              <a:t>unul este un arbore, altul este un ciclu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ro" sz="2300"/>
              <a:t>una este P iar alta este NP hard!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2300"/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Lema 3: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OPT costul soluției optime pentru TSP, iar MST - ponderea totală a unui Arbore parțial de cost minim pe baza aceluiași graf. Avem relația: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OPT≥MST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Justificare</a:t>
            </a:r>
            <a:endParaRPr b="1"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8047" y="3258722"/>
            <a:ext cx="5237100" cy="18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ApproxTSP(G)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1: Calculăm arborele parțial de cost minim T pentru graful G.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2: Alegem un nod u ∈ T pe post de radacina.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3: Γ=Ø.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4: Parcurgere (u, Γ)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5: Concatenăm nodul u la finalul lui Γ pentru a închide un ciclu 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6: return Γ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8993"/>
              <a:buNone/>
            </a:pPr>
            <a:r>
              <a:t/>
            </a:r>
            <a:endParaRPr b="1" sz="2300"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3275" y="3062225"/>
            <a:ext cx="3551876" cy="19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6870"/>
              <a:buNone/>
            </a:pPr>
            <a:r>
              <a:t/>
            </a:r>
            <a:endParaRPr b="1"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76870"/>
              <a:buNone/>
            </a:pPr>
            <a:r>
              <a:t/>
            </a:r>
            <a:endParaRPr b="1"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6581"/>
              <a:buNone/>
            </a:pPr>
            <a:r>
              <a:rPr b="1" lang="ro" sz="1593"/>
              <a:t>Parcurgere(u, Γ)</a:t>
            </a:r>
            <a:endParaRPr b="1" sz="159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6581"/>
              <a:buNone/>
            </a:pPr>
            <a:r>
              <a:rPr b="1" lang="ro" sz="1593"/>
              <a:t>1: Concatenăm pe u la Γ.</a:t>
            </a:r>
            <a:endParaRPr b="1" sz="159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6581"/>
              <a:buNone/>
            </a:pPr>
            <a:r>
              <a:rPr b="1" lang="ro" sz="1593"/>
              <a:t>2: pentru fiecare v, fiu al lui u:</a:t>
            </a:r>
            <a:endParaRPr b="1" sz="159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6581"/>
              <a:buNone/>
            </a:pPr>
            <a:r>
              <a:rPr b="1" lang="ro" sz="1593"/>
              <a:t>3: Parcurgere(v, Γ)</a:t>
            </a:r>
            <a:endParaRPr b="1" sz="159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0745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0745"/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80745"/>
              <a:buNone/>
            </a:pPr>
            <a:r>
              <a:t/>
            </a:r>
            <a:endParaRPr b="1" sz="2300"/>
          </a:p>
        </p:txBody>
      </p:sp>
      <p:pic>
        <p:nvPicPr>
          <p:cNvPr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3275" y="3095150"/>
            <a:ext cx="3551876" cy="19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e7a67488c_0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 2-aproximativ: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42" name="Google Shape;242;g3ce7a67488c_0_0"/>
          <p:cNvSpPr txBox="1"/>
          <p:nvPr>
            <p:ph idx="1" type="body"/>
          </p:nvPr>
        </p:nvSpPr>
        <p:spPr>
          <a:xfrm>
            <a:off x="729450" y="2078875"/>
            <a:ext cx="80481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Teorema 4: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Algoritmul descris anterior este un algoritm 2-aproximativ pentru TSP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Justificare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2300"/>
          </a:p>
        </p:txBody>
      </p:sp>
      <p:pic>
        <p:nvPicPr>
          <p:cNvPr id="243" name="Google Shape;243;g3ce7a67488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ce7a67488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ce7a67488c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8047" y="3258722"/>
            <a:ext cx="5237100" cy="18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Se poate oare mai bine?</a:t>
            </a:r>
            <a:endParaRPr b="1" sz="2300"/>
          </a:p>
        </p:txBody>
      </p:sp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Se poate oare mai bine?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DA!</a:t>
            </a:r>
            <a:endParaRPr b="1" sz="2300"/>
          </a:p>
        </p:txBody>
      </p:sp>
      <p:pic>
        <p:nvPicPr>
          <p:cNvPr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9853" y="464902"/>
            <a:ext cx="3065297" cy="20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 BONUS!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Se poate oare mai bine?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Algoritmul lui Christofides!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Un algoritm 3/2 aproximativ</a:t>
            </a:r>
            <a:endParaRPr b="1" sz="2300"/>
          </a:p>
        </p:txBody>
      </p:sp>
      <p:pic>
        <p:nvPicPr>
          <p:cNvPr id="269" name="Google Shape;269;p23"/>
          <p:cNvPicPr preferRelativeResize="0"/>
          <p:nvPr/>
        </p:nvPicPr>
        <p:blipFill rotWithShape="1">
          <a:blip r:embed="rId3">
            <a:alphaModFix/>
          </a:blip>
          <a:srcRect b="39230" l="22822" r="47966" t="7691"/>
          <a:stretch/>
        </p:blipFill>
        <p:spPr>
          <a:xfrm>
            <a:off x="7685575" y="504450"/>
            <a:ext cx="1458427" cy="149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Traveling Salesman Problem (TSP) BONUS!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ChristofidesTSP(G)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1: Calculăm T, un APCM în G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2: Fie V∗ ⊂ V mulțimea de vârfuri de grad impar din  T . (va exista mereu un număr par de vârfuri de grad impar.)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3: Fie graful  G∗ =(V∗, E∗) - graful complet indus de V∗.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4: Calculăm M - cuplajul perfect de pondere totală minimă pentru G∗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5: reunim mulțimile M și T ,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6: deoarece toate nodurile au grad par, putem evidenția un ciclu Eulerian Γ în multigraful indus de M U T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8993"/>
              <a:buNone/>
            </a:pPr>
            <a:r>
              <a:rPr b="1" lang="ro" sz="2300"/>
              <a:t>7: Pentru fiecare vârf din Γ, eliminăm toate “dublurile” sale, reducând costul total.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8993"/>
              <a:buNone/>
            </a:pPr>
            <a:r>
              <a:rPr b="1" lang="ro" sz="2300"/>
              <a:t>8: return Γ</a:t>
            </a:r>
            <a:endParaRPr b="1" sz="2300"/>
          </a:p>
        </p:txBody>
      </p:sp>
      <p:pic>
        <p:nvPicPr>
          <p:cNvPr id="276" name="Google Shape;276;p24"/>
          <p:cNvPicPr preferRelativeResize="0"/>
          <p:nvPr/>
        </p:nvPicPr>
        <p:blipFill rotWithShape="1">
          <a:blip r:embed="rId3">
            <a:alphaModFix/>
          </a:blip>
          <a:srcRect b="39230" l="22822" r="47966" t="7691"/>
          <a:stretch/>
        </p:blipFill>
        <p:spPr>
          <a:xfrm>
            <a:off x="7685575" y="504450"/>
            <a:ext cx="1458427" cy="149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4">
            <a:alphaModFix/>
          </a:blip>
          <a:srcRect b="39232" l="44696" r="24151" t="15228"/>
          <a:stretch/>
        </p:blipFill>
        <p:spPr>
          <a:xfrm>
            <a:off x="7229168" y="504450"/>
            <a:ext cx="1914834" cy="157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Next time:</a:t>
            </a:r>
            <a:endParaRPr/>
          </a:p>
        </p:txBody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729450" y="2078875"/>
            <a:ext cx="4823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ro"/>
              <a:t>Vertex Cover Problem</a:t>
            </a:r>
            <a:br>
              <a:rPr lang="ro"/>
            </a:br>
            <a:r>
              <a:rPr lang="ro"/>
              <a:t>Linear Programming</a:t>
            </a:r>
            <a:endParaRPr/>
          </a:p>
        </p:txBody>
      </p:sp>
      <p:pic>
        <p:nvPicPr>
          <p:cNvPr id="284" name="Google Shape;284;p25"/>
          <p:cNvPicPr preferRelativeResize="0"/>
          <p:nvPr/>
        </p:nvPicPr>
        <p:blipFill rotWithShape="1">
          <a:blip r:embed="rId3">
            <a:alphaModFix/>
          </a:blip>
          <a:srcRect b="35615" l="10602" r="29362" t="2884"/>
          <a:stretch/>
        </p:blipFill>
        <p:spPr>
          <a:xfrm>
            <a:off x="5552845" y="502475"/>
            <a:ext cx="3591153" cy="206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e7a67488c_2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 u="sng">
                <a:solidFill>
                  <a:schemeClr val="hlink"/>
                </a:solidFill>
                <a:hlinkClick r:id="rId3"/>
              </a:rPr>
              <a:t>Teme</a:t>
            </a:r>
            <a:endParaRPr/>
          </a:p>
        </p:txBody>
      </p:sp>
      <p:pic>
        <p:nvPicPr>
          <p:cNvPr id="290" name="Google Shape;290;g3ce7a67488c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450" y="2116350"/>
            <a:ext cx="4691850" cy="255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