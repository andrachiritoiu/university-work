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HW/QlGOhBlv5KK98NAnwhikkC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086404b4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d086404b4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2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3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3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tefan.popescu@fmi.unibuc.ro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hyperlink" Target="https://stefanpopescu-ai.github.io/Vertex-Cover-Unweighted-/" TargetMode="External"/><Relationship Id="rId8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file/d/1yNlHaRkukQdg2_zSfWnizKayHExD_OOk/view?usp=drive_link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drive.google.com/file/d/1yNlHaRkukQdg2_zSfWnizKayHExD_OOk/view?usp=drive_link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rive.google.com/file/d/1yNlHaRkukQdg2_zSfWnizKayHExD_OOk/view?usp=drive_link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rive.google.com/file/d/1yNlHaRkukQdg2_zSfWnizKayHExD_OOk/view?usp=drive_link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hyperlink" Target="https://stefanpopescu-ai.github.io/Weighted-Vertex-Cover-Problem/" TargetMode="External"/><Relationship Id="rId7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file/d/1Y1Q7t_AlnyA_vr4OkwE6VE3-gWl6Ppqd/view?usp=sharing" TargetMode="Externa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82375" y="763200"/>
            <a:ext cx="777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71048"/>
              <a:buNone/>
            </a:pPr>
            <a:r>
              <a:rPr lang="ro"/>
              <a:t>Algoritmi Avansați 2026</a:t>
            </a:r>
            <a:br>
              <a:rPr lang="ro"/>
            </a:br>
            <a:r>
              <a:rPr lang="ro"/>
              <a:t>c-4</a:t>
            </a:r>
            <a:br>
              <a:rPr lang="ro"/>
            </a:br>
            <a:r>
              <a:rPr lang="ro" sz="3300"/>
              <a:t>Vertex Cover Problem, Linear Programming</a:t>
            </a:r>
            <a:endParaRPr sz="33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401500"/>
            <a:ext cx="7688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Lect. Dr. Ștefan Popescu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Email: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stefan.popescu@fmi.unibuc.ro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ro"/>
              <a:t>Grup Teams:</a:t>
            </a:r>
            <a:br>
              <a:rPr lang="ro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000" y="3358800"/>
            <a:ext cx="5485325" cy="17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Problema:</a:t>
            </a:r>
            <a:br>
              <a:rPr b="1" lang="ro"/>
            </a:br>
            <a:r>
              <a:rPr b="1" lang="ro"/>
              <a:t>Fie o rețea de calculatoare în care trebuie să testăm toate conexiunile.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a testa conexiunile, trebuie să instalăm un program software pe mai multe calculatoare. Acest program poate testa toate conexiunile directe care pleacă din respectivul calculator.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3725" y="468175"/>
            <a:ext cx="2146425" cy="21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Problema:</a:t>
            </a:r>
            <a:br>
              <a:rPr b="1" lang="ro"/>
            </a:br>
            <a:r>
              <a:rPr b="1" lang="ro"/>
              <a:t>Fie o rețea de calculatoare în care trebuie să testăm toate conexiunile.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Pentru a testa conexiunile, trebuie să instalăm un program software pe mai multe calculatoare. Acest program poate testa toate conexiunile directe care pleacă din respectivul calculator.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Evident, putem instala acest program pentru a monitoriza întreaga rețea, dar dorim să minimizam intervenția. Deci se pune problema găsirii unei submulțimi de calculatoare  de cardinal minim care să poată monitoriza întreaga rețea.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3725" y="468175"/>
            <a:ext cx="2146425" cy="21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 formală:</a:t>
            </a:r>
            <a:br>
              <a:rPr b="1" lang="ro"/>
            </a:br>
            <a:r>
              <a:rPr b="1" lang="ro"/>
              <a:t>Fie un graf neorientat G=(V,E).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Numim ”acoperire” o submulțime S⊂V cu proprietatea ca pentru orice (x,y) ∊ E avem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x∊S sau y∊S (sau x,y∊S)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Se pune problema găsirii unei acoperiri S de cardinal minim!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729450" y="2078875"/>
            <a:ext cx="7688700" cy="27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 formală:</a:t>
            </a:r>
            <a:br>
              <a:rPr b="1" lang="ro"/>
            </a:br>
            <a:r>
              <a:rPr b="1" lang="ro"/>
              <a:t>Fie un graf neorientat G=(V,E).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Numim ”acoperire” o submulțime S⊂V cu proprietatea ca pentru orice (x,y) ∊ E avem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x∊S sau y∊S (sau x,y∊S)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Se pune problema găsirii unei acoperiri S de cardinal minim!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Această problemă este </a:t>
            </a:r>
            <a:r>
              <a:rPr b="1" lang="ro" u="sng"/>
              <a:t>NP-hard</a:t>
            </a:r>
            <a:r>
              <a:rPr b="1" lang="ro"/>
              <a:t>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5499600" y="2591525"/>
            <a:ext cx="35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Q1. Mulțimea de noduri S este o acoperire pentru graful G?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DA/NU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8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5499600" y="2591525"/>
            <a:ext cx="35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Q1. Mulțimea de noduri S este o acoperire pentru graful G?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ro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/>
        </p:nvSpPr>
        <p:spPr>
          <a:xfrm>
            <a:off x="5499600" y="2591525"/>
            <a:ext cx="3590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Q2. Algoritmul de alături: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Este un algoritm care generează mereu soluția optimă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Este un algoritm 3-aproximativ pentru VCP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poate furniza  un răspuns arbitrar de slab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68" name="Google Shape;1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0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5499600" y="2591525"/>
            <a:ext cx="359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Q2. Algoritmul de alături: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poate furniza  un răspuns arbitrar de slab</a:t>
            </a:r>
            <a:endParaRPr b="1" i="0" sz="1400" u="none" cap="none" strike="noStrike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2" name="Google Shape;17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1175" y="3549150"/>
            <a:ext cx="1613976" cy="161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729450" y="2078875"/>
            <a:ext cx="38424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S=S∪{x}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lui x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 txBox="1"/>
          <p:nvPr/>
        </p:nvSpPr>
        <p:spPr>
          <a:xfrm>
            <a:off x="5499600" y="2591525"/>
            <a:ext cx="359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Q3. Cum putem modifica algoritmul alăturat astfel încât să îmbunătățim rezultatul? </a:t>
            </a:r>
            <a:endParaRPr b="1" i="0" sz="1400" u="none" cap="none" strike="noStrike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729450" y="2078875"/>
            <a:ext cx="47703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INPUT: G=(V,E)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</a:t>
            </a:r>
            <a:r>
              <a:rPr b="1" lang="ro" u="sng">
                <a:solidFill>
                  <a:schemeClr val="dk1"/>
                </a:solidFill>
              </a:rPr>
              <a:t>{x,y}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</a:t>
            </a:r>
            <a:r>
              <a:rPr b="1" lang="ro" u="sng">
                <a:solidFill>
                  <a:schemeClr val="dk1"/>
                </a:solidFill>
              </a:rPr>
              <a:t>lui x și lui y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250" y="3727050"/>
            <a:ext cx="286675" cy="3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2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1577" y="3684555"/>
            <a:ext cx="1987675" cy="1419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452500" y="2078875"/>
            <a:ext cx="47703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ApproxVertexCover 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</a:t>
            </a:r>
            <a:r>
              <a:rPr b="1" lang="ro" u="sng">
                <a:solidFill>
                  <a:schemeClr val="dk1"/>
                </a:solidFill>
              </a:rPr>
              <a:t>{x,y}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</a:t>
            </a:r>
            <a:r>
              <a:rPr b="1" lang="ro" u="sng">
                <a:solidFill>
                  <a:schemeClr val="dk1"/>
                </a:solidFill>
              </a:rPr>
              <a:t>lui x și lui y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/>
        </p:nvSpPr>
        <p:spPr>
          <a:xfrm>
            <a:off x="5499600" y="2591525"/>
            <a:ext cx="35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Deși pare o abordare cel puțin ciudată, algoritmul alăturat este un algoritm 2-aproximativ pentru vertex cover problem! </a:t>
            </a:r>
            <a:endParaRPr b="1" i="0" sz="1400" u="none" cap="none" strike="noStrike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82450" y="3727050"/>
            <a:ext cx="286675" cy="3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210" name="Google Shape;210;p14"/>
          <p:cNvSpPr txBox="1"/>
          <p:nvPr>
            <p:ph idx="1" type="body"/>
          </p:nvPr>
        </p:nvSpPr>
        <p:spPr>
          <a:xfrm>
            <a:off x="452500" y="2078875"/>
            <a:ext cx="47703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ApproxVertexCover 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</a:t>
            </a:r>
            <a:r>
              <a:rPr b="1" lang="ro" u="sng">
                <a:solidFill>
                  <a:schemeClr val="dk1"/>
                </a:solidFill>
              </a:rPr>
              <a:t>{x,y}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</a:t>
            </a:r>
            <a:r>
              <a:rPr b="1" lang="ro" u="sng">
                <a:solidFill>
                  <a:schemeClr val="dk1"/>
                </a:solidFill>
              </a:rPr>
              <a:t>lui x și lui y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11" name="Google Shape;2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 txBox="1"/>
          <p:nvPr/>
        </p:nvSpPr>
        <p:spPr>
          <a:xfrm>
            <a:off x="5499600" y="2591525"/>
            <a:ext cx="3590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Deși pare o abordare cel puțin ciudată, algoritmul alăturat 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arenR"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generează o acoperire validă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rabicParenR"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este un algoritm 2-aproximativ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400" u="none" cap="none" strike="noStrike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250" y="3727050"/>
            <a:ext cx="286675" cy="3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221" name="Google Shape;221;p15"/>
          <p:cNvSpPr txBox="1"/>
          <p:nvPr>
            <p:ph idx="1" type="body"/>
          </p:nvPr>
        </p:nvSpPr>
        <p:spPr>
          <a:xfrm>
            <a:off x="452500" y="2078875"/>
            <a:ext cx="47703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ApproxVertexCover 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</a:t>
            </a:r>
            <a:r>
              <a:rPr b="1" lang="ro" u="sng">
                <a:solidFill>
                  <a:schemeClr val="dk1"/>
                </a:solidFill>
              </a:rPr>
              <a:t>{x,y}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</a:t>
            </a:r>
            <a:r>
              <a:rPr b="1" lang="ro" u="sng">
                <a:solidFill>
                  <a:schemeClr val="dk1"/>
                </a:solidFill>
              </a:rPr>
              <a:t>lui x și lui y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/>
        </p:nvSpPr>
        <p:spPr>
          <a:xfrm>
            <a:off x="5499600" y="2591525"/>
            <a:ext cx="3590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1. Fie G=(V,E) un graf neorientat și OPT cardinalul unei acoperiri de grad minim a lui G. Fie </a:t>
            </a:r>
            <a:r>
              <a:rPr b="1" i="0" lang="ro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E*⊂E o mulțime de muchii nod disjuncte.</a:t>
            </a:r>
            <a:br>
              <a:rPr b="1" i="0" lang="ro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ro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Atunci avem că OPT≥|E*|</a:t>
            </a:r>
            <a:endParaRPr b="1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o" sz="13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Demonstratie</a:t>
            </a:r>
            <a:endParaRPr b="1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400" u="none" cap="none" strike="noStrike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7250" y="3727050"/>
            <a:ext cx="286675" cy="3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Vertex cover problem</a:t>
            </a:r>
            <a:endParaRPr/>
          </a:p>
        </p:txBody>
      </p:sp>
      <p:sp>
        <p:nvSpPr>
          <p:cNvPr id="232" name="Google Shape;232;p16"/>
          <p:cNvSpPr txBox="1"/>
          <p:nvPr>
            <p:ph idx="1" type="body"/>
          </p:nvPr>
        </p:nvSpPr>
        <p:spPr>
          <a:xfrm>
            <a:off x="452500" y="2078875"/>
            <a:ext cx="47703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următorul algoritm: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ApproxVertexCover (V,E)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E’=E; S=ø;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cât timp E’≠ø: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aleg (x,y)∊E’;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S=S∪</a:t>
            </a:r>
            <a:r>
              <a:rPr b="1" lang="ro" u="sng">
                <a:solidFill>
                  <a:schemeClr val="dk1"/>
                </a:solidFill>
              </a:rPr>
              <a:t>{x,y}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	ștergem din E’ toate muchiile incidente </a:t>
            </a:r>
            <a:r>
              <a:rPr b="1" lang="ro" u="sng">
                <a:solidFill>
                  <a:schemeClr val="dk1"/>
                </a:solidFill>
              </a:rPr>
              <a:t>lui x și lui y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return 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6"/>
          <p:cNvPicPr preferRelativeResize="0"/>
          <p:nvPr/>
        </p:nvPicPr>
        <p:blipFill rotWithShape="1">
          <a:blip r:embed="rId4">
            <a:alphaModFix/>
          </a:blip>
          <a:srcRect b="12914" l="5705" r="5278" t="12088"/>
          <a:stretch/>
        </p:blipFill>
        <p:spPr>
          <a:xfrm>
            <a:off x="6943725" y="464900"/>
            <a:ext cx="2146425" cy="18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6"/>
          <p:cNvSpPr txBox="1"/>
          <p:nvPr/>
        </p:nvSpPr>
        <p:spPr>
          <a:xfrm>
            <a:off x="5499600" y="2591525"/>
            <a:ext cx="3590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Teorema 2. Algoritmul alăturat este un algoritm 2 aproximativ pentru VCP.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o" sz="13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Demonstratie</a:t>
            </a:r>
            <a:endParaRPr b="1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400" u="none" cap="none" strike="noStrike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0725" y="464888"/>
            <a:ext cx="2032424" cy="20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7250" y="3727050"/>
            <a:ext cx="286675" cy="3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Complicam Problema!</a:t>
            </a:r>
            <a:br>
              <a:rPr lang="ro"/>
            </a:br>
            <a:r>
              <a:rPr lang="ro"/>
              <a:t>Weighted Vertex Cover Problem.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 </a:t>
            </a:r>
            <a:endParaRPr/>
          </a:p>
        </p:txBody>
      </p:sp>
      <p:sp>
        <p:nvSpPr>
          <p:cNvPr id="243" name="Google Shape;243;p17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Fie un graf G=(V,E) - un graf simplu, si f:V➝R</a:t>
            </a:r>
            <a:r>
              <a:rPr b="1" baseline="-25000" lang="ro"/>
              <a:t>+</a:t>
            </a:r>
            <a:r>
              <a:rPr b="1" lang="ro"/>
              <a:t> care asociază fiecărui vârf, un cost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Trebuie să găsim o acoperire de varfuri S astfel încât să minimizăm:</a:t>
            </a:r>
            <a:br>
              <a:rPr b="1" lang="ro"/>
            </a:br>
            <a:br>
              <a:rPr b="1" lang="ro"/>
            </a:br>
            <a:r>
              <a:rPr b="1" lang="ro"/>
              <a:t>Este dificil să găsim un algoritm aproximativ pt aceasta  problemă prin metodele ”tradiționale”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Tb sa gasim o abordare noua!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7"/>
          <p:cNvPicPr preferRelativeResize="0"/>
          <p:nvPr/>
        </p:nvPicPr>
        <p:blipFill rotWithShape="1">
          <a:blip r:embed="rId4">
            <a:alphaModFix/>
          </a:blip>
          <a:srcRect b="33271" l="0" r="7235" t="0"/>
          <a:stretch/>
        </p:blipFill>
        <p:spPr>
          <a:xfrm>
            <a:off x="7111575" y="464900"/>
            <a:ext cx="2032423" cy="1949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under&gt;&lt;mrow&gt;&lt;mo&gt;&amp;#x2211;&lt;/mo&gt;&lt;mi&gt;f&lt;/mi&gt;&lt;mfenced&gt;&lt;mi&gt;v&lt;/mi&gt;&lt;/mfenced&gt;&lt;/mrow&gt;&lt;mrow&gt;&lt;mi&gt;v&lt;/mi&gt;&lt;mo&gt;&amp;#x2208;&lt;/mo&gt;&lt;mi&gt;S&lt;/mi&gt;&lt;/mrow&gt;&lt;/munder&gt;&lt;/math&gt;" id="246" name="Google Shape;246;p17" title="stack sum f open parentheses v close parentheses with v element of S below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4050" y="2492275"/>
            <a:ext cx="630700" cy="3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Programare Liniara</a:t>
            </a:r>
            <a:endParaRPr/>
          </a:p>
        </p:txBody>
      </p:sp>
      <p:sp>
        <p:nvSpPr>
          <p:cNvPr id="252" name="Google Shape;252;p18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O problemă de programare liniară arată în felul următor: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o funcție de ”cost” cu </a:t>
            </a:r>
            <a:r>
              <a:rPr i="1" lang="ro" sz="1900"/>
              <a:t>d</a:t>
            </a:r>
            <a:r>
              <a:rPr lang="ro" sz="1900"/>
              <a:t> variabile x</a:t>
            </a:r>
            <a:r>
              <a:rPr baseline="-25000" lang="ro" sz="1900"/>
              <a:t>1</a:t>
            </a:r>
            <a:r>
              <a:rPr lang="ro" sz="1900"/>
              <a:t>, x</a:t>
            </a:r>
            <a:r>
              <a:rPr baseline="-25000" lang="ro" sz="1900"/>
              <a:t>2</a:t>
            </a:r>
            <a:r>
              <a:rPr lang="ro" sz="1900"/>
              <a:t>, …, x</a:t>
            </a:r>
            <a:r>
              <a:rPr baseline="-25000" lang="ro" sz="1900"/>
              <a:t>d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un set de </a:t>
            </a:r>
            <a:r>
              <a:rPr i="1" lang="ro" sz="1900"/>
              <a:t>n</a:t>
            </a:r>
            <a:r>
              <a:rPr lang="ro" sz="1900"/>
              <a:t> constrângeri liniare peste variabilele x</a:t>
            </a:r>
            <a:r>
              <a:rPr baseline="-25000" lang="ro" sz="1900"/>
              <a:t>1</a:t>
            </a:r>
            <a:r>
              <a:rPr lang="ro" sz="1900"/>
              <a:t>, x</a:t>
            </a:r>
            <a:r>
              <a:rPr baseline="-25000" lang="ro" sz="1900"/>
              <a:t>2</a:t>
            </a:r>
            <a:r>
              <a:rPr lang="ro" sz="1900"/>
              <a:t>, …, x</a:t>
            </a:r>
            <a:r>
              <a:rPr baseline="-25000" lang="ro" sz="1900"/>
              <a:t>d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 sz="1900"/>
              <a:t>Scopul este asignarea de valori pentru variabilele de tip x</a:t>
            </a:r>
            <a:r>
              <a:rPr baseline="-25000" lang="ro" sz="1900"/>
              <a:t>i</a:t>
            </a:r>
            <a:r>
              <a:rPr lang="ro" sz="1900"/>
              <a:t> astfel încât să minimizăm (sau, după caz, să maximizăm) funcția de cost, respectand totodata toate cele </a:t>
            </a:r>
            <a:r>
              <a:rPr i="1" lang="ro" sz="1900"/>
              <a:t>n </a:t>
            </a:r>
            <a:r>
              <a:rPr lang="ro" sz="1900"/>
              <a:t>constrangeri</a:t>
            </a:r>
            <a:endParaRPr sz="1900"/>
          </a:p>
        </p:txBody>
      </p:sp>
      <p:pic>
        <p:nvPicPr>
          <p:cNvPr id="253" name="Google Shape;2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Programare Liniara</a:t>
            </a:r>
            <a:endParaRPr/>
          </a:p>
        </p:txBody>
      </p:sp>
      <p:sp>
        <p:nvSpPr>
          <p:cNvPr id="260" name="Google Shape;260;p19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O problemă de programare liniară arată în felul următor: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Ex: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Tb minimizat c</a:t>
            </a:r>
            <a:r>
              <a:rPr baseline="-25000" lang="ro" sz="1900"/>
              <a:t>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c</a:t>
            </a:r>
            <a:r>
              <a:rPr baseline="-25000" lang="ro" sz="1900"/>
              <a:t>d</a:t>
            </a:r>
            <a:r>
              <a:rPr lang="ro" sz="1900"/>
              <a:t>x</a:t>
            </a:r>
            <a:r>
              <a:rPr baseline="-25000" lang="ro" sz="1900"/>
              <a:t>d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astfel încât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1,1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1,d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</a:t>
            </a:r>
            <a:r>
              <a:rPr baseline="-25000" lang="ro" sz="1900"/>
              <a:t>1</a:t>
            </a:r>
            <a:endParaRPr baseline="-25000"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 a</a:t>
            </a:r>
            <a:r>
              <a:rPr baseline="-25000" lang="ro" sz="1900"/>
              <a:t>2,1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2,d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</a:t>
            </a:r>
            <a:r>
              <a:rPr baseline="-25000" lang="ro" sz="1900"/>
              <a:t>2</a:t>
            </a:r>
            <a:endParaRPr baseline="-25000"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…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n,1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n,d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</a:t>
            </a:r>
            <a:r>
              <a:rPr baseline="-25000" lang="ro" sz="1900"/>
              <a:t>n</a:t>
            </a:r>
            <a:endParaRPr baseline="-25000" sz="1900"/>
          </a:p>
        </p:txBody>
      </p:sp>
      <p:pic>
        <p:nvPicPr>
          <p:cNvPr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Programare Liniara</a:t>
            </a:r>
            <a:endParaRPr/>
          </a:p>
        </p:txBody>
      </p:sp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O constrângere poate conține adunări de variabile,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poate folosi inegalități de orice tip (&lt;,&gt;,&gt;=,&lt;=,=)</a:t>
            </a:r>
            <a:br>
              <a:rPr lang="ro" sz="1900"/>
            </a:br>
            <a:br>
              <a:rPr lang="ro" sz="1900"/>
            </a:br>
            <a:r>
              <a:rPr lang="ro" sz="1900"/>
              <a:t>O constrângere nu poate fi opțională! Toate constrângerile sunt ”binding”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rPr lang="ro" sz="1900"/>
              <a:t>În constrangeri nu pot apărea elemente de forma ”x</a:t>
            </a:r>
            <a:r>
              <a:rPr baseline="-25000" lang="ro" sz="1900"/>
              <a:t>i</a:t>
            </a:r>
            <a:r>
              <a:rPr lang="ro" sz="1900"/>
              <a:t>*x</a:t>
            </a:r>
            <a:r>
              <a:rPr baseline="-25000" lang="ro" sz="1900"/>
              <a:t>j</a:t>
            </a:r>
            <a:r>
              <a:rPr lang="ro" sz="1900"/>
              <a:t>” sau ”x</a:t>
            </a:r>
            <a:r>
              <a:rPr baseline="30000" lang="ro" sz="1900"/>
              <a:t>2</a:t>
            </a:r>
            <a:r>
              <a:rPr lang="ro" sz="1900"/>
              <a:t>” - trebuie sa fie liniare!</a:t>
            </a:r>
            <a:endParaRPr sz="1900"/>
          </a:p>
        </p:txBody>
      </p:sp>
      <p:pic>
        <p:nvPicPr>
          <p:cNvPr id="269" name="Google Shape;2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Programare Liniara</a:t>
            </a:r>
            <a:endParaRPr/>
          </a:p>
        </p:txBody>
      </p:sp>
      <p:sp>
        <p:nvSpPr>
          <p:cNvPr id="276" name="Google Shape;276;p21"/>
          <p:cNvSpPr txBox="1"/>
          <p:nvPr>
            <p:ph idx="1" type="body"/>
          </p:nvPr>
        </p:nvSpPr>
        <p:spPr>
          <a:xfrm>
            <a:off x="195325" y="1979975"/>
            <a:ext cx="56604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O problemă de programare liniară arată în felul următor: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Ex: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Tb minimizat c</a:t>
            </a:r>
            <a:r>
              <a:rPr baseline="-25000" lang="ro" sz="1900"/>
              <a:t>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c</a:t>
            </a:r>
            <a:r>
              <a:rPr baseline="-25000" lang="ro" sz="1900"/>
              <a:t>d</a:t>
            </a:r>
            <a:r>
              <a:rPr lang="ro" sz="1900"/>
              <a:t>x</a:t>
            </a:r>
            <a:r>
              <a:rPr baseline="-25000" lang="ro" sz="1900"/>
              <a:t>d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astfel încât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1,1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1,d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b1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 a</a:t>
            </a:r>
            <a:r>
              <a:rPr baseline="-25000" lang="ro" sz="1900"/>
              <a:t>2,1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2,d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b2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…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n,1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n,d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bn</a:t>
            </a:r>
            <a:endParaRPr sz="1900"/>
          </a:p>
        </p:txBody>
      </p:sp>
      <p:pic>
        <p:nvPicPr>
          <p:cNvPr id="277" name="Google Shape;2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5835900" y="2789350"/>
            <a:ext cx="321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Astfel de sisteme pot fi rezolvate în timp polinomial prin algoritmi </a:t>
            </a:r>
            <a:r>
              <a:rPr b="0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simplex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(vezi cursul de Tehnici de Optimizare).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Programare Liniara</a:t>
            </a:r>
            <a:endParaRPr/>
          </a:p>
        </p:txBody>
      </p:sp>
      <p:sp>
        <p:nvSpPr>
          <p:cNvPr id="285" name="Google Shape;285;p22"/>
          <p:cNvSpPr txBox="1"/>
          <p:nvPr>
            <p:ph idx="1" type="body"/>
          </p:nvPr>
        </p:nvSpPr>
        <p:spPr>
          <a:xfrm>
            <a:off x="195325" y="1979975"/>
            <a:ext cx="56604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O problemă de programare liniară arată în felul următor: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Ex: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Tb minimizat c</a:t>
            </a:r>
            <a:r>
              <a:rPr baseline="-25000" lang="ro" sz="1900"/>
              <a:t>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c</a:t>
            </a:r>
            <a:r>
              <a:rPr baseline="-25000" lang="ro" sz="1900"/>
              <a:t>d</a:t>
            </a:r>
            <a:r>
              <a:rPr lang="ro" sz="1900"/>
              <a:t>x</a:t>
            </a:r>
            <a:r>
              <a:rPr baseline="-25000" lang="ro" sz="1900"/>
              <a:t>d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astfel încât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1,1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1,d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b1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 a</a:t>
            </a:r>
            <a:r>
              <a:rPr baseline="-25000" lang="ro" sz="1900"/>
              <a:t>2,1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2,d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b2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…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rPr lang="ro" sz="1900"/>
              <a:t>a</a:t>
            </a:r>
            <a:r>
              <a:rPr baseline="-25000" lang="ro" sz="1900"/>
              <a:t>n,1</a:t>
            </a:r>
            <a:r>
              <a:rPr lang="ro" sz="1900"/>
              <a:t>x</a:t>
            </a:r>
            <a:r>
              <a:rPr baseline="-25000" lang="ro" sz="1900"/>
              <a:t>1</a:t>
            </a:r>
            <a:r>
              <a:rPr lang="ro" sz="1900"/>
              <a:t> + · · · + a</a:t>
            </a:r>
            <a:r>
              <a:rPr baseline="-25000" lang="ro" sz="1900"/>
              <a:t>n,d</a:t>
            </a:r>
            <a:r>
              <a:rPr lang="ro" sz="1900"/>
              <a:t>x</a:t>
            </a:r>
            <a:r>
              <a:rPr baseline="-25000" lang="ro" sz="1900"/>
              <a:t>d</a:t>
            </a:r>
            <a:r>
              <a:rPr lang="ro" sz="1900"/>
              <a:t> ≤ bn</a:t>
            </a:r>
            <a:endParaRPr sz="1900"/>
          </a:p>
        </p:txBody>
      </p:sp>
      <p:pic>
        <p:nvPicPr>
          <p:cNvPr id="286" name="Google Shape;2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5835900" y="2789350"/>
            <a:ext cx="3219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Astfel de sisteme pot fi rezolvate în timp polinomial prin algoritmi </a:t>
            </a:r>
            <a:r>
              <a:rPr b="0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simplex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(vezi cursul de Tehnici de Optimizare).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OBSERVAȚIE:</a:t>
            </a:r>
            <a:b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Algoritmii simplex rezolvă inegalitatea pentru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="1" baseline="-25000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i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- numere reale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Revenim la WVCP (slide 17)</a:t>
            </a:r>
            <a:endParaRPr/>
          </a:p>
        </p:txBody>
      </p:sp>
      <p:sp>
        <p:nvSpPr>
          <p:cNvPr id="294" name="Google Shape;294;p23"/>
          <p:cNvSpPr txBox="1"/>
          <p:nvPr>
            <p:ph idx="1" type="body"/>
          </p:nvPr>
        </p:nvSpPr>
        <p:spPr>
          <a:xfrm>
            <a:off x="195325" y="1979975"/>
            <a:ext cx="56604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Putem formula această problemă ca o problemă de programare liniară: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hlink"/>
                </a:solidFill>
                <a:hlinkClick r:id="rId3"/>
              </a:rPr>
              <a:t>Demonstrație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295" name="Google Shape;2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5835900" y="2789350"/>
            <a:ext cx="3219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Astfel de sisteme pot fi rezolvate în timp polinomial prin algoritmi </a:t>
            </a:r>
            <a:r>
              <a:rPr b="0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simplex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(vezi cursul de Tehnici de Optimizare).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OBSERVAȚIE:</a:t>
            </a:r>
            <a:b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Algoritmii simplex rezolvă inegalitatea pentru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="1" baseline="-25000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i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- numere reale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086404b4c_0_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Revenim la WVCP (slide 17)</a:t>
            </a:r>
            <a:endParaRPr/>
          </a:p>
        </p:txBody>
      </p:sp>
      <p:sp>
        <p:nvSpPr>
          <p:cNvPr id="303" name="Google Shape;303;g3d086404b4c_0_1"/>
          <p:cNvSpPr txBox="1"/>
          <p:nvPr>
            <p:ph idx="1" type="body"/>
          </p:nvPr>
        </p:nvSpPr>
        <p:spPr>
          <a:xfrm>
            <a:off x="195325" y="1979975"/>
            <a:ext cx="56604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 sz="1900"/>
              <a:t>Putem formula această problemă ca o problemă de programare liniară: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hlink"/>
                </a:solidFill>
                <a:hlinkClick r:id="rId3"/>
              </a:rPr>
              <a:t>Demonstrație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  <a:buSzPts val="1300"/>
              <a:buNone/>
            </a:pPr>
            <a:r>
              <a:t/>
            </a:r>
            <a:endParaRPr sz="1900"/>
          </a:p>
        </p:txBody>
      </p:sp>
      <p:pic>
        <p:nvPicPr>
          <p:cNvPr id="304" name="Google Shape;304;g3d086404b4c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2032413" cy="16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d086404b4c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2725" y="464900"/>
            <a:ext cx="2032426" cy="20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d086404b4c_0_1"/>
          <p:cNvSpPr txBox="1"/>
          <p:nvPr/>
        </p:nvSpPr>
        <p:spPr>
          <a:xfrm>
            <a:off x="5835900" y="2789350"/>
            <a:ext cx="3219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Astfel de sisteme pot fi rezolvate în timp polinomial prin algoritmi </a:t>
            </a:r>
            <a:r>
              <a:rPr b="0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simplex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(vezi cursul de Tehnici de Optimizare).</a:t>
            </a: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OBSERVAȚIE:</a:t>
            </a:r>
            <a:b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Algoritmii simplex rezolvă inegalitatea pentru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b="1" baseline="-25000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i </a:t>
            </a:r>
            <a:r>
              <a:rPr b="1" i="0" lang="ro" sz="1400" u="none" cap="none" strike="noStrike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- numere reale</a:t>
            </a: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7" name="Google Shape;307;g3d086404b4c_0_1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5327" y="3724280"/>
            <a:ext cx="1987675" cy="1419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Further reading:</a:t>
            </a:r>
            <a:endParaRPr/>
          </a:p>
        </p:txBody>
      </p:sp>
      <p:sp>
        <p:nvSpPr>
          <p:cNvPr id="313" name="Google Shape;313;p24"/>
          <p:cNvSpPr txBox="1"/>
          <p:nvPr>
            <p:ph idx="1" type="body"/>
          </p:nvPr>
        </p:nvSpPr>
        <p:spPr>
          <a:xfrm>
            <a:off x="729450" y="2078875"/>
            <a:ext cx="4823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u="sng">
                <a:solidFill>
                  <a:schemeClr val="hlink"/>
                </a:solidFill>
                <a:hlinkClick r:id="rId3"/>
              </a:rPr>
              <a:t>Suport de curs saptamana 4 (engl)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314" name="Google Shape;314;p24"/>
          <p:cNvPicPr preferRelativeResize="0"/>
          <p:nvPr/>
        </p:nvPicPr>
        <p:blipFill rotWithShape="1">
          <a:blip r:embed="rId4">
            <a:alphaModFix/>
          </a:blip>
          <a:srcRect b="35615" l="10602" r="29362" t="2884"/>
          <a:stretch/>
        </p:blipFill>
        <p:spPr>
          <a:xfrm>
            <a:off x="5552845" y="502475"/>
            <a:ext cx="3591153" cy="206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