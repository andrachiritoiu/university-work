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aleway"/>
      <p:regular r:id="rId51"/>
      <p:bold r:id="rId52"/>
      <p:italic r:id="rId53"/>
      <p:boldItalic r:id="rId54"/>
    </p:embeddedFont>
    <p:embeddedFont>
      <p:font typeface="La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iSnSfjXzwzhsOzrQo4CrHupLK5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regular.fntdata"/><Relationship Id="rId50" Type="http://schemas.openxmlformats.org/officeDocument/2006/relationships/slide" Target="slides/slide45.xml"/><Relationship Id="rId53" Type="http://schemas.openxmlformats.org/officeDocument/2006/relationships/font" Target="fonts/Raleway-italic.fntdata"/><Relationship Id="rId52" Type="http://schemas.openxmlformats.org/officeDocument/2006/relationships/font" Target="fonts/Raleway-bold.fntdata"/><Relationship Id="rId11" Type="http://schemas.openxmlformats.org/officeDocument/2006/relationships/slide" Target="slides/slide6.xml"/><Relationship Id="rId55" Type="http://schemas.openxmlformats.org/officeDocument/2006/relationships/font" Target="fonts/Lato-regular.fntdata"/><Relationship Id="rId10" Type="http://schemas.openxmlformats.org/officeDocument/2006/relationships/slide" Target="slides/slide5.xml"/><Relationship Id="rId54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57" Type="http://schemas.openxmlformats.org/officeDocument/2006/relationships/font" Target="fonts/Lato-italic.fntdata"/><Relationship Id="rId12" Type="http://schemas.openxmlformats.org/officeDocument/2006/relationships/slide" Target="slides/slide7.xml"/><Relationship Id="rId56" Type="http://schemas.openxmlformats.org/officeDocument/2006/relationships/font" Target="fonts/Lato-bold.fntdata"/><Relationship Id="rId15" Type="http://schemas.openxmlformats.org/officeDocument/2006/relationships/slide" Target="slides/slide10.xml"/><Relationship Id="rId59" Type="http://customschemas.google.com/relationships/presentationmetadata" Target="metadata"/><Relationship Id="rId14" Type="http://schemas.openxmlformats.org/officeDocument/2006/relationships/slide" Target="slides/slide9.xml"/><Relationship Id="rId58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bf30c337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2bf30c33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46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12" name="Google Shape;12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4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4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47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0" name="Google Shape;20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8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27" name="Google Shape;27;p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9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34" name="Google Shape;34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4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50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43" name="Google Shape;43;p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5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51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50" name="Google Shape;50;p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5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5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2"/>
          <p:cNvGrpSpPr/>
          <p:nvPr/>
        </p:nvGrpSpPr>
        <p:grpSpPr>
          <a:xfrm>
            <a:off x="830394" y="4169151"/>
            <a:ext cx="745763" cy="45826"/>
            <a:chOff x="4580561" y="2589004"/>
            <a:chExt cx="1064464" cy="25200"/>
          </a:xfrm>
        </p:grpSpPr>
        <p:sp>
          <p:nvSpPr>
            <p:cNvPr id="57" name="Google Shape;57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5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53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64" name="Google Shape;64;p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5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5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5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5"/>
          <p:cNvGrpSpPr/>
          <p:nvPr/>
        </p:nvGrpSpPr>
        <p:grpSpPr>
          <a:xfrm>
            <a:off x="830394" y="4169151"/>
            <a:ext cx="745763" cy="45826"/>
            <a:chOff x="4580561" y="2589004"/>
            <a:chExt cx="1064464" cy="25200"/>
          </a:xfrm>
        </p:grpSpPr>
        <p:sp>
          <p:nvSpPr>
            <p:cNvPr id="75" name="Google Shape;75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5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5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tefan.popescu@fmi.unibuc.ro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yxVHH8feJXrkBpxEx9zNsz2E25eRB2vry60dQpWa93s/edit?usp=sharing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11" Type="http://schemas.openxmlformats.org/officeDocument/2006/relationships/image" Target="../media/image27.png"/><Relationship Id="rId10" Type="http://schemas.openxmlformats.org/officeDocument/2006/relationships/image" Target="../media/image29.png"/><Relationship Id="rId12" Type="http://schemas.openxmlformats.org/officeDocument/2006/relationships/image" Target="../media/image32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11" Type="http://schemas.openxmlformats.org/officeDocument/2006/relationships/image" Target="../media/image32.png"/><Relationship Id="rId10" Type="http://schemas.openxmlformats.org/officeDocument/2006/relationships/image" Target="../media/image27.png"/><Relationship Id="rId12" Type="http://schemas.openxmlformats.org/officeDocument/2006/relationships/image" Target="../media/image18.jpg"/><Relationship Id="rId9" Type="http://schemas.openxmlformats.org/officeDocument/2006/relationships/image" Target="../media/image29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27.png"/><Relationship Id="rId13" Type="http://schemas.openxmlformats.org/officeDocument/2006/relationships/image" Target="../media/image39.png"/><Relationship Id="rId1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Relationship Id="rId14" Type="http://schemas.openxmlformats.org/officeDocument/2006/relationships/image" Target="../media/image40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Relationship Id="rId4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jpg"/><Relationship Id="rId4" Type="http://schemas.openxmlformats.org/officeDocument/2006/relationships/hyperlink" Target="https://drive.google.com/file/d/1zTYc3hAlI2WyNA-p6XeeKX4F5fiV629k/view" TargetMode="External"/><Relationship Id="rId5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jpg"/><Relationship Id="rId4" Type="http://schemas.openxmlformats.org/officeDocument/2006/relationships/hyperlink" Target="https://drive.google.com/file/d/1zTYc3hAlI2WyNA-p6XeeKX4F5fiV629k/view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jpg"/><Relationship Id="rId4" Type="http://schemas.openxmlformats.org/officeDocument/2006/relationships/hyperlink" Target="https://drive.google.com/file/d/1zTYc3hAlI2WyNA-p6XeeKX4F5fiV629k/view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8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gif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drive.google.com/file/d/1zTYc3hAlI2WyNA-p6XeeKX4F5fiV629k/view" TargetMode="External"/><Relationship Id="rId4" Type="http://schemas.openxmlformats.org/officeDocument/2006/relationships/image" Target="../media/image41.jpg"/><Relationship Id="rId5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82375" y="763200"/>
            <a:ext cx="7772400" cy="13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Algoritmi Avansați 2026</a:t>
            </a:r>
            <a:br>
              <a:rPr lang="ro"/>
            </a:br>
            <a:r>
              <a:rPr lang="ro"/>
              <a:t>c-2</a:t>
            </a:r>
            <a:br>
              <a:rPr lang="ro"/>
            </a:br>
            <a:r>
              <a:rPr lang="ro"/>
              <a:t>Algoritmi ⍴-aproximativi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5" y="3401500"/>
            <a:ext cx="76881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Lect. Dr. Ștefan Popescu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ro"/>
              <a:t>Email: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stefan.popescu@fmi.unibuc.ro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ro"/>
              <a:t>Grup Teams:</a:t>
            </a:r>
            <a:br>
              <a:rPr lang="ro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t/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1000" y="3358800"/>
            <a:ext cx="4936793" cy="160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Despre examen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50% Teme: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	3 parti: Proiect algoritmi genetici (30p), Tema algoritmi aproximativi (30p), Deadline saptamana 6-7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Algoritmi Geometrici (30p) + 10p din oficiu;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50% Examen Scris: 30p Prima parte, 60p A doua parte (algoritmi geometrici), 10p din oficiu</a:t>
            </a:r>
            <a:br>
              <a:rPr lang="ro"/>
            </a:br>
            <a:br>
              <a:rPr lang="ro"/>
            </a:br>
            <a:r>
              <a:rPr lang="ro"/>
              <a:t>Examenul scris - durata 60 minute, cu cursurile pe banca.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br>
              <a:rPr lang="ro"/>
            </a:br>
            <a:r>
              <a:rPr lang="ro"/>
              <a:t> </a:t>
            </a:r>
            <a:endParaRPr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8718" y="589100"/>
            <a:ext cx="2347222" cy="1179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9850" y="436700"/>
            <a:ext cx="2631735" cy="138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bf30c3376f_0_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Din cursul anterior</a:t>
            </a:r>
            <a:endParaRPr/>
          </a:p>
        </p:txBody>
      </p:sp>
      <p:sp>
        <p:nvSpPr>
          <p:cNvPr id="102" name="Google Shape;102;g2bf30c3376f_0_0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Recapitulare:</a:t>
            </a:r>
            <a:br>
              <a:rPr lang="ro"/>
            </a:br>
            <a:r>
              <a:rPr lang="ro"/>
              <a:t>	reamintit ce este acela un algoritm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complexitatea unui algoritm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timp determinist vs nedeterminist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crash-course in ce inseamna P, NP, NPC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br>
              <a:rPr lang="ro"/>
            </a:br>
            <a:r>
              <a:rPr lang="ro"/>
              <a:t> </a:t>
            </a:r>
            <a:endParaRPr/>
          </a:p>
        </p:txBody>
      </p:sp>
      <p:pic>
        <p:nvPicPr>
          <p:cNvPr id="103" name="Google Shape;103;g2bf30c3376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8718" y="589100"/>
            <a:ext cx="2347222" cy="1179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Cursul prezent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729450" y="2078875"/>
            <a:ext cx="7688700" cy="28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Motivație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Terminologie de baza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Un prim exemplu de algoritm aproximativ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ro"/>
              <a:t>Un exemplu mai detaliat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8718" y="589100"/>
            <a:ext cx="2347222" cy="1179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8725" y="560338"/>
            <a:ext cx="2347222" cy="123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Motivație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Q: Daca avem nevoie să aflăm raspunsul la o problemă NP-hard?</a:t>
            </a:r>
            <a:br>
              <a:rPr b="1" lang="ro"/>
            </a:br>
            <a:r>
              <a:rPr b="1" lang="ro"/>
              <a:t>A: Nu prea sunt șanse să găsim un algoritm care să ruleze în timp polinomial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Așa că….</a:t>
            </a:r>
            <a:endParaRPr b="1"/>
          </a:p>
        </p:txBody>
      </p:sp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5994" y="483350"/>
            <a:ext cx="1384200" cy="1985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Motivație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Trebuie să renunțăm măcar la unul dintre următoarele 3 elemente: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b="1" lang="ro"/>
              <a:t>Găsirea unui algoritm polinomial pentru problemă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ro"/>
              <a:t>Găsirea unui algoritm general (pentru o instanță oarecare) a problemei</a:t>
            </a:r>
            <a:endParaRPr b="1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ro"/>
              <a:t>Găsirea soluției exacte (optime) pentru problema</a:t>
            </a:r>
            <a:endParaRPr b="1"/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5994" y="483350"/>
            <a:ext cx="1384200" cy="1985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Basic Terminology &amp; Notations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 de Optim: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	Informal spus este problema in care trebuie sa gasesti o “cea mai buna” solutie/constructie fezabila.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“Cea mai buna” - poate avea doua sensuri:</a:t>
            </a:r>
            <a:br>
              <a:rPr lang="ro"/>
            </a:br>
            <a:r>
              <a:rPr lang="ro"/>
              <a:t>		Fie avem o problema de </a:t>
            </a:r>
            <a:r>
              <a:rPr b="1" lang="ro"/>
              <a:t>minimizare </a:t>
            </a:r>
            <a:r>
              <a:rPr lang="ro"/>
              <a:t>precum Problema Comis-voiajorului.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/>
              <a:t>		FIe o problema de </a:t>
            </a:r>
            <a:r>
              <a:rPr b="1" lang="ro"/>
              <a:t>maximizare </a:t>
            </a:r>
            <a:r>
              <a:rPr lang="ro"/>
              <a:t>precum cea de a găsi o acoperire de cardinal maxim pentru multimea  varfurilor unui graf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Basic Terminology &amp; Notations 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 de Optim: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Fie </a:t>
            </a:r>
            <a:r>
              <a:rPr i="1" lang="ro"/>
              <a:t>P</a:t>
            </a:r>
            <a:r>
              <a:rPr lang="ro"/>
              <a:t> - o problema de optim, și </a:t>
            </a:r>
            <a:r>
              <a:rPr i="1" lang="ro"/>
              <a:t>I</a:t>
            </a:r>
            <a:r>
              <a:rPr lang="ro"/>
              <a:t> o intrare pe aceasta problema. Vom nota cu </a:t>
            </a:r>
            <a:r>
              <a:rPr i="1" lang="ro"/>
              <a:t>OPT(I)</a:t>
            </a:r>
            <a:r>
              <a:rPr lang="ro"/>
              <a:t> ”valoarea” soluției optime.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În mod analog, atunci când propunem un algoritm care să ofere o soluție fezabilă pentru problema noastră, vom nota ”valoarea” acelei soluții cu </a:t>
            </a:r>
            <a:r>
              <a:rPr i="1" lang="ro"/>
              <a:t>ALG(I).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De cele mai multe ori, atunci când nu se crează confuzie, vom simplifica notațiile folosind termenii ”OPT”, respectiv ”ALG”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/>
              <a:t>Pe parcursul prezentării vom presupune că atât </a:t>
            </a:r>
            <a:r>
              <a:rPr i="1" lang="ro"/>
              <a:t>OPT, </a:t>
            </a:r>
            <a:r>
              <a:rPr lang="ro"/>
              <a:t>cât și ALG sunt ≥0. </a:t>
            </a:r>
            <a:br>
              <a:rPr lang="ro"/>
            </a:br>
            <a:r>
              <a:rPr lang="ro"/>
              <a:t> </a:t>
            </a:r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Basic Terminology &amp; Notations 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Problema de Optim: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Pentru a justifica ca un algoritm este </a:t>
            </a:r>
            <a:r>
              <a:rPr i="1" lang="ro"/>
              <a:t>util</a:t>
            </a:r>
            <a:r>
              <a:rPr lang="ro"/>
              <a:t>, acesta trebuie însoțit de o justificare că soluția oferită este fezabilă pentru problema, precum și o relație între </a:t>
            </a:r>
            <a:r>
              <a:rPr i="1" lang="ro"/>
              <a:t>ALG </a:t>
            </a:r>
            <a:r>
              <a:rPr lang="ro"/>
              <a:t>și </a:t>
            </a:r>
            <a:r>
              <a:rPr i="1" lang="ro"/>
              <a:t>OPT</a:t>
            </a:r>
            <a:r>
              <a:rPr lang="ro"/>
              <a:t>.  Aceast tip de relație este descrisă astfel:</a:t>
            </a:r>
            <a:br>
              <a:rPr lang="ro"/>
            </a:b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i="1" lang="ro"/>
              <a:t>Definiție </a:t>
            </a:r>
            <a:r>
              <a:rPr b="1" lang="ro"/>
              <a:t>1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o&gt;&amp;#xB7;&lt;/mo&gt;&lt;mtext&gt;&amp;#xA0;Un&amp;#xA0;algoritm&amp;#xA0;ALG&amp;#xA0;pentru&amp;#xA0;o&amp;#xA0;problema&amp;#xA0;de&amp;#xA0;&lt;/mtext&gt;&lt;mtext mathvariant=&quot;bold&quot;&gt;minimzare&lt;/mtext&gt;&lt;mtext&gt;&amp;#xA0;se&amp;#xA0;nume&amp;#x219;te&amp;#xA0;&lt;/mtext&gt;&lt;mi&gt;&amp;#x3C1;&lt;/mi&gt;&lt;mtext&gt;-aproximativ,&amp;#xA0;pentru&lt;/mtext&gt;&lt;mspace linebreak=&quot;newline&quot;/&gt;&lt;mtext&gt;&amp;#xA0;o&amp;#xA0;valoare&amp;#xA0;&lt;/mtext&gt;&lt;mi&gt;&amp;#x3C1;&lt;/mi&gt;&lt;mo&gt;&amp;gt;&lt;/mo&gt;&lt;mn&gt;1&lt;/mn&gt;&lt;mo&gt;,&lt;/mo&gt;&lt;mtext&gt;&amp;#xA0;dac&amp;#x103;&amp;#xA0;&amp;#xA0;&lt;/mtext&gt;&lt;mi&gt;A&lt;/mi&gt;&lt;mi&gt;L&lt;/mi&gt;&lt;mi&gt;G&lt;/mi&gt;&lt;mfenced&gt;&lt;mi&gt;I&lt;/mi&gt;&lt;/mfenced&gt;&lt;mo&gt;&amp;#x2264;&lt;/mo&gt;&lt;mi&gt;&amp;#x3C1;&lt;/mi&gt;&lt;mo&gt;&amp;#xB7;&lt;/mo&gt;&lt;mi&gt;O&lt;/mi&gt;&lt;mi&gt;P&lt;/mi&gt;&lt;mi&gt;T&lt;/mi&gt;&lt;mfenced&gt;&lt;mi&gt;I&lt;/mi&gt;&lt;/mfenced&gt;&lt;mi&gt;p&lt;/mi&gt;&lt;mi&gt;t&lt;/mi&gt;&lt;mo&gt;&amp;#xA0;&lt;/mo&gt;&lt;mo&gt;&amp;#x2200;&lt;/mo&gt;&lt;mi&gt;I&lt;/mi&gt;&lt;mo&gt;&amp;#xA0;&lt;/mo&gt;&lt;mo&gt;-&lt;/mo&gt;&lt;mtext&gt;intrare&amp;#xA0;&lt;/mtext&gt;&lt;mspace linebreak=&quot;newline&quot;/&gt;&lt;mspace linebreak=&quot;newline&quot;/&gt;&lt;mo&gt;&amp;#xB7;&lt;/mo&gt;&lt;mtext&gt;&amp;#xA0;Un&amp;#xA0;algoritm&amp;#xA0;ALG&amp;#xA0;pentru&amp;#xA0;o&amp;#xA0;problema&amp;#xA0;de&amp;#xA0;&lt;/mtext&gt;&lt;mtext mathvariant=&quot;bold&quot;&gt;maximizare&lt;/mtext&gt;&lt;mtext&gt;&amp;#xA0;se&amp;#xA0;nume&amp;#x219;te&amp;#xA0;&lt;/mtext&gt;&lt;mi&gt;&amp;#x3C1;&lt;/mi&gt;&lt;mtext&gt;-aproximativ,&amp;#xA0;pentru&lt;/mtext&gt;&lt;mspace linebreak=&quot;newline&quot;/&gt;&lt;mtext&gt;&amp;#xA0;o&amp;#xA0;valoare&amp;#xA0;&lt;/mtext&gt;&lt;mi&gt;&amp;#x3C1;&lt;/mi&gt;&lt;mo&gt;&amp;lt;&lt;/mo&gt;&lt;mn&gt;1&lt;/mn&gt;&lt;mo&gt;,&lt;/mo&gt;&lt;mtext&gt;&amp;#xA0;dac&amp;#x103;&amp;#xA0;&amp;#xA0;&lt;/mtext&gt;&lt;mi&gt;A&lt;/mi&gt;&lt;mi&gt;L&lt;/mi&gt;&lt;mi&gt;G&lt;/mi&gt;&lt;mo&gt;&amp;#xA0;&lt;/mo&gt;&lt;mo&gt;&amp;#x2265;&lt;/mo&gt;&lt;mi&gt;&amp;#x3C1;&lt;/mi&gt;&lt;mo&gt;&amp;#xB7;&lt;/mo&gt;&lt;mi&gt;O&lt;/mi&gt;&lt;mi&gt;P&lt;/mi&gt;&lt;mi&gt;T&lt;/mi&gt;&lt;mfenced&gt;&lt;mi&gt;I&lt;/mi&gt;&lt;/mfenced&gt;&lt;mi&gt;p&lt;/mi&gt;&lt;mi&gt;t&lt;/mi&gt;&lt;mo&gt;&amp;#xA0;&lt;/mo&gt;&lt;mo&gt;&amp;#x2200;&lt;/mo&gt;&lt;mi&gt;I&lt;/mi&gt;&lt;mo&gt;&amp;#xA0;&lt;/mo&gt;&lt;mo&gt;-&lt;/mo&gt;&lt;mtext&gt;intrare&amp;#xA0;&lt;/mtext&gt;&lt;/math&gt;" id="147" name="Google Shape;147;p8" title="Error converting from MathML to accessible text.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225" y="3625050"/>
            <a:ext cx="6160670" cy="1206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Basic Terminology &amp; Notations </a:t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OBSERVAȚIE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(pt probleme de minim)  Orice algoritm ρ-aproximativ este la rândul lui ρ’-aproximativ pentru orice ρ’&gt;ρ. De aceea, în cazul unui algoritm ALG pentru o problemă de minimizare, spre exemplu, trebuie ca justificarea ce însoțește pe ALG să ofere cea mai mică valoare ρ pentru care ALG este ρ-aproximativ.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i="1" lang="ro"/>
              <a:t>Definiție </a:t>
            </a:r>
            <a:r>
              <a:rPr b="1" lang="ro"/>
              <a:t>1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o&gt;&amp;#xB7;&lt;/mo&gt;&lt;mtext&gt;&amp;#xA0;Un&amp;#xA0;algoritm&amp;#xA0;ALG&amp;#xA0;pentru&amp;#xA0;o&amp;#xA0;problema&amp;#xA0;de&amp;#xA0;&lt;/mtext&gt;&lt;mtext mathvariant=&quot;bold&quot;&gt;minimzare&lt;/mtext&gt;&lt;mtext&gt;&amp;#xA0;se&amp;#xA0;nume&amp;#x219;te&amp;#xA0;&lt;/mtext&gt;&lt;mi&gt;&amp;#x3C1;&lt;/mi&gt;&lt;mtext&gt;-aproximativ,&amp;#xA0;pentru&lt;/mtext&gt;&lt;mspace linebreak=&quot;newline&quot;/&gt;&lt;mtext&gt;&amp;#xA0;o&amp;#xA0;valoare&amp;#xA0;&lt;/mtext&gt;&lt;mi&gt;&amp;#x3C1;&lt;/mi&gt;&lt;mo&gt;&amp;gt;&lt;/mo&gt;&lt;mn&gt;1&lt;/mn&gt;&lt;mo&gt;,&lt;/mo&gt;&lt;mtext&gt;&amp;#xA0;dac&amp;#x103;&amp;#xA0;&amp;#xA0;&lt;/mtext&gt;&lt;mi&gt;A&lt;/mi&gt;&lt;mi&gt;L&lt;/mi&gt;&lt;mi&gt;G&lt;/mi&gt;&lt;mfenced&gt;&lt;mi&gt;I&lt;/mi&gt;&lt;/mfenced&gt;&lt;mo&gt;&amp;#x2264;&lt;/mo&gt;&lt;mi&gt;&amp;#x3C1;&lt;/mi&gt;&lt;mo&gt;&amp;#xB7;&lt;/mo&gt;&lt;mi&gt;O&lt;/mi&gt;&lt;mi&gt;P&lt;/mi&gt;&lt;mi&gt;T&lt;/mi&gt;&lt;mfenced&gt;&lt;mi&gt;I&lt;/mi&gt;&lt;/mfenced&gt;&lt;mi&gt;p&lt;/mi&gt;&lt;mi&gt;t&lt;/mi&gt;&lt;mo&gt;&amp;#xA0;&lt;/mo&gt;&lt;mo&gt;&amp;#x2200;&lt;/mo&gt;&lt;mi&gt;I&lt;/mi&gt;&lt;mo&gt;&amp;#xA0;&lt;/mo&gt;&lt;mo&gt;-&lt;/mo&gt;&lt;mtext&gt;intrare&amp;#xA0;&lt;/mtext&gt;&lt;mspace linebreak=&quot;newline&quot;/&gt;&lt;mspace linebreak=&quot;newline&quot;/&gt;&lt;mo&gt;&amp;#xB7;&lt;/mo&gt;&lt;mtext&gt;&amp;#xA0;Un&amp;#xA0;algoritm&amp;#xA0;ALG&amp;#xA0;pentru&amp;#xA0;o&amp;#xA0;problema&amp;#xA0;de&amp;#xA0;&lt;/mtext&gt;&lt;mtext mathvariant=&quot;bold&quot;&gt;maximizare&lt;/mtext&gt;&lt;mtext&gt;&amp;#xA0;se&amp;#xA0;nume&amp;#x219;te&amp;#xA0;&lt;/mtext&gt;&lt;mi&gt;&amp;#x3C1;&lt;/mi&gt;&lt;mtext&gt;-aproximativ,&amp;#xA0;pentru&lt;/mtext&gt;&lt;mspace linebreak=&quot;newline&quot;/&gt;&lt;mtext&gt;&amp;#xA0;o&amp;#xA0;valoare&amp;#xA0;&lt;/mtext&gt;&lt;mi&gt;&amp;#x3C1;&lt;/mi&gt;&lt;mo&gt;&amp;lt;&lt;/mo&gt;&lt;mn&gt;1&lt;/mn&gt;&lt;mo&gt;,&lt;/mo&gt;&lt;mtext&gt;&amp;#xA0;dac&amp;#x103;&amp;#xA0;&amp;#xA0;&lt;/mtext&gt;&lt;mi&gt;A&lt;/mi&gt;&lt;mi&gt;L&lt;/mi&gt;&lt;mi&gt;G&lt;/mi&gt;&lt;mo&gt;&amp;#xA0;&lt;/mo&gt;&lt;mo&gt;&amp;#x2265;&lt;/mo&gt;&lt;mi&gt;&amp;#x3C1;&lt;/mi&gt;&lt;mo&gt;&amp;#xB7;&lt;/mo&gt;&lt;mi&gt;O&lt;/mi&gt;&lt;mi&gt;P&lt;/mi&gt;&lt;mi&gt;T&lt;/mi&gt;&lt;mfenced&gt;&lt;mi&gt;I&lt;/mi&gt;&lt;/mfenced&gt;&lt;mi&gt;p&lt;/mi&gt;&lt;mi&gt;t&lt;/mi&gt;&lt;mo&gt;&amp;#xA0;&lt;/mo&gt;&lt;mo&gt;&amp;#x2200;&lt;/mo&gt;&lt;mi&gt;I&lt;/mi&gt;&lt;mo&gt;&amp;#xA0;&lt;/mo&gt;&lt;mo&gt;-&lt;/mo&gt;&lt;mtext&gt;intrare&amp;#xA0;&lt;/mtext&gt;&lt;/math&gt;" id="155" name="Google Shape;155;p9" title="Error converting from MathML to accessible text.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225" y="3625050"/>
            <a:ext cx="6160670" cy="1206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Basic Terminology &amp; Notations </a:t>
            </a:r>
            <a:endParaRPr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729450" y="2078875"/>
            <a:ext cx="7688700" cy="28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i="1" lang="ro"/>
              <a:t>Definiție </a:t>
            </a:r>
            <a:r>
              <a:rPr b="1" lang="ro"/>
              <a:t>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Fie </a:t>
            </a:r>
            <a:r>
              <a:rPr i="1" lang="ro"/>
              <a:t>ALG</a:t>
            </a:r>
            <a:r>
              <a:rPr lang="ro"/>
              <a:t> un algoritm ρ-aproximativ pentru o problema de minimizare. Spunem că factorul de aproximare este ”tight bounded” atunci când avem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Ca să arătăm că un algoritm este ρ-aproximativ ”tight bounded” , trebuie deci să justificăm următoarele 2 lucruri: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ro"/>
              <a:t>Trebuie să arătmăm că este ρ-aproximativ, adică </a:t>
            </a:r>
            <a:r>
              <a:rPr i="1" lang="ro"/>
              <a:t>ALG(I)≤</a:t>
            </a:r>
            <a:r>
              <a:rPr lang="ro"/>
              <a:t>ρx</a:t>
            </a:r>
            <a:r>
              <a:rPr i="1" lang="ro"/>
              <a:t>OPT(I)</a:t>
            </a:r>
            <a:r>
              <a:rPr lang="ro"/>
              <a:t> pentru orice intrare </a:t>
            </a:r>
            <a:r>
              <a:rPr i="1" lang="ro"/>
              <a:t>I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o"/>
              <a:t>Pentru orice ρ’&lt;ρ există un </a:t>
            </a:r>
            <a:r>
              <a:rPr i="1" lang="ro"/>
              <a:t>I</a:t>
            </a:r>
            <a:r>
              <a:rPr lang="ro"/>
              <a:t> pentru care </a:t>
            </a:r>
            <a:r>
              <a:rPr i="1" lang="ro"/>
              <a:t>ALG(I)&gt;</a:t>
            </a:r>
            <a:r>
              <a:rPr lang="ro"/>
              <a:t>ρ’x</a:t>
            </a:r>
            <a:r>
              <a:rPr i="1" lang="ro"/>
              <a:t>OPT(I)</a:t>
            </a:r>
            <a:r>
              <a:rPr lang="ro"/>
              <a:t>.  Adesea totuși ne este mai la îndemână să arătăm ca există un </a:t>
            </a:r>
            <a:r>
              <a:rPr i="1" lang="ro"/>
              <a:t>I</a:t>
            </a:r>
            <a:r>
              <a:rPr lang="ro"/>
              <a:t> pentru care </a:t>
            </a:r>
            <a:r>
              <a:rPr i="1" lang="ro"/>
              <a:t>ALG(I)=</a:t>
            </a:r>
            <a:r>
              <a:rPr lang="ro"/>
              <a:t>ρx</a:t>
            </a:r>
            <a:r>
              <a:rPr i="1" lang="ro"/>
              <a:t>OPT(I)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62" name="Google Shape;1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&amp;#x3C1;&lt;/mi&gt;&lt;mo&gt;=&lt;/mo&gt;&lt;mi&gt;s&lt;/mi&gt;&lt;mi&gt;u&lt;/mi&gt;&lt;mi&gt;p&lt;/mi&gt;&lt;mi&gt;r&lt;/mi&gt;&lt;mi&gt;e&lt;/mi&gt;&lt;mi&gt;m&lt;/mi&gt;&lt;mi&gt;u&lt;/mi&gt;&lt;msub&gt;&lt;mi&gt;m&lt;/mi&gt;&lt;mi&gt;I&lt;/mi&gt;&lt;/msub&gt;&lt;mfrac&gt;&lt;mrow&gt;&lt;mi&gt;A&lt;/mi&gt;&lt;mi&gt;L&lt;/mi&gt;&lt;mi&gt;G&lt;/mi&gt;&lt;mfenced&gt;&lt;mi&gt;I&lt;/mi&gt;&lt;/mfenced&gt;&lt;/mrow&gt;&lt;mrow&gt;&lt;mi&gt;O&lt;/mi&gt;&lt;mi&gt;P&lt;/mi&gt;&lt;mi&gt;T&lt;/mi&gt;&lt;mfenced&gt;&lt;mi&gt;I&lt;/mi&gt;&lt;/mfenced&gt;&lt;/mrow&gt;&lt;/mfrac&gt;&lt;mo&gt;&amp;#xA0;&lt;/mo&gt;&lt;/math&gt;" id="163" name="Google Shape;163;p10" title="rho equals s u p r e m u m subscript I fraction numerator A L G open parentheses I close parentheses over denominator O P T open parentheses I close parentheses end fraction space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825" y="2754950"/>
            <a:ext cx="1310019" cy="286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 primă provocare: </a:t>
            </a:r>
            <a:br>
              <a:rPr lang="ro"/>
            </a:br>
            <a:r>
              <a:rPr lang="ro"/>
              <a:t>1/0 Knapsack problem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729450" y="2078875"/>
            <a:ext cx="638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Enunț pe scurt: </a:t>
            </a:r>
            <a:r>
              <a:rPr lang="ro"/>
              <a:t>Trebuie să găsim o submulțime de obiecte de valoare totală maximă, fără ca greutatea lor totală să depășească o capacitate dată a rucsacului. Obiectele sunt puse integral în rucsac sau sunt date deoparte. Nu pot fi fracționate!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/>
          </a:p>
        </p:txBody>
      </p:sp>
      <p:pic>
        <p:nvPicPr>
          <p:cNvPr id="170" name="Google Shape;1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75" y="464900"/>
            <a:ext cx="1805625" cy="1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 primă provocare: </a:t>
            </a:r>
            <a:br>
              <a:rPr lang="ro"/>
            </a:br>
            <a:r>
              <a:rPr lang="ro"/>
              <a:t>1/0 Knapsack problem</a:t>
            </a:r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729450" y="2078875"/>
            <a:ext cx="638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Enunț pe scurt: </a:t>
            </a:r>
            <a:r>
              <a:rPr lang="ro"/>
              <a:t>Trebuie să găsim o submulțime de obiecte de valoare totală maximă, fără ca greutatea lor totală să depășească o capacitate dată a rucsacului. Obiectele sunt puse integral în rucsac sau sunt date deoparte. Nu pot fi fracționate!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Presupunere: </a:t>
            </a:r>
            <a:r>
              <a:rPr lang="ro"/>
              <a:t>Fiecare obiect are o greutate mai mică sau egală cu capacitatea rucsacului!</a:t>
            </a:r>
            <a:endParaRPr/>
          </a:p>
        </p:txBody>
      </p:sp>
      <p:pic>
        <p:nvPicPr>
          <p:cNvPr id="178" name="Google Shape;17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75" y="464900"/>
            <a:ext cx="1805625" cy="180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 primă provocare: </a:t>
            </a:r>
            <a:br>
              <a:rPr lang="ro"/>
            </a:br>
            <a:r>
              <a:rPr lang="ro"/>
              <a:t>1/0 Knapsack problem</a:t>
            </a:r>
            <a:endParaRPr/>
          </a:p>
        </p:txBody>
      </p: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729450" y="2078875"/>
            <a:ext cx="638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Enunț pe scurt: </a:t>
            </a:r>
            <a:r>
              <a:rPr lang="ro"/>
              <a:t>Trebuie să găsim o submulțime de obiecte de valoare totală maximă, fără ca greutatea lor totală să depășească o capacitate dată a rucsacului. Obiectele sunt puse integral în rucsac sau sunt date deoparte. Nu pot fi fracționate!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Rezolvare propusă:</a:t>
            </a:r>
            <a:br>
              <a:rPr b="1" lang="ro"/>
            </a:br>
            <a:endParaRPr/>
          </a:p>
        </p:txBody>
      </p:sp>
      <p:pic>
        <p:nvPicPr>
          <p:cNvPr id="186" name="Google Shape;1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75" y="464900"/>
            <a:ext cx="1805625" cy="180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F&lt;/mi&gt;&lt;mi&gt;i&lt;/mi&gt;&lt;mi&gt;e&lt;/mi&gt;&lt;mo&gt;&amp;#xA0;&lt;/mo&gt;&lt;mi&gt;L&lt;/mi&gt;&lt;mo&gt;&amp;#xA0;&lt;/mo&gt;&lt;mo&gt;-&lt;/mo&gt;&lt;mi&gt;l&lt;/mi&gt;&lt;mi&gt;i&lt;/mi&gt;&lt;mi&gt;s&lt;/mi&gt;&lt;mi&gt;t&lt;/mi&gt;&lt;mi&gt;a&lt;/mi&gt;&lt;mo&gt;&amp;#xA0;&lt;/mo&gt;&lt;mi&gt;o&lt;/mi&gt;&lt;mi&gt;b&lt;/mi&gt;&lt;mi&gt;i&lt;/mi&gt;&lt;mi&gt;e&lt;/mi&gt;&lt;mi&gt;c&lt;/mi&gt;&lt;mi&gt;t&lt;/mi&gt;&lt;mi&gt;e&lt;/mi&gt;&lt;mi&gt;l&lt;/mi&gt;&lt;mi&gt;o&lt;/mi&gt;&lt;mi&gt;r&lt;/mi&gt;&lt;mo&gt;&amp;#xA0;&lt;/mo&gt;&lt;mi&gt;s&lt;/mi&gt;&lt;mi&gt;o&lt;/mi&gt;&lt;mi&gt;r&lt;/mi&gt;&lt;mi&gt;t&lt;/mi&gt;&lt;mi&gt;a&lt;/mi&gt;&lt;mi&gt;t&lt;/mi&gt;&lt;mi&gt;e&lt;/mi&gt;&lt;mo&gt;&amp;#xA0;&lt;/mo&gt;&lt;mi&gt;d&lt;/mi&gt;&lt;mi&gt;u&lt;/mi&gt;&lt;mi&gt;p&lt;/mi&gt;&lt;mi&gt;&amp;#x103;&lt;/mi&gt;&lt;mo&gt;&amp;#xA0;&lt;/mo&gt;&lt;mi&gt;r&lt;/mi&gt;&lt;mi&gt;a&lt;/mi&gt;&lt;mi&gt;p&lt;/mi&gt;&lt;mi&gt;o&lt;/mi&gt;&lt;mi&gt;r&lt;/mi&gt;&lt;mi&gt;t&lt;/mi&gt;&lt;mi&gt;u&lt;/mi&gt;&lt;mi&gt;l&lt;/mi&gt;&lt;mo&gt;&amp;#xA0;&lt;/mo&gt;&lt;mfrac bevelled=&quot;true&quot;&gt;&lt;mrow&gt;&lt;mi&gt;v&lt;/mi&gt;&lt;mi&gt;a&lt;/mi&gt;&lt;mi&gt;l&lt;/mi&gt;&lt;mi&gt;o&lt;/mi&gt;&lt;mi&gt;a&lt;/mi&gt;&lt;mi&gt;r&lt;/mi&gt;&lt;mi&gt;e&lt;/mi&gt;&lt;/mrow&gt;&lt;mrow&gt;&lt;mi&gt;g&lt;/mi&gt;&lt;mi&gt;r&lt;/mi&gt;&lt;mi&gt;e&lt;/mi&gt;&lt;mi&gt;u&lt;/mi&gt;&lt;mi&gt;t&lt;/mi&gt;&lt;mi&gt;a&lt;/mi&gt;&lt;mi&gt;t&lt;/mi&gt;&lt;mi&gt;e&lt;/mi&gt;&lt;/mrow&gt;&lt;/mfrac&gt;&lt;mspace linebreak=&quot;newline&quot;/&gt;&lt;mi&gt;F&lt;/mi&gt;&lt;mi&gt;i&lt;/mi&gt;&lt;mi&gt;e&lt;/mi&gt;&lt;mo&gt;&amp;#xA0;&lt;/mo&gt;&lt;msub&gt;&lt;mi&gt;O&lt;/mi&gt;&lt;mi&gt;p&lt;/mi&gt;&lt;/msub&gt;&lt;mo&gt;&amp;#xA0;&lt;/mo&gt;&lt;mo&gt;-&lt;/mo&gt;&lt;mi&gt;o&lt;/mi&gt;&lt;mi&gt;b&lt;/mi&gt;&lt;mi&gt;i&lt;/mi&gt;&lt;mi&gt;e&lt;/mi&gt;&lt;mi&gt;c&lt;/mi&gt;&lt;mi&gt;t&lt;/mi&gt;&lt;mi&gt;u&lt;/mi&gt;&lt;mi&gt;l&lt;/mi&gt;&lt;mo&gt;&amp;#xA0;&lt;/mo&gt;&lt;mi&gt;c&lt;/mi&gt;&lt;mi&gt;u&lt;/mi&gt;&lt;mo&gt;&amp;#xA0;&lt;/mo&gt;&lt;mi&gt;p&lt;/mi&gt;&lt;mi&gt;r&lt;/mi&gt;&lt;mi&gt;o&lt;/mi&gt;&lt;mi&gt;f&lt;/mi&gt;&lt;mi&gt;i&lt;/mi&gt;&lt;mi&gt;t&lt;/mi&gt;&lt;mi&gt;u&lt;/mi&gt;&lt;mi&gt;l&lt;/mi&gt;&lt;mo&gt;&amp;#xA0;&lt;/mo&gt;&lt;mi&gt;c&lt;/mi&gt;&lt;mi&gt;e&lt;/mi&gt;&lt;mi&gt;l&lt;/mi&gt;&lt;mo&gt;&amp;#xA0;&lt;/mo&gt;&lt;mi&gt;m&lt;/mi&gt;&lt;mi&gt;a&lt;/mi&gt;&lt;mi&gt;i&lt;/mi&gt;&lt;mo&gt;&amp;#xA0;&lt;/mo&gt;&lt;mi&gt;m&lt;/mi&gt;&lt;mi&gt;a&lt;/mi&gt;&lt;mi&gt;r&lt;/mi&gt;&lt;mi&gt;e&lt;/mi&gt;&lt;mo&gt;&amp;#xA0;&lt;/mo&gt;&lt;mi&gt;d&lt;/mi&gt;&lt;mi&gt;i&lt;/mi&gt;&lt;mi&gt;n&lt;/mi&gt;&lt;mo&gt;&amp;#xA0;&lt;/mo&gt;&lt;mi&gt;l&lt;/mi&gt;&lt;mi&gt;i&lt;/mi&gt;&lt;mi&gt;s&lt;/mi&gt;&lt;mi&gt;t&lt;/mi&gt;&lt;mi&gt;a&lt;/mi&gt;&lt;mo&gt;&amp;#xA0;&lt;/mo&gt;&lt;mi&gt;d&lt;/mi&gt;&lt;mi&gt;e&lt;/mi&gt;&lt;mo&gt;&amp;#xA0;&lt;/mo&gt;&lt;mi&gt;o&lt;/mi&gt;&lt;mi&gt;b&lt;/mi&gt;&lt;mi&gt;i&lt;/mi&gt;&lt;mi&gt;e&lt;/mi&gt;&lt;mi&gt;c&lt;/mi&gt;&lt;mi&gt;t&lt;/mi&gt;&lt;mi&gt;e&lt;/mi&gt;&lt;mo&gt;.&lt;/mo&gt;&lt;mspace linebreak=&quot;newline&quot;/&gt;&lt;mi&gt;S&lt;/mi&gt;&lt;mo&gt;=&lt;/mo&gt;&lt;mn&gt;0&lt;/mn&gt;&lt;mo&gt;,&lt;/mo&gt;&lt;mo&gt;&amp;#xA0;&lt;/mo&gt;&lt;mi&gt;G&lt;/mi&gt;&lt;mo&gt;=&lt;/mo&gt;&lt;mi&gt;c&lt;/mi&gt;&lt;mi&gt;a&lt;/mi&gt;&lt;mi&gt;p&lt;/mi&gt;&lt;mi&gt;a&lt;/mi&gt;&lt;mi&gt;c&lt;/mi&gt;&lt;mi&gt;i&lt;/mi&gt;&lt;mi&gt;t&lt;/mi&gt;&lt;mi&gt;a&lt;/mi&gt;&lt;mi&gt;t&lt;/mi&gt;&lt;mi&gt;e&lt;/mi&gt;&lt;mi&gt;a&lt;/mi&gt;&lt;mo&gt;&amp;#xA0;&lt;/mo&gt;&lt;mi&gt;r&lt;/mi&gt;&lt;mi&gt;u&lt;/mi&gt;&lt;mi&gt;c&lt;/mi&gt;&lt;mi&gt;s&lt;/mi&gt;&lt;mi&gt;a&lt;/mi&gt;&lt;mi&gt;c&lt;/mi&gt;&lt;mi&gt;u&lt;/mi&gt;&lt;mi&gt;l&lt;/mi&gt;&lt;mi&gt;u&lt;/mi&gt;&lt;mi&gt;i&lt;/mi&gt;&lt;mo&gt;;&lt;/mo&gt;&lt;mspace linebreak=&quot;newline&quot;/&gt;&lt;mi&gt;P&lt;/mi&gt;&lt;mi&gt;e&lt;/mi&gt;&lt;mi&gt;n&lt;/mi&gt;&lt;mi&gt;t&lt;/mi&gt;&lt;mi&gt;r&lt;/mi&gt;&lt;mi&gt;u&lt;/mi&gt;&lt;mo&gt;&amp;#xA0;&lt;/mo&gt;&lt;mi&gt;f&lt;/mi&gt;&lt;mi&gt;i&lt;/mi&gt;&lt;mi&gt;e&lt;/mi&gt;&lt;mi&gt;c&lt;/mi&gt;&lt;mi&gt;a&lt;/mi&gt;&lt;mi&gt;r&lt;/mi&gt;&lt;mi&gt;e&lt;/mi&gt;&lt;mo&gt;&amp;#xA0;&lt;/mo&gt;&lt;mi&gt;O&lt;/mi&gt;&lt;mo&gt;:&lt;/mo&gt;&lt;mi&gt;L&lt;/mi&gt;&lt;mo&gt;&amp;#xA0;&lt;/mo&gt;&lt;mspace linebreak=&quot;newline&quot;/&gt;&lt;mo&gt;&amp;#xA0;&lt;/mo&gt;&lt;mo&gt;&amp;#xA0;&lt;/mo&gt;&lt;mo&gt;&amp;#xA0;&lt;/mo&gt;&lt;mo&gt;&amp;#xA0;&lt;/mo&gt;&lt;mo&gt;&amp;#xA0;&lt;/mo&gt;&lt;mo&gt;&amp;#xA0;&lt;/mo&gt;&lt;mo&gt;&amp;#xA0;&lt;/mo&gt;&lt;mi&gt;D&lt;/mi&gt;&lt;mi&gt;a&lt;/mi&gt;&lt;mi&gt;c&lt;/mi&gt;&lt;mi&gt;&amp;#x103;&lt;/mi&gt;&lt;mo&gt;&amp;#xA0;&lt;/mo&gt;&lt;mi&gt;g&lt;/mi&gt;&lt;mi&gt;r&lt;/mi&gt;&lt;mi&gt;e&lt;/mi&gt;&lt;mi&gt;u&lt;/mi&gt;&lt;mi&gt;t&lt;/mi&gt;&lt;mi&gt;a&lt;/mi&gt;&lt;mi&gt;t&lt;/mi&gt;&lt;mi&gt;e&lt;/mi&gt;&lt;mfenced&gt;&lt;mi&gt;O&lt;/mi&gt;&lt;/mfenced&gt;&lt;mo&gt;&amp;#x2264;&lt;/mo&gt;&lt;mo&gt;&amp;#xA0;&lt;/mo&gt;&lt;mi&gt;G&lt;/mi&gt;&lt;mo&gt;,&lt;/mo&gt;&lt;mo&gt;&amp;#xA0;&lt;/mo&gt;&lt;mi&gt;a&lt;/mi&gt;&lt;mi&gt;t&lt;/mi&gt;&lt;mi&gt;u&lt;/mi&gt;&lt;mi&gt;n&lt;/mi&gt;&lt;mi&gt;c&lt;/mi&gt;&lt;mi&gt;i&lt;/mi&gt;&lt;mo&gt;&amp;#xA0;&lt;/mo&gt;&lt;mi&gt;S&lt;/mi&gt;&lt;mo&gt;+&lt;/mo&gt;&lt;mo&gt;=&lt;/mo&gt;&lt;mi&gt;v&lt;/mi&gt;&lt;mi&gt;a&lt;/mi&gt;&lt;mi&gt;l&lt;/mi&gt;&lt;mfenced&gt;&lt;mi&gt;O&lt;/mi&gt;&lt;/mfenced&gt;&lt;mo&gt;,&lt;/mo&gt;&lt;mo&gt;&amp;#xA0;&lt;/mo&gt;&lt;mi&gt;G&lt;/mi&gt;&lt;mo&gt;-&lt;/mo&gt;&lt;mo&gt;=&lt;/mo&gt;&lt;mi&gt;g&lt;/mi&gt;&lt;mi&gt;r&lt;/mi&gt;&lt;mi&gt;e&lt;/mi&gt;&lt;mi&gt;u&lt;/mi&gt;&lt;mi&gt;t&lt;/mi&gt;&lt;mi&gt;a&lt;/mi&gt;&lt;mi&gt;t&lt;/mi&gt;&lt;mi&gt;e&lt;/mi&gt;&lt;mfenced&gt;&lt;mi&gt;O&lt;/mi&gt;&lt;/mfenced&gt;&lt;mspace linebreak=&quot;newline&quot;/&gt;&lt;mspace linebreak=&quot;newline&quot;/&gt;&lt;mi&gt;A&lt;/mi&gt;&lt;mi&gt;L&lt;/mi&gt;&lt;mi&gt;G&lt;/mi&gt;&lt;mfenced&gt;&lt;mi&gt;I&lt;/mi&gt;&lt;/mfenced&gt;&lt;mo&gt;&amp;#xA0;&lt;/mo&gt;&lt;mo&gt;=&lt;/mo&gt;&lt;mo&gt;&amp;#xA0;&lt;/mo&gt;&lt;mi&gt;m&lt;/mi&gt;&lt;mi&gt;a&lt;/mi&gt;&lt;mi&gt;x&lt;/mi&gt;&lt;mfenced&gt;&lt;mrow&gt;&lt;mi&gt;S&lt;/mi&gt;&lt;mo&gt;,&lt;/mo&gt;&lt;msub&gt;&lt;mi&gt;O&lt;/mi&gt;&lt;mi&gt;p&lt;/mi&gt;&lt;/msub&gt;&lt;/mrow&gt;&lt;/mfenced&gt;&lt;mspace linebreak=&quot;newline&quot;/&gt;&lt;mo&gt;&amp;#xA0;&lt;/mo&gt;&lt;/math&gt;" id="188" name="Google Shape;188;p13" title="F i e space L space minus l i s t a space o b i e c t e l o r space s o r t a t e space d u p ă space r a p o r t u l space bevelled fraction numerator v a l o a r e over denominator g r e u t a t e end fraction&#10;F i e space O subscript p space minus o b i e c t u l space c u space p r o f i t u l space c e l space m a i space m a r e space d i n space l i s t a space d e space o b i e c t e.&#10;S equals 0 comma space G equals c a p a c i t a t e a space r u c s a c u l u i semicolon&#10;P e n t r u space f i e c a r e space O colon L space&#10;space space space space space space space D a c ă space g r e u t a t e open parentheses O close parentheses less or equal than space G comma space a t u n c i space S plus equals v a l open parentheses O close parentheses comma space G minus equals g r e u t a t e open parentheses O close parentheses&#10;&#10;A L G open parentheses I close parentheses space equals space m a x open parentheses S comma O subscript p close parentheses&#10;space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850" y="3281725"/>
            <a:ext cx="4213011" cy="163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 primă provocare: </a:t>
            </a:r>
            <a:br>
              <a:rPr lang="ro"/>
            </a:br>
            <a:r>
              <a:rPr lang="ro"/>
              <a:t>1/0 Knapsack problem</a:t>
            </a:r>
            <a:endParaRPr/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729450" y="2078875"/>
            <a:ext cx="638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Demonstrați că algoritmul de mai jos este un algoritm 1/2-aproximativ pentru problema 1/0 a Rucsacului!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Rezolvare propusă:</a:t>
            </a:r>
            <a:br>
              <a:rPr b="1" lang="ro"/>
            </a:br>
            <a:endParaRPr/>
          </a:p>
        </p:txBody>
      </p:sp>
      <p:pic>
        <p:nvPicPr>
          <p:cNvPr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75" y="464900"/>
            <a:ext cx="1805625" cy="180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F&lt;/mi&gt;&lt;mi&gt;i&lt;/mi&gt;&lt;mi&gt;e&lt;/mi&gt;&lt;mo&gt;&amp;#xA0;&lt;/mo&gt;&lt;mi&gt;L&lt;/mi&gt;&lt;mo&gt;&amp;#xA0;&lt;/mo&gt;&lt;mo&gt;-&lt;/mo&gt;&lt;mi&gt;l&lt;/mi&gt;&lt;mi&gt;i&lt;/mi&gt;&lt;mi&gt;s&lt;/mi&gt;&lt;mi&gt;t&lt;/mi&gt;&lt;mi&gt;a&lt;/mi&gt;&lt;mo&gt;&amp;#xA0;&lt;/mo&gt;&lt;mi&gt;o&lt;/mi&gt;&lt;mi&gt;b&lt;/mi&gt;&lt;mi&gt;i&lt;/mi&gt;&lt;mi&gt;e&lt;/mi&gt;&lt;mi&gt;c&lt;/mi&gt;&lt;mi&gt;t&lt;/mi&gt;&lt;mi&gt;e&lt;/mi&gt;&lt;mi&gt;l&lt;/mi&gt;&lt;mi&gt;o&lt;/mi&gt;&lt;mi&gt;r&lt;/mi&gt;&lt;mo&gt;&amp;#xA0;&lt;/mo&gt;&lt;mi&gt;s&lt;/mi&gt;&lt;mi&gt;o&lt;/mi&gt;&lt;mi&gt;r&lt;/mi&gt;&lt;mi&gt;t&lt;/mi&gt;&lt;mi&gt;a&lt;/mi&gt;&lt;mi&gt;t&lt;/mi&gt;&lt;mi&gt;e&lt;/mi&gt;&lt;mo&gt;&amp;#xA0;&lt;/mo&gt;&lt;mi&gt;d&lt;/mi&gt;&lt;mi&gt;u&lt;/mi&gt;&lt;mi&gt;p&lt;/mi&gt;&lt;mi&gt;&amp;#x103;&lt;/mi&gt;&lt;mo&gt;&amp;#xA0;&lt;/mo&gt;&lt;mi&gt;r&lt;/mi&gt;&lt;mi&gt;a&lt;/mi&gt;&lt;mi&gt;p&lt;/mi&gt;&lt;mi&gt;o&lt;/mi&gt;&lt;mi&gt;r&lt;/mi&gt;&lt;mi&gt;t&lt;/mi&gt;&lt;mi&gt;u&lt;/mi&gt;&lt;mi&gt;l&lt;/mi&gt;&lt;mo&gt;&amp;#xA0;&lt;/mo&gt;&lt;mfrac bevelled=&quot;true&quot;&gt;&lt;mrow&gt;&lt;mi&gt;v&lt;/mi&gt;&lt;mi&gt;a&lt;/mi&gt;&lt;mi&gt;l&lt;/mi&gt;&lt;mi&gt;o&lt;/mi&gt;&lt;mi&gt;a&lt;/mi&gt;&lt;mi&gt;r&lt;/mi&gt;&lt;mi&gt;e&lt;/mi&gt;&lt;/mrow&gt;&lt;mrow&gt;&lt;mi&gt;g&lt;/mi&gt;&lt;mi&gt;r&lt;/mi&gt;&lt;mi&gt;e&lt;/mi&gt;&lt;mi&gt;u&lt;/mi&gt;&lt;mi&gt;t&lt;/mi&gt;&lt;mi&gt;a&lt;/mi&gt;&lt;mi&gt;t&lt;/mi&gt;&lt;mi&gt;e&lt;/mi&gt;&lt;/mrow&gt;&lt;/mfrac&gt;&lt;mspace linebreak=&quot;newline&quot;/&gt;&lt;mi&gt;F&lt;/mi&gt;&lt;mi&gt;i&lt;/mi&gt;&lt;mi&gt;e&lt;/mi&gt;&lt;mo&gt;&amp;#xA0;&lt;/mo&gt;&lt;msub&gt;&lt;mi&gt;O&lt;/mi&gt;&lt;mi&gt;p&lt;/mi&gt;&lt;/msub&gt;&lt;mo&gt;&amp;#xA0;&lt;/mo&gt;&lt;mo&gt;-&lt;/mo&gt;&lt;mi&gt;o&lt;/mi&gt;&lt;mi&gt;b&lt;/mi&gt;&lt;mi&gt;i&lt;/mi&gt;&lt;mi&gt;e&lt;/mi&gt;&lt;mi&gt;c&lt;/mi&gt;&lt;mi&gt;t&lt;/mi&gt;&lt;mi&gt;u&lt;/mi&gt;&lt;mi&gt;l&lt;/mi&gt;&lt;mo&gt;&amp;#xA0;&lt;/mo&gt;&lt;mi&gt;c&lt;/mi&gt;&lt;mi&gt;u&lt;/mi&gt;&lt;mo&gt;&amp;#xA0;&lt;/mo&gt;&lt;mi&gt;p&lt;/mi&gt;&lt;mi&gt;r&lt;/mi&gt;&lt;mi&gt;o&lt;/mi&gt;&lt;mi&gt;f&lt;/mi&gt;&lt;mi&gt;i&lt;/mi&gt;&lt;mi&gt;t&lt;/mi&gt;&lt;mi&gt;u&lt;/mi&gt;&lt;mi&gt;l&lt;/mi&gt;&lt;mo&gt;&amp;#xA0;&lt;/mo&gt;&lt;mi&gt;c&lt;/mi&gt;&lt;mi&gt;e&lt;/mi&gt;&lt;mi&gt;l&lt;/mi&gt;&lt;mo&gt;&amp;#xA0;&lt;/mo&gt;&lt;mi&gt;m&lt;/mi&gt;&lt;mi&gt;a&lt;/mi&gt;&lt;mi&gt;i&lt;/mi&gt;&lt;mo&gt;&amp;#xA0;&lt;/mo&gt;&lt;mi&gt;m&lt;/mi&gt;&lt;mi&gt;a&lt;/mi&gt;&lt;mi&gt;r&lt;/mi&gt;&lt;mi&gt;e&lt;/mi&gt;&lt;mo&gt;&amp;#xA0;&lt;/mo&gt;&lt;mi&gt;d&lt;/mi&gt;&lt;mi&gt;i&lt;/mi&gt;&lt;mi&gt;n&lt;/mi&gt;&lt;mo&gt;&amp;#xA0;&lt;/mo&gt;&lt;mi&gt;l&lt;/mi&gt;&lt;mi&gt;i&lt;/mi&gt;&lt;mi&gt;s&lt;/mi&gt;&lt;mi&gt;t&lt;/mi&gt;&lt;mi&gt;a&lt;/mi&gt;&lt;mo&gt;&amp;#xA0;&lt;/mo&gt;&lt;mi&gt;d&lt;/mi&gt;&lt;mi&gt;e&lt;/mi&gt;&lt;mo&gt;&amp;#xA0;&lt;/mo&gt;&lt;mi&gt;o&lt;/mi&gt;&lt;mi&gt;b&lt;/mi&gt;&lt;mi&gt;i&lt;/mi&gt;&lt;mi&gt;e&lt;/mi&gt;&lt;mi&gt;c&lt;/mi&gt;&lt;mi&gt;t&lt;/mi&gt;&lt;mi&gt;e&lt;/mi&gt;&lt;mo&gt;.&lt;/mo&gt;&lt;mspace linebreak=&quot;newline&quot;/&gt;&lt;mi&gt;S&lt;/mi&gt;&lt;mo&gt;=&lt;/mo&gt;&lt;mn&gt;0&lt;/mn&gt;&lt;mo&gt;,&lt;/mo&gt;&lt;mo&gt;&amp;#xA0;&lt;/mo&gt;&lt;mi&gt;G&lt;/mi&gt;&lt;mo&gt;=&lt;/mo&gt;&lt;mi&gt;c&lt;/mi&gt;&lt;mi&gt;a&lt;/mi&gt;&lt;mi&gt;p&lt;/mi&gt;&lt;mi&gt;a&lt;/mi&gt;&lt;mi&gt;c&lt;/mi&gt;&lt;mi&gt;i&lt;/mi&gt;&lt;mi&gt;t&lt;/mi&gt;&lt;mi&gt;a&lt;/mi&gt;&lt;mi&gt;t&lt;/mi&gt;&lt;mi&gt;e&lt;/mi&gt;&lt;mi&gt;a&lt;/mi&gt;&lt;mo&gt;&amp;#xA0;&lt;/mo&gt;&lt;mi&gt;r&lt;/mi&gt;&lt;mi&gt;u&lt;/mi&gt;&lt;mi&gt;c&lt;/mi&gt;&lt;mi&gt;s&lt;/mi&gt;&lt;mi&gt;a&lt;/mi&gt;&lt;mi&gt;c&lt;/mi&gt;&lt;mi&gt;u&lt;/mi&gt;&lt;mi&gt;l&lt;/mi&gt;&lt;mi&gt;u&lt;/mi&gt;&lt;mi&gt;i&lt;/mi&gt;&lt;mo&gt;;&lt;/mo&gt;&lt;mspace linebreak=&quot;newline&quot;/&gt;&lt;mi&gt;P&lt;/mi&gt;&lt;mi&gt;e&lt;/mi&gt;&lt;mi&gt;n&lt;/mi&gt;&lt;mi&gt;t&lt;/mi&gt;&lt;mi&gt;r&lt;/mi&gt;&lt;mi&gt;u&lt;/mi&gt;&lt;mo&gt;&amp;#xA0;&lt;/mo&gt;&lt;mi&gt;f&lt;/mi&gt;&lt;mi&gt;i&lt;/mi&gt;&lt;mi&gt;e&lt;/mi&gt;&lt;mi&gt;c&lt;/mi&gt;&lt;mi&gt;a&lt;/mi&gt;&lt;mi&gt;r&lt;/mi&gt;&lt;mi&gt;e&lt;/mi&gt;&lt;mo&gt;&amp;#xA0;&lt;/mo&gt;&lt;mi&gt;O&lt;/mi&gt;&lt;mo&gt;:&lt;/mo&gt;&lt;mi&gt;L&lt;/mi&gt;&lt;mo&gt;&amp;#xA0;&lt;/mo&gt;&lt;mspace linebreak=&quot;newline&quot;/&gt;&lt;mo&gt;&amp;#xA0;&lt;/mo&gt;&lt;mo&gt;&amp;#xA0;&lt;/mo&gt;&lt;mo&gt;&amp;#xA0;&lt;/mo&gt;&lt;mo&gt;&amp;#xA0;&lt;/mo&gt;&lt;mo&gt;&amp;#xA0;&lt;/mo&gt;&lt;mo&gt;&amp;#xA0;&lt;/mo&gt;&lt;mo&gt;&amp;#xA0;&lt;/mo&gt;&lt;mi&gt;D&lt;/mi&gt;&lt;mi&gt;a&lt;/mi&gt;&lt;mi&gt;c&lt;/mi&gt;&lt;mi&gt;&amp;#x103;&lt;/mi&gt;&lt;mo&gt;&amp;#xA0;&lt;/mo&gt;&lt;mi&gt;g&lt;/mi&gt;&lt;mi&gt;r&lt;/mi&gt;&lt;mi&gt;e&lt;/mi&gt;&lt;mi&gt;u&lt;/mi&gt;&lt;mi&gt;t&lt;/mi&gt;&lt;mi&gt;a&lt;/mi&gt;&lt;mi&gt;t&lt;/mi&gt;&lt;mi&gt;e&lt;/mi&gt;&lt;mfenced&gt;&lt;mi&gt;O&lt;/mi&gt;&lt;/mfenced&gt;&lt;mo&gt;&amp;#x2264;&lt;/mo&gt;&lt;mo&gt;&amp;#xA0;&lt;/mo&gt;&lt;mi&gt;G&lt;/mi&gt;&lt;mo&gt;,&lt;/mo&gt;&lt;mo&gt;&amp;#xA0;&lt;/mo&gt;&lt;mi&gt;a&lt;/mi&gt;&lt;mi&gt;t&lt;/mi&gt;&lt;mi&gt;u&lt;/mi&gt;&lt;mi&gt;n&lt;/mi&gt;&lt;mi&gt;c&lt;/mi&gt;&lt;mi&gt;i&lt;/mi&gt;&lt;mo&gt;&amp;#xA0;&lt;/mo&gt;&lt;mi&gt;S&lt;/mi&gt;&lt;mo&gt;+&lt;/mo&gt;&lt;mo&gt;=&lt;/mo&gt;&lt;mi&gt;v&lt;/mi&gt;&lt;mi&gt;a&lt;/mi&gt;&lt;mi&gt;l&lt;/mi&gt;&lt;mfenced&gt;&lt;mi&gt;O&lt;/mi&gt;&lt;/mfenced&gt;&lt;mo&gt;,&lt;/mo&gt;&lt;mo&gt;&amp;#xA0;&lt;/mo&gt;&lt;mi&gt;G&lt;/mi&gt;&lt;mo&gt;-&lt;/mo&gt;&lt;mo&gt;=&lt;/mo&gt;&lt;mi&gt;g&lt;/mi&gt;&lt;mi&gt;r&lt;/mi&gt;&lt;mi&gt;e&lt;/mi&gt;&lt;mi&gt;u&lt;/mi&gt;&lt;mi&gt;t&lt;/mi&gt;&lt;mi&gt;a&lt;/mi&gt;&lt;mi&gt;t&lt;/mi&gt;&lt;mi&gt;e&lt;/mi&gt;&lt;mfenced&gt;&lt;mi&gt;O&lt;/mi&gt;&lt;/mfenced&gt;&lt;mspace linebreak=&quot;newline&quot;/&gt;&lt;mspace linebreak=&quot;newline&quot;/&gt;&lt;mi&gt;A&lt;/mi&gt;&lt;mi&gt;L&lt;/mi&gt;&lt;mi&gt;G&lt;/mi&gt;&lt;mfenced&gt;&lt;mi&gt;I&lt;/mi&gt;&lt;/mfenced&gt;&lt;mo&gt;&amp;#xA0;&lt;/mo&gt;&lt;mo&gt;=&lt;/mo&gt;&lt;mo&gt;&amp;#xA0;&lt;/mo&gt;&lt;mi&gt;m&lt;/mi&gt;&lt;mi&gt;a&lt;/mi&gt;&lt;mi&gt;x&lt;/mi&gt;&lt;mfenced&gt;&lt;mrow&gt;&lt;mi&gt;S&lt;/mi&gt;&lt;mo&gt;,&lt;/mo&gt;&lt;msub&gt;&lt;mi&gt;O&lt;/mi&gt;&lt;mi&gt;p&lt;/mi&gt;&lt;/msub&gt;&lt;/mrow&gt;&lt;/mfenced&gt;&lt;mspace linebreak=&quot;newline&quot;/&gt;&lt;mo&gt;&amp;#xA0;&lt;/mo&gt;&lt;/math&gt;" id="197" name="Google Shape;197;p14" title="F i e space L space minus l i s t a space o b i e c t e l o r space s o r t a t e space d u p ă space r a p o r t u l space bevelled fraction numerator v a l o a r e over denominator g r e u t a t e end fraction&#10;F i e space O subscript p space minus o b i e c t u l space c u space p r o f i t u l space c e l space m a i space m a r e space d i n space l i s t a space d e space o b i e c t e.&#10;S equals 0 comma space G equals c a p a c i t a t e a space r u c s a c u l u i semicolon&#10;P e n t r u space f i e c a r e space O colon L space&#10;space space space space space space space D a c ă space g r e u t a t e open parentheses O close parentheses less or equal than space G comma space a t u n c i space S plus equals v a l open parentheses O close parentheses comma space G minus equals g r e u t a t e open parentheses O close parentheses&#10;&#10;A L G open parentheses I close parentheses space equals space m a x open parentheses S comma O subscript p close parentheses&#10;space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1850" y="3281725"/>
            <a:ext cx="4213011" cy="163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 primă provocare: </a:t>
            </a:r>
            <a:br>
              <a:rPr lang="ro"/>
            </a:br>
            <a:r>
              <a:rPr lang="ro"/>
              <a:t>1/0 Knapsack problem</a:t>
            </a:r>
            <a:endParaRPr/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729450" y="2078875"/>
            <a:ext cx="6382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Demonstrați că algoritmul de mai jos este un algoritm 1/2-aproximativ pentru problema 1/0 a Rucsacului!  </a:t>
            </a:r>
            <a:r>
              <a:rPr b="1" lang="ro" u="sng">
                <a:solidFill>
                  <a:schemeClr val="hlink"/>
                </a:solidFill>
                <a:hlinkClick r:id="rId3"/>
              </a:rPr>
              <a:t>Justificare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/>
              <a:t>Rezolvare propusă:</a:t>
            </a:r>
            <a:br>
              <a:rPr b="1" lang="ro"/>
            </a:br>
            <a:endParaRPr/>
          </a:p>
        </p:txBody>
      </p:sp>
      <p:pic>
        <p:nvPicPr>
          <p:cNvPr id="204" name="Google Shape;2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1587" y="464900"/>
            <a:ext cx="1829172" cy="1452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1575" y="464900"/>
            <a:ext cx="1805625" cy="180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F&lt;/mi&gt;&lt;mi&gt;i&lt;/mi&gt;&lt;mi&gt;e&lt;/mi&gt;&lt;mo&gt;&amp;#xA0;&lt;/mo&gt;&lt;mi&gt;L&lt;/mi&gt;&lt;mo&gt;&amp;#xA0;&lt;/mo&gt;&lt;mo&gt;-&lt;/mo&gt;&lt;mi&gt;l&lt;/mi&gt;&lt;mi&gt;i&lt;/mi&gt;&lt;mi&gt;s&lt;/mi&gt;&lt;mi&gt;t&lt;/mi&gt;&lt;mi&gt;a&lt;/mi&gt;&lt;mo&gt;&amp;#xA0;&lt;/mo&gt;&lt;mi&gt;o&lt;/mi&gt;&lt;mi&gt;b&lt;/mi&gt;&lt;mi&gt;i&lt;/mi&gt;&lt;mi&gt;e&lt;/mi&gt;&lt;mi&gt;c&lt;/mi&gt;&lt;mi&gt;t&lt;/mi&gt;&lt;mi&gt;e&lt;/mi&gt;&lt;mi&gt;l&lt;/mi&gt;&lt;mi&gt;o&lt;/mi&gt;&lt;mi&gt;r&lt;/mi&gt;&lt;mo&gt;&amp;#xA0;&lt;/mo&gt;&lt;mi&gt;s&lt;/mi&gt;&lt;mi&gt;o&lt;/mi&gt;&lt;mi&gt;r&lt;/mi&gt;&lt;mi&gt;t&lt;/mi&gt;&lt;mi&gt;a&lt;/mi&gt;&lt;mi&gt;t&lt;/mi&gt;&lt;mi&gt;e&lt;/mi&gt;&lt;mo&gt;&amp;#xA0;&lt;/mo&gt;&lt;mi&gt;d&lt;/mi&gt;&lt;mi&gt;u&lt;/mi&gt;&lt;mi&gt;p&lt;/mi&gt;&lt;mi&gt;&amp;#x103;&lt;/mi&gt;&lt;mo&gt;&amp;#xA0;&lt;/mo&gt;&lt;mi&gt;r&lt;/mi&gt;&lt;mi&gt;a&lt;/mi&gt;&lt;mi&gt;p&lt;/mi&gt;&lt;mi&gt;o&lt;/mi&gt;&lt;mi&gt;r&lt;/mi&gt;&lt;mi&gt;t&lt;/mi&gt;&lt;mi&gt;u&lt;/mi&gt;&lt;mi&gt;l&lt;/mi&gt;&lt;mo&gt;&amp;#xA0;&lt;/mo&gt;&lt;mfrac bevelled=&quot;true&quot;&gt;&lt;mrow&gt;&lt;mi&gt;v&lt;/mi&gt;&lt;mi&gt;a&lt;/mi&gt;&lt;mi&gt;l&lt;/mi&gt;&lt;mi&gt;o&lt;/mi&gt;&lt;mi&gt;a&lt;/mi&gt;&lt;mi&gt;r&lt;/mi&gt;&lt;mi&gt;e&lt;/mi&gt;&lt;/mrow&gt;&lt;mrow&gt;&lt;mi&gt;g&lt;/mi&gt;&lt;mi&gt;r&lt;/mi&gt;&lt;mi&gt;e&lt;/mi&gt;&lt;mi&gt;u&lt;/mi&gt;&lt;mi&gt;t&lt;/mi&gt;&lt;mi&gt;a&lt;/mi&gt;&lt;mi&gt;t&lt;/mi&gt;&lt;mi&gt;e&lt;/mi&gt;&lt;/mrow&gt;&lt;/mfrac&gt;&lt;mspace linebreak=&quot;newline&quot;/&gt;&lt;mi&gt;F&lt;/mi&gt;&lt;mi&gt;i&lt;/mi&gt;&lt;mi&gt;e&lt;/mi&gt;&lt;mo&gt;&amp;#xA0;&lt;/mo&gt;&lt;msub&gt;&lt;mi&gt;O&lt;/mi&gt;&lt;mi&gt;p&lt;/mi&gt;&lt;/msub&gt;&lt;mo&gt;&amp;#xA0;&lt;/mo&gt;&lt;mo&gt;-&lt;/mo&gt;&lt;mi&gt;o&lt;/mi&gt;&lt;mi&gt;b&lt;/mi&gt;&lt;mi&gt;i&lt;/mi&gt;&lt;mi&gt;e&lt;/mi&gt;&lt;mi&gt;c&lt;/mi&gt;&lt;mi&gt;t&lt;/mi&gt;&lt;mi&gt;u&lt;/mi&gt;&lt;mi&gt;l&lt;/mi&gt;&lt;mo&gt;&amp;#xA0;&lt;/mo&gt;&lt;mi&gt;c&lt;/mi&gt;&lt;mi&gt;u&lt;/mi&gt;&lt;mo&gt;&amp;#xA0;&lt;/mo&gt;&lt;mi&gt;p&lt;/mi&gt;&lt;mi&gt;r&lt;/mi&gt;&lt;mi&gt;o&lt;/mi&gt;&lt;mi&gt;f&lt;/mi&gt;&lt;mi&gt;i&lt;/mi&gt;&lt;mi&gt;t&lt;/mi&gt;&lt;mi&gt;u&lt;/mi&gt;&lt;mi&gt;l&lt;/mi&gt;&lt;mo&gt;&amp;#xA0;&lt;/mo&gt;&lt;mi&gt;c&lt;/mi&gt;&lt;mi&gt;e&lt;/mi&gt;&lt;mi&gt;l&lt;/mi&gt;&lt;mo&gt;&amp;#xA0;&lt;/mo&gt;&lt;mi&gt;m&lt;/mi&gt;&lt;mi&gt;a&lt;/mi&gt;&lt;mi&gt;i&lt;/mi&gt;&lt;mo&gt;&amp;#xA0;&lt;/mo&gt;&lt;mi&gt;m&lt;/mi&gt;&lt;mi&gt;a&lt;/mi&gt;&lt;mi&gt;r&lt;/mi&gt;&lt;mi&gt;e&lt;/mi&gt;&lt;mo&gt;&amp;#xA0;&lt;/mo&gt;&lt;mi&gt;d&lt;/mi&gt;&lt;mi&gt;i&lt;/mi&gt;&lt;mi&gt;n&lt;/mi&gt;&lt;mo&gt;&amp;#xA0;&lt;/mo&gt;&lt;mi&gt;l&lt;/mi&gt;&lt;mi&gt;i&lt;/mi&gt;&lt;mi&gt;s&lt;/mi&gt;&lt;mi&gt;t&lt;/mi&gt;&lt;mi&gt;a&lt;/mi&gt;&lt;mo&gt;&amp;#xA0;&lt;/mo&gt;&lt;mi&gt;d&lt;/mi&gt;&lt;mi&gt;e&lt;/mi&gt;&lt;mo&gt;&amp;#xA0;&lt;/mo&gt;&lt;mi&gt;o&lt;/mi&gt;&lt;mi&gt;b&lt;/mi&gt;&lt;mi&gt;i&lt;/mi&gt;&lt;mi&gt;e&lt;/mi&gt;&lt;mi&gt;c&lt;/mi&gt;&lt;mi&gt;t&lt;/mi&gt;&lt;mi&gt;e&lt;/mi&gt;&lt;mo&gt;.&lt;/mo&gt;&lt;mspace linebreak=&quot;newline&quot;/&gt;&lt;mi&gt;S&lt;/mi&gt;&lt;mo&gt;=&lt;/mo&gt;&lt;mn&gt;0&lt;/mn&gt;&lt;mo&gt;,&lt;/mo&gt;&lt;mo&gt;&amp;#xA0;&lt;/mo&gt;&lt;mi&gt;G&lt;/mi&gt;&lt;mo&gt;=&lt;/mo&gt;&lt;mi&gt;c&lt;/mi&gt;&lt;mi&gt;a&lt;/mi&gt;&lt;mi&gt;p&lt;/mi&gt;&lt;mi&gt;a&lt;/mi&gt;&lt;mi&gt;c&lt;/mi&gt;&lt;mi&gt;i&lt;/mi&gt;&lt;mi&gt;t&lt;/mi&gt;&lt;mi&gt;a&lt;/mi&gt;&lt;mi&gt;t&lt;/mi&gt;&lt;mi&gt;e&lt;/mi&gt;&lt;mi&gt;a&lt;/mi&gt;&lt;mo&gt;&amp;#xA0;&lt;/mo&gt;&lt;mi&gt;r&lt;/mi&gt;&lt;mi&gt;u&lt;/mi&gt;&lt;mi&gt;c&lt;/mi&gt;&lt;mi&gt;s&lt;/mi&gt;&lt;mi&gt;a&lt;/mi&gt;&lt;mi&gt;c&lt;/mi&gt;&lt;mi&gt;u&lt;/mi&gt;&lt;mi&gt;l&lt;/mi&gt;&lt;mi&gt;u&lt;/mi&gt;&lt;mi&gt;i&lt;/mi&gt;&lt;mo&gt;;&lt;/mo&gt;&lt;mspace linebreak=&quot;newline&quot;/&gt;&lt;mi&gt;P&lt;/mi&gt;&lt;mi&gt;e&lt;/mi&gt;&lt;mi&gt;n&lt;/mi&gt;&lt;mi&gt;t&lt;/mi&gt;&lt;mi&gt;r&lt;/mi&gt;&lt;mi&gt;u&lt;/mi&gt;&lt;mo&gt;&amp;#xA0;&lt;/mo&gt;&lt;mi&gt;f&lt;/mi&gt;&lt;mi&gt;i&lt;/mi&gt;&lt;mi&gt;e&lt;/mi&gt;&lt;mi&gt;c&lt;/mi&gt;&lt;mi&gt;a&lt;/mi&gt;&lt;mi&gt;r&lt;/mi&gt;&lt;mi&gt;e&lt;/mi&gt;&lt;mo&gt;&amp;#xA0;&lt;/mo&gt;&lt;mi&gt;O&lt;/mi&gt;&lt;mo&gt;:&lt;/mo&gt;&lt;mi&gt;L&lt;/mi&gt;&lt;mo&gt;&amp;#xA0;&lt;/mo&gt;&lt;mspace linebreak=&quot;newline&quot;/&gt;&lt;mo&gt;&amp;#xA0;&lt;/mo&gt;&lt;mo&gt;&amp;#xA0;&lt;/mo&gt;&lt;mo&gt;&amp;#xA0;&lt;/mo&gt;&lt;mo&gt;&amp;#xA0;&lt;/mo&gt;&lt;mo&gt;&amp;#xA0;&lt;/mo&gt;&lt;mo&gt;&amp;#xA0;&lt;/mo&gt;&lt;mo&gt;&amp;#xA0;&lt;/mo&gt;&lt;mi&gt;D&lt;/mi&gt;&lt;mi&gt;a&lt;/mi&gt;&lt;mi&gt;c&lt;/mi&gt;&lt;mi&gt;&amp;#x103;&lt;/mi&gt;&lt;mo&gt;&amp;#xA0;&lt;/mo&gt;&lt;mi&gt;g&lt;/mi&gt;&lt;mi&gt;r&lt;/mi&gt;&lt;mi&gt;e&lt;/mi&gt;&lt;mi&gt;u&lt;/mi&gt;&lt;mi&gt;t&lt;/mi&gt;&lt;mi&gt;a&lt;/mi&gt;&lt;mi&gt;t&lt;/mi&gt;&lt;mi&gt;e&lt;/mi&gt;&lt;mfenced&gt;&lt;mi&gt;O&lt;/mi&gt;&lt;/mfenced&gt;&lt;mo&gt;&amp;#x2264;&lt;/mo&gt;&lt;mo&gt;&amp;#xA0;&lt;/mo&gt;&lt;mi&gt;G&lt;/mi&gt;&lt;mo&gt;,&lt;/mo&gt;&lt;mo&gt;&amp;#xA0;&lt;/mo&gt;&lt;mi&gt;a&lt;/mi&gt;&lt;mi&gt;t&lt;/mi&gt;&lt;mi&gt;u&lt;/mi&gt;&lt;mi&gt;n&lt;/mi&gt;&lt;mi&gt;c&lt;/mi&gt;&lt;mi&gt;i&lt;/mi&gt;&lt;mo&gt;&amp;#xA0;&lt;/mo&gt;&lt;mi&gt;S&lt;/mi&gt;&lt;mo&gt;+&lt;/mo&gt;&lt;mo&gt;=&lt;/mo&gt;&lt;mi&gt;v&lt;/mi&gt;&lt;mi&gt;a&lt;/mi&gt;&lt;mi&gt;l&lt;/mi&gt;&lt;mfenced&gt;&lt;mi&gt;O&lt;/mi&gt;&lt;/mfenced&gt;&lt;mo&gt;,&lt;/mo&gt;&lt;mo&gt;&amp;#xA0;&lt;/mo&gt;&lt;mi&gt;G&lt;/mi&gt;&lt;mo&gt;-&lt;/mo&gt;&lt;mo&gt;=&lt;/mo&gt;&lt;mi&gt;g&lt;/mi&gt;&lt;mi&gt;r&lt;/mi&gt;&lt;mi&gt;e&lt;/mi&gt;&lt;mi&gt;u&lt;/mi&gt;&lt;mi&gt;t&lt;/mi&gt;&lt;mi&gt;a&lt;/mi&gt;&lt;mi&gt;t&lt;/mi&gt;&lt;mi&gt;e&lt;/mi&gt;&lt;mfenced&gt;&lt;mi&gt;O&lt;/mi&gt;&lt;/mfenced&gt;&lt;mspace linebreak=&quot;newline&quot;/&gt;&lt;mspace linebreak=&quot;newline&quot;/&gt;&lt;mi&gt;A&lt;/mi&gt;&lt;mi&gt;L&lt;/mi&gt;&lt;mi&gt;G&lt;/mi&gt;&lt;mfenced&gt;&lt;mi&gt;I&lt;/mi&gt;&lt;/mfenced&gt;&lt;mo&gt;&amp;#xA0;&lt;/mo&gt;&lt;mo&gt;=&lt;/mo&gt;&lt;mo&gt;&amp;#xA0;&lt;/mo&gt;&lt;mi&gt;m&lt;/mi&gt;&lt;mi&gt;a&lt;/mi&gt;&lt;mi&gt;x&lt;/mi&gt;&lt;mfenced&gt;&lt;mrow&gt;&lt;mi&gt;S&lt;/mi&gt;&lt;mo&gt;,&lt;/mo&gt;&lt;msub&gt;&lt;mi&gt;O&lt;/mi&gt;&lt;mi&gt;p&lt;/mi&gt;&lt;/msub&gt;&lt;/mrow&gt;&lt;/mfenced&gt;&lt;mspace linebreak=&quot;newline&quot;/&gt;&lt;mo&gt;&amp;#xA0;&lt;/mo&gt;&lt;/math&gt;" id="206" name="Google Shape;206;p15" title="F i e space L space minus l i s t a space o b i e c t e l o r space s o r t a t e space d u p ă space r a p o r t u l space bevelled fraction numerator v a l o a r e over denominator g r e u t a t e end fraction&#10;F i e space O subscript p space minus o b i e c t u l space c u space p r o f i t u l space c e l space m a i space m a r e space d i n space l i s t a space d e space o b i e c t e.&#10;S equals 0 comma space G equals c a p a c i t a t e a space r u c s a c u l u i semicolon&#10;P e n t r u space f i e c a r e space O colon L space&#10;space space space space space space space D a c ă space g r e u t a t e open parentheses O close parentheses less or equal than space G comma space a t u n c i space S plus equals v a l open parentheses O close parentheses comma space G minus equals g r e u t a t e open parentheses O close parentheses&#10;&#10;A L G open parentheses I close parentheses space equals space m a x open parentheses S comma O subscript p close parentheses&#10;space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1850" y="3281725"/>
            <a:ext cx="4213011" cy="163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Load Balancing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2931"/>
              <a:buNone/>
            </a:pPr>
            <a:r>
              <a:rPr b="1" lang="ro" sz="2300"/>
              <a:t>Input:</a:t>
            </a:r>
            <a:endParaRPr b="1" sz="2300"/>
          </a:p>
          <a:p>
            <a:pPr indent="-34194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i="1" lang="ro" sz="2300"/>
              <a:t>m</a:t>
            </a:r>
            <a:r>
              <a:rPr b="1" lang="ro" sz="2300"/>
              <a:t> calculatoare identice; </a:t>
            </a:r>
            <a:r>
              <a:rPr b="1" i="1" lang="ro" sz="2300"/>
              <a:t>n</a:t>
            </a:r>
            <a:r>
              <a:rPr b="1" lang="ro" sz="2300"/>
              <a:t> activitați ce trebuiesc procesate. Fiecare activitate </a:t>
            </a:r>
            <a:r>
              <a:rPr b="1" i="1" lang="ro" sz="2300"/>
              <a:t>j</a:t>
            </a:r>
            <a:r>
              <a:rPr b="1" lang="ro" sz="2300"/>
              <a:t> având nevoie de </a:t>
            </a:r>
            <a:r>
              <a:rPr b="1" i="1" lang="ro" sz="2300"/>
              <a:t>t</a:t>
            </a:r>
            <a:r>
              <a:rPr b="1" baseline="-25000" i="1" lang="ro" sz="2300"/>
              <a:t>j</a:t>
            </a:r>
            <a:r>
              <a:rPr b="1" i="1" lang="ro" sz="2300"/>
              <a:t> </a:t>
            </a:r>
            <a:r>
              <a:rPr b="1" lang="ro" sz="2300"/>
              <a:t>unități de timp pentru execuție.</a:t>
            </a:r>
            <a:endParaRPr b="1" sz="2300"/>
          </a:p>
          <a:p>
            <a:pPr indent="-3419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o" sz="2300"/>
              <a:t>Odată inițiată, fiecare dintre activități trebuie derulată în mod continuu pe același calculator</a:t>
            </a:r>
            <a:endParaRPr b="1" sz="2300"/>
          </a:p>
          <a:p>
            <a:pPr indent="-34194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o" sz="2300"/>
              <a:t>Un calculator poate executa cel mult o activitate în același timp.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72931"/>
              <a:buNone/>
            </a:pPr>
            <a:r>
              <a:rPr b="1" lang="ro" sz="2300"/>
              <a:t>Scop: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72931"/>
              <a:buNone/>
            </a:pPr>
            <a:r>
              <a:rPr b="1" lang="ro" sz="2300"/>
              <a:t>	Să asignăm fiecare activitate unui calculator astfel încât să minimizăm timpul până când toate activitățile sunt terminate.</a:t>
            </a:r>
            <a:endParaRPr b="1" sz="2300"/>
          </a:p>
        </p:txBody>
      </p:sp>
      <p:pic>
        <p:nvPicPr>
          <p:cNvPr id="213" name="Google Shape;2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Load Balancing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9" name="Google Shape;219;p17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Notații: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00"/>
              <a:buChar char="●"/>
            </a:pPr>
            <a:r>
              <a:rPr b="1" lang="ro" sz="2300"/>
              <a:t>J(i) -submulțimea tuturor activităților (job-urilor) care au fost programate să se desfășoare pe mașina i.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ro" sz="2300"/>
              <a:t>L</a:t>
            </a:r>
            <a:r>
              <a:rPr b="1" baseline="-25000" lang="ro" sz="2300"/>
              <a:t>i</a:t>
            </a:r>
            <a:r>
              <a:rPr b="1" lang="ro" sz="2300"/>
              <a:t> va reprezenta ”load-ul” (timpul de lucru) al mașinii i.</a:t>
            </a:r>
            <a:endParaRPr b="1"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ro" sz="2300"/>
              <a:t>L</a:t>
            </a:r>
            <a:r>
              <a:rPr b="1" baseline="-25000" lang="ro" sz="2300"/>
              <a:t>i</a:t>
            </a:r>
            <a:r>
              <a:rPr b="1" lang="ro" sz="2300"/>
              <a:t>=Σ</a:t>
            </a:r>
            <a:r>
              <a:rPr b="1" baseline="-25000" lang="ro" sz="2300"/>
              <a:t>j∊J(i)</a:t>
            </a:r>
            <a:r>
              <a:rPr b="1" lang="ro" sz="2300"/>
              <a:t>t</a:t>
            </a:r>
            <a:r>
              <a:rPr b="1" baseline="-25000" lang="ro" sz="2300"/>
              <a:t>j</a:t>
            </a:r>
            <a:r>
              <a:rPr b="1" lang="ro" sz="2300"/>
              <a:t> </a:t>
            </a:r>
            <a:endParaRPr b="1" sz="2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b="1" lang="ro" sz="2300"/>
              <a:t>Scop: ???</a:t>
            </a:r>
            <a:endParaRPr b="1" sz="2300"/>
          </a:p>
        </p:txBody>
      </p:sp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Load Balancing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1104"/>
              <a:buNone/>
            </a:pPr>
            <a:r>
              <a:rPr b="1" lang="ro" sz="2300"/>
              <a:t>Notații:</a:t>
            </a:r>
            <a:endParaRPr b="1" sz="2300"/>
          </a:p>
          <a:p>
            <a:pPr indent="-36385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ro" sz="2300"/>
              <a:t>J(i) -submulțimea tuturor activităților (job-urilor) care au fost programate să se desfășoare pe mașina i.</a:t>
            </a:r>
            <a:endParaRPr b="1" sz="2300"/>
          </a:p>
          <a:p>
            <a:pPr indent="-36385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o" sz="2300"/>
              <a:t>L</a:t>
            </a:r>
            <a:r>
              <a:rPr b="1" baseline="-25000" lang="ro" sz="2300"/>
              <a:t>i</a:t>
            </a:r>
            <a:r>
              <a:rPr b="1" lang="ro" sz="2300"/>
              <a:t> va reprezenta ”load-ul” (timpul de lucru) al mașinii i.</a:t>
            </a:r>
            <a:endParaRPr b="1" sz="2300"/>
          </a:p>
          <a:p>
            <a:pPr indent="-36385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ro" sz="2300"/>
              <a:t>L</a:t>
            </a:r>
            <a:r>
              <a:rPr b="1" baseline="-25000" lang="ro" sz="2300"/>
              <a:t>i</a:t>
            </a:r>
            <a:r>
              <a:rPr b="1" lang="ro" sz="2300"/>
              <a:t>=Σ</a:t>
            </a:r>
            <a:r>
              <a:rPr b="1" baseline="-25000" lang="ro" sz="2300"/>
              <a:t>j∊J(i)</a:t>
            </a:r>
            <a:r>
              <a:rPr b="1" lang="ro" sz="2300"/>
              <a:t>t</a:t>
            </a:r>
            <a:r>
              <a:rPr b="1" baseline="-25000" lang="ro" sz="2300"/>
              <a:t>j</a:t>
            </a:r>
            <a:r>
              <a:rPr b="1" lang="ro" sz="2300"/>
              <a:t> </a:t>
            </a:r>
            <a:endParaRPr b="1" sz="2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1104"/>
              <a:buNone/>
            </a:pPr>
            <a:r>
              <a:rPr b="1" lang="ro" sz="2300"/>
              <a:t>Scop: O asignare a activităților astfel încât L</a:t>
            </a:r>
            <a:r>
              <a:rPr b="1" baseline="-25000" lang="ro" sz="2300"/>
              <a:t>k</a:t>
            </a:r>
            <a:r>
              <a:rPr b="1" lang="ro" sz="2300"/>
              <a:t> este minimizat, unde k = </a:t>
            </a:r>
            <a:r>
              <a:rPr b="1" i="1" lang="ro" sz="2300"/>
              <a:t>max</a:t>
            </a:r>
            <a:r>
              <a:rPr b="1" baseline="-25000" lang="ro" sz="2300"/>
              <a:t>i</a:t>
            </a:r>
            <a:r>
              <a:rPr b="1" lang="ro" sz="2300"/>
              <a:t>(L</a:t>
            </a:r>
            <a:r>
              <a:rPr b="1" baseline="-25000" lang="ro" sz="2300"/>
              <a:t>i</a:t>
            </a:r>
            <a:r>
              <a:rPr b="1" lang="ro" sz="2300"/>
              <a:t>), adică mașina cu cel mai mare load. </a:t>
            </a:r>
            <a:endParaRPr b="1" i="1" sz="2300"/>
          </a:p>
        </p:txBody>
      </p:sp>
      <p:pic>
        <p:nvPicPr>
          <p:cNvPr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Load Balancing Problem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 txBox="1"/>
          <p:nvPr>
            <p:ph idx="1" type="body"/>
          </p:nvPr>
        </p:nvSpPr>
        <p:spPr>
          <a:xfrm>
            <a:off x="729450" y="2078875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 sz="2300"/>
              <a:t>Pseudocodul:</a:t>
            </a:r>
            <a:endParaRPr b="1" sz="23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b="1" i="1" sz="2300"/>
          </a:p>
        </p:txBody>
      </p:sp>
      <p:pic>
        <p:nvPicPr>
          <p:cNvPr id="234" name="Google Shape;2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i&gt;L&lt;/mi&gt;&lt;mi&gt;o&lt;/mi&gt;&lt;mi&gt;a&lt;/mi&gt;&lt;mi&gt;d&lt;/mi&gt;&lt;mo&gt;-&lt;/mo&gt;&lt;mi&gt;B&lt;/mi&gt;&lt;mi&gt;a&lt;/mi&gt;&lt;mi&gt;l&lt;/mi&gt;&lt;mi&gt;a&lt;/mi&gt;&lt;mi&gt;n&lt;/mi&gt;&lt;mi&gt;c&lt;/mi&gt;&lt;mi&gt;e&lt;/mi&gt;&lt;mfenced&gt;&lt;mrow&gt;&lt;mi&gt;m&lt;/mi&gt;&lt;mo&gt;,&lt;/mo&gt;&lt;msub&gt;&lt;mi&gt;t&lt;/mi&gt;&lt;mn&gt;1&lt;/mn&gt;&lt;/msub&gt;&lt;mo&gt;,&lt;/mo&gt;&lt;msub&gt;&lt;mi&gt;t&lt;/mi&gt;&lt;mn&gt;2&lt;/mn&gt;&lt;/msub&gt;&lt;mo&gt;,&lt;/mo&gt;&lt;mo&gt;.&lt;/mo&gt;&lt;mo&gt;.&lt;/mo&gt;&lt;mo&gt;.&lt;/mo&gt;&lt;mo&gt;,&lt;/mo&gt;&lt;msub&gt;&lt;mi&gt;t&lt;/mi&gt;&lt;mi&gt;n&lt;/mi&gt;&lt;/msub&gt;&lt;/mrow&gt;&lt;/mfenced&gt;&lt;mspace linebreak=&quot;newline&quot;/&gt;&lt;mo&gt;&amp;#xA0;&lt;/mo&gt;&lt;mo&gt;&amp;#xA0;&lt;/mo&gt;&lt;mo&gt;&amp;#xA0;&lt;/mo&gt;&lt;mo&gt;&amp;#xA0;&lt;/mo&gt;&lt;mo&gt;&amp;#xA0;&lt;/mo&gt;&lt;mi&gt;f&lt;/mi&gt;&lt;mi&gt;o&lt;/mi&gt;&lt;mi&gt;r&lt;/mi&gt;&lt;mo&gt;&amp;#xA0;&lt;/mo&gt;&lt;mi&gt;i&lt;/mi&gt;&lt;mo&gt;=&lt;/mo&gt;&lt;mn&gt;1&lt;/mn&gt;&lt;mo&gt;&amp;#xA0;&lt;/mo&gt;&lt;mi&gt;t&lt;/mi&gt;&lt;mi&gt;o&lt;/mi&gt;&lt;mo&gt;&amp;#xA0;&lt;/mo&gt;&lt;mi&gt;m&lt;/mi&gt;&lt;mo&gt;&amp;#xA0;&lt;/mo&gt;&lt;mo&gt;:&lt;/mo&gt;&lt;mspace linebreak=&quot;newline&quot;/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sub&gt;&lt;mi&gt;L&lt;/mi&gt;&lt;mi&gt;i&lt;/mi&gt;&lt;/msub&gt;&lt;mo&gt;=&lt;/mo&gt;&lt;mn&gt;0&lt;/mn&gt;&lt;mo&gt;;&lt;/mo&gt;&lt;mo&gt;&amp;#xA0;&lt;/mo&gt;&lt;mi&gt;J&lt;/mi&gt;&lt;mfenced&gt;&lt;mi&gt;i&lt;/mi&gt;&lt;/mfenced&gt;&lt;mo&gt;=&lt;/mo&gt;&lt;mo&gt;&amp;#x2205;&lt;/mo&gt;&lt;mo&gt;&amp;#xA0;&lt;/mo&gt;&lt;mo&gt;#&lt;/mo&gt;&lt;mi&gt;i&lt;/mi&gt;&lt;mi&gt;n&lt;/mi&gt;&lt;mi&gt;i&lt;/mi&gt;&lt;mi&gt;t&lt;/mi&gt;&lt;mi&gt;i&lt;/mi&gt;&lt;mi&gt;a&lt;/mi&gt;&lt;mi&gt;l&lt;/mi&gt;&lt;mi&gt;i&lt;/mi&gt;&lt;mi&gt;z&lt;/mi&gt;&lt;mi&gt;a&lt;/mi&gt;&lt;mi&gt;r&lt;/mi&gt;&lt;mi&gt;e&lt;/mi&gt;&lt;mo&gt;:&lt;/mo&gt;&lt;mo&gt;&amp;#xA0;&lt;/mo&gt;&lt;mi&gt;F&lt;/mi&gt;&lt;mi&gt;i&lt;/mi&gt;&lt;mi&gt;e&lt;/mi&gt;&lt;mi&gt;c&lt;/mi&gt;&lt;mi&gt;a&lt;/mi&gt;&lt;mi&gt;r&lt;/mi&gt;&lt;mi&gt;e&lt;/mi&gt;&lt;mo&gt;&amp;#xA0;&lt;/mo&gt;&lt;mi&gt;L&lt;/mi&gt;&lt;mi&gt;o&lt;/mi&gt;&lt;mi&gt;a&lt;/mi&gt;&lt;mi&gt;d&lt;/mi&gt;&lt;mo&gt;&amp;#xA0;&lt;/mo&gt;&lt;mi&gt;e&lt;/mi&gt;&lt;mi&gt;s&lt;/mi&gt;&lt;mi&gt;t&lt;/mi&gt;&lt;mi&gt;e&lt;/mi&gt;&lt;mo&gt;&amp;#xA0;&lt;/mo&gt;&lt;mn&gt;0&lt;/mn&gt;&lt;mo&gt;&amp;#xA0;&lt;/mo&gt;&lt;mi&gt;i&lt;/mi&gt;&lt;mi&gt;a&lt;/mi&gt;&lt;mi&gt;r&lt;/mi&gt;&lt;mo&gt;&amp;#xA0;&lt;/mo&gt;&lt;mi&gt;m&lt;/mi&gt;&lt;mi&gt;u&lt;/mi&gt;&lt;mi&gt;l&lt;/mi&gt;&lt;mi&gt;t&lt;/mi&gt;&lt;mi&gt;i&lt;/mi&gt;&lt;mi&gt;m&lt;/mi&gt;&lt;mi&gt;e&lt;/mi&gt;&lt;mi&gt;a&lt;/mi&gt;&lt;mo&gt;&amp;#xA0;&lt;/mo&gt;&lt;mi&gt;j&lt;/mi&gt;&lt;mi&gt;o&lt;/mi&gt;&lt;mi&gt;b&lt;/mi&gt;&lt;mi&gt;u&lt;/mi&gt;&lt;mi&gt;r&lt;/mi&gt;&lt;mi&gt;i&lt;/mi&gt;&lt;mi&gt;l&lt;/mi&gt;&lt;mi&gt;o&lt;/mi&gt;&lt;mi&gt;r&lt;/mi&gt;&lt;mo&gt;&amp;#xA0;&lt;/mo&gt;&lt;mi&gt;e&lt;/mi&gt;&lt;mi&gt;s&lt;/mi&gt;&lt;mi&gt;t&lt;/mi&gt;&lt;mi&gt;e&lt;/mi&gt;&lt;mo&gt;&amp;#xA0;&lt;/mo&gt;&lt;mi&gt;n&lt;/mi&gt;&lt;mi&gt;u&lt;/mi&gt;&lt;mi&gt;l&lt;/mi&gt;&lt;mi&gt;a&lt;/mi&gt;&lt;mo&gt;&amp;#xA0;&lt;/mo&gt;&lt;mi&gt;p&lt;/mi&gt;&lt;mi&gt;t&lt;/mi&gt;&lt;mo&gt;&amp;#xA0;&lt;/mo&gt;&lt;mi&gt;f&lt;/mi&gt;&lt;mi&gt;i&lt;/mi&gt;&lt;mi&gt;e&lt;/mi&gt;&lt;mi&gt;c&lt;/mi&gt;&lt;mi&gt;a&lt;/mi&gt;&lt;mi&gt;r&lt;/mi&gt;&lt;mi&gt;e&lt;/mi&gt;&lt;mo&gt;&amp;#xA0;&lt;/mo&gt;&lt;mi&gt;m&lt;/mi&gt;&lt;mi&gt;a&lt;/mi&gt;&lt;mi&gt;sin&lt;/mi&gt;&lt;mi&gt;a&lt;/mi&gt;&lt;mspace linebreak=&quot;newline&quot;/&gt;&lt;mo&gt;&amp;#xA0;&lt;/mo&gt;&lt;mo&gt;&amp;#xA0;&lt;/mo&gt;&lt;mo&gt;&amp;#xA0;&lt;/mo&gt;&lt;mo&gt;&amp;#xA0;&lt;/mo&gt;&lt;mo&gt;&amp;#xA0;&lt;/mo&gt;&lt;mi&gt;f&lt;/mi&gt;&lt;mi&gt;o&lt;/mi&gt;&lt;mi&gt;r&lt;/mi&gt;&lt;mo&gt;&amp;#xA0;&lt;/mo&gt;&lt;mi&gt;j&lt;/mi&gt;&lt;mo&gt;=&lt;/mo&gt;&lt;mn&gt;1&lt;/mn&gt;&lt;mo&gt;&amp;#xA0;&lt;/mo&gt;&lt;mi&gt;t&lt;/mi&gt;&lt;mi&gt;o&lt;/mi&gt;&lt;mo&gt;&amp;#xA0;&lt;/mo&gt;&lt;mi&gt;n&lt;/mi&gt;&lt;mo&gt;:&lt;/mo&gt;&lt;mspace linebreak=&quot;newline&quot;/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i&gt;i&lt;/mi&gt;&lt;mo&gt;=&lt;/mo&gt;&lt;mi&gt;a&lt;/mi&gt;&lt;mi&gt;r&lt;/mi&gt;&lt;mi&gt;g&lt;/mi&gt;&lt;mfenced&gt;&lt;mrow&gt;&lt;mi&gt;m&lt;/mi&gt;&lt;mi&gt;i&lt;/mi&gt;&lt;mi&gt;n&lt;/mi&gt;&lt;mfenced open=&quot;{&quot; close=&quot;}&quot;&gt;&lt;mrow&gt;&lt;msub&gt;&lt;mi&gt;L&lt;/mi&gt;&lt;mi&gt;k&lt;/mi&gt;&lt;/msub&gt;&lt;mo&gt;|&lt;/mo&gt;&lt;mo&gt;&amp;#xA0;&lt;/mo&gt;&lt;mi&gt;k&lt;/mi&gt;&lt;mo&gt;&amp;#x2208;&lt;/mo&gt;&lt;mfenced open=&quot;{&quot; close=&quot;}&quot;&gt;&lt;mrow&gt;&lt;mn&gt;1&lt;/mn&gt;&lt;mo&gt;,&lt;/mo&gt;&lt;mo&gt;.&lt;/mo&gt;&lt;mo&gt;.&lt;/mo&gt;&lt;mo&gt;.&lt;/mo&gt;&lt;mo&gt;,&lt;/mo&gt;&lt;mi&gt;m&lt;/mi&gt;&lt;/mrow&gt;&lt;/mfenced&gt;&lt;/mrow&gt;&lt;/mfenced&gt;&lt;/mrow&gt;&lt;/mfenced&gt;&lt;mo&gt;&amp;#xA0;&lt;/mo&gt;&lt;mo&gt;#&lt;/mo&gt;&lt;mo&gt;&amp;#xA0;&lt;/mo&gt;&lt;mi&gt;i&lt;/mi&gt;&lt;mo&gt;&amp;#xA0;&lt;/mo&gt;&lt;mo&gt;-&lt;/mo&gt;&lt;mo&gt;&amp;#xA0;&lt;/mo&gt;&lt;mi&gt;m&lt;/mi&gt;&lt;mi&gt;a&lt;/mi&gt;&lt;mi&gt;sin&lt;/mi&gt;&lt;mi&gt;a&lt;/mi&gt;&lt;mo&gt;&amp;#xA0;&lt;/mo&gt;&lt;mi&gt;c&lt;/mi&gt;&lt;mi&gt;u&lt;/mi&gt;&lt;mo&gt;&amp;#xA0;&lt;/mo&gt;&lt;mi&gt;i&lt;/mi&gt;&lt;mi&gt;n&lt;/mi&gt;&lt;mi&gt;c&lt;/mi&gt;&lt;mi&gt;a&lt;/mi&gt;&lt;mi&gt;r&lt;/mi&gt;&lt;mi&gt;c&lt;/mi&gt;&lt;mi&gt;a&lt;/mi&gt;&lt;mi&gt;t&lt;/mi&gt;&lt;mi&gt;u&lt;/mi&gt;&lt;mi&gt;r&lt;/mi&gt;&lt;mi&gt;a&lt;/mi&gt;&lt;mo&gt;&amp;#xA0;&lt;/mo&gt;&lt;mi&gt;c&lt;/mi&gt;&lt;mi&gt;e&lt;/mi&gt;&lt;mi&gt;a&lt;/mi&gt;&lt;mo&gt;&amp;#xA0;&lt;/mo&gt;&lt;mi&gt;m&lt;/mi&gt;&lt;mi&gt;a&lt;/mi&gt;&lt;mi&gt;i&lt;/mi&gt;&lt;mo&gt;&amp;#xA0;&lt;/mo&gt;&lt;mi&gt;m&lt;/mi&gt;&lt;mi&gt;i&lt;/mi&gt;&lt;mi&gt;c&lt;/mi&gt;&lt;mi&gt;a&lt;/mi&gt;&lt;mo&gt;&amp;#xA0;&lt;/mo&gt;&lt;mi&gt;i&lt;/mi&gt;&lt;mi&gt;n&lt;/mi&gt;&lt;mo&gt;&amp;#xA0;&lt;/mo&gt;&lt;mi&gt;a&lt;/mi&gt;&lt;mi&gt;c&lt;/mi&gt;&lt;mi&gt;e&lt;/mi&gt;&lt;mi&gt;s&lt;/mi&gt;&lt;mi&gt;t&lt;/mi&gt;&lt;mo&gt;&amp;#xA0;&lt;/mo&gt;&lt;mi&gt;m&lt;/mi&gt;&lt;mi&gt;o&lt;/mi&gt;&lt;mi&gt;m&lt;/mi&gt;&lt;mi&gt;e&lt;/mi&gt;&lt;mi&gt;n&lt;/mi&gt;&lt;mi&gt;t&lt;/mi&gt;&lt;mspace linebreak=&quot;newline&quot;/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i&gt;J&lt;/mi&gt;&lt;mfenced&gt;&lt;mi&gt;i&lt;/mi&gt;&lt;/mfenced&gt;&lt;mo&gt;=&lt;/mo&gt;&lt;mi&gt;J&lt;/mi&gt;&lt;mfenced&gt;&lt;mi&gt;i&lt;/mi&gt;&lt;/mfenced&gt;&lt;mo&gt;&amp;#x222A;&lt;/mo&gt;&lt;mfenced open=&quot;{&quot; close=&quot;}&quot;&gt;&lt;mi&gt;j&lt;/mi&gt;&lt;/mfenced&gt;&lt;mspace linebreak=&quot;newline&quot;/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o&gt;&amp;#xA0;&lt;/mo&gt;&lt;msub&gt;&lt;mi&gt;L&lt;/mi&gt;&lt;mi&gt;i&lt;/mi&gt;&lt;/msub&gt;&lt;mo&gt;+&lt;/mo&gt;&lt;mo&gt;=&lt;/mo&gt;&lt;msub&gt;&lt;mi&gt;t&lt;/mi&gt;&lt;mi&gt;j&lt;/mi&gt;&lt;/msub&gt;&lt;mspace linebreak=&quot;newline&quot;/&gt;&lt;/math&gt;" id="235" name="Google Shape;235;p19" title="L o a d minus B a l a n c e open parentheses m comma t subscript 1 comma t subscript 2 comma... comma t subscript n close parentheses&#10;space space space space space f o r space i equals 1 space t o space m space colon&#10;space space space space space space space space space space space space L subscript i equals 0 semicolon space J open parentheses i close parentheses equals empty set space # i n i t i a l i z a r e colon space F i e c a r e space L o a d space e s t e space 0 space i a r space m u l t i m e a space j o b u r i l o r space e s t e space n u l a space p t space f i e c a r e space m a sin a&#10;space space space space space f o r space j equals 1 space t o space n colon&#10;space space space space space space space space space space space space i equals a r g open parentheses m i n open curly brackets L subscript k vertical line space k element of open curly brackets 1 comma... comma m close curly brackets close curly brackets close parentheses space # space i space minus space m a sin a space c u space i n c a r c a t u r a space c e a space m a i space m i c a space i n space a c e s t space m o m e n t&#10;space space space space space space space space space space space J open parentheses i close parentheses equals J open parentheses i close parentheses union open curly brackets j close curly brackets&#10;space space space space space space space space space space space L subscript i plus equals t subscript j&#10;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9675" y="2571751"/>
            <a:ext cx="6606963" cy="182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56" name="Google Shape;2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/>
          <p:cNvPicPr preferRelativeResize="0"/>
          <p:nvPr/>
        </p:nvPicPr>
        <p:blipFill rotWithShape="1">
          <a:blip r:embed="rId8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86" name="Google Shape;2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5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5"/>
          <p:cNvPicPr preferRelativeResize="0"/>
          <p:nvPr/>
        </p:nvPicPr>
        <p:blipFill rotWithShape="1">
          <a:blip r:embed="rId8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/>
          <p:cNvPicPr preferRelativeResize="0"/>
          <p:nvPr/>
        </p:nvPicPr>
        <p:blipFill rotWithShape="1">
          <a:blip r:embed="rId9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298" name="Google Shape;29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6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6"/>
          <p:cNvPicPr preferRelativeResize="0"/>
          <p:nvPr/>
        </p:nvPicPr>
        <p:blipFill rotWithShape="1">
          <a:blip r:embed="rId8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6"/>
          <p:cNvPicPr preferRelativeResize="0"/>
          <p:nvPr/>
        </p:nvPicPr>
        <p:blipFill rotWithShape="1">
          <a:blip r:embed="rId9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6"/>
          <p:cNvPicPr preferRelativeResize="0"/>
          <p:nvPr/>
        </p:nvPicPr>
        <p:blipFill rotWithShape="1">
          <a:blip r:embed="rId10">
            <a:alphaModFix/>
          </a:blip>
          <a:srcRect b="5403" l="16343" r="29930" t="32085"/>
          <a:stretch/>
        </p:blipFill>
        <p:spPr>
          <a:xfrm>
            <a:off x="647359" y="1853850"/>
            <a:ext cx="5026541" cy="3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</a:t>
            </a:r>
            <a:endParaRPr/>
          </a:p>
        </p:txBody>
      </p:sp>
      <p:pic>
        <p:nvPicPr>
          <p:cNvPr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/>
          <p:cNvPicPr preferRelativeResize="0"/>
          <p:nvPr/>
        </p:nvPicPr>
        <p:blipFill rotWithShape="1">
          <a:blip r:embed="rId8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/>
          <p:cNvPicPr preferRelativeResize="0"/>
          <p:nvPr/>
        </p:nvPicPr>
        <p:blipFill rotWithShape="1">
          <a:blip r:embed="rId9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/>
          <p:cNvPicPr preferRelativeResize="0"/>
          <p:nvPr/>
        </p:nvPicPr>
        <p:blipFill rotWithShape="1">
          <a:blip r:embed="rId10">
            <a:alphaModFix/>
          </a:blip>
          <a:srcRect b="5403" l="16343" r="29930" t="32085"/>
          <a:stretch/>
        </p:blipFill>
        <p:spPr>
          <a:xfrm>
            <a:off x="647359" y="1853850"/>
            <a:ext cx="5026541" cy="3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7"/>
          <p:cNvPicPr preferRelativeResize="0"/>
          <p:nvPr/>
        </p:nvPicPr>
        <p:blipFill rotWithShape="1">
          <a:blip r:embed="rId11">
            <a:alphaModFix/>
          </a:blip>
          <a:srcRect b="7313" l="15958" r="30051" t="31324"/>
          <a:stretch/>
        </p:blipFill>
        <p:spPr>
          <a:xfrm>
            <a:off x="612507" y="1853850"/>
            <a:ext cx="5104570" cy="32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 (3 steps)</a:t>
            </a:r>
            <a:endParaRPr/>
          </a:p>
        </p:txBody>
      </p:sp>
      <p:pic>
        <p:nvPicPr>
          <p:cNvPr id="325" name="Google Shape;3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9822" y="514697"/>
            <a:ext cx="1407757" cy="140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8"/>
          <p:cNvPicPr preferRelativeResize="0"/>
          <p:nvPr/>
        </p:nvPicPr>
        <p:blipFill rotWithShape="1">
          <a:blip r:embed="rId7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8"/>
          <p:cNvPicPr preferRelativeResize="0"/>
          <p:nvPr/>
        </p:nvPicPr>
        <p:blipFill rotWithShape="1">
          <a:blip r:embed="rId8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8"/>
          <p:cNvPicPr preferRelativeResize="0"/>
          <p:nvPr/>
        </p:nvPicPr>
        <p:blipFill rotWithShape="1">
          <a:blip r:embed="rId9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8"/>
          <p:cNvPicPr preferRelativeResize="0"/>
          <p:nvPr/>
        </p:nvPicPr>
        <p:blipFill rotWithShape="1">
          <a:blip r:embed="rId10">
            <a:alphaModFix/>
          </a:blip>
          <a:srcRect b="5403" l="16343" r="29930" t="32085"/>
          <a:stretch/>
        </p:blipFill>
        <p:spPr>
          <a:xfrm>
            <a:off x="647359" y="1853850"/>
            <a:ext cx="5026541" cy="3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8"/>
          <p:cNvPicPr preferRelativeResize="0"/>
          <p:nvPr/>
        </p:nvPicPr>
        <p:blipFill rotWithShape="1">
          <a:blip r:embed="rId11">
            <a:alphaModFix/>
          </a:blip>
          <a:srcRect b="7313" l="15958" r="30051" t="31324"/>
          <a:stretch/>
        </p:blipFill>
        <p:spPr>
          <a:xfrm>
            <a:off x="612507" y="1853850"/>
            <a:ext cx="5104570" cy="326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8"/>
          <p:cNvPicPr preferRelativeResize="0"/>
          <p:nvPr/>
        </p:nvPicPr>
        <p:blipFill rotWithShape="1">
          <a:blip r:embed="rId12">
            <a:alphaModFix/>
          </a:blip>
          <a:srcRect b="6700" l="17906" r="30754" t="31194"/>
          <a:stretch/>
        </p:blipFill>
        <p:spPr>
          <a:xfrm>
            <a:off x="612500" y="1763954"/>
            <a:ext cx="4966373" cy="3379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Step-by-step example (3 steps)</a:t>
            </a:r>
            <a:endParaRPr/>
          </a:p>
        </p:txBody>
      </p:sp>
      <p:pic>
        <p:nvPicPr>
          <p:cNvPr id="340" name="Google Shape;3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/>
          <p:cNvPicPr preferRelativeResize="0"/>
          <p:nvPr/>
        </p:nvPicPr>
        <p:blipFill rotWithShape="1">
          <a:blip r:embed="rId6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9"/>
          <p:cNvPicPr preferRelativeResize="0"/>
          <p:nvPr/>
        </p:nvPicPr>
        <p:blipFill rotWithShape="1">
          <a:blip r:embed="rId7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9"/>
          <p:cNvPicPr preferRelativeResize="0"/>
          <p:nvPr/>
        </p:nvPicPr>
        <p:blipFill rotWithShape="1">
          <a:blip r:embed="rId8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9"/>
          <p:cNvPicPr preferRelativeResize="0"/>
          <p:nvPr/>
        </p:nvPicPr>
        <p:blipFill rotWithShape="1">
          <a:blip r:embed="rId9">
            <a:alphaModFix/>
          </a:blip>
          <a:srcRect b="5403" l="16343" r="29930" t="32085"/>
          <a:stretch/>
        </p:blipFill>
        <p:spPr>
          <a:xfrm>
            <a:off x="647359" y="1853850"/>
            <a:ext cx="5026541" cy="3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/>
          <p:cNvPicPr preferRelativeResize="0"/>
          <p:nvPr/>
        </p:nvPicPr>
        <p:blipFill rotWithShape="1">
          <a:blip r:embed="rId10">
            <a:alphaModFix/>
          </a:blip>
          <a:srcRect b="7313" l="15958" r="30051" t="31324"/>
          <a:stretch/>
        </p:blipFill>
        <p:spPr>
          <a:xfrm>
            <a:off x="612507" y="1853850"/>
            <a:ext cx="5104570" cy="326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9"/>
          <p:cNvPicPr preferRelativeResize="0"/>
          <p:nvPr/>
        </p:nvPicPr>
        <p:blipFill rotWithShape="1">
          <a:blip r:embed="rId11">
            <a:alphaModFix/>
          </a:blip>
          <a:srcRect b="6700" l="17906" r="30754" t="31194"/>
          <a:stretch/>
        </p:blipFill>
        <p:spPr>
          <a:xfrm>
            <a:off x="612500" y="1763954"/>
            <a:ext cx="4966373" cy="3379547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Este Optim?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0" name="Google Shape;350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75" y="1853850"/>
            <a:ext cx="4546945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69" y="1853852"/>
            <a:ext cx="4469754" cy="296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368" y="1853852"/>
            <a:ext cx="4469738" cy="2937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0"/>
          <p:cNvPicPr preferRelativeResize="0"/>
          <p:nvPr/>
        </p:nvPicPr>
        <p:blipFill rotWithShape="1">
          <a:blip r:embed="rId6">
            <a:alphaModFix/>
          </a:blip>
          <a:srcRect b="7072" l="16254" r="30644" t="30809"/>
          <a:stretch/>
        </p:blipFill>
        <p:spPr>
          <a:xfrm>
            <a:off x="622375" y="1853850"/>
            <a:ext cx="4966373" cy="3267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/>
          <p:cNvPicPr preferRelativeResize="0"/>
          <p:nvPr/>
        </p:nvPicPr>
        <p:blipFill rotWithShape="1">
          <a:blip r:embed="rId7">
            <a:alphaModFix/>
          </a:blip>
          <a:srcRect b="6594" l="15860" r="30064" t="31370"/>
          <a:stretch/>
        </p:blipFill>
        <p:spPr>
          <a:xfrm>
            <a:off x="622375" y="1853850"/>
            <a:ext cx="5052149" cy="325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0"/>
          <p:cNvPicPr preferRelativeResize="0"/>
          <p:nvPr/>
        </p:nvPicPr>
        <p:blipFill rotWithShape="1">
          <a:blip r:embed="rId8">
            <a:alphaModFix/>
          </a:blip>
          <a:srcRect b="6792" l="15941" r="29269" t="30823"/>
          <a:stretch/>
        </p:blipFill>
        <p:spPr>
          <a:xfrm>
            <a:off x="664925" y="1853850"/>
            <a:ext cx="5052149" cy="323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0"/>
          <p:cNvPicPr preferRelativeResize="0"/>
          <p:nvPr/>
        </p:nvPicPr>
        <p:blipFill rotWithShape="1">
          <a:blip r:embed="rId9">
            <a:alphaModFix/>
          </a:blip>
          <a:srcRect b="5403" l="16343" r="29930" t="32085"/>
          <a:stretch/>
        </p:blipFill>
        <p:spPr>
          <a:xfrm>
            <a:off x="647359" y="1853850"/>
            <a:ext cx="5026541" cy="328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0"/>
          <p:cNvPicPr preferRelativeResize="0"/>
          <p:nvPr/>
        </p:nvPicPr>
        <p:blipFill rotWithShape="1">
          <a:blip r:embed="rId10">
            <a:alphaModFix/>
          </a:blip>
          <a:srcRect b="7313" l="15958" r="30051" t="31324"/>
          <a:stretch/>
        </p:blipFill>
        <p:spPr>
          <a:xfrm>
            <a:off x="612507" y="1853850"/>
            <a:ext cx="5104570" cy="326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0"/>
          <p:cNvPicPr preferRelativeResize="0"/>
          <p:nvPr/>
        </p:nvPicPr>
        <p:blipFill rotWithShape="1">
          <a:blip r:embed="rId11">
            <a:alphaModFix/>
          </a:blip>
          <a:srcRect b="6700" l="17906" r="30754" t="31194"/>
          <a:stretch/>
        </p:blipFill>
        <p:spPr>
          <a:xfrm>
            <a:off x="612500" y="1763954"/>
            <a:ext cx="4966373" cy="3379547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0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5" name="Google Shape;36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45258" y="464900"/>
            <a:ext cx="2438903" cy="1829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0"/>
          <p:cNvPicPr preferRelativeResize="0"/>
          <p:nvPr/>
        </p:nvPicPr>
        <p:blipFill rotWithShape="1">
          <a:blip r:embed="rId14">
            <a:alphaModFix/>
          </a:blip>
          <a:srcRect b="2297" l="34422" r="15562" t="35046"/>
          <a:stretch/>
        </p:blipFill>
        <p:spPr>
          <a:xfrm>
            <a:off x="664925" y="1651025"/>
            <a:ext cx="4913952" cy="3462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Care este Factorul de Aproximare?</a:t>
            </a:r>
            <a:endParaRPr/>
          </a:p>
        </p:txBody>
      </p:sp>
      <p:sp>
        <p:nvSpPr>
          <p:cNvPr id="373" name="Google Shape;373;p31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4" name="Google Shape;3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518300" y="1958475"/>
            <a:ext cx="624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Care este Factorul de Aproximare?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2" name="Google Shape;38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/>
        </p:nvSpPr>
        <p:spPr>
          <a:xfrm>
            <a:off x="518300" y="1958475"/>
            <a:ext cx="6241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1.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2.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Algoritmul descris anterior este un algoritm 2-Aproximativ.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Altfel spus, fie ALG = max(L</a:t>
            </a:r>
            <a:r>
              <a:rPr b="1" baseline="-2500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</a:t>
            </a:r>
            <a:r>
              <a:rPr b="1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∊{1,...,m}) masina “cea mai incarcata”. Avem de arătat că ALG≤2xOPT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&lt;math xmlns=&quot;http://www.w3.org/1998/Math/MathML&quot;&gt;&lt;mi&gt;O&lt;/mi&gt;&lt;mi&gt;P&lt;/mi&gt;&lt;mi&gt;T&lt;/mi&gt;&lt;mo&gt;&amp;#x2265;&lt;/mo&gt;&lt;mi&gt;m&lt;/mi&gt;&lt;mi&gt;a&lt;/mi&gt;&lt;mi&gt;x&lt;/mi&gt;&lt;mfenced open=&quot;{&quot; close=&quot;}&quot;&gt;&lt;mrow&gt;&lt;mfrac&gt;&lt;mn&gt;1&lt;/mn&gt;&lt;mi&gt;m&lt;/mi&gt;&lt;/mfrac&gt;&lt;munder&gt;&lt;mo&gt;&amp;#x2211;&lt;/mo&gt;&lt;mrow&gt;&lt;mn&gt;1&lt;/mn&gt;&lt;mo&gt;&amp;#x2264;&lt;/mo&gt;&lt;mi&gt;j&lt;/mi&gt;&lt;mo&gt;&amp;#x2264;&lt;/mo&gt;&lt;mi&gt;n&lt;/mi&gt;&lt;/mrow&gt;&lt;/munder&gt;&lt;msub&gt;&lt;mi&gt;t&lt;/mi&gt;&lt;mi&gt;j&lt;/mi&gt;&lt;/msub&gt;&lt;mo&gt;,&lt;/mo&gt;&lt;mo&gt;&amp;#xA0;&lt;/mo&gt;&lt;mi&gt;m&lt;/mi&gt;&lt;mi&gt;a&lt;/mi&gt;&lt;mi&gt;x&lt;/mi&gt;&lt;mfenced open=&quot;{&quot; close=&quot;}&quot;&gt;&lt;mrow&gt;&lt;msub&gt;&lt;mi&gt;t&lt;/mi&gt;&lt;mi&gt;j&lt;/mi&gt;&lt;/msub&gt;&lt;mo&gt;|&lt;/mo&gt;&lt;mo&gt;&amp;#xA0;&lt;/mo&gt;&lt;mo&gt;&amp;#x2264;&lt;/mo&gt;&lt;mi&gt;j&lt;/mi&gt;&lt;mo&gt;&amp;#x2264;&lt;/mo&gt;&lt;mi&gt;n&lt;/mi&gt;&lt;/mrow&gt;&lt;/mfenced&gt;&lt;/mrow&gt;&lt;/mfenced&gt;&lt;mspace linebreak=&quot;newline&quot;/&gt;&lt;mi&gt;j&lt;/mi&gt;&lt;mi&gt;u&lt;/mi&gt;&lt;mi&gt;s&lt;/mi&gt;&lt;mi&gt;t&lt;/mi&gt;&lt;mi&gt;i&lt;/mi&gt;&lt;mi&gt;f&lt;/mi&gt;&lt;mi&gt;i&lt;/mi&gt;&lt;mi&gt;c&lt;/mi&gt;&lt;mi&gt;a&lt;/mi&gt;&lt;mi&gt;r&lt;/mi&gt;&lt;mi&gt;e&lt;/mi&gt;&lt;mo&gt;:&lt;/mo&gt;&lt;mspace linebreak=&quot;newline&quot;/&gt;&lt;mi&gt;P&lt;/mi&gt;&lt;mi&gt;r&lt;/mi&gt;&lt;mi&gt;i&lt;/mi&gt;&lt;mi&gt;m&lt;/mi&gt;&lt;mi&gt;u&lt;/mi&gt;&lt;mi&gt;l&lt;/mi&gt;&lt;mo&gt;&amp;#xA0;&lt;/mo&gt;&lt;mi&gt;t&lt;/mi&gt;&lt;mi&gt;e&lt;/mi&gt;&lt;mi&gt;r&lt;/mi&gt;&lt;mi&gt;m&lt;/mi&gt;&lt;mi&gt;e&lt;/mi&gt;&lt;mi&gt;n&lt;/mi&gt;&lt;mo&gt;&amp;#xA0;&lt;/mo&gt;&lt;mi&gt;r&lt;/mi&gt;&lt;mi&gt;e&lt;/mi&gt;&lt;mi&gt;p&lt;/mi&gt;&lt;mi&gt;r&lt;/mi&gt;&lt;mi&gt;e&lt;/mi&gt;&lt;mi&gt;z&lt;/mi&gt;&lt;mi&gt;i&lt;/mi&gt;&lt;mi&gt;n&lt;/mi&gt;&lt;mi&gt;t&lt;/mi&gt;&lt;mi&gt;a&lt;/mi&gt;&lt;mo&gt;&amp;#xA0;&lt;/mo&gt;&lt;mi&gt;i&lt;/mi&gt;&lt;mi&gt;n&lt;/mi&gt;&lt;mi&gt;c&lt;/mi&gt;&lt;mi&gt;a&lt;/mi&gt;&lt;mi&gt;r&lt;/mi&gt;&lt;mi&gt;c&lt;/mi&gt;&lt;mi&gt;a&lt;/mi&gt;&lt;mi&gt;t&lt;/mi&gt;&lt;mi&gt;u&lt;/mi&gt;&lt;mi&gt;r&lt;/mi&gt;&lt;mi&gt;a&lt;/mi&gt;&lt;mo&gt;&amp;#xA0;&lt;/mo&gt;&lt;mi&gt;m&lt;/mi&gt;&lt;mi&gt;e&lt;/mi&gt;&lt;mi&gt;d&lt;/mi&gt;&lt;mi&gt;i&lt;/mi&gt;&lt;mi&gt;e&lt;/mi&gt;&lt;mo&gt;&amp;#xA0;&lt;/mo&gt;&lt;mi&gt;p&lt;/mi&gt;&lt;mi&gt;t&lt;/mi&gt;&lt;mo&gt;&amp;#xA0;&lt;/mo&gt;&lt;mi&gt;o&lt;/mi&gt;&lt;mo&gt;&amp;#xA0;&lt;/mo&gt;&lt;mi&gt;m&lt;/mi&gt;&lt;mi&gt;a&lt;/mi&gt;&lt;mi&gt;sin&lt;/mi&gt;&lt;mi&gt;a&lt;/mi&gt;&lt;mo&gt;.&lt;/mo&gt;&lt;mo&gt;&amp;#xA0;&lt;/mo&gt;&lt;mi&gt;E&lt;/mi&gt;&lt;mi&gt;v&lt;/mi&gt;&lt;mi&gt;i&lt;/mi&gt;&lt;mi&gt;d&lt;/mi&gt;&lt;mi&gt;e&lt;/mi&gt;&lt;mi&gt;n&lt;/mi&gt;&lt;mi&gt;t&lt;/mi&gt;&lt;mo&gt;&amp;#xA0;&lt;/mo&gt;&lt;mi&gt;c&lt;/mi&gt;&lt;mi&gt;a&lt;/mi&gt;&lt;mo&gt;&amp;#xA0;&lt;/mo&gt;&lt;mi&gt;i&lt;/mi&gt;&lt;mi&gt;n&lt;/mi&gt;&lt;mo&gt;&amp;#xA0;&lt;/mo&gt;&lt;mi&gt;o&lt;/mi&gt;&lt;mi&gt;r&lt;/mi&gt;&lt;mi&gt;i&lt;/mi&gt;&lt;mi&gt;c&lt;/mi&gt;&lt;mi&gt;e&lt;/mi&gt;&lt;mo&gt;&amp;#xA0;&lt;/mo&gt;&lt;mi&gt;c&lt;/mi&gt;&lt;mi&gt;o&lt;/mi&gt;&lt;mi&gt;n&lt;/mi&gt;&lt;mi&gt;f&lt;/mi&gt;&lt;mi&gt;i&lt;/mi&gt;&lt;mi&gt;g&lt;/mi&gt;&lt;mi&gt;u&lt;/mi&gt;&lt;mi&gt;r&lt;/mi&gt;&lt;mi&gt;a&lt;/mi&gt;&lt;mi&gt;t&lt;/mi&gt;&lt;mi&gt;i&lt;/mi&gt;&lt;mi&gt;e&lt;/mi&gt;&lt;mo&gt;,&lt;/mo&gt;&lt;mo&gt;&amp;#xA0;&lt;/mo&gt;&lt;mi&gt;m&lt;/mi&gt;&lt;mi&gt;a&lt;/mi&gt;&lt;mi&gt;sin&lt;/mi&gt;&lt;mi&gt;a&lt;/mi&gt;&lt;mo&gt;&amp;#xA0;&lt;/mo&gt;&lt;mi&gt;c&lt;/mi&gt;&lt;mi&gt;u&lt;/mi&gt;&lt;mo&gt;&amp;#xA0;&lt;/mo&gt;&lt;mi&gt;i&lt;/mi&gt;&lt;mi&gt;n&lt;/mi&gt;&lt;mi&gt;c&lt;/mi&gt;&lt;mi&gt;a&lt;/mi&gt;&lt;mi&gt;r&lt;/mi&gt;&lt;mi&gt;c&lt;/mi&gt;&lt;mi&gt;a&lt;/mi&gt;&lt;mi&gt;t&lt;/mi&gt;&lt;mi&gt;u&lt;/mi&gt;&lt;mi&gt;r&lt;/mi&gt;&lt;mi&gt;a&lt;/mi&gt;&lt;mo&gt;&amp;#xA0;&lt;/mo&gt;&lt;mi&gt;m&lt;/mi&gt;&lt;mi&gt;a&lt;/mi&gt;&lt;mi&gt;x&lt;/mi&gt;&lt;mi&gt;i&lt;/mi&gt;&lt;mi&gt;m&lt;/mi&gt;&lt;mi&gt;a&lt;/mi&gt;&lt;mo&gt;&amp;#xA0;&lt;/mo&gt;&lt;mi&gt;v&lt;/mi&gt;&lt;mi&gt;a&lt;/mi&gt;&lt;mo&gt;&amp;#xA0;&lt;/mo&gt;&lt;mi&gt;l&lt;/mi&gt;&lt;mi&gt;u&lt;/mi&gt;&lt;mi&gt;c&lt;/mi&gt;&lt;mi&gt;r&lt;/mi&gt;&lt;mi&gt;a&lt;/mi&gt;&lt;mo&gt;&amp;#xA0;&lt;/mo&gt;&lt;mspace linebreak=&quot;newline&quot;/&gt;&lt;mi&gt;c&lt;/mi&gt;&lt;mi&gt;e&lt;/mi&gt;&lt;mi&gt;l&lt;/mi&gt;&lt;mo&gt;&amp;#xA0;&lt;/mo&gt;&lt;mi&gt;p&lt;/mi&gt;&lt;mi&gt;u&lt;/mi&gt;&lt;mi&gt;t&lt;/mi&gt;&lt;mi&gt;i&lt;/mi&gt;&lt;mi&gt;n&lt;/mi&gt;&lt;mo&gt;&amp;#xA0;&lt;/mo&gt;&lt;mi&gt;l&lt;/mi&gt;&lt;mi&gt;a&lt;/mi&gt;&lt;mo&gt;&amp;#xA0;&lt;/mo&gt;&lt;mi&gt;f&lt;/mi&gt;&lt;mi&gt;e&lt;/mi&gt;&lt;mi&gt;l&lt;/mi&gt;&lt;mo&gt;&amp;#xA0;&lt;/mo&gt;&lt;mi&gt;d&lt;/mi&gt;&lt;mi&gt;e&lt;/mi&gt;&lt;mo&gt;&amp;#xA0;&lt;/mo&gt;&lt;mi&gt;m&lt;/mi&gt;&lt;mi&gt;u&lt;/mi&gt;&lt;mi&gt;l&lt;/mi&gt;&lt;mi&gt;t&lt;/mi&gt;&lt;mo&gt;&amp;#xA0;&lt;/mo&gt;&lt;mi&gt;c&lt;/mi&gt;&lt;mi&gt;a&lt;/mi&gt;&lt;mo&gt;&amp;#xA0;&lt;/mo&gt;&lt;mi&gt;m&lt;/mi&gt;&lt;mi&gt;e&lt;/mi&gt;&lt;mi&gt;d&lt;/mi&gt;&lt;mi&gt;i&lt;/mi&gt;&lt;mi&gt;a&lt;/mi&gt;&lt;mo&gt;&amp;#xA0;&lt;/mo&gt;&lt;mi&gt;t&lt;/mi&gt;&lt;mi&gt;u&lt;/mi&gt;&lt;mi&gt;t&lt;/mi&gt;&lt;mi&gt;u&lt;/mi&gt;&lt;mi&gt;r&lt;/mi&gt;&lt;mi&gt;o&lt;/mi&gt;&lt;mi&gt;r&lt;/mi&gt;&lt;mo&gt;&amp;#xA0;&lt;/mo&gt;&lt;mi&gt;m&lt;/mi&gt;&lt;mi&gt;a&lt;/mi&gt;&lt;mi&gt;sin&lt;/mi&gt;&lt;mi&gt;i&lt;/mi&gt;&lt;mi&gt;l&lt;/mi&gt;&lt;mi&gt;o&lt;/mi&gt;&lt;mi&gt;r&lt;/mi&gt;&lt;mspace linebreak=&quot;newline&quot;/&gt;&lt;mspace linebreak=&quot;newline&quot;/&gt;&lt;mi&gt;A&lt;/mi&gt;&lt;mi&gt;l&lt;/mi&gt;&lt;mo&gt;&amp;#xA0;&lt;/mo&gt;&lt;mi&gt;d&lt;/mi&gt;&lt;mi&gt;o&lt;/mi&gt;&lt;mi&gt;i&lt;/mi&gt;&lt;mi&gt;l&lt;/mi&gt;&lt;mi&gt;e&lt;/mi&gt;&lt;mi&gt;a&lt;/mi&gt;&lt;mo&gt;&amp;#xA0;&lt;/mo&gt;&lt;mi&gt;t&lt;/mi&gt;&lt;mi&gt;e&lt;/mi&gt;&lt;mi&gt;r&lt;/mi&gt;&lt;mi&gt;m&lt;/mi&gt;&lt;mi&gt;e&lt;/mi&gt;&lt;mi&gt;n&lt;/mi&gt;&lt;mo&gt;&amp;#xA0;&lt;/mo&gt;&lt;mi&gt;r&lt;/mi&gt;&lt;mi&gt;e&lt;/mi&gt;&lt;mi&gt;p&lt;/mi&gt;&lt;mi&gt;r&lt;/mi&gt;&lt;mi&gt;e&lt;/mi&gt;&lt;mi&gt;z&lt;/mi&gt;&lt;mi&gt;i&lt;/mi&gt;&lt;mi&gt;n&lt;/mi&gt;&lt;mi&gt;t&lt;/mi&gt;&lt;mi&gt;a&lt;/mi&gt;&lt;mo&gt;&amp;#xA0;&lt;/mo&gt;&lt;mi&gt;j&lt;/mi&gt;&lt;mi&gt;o&lt;/mi&gt;&lt;mi&gt;b&lt;/mi&gt;&lt;mo&gt;-&lt;/mo&gt;&lt;mi&gt;u&lt;/mi&gt;&lt;mi&gt;l&lt;/mi&gt;&lt;mo&gt;&amp;#xA0;&lt;/mo&gt;&lt;mi&gt;c&lt;/mi&gt;&lt;mi&gt;e&lt;/mi&gt;&lt;mi&gt;l&lt;/mi&gt;&lt;mo&gt;&amp;#xA0;&lt;/mo&gt;&lt;mi&gt;m&lt;/mi&gt;&lt;mi&gt;a&lt;/mi&gt;&lt;mi&gt;i&lt;/mi&gt;&lt;mo&gt;&amp;#xA0;&lt;/mo&gt;&lt;mi&gt;cos&lt;/mi&gt;&lt;mi&gt;t&lt;/mi&gt;&lt;mi&gt;i&lt;/mi&gt;&lt;mi&gt;s&lt;/mi&gt;&lt;mi&gt;i&lt;/mi&gt;&lt;mi&gt;t&lt;/mi&gt;&lt;mi&gt;o&lt;/mi&gt;&lt;mi&gt;r&lt;/mi&gt;&lt;mo&gt;.&lt;/mo&gt;&lt;mo&gt;&amp;#xA0;&lt;/mo&gt;&lt;mi&gt;A&lt;/mi&gt;&lt;mi&gt;c&lt;/mi&gt;&lt;mi&gt;e&lt;/mi&gt;&lt;mi&gt;a&lt;/mi&gt;&lt;mi&gt;s&lt;/mi&gt;&lt;mi&gt;t&lt;/mi&gt;&lt;mi&gt;a&lt;/mi&gt;&lt;mo&gt;&amp;#xA0;&lt;/mo&gt;&lt;mi&gt;n&lt;/mi&gt;&lt;mi&gt;u&lt;/mi&gt;&lt;mo&gt;&amp;#xA0;&lt;/mo&gt;&lt;mi&gt;p&lt;/mi&gt;&lt;mi&gt;o&lt;/mi&gt;&lt;mi&gt;a&lt;/mi&gt;&lt;mi&gt;t&lt;/mi&gt;&lt;mi&gt;e&lt;/mi&gt;&lt;mo&gt;&amp;#xA0;&lt;/mo&gt;&lt;mi&gt;f&lt;/mi&gt;&lt;mi&gt;i&lt;/mi&gt;&lt;mo&gt;&amp;#xA0;&lt;/mo&gt;&lt;mi&gt;i&lt;/mi&gt;&lt;mi&gt;m&lt;/mi&gt;&lt;mi&gt;p&lt;/mi&gt;&lt;mi&gt;a&lt;/mi&gt;&lt;mi&gt;r&lt;/mi&gt;&lt;mi&gt;t&lt;/mi&gt;&lt;mi&gt;i&lt;/mi&gt;&lt;mi&gt;t&lt;/mi&gt;&lt;mi&gt;a&lt;/mi&gt;&lt;mo&gt;&amp;#xA0;&lt;/mo&gt;&lt;mi&gt;p&lt;/mi&gt;&lt;mi&gt;e&lt;/mi&gt;&lt;mo&gt;&amp;#xA0;&lt;/mo&gt;&lt;mi&gt;m&lt;/mi&gt;&lt;mi&gt;a&lt;/mi&gt;&lt;mi&gt;i&lt;/mi&gt;&lt;mo&gt;&amp;#xA0;&lt;/mo&gt;&lt;mi&gt;m&lt;/mi&gt;&lt;mi&gt;u&lt;/mi&gt;&lt;mi&gt;l&lt;/mi&gt;&lt;mi&gt;t&lt;/mi&gt;&lt;mi&gt;e&lt;/mi&gt;&lt;mo&gt;&amp;#xA0;&lt;/mo&gt;&lt;mi&gt;m&lt;/mi&gt;&lt;mi&gt;a&lt;/mi&gt;&lt;mi&gt;sin&lt;/mi&gt;&lt;mi&gt;i&lt;/mi&gt;&lt;mo&gt;.&lt;/mo&gt;&lt;/math&gt;" id="384" name="Google Shape;384;p32" title="O P T greater or equal than m a x open curly brackets 1 over m sum for 1 less or equal than j less or equal than n of t subscript j comma space m a x open curly brackets t subscript j vertical line space less or equal than j less or equal than n close curly brackets close curly brackets&#10;j u s t i f i c a r e colon&#10;P r i m u l space t e r m e n space r e p r e z i n t a space i n c a r c a t u r a space m e d i e space p t space o space m a sin a. space E v i d e n t space c a space i n space o r i c e space c o n f i g u r a t i e comma space m a sin a space c u space i n c a r c a t u r a space m a x i m a space v a space l u c r a space&#10;c e l space p u t i n space l a space f e l space d e space m u l t space c a space m e d i a space t u t u r o r space m a sin i l o r&#10;&#10;A l space d o i l e a space t e r m e n space r e p r e z i n t a space j o b minus u l space c e l space m a i space cos t i s i t o r. space A c e a s t a space n u space p o a t e space f i space i m p a r t i t a space p e space m a i space m u l t e space m a sin i."/>
          <p:cNvPicPr preferRelativeResize="0"/>
          <p:nvPr/>
        </p:nvPicPr>
        <p:blipFill rotWithShape="1">
          <a:blip r:embed="rId4">
            <a:alphaModFix/>
          </a:blip>
          <a:srcRect b="68363" l="0" r="58407" t="0"/>
          <a:stretch/>
        </p:blipFill>
        <p:spPr>
          <a:xfrm>
            <a:off x="681875" y="2207375"/>
            <a:ext cx="5202902" cy="8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2"/>
          <p:cNvSpPr txBox="1"/>
          <p:nvPr/>
        </p:nvSpPr>
        <p:spPr>
          <a:xfrm>
            <a:off x="3646400" y="2371650"/>
            <a:ext cx="4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Care este Factorul de Aproximare?</a:t>
            </a:r>
            <a:endParaRPr/>
          </a:p>
        </p:txBody>
      </p:sp>
      <p:sp>
        <p:nvSpPr>
          <p:cNvPr id="391" name="Google Shape;391;p33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2" name="Google Shape;3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3"/>
          <p:cNvSpPr txBox="1"/>
          <p:nvPr/>
        </p:nvSpPr>
        <p:spPr>
          <a:xfrm>
            <a:off x="518300" y="1958475"/>
            <a:ext cx="6241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1.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2.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Algoritmul descris anterior este un algoritm 2-Aproximativ.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Altfel spus, fie ALG = max(L</a:t>
            </a:r>
            <a:r>
              <a:rPr b="1" baseline="-2500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</a:t>
            </a:r>
            <a:r>
              <a:rPr b="1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∊{1,...,m}) masina “cea mai incarcata”. Avem de arătat că ALG≤2xOPT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Justificari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&lt;math xmlns=&quot;http://www.w3.org/1998/Math/MathML&quot;&gt;&lt;mi&gt;O&lt;/mi&gt;&lt;mi&gt;P&lt;/mi&gt;&lt;mi&gt;T&lt;/mi&gt;&lt;mo&gt;&amp;#x2265;&lt;/mo&gt;&lt;mi&gt;m&lt;/mi&gt;&lt;mi&gt;a&lt;/mi&gt;&lt;mi&gt;x&lt;/mi&gt;&lt;mfenced open=&quot;{&quot; close=&quot;}&quot;&gt;&lt;mrow&gt;&lt;mfrac&gt;&lt;mn&gt;1&lt;/mn&gt;&lt;mi&gt;m&lt;/mi&gt;&lt;/mfrac&gt;&lt;munder&gt;&lt;mo&gt;&amp;#x2211;&lt;/mo&gt;&lt;mrow&gt;&lt;mn&gt;1&lt;/mn&gt;&lt;mo&gt;&amp;#x2264;&lt;/mo&gt;&lt;mi&gt;j&lt;/mi&gt;&lt;mo&gt;&amp;#x2264;&lt;/mo&gt;&lt;mi&gt;n&lt;/mi&gt;&lt;/mrow&gt;&lt;/munder&gt;&lt;msub&gt;&lt;mi&gt;t&lt;/mi&gt;&lt;mi&gt;j&lt;/mi&gt;&lt;/msub&gt;&lt;mo&gt;,&lt;/mo&gt;&lt;mo&gt;&amp;#xA0;&lt;/mo&gt;&lt;mi&gt;m&lt;/mi&gt;&lt;mi&gt;a&lt;/mi&gt;&lt;mi&gt;x&lt;/mi&gt;&lt;mfenced open=&quot;{&quot; close=&quot;}&quot;&gt;&lt;mrow&gt;&lt;msub&gt;&lt;mi&gt;t&lt;/mi&gt;&lt;mi&gt;j&lt;/mi&gt;&lt;/msub&gt;&lt;mo&gt;|&lt;/mo&gt;&lt;mo&gt;&amp;#xA0;&lt;/mo&gt;&lt;mo&gt;&amp;#x2264;&lt;/mo&gt;&lt;mi&gt;j&lt;/mi&gt;&lt;mo&gt;&amp;#x2264;&lt;/mo&gt;&lt;mi&gt;n&lt;/mi&gt;&lt;/mrow&gt;&lt;/mfenced&gt;&lt;/mrow&gt;&lt;/mfenced&gt;&lt;mspace linebreak=&quot;newline&quot;/&gt;&lt;mi&gt;j&lt;/mi&gt;&lt;mi&gt;u&lt;/mi&gt;&lt;mi&gt;s&lt;/mi&gt;&lt;mi&gt;t&lt;/mi&gt;&lt;mi&gt;i&lt;/mi&gt;&lt;mi&gt;f&lt;/mi&gt;&lt;mi&gt;i&lt;/mi&gt;&lt;mi&gt;c&lt;/mi&gt;&lt;mi&gt;a&lt;/mi&gt;&lt;mi&gt;r&lt;/mi&gt;&lt;mi&gt;e&lt;/mi&gt;&lt;mo&gt;:&lt;/mo&gt;&lt;mspace linebreak=&quot;newline&quot;/&gt;&lt;mi&gt;P&lt;/mi&gt;&lt;mi&gt;r&lt;/mi&gt;&lt;mi&gt;i&lt;/mi&gt;&lt;mi&gt;m&lt;/mi&gt;&lt;mi&gt;u&lt;/mi&gt;&lt;mi&gt;l&lt;/mi&gt;&lt;mo&gt;&amp;#xA0;&lt;/mo&gt;&lt;mi&gt;t&lt;/mi&gt;&lt;mi&gt;e&lt;/mi&gt;&lt;mi&gt;r&lt;/mi&gt;&lt;mi&gt;m&lt;/mi&gt;&lt;mi&gt;e&lt;/mi&gt;&lt;mi&gt;n&lt;/mi&gt;&lt;mo&gt;&amp;#xA0;&lt;/mo&gt;&lt;mi&gt;r&lt;/mi&gt;&lt;mi&gt;e&lt;/mi&gt;&lt;mi&gt;p&lt;/mi&gt;&lt;mi&gt;r&lt;/mi&gt;&lt;mi&gt;e&lt;/mi&gt;&lt;mi&gt;z&lt;/mi&gt;&lt;mi&gt;i&lt;/mi&gt;&lt;mi&gt;n&lt;/mi&gt;&lt;mi&gt;t&lt;/mi&gt;&lt;mi&gt;a&lt;/mi&gt;&lt;mo&gt;&amp;#xA0;&lt;/mo&gt;&lt;mi&gt;i&lt;/mi&gt;&lt;mi&gt;n&lt;/mi&gt;&lt;mi&gt;c&lt;/mi&gt;&lt;mi&gt;a&lt;/mi&gt;&lt;mi&gt;r&lt;/mi&gt;&lt;mi&gt;c&lt;/mi&gt;&lt;mi&gt;a&lt;/mi&gt;&lt;mi&gt;t&lt;/mi&gt;&lt;mi&gt;u&lt;/mi&gt;&lt;mi&gt;r&lt;/mi&gt;&lt;mi&gt;a&lt;/mi&gt;&lt;mo&gt;&amp;#xA0;&lt;/mo&gt;&lt;mi&gt;m&lt;/mi&gt;&lt;mi&gt;e&lt;/mi&gt;&lt;mi&gt;d&lt;/mi&gt;&lt;mi&gt;i&lt;/mi&gt;&lt;mi&gt;e&lt;/mi&gt;&lt;mo&gt;&amp;#xA0;&lt;/mo&gt;&lt;mi&gt;p&lt;/mi&gt;&lt;mi&gt;t&lt;/mi&gt;&lt;mo&gt;&amp;#xA0;&lt;/mo&gt;&lt;mi&gt;o&lt;/mi&gt;&lt;mo&gt;&amp;#xA0;&lt;/mo&gt;&lt;mi&gt;m&lt;/mi&gt;&lt;mi&gt;a&lt;/mi&gt;&lt;mi&gt;sin&lt;/mi&gt;&lt;mi&gt;a&lt;/mi&gt;&lt;mo&gt;.&lt;/mo&gt;&lt;mo&gt;&amp;#xA0;&lt;/mo&gt;&lt;mi&gt;E&lt;/mi&gt;&lt;mi&gt;v&lt;/mi&gt;&lt;mi&gt;i&lt;/mi&gt;&lt;mi&gt;d&lt;/mi&gt;&lt;mi&gt;e&lt;/mi&gt;&lt;mi&gt;n&lt;/mi&gt;&lt;mi&gt;t&lt;/mi&gt;&lt;mo&gt;&amp;#xA0;&lt;/mo&gt;&lt;mi&gt;c&lt;/mi&gt;&lt;mi&gt;a&lt;/mi&gt;&lt;mo&gt;&amp;#xA0;&lt;/mo&gt;&lt;mi&gt;i&lt;/mi&gt;&lt;mi&gt;n&lt;/mi&gt;&lt;mo&gt;&amp;#xA0;&lt;/mo&gt;&lt;mi&gt;o&lt;/mi&gt;&lt;mi&gt;r&lt;/mi&gt;&lt;mi&gt;i&lt;/mi&gt;&lt;mi&gt;c&lt;/mi&gt;&lt;mi&gt;e&lt;/mi&gt;&lt;mo&gt;&amp;#xA0;&lt;/mo&gt;&lt;mi&gt;c&lt;/mi&gt;&lt;mi&gt;o&lt;/mi&gt;&lt;mi&gt;n&lt;/mi&gt;&lt;mi&gt;f&lt;/mi&gt;&lt;mi&gt;i&lt;/mi&gt;&lt;mi&gt;g&lt;/mi&gt;&lt;mi&gt;u&lt;/mi&gt;&lt;mi&gt;r&lt;/mi&gt;&lt;mi&gt;a&lt;/mi&gt;&lt;mi&gt;t&lt;/mi&gt;&lt;mi&gt;i&lt;/mi&gt;&lt;mi&gt;e&lt;/mi&gt;&lt;mo&gt;,&lt;/mo&gt;&lt;mo&gt;&amp;#xA0;&lt;/mo&gt;&lt;mi&gt;m&lt;/mi&gt;&lt;mi&gt;a&lt;/mi&gt;&lt;mi&gt;sin&lt;/mi&gt;&lt;mi&gt;a&lt;/mi&gt;&lt;mo&gt;&amp;#xA0;&lt;/mo&gt;&lt;mi&gt;c&lt;/mi&gt;&lt;mi&gt;u&lt;/mi&gt;&lt;mo&gt;&amp;#xA0;&lt;/mo&gt;&lt;mi&gt;i&lt;/mi&gt;&lt;mi&gt;n&lt;/mi&gt;&lt;mi&gt;c&lt;/mi&gt;&lt;mi&gt;a&lt;/mi&gt;&lt;mi&gt;r&lt;/mi&gt;&lt;mi&gt;c&lt;/mi&gt;&lt;mi&gt;a&lt;/mi&gt;&lt;mi&gt;t&lt;/mi&gt;&lt;mi&gt;u&lt;/mi&gt;&lt;mi&gt;r&lt;/mi&gt;&lt;mi&gt;a&lt;/mi&gt;&lt;mo&gt;&amp;#xA0;&lt;/mo&gt;&lt;mi&gt;m&lt;/mi&gt;&lt;mi&gt;a&lt;/mi&gt;&lt;mi&gt;x&lt;/mi&gt;&lt;mi&gt;i&lt;/mi&gt;&lt;mi&gt;m&lt;/mi&gt;&lt;mi&gt;a&lt;/mi&gt;&lt;mo&gt;&amp;#xA0;&lt;/mo&gt;&lt;mi&gt;v&lt;/mi&gt;&lt;mi&gt;a&lt;/mi&gt;&lt;mo&gt;&amp;#xA0;&lt;/mo&gt;&lt;mi&gt;l&lt;/mi&gt;&lt;mi&gt;u&lt;/mi&gt;&lt;mi&gt;c&lt;/mi&gt;&lt;mi&gt;r&lt;/mi&gt;&lt;mi&gt;a&lt;/mi&gt;&lt;mo&gt;&amp;#xA0;&lt;/mo&gt;&lt;mspace linebreak=&quot;newline&quot;/&gt;&lt;mi&gt;c&lt;/mi&gt;&lt;mi&gt;e&lt;/mi&gt;&lt;mi&gt;l&lt;/mi&gt;&lt;mo&gt;&amp;#xA0;&lt;/mo&gt;&lt;mi&gt;p&lt;/mi&gt;&lt;mi&gt;u&lt;/mi&gt;&lt;mi&gt;t&lt;/mi&gt;&lt;mi&gt;i&lt;/mi&gt;&lt;mi&gt;n&lt;/mi&gt;&lt;mo&gt;&amp;#xA0;&lt;/mo&gt;&lt;mi&gt;l&lt;/mi&gt;&lt;mi&gt;a&lt;/mi&gt;&lt;mo&gt;&amp;#xA0;&lt;/mo&gt;&lt;mi&gt;f&lt;/mi&gt;&lt;mi&gt;e&lt;/mi&gt;&lt;mi&gt;l&lt;/mi&gt;&lt;mo&gt;&amp;#xA0;&lt;/mo&gt;&lt;mi&gt;d&lt;/mi&gt;&lt;mi&gt;e&lt;/mi&gt;&lt;mo&gt;&amp;#xA0;&lt;/mo&gt;&lt;mi&gt;m&lt;/mi&gt;&lt;mi&gt;u&lt;/mi&gt;&lt;mi&gt;l&lt;/mi&gt;&lt;mi&gt;t&lt;/mi&gt;&lt;mo&gt;&amp;#xA0;&lt;/mo&gt;&lt;mi&gt;c&lt;/mi&gt;&lt;mi&gt;a&lt;/mi&gt;&lt;mo&gt;&amp;#xA0;&lt;/mo&gt;&lt;mi&gt;m&lt;/mi&gt;&lt;mi&gt;e&lt;/mi&gt;&lt;mi&gt;d&lt;/mi&gt;&lt;mi&gt;i&lt;/mi&gt;&lt;mi&gt;a&lt;/mi&gt;&lt;mo&gt;&amp;#xA0;&lt;/mo&gt;&lt;mi&gt;t&lt;/mi&gt;&lt;mi&gt;u&lt;/mi&gt;&lt;mi&gt;t&lt;/mi&gt;&lt;mi&gt;u&lt;/mi&gt;&lt;mi&gt;r&lt;/mi&gt;&lt;mi&gt;o&lt;/mi&gt;&lt;mi&gt;r&lt;/mi&gt;&lt;mo&gt;&amp;#xA0;&lt;/mo&gt;&lt;mi&gt;m&lt;/mi&gt;&lt;mi&gt;a&lt;/mi&gt;&lt;mi&gt;sin&lt;/mi&gt;&lt;mi&gt;i&lt;/mi&gt;&lt;mi&gt;l&lt;/mi&gt;&lt;mi&gt;o&lt;/mi&gt;&lt;mi&gt;r&lt;/mi&gt;&lt;mspace linebreak=&quot;newline&quot;/&gt;&lt;mspace linebreak=&quot;newline&quot;/&gt;&lt;mi&gt;A&lt;/mi&gt;&lt;mi&gt;l&lt;/mi&gt;&lt;mo&gt;&amp;#xA0;&lt;/mo&gt;&lt;mi&gt;d&lt;/mi&gt;&lt;mi&gt;o&lt;/mi&gt;&lt;mi&gt;i&lt;/mi&gt;&lt;mi&gt;l&lt;/mi&gt;&lt;mi&gt;e&lt;/mi&gt;&lt;mi&gt;a&lt;/mi&gt;&lt;mo&gt;&amp;#xA0;&lt;/mo&gt;&lt;mi&gt;t&lt;/mi&gt;&lt;mi&gt;e&lt;/mi&gt;&lt;mi&gt;r&lt;/mi&gt;&lt;mi&gt;m&lt;/mi&gt;&lt;mi&gt;e&lt;/mi&gt;&lt;mi&gt;n&lt;/mi&gt;&lt;mo&gt;&amp;#xA0;&lt;/mo&gt;&lt;mi&gt;r&lt;/mi&gt;&lt;mi&gt;e&lt;/mi&gt;&lt;mi&gt;p&lt;/mi&gt;&lt;mi&gt;r&lt;/mi&gt;&lt;mi&gt;e&lt;/mi&gt;&lt;mi&gt;z&lt;/mi&gt;&lt;mi&gt;i&lt;/mi&gt;&lt;mi&gt;n&lt;/mi&gt;&lt;mi&gt;t&lt;/mi&gt;&lt;mi&gt;a&lt;/mi&gt;&lt;mo&gt;&amp;#xA0;&lt;/mo&gt;&lt;mi&gt;j&lt;/mi&gt;&lt;mi&gt;o&lt;/mi&gt;&lt;mi&gt;b&lt;/mi&gt;&lt;mo&gt;-&lt;/mo&gt;&lt;mi&gt;u&lt;/mi&gt;&lt;mi&gt;l&lt;/mi&gt;&lt;mo&gt;&amp;#xA0;&lt;/mo&gt;&lt;mi&gt;c&lt;/mi&gt;&lt;mi&gt;e&lt;/mi&gt;&lt;mi&gt;l&lt;/mi&gt;&lt;mo&gt;&amp;#xA0;&lt;/mo&gt;&lt;mi&gt;m&lt;/mi&gt;&lt;mi&gt;a&lt;/mi&gt;&lt;mi&gt;i&lt;/mi&gt;&lt;mo&gt;&amp;#xA0;&lt;/mo&gt;&lt;mi&gt;cos&lt;/mi&gt;&lt;mi&gt;t&lt;/mi&gt;&lt;mi&gt;i&lt;/mi&gt;&lt;mi&gt;s&lt;/mi&gt;&lt;mi&gt;i&lt;/mi&gt;&lt;mi&gt;t&lt;/mi&gt;&lt;mi&gt;o&lt;/mi&gt;&lt;mi&gt;r&lt;/mi&gt;&lt;mo&gt;.&lt;/mo&gt;&lt;mo&gt;&amp;#xA0;&lt;/mo&gt;&lt;mi&gt;A&lt;/mi&gt;&lt;mi&gt;c&lt;/mi&gt;&lt;mi&gt;e&lt;/mi&gt;&lt;mi&gt;a&lt;/mi&gt;&lt;mi&gt;s&lt;/mi&gt;&lt;mi&gt;t&lt;/mi&gt;&lt;mi&gt;a&lt;/mi&gt;&lt;mo&gt;&amp;#xA0;&lt;/mo&gt;&lt;mi&gt;n&lt;/mi&gt;&lt;mi&gt;u&lt;/mi&gt;&lt;mo&gt;&amp;#xA0;&lt;/mo&gt;&lt;mi&gt;p&lt;/mi&gt;&lt;mi&gt;o&lt;/mi&gt;&lt;mi&gt;a&lt;/mi&gt;&lt;mi&gt;t&lt;/mi&gt;&lt;mi&gt;e&lt;/mi&gt;&lt;mo&gt;&amp;#xA0;&lt;/mo&gt;&lt;mi&gt;f&lt;/mi&gt;&lt;mi&gt;i&lt;/mi&gt;&lt;mo&gt;&amp;#xA0;&lt;/mo&gt;&lt;mi&gt;i&lt;/mi&gt;&lt;mi&gt;m&lt;/mi&gt;&lt;mi&gt;p&lt;/mi&gt;&lt;mi&gt;a&lt;/mi&gt;&lt;mi&gt;r&lt;/mi&gt;&lt;mi&gt;t&lt;/mi&gt;&lt;mi&gt;i&lt;/mi&gt;&lt;mi&gt;t&lt;/mi&gt;&lt;mi&gt;a&lt;/mi&gt;&lt;mo&gt;&amp;#xA0;&lt;/mo&gt;&lt;mi&gt;p&lt;/mi&gt;&lt;mi&gt;e&lt;/mi&gt;&lt;mo&gt;&amp;#xA0;&lt;/mo&gt;&lt;mi&gt;m&lt;/mi&gt;&lt;mi&gt;a&lt;/mi&gt;&lt;mi&gt;i&lt;/mi&gt;&lt;mo&gt;&amp;#xA0;&lt;/mo&gt;&lt;mi&gt;m&lt;/mi&gt;&lt;mi&gt;u&lt;/mi&gt;&lt;mi&gt;l&lt;/mi&gt;&lt;mi&gt;t&lt;/mi&gt;&lt;mi&gt;e&lt;/mi&gt;&lt;mo&gt;&amp;#xA0;&lt;/mo&gt;&lt;mi&gt;m&lt;/mi&gt;&lt;mi&gt;a&lt;/mi&gt;&lt;mi&gt;sin&lt;/mi&gt;&lt;mi&gt;i&lt;/mi&gt;&lt;mo&gt;.&lt;/mo&gt;&lt;/math&gt;" id="394" name="Google Shape;394;p33" title="O P T greater or equal than m a x open curly brackets 1 over m sum for 1 less or equal than j less or equal than n of t subscript j comma space m a x open curly brackets t subscript j vertical line space less or equal than j less or equal than n close curly brackets close curly brackets&#10;j u s t i f i c a r e colon&#10;P r i m u l space t e r m e n space r e p r e z i n t a space i n c a r c a t u r a space m e d i e space p t space o space m a sin a. space E v i d e n t space c a space i n space o r i c e space c o n f i g u r a t i e comma space m a sin a space c u space i n c a r c a t u r a space m a x i m a space v a space l u c r a space&#10;c e l space p u t i n space l a space f e l space d e space m u l t space c a space m e d i a space t u t u r o r space m a sin i l o r&#10;&#10;A l space d o i l e a space t e r m e n space r e p r e z i n t a space j o b minus u l space c e l space m a i space cos t i s i t o r. space A c e a s t a space n u space p o a t e space f i space i m p a r t i t a space p e space m a i space m u l t e space m a sin i."/>
          <p:cNvPicPr preferRelativeResize="0"/>
          <p:nvPr/>
        </p:nvPicPr>
        <p:blipFill rotWithShape="1">
          <a:blip r:embed="rId5">
            <a:alphaModFix/>
          </a:blip>
          <a:srcRect b="68363" l="0" r="58407" t="0"/>
          <a:stretch/>
        </p:blipFill>
        <p:spPr>
          <a:xfrm>
            <a:off x="681875" y="2207375"/>
            <a:ext cx="5202902" cy="8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3646400" y="2371650"/>
            <a:ext cx="4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 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Care este Factorul de Aproximare?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2" name="Google Shape;4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4"/>
          <p:cNvSpPr txBox="1"/>
          <p:nvPr/>
        </p:nvSpPr>
        <p:spPr>
          <a:xfrm>
            <a:off x="518300" y="1958475"/>
            <a:ext cx="6241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Lema 2.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Algoritmul descris anterior este un algoritm 2-Aproximativ.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Altfel spus, fie ALG = max(L</a:t>
            </a:r>
            <a:r>
              <a:rPr b="1" baseline="-25000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| </a:t>
            </a:r>
            <a:r>
              <a:rPr b="1" i="1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∊{1,...,m}) masina “cea mai incarcata”. Avem de arătat că ALG≤2xOPT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Justificari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Este ”tight bound”? Ce ar mai putea fi de facut?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0" name="Google Shape;4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 txBox="1"/>
          <p:nvPr/>
        </p:nvSpPr>
        <p:spPr>
          <a:xfrm>
            <a:off x="518300" y="1958475"/>
            <a:ext cx="644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o analiză mai buna asupra lower-bound-ului folosit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gasirea unui alt lower bound folosind alte inegalități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 cu totul alt Algoritm care poate da un total alt LB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18" name="Google Shape;41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6"/>
          <p:cNvSpPr txBox="1"/>
          <p:nvPr/>
        </p:nvSpPr>
        <p:spPr>
          <a:xfrm>
            <a:off x="518300" y="1958475"/>
            <a:ext cx="644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Acelasi Algoritm, o analiză mai buna asupra lower-bound-ului folosit</a:t>
            </a:r>
            <a:endParaRPr b="1" i="0" sz="20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gasirea unui alt lower bound folosind alte inegalități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 cu totul alt Algoritm care poate da un total alt LB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6" name="Google Shape;42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7"/>
          <p:cNvSpPr txBox="1"/>
          <p:nvPr/>
        </p:nvSpPr>
        <p:spPr>
          <a:xfrm>
            <a:off x="518300" y="1958475"/>
            <a:ext cx="6445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Acelasi Algoritm, o analiză mai buna asupra lower-bound-ului folosit</a:t>
            </a:r>
            <a:endParaRPr b="1" i="0" sz="2000" u="none" cap="none" strike="noStrike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Teorema: Algoritmul Greedy descris anterior este un algoritm 2-1/m aproximativ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o" sz="14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Justificari 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4" name="Google Shape;4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8"/>
          <p:cNvSpPr txBox="1"/>
          <p:nvPr/>
        </p:nvSpPr>
        <p:spPr>
          <a:xfrm>
            <a:off x="518300" y="1958475"/>
            <a:ext cx="644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o analiză mai buna asupra lower-bound-ului folosit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Acelasi Algoritm, gasirea unui alt lower bound folosind alte inegalități</a:t>
            </a:r>
            <a:endParaRPr b="1" i="0" sz="20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 cu totul alt Algoritm care poate da un total alt LB</a:t>
            </a:r>
            <a:r>
              <a:rPr b="1" i="0" lang="ro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41" name="Google Shape;441;p39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42" name="Google Shape;44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9"/>
          <p:cNvSpPr txBox="1"/>
          <p:nvPr/>
        </p:nvSpPr>
        <p:spPr>
          <a:xfrm>
            <a:off x="518300" y="1958475"/>
            <a:ext cx="64452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Acelasi Algoritm, gasirea unui alt lower bound folosind alte inegalități</a:t>
            </a:r>
            <a:endParaRPr b="1" i="0" sz="20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 se poate!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mașini, m(m-1) activitati de cost 1 si o activitate de cost </a:t>
            </a:r>
            <a:r>
              <a:rPr b="1" i="1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0" name="Google Shape;4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/>
        </p:nvSpPr>
        <p:spPr>
          <a:xfrm>
            <a:off x="518300" y="1958475"/>
            <a:ext cx="6445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abordari: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o analiză mai buna asupra lower-bound-ului folosit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Acelasi Algoritm, gasirea unui alt lower bound folosind alte inegalități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Lato"/>
              <a:buAutoNum type="alphaLcParenR"/>
            </a:pPr>
            <a:r>
              <a:rPr b="1" i="0" lang="ro" sz="20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Un cu totul alt Algoritm care poate da un total alt LB</a:t>
            </a:r>
            <a:r>
              <a:rPr b="1" i="0" lang="ro" sz="14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i="0" sz="14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Se poate imbunatății LB-ul?</a:t>
            </a:r>
            <a:endParaRPr/>
          </a:p>
        </p:txBody>
      </p:sp>
      <p:sp>
        <p:nvSpPr>
          <p:cNvPr id="457" name="Google Shape;457;p41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58" name="Google Shape;4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725" y="464900"/>
            <a:ext cx="1829182" cy="1829182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1"/>
          <p:cNvSpPr txBox="1"/>
          <p:nvPr/>
        </p:nvSpPr>
        <p:spPr>
          <a:xfrm>
            <a:off x="518300" y="1958475"/>
            <a:ext cx="6445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Un cu totul alt Algoritm care poate da un total alt LB</a:t>
            </a:r>
            <a:r>
              <a:rPr b="1" i="0" lang="ro" sz="14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b="1" i="0" sz="14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Ordered-Scheduling Algorithm</a:t>
            </a:r>
            <a:endParaRPr/>
          </a:p>
        </p:txBody>
      </p:sp>
      <p:sp>
        <p:nvSpPr>
          <p:cNvPr id="465" name="Google Shape;465;p42"/>
          <p:cNvSpPr txBox="1"/>
          <p:nvPr/>
        </p:nvSpPr>
        <p:spPr>
          <a:xfrm>
            <a:off x="7022725" y="2497325"/>
            <a:ext cx="442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6" name="Google Shape;466;p42"/>
          <p:cNvSpPr txBox="1"/>
          <p:nvPr/>
        </p:nvSpPr>
        <p:spPr>
          <a:xfrm>
            <a:off x="594500" y="1958475"/>
            <a:ext cx="6445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Fie algoritmul precedent la care adaugam următoarea preprocesare: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o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Înainte de a fi programate, activitățile sunt sortate descrescător după timpul de lucru. </a:t>
            </a:r>
            <a:endParaRPr b="1" i="0" sz="20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7" name="Google Shape;4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454" y="510673"/>
            <a:ext cx="2386391" cy="1411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Ordered-Scheduling Algorithm</a:t>
            </a:r>
            <a:endParaRPr/>
          </a:p>
        </p:txBody>
      </p:sp>
      <p:sp>
        <p:nvSpPr>
          <p:cNvPr id="473" name="Google Shape;473;p43"/>
          <p:cNvSpPr txBox="1"/>
          <p:nvPr>
            <p:ph idx="1" type="body"/>
          </p:nvPr>
        </p:nvSpPr>
        <p:spPr>
          <a:xfrm>
            <a:off x="474775" y="2078875"/>
            <a:ext cx="79434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ro"/>
              <a:t>Lema 3.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ro"/>
              <a:t>TEOREMA 2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/>
              <a:t>  Algoritmul descris anterior (Ordered-Scheduling Algorithm) este un algoritm 3/2-aproximativ</a:t>
            </a:r>
            <a:br>
              <a:rPr lang="ro"/>
            </a:br>
            <a:br>
              <a:rPr lang="ro"/>
            </a:br>
            <a:r>
              <a:rPr b="1" lang="ro" sz="1400" u="sng">
                <a:solidFill>
                  <a:schemeClr val="hlink"/>
                </a:solidFill>
                <a:hlinkClick r:id="rId3"/>
              </a:rPr>
              <a:t>Justificări</a:t>
            </a:r>
            <a:endParaRPr/>
          </a:p>
        </p:txBody>
      </p:sp>
      <p:pic>
        <p:nvPicPr>
          <p:cNvPr id="474" name="Google Shape;47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4670" y="505575"/>
            <a:ext cx="1826397" cy="141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&gt;&lt;mtext&gt;Fie&amp;#xA0;o&amp;#xA0;multime&amp;#xA0;de&amp;#xA0;&lt;/mtext&gt;&lt;mi&gt;n&lt;/mi&gt;&lt;mtext&gt;&amp;#xA0;activitati&amp;#xA0;cu&amp;#xA0;timpul&amp;#xA0;de&amp;#xA0;procesare&lt;/mtext&gt;&lt;mo&gt;&amp;#xA0;&lt;/mo&gt;&lt;msub&gt;&lt;mi&gt;t&lt;/mi&gt;&lt;mi&gt;1&lt;/mi&gt;&lt;/msub&gt;&lt;mi&gt;,&lt;/mi&gt;&lt;mo&gt;&amp;#xA0;&lt;/mo&gt;&lt;msub&gt;&lt;mi&gt;t&lt;/mi&gt;&lt;mi&gt;2&lt;/mi&gt;&lt;/msub&gt;&lt;mo&gt;,&lt;/mo&gt;&lt;mo&gt;...,&amp;#xA0;&lt;/mo&gt;&lt;mo&gt;&amp;#xA0;&lt;/mo&gt;&lt;msub&gt;&lt;mi&gt;t&lt;/mi&gt;&lt;mi&gt;n&lt;/mi&gt;&lt;/msub&gt;&lt;mo&gt;&amp;#xA0;&lt;/mo&gt;&lt;mtext&gt;astfel&amp;#xA0;incat&amp;#xA0;&lt;/mtext&gt;&lt;msub&gt;&lt;mi&gt;t&lt;/mi&gt;&lt;mn&gt;1&lt;/mn&gt;&lt;/msub&gt;&lt;mo&gt;&amp;#x2265;&lt;/mo&gt;&lt;msub&gt;&lt;mi&gt;t&lt;/mi&gt;&lt;mn&gt;2&lt;/mn&gt;&lt;/msub&gt;&lt;mo&gt;&amp;#x2265;&lt;/mo&gt;&lt;mo&gt;.&lt;/mo&gt;&lt;mo&gt;.&lt;/mo&gt;&lt;mo&gt;.&lt;/mo&gt;&lt;msub&gt;&lt;mi&gt;t&lt;/mi&gt;&lt;mi&gt;n&lt;/mi&gt;&lt;/msub&gt;&lt;mspace linebreak=&quot;newline&quot;/&gt;&lt;mi&gt;D&lt;/mi&gt;&lt;mi&gt;a&lt;/mi&gt;&lt;mi&gt;c&lt;/mi&gt;&lt;mi&gt;a&lt;/mi&gt;&lt;mo&gt;&amp;#xA0;&lt;/mo&gt;&lt;mi&gt;n&lt;/mi&gt;&lt;mo&gt;&amp;gt;&lt;/mo&gt;&lt;mi&gt;m&lt;/mi&gt;&lt;mo&gt;,&lt;/mo&gt;&lt;mo&gt;&amp;#xA0;&lt;/mo&gt;&lt;mi&gt;a&lt;/mi&gt;&lt;mi&gt;t&lt;/mi&gt;&lt;mi&gt;u&lt;/mi&gt;&lt;mi&gt;n&lt;/mi&gt;&lt;mi&gt;c&lt;/mi&gt;&lt;mi&gt;i&lt;/mi&gt;&lt;mo&gt;&amp;#xA0;&lt;/mo&gt;&lt;mi mathvariant=&quot;bold-italic&quot;&gt;O&lt;/mi&gt;&lt;mi mathvariant=&quot;bold-italic&quot;&gt;P&lt;/mi&gt;&lt;mi mathvariant=&quot;bold-italic&quot;&gt;T&lt;/mi&gt;&lt;mo mathvariant=&quot;bold&quot;&gt;&amp;#x2265;&lt;/mo&gt;&lt;msub&gt;&lt;mi mathvariant=&quot;bold-italic&quot;&gt;t&lt;/mi&gt;&lt;mi mathvariant=&quot;bold&quot;&gt;m&lt;/mi&gt;&lt;/msub&gt;&lt;mo mathvariant=&quot;bold&quot;&gt;+&lt;/mo&gt;&lt;msub&gt;&lt;mi mathvariant=&quot;bold-italic&quot;&gt;t&lt;/mi&gt;&lt;mrow&gt;&lt;mi mathvariant=&quot;bold&quot;&gt;m&lt;/mi&gt;&lt;mo mathvariant=&quot;bold&quot;&gt;+&lt;/mo&gt;&lt;mn mathvariant=&quot;bold&quot;&gt;1&lt;/mn&gt;&lt;/mrow&gt;&lt;/msub&gt;&lt;/math&gt;" id="475" name="Google Shape;475;p43" title="text Fie o multime de  end text n text  activitati cu timpul de procesare end text space t subscript 1 comma space t subscript 2 comma ...,  space t subscript n space text astfel incat  end text t subscript 1 greater or equal than t subscript 2 greater or equal than... t subscript n&#10;D a c a space n greater than m comma space a t u n c i space bold italic O bold italic P bold italic T bold greater or equal than bold italic t subscript bold m bold plus bold italic t subscript bold m bold plus bold 1 end subscript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650" y="2423375"/>
            <a:ext cx="6919830" cy="59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o"/>
              <a:t>Next time:</a:t>
            </a:r>
            <a:endParaRPr/>
          </a:p>
        </p:txBody>
      </p:sp>
      <p:sp>
        <p:nvSpPr>
          <p:cNvPr id="481" name="Google Shape;481;p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o"/>
              <a:t>Saptamana 3: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o"/>
              <a:t>Curs 3: TSP &amp;  Christofides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o"/>
              <a:t>Vom discuta a doua parte din Tema 1</a:t>
            </a:r>
            <a:br>
              <a:rPr lang="ro"/>
            </a:br>
            <a:endParaRPr/>
          </a:p>
        </p:txBody>
      </p:sp>
      <p:pic>
        <p:nvPicPr>
          <p:cNvPr id="482" name="Google Shape;48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4500" y="-177350"/>
            <a:ext cx="4629152" cy="4629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