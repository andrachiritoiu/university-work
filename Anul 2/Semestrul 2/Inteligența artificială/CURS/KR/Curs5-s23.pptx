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71" r:id="rId5"/>
    <p:sldMasterId id="2147483682" r:id="rId6"/>
    <p:sldMasterId id="2147483693" r:id="rId7"/>
    <p:sldMasterId id="2147483704" r:id="rId8"/>
  </p:sldMasterIdLst>
  <p:notesMasterIdLst>
    <p:notesMasterId r:id="rId74"/>
  </p:notesMasterIdLst>
  <p:sldIdLst>
    <p:sldId id="852" r:id="rId9"/>
    <p:sldId id="2112" r:id="rId10"/>
    <p:sldId id="1997" r:id="rId11"/>
    <p:sldId id="459" r:id="rId12"/>
    <p:sldId id="491" r:id="rId13"/>
    <p:sldId id="562" r:id="rId14"/>
    <p:sldId id="460" r:id="rId15"/>
    <p:sldId id="1991" r:id="rId16"/>
    <p:sldId id="1816" r:id="rId17"/>
    <p:sldId id="1992" r:id="rId18"/>
    <p:sldId id="1993" r:id="rId19"/>
    <p:sldId id="1994" r:id="rId20"/>
    <p:sldId id="1995" r:id="rId21"/>
    <p:sldId id="2108" r:id="rId22"/>
    <p:sldId id="2109" r:id="rId23"/>
    <p:sldId id="2110" r:id="rId24"/>
    <p:sldId id="2113" r:id="rId25"/>
    <p:sldId id="2101" r:id="rId26"/>
    <p:sldId id="1823" r:id="rId27"/>
    <p:sldId id="1506" r:id="rId28"/>
    <p:sldId id="2114" r:id="rId29"/>
    <p:sldId id="1510" r:id="rId30"/>
    <p:sldId id="1605" r:id="rId31"/>
    <p:sldId id="1864" r:id="rId32"/>
    <p:sldId id="1883" r:id="rId33"/>
    <p:sldId id="1828" r:id="rId34"/>
    <p:sldId id="1884" r:id="rId35"/>
    <p:sldId id="1952" r:id="rId36"/>
    <p:sldId id="1830" r:id="rId37"/>
    <p:sldId id="1886" r:id="rId38"/>
    <p:sldId id="1831" r:id="rId39"/>
    <p:sldId id="1832" r:id="rId40"/>
    <p:sldId id="1833" r:id="rId41"/>
    <p:sldId id="1834" r:id="rId42"/>
    <p:sldId id="1947" r:id="rId43"/>
    <p:sldId id="1945" r:id="rId44"/>
    <p:sldId id="1836" r:id="rId45"/>
    <p:sldId id="1906" r:id="rId46"/>
    <p:sldId id="1907" r:id="rId47"/>
    <p:sldId id="2115" r:id="rId48"/>
    <p:sldId id="1910" r:id="rId49"/>
    <p:sldId id="2100" r:id="rId50"/>
    <p:sldId id="2102" r:id="rId51"/>
    <p:sldId id="1911" r:id="rId52"/>
    <p:sldId id="1912" r:id="rId53"/>
    <p:sldId id="1913" r:id="rId54"/>
    <p:sldId id="1914" r:id="rId55"/>
    <p:sldId id="1915" r:id="rId56"/>
    <p:sldId id="1916" r:id="rId57"/>
    <p:sldId id="2103" r:id="rId58"/>
    <p:sldId id="2111" r:id="rId59"/>
    <p:sldId id="1917" r:id="rId60"/>
    <p:sldId id="1918" r:id="rId61"/>
    <p:sldId id="2098" r:id="rId62"/>
    <p:sldId id="1919" r:id="rId63"/>
    <p:sldId id="1920" r:id="rId64"/>
    <p:sldId id="1921" r:id="rId65"/>
    <p:sldId id="1922" r:id="rId66"/>
    <p:sldId id="1924" r:id="rId67"/>
    <p:sldId id="1925" r:id="rId68"/>
    <p:sldId id="1926" r:id="rId69"/>
    <p:sldId id="1927" r:id="rId70"/>
    <p:sldId id="2105" r:id="rId71"/>
    <p:sldId id="1953" r:id="rId72"/>
    <p:sldId id="2095" r:id="rId7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3D8900"/>
    <a:srgbClr val="39FF45"/>
    <a:srgbClr val="290ADD"/>
    <a:srgbClr val="20A21F"/>
    <a:srgbClr val="FF00FF"/>
    <a:srgbClr val="FED51E"/>
    <a:srgbClr val="00FF00"/>
    <a:srgbClr val="E46C0A"/>
    <a:srgbClr val="2BEDFF"/>
    <a:srgbClr val="2FC3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0"/>
    <p:restoredTop sz="94694"/>
  </p:normalViewPr>
  <p:slideViewPr>
    <p:cSldViewPr snapToGrid="0">
      <p:cViewPr varScale="1">
        <p:scale>
          <a:sx n="121" d="100"/>
          <a:sy n="121" d="100"/>
        </p:scale>
        <p:origin x="89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66" Type="http://schemas.openxmlformats.org/officeDocument/2006/relationships/slide" Target="slides/slide58.xml"/><Relationship Id="rId7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3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807AF-595C-6344-81ED-D7AAD024752E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18F1C-4373-664D-95DC-963B89AD7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8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D6E9C-CB34-4FFF-84FA-317E47FBFF9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E49D97-3088-46C0-A5CF-C692DC2682E9}" type="slidenum">
              <a:rPr lang="en-US" smtClean="0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48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18F1C-4373-664D-95DC-963B89AD74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01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18F1C-4373-664D-95DC-963B89AD74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771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18F1C-4373-664D-95DC-963B89AD74D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71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18F1C-4373-664D-95DC-963B89AD74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10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3D54-A66D-6836-DB05-69C9B627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663DF-E98C-3E53-C9A9-470F5CD34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FEE78-1684-B5DD-5B13-14C01F4EE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69916-0E34-9C24-17ED-FAC525704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18F1C-4373-664D-95DC-963B89AD74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72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75E66-EC1A-4A66-1A98-59B79F1C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12600-B661-5A58-A5C8-574F8FD94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13E0C-DB67-5A4E-9847-3169F0D98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CE287-1291-E688-5B7C-A8727765D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18F1C-4373-664D-95DC-963B89AD74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45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042F3-6AC5-4F69-BFDB-D78DEF38750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12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31169-8967-4479-BD8E-A9DFFFA5AB03}" type="slidenum">
              <a:rPr lang="en-US" smtClean="0">
                <a:latin typeface="Arial" charset="0"/>
              </a:rPr>
              <a:pPr/>
              <a:t>26</a:t>
            </a:fld>
            <a:endParaRPr lang="en-US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31169-8967-4479-BD8E-A9DFFFA5AB03}" type="slidenum">
              <a:rPr lang="en-US" smtClean="0">
                <a:latin typeface="Arial" charset="0"/>
              </a:rPr>
              <a:pPr/>
              <a:t>27</a:t>
            </a:fld>
            <a:endParaRPr lang="en-US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31169-8967-4479-BD8E-A9DFFFA5AB03}" type="slidenum">
              <a:rPr lang="en-US" smtClean="0">
                <a:latin typeface="Arial" charset="0"/>
              </a:rPr>
              <a:pPr/>
              <a:t>28</a:t>
            </a:fld>
            <a:endParaRPr lang="en-US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31169-8967-4479-BD8E-A9DFFFA5AB03}" type="slidenum">
              <a:rPr lang="en-US" smtClean="0">
                <a:latin typeface="Arial" charset="0"/>
              </a:rPr>
              <a:pPr/>
              <a:t>30</a:t>
            </a:fld>
            <a:endParaRPr lang="en-US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F027FC-5BC0-42F1-89EB-2B8A298EE3B3}" type="slidenum">
              <a:rPr lang="en-US" smtClean="0">
                <a:latin typeface="Arial" charset="0"/>
              </a:rPr>
              <a:pPr/>
              <a:t>37</a:t>
            </a:fld>
            <a:endParaRPr lang="en-US">
              <a:latin typeface="Arial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D6C518-FBD1-4593-88F8-1133D0309234}" type="slidenum">
              <a:rPr lang="en-US" smtClean="0">
                <a:latin typeface="Arial" charset="0"/>
              </a:rPr>
              <a:pPr/>
              <a:t>38</a:t>
            </a:fld>
            <a:endParaRPr lang="en-US">
              <a:latin typeface="Arial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31169-8967-4479-BD8E-A9DFFFA5AB03}" type="slidenum">
              <a:rPr lang="en-US" smtClean="0">
                <a:latin typeface="Arial" charset="0"/>
              </a:rPr>
              <a:pPr/>
              <a:t>39</a:t>
            </a:fld>
            <a:endParaRPr lang="en-US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BD842-E303-8050-E628-5DB7CEB89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EE090B1E-1D0C-22CA-43AE-98D66CD217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31169-8967-4479-BD8E-A9DFFFA5AB03}" type="slidenum">
              <a:rPr lang="en-US" smtClean="0">
                <a:latin typeface="Arial" charset="0"/>
              </a:rPr>
              <a:pPr/>
              <a:t>40</a:t>
            </a:fld>
            <a:endParaRPr lang="en-US">
              <a:latin typeface="Arial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3E6D326F-48C7-F8D6-DB0E-3DAE62EA9A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62C127B-6FBD-65DC-BCB6-7CFD0871D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9934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Pick an order for two reasons: sequential processor and pruning</a:t>
            </a:r>
            <a:endParaRPr lang="en-US" dirty="0">
              <a:latin typeface="Arial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41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804CB-CD35-8A05-1756-A236ED60C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060D029B-E16B-288C-0947-6897904EFE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5CD45A9A-134D-4855-85FE-C2DA09A39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Pick an order for two reasons: sequential processor and pruning</a:t>
            </a:r>
            <a:endParaRPr lang="en-US" dirty="0">
              <a:latin typeface="Arial" charset="0"/>
            </a:endParaRPr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D270A93C-D0EE-39AE-6F64-D3C1D9F3D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42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6099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8ADE4E-6B6A-43C5-A4E7-3C3886E87B4F}" type="slidenum">
              <a:rPr lang="en-US" smtClean="0">
                <a:latin typeface="Arial" charset="0"/>
              </a:rPr>
              <a:pPr/>
              <a:t>44</a:t>
            </a:fld>
            <a:endParaRPr lang="en-US">
              <a:latin typeface="Arial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8ADE4E-6B6A-43C5-A4E7-3C3886E87B4F}" type="slidenum">
              <a:rPr lang="en-US" smtClean="0">
                <a:latin typeface="Arial" charset="0"/>
              </a:rPr>
              <a:pPr/>
              <a:t>45</a:t>
            </a:fld>
            <a:endParaRPr lang="en-US">
              <a:latin typeface="Arial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8ADE4E-6B6A-43C5-A4E7-3C3886E87B4F}" type="slidenum">
              <a:rPr lang="en-US" smtClean="0">
                <a:latin typeface="Arial" charset="0"/>
              </a:rPr>
              <a:pPr/>
              <a:t>46</a:t>
            </a:fld>
            <a:endParaRPr lang="en-US">
              <a:latin typeface="Arial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31169-8967-4479-BD8E-A9DFFFA5AB03}" type="slidenum">
              <a:rPr lang="en-US" smtClean="0">
                <a:latin typeface="Arial" charset="0"/>
              </a:rPr>
              <a:pPr/>
              <a:t>48</a:t>
            </a:fld>
            <a:endParaRPr lang="en-US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8ADE4E-6B6A-43C5-A4E7-3C3886E87B4F}" type="slidenum">
              <a:rPr lang="en-US" smtClean="0">
                <a:latin typeface="Arial" charset="0"/>
              </a:rPr>
              <a:pPr/>
              <a:t>60</a:t>
            </a:fld>
            <a:endParaRPr lang="en-US">
              <a:latin typeface="Arial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61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62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D6F6B2-B4A7-4DD8-9C8A-489B85C4F060}" type="slidenum">
              <a:rPr lang="en-US" smtClean="0">
                <a:latin typeface="Arial" charset="0"/>
              </a:rPr>
              <a:pPr/>
              <a:t>64</a:t>
            </a:fld>
            <a:endParaRPr lang="en-US">
              <a:latin typeface="Arial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79BA-1200-337D-9DAA-84B47108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30817C75-48EB-4285-371B-B07E29B0E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D6F6B2-B4A7-4DD8-9C8A-489B85C4F060}" type="slidenum">
              <a:rPr lang="en-US" smtClean="0">
                <a:latin typeface="Arial" charset="0"/>
              </a:rPr>
              <a:pPr/>
              <a:t>65</a:t>
            </a:fld>
            <a:endParaRPr lang="en-US">
              <a:latin typeface="Arial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629B1FC0-F1B4-CD79-1226-98DFB6FDD4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558F7225-0D14-1989-0403-0D7DE6AF8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3991" y="4344358"/>
            <a:ext cx="5030018" cy="4113169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576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wmf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wmf"/><Relationship Id="rId4" Type="http://schemas.openxmlformats.org/officeDocument/2006/relationships/image" Target="../media/image5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wmf"/><Relationship Id="rId4" Type="http://schemas.openxmlformats.org/officeDocument/2006/relationships/image" Target="../media/image5.jpe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wmf"/><Relationship Id="rId4" Type="http://schemas.openxmlformats.org/officeDocument/2006/relationships/image" Target="../media/image5.jpe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Grafik 16" descr="pic_titel_1.jpg"/>
          <p:cNvPicPr>
            <a:picLocks noChangeAspect="1"/>
          </p:cNvPicPr>
          <p:nvPr/>
        </p:nvPicPr>
        <p:blipFill>
          <a:blip r:embed="rId3" cstate="print">
            <a:lum bright="10000" contrast="-20000"/>
          </a:blip>
          <a:srcRect b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Grafik 14" descr="pic_titel_2.jpg"/>
          <p:cNvPicPr>
            <a:picLocks noChangeAspect="1"/>
          </p:cNvPicPr>
          <p:nvPr/>
        </p:nvPicPr>
        <p:blipFill>
          <a:blip r:embed="rId4" cstate="print"/>
          <a:srcRect t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pic>
        <p:nvPicPr>
          <p:cNvPr id="16" name="Picture 15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hg.jpg"/>
          <p:cNvPicPr>
            <a:picLocks noChangeAspect="1"/>
          </p:cNvPicPr>
          <p:nvPr/>
        </p:nvPicPr>
        <p:blipFill>
          <a:blip r:embed="rId2" cstate="print"/>
          <a:srcRect t="13959"/>
          <a:stretch>
            <a:fillRect/>
          </a:stretch>
        </p:blipFill>
        <p:spPr>
          <a:xfrm>
            <a:off x="0" y="957263"/>
            <a:ext cx="9144000" cy="567213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1528764"/>
            <a:ext cx="8382000" cy="1052512"/>
          </a:xfrm>
        </p:spPr>
        <p:txBody>
          <a:bodyPr>
            <a:normAutofit/>
          </a:bodyPr>
          <a:lstStyle>
            <a:lvl1pPr algn="l">
              <a:defRPr sz="2800" b="1" cap="all">
                <a:solidFill>
                  <a:schemeClr val="bg1"/>
                </a:solidFill>
              </a:defRPr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2620962"/>
            <a:ext cx="8382000" cy="19700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0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957263"/>
            <a:ext cx="9144000" cy="56213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Drag picture to placeholder or click icon to add</a:t>
            </a:r>
            <a:endParaRPr lang="de-C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4" y="3620323"/>
            <a:ext cx="8919179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97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5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17"/>
          </p:nvPr>
        </p:nvSpPr>
        <p:spPr>
          <a:xfrm>
            <a:off x="3117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1" name="Content Placeholder 6"/>
          <p:cNvSpPr>
            <a:spLocks noGrp="1"/>
          </p:cNvSpPr>
          <p:nvPr>
            <p:ph sz="quarter" idx="18"/>
          </p:nvPr>
        </p:nvSpPr>
        <p:spPr>
          <a:xfrm>
            <a:off x="6122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5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Grafik 16" descr="pic_titel_1.jpg"/>
          <p:cNvPicPr>
            <a:picLocks noChangeAspect="1"/>
          </p:cNvPicPr>
          <p:nvPr/>
        </p:nvPicPr>
        <p:blipFill>
          <a:blip r:embed="rId3" cstate="print">
            <a:lum bright="10000" contrast="-20000"/>
          </a:blip>
          <a:srcRect b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Grafik 14" descr="pic_titel_2.jpg"/>
          <p:cNvPicPr>
            <a:picLocks noChangeAspect="1"/>
          </p:cNvPicPr>
          <p:nvPr/>
        </p:nvPicPr>
        <p:blipFill>
          <a:blip r:embed="rId4" cstate="print"/>
          <a:srcRect t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pic>
        <p:nvPicPr>
          <p:cNvPr id="16" name="Picture 15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hg.jpg"/>
          <p:cNvPicPr>
            <a:picLocks noChangeAspect="1"/>
          </p:cNvPicPr>
          <p:nvPr/>
        </p:nvPicPr>
        <p:blipFill>
          <a:blip r:embed="rId2" cstate="print"/>
          <a:srcRect t="13959"/>
          <a:stretch>
            <a:fillRect/>
          </a:stretch>
        </p:blipFill>
        <p:spPr>
          <a:xfrm>
            <a:off x="0" y="957263"/>
            <a:ext cx="9144000" cy="567213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1528764"/>
            <a:ext cx="8382000" cy="1052512"/>
          </a:xfrm>
        </p:spPr>
        <p:txBody>
          <a:bodyPr>
            <a:normAutofit/>
          </a:bodyPr>
          <a:lstStyle>
            <a:lvl1pPr algn="l">
              <a:defRPr sz="2800" b="1" cap="all">
                <a:solidFill>
                  <a:schemeClr val="bg1"/>
                </a:solidFill>
              </a:defRPr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2620962"/>
            <a:ext cx="8382000" cy="19700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0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957263"/>
            <a:ext cx="9144000" cy="56213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Drag picture to placeholder or click icon to add</a:t>
            </a:r>
            <a:endParaRPr lang="de-C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4" y="3620323"/>
            <a:ext cx="8919179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97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5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17"/>
          </p:nvPr>
        </p:nvSpPr>
        <p:spPr>
          <a:xfrm>
            <a:off x="3117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1" name="Content Placeholder 6"/>
          <p:cNvSpPr>
            <a:spLocks noGrp="1"/>
          </p:cNvSpPr>
          <p:nvPr>
            <p:ph sz="quarter" idx="18"/>
          </p:nvPr>
        </p:nvSpPr>
        <p:spPr>
          <a:xfrm>
            <a:off x="6122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517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Grafik 16" descr="pic_titel_1.jpg"/>
          <p:cNvPicPr>
            <a:picLocks noChangeAspect="1"/>
          </p:cNvPicPr>
          <p:nvPr/>
        </p:nvPicPr>
        <p:blipFill>
          <a:blip r:embed="rId3" cstate="print">
            <a:lum bright="10000" contrast="-20000"/>
          </a:blip>
          <a:srcRect b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Grafik 14" descr="pic_titel_2.jpg"/>
          <p:cNvPicPr>
            <a:picLocks noChangeAspect="1"/>
          </p:cNvPicPr>
          <p:nvPr/>
        </p:nvPicPr>
        <p:blipFill>
          <a:blip r:embed="rId4" cstate="print"/>
          <a:srcRect t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pic>
        <p:nvPicPr>
          <p:cNvPr id="16" name="Picture 15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hg.jpg"/>
          <p:cNvPicPr>
            <a:picLocks noChangeAspect="1"/>
          </p:cNvPicPr>
          <p:nvPr/>
        </p:nvPicPr>
        <p:blipFill>
          <a:blip r:embed="rId2" cstate="print"/>
          <a:srcRect t="13959"/>
          <a:stretch>
            <a:fillRect/>
          </a:stretch>
        </p:blipFill>
        <p:spPr>
          <a:xfrm>
            <a:off x="0" y="957263"/>
            <a:ext cx="9144000" cy="567213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1528764"/>
            <a:ext cx="8382000" cy="1052512"/>
          </a:xfrm>
        </p:spPr>
        <p:txBody>
          <a:bodyPr>
            <a:normAutofit/>
          </a:bodyPr>
          <a:lstStyle>
            <a:lvl1pPr algn="l">
              <a:defRPr sz="2800" b="1" cap="all">
                <a:solidFill>
                  <a:schemeClr val="bg1"/>
                </a:solidFill>
              </a:defRPr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2620962"/>
            <a:ext cx="8382000" cy="19700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0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957263"/>
            <a:ext cx="9144000" cy="56213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Drag picture to placeholder or click icon to add</a:t>
            </a:r>
            <a:endParaRPr lang="de-C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4" y="3620323"/>
            <a:ext cx="8919179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971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5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17"/>
          </p:nvPr>
        </p:nvSpPr>
        <p:spPr>
          <a:xfrm>
            <a:off x="3117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1" name="Content Placeholder 6"/>
          <p:cNvSpPr>
            <a:spLocks noGrp="1"/>
          </p:cNvSpPr>
          <p:nvPr>
            <p:ph sz="quarter" idx="18"/>
          </p:nvPr>
        </p:nvSpPr>
        <p:spPr>
          <a:xfrm>
            <a:off x="6122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517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Grafik 16" descr="pic_titel_1.jpg"/>
          <p:cNvPicPr>
            <a:picLocks noChangeAspect="1"/>
          </p:cNvPicPr>
          <p:nvPr/>
        </p:nvPicPr>
        <p:blipFill>
          <a:blip r:embed="rId3" cstate="print">
            <a:lum bright="10000" contrast="-20000"/>
          </a:blip>
          <a:srcRect b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109663"/>
            <a:ext cx="8382000" cy="1089025"/>
          </a:xfrm>
        </p:spPr>
        <p:txBody>
          <a:bodyPr tIns="45720" bIns="45720"/>
          <a:lstStyle>
            <a:lvl1pPr>
              <a:defRPr sz="3200"/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13518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305050"/>
            <a:ext cx="8382000" cy="776288"/>
          </a:xfrm>
        </p:spPr>
        <p:txBody>
          <a:bodyPr tIns="45720" bIns="45720" anchor="t" anchorCtr="0">
            <a:normAutofit/>
          </a:bodyPr>
          <a:lstStyle>
            <a:lvl1pPr marL="0" indent="0">
              <a:buFont typeface="Wingdings" pitchFamily="16" charset="2"/>
              <a:buNone/>
              <a:defRPr/>
            </a:lvl1pPr>
          </a:lstStyle>
          <a:p>
            <a:r>
              <a:rPr lang="ro-RO"/>
              <a:t>Click to edit Master subtitle style</a:t>
            </a:r>
            <a:endParaRPr lang="de-CH"/>
          </a:p>
        </p:txBody>
      </p:sp>
      <p:pic>
        <p:nvPicPr>
          <p:cNvPr id="135187" name="Grafik 20" descr="footer.jpg"/>
          <p:cNvPicPr>
            <a:picLocks noChangeAspect="1"/>
          </p:cNvPicPr>
          <p:nvPr/>
        </p:nvPicPr>
        <p:blipFill>
          <a:blip r:embed="rId2" cstate="print"/>
          <a:srcRect l="307" r="360" b="8740"/>
          <a:stretch>
            <a:fillRect/>
          </a:stretch>
        </p:blipFill>
        <p:spPr bwMode="auto">
          <a:xfrm>
            <a:off x="0" y="6577013"/>
            <a:ext cx="91440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" name="Picture 12" descr="eth_o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9413" y="152401"/>
            <a:ext cx="1649412" cy="419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Grafik 14" descr="pic_titel_2.jpg"/>
          <p:cNvPicPr>
            <a:picLocks noChangeAspect="1"/>
          </p:cNvPicPr>
          <p:nvPr/>
        </p:nvPicPr>
        <p:blipFill>
          <a:blip r:embed="rId4" cstate="print"/>
          <a:srcRect t="1765"/>
          <a:stretch>
            <a:fillRect/>
          </a:stretch>
        </p:blipFill>
        <p:spPr>
          <a:xfrm>
            <a:off x="-1587" y="3292475"/>
            <a:ext cx="9144000" cy="3286125"/>
          </a:xfrm>
          <a:prstGeom prst="rect">
            <a:avLst/>
          </a:prstGeom>
        </p:spPr>
      </p:pic>
      <p:pic>
        <p:nvPicPr>
          <p:cNvPr id="16" name="Picture 15" descr="biwi_logo.red.eps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4149" y="152807"/>
            <a:ext cx="808851" cy="3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hg.jpg"/>
          <p:cNvPicPr>
            <a:picLocks noChangeAspect="1"/>
          </p:cNvPicPr>
          <p:nvPr/>
        </p:nvPicPr>
        <p:blipFill>
          <a:blip r:embed="rId2" cstate="print"/>
          <a:srcRect t="13959"/>
          <a:stretch>
            <a:fillRect/>
          </a:stretch>
        </p:blipFill>
        <p:spPr>
          <a:xfrm>
            <a:off x="0" y="957263"/>
            <a:ext cx="9144000" cy="5672137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1528764"/>
            <a:ext cx="8382000" cy="1052512"/>
          </a:xfrm>
        </p:spPr>
        <p:txBody>
          <a:bodyPr>
            <a:normAutofit/>
          </a:bodyPr>
          <a:lstStyle>
            <a:lvl1pPr algn="l">
              <a:defRPr sz="2800" b="1" cap="all">
                <a:solidFill>
                  <a:schemeClr val="bg1"/>
                </a:solidFill>
              </a:defRPr>
            </a:lvl1pPr>
          </a:lstStyle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1000" y="2620962"/>
            <a:ext cx="8382000" cy="1970088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810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51013"/>
            <a:ext cx="4114800" cy="467836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957263"/>
            <a:ext cx="9144000" cy="56213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Drag picture to placeholder or click icon to add</a:t>
            </a:r>
            <a:endParaRPr lang="de-CH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4" y="3620323"/>
            <a:ext cx="8919179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971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127468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4" name="Content Placeholder 6"/>
          <p:cNvSpPr>
            <a:spLocks noGrp="1"/>
          </p:cNvSpPr>
          <p:nvPr>
            <p:ph sz="quarter" idx="14"/>
          </p:nvPr>
        </p:nvSpPr>
        <p:spPr>
          <a:xfrm>
            <a:off x="3117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5" name="Content Placeholder 6"/>
          <p:cNvSpPr>
            <a:spLocks noGrp="1"/>
          </p:cNvSpPr>
          <p:nvPr>
            <p:ph sz="quarter" idx="15"/>
          </p:nvPr>
        </p:nvSpPr>
        <p:spPr>
          <a:xfrm>
            <a:off x="6122844" y="1074567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19" name="Content Placeholder 6"/>
          <p:cNvSpPr>
            <a:spLocks noGrp="1"/>
          </p:cNvSpPr>
          <p:nvPr>
            <p:ph sz="quarter" idx="16"/>
          </p:nvPr>
        </p:nvSpPr>
        <p:spPr>
          <a:xfrm>
            <a:off x="127125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17"/>
          </p:nvPr>
        </p:nvSpPr>
        <p:spPr>
          <a:xfrm>
            <a:off x="3117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  <p:sp>
        <p:nvSpPr>
          <p:cNvPr id="21" name="Content Placeholder 6"/>
          <p:cNvSpPr>
            <a:spLocks noGrp="1"/>
          </p:cNvSpPr>
          <p:nvPr>
            <p:ph sz="quarter" idx="18"/>
          </p:nvPr>
        </p:nvSpPr>
        <p:spPr>
          <a:xfrm>
            <a:off x="6122501" y="3620323"/>
            <a:ext cx="2923460" cy="2442200"/>
          </a:xfrm>
        </p:spPr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517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6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18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116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880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878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550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652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541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694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409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49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360000"/>
            <a:ext cx="8382000" cy="766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41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1122363"/>
            <a:ext cx="8382000" cy="524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185988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7091363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32" name="Datumsplatzhalter 18"/>
          <p:cNvSpPr>
            <a:spLocks noGrp="1"/>
          </p:cNvSpPr>
          <p:nvPr>
            <p:ph type="dt" sz="half" idx="2"/>
          </p:nvPr>
        </p:nvSpPr>
        <p:spPr bwMode="auto">
          <a:xfrm>
            <a:off x="292100" y="6635750"/>
            <a:ext cx="18224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3" name="Foliennummernplatzhalter 19"/>
          <p:cNvSpPr>
            <a:spLocks noGrp="1"/>
          </p:cNvSpPr>
          <p:nvPr>
            <p:ph type="sldNum" sz="quarter" idx="4"/>
          </p:nvPr>
        </p:nvSpPr>
        <p:spPr bwMode="auto">
          <a:xfrm>
            <a:off x="7204075" y="6635750"/>
            <a:ext cx="16383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ußzeilenplatzhalter 20"/>
          <p:cNvSpPr>
            <a:spLocks noGrp="1"/>
          </p:cNvSpPr>
          <p:nvPr>
            <p:ph type="ftr" sz="quarter" idx="3"/>
          </p:nvPr>
        </p:nvSpPr>
        <p:spPr bwMode="auto">
          <a:xfrm>
            <a:off x="2239963" y="6635750"/>
            <a:ext cx="4773612" cy="4492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9pPr>
    </p:titleStyle>
    <p:bodyStyle>
      <a:lvl1pPr marL="361950" indent="-3619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16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42888" algn="l" rtl="0" eaLnBrk="1" fontAlgn="base" hangingPunct="1">
        <a:lnSpc>
          <a:spcPts val="2200"/>
        </a:lnSpc>
        <a:spcBef>
          <a:spcPts val="400"/>
        </a:spcBef>
        <a:spcAft>
          <a:spcPct val="0"/>
        </a:spcAft>
        <a:buClr>
          <a:schemeClr val="accent3"/>
        </a:buClr>
        <a:buFont typeface="Wingdings" pitchFamily="16" charset="2"/>
        <a:buChar char="§"/>
        <a:defRPr sz="2000">
          <a:solidFill>
            <a:schemeClr val="tx1"/>
          </a:solidFill>
          <a:latin typeface="+mn-lt"/>
          <a:ea typeface="+mn-ea"/>
        </a:defRPr>
      </a:lvl2pPr>
      <a:lvl3pPr marL="957263" indent="-190500" algn="l" rtl="0" eaLnBrk="1" fontAlgn="base" hangingPunct="1">
        <a:lnSpc>
          <a:spcPts val="2000"/>
        </a:lnSpc>
        <a:spcBef>
          <a:spcPts val="4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600">
          <a:solidFill>
            <a:schemeClr val="tx1"/>
          </a:solidFill>
          <a:latin typeface="+mn-lt"/>
          <a:ea typeface="+mn-ea"/>
        </a:defRPr>
      </a:lvl3pPr>
      <a:lvl4pPr marL="1343025" indent="-195263" algn="l" rtl="0" eaLnBrk="1" fontAlgn="base" hangingPunct="1">
        <a:lnSpc>
          <a:spcPts val="1800"/>
        </a:lnSpc>
        <a:spcBef>
          <a:spcPts val="2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400">
          <a:solidFill>
            <a:schemeClr val="tx1"/>
          </a:solidFill>
          <a:latin typeface="+mn-lt"/>
          <a:ea typeface="+mn-ea"/>
        </a:defRPr>
      </a:lvl4pPr>
      <a:lvl5pPr marL="1524000" indent="-96838" algn="l" rtl="0" eaLnBrk="1" fontAlgn="base" hangingPunct="1">
        <a:spcBef>
          <a:spcPct val="200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5pPr>
      <a:lvl6pPr marL="19812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6pPr>
      <a:lvl7pPr marL="24384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7pPr>
      <a:lvl8pPr marL="28956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8pPr>
      <a:lvl9pPr marL="33528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360000"/>
            <a:ext cx="8382000" cy="766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41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1122363"/>
            <a:ext cx="8382000" cy="524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185988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7091363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32" name="Datumsplatzhalter 18"/>
          <p:cNvSpPr>
            <a:spLocks noGrp="1"/>
          </p:cNvSpPr>
          <p:nvPr>
            <p:ph type="dt" sz="half" idx="2"/>
          </p:nvPr>
        </p:nvSpPr>
        <p:spPr bwMode="auto">
          <a:xfrm>
            <a:off x="292100" y="6635750"/>
            <a:ext cx="18224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3" name="Foliennummernplatzhalter 19"/>
          <p:cNvSpPr>
            <a:spLocks noGrp="1"/>
          </p:cNvSpPr>
          <p:nvPr>
            <p:ph type="sldNum" sz="quarter" idx="4"/>
          </p:nvPr>
        </p:nvSpPr>
        <p:spPr bwMode="auto">
          <a:xfrm>
            <a:off x="7204075" y="6635750"/>
            <a:ext cx="16383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ußzeilenplatzhalter 20"/>
          <p:cNvSpPr>
            <a:spLocks noGrp="1"/>
          </p:cNvSpPr>
          <p:nvPr>
            <p:ph type="ftr" sz="quarter" idx="3"/>
          </p:nvPr>
        </p:nvSpPr>
        <p:spPr bwMode="auto">
          <a:xfrm>
            <a:off x="2239963" y="6635750"/>
            <a:ext cx="4773612" cy="4492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9pPr>
    </p:titleStyle>
    <p:bodyStyle>
      <a:lvl1pPr marL="361950" indent="-3619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16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42888" algn="l" rtl="0" eaLnBrk="1" fontAlgn="base" hangingPunct="1">
        <a:lnSpc>
          <a:spcPts val="2200"/>
        </a:lnSpc>
        <a:spcBef>
          <a:spcPts val="400"/>
        </a:spcBef>
        <a:spcAft>
          <a:spcPct val="0"/>
        </a:spcAft>
        <a:buClr>
          <a:schemeClr val="accent3"/>
        </a:buClr>
        <a:buFont typeface="Wingdings" pitchFamily="16" charset="2"/>
        <a:buChar char="§"/>
        <a:defRPr sz="2000">
          <a:solidFill>
            <a:schemeClr val="tx1"/>
          </a:solidFill>
          <a:latin typeface="+mn-lt"/>
          <a:ea typeface="+mn-ea"/>
        </a:defRPr>
      </a:lvl2pPr>
      <a:lvl3pPr marL="957263" indent="-190500" algn="l" rtl="0" eaLnBrk="1" fontAlgn="base" hangingPunct="1">
        <a:lnSpc>
          <a:spcPts val="2000"/>
        </a:lnSpc>
        <a:spcBef>
          <a:spcPts val="4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600">
          <a:solidFill>
            <a:schemeClr val="tx1"/>
          </a:solidFill>
          <a:latin typeface="+mn-lt"/>
          <a:ea typeface="+mn-ea"/>
        </a:defRPr>
      </a:lvl3pPr>
      <a:lvl4pPr marL="1343025" indent="-195263" algn="l" rtl="0" eaLnBrk="1" fontAlgn="base" hangingPunct="1">
        <a:lnSpc>
          <a:spcPts val="1800"/>
        </a:lnSpc>
        <a:spcBef>
          <a:spcPts val="2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400">
          <a:solidFill>
            <a:schemeClr val="tx1"/>
          </a:solidFill>
          <a:latin typeface="+mn-lt"/>
          <a:ea typeface="+mn-ea"/>
        </a:defRPr>
      </a:lvl4pPr>
      <a:lvl5pPr marL="1524000" indent="-96838" algn="l" rtl="0" eaLnBrk="1" fontAlgn="base" hangingPunct="1">
        <a:spcBef>
          <a:spcPct val="200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5pPr>
      <a:lvl6pPr marL="19812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6pPr>
      <a:lvl7pPr marL="24384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7pPr>
      <a:lvl8pPr marL="28956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8pPr>
      <a:lvl9pPr marL="33528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360000"/>
            <a:ext cx="8382000" cy="766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41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1122363"/>
            <a:ext cx="8382000" cy="524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185988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7091363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32" name="Datumsplatzhalter 18"/>
          <p:cNvSpPr>
            <a:spLocks noGrp="1"/>
          </p:cNvSpPr>
          <p:nvPr>
            <p:ph type="dt" sz="half" idx="2"/>
          </p:nvPr>
        </p:nvSpPr>
        <p:spPr bwMode="auto">
          <a:xfrm>
            <a:off x="292100" y="6635750"/>
            <a:ext cx="18224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3" name="Foliennummernplatzhalter 19"/>
          <p:cNvSpPr>
            <a:spLocks noGrp="1"/>
          </p:cNvSpPr>
          <p:nvPr>
            <p:ph type="sldNum" sz="quarter" idx="4"/>
          </p:nvPr>
        </p:nvSpPr>
        <p:spPr bwMode="auto">
          <a:xfrm>
            <a:off x="7204075" y="6635750"/>
            <a:ext cx="16383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ußzeilenplatzhalter 20"/>
          <p:cNvSpPr>
            <a:spLocks noGrp="1"/>
          </p:cNvSpPr>
          <p:nvPr>
            <p:ph type="ftr" sz="quarter" idx="3"/>
          </p:nvPr>
        </p:nvSpPr>
        <p:spPr bwMode="auto">
          <a:xfrm>
            <a:off x="2239963" y="6635750"/>
            <a:ext cx="4773612" cy="4492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9pPr>
    </p:titleStyle>
    <p:bodyStyle>
      <a:lvl1pPr marL="361950" indent="-3619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16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42888" algn="l" rtl="0" eaLnBrk="1" fontAlgn="base" hangingPunct="1">
        <a:lnSpc>
          <a:spcPts val="2200"/>
        </a:lnSpc>
        <a:spcBef>
          <a:spcPts val="400"/>
        </a:spcBef>
        <a:spcAft>
          <a:spcPct val="0"/>
        </a:spcAft>
        <a:buClr>
          <a:schemeClr val="accent3"/>
        </a:buClr>
        <a:buFont typeface="Wingdings" pitchFamily="16" charset="2"/>
        <a:buChar char="§"/>
        <a:defRPr sz="2000">
          <a:solidFill>
            <a:schemeClr val="tx1"/>
          </a:solidFill>
          <a:latin typeface="+mn-lt"/>
          <a:ea typeface="+mn-ea"/>
        </a:defRPr>
      </a:lvl2pPr>
      <a:lvl3pPr marL="957263" indent="-190500" algn="l" rtl="0" eaLnBrk="1" fontAlgn="base" hangingPunct="1">
        <a:lnSpc>
          <a:spcPts val="2000"/>
        </a:lnSpc>
        <a:spcBef>
          <a:spcPts val="4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600">
          <a:solidFill>
            <a:schemeClr val="tx1"/>
          </a:solidFill>
          <a:latin typeface="+mn-lt"/>
          <a:ea typeface="+mn-ea"/>
        </a:defRPr>
      </a:lvl3pPr>
      <a:lvl4pPr marL="1343025" indent="-195263" algn="l" rtl="0" eaLnBrk="1" fontAlgn="base" hangingPunct="1">
        <a:lnSpc>
          <a:spcPts val="1800"/>
        </a:lnSpc>
        <a:spcBef>
          <a:spcPts val="2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400">
          <a:solidFill>
            <a:schemeClr val="tx1"/>
          </a:solidFill>
          <a:latin typeface="+mn-lt"/>
          <a:ea typeface="+mn-ea"/>
        </a:defRPr>
      </a:lvl4pPr>
      <a:lvl5pPr marL="1524000" indent="-96838" algn="l" rtl="0" eaLnBrk="1" fontAlgn="base" hangingPunct="1">
        <a:spcBef>
          <a:spcPct val="200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5pPr>
      <a:lvl6pPr marL="19812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6pPr>
      <a:lvl7pPr marL="24384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7pPr>
      <a:lvl8pPr marL="28956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8pPr>
      <a:lvl9pPr marL="33528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360000"/>
            <a:ext cx="8382000" cy="766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41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0" y="1122363"/>
            <a:ext cx="8382000" cy="524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2185988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7091363" y="6697663"/>
            <a:ext cx="0" cy="176212"/>
          </a:xfrm>
          <a:prstGeom prst="line">
            <a:avLst/>
          </a:prstGeom>
          <a:noFill/>
          <a:ln w="635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de-CH"/>
          </a:p>
        </p:txBody>
      </p:sp>
      <p:sp>
        <p:nvSpPr>
          <p:cNvPr id="32" name="Datumsplatzhalter 18"/>
          <p:cNvSpPr>
            <a:spLocks noGrp="1"/>
          </p:cNvSpPr>
          <p:nvPr>
            <p:ph type="dt" sz="half" idx="2"/>
          </p:nvPr>
        </p:nvSpPr>
        <p:spPr bwMode="auto">
          <a:xfrm>
            <a:off x="292100" y="6635750"/>
            <a:ext cx="18224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3" name="Foliennummernplatzhalter 19"/>
          <p:cNvSpPr>
            <a:spLocks noGrp="1"/>
          </p:cNvSpPr>
          <p:nvPr>
            <p:ph type="sldNum" sz="quarter" idx="4"/>
          </p:nvPr>
        </p:nvSpPr>
        <p:spPr bwMode="auto">
          <a:xfrm>
            <a:off x="7204075" y="6635750"/>
            <a:ext cx="16383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Fußzeilenplatzhalter 20"/>
          <p:cNvSpPr>
            <a:spLocks noGrp="1"/>
          </p:cNvSpPr>
          <p:nvPr>
            <p:ph type="ftr" sz="quarter" idx="3"/>
          </p:nvPr>
        </p:nvSpPr>
        <p:spPr bwMode="auto">
          <a:xfrm>
            <a:off x="2239963" y="6635750"/>
            <a:ext cx="4773612" cy="449263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800">
                <a:solidFill>
                  <a:schemeClr val="bg1"/>
                </a:solidFill>
                <a:ea typeface="+mn-ea"/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accent1"/>
          </a:solidFill>
          <a:latin typeface="Arial" charset="0"/>
          <a:ea typeface="ＭＳ Ｐゴシック" pitchFamily="16" charset="-128"/>
        </a:defRPr>
      </a:lvl9pPr>
    </p:titleStyle>
    <p:bodyStyle>
      <a:lvl1pPr marL="361950" indent="-3619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16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42888" algn="l" rtl="0" eaLnBrk="1" fontAlgn="base" hangingPunct="1">
        <a:lnSpc>
          <a:spcPts val="2200"/>
        </a:lnSpc>
        <a:spcBef>
          <a:spcPts val="400"/>
        </a:spcBef>
        <a:spcAft>
          <a:spcPct val="0"/>
        </a:spcAft>
        <a:buClr>
          <a:schemeClr val="accent3"/>
        </a:buClr>
        <a:buFont typeface="Wingdings" pitchFamily="16" charset="2"/>
        <a:buChar char="§"/>
        <a:defRPr sz="2000">
          <a:solidFill>
            <a:schemeClr val="tx1"/>
          </a:solidFill>
          <a:latin typeface="+mn-lt"/>
          <a:ea typeface="+mn-ea"/>
        </a:defRPr>
      </a:lvl2pPr>
      <a:lvl3pPr marL="957263" indent="-190500" algn="l" rtl="0" eaLnBrk="1" fontAlgn="base" hangingPunct="1">
        <a:lnSpc>
          <a:spcPts val="2000"/>
        </a:lnSpc>
        <a:spcBef>
          <a:spcPts val="4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600">
          <a:solidFill>
            <a:schemeClr val="tx1"/>
          </a:solidFill>
          <a:latin typeface="+mn-lt"/>
          <a:ea typeface="+mn-ea"/>
        </a:defRPr>
      </a:lvl3pPr>
      <a:lvl4pPr marL="1343025" indent="-195263" algn="l" rtl="0" eaLnBrk="1" fontAlgn="base" hangingPunct="1">
        <a:lnSpc>
          <a:spcPts val="1800"/>
        </a:lnSpc>
        <a:spcBef>
          <a:spcPts val="2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400">
          <a:solidFill>
            <a:schemeClr val="tx1"/>
          </a:solidFill>
          <a:latin typeface="+mn-lt"/>
          <a:ea typeface="+mn-ea"/>
        </a:defRPr>
      </a:lvl4pPr>
      <a:lvl5pPr marL="1524000" indent="-96838" algn="l" rtl="0" eaLnBrk="1" fontAlgn="base" hangingPunct="1">
        <a:spcBef>
          <a:spcPct val="20000"/>
        </a:spcBef>
        <a:spcAft>
          <a:spcPct val="0"/>
        </a:spcAft>
        <a:buClr>
          <a:schemeClr val="accent4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5pPr>
      <a:lvl6pPr marL="19812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6pPr>
      <a:lvl7pPr marL="24384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7pPr>
      <a:lvl8pPr marL="28956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8pPr>
      <a:lvl9pPr marL="3352800" indent="-96838" algn="l" rtl="0" eaLnBrk="1" fontAlgn="base" hangingPunct="1">
        <a:spcBef>
          <a:spcPct val="20000"/>
        </a:spcBef>
        <a:spcAft>
          <a:spcPct val="0"/>
        </a:spcAft>
        <a:buClr>
          <a:srgbClr val="C0C0C0"/>
        </a:buClr>
        <a:buFont typeface="Wingdings" pitchFamily="16" charset="2"/>
        <a:buChar char="§"/>
        <a:defRPr sz="1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Click to edit Master text styles</a:t>
            </a:r>
          </a:p>
          <a:p>
            <a:pPr lvl="1"/>
            <a:r>
              <a:rPr lang="ro-RO"/>
              <a:t>Second level</a:t>
            </a:r>
          </a:p>
          <a:p>
            <a:pPr lvl="2"/>
            <a:r>
              <a:rPr lang="ro-RO"/>
              <a:t>Third level</a:t>
            </a:r>
          </a:p>
          <a:p>
            <a:pPr lvl="3"/>
            <a:r>
              <a:rPr lang="ro-RO"/>
              <a:t>Fourth level</a:t>
            </a:r>
          </a:p>
          <a:p>
            <a:pPr lvl="4"/>
            <a:r>
              <a:rPr lang="ro-RO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8AC18-39C1-4F48-90C9-BE77E4C6F81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E2011-8E4D-C147-87FF-FC35A3818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revor@eecs.berkeley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4" Type="http://schemas.openxmlformats.org/officeDocument/2006/relationships/hyperlink" Target="mailto:raducu.ionescu@gmail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tags" Target="../tags/tag2.xml"/><Relationship Id="rId16" Type="http://schemas.openxmlformats.org/officeDocument/2006/relationships/image" Target="../media/image2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5.png"/><Relationship Id="rId5" Type="http://schemas.openxmlformats.org/officeDocument/2006/relationships/tags" Target="../tags/tag5.xml"/><Relationship Id="rId15" Type="http://schemas.openxmlformats.org/officeDocument/2006/relationships/image" Target="../media/image19.png"/><Relationship Id="rId10" Type="http://schemas.openxmlformats.org/officeDocument/2006/relationships/notesSlide" Target="../notesSlides/notesSlide2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4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35.emf"/><Relationship Id="rId4" Type="http://schemas.openxmlformats.org/officeDocument/2006/relationships/image" Target="../media/image33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5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slideLayout" Target="../slideLayouts/slideLayout42.xml"/><Relationship Id="rId1" Type="http://schemas.openxmlformats.org/officeDocument/2006/relationships/tags" Target="../tags/tag9.xml"/><Relationship Id="rId5" Type="http://schemas.openxmlformats.org/officeDocument/2006/relationships/image" Target="../media/image48.png"/><Relationship Id="rId4" Type="http://schemas.openxmlformats.org/officeDocument/2006/relationships/image" Target="../media/image47.w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208" y="1663762"/>
            <a:ext cx="7771584" cy="1790912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latin typeface="Times New Roman"/>
                <a:cs typeface="Times New Roman"/>
              </a:rPr>
              <a:t>Inteligență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Artificială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725" y="3886152"/>
            <a:ext cx="8981796" cy="2684299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  <a:latin typeface="Times New Roman"/>
                <a:cs typeface="Times New Roman"/>
              </a:rPr>
              <a:t>	Bogdan Alexe				Radu Ionescu</a:t>
            </a:r>
          </a:p>
          <a:p>
            <a:endParaRPr lang="en-US" sz="3599" dirty="0">
              <a:latin typeface="Times New Roman"/>
              <a:cs typeface="Times New Roman"/>
            </a:endParaRPr>
          </a:p>
          <a:p>
            <a:endParaRPr lang="en-US" sz="2903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2903" dirty="0" err="1">
                <a:solidFill>
                  <a:srgbClr val="000000"/>
                </a:solidFill>
                <a:latin typeface="Times New Roman"/>
                <a:cs typeface="Times New Roman"/>
              </a:rPr>
              <a:t>Informatică</a:t>
            </a:r>
            <a:r>
              <a:rPr lang="en-US" sz="2903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lang="en-US" sz="2903" dirty="0" err="1">
                <a:solidFill>
                  <a:srgbClr val="000000"/>
                </a:solidFill>
                <a:latin typeface="Times New Roman"/>
                <a:cs typeface="Times New Roman"/>
              </a:rPr>
              <a:t>anul</a:t>
            </a:r>
            <a:r>
              <a:rPr lang="en-US" sz="2903" dirty="0">
                <a:solidFill>
                  <a:srgbClr val="000000"/>
                </a:solidFill>
                <a:latin typeface="Times New Roman"/>
                <a:cs typeface="Times New Roman"/>
              </a:rPr>
              <a:t> II, 2025-2026</a:t>
            </a:r>
          </a:p>
          <a:p>
            <a:endParaRPr lang="en-US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6209" y="4462266"/>
            <a:ext cx="3930884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bogdan.alexe@fmi.unibuc.ro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4839" y="4445907"/>
            <a:ext cx="3780202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raducu.ionescu@gmail.com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58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AE95-9378-787F-1D08-2F63B5B2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CF11-5FAB-CFF7-0623-381917FF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750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Recapitulare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mr-IN" dirty="0">
                <a:latin typeface="Times New Roman"/>
                <a:cs typeface="Times New Roman"/>
              </a:rPr>
              <a:t>–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cursul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trecut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B641-FD72-2367-FD95-707DE59BF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375" y="1174749"/>
            <a:ext cx="8937625" cy="579589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err="1">
                <a:latin typeface="Times New Roman"/>
                <a:cs typeface="Times New Roman"/>
              </a:rPr>
              <a:t>Căutare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informată</a:t>
            </a:r>
            <a:endParaRPr lang="en-US" sz="2800" dirty="0">
              <a:latin typeface="Times New Roman"/>
              <a:cs typeface="Times New Roman"/>
            </a:endParaRPr>
          </a:p>
          <a:p>
            <a:pPr marL="914400" lvl="1" indent="-514350"/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Greedy (Greedy Best-First Search)</a:t>
            </a:r>
            <a:endParaRPr lang="en-US" sz="2400" dirty="0">
              <a:solidFill>
                <a:srgbClr val="20A21F"/>
              </a:solidFill>
              <a:latin typeface="Times New Roman"/>
              <a:cs typeface="Times New Roman"/>
            </a:endParaRPr>
          </a:p>
          <a:p>
            <a:pPr marL="914400" lvl="1" indent="-514350"/>
            <a:r>
              <a:rPr lang="en-US" sz="2400" dirty="0" err="1">
                <a:latin typeface="Times New Roman"/>
                <a:cs typeface="Times New Roman"/>
              </a:rPr>
              <a:t>Euristici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admisibile</a:t>
            </a:r>
            <a:endParaRPr lang="en-US" sz="2400" dirty="0">
              <a:latin typeface="Times New Roman"/>
              <a:cs typeface="Times New Roman"/>
            </a:endParaRPr>
          </a:p>
          <a:p>
            <a:pPr marL="914400" lvl="1" indent="-514350"/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A* (A star Best-First Search)</a:t>
            </a:r>
          </a:p>
          <a:p>
            <a:pPr marL="914400" lvl="1" indent="-514350"/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A* </a:t>
            </a:r>
            <a:r>
              <a:rPr lang="en-US" sz="2400" dirty="0" err="1">
                <a:latin typeface="Times New Roman"/>
                <a:cs typeface="Times New Roman"/>
              </a:rPr>
              <a:t>folosind</a:t>
            </a:r>
            <a:r>
              <a:rPr lang="en-US" sz="2400" dirty="0">
                <a:latin typeface="Times New Roman"/>
                <a:cs typeface="Times New Roman"/>
              </a:rPr>
              <a:t> Tree-Search</a:t>
            </a:r>
          </a:p>
          <a:p>
            <a:pPr marL="914400" lvl="1" indent="-514350"/>
            <a:r>
              <a:rPr lang="en-US" sz="2400" dirty="0" err="1">
                <a:latin typeface="Times New Roman"/>
                <a:cs typeface="Times New Roman"/>
              </a:rPr>
              <a:t>Euristici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consistente</a:t>
            </a:r>
            <a:endParaRPr lang="en-US" sz="2400" dirty="0">
              <a:latin typeface="Times New Roman"/>
              <a:cs typeface="Times New Roman"/>
            </a:endParaRPr>
          </a:p>
          <a:p>
            <a:pPr marL="914400" lvl="1" indent="-514350"/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A* </a:t>
            </a:r>
            <a:r>
              <a:rPr lang="en-US" sz="2400" dirty="0" err="1">
                <a:latin typeface="Times New Roman"/>
                <a:cs typeface="Times New Roman"/>
              </a:rPr>
              <a:t>folosind</a:t>
            </a:r>
            <a:r>
              <a:rPr lang="en-US" sz="2400" dirty="0">
                <a:latin typeface="Times New Roman"/>
                <a:cs typeface="Times New Roman"/>
              </a:rPr>
              <a:t> Graph-Search</a:t>
            </a:r>
          </a:p>
          <a:p>
            <a:pPr marL="914400" lvl="1" indent="-514350"/>
            <a:endParaRPr lang="en-US" sz="2400" dirty="0">
              <a:latin typeface="Times New Roman"/>
              <a:cs typeface="Times New Roman"/>
            </a:endParaRPr>
          </a:p>
          <a:p>
            <a:pPr marL="914400" lvl="1" indent="-514350"/>
            <a:endParaRPr lang="en-US" sz="2400" dirty="0">
              <a:solidFill>
                <a:srgbClr val="20A21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270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8794E-33CC-7093-803F-5B45CDD60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C4A98-4B48-3D0E-12E5-D9819600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750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Cuprinsul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cursului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azi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78DC5-72BE-7394-07D3-6A6551D27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375" y="1600200"/>
            <a:ext cx="8937625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latin typeface="Times New Roman"/>
                <a:cs typeface="Times New Roman"/>
              </a:rPr>
              <a:t>Crearea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euristici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admisibile</a:t>
            </a: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endParaRPr lang="en-US" sz="2400" dirty="0">
              <a:latin typeface="Times New Roman"/>
              <a:cs typeface="Times New Roman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adversarială</a:t>
            </a:r>
            <a:r>
              <a:rPr lang="en-US" sz="2400" dirty="0">
                <a:latin typeface="Times New Roman"/>
                <a:cs typeface="Times New Roman"/>
              </a:rPr>
              <a:t>: </a:t>
            </a:r>
          </a:p>
          <a:p>
            <a:pPr lvl="1"/>
            <a:r>
              <a:rPr lang="en-US" sz="2400" dirty="0" err="1">
                <a:latin typeface="Times New Roman"/>
                <a:cs typeface="Times New Roman"/>
              </a:rPr>
              <a:t>jocuri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adversariale</a:t>
            </a:r>
            <a:endParaRPr lang="en-US" sz="2400" dirty="0">
              <a:latin typeface="Times New Roman"/>
              <a:cs typeface="Times New Roman"/>
            </a:endParaRPr>
          </a:p>
          <a:p>
            <a:pPr lvl="1"/>
            <a:r>
              <a:rPr lang="en-US" sz="2400" dirty="0" err="1">
                <a:latin typeface="Times New Roman"/>
                <a:cs typeface="Times New Roman"/>
              </a:rPr>
              <a:t>algoritmul</a:t>
            </a:r>
            <a:r>
              <a:rPr lang="en-US" sz="2400" dirty="0">
                <a:latin typeface="Times New Roman"/>
                <a:cs typeface="Times New Roman"/>
              </a:rPr>
              <a:t> MINIMAX</a:t>
            </a:r>
          </a:p>
          <a:p>
            <a:pPr lvl="1"/>
            <a:r>
              <a:rPr lang="en-US" sz="2400" dirty="0" err="1">
                <a:latin typeface="Times New Roman"/>
                <a:cs typeface="Times New Roman"/>
              </a:rPr>
              <a:t>algoritmul</a:t>
            </a:r>
            <a:r>
              <a:rPr lang="en-US" sz="2400" dirty="0">
                <a:latin typeface="Times New Roman"/>
                <a:cs typeface="Times New Roman"/>
              </a:rPr>
              <a:t> α-β </a:t>
            </a:r>
            <a:r>
              <a:rPr lang="en-US" sz="2400" dirty="0" err="1">
                <a:latin typeface="Times New Roman"/>
                <a:cs typeface="Times New Roman"/>
              </a:rPr>
              <a:t>retezare</a:t>
            </a:r>
            <a:r>
              <a:rPr lang="en-US" sz="2400" dirty="0">
                <a:latin typeface="Times New Roman"/>
                <a:cs typeface="Times New Roman"/>
              </a:rPr>
              <a:t> (α-β </a:t>
            </a:r>
            <a:r>
              <a:rPr lang="en-US" sz="2400" dirty="0" err="1">
                <a:latin typeface="Times New Roman"/>
                <a:cs typeface="Times New Roman"/>
              </a:rPr>
              <a:t>prunning</a:t>
            </a:r>
            <a:r>
              <a:rPr lang="en-US" sz="2400" dirty="0">
                <a:latin typeface="Times New Roman"/>
                <a:cs typeface="Times New Roman"/>
              </a:rPr>
              <a:t>)</a:t>
            </a:r>
          </a:p>
          <a:p>
            <a:pPr marL="0" indent="0">
              <a:buNone/>
            </a:pP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258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ingredient fundamental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rezolvarea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optimă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problemelor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găsirea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admisibile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Deseori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euristicile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admisibile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relaxate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obținute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inițială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relaxarea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unor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condiții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disponibile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endParaRPr lang="en-US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500" i="1" dirty="0"/>
          </a:p>
          <a:p>
            <a:pPr eaLnBrk="1" hangingPunct="1"/>
            <a:endParaRPr lang="en-US" sz="2100" dirty="0"/>
          </a:p>
          <a:p>
            <a:pPr eaLnBrk="1" hangingPunct="1"/>
            <a:endParaRPr lang="en-US" sz="2100" dirty="0"/>
          </a:p>
          <a:p>
            <a:pPr eaLnBrk="1" hangingPunct="1"/>
            <a:endParaRPr lang="en-US" sz="2100" dirty="0"/>
          </a:p>
          <a:p>
            <a:pPr eaLnBrk="1" hangingPunct="1"/>
            <a:endParaRPr lang="en-US" sz="2100" dirty="0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306786" y="4945343"/>
            <a:ext cx="2743200" cy="1232642"/>
            <a:chOff x="5067016" y="4038600"/>
            <a:chExt cx="2663541" cy="1197700"/>
          </a:xfrm>
        </p:grpSpPr>
        <p:pic>
          <p:nvPicPr>
            <p:cNvPr id="22536" name="Picture 2" descr="Z:\Shared with PC\smallMaze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067016" y="4038600"/>
              <a:ext cx="2663541" cy="1197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2" name="Straight Arrow Connector 11"/>
            <p:cNvCxnSpPr/>
            <p:nvPr/>
          </p:nvCxnSpPr>
          <p:spPr bwMode="auto">
            <a:xfrm rot="10800000" flipV="1">
              <a:off x="5236861" y="4473838"/>
              <a:ext cx="1125417" cy="1906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538" name="TextBox 17"/>
            <p:cNvSpPr txBox="1">
              <a:spLocks noChangeArrowheads="1"/>
            </p:cNvSpPr>
            <p:nvPr/>
          </p:nvSpPr>
          <p:spPr bwMode="auto">
            <a:xfrm>
              <a:off x="5388658" y="4569096"/>
              <a:ext cx="443900" cy="4037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100" b="1" dirty="0">
                  <a:solidFill>
                    <a:srgbClr val="C00000"/>
                  </a:solidFill>
                  <a:latin typeface="Calibri"/>
                  <a:cs typeface="Calibri"/>
                </a:rPr>
                <a:t>15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 bwMode="auto">
            <a:xfrm rot="5400000">
              <a:off x="4931082" y="4797091"/>
              <a:ext cx="609969" cy="1588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1996169" y="4891877"/>
            <a:ext cx="2114549" cy="1339575"/>
            <a:chOff x="2743201" y="4111625"/>
            <a:chExt cx="2170113" cy="1374775"/>
          </a:xfrm>
        </p:grpSpPr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r="22440"/>
            <a:stretch>
              <a:fillRect/>
            </a:stretch>
          </p:blipFill>
          <p:spPr bwMode="auto">
            <a:xfrm>
              <a:off x="2743201" y="4111625"/>
              <a:ext cx="2170113" cy="137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7" name="Straight Connector 16"/>
            <p:cNvCxnSpPr/>
            <p:nvPr/>
          </p:nvCxnSpPr>
          <p:spPr>
            <a:xfrm>
              <a:off x="2895600" y="4492623"/>
              <a:ext cx="1295400" cy="6858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571625" y="4961624"/>
            <a:ext cx="742950" cy="39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r>
              <a:rPr lang="en-US" sz="2100" b="1" dirty="0">
                <a:solidFill>
                  <a:srgbClr val="FF0000"/>
                </a:solidFill>
                <a:latin typeface="Calibri"/>
                <a:cs typeface="Calibri"/>
              </a:rPr>
              <a:t>366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385D902-ED0E-4F41-4196-CC1B98B861DD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Crearea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euristici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admisibile</a:t>
            </a:r>
            <a:endParaRPr lang="en-US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568550" y="1485900"/>
            <a:ext cx="4003700" cy="3438482"/>
            <a:chOff x="6387246" y="1371600"/>
            <a:chExt cx="6033354" cy="5181600"/>
          </a:xfrm>
        </p:grpSpPr>
        <p:pic>
          <p:nvPicPr>
            <p:cNvPr id="1945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387246" y="1371600"/>
              <a:ext cx="5789731" cy="4838698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10515600" y="4724400"/>
              <a:ext cx="1905000" cy="1828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0964" y="1772389"/>
            <a:ext cx="2227022" cy="1907572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914400" y="3657600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inițială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43750" y="3657600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6559" y="1771847"/>
            <a:ext cx="2283081" cy="1908656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4514850" y="3657600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23A156-F970-E830-7C9C-356F381DAC4F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r>
              <a:rPr lang="en-US" dirty="0">
                <a:latin typeface="Times New Roman"/>
                <a:cs typeface="Times New Roman"/>
              </a:rPr>
              <a:t> – 8 Puzzle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03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1828801"/>
            <a:ext cx="4743450" cy="3394472"/>
          </a:xfrm>
        </p:spPr>
        <p:txBody>
          <a:bodyPr/>
          <a:lstStyle/>
          <a:p>
            <a:pPr eaLnBrk="1" hangingPunct="1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greșit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admisibilă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eaLnBrk="1" hangingPunct="1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h(stare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inițială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</a:p>
          <a:p>
            <a:pPr eaLnBrk="1" hangingPunct="1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Aceasta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relaxată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206" name="Text Box 6"/>
          <p:cNvSpPr txBox="1">
            <a:spLocks noChangeArrowheads="1"/>
          </p:cNvSpPr>
          <p:nvPr/>
        </p:nvSpPr>
        <p:spPr bwMode="auto">
          <a:xfrm>
            <a:off x="2562101" y="2602837"/>
            <a:ext cx="742950" cy="438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79" tIns="34289" rIns="68579" bIns="34289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2"/>
                </a:solidFill>
                <a:latin typeface="Calibri" pitchFamily="34" charset="0"/>
              </a:rPr>
              <a:t>8</a:t>
            </a:r>
          </a:p>
        </p:txBody>
      </p:sp>
      <p:graphicFrame>
        <p:nvGraphicFramePr>
          <p:cNvPr id="819294" name="Group 94"/>
          <p:cNvGraphicFramePr>
            <a:graphicFrameLocks noGrp="1"/>
          </p:cNvGraphicFramePr>
          <p:nvPr/>
        </p:nvGraphicFramePr>
        <p:xfrm>
          <a:off x="4263242" y="3941683"/>
          <a:ext cx="4595008" cy="1659017"/>
        </p:xfrm>
        <a:graphic>
          <a:graphicData uri="http://schemas.openxmlformats.org/drawingml/2006/table">
            <a:tbl>
              <a:tblPr/>
              <a:tblGrid>
                <a:gridCol w="1389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1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Numărul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de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noduri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explorate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când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soluția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optima are…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…4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pași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…8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pași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…12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pași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UCS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112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6,300</a:t>
                      </a:r>
                      <a:endParaRPr kumimoji="0" lang="en-US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3.6 x 10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6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997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A* + #TILES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39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227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3815453"/>
            <a:ext cx="4132565" cy="2353646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29200" y="1724566"/>
            <a:ext cx="4000499" cy="1665324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EEFBC1D-2D2F-79CA-569C-5598F8D1A0B5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r>
              <a:rPr lang="en-US" dirty="0">
                <a:latin typeface="Times New Roman"/>
                <a:cs typeface="Times New Roman"/>
              </a:rPr>
              <a:t> – 8 Puzzle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F158D-1C44-EB9A-4C71-46F2E97DE269}"/>
              </a:ext>
            </a:extLst>
          </p:cNvPr>
          <p:cNvSpPr txBox="1"/>
          <p:nvPr/>
        </p:nvSpPr>
        <p:spPr>
          <a:xfrm>
            <a:off x="5314950" y="3253902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inițială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946EA5-1757-F24B-E53B-4511DD5BC211}"/>
              </a:ext>
            </a:extLst>
          </p:cNvPr>
          <p:cNvSpPr txBox="1"/>
          <p:nvPr/>
        </p:nvSpPr>
        <p:spPr>
          <a:xfrm>
            <a:off x="7372350" y="3244334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0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059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2057401"/>
            <a:ext cx="4591050" cy="339447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considerăm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8-puzzle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modificată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încât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glisată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stânga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dreapta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/sus/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ignorând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celelalte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Distanța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Manhattan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admisibilă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h(stare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inițială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</p:txBody>
      </p:sp>
      <p:sp>
        <p:nvSpPr>
          <p:cNvPr id="813061" name="Text Box 5"/>
          <p:cNvSpPr txBox="1">
            <a:spLocks noChangeArrowheads="1"/>
          </p:cNvSpPr>
          <p:nvPr/>
        </p:nvSpPr>
        <p:spPr bwMode="auto">
          <a:xfrm>
            <a:off x="2602800" y="5051223"/>
            <a:ext cx="3600450" cy="346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Calibri" pitchFamily="34" charset="0"/>
              </a:rPr>
              <a:t>3 + 1 + 2 + … = 18</a:t>
            </a:r>
          </a:p>
        </p:txBody>
      </p:sp>
      <p:graphicFrame>
        <p:nvGraphicFramePr>
          <p:cNvPr id="813133" name="Group 77"/>
          <p:cNvGraphicFramePr>
            <a:graphicFrameLocks noGrp="1"/>
          </p:cNvGraphicFramePr>
          <p:nvPr/>
        </p:nvGraphicFramePr>
        <p:xfrm>
          <a:off x="4355525" y="4062674"/>
          <a:ext cx="4730831" cy="1689353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Numărul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de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noduri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explorate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când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soluția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 optima are…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…4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pași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…8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pași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…12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pași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A* + #TILES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39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227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A* + MANHATTAN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12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alibri" pitchFamily="34" charset="0"/>
                        </a:rPr>
                        <a:t>73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Picture 3">
            <a:extLst>
              <a:ext uri="{FF2B5EF4-FFF2-40B4-BE49-F238E27FC236}">
                <a16:creationId xmlns:a16="http://schemas.microsoft.com/office/drawing/2014/main" id="{AC19E97D-B2A7-CC60-C5AC-FA5043DEF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29200" y="1724566"/>
            <a:ext cx="4000499" cy="1665324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4754AF-8FEE-A212-4779-5B8A804DD4E8}"/>
              </a:ext>
            </a:extLst>
          </p:cNvPr>
          <p:cNvSpPr txBox="1"/>
          <p:nvPr/>
        </p:nvSpPr>
        <p:spPr>
          <a:xfrm>
            <a:off x="5314950" y="3253902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inițială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E961C-21C4-6C46-E4D7-05BBE79E11F5}"/>
              </a:ext>
            </a:extLst>
          </p:cNvPr>
          <p:cNvSpPr txBox="1"/>
          <p:nvPr/>
        </p:nvSpPr>
        <p:spPr>
          <a:xfrm>
            <a:off x="7372350" y="3244334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8A1AC4-8864-FACF-77F3-03DB2F0A8C5B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Exemplu</a:t>
            </a:r>
            <a:r>
              <a:rPr lang="en-US" dirty="0">
                <a:latin typeface="Times New Roman"/>
                <a:cs typeface="Times New Roman"/>
              </a:rPr>
              <a:t> – 8 Puzzle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30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5" name="Rectangle 3"/>
          <p:cNvSpPr>
            <a:spLocks noGrp="1" noChangeArrowheads="1"/>
          </p:cNvSpPr>
          <p:nvPr>
            <p:ph idx="1"/>
          </p:nvPr>
        </p:nvSpPr>
        <p:spPr>
          <a:xfrm>
            <a:off x="-1" y="1180224"/>
            <a:ext cx="9241959" cy="5756604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de </a:t>
            </a:r>
            <a:r>
              <a:rPr lang="en-US" sz="2800" dirty="0" err="1">
                <a:latin typeface="Times New Roman"/>
                <a:cs typeface="Times New Roman"/>
              </a:rPr>
              <a:t>ce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să</a:t>
            </a:r>
            <a:r>
              <a:rPr lang="en-US" sz="2800" dirty="0">
                <a:latin typeface="Times New Roman"/>
                <a:cs typeface="Times New Roman"/>
              </a:rPr>
              <a:t> nu </a:t>
            </a:r>
            <a:r>
              <a:rPr lang="en-US" sz="2800" dirty="0" err="1">
                <a:latin typeface="Times New Roman"/>
                <a:cs typeface="Times New Roman"/>
              </a:rPr>
              <a:t>folosim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i="1" dirty="0" err="1">
                <a:latin typeface="Times New Roman"/>
                <a:cs typeface="Times New Roman"/>
              </a:rPr>
              <a:t>costul</a:t>
            </a:r>
            <a:r>
              <a:rPr lang="en-US" sz="2800" i="1" dirty="0">
                <a:latin typeface="Times New Roman"/>
                <a:cs typeface="Times New Roman"/>
              </a:rPr>
              <a:t> real </a:t>
            </a:r>
            <a:r>
              <a:rPr lang="en-US" sz="2800" dirty="0">
                <a:latin typeface="Times New Roman"/>
                <a:cs typeface="Times New Roman"/>
              </a:rPr>
              <a:t>ca </a:t>
            </a:r>
            <a:r>
              <a:rPr lang="en-US" sz="2800" dirty="0" err="1">
                <a:latin typeface="Times New Roman"/>
                <a:cs typeface="Times New Roman"/>
              </a:rPr>
              <a:t>euristică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i="1" dirty="0">
                <a:latin typeface="Times New Roman"/>
                <a:cs typeface="Times New Roman"/>
              </a:rPr>
              <a:t>h(n) = h*(n)</a:t>
            </a:r>
            <a:r>
              <a:rPr lang="en-US" sz="2800" dirty="0">
                <a:latin typeface="Times New Roman"/>
                <a:cs typeface="Times New Roman"/>
              </a:rPr>
              <a:t>?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este</a:t>
            </a:r>
            <a:r>
              <a:rPr lang="en-US" sz="2400" dirty="0">
                <a:latin typeface="Times New Roman"/>
                <a:cs typeface="Times New Roman"/>
              </a:rPr>
              <a:t> o </a:t>
            </a:r>
            <a:r>
              <a:rPr lang="en-US" sz="2400" dirty="0" err="1">
                <a:latin typeface="Times New Roman"/>
                <a:cs typeface="Times New Roman"/>
              </a:rPr>
              <a:t>asemenea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euristică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admisibilă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</a:p>
          <a:p>
            <a:pPr marL="914400" lvl="2" indent="0">
              <a:buNone/>
            </a:pPr>
            <a:r>
              <a:rPr lang="en-US" sz="2000" dirty="0">
                <a:latin typeface="Times New Roman"/>
                <a:cs typeface="Times New Roman"/>
              </a:rPr>
              <a:t>→ da (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chiar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perfectă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explorăm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multe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puține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</a:p>
          <a:p>
            <a:pPr marL="914400" lvl="2" indent="0">
              <a:buNone/>
            </a:pPr>
            <a:r>
              <a:rPr lang="en-US" sz="2000" dirty="0">
                <a:latin typeface="Times New Roman"/>
                <a:cs typeface="Times New Roman"/>
              </a:rPr>
              <a:t>→ </a:t>
            </a:r>
            <a:r>
              <a:rPr lang="en-US" sz="2000" dirty="0" err="1">
                <a:latin typeface="Times New Roman"/>
                <a:cs typeface="Times New Roman"/>
              </a:rPr>
              <a:t>număr</a:t>
            </a:r>
            <a:r>
              <a:rPr lang="en-US" sz="2000" dirty="0">
                <a:latin typeface="Times New Roman"/>
                <a:cs typeface="Times New Roman"/>
              </a:rPr>
              <a:t> minim </a:t>
            </a:r>
            <a:r>
              <a:rPr lang="en-US" sz="2000" dirty="0" err="1">
                <a:latin typeface="Times New Roman"/>
                <a:cs typeface="Times New Roman"/>
              </a:rPr>
              <a:t>posibil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doar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nodurile</a:t>
            </a:r>
            <a:r>
              <a:rPr lang="en-US" sz="2000" dirty="0">
                <a:latin typeface="Times New Roman"/>
                <a:cs typeface="Times New Roman"/>
              </a:rPr>
              <a:t> de pe </a:t>
            </a:r>
            <a:r>
              <a:rPr lang="en-US" sz="2000" dirty="0" err="1">
                <a:latin typeface="Times New Roman"/>
                <a:cs typeface="Times New Roman"/>
              </a:rPr>
              <a:t>drumul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optim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există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vreun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dezavantaj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</a:p>
          <a:p>
            <a:pPr marL="914400" lvl="2" indent="0">
              <a:buNone/>
            </a:pPr>
            <a:r>
              <a:rPr lang="en-US" sz="2000" dirty="0">
                <a:latin typeface="Times New Roman"/>
                <a:cs typeface="Times New Roman"/>
              </a:rPr>
              <a:t>→ ❗ </a:t>
            </a:r>
            <a:r>
              <a:rPr lang="en-US" sz="2000" dirty="0" err="1">
                <a:latin typeface="Times New Roman"/>
                <a:cs typeface="Times New Roman"/>
              </a:rPr>
              <a:t>pentru</a:t>
            </a:r>
            <a:r>
              <a:rPr lang="en-US" sz="2000" dirty="0">
                <a:latin typeface="Times New Roman"/>
                <a:cs typeface="Times New Roman"/>
              </a:rPr>
              <a:t> a </a:t>
            </a:r>
            <a:r>
              <a:rPr lang="en-US" sz="2000" dirty="0" err="1">
                <a:latin typeface="Times New Roman"/>
                <a:cs typeface="Times New Roman"/>
              </a:rPr>
              <a:t>calcula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i="1" dirty="0">
                <a:latin typeface="Times New Roman"/>
                <a:cs typeface="Times New Roman"/>
              </a:rPr>
              <a:t>h*(n)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trebuie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rezolvăm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problema</a:t>
            </a:r>
            <a:endParaRPr lang="en-US" sz="2000" dirty="0">
              <a:latin typeface="Times New Roman"/>
              <a:cs typeface="Times New Roman"/>
            </a:endParaRPr>
          </a:p>
          <a:p>
            <a:pPr marL="914400" lvl="2" indent="0">
              <a:buNone/>
            </a:pPr>
            <a:r>
              <a:rPr lang="en-US" sz="2000" dirty="0">
                <a:latin typeface="Times New Roman"/>
                <a:cs typeface="Times New Roman"/>
              </a:rPr>
              <a:t>→ ❗ cost </a:t>
            </a:r>
            <a:r>
              <a:rPr lang="en-US" sz="2000" dirty="0" err="1">
                <a:latin typeface="Times New Roman"/>
                <a:cs typeface="Times New Roman"/>
              </a:rPr>
              <a:t>computațional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prohibitiv</a:t>
            </a:r>
            <a:r>
              <a:rPr lang="en-US" sz="2000" dirty="0">
                <a:latin typeface="Times New Roman"/>
                <a:cs typeface="Times New Roman"/>
              </a:rPr>
              <a:t>!</a:t>
            </a:r>
          </a:p>
          <a:p>
            <a:pPr marL="0" indent="0" eaLnBrk="1" hangingPunct="1">
              <a:buNone/>
            </a:pPr>
            <a:endParaRPr lang="en-US" sz="2800" dirty="0">
              <a:latin typeface="Times New Roman"/>
              <a:cs typeface="Times New Roman"/>
            </a:endParaRPr>
          </a:p>
          <a:p>
            <a:r>
              <a:rPr lang="en-US" sz="2800" dirty="0" err="1">
                <a:latin typeface="Times New Roman"/>
                <a:cs typeface="Times New Roman"/>
              </a:rPr>
              <a:t>compromis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calitatea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euristicii</a:t>
            </a:r>
            <a:r>
              <a:rPr lang="en-US" sz="2800" dirty="0">
                <a:latin typeface="Times New Roman"/>
                <a:cs typeface="Times New Roman"/>
              </a:rPr>
              <a:t> vs. </a:t>
            </a:r>
            <a:r>
              <a:rPr lang="en-US" sz="2800" dirty="0" err="1">
                <a:latin typeface="Times New Roman"/>
                <a:cs typeface="Times New Roman"/>
              </a:rPr>
              <a:t>eficiență</a:t>
            </a:r>
            <a:r>
              <a:rPr lang="en-US" sz="2800" dirty="0">
                <a:latin typeface="Times New Roman"/>
                <a:cs typeface="Times New Roman"/>
              </a:rPr>
              <a:t>:</a:t>
            </a:r>
          </a:p>
          <a:p>
            <a:pPr lvl="1"/>
            <a:r>
              <a:rPr lang="en-US" sz="2400" dirty="0" err="1">
                <a:latin typeface="Times New Roman"/>
                <a:cs typeface="Times New Roman"/>
              </a:rPr>
              <a:t>euristică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informată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aproape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costul</a:t>
            </a:r>
            <a:r>
              <a:rPr lang="en-US" sz="2400" dirty="0">
                <a:latin typeface="Times New Roman"/>
                <a:cs typeface="Times New Roman"/>
              </a:rPr>
              <a:t> real)</a:t>
            </a:r>
          </a:p>
          <a:p>
            <a:pPr marL="457200" lvl="1" indent="0">
              <a:buNone/>
            </a:pPr>
            <a:r>
              <a:rPr lang="en-US" sz="2400" dirty="0">
                <a:latin typeface="Times New Roman"/>
                <a:cs typeface="Times New Roman"/>
              </a:rPr>
              <a:t>	</a:t>
            </a:r>
            <a:r>
              <a:rPr lang="en-US" sz="2100" dirty="0">
                <a:latin typeface="Times New Roman"/>
                <a:cs typeface="Times New Roman"/>
              </a:rPr>
              <a:t>→ </a:t>
            </a:r>
            <a:r>
              <a:rPr lang="en-US" sz="2100" dirty="0" err="1">
                <a:latin typeface="Times New Roman"/>
                <a:cs typeface="Times New Roman"/>
              </a:rPr>
              <a:t>mai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puține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noduri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expandate</a:t>
            </a:r>
            <a:endParaRPr lang="en-US" sz="2100" dirty="0">
              <a:latin typeface="Times New Roman"/>
              <a:cs typeface="Times New Roman"/>
            </a:endParaRPr>
          </a:p>
          <a:p>
            <a:pPr marL="457200" lvl="1" indent="0">
              <a:buNone/>
            </a:pPr>
            <a:r>
              <a:rPr lang="en-US" sz="2100" dirty="0">
                <a:latin typeface="Times New Roman"/>
                <a:cs typeface="Times New Roman"/>
              </a:rPr>
              <a:t>	→ ❗ cost </a:t>
            </a:r>
            <a:r>
              <a:rPr lang="en-US" sz="2100" dirty="0" err="1">
                <a:latin typeface="Times New Roman"/>
                <a:cs typeface="Times New Roman"/>
              </a:rPr>
              <a:t>mai</a:t>
            </a:r>
            <a:r>
              <a:rPr lang="en-US" sz="2100" dirty="0">
                <a:latin typeface="Times New Roman"/>
                <a:cs typeface="Times New Roman"/>
              </a:rPr>
              <a:t> mare de </a:t>
            </a:r>
            <a:r>
              <a:rPr lang="en-US" sz="2100" dirty="0" err="1">
                <a:latin typeface="Times New Roman"/>
                <a:cs typeface="Times New Roman"/>
              </a:rPr>
              <a:t>calcul</a:t>
            </a:r>
            <a:endParaRPr lang="en-US" sz="2100" dirty="0">
              <a:latin typeface="Times New Roman"/>
              <a:cs typeface="Times New Roman"/>
            </a:endParaRPr>
          </a:p>
          <a:p>
            <a:pPr lvl="1"/>
            <a:r>
              <a:rPr lang="en-US" sz="2400" dirty="0" err="1">
                <a:latin typeface="Times New Roman"/>
                <a:cs typeface="Times New Roman"/>
              </a:rPr>
              <a:t>euristică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simplă</a:t>
            </a:r>
            <a:endParaRPr lang="en-US" sz="2400" dirty="0">
              <a:latin typeface="Times New Roman"/>
              <a:cs typeface="Times New Roman"/>
            </a:endParaRPr>
          </a:p>
          <a:p>
            <a:pPr marL="457200" lvl="1" indent="0">
              <a:buNone/>
            </a:pPr>
            <a:r>
              <a:rPr lang="en-US" sz="2400" dirty="0">
                <a:latin typeface="Times New Roman"/>
                <a:cs typeface="Times New Roman"/>
              </a:rPr>
              <a:t>	</a:t>
            </a:r>
            <a:r>
              <a:rPr lang="en-US" sz="2100" dirty="0">
                <a:latin typeface="Times New Roman"/>
                <a:cs typeface="Times New Roman"/>
              </a:rPr>
              <a:t>→  </a:t>
            </a:r>
            <a:r>
              <a:rPr lang="en-US" sz="2100" dirty="0" err="1">
                <a:latin typeface="Times New Roman"/>
                <a:cs typeface="Times New Roman"/>
              </a:rPr>
              <a:t>calcul</a:t>
            </a:r>
            <a:r>
              <a:rPr lang="en-US" sz="2100" dirty="0">
                <a:latin typeface="Times New Roman"/>
                <a:cs typeface="Times New Roman"/>
              </a:rPr>
              <a:t> rapid</a:t>
            </a:r>
          </a:p>
          <a:p>
            <a:pPr marL="457200" lvl="1" indent="0">
              <a:buNone/>
            </a:pPr>
            <a:r>
              <a:rPr lang="en-US" sz="2100" dirty="0">
                <a:latin typeface="Times New Roman"/>
                <a:cs typeface="Times New Roman"/>
              </a:rPr>
              <a:t>	→ ❗ </a:t>
            </a:r>
            <a:r>
              <a:rPr lang="en-US" sz="2100" dirty="0" err="1">
                <a:latin typeface="Times New Roman"/>
                <a:cs typeface="Times New Roman"/>
              </a:rPr>
              <a:t>mai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multe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noduri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explorate</a:t>
            </a:r>
            <a:endParaRPr lang="en-US" sz="2100" dirty="0">
              <a:latin typeface="Times New Roman"/>
              <a:cs typeface="Times New Roman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26018" y="5191912"/>
            <a:ext cx="3005733" cy="1540161"/>
          </a:xfrm>
          <a:prstGeom prst="rect">
            <a:avLst/>
          </a:prstGeom>
          <a:noFill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1750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Euristici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A*</a:t>
            </a:r>
          </a:p>
        </p:txBody>
      </p:sp>
    </p:spTree>
    <p:extLst>
      <p:ext uri="{BB962C8B-B14F-4D97-AF65-F5344CB8AC3E}">
        <p14:creationId xmlns:p14="http://schemas.microsoft.com/office/powerpoint/2010/main" val="92682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1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45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Euristici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dominante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banale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34207" y="1384694"/>
            <a:ext cx="6845217" cy="5473305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 err="1">
                <a:latin typeface="Times New Roman"/>
                <a:cs typeface="Times New Roman"/>
              </a:rPr>
              <a:t>Euristică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dominantă</a:t>
            </a:r>
            <a:r>
              <a:rPr lang="en-US" sz="2800" dirty="0">
                <a:latin typeface="Times New Roman"/>
                <a:cs typeface="Times New Roman"/>
              </a:rPr>
              <a:t>: </a:t>
            </a:r>
            <a:r>
              <a:rPr lang="en-US" sz="2800" dirty="0" err="1">
                <a:latin typeface="Times New Roman"/>
                <a:cs typeface="Times New Roman"/>
              </a:rPr>
              <a:t>spunem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că</a:t>
            </a:r>
            <a:r>
              <a:rPr lang="en-US" sz="2800" dirty="0">
                <a:latin typeface="Times New Roman"/>
                <a:cs typeface="Times New Roman"/>
              </a:rPr>
              <a:t> h</a:t>
            </a:r>
            <a:r>
              <a:rPr lang="en-US" sz="2800" baseline="-25000" dirty="0">
                <a:latin typeface="Times New Roman"/>
                <a:cs typeface="Times New Roman"/>
              </a:rPr>
              <a:t>a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domină</a:t>
            </a:r>
            <a:r>
              <a:rPr lang="en-US" sz="2800" dirty="0">
                <a:latin typeface="Times New Roman"/>
                <a:cs typeface="Times New Roman"/>
              </a:rPr>
              <a:t> pe </a:t>
            </a:r>
            <a:r>
              <a:rPr lang="en-US" sz="2800" dirty="0" err="1">
                <a:latin typeface="Times New Roman"/>
                <a:cs typeface="Times New Roman"/>
              </a:rPr>
              <a:t>h</a:t>
            </a:r>
            <a:r>
              <a:rPr lang="en-US" sz="2800" baseline="-25000" dirty="0" err="1">
                <a:latin typeface="Times New Roman"/>
                <a:cs typeface="Times New Roman"/>
              </a:rPr>
              <a:t>c</a:t>
            </a:r>
            <a:r>
              <a:rPr lang="en-US" sz="2800" dirty="0">
                <a:latin typeface="Times New Roman"/>
                <a:cs typeface="Times New Roman"/>
              </a:rPr>
              <a:t> (</a:t>
            </a:r>
            <a:r>
              <a:rPr lang="en-US" sz="2800" dirty="0" err="1">
                <a:latin typeface="Times New Roman"/>
                <a:cs typeface="Times New Roman"/>
              </a:rPr>
              <a:t>scriem</a:t>
            </a:r>
            <a:r>
              <a:rPr lang="en-US" sz="2800" dirty="0">
                <a:latin typeface="Times New Roman"/>
                <a:cs typeface="Times New Roman"/>
              </a:rPr>
              <a:t> h</a:t>
            </a:r>
            <a:r>
              <a:rPr lang="en-US" sz="2800" baseline="-25000" dirty="0">
                <a:latin typeface="Times New Roman"/>
                <a:cs typeface="Times New Roman"/>
              </a:rPr>
              <a:t>a</a:t>
            </a:r>
            <a:r>
              <a:rPr lang="en-US" sz="2800" dirty="0">
                <a:latin typeface="Times New Roman"/>
                <a:cs typeface="Times New Roman"/>
              </a:rPr>
              <a:t> ≥ </a:t>
            </a:r>
            <a:r>
              <a:rPr lang="en-US" sz="2800" dirty="0" err="1">
                <a:latin typeface="Times New Roman"/>
                <a:cs typeface="Times New Roman"/>
              </a:rPr>
              <a:t>h</a:t>
            </a:r>
            <a:r>
              <a:rPr lang="en-US" sz="2800" baseline="-25000" dirty="0" err="1">
                <a:latin typeface="Times New Roman"/>
                <a:cs typeface="Times New Roman"/>
              </a:rPr>
              <a:t>c</a:t>
            </a:r>
            <a:r>
              <a:rPr lang="en-US" sz="2800" dirty="0">
                <a:latin typeface="Times New Roman"/>
                <a:cs typeface="Times New Roman"/>
              </a:rPr>
              <a:t>) </a:t>
            </a:r>
            <a:r>
              <a:rPr lang="en-US" sz="2800" dirty="0" err="1">
                <a:latin typeface="Times New Roman"/>
                <a:cs typeface="Times New Roman"/>
              </a:rPr>
              <a:t>dacă</a:t>
            </a:r>
            <a:endParaRPr lang="en-US" sz="28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600" dirty="0">
              <a:latin typeface="Times New Roman"/>
              <a:cs typeface="Times New Roman"/>
            </a:endParaRPr>
          </a:p>
          <a:p>
            <a:pPr marL="457200" lvl="1" indent="0">
              <a:buNone/>
            </a:pPr>
            <a:r>
              <a:rPr lang="en-US" sz="2400" dirty="0">
                <a:latin typeface="Times New Roman"/>
                <a:cs typeface="Times New Roman"/>
              </a:rPr>
              <a:t>→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dacă</a:t>
            </a:r>
            <a:r>
              <a:rPr lang="en-US" sz="2400" dirty="0">
                <a:latin typeface="Times New Roman"/>
                <a:cs typeface="Times New Roman"/>
              </a:rPr>
              <a:t> h</a:t>
            </a:r>
            <a:r>
              <a:rPr lang="en-US" sz="2400" baseline="-2500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h</a:t>
            </a:r>
            <a:r>
              <a:rPr lang="en-US" sz="2400" baseline="-25000" dirty="0" err="1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 sunt </a:t>
            </a:r>
            <a:r>
              <a:rPr lang="en-US" sz="2400" dirty="0" err="1">
                <a:latin typeface="Times New Roman"/>
                <a:cs typeface="Times New Roman"/>
              </a:rPr>
              <a:t>admisibile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h</a:t>
            </a:r>
            <a:r>
              <a:rPr lang="en-US" sz="2400" baseline="-2500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domină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h</a:t>
            </a:r>
            <a:r>
              <a:rPr lang="en-US" sz="2400" baseline="-25000" dirty="0" err="1">
                <a:latin typeface="Times New Roman"/>
                <a:cs typeface="Times New Roman"/>
              </a:rPr>
              <a:t>c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atunci</a:t>
            </a:r>
            <a:r>
              <a:rPr lang="en-US" sz="2400" dirty="0">
                <a:latin typeface="Times New Roman"/>
                <a:cs typeface="Times New Roman"/>
              </a:rPr>
              <a:t> A* cu h</a:t>
            </a:r>
            <a:r>
              <a:rPr lang="en-US" sz="2400" baseline="-25000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expanda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puține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cel </a:t>
            </a:r>
            <a:r>
              <a:rPr lang="en-US" sz="2400" dirty="0" err="1">
                <a:latin typeface="Times New Roman"/>
                <a:cs typeface="Times New Roman"/>
              </a:rPr>
              <a:t>mult</a:t>
            </a:r>
            <a:r>
              <a:rPr lang="en-US" sz="2400" dirty="0">
                <a:latin typeface="Times New Roman"/>
                <a:cs typeface="Times New Roman"/>
              </a:rPr>
              <a:t> la </a:t>
            </a:r>
            <a:r>
              <a:rPr lang="en-US" sz="2400" dirty="0" err="1">
                <a:latin typeface="Times New Roman"/>
                <a:cs typeface="Times New Roman"/>
              </a:rPr>
              <a:t>fel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multe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</a:t>
            </a:r>
            <a:r>
              <a:rPr lang="en-US" sz="2400" dirty="0">
                <a:latin typeface="Times New Roman"/>
                <a:cs typeface="Times New Roman"/>
              </a:rPr>
              <a:t> ca A* cu </a:t>
            </a:r>
            <a:r>
              <a:rPr lang="en-US" sz="2400" dirty="0" err="1">
                <a:latin typeface="Times New Roman"/>
                <a:cs typeface="Times New Roman"/>
              </a:rPr>
              <a:t>h</a:t>
            </a:r>
            <a:r>
              <a:rPr lang="en-US" sz="2400" baseline="-25000" dirty="0" err="1">
                <a:latin typeface="Times New Roman"/>
                <a:cs typeface="Times New Roman"/>
              </a:rPr>
              <a:t>c</a:t>
            </a:r>
            <a:endParaRPr lang="en-US" sz="2400" dirty="0">
              <a:latin typeface="Times New Roman"/>
              <a:cs typeface="Times New Roman"/>
            </a:endParaRPr>
          </a:p>
          <a:p>
            <a:pPr eaLnBrk="1" hangingPunct="1"/>
            <a:endParaRPr lang="en-US" sz="2400" dirty="0">
              <a:latin typeface="Times New Roman"/>
              <a:cs typeface="Times New Roman"/>
            </a:endParaRPr>
          </a:p>
          <a:p>
            <a:pPr eaLnBrk="1" hangingPunct="1"/>
            <a:r>
              <a:rPr lang="en-US" sz="2800" dirty="0">
                <a:latin typeface="Times New Roman"/>
                <a:cs typeface="Times New Roman"/>
              </a:rPr>
              <a:t>maximum a </a:t>
            </a:r>
            <a:r>
              <a:rPr lang="en-US" sz="2800" dirty="0" err="1">
                <a:latin typeface="Times New Roman"/>
                <a:cs typeface="Times New Roman"/>
              </a:rPr>
              <a:t>două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euristici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admisibile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i="1" dirty="0">
                <a:latin typeface="Times New Roman"/>
                <a:cs typeface="Times New Roman"/>
              </a:rPr>
              <a:t>h</a:t>
            </a:r>
            <a:r>
              <a:rPr lang="en-US" sz="2800" i="1" baseline="-25000" dirty="0">
                <a:latin typeface="Times New Roman"/>
                <a:cs typeface="Times New Roman"/>
              </a:rPr>
              <a:t>a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și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i="1" dirty="0" err="1">
                <a:latin typeface="Times New Roman"/>
                <a:cs typeface="Times New Roman"/>
              </a:rPr>
              <a:t>h</a:t>
            </a:r>
            <a:r>
              <a:rPr lang="en-US" sz="2800" i="1" baseline="-25000" dirty="0" err="1">
                <a:latin typeface="Times New Roman"/>
                <a:cs typeface="Times New Roman"/>
              </a:rPr>
              <a:t>b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este</a:t>
            </a:r>
            <a:r>
              <a:rPr lang="en-US" sz="2800" dirty="0">
                <a:latin typeface="Times New Roman"/>
                <a:cs typeface="Times New Roman"/>
              </a:rPr>
              <a:t> o </a:t>
            </a:r>
            <a:r>
              <a:rPr lang="en-US" sz="2800" dirty="0" err="1">
                <a:latin typeface="Times New Roman"/>
                <a:cs typeface="Times New Roman"/>
              </a:rPr>
              <a:t>euristică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admisibilă</a:t>
            </a:r>
            <a:endParaRPr lang="en-US" sz="2800" dirty="0">
              <a:latin typeface="Times New Roman"/>
              <a:cs typeface="Times New Roman"/>
            </a:endParaRPr>
          </a:p>
          <a:p>
            <a:pPr marL="457200" lvl="1" indent="0">
              <a:buNone/>
            </a:pPr>
            <a:endParaRPr lang="en-US" sz="600" dirty="0">
              <a:latin typeface="Times New Roman"/>
              <a:cs typeface="Times New Roman"/>
            </a:endParaRPr>
          </a:p>
          <a:p>
            <a:pPr marL="457200" lvl="1" indent="0">
              <a:buNone/>
            </a:pPr>
            <a:r>
              <a:rPr lang="en-US" sz="2400" dirty="0">
                <a:latin typeface="Times New Roman"/>
                <a:cs typeface="Times New Roman"/>
              </a:rPr>
              <a:t>→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este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informată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decât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fiecare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parte</a:t>
            </a:r>
            <a:endParaRPr lang="en-US" sz="2400" dirty="0">
              <a:latin typeface="Times New Roman"/>
              <a:cs typeface="Times New Roman"/>
            </a:endParaRPr>
          </a:p>
          <a:p>
            <a:pPr lvl="1" eaLnBrk="1" hangingPunct="1"/>
            <a:endParaRPr lang="en-US" sz="2000" dirty="0">
              <a:latin typeface="Times New Roman"/>
              <a:cs typeface="Times New Roman"/>
            </a:endParaRPr>
          </a:p>
          <a:p>
            <a:pPr marL="457200" lvl="1" indent="0" eaLnBrk="1" hangingPunct="1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pPr eaLnBrk="1" hangingPunct="1"/>
            <a:r>
              <a:rPr lang="en-US" sz="2800" dirty="0" err="1">
                <a:latin typeface="Times New Roman"/>
                <a:cs typeface="Times New Roman"/>
              </a:rPr>
              <a:t>euristici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banale</a:t>
            </a:r>
            <a:r>
              <a:rPr lang="en-US" sz="2800" dirty="0">
                <a:latin typeface="Times New Roman"/>
                <a:cs typeface="Times New Roman"/>
              </a:rPr>
              <a:t>: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euristica</a:t>
            </a:r>
            <a:r>
              <a:rPr lang="en-US" sz="2400" dirty="0">
                <a:latin typeface="Times New Roman"/>
                <a:cs typeface="Times New Roman"/>
              </a:rPr>
              <a:t> zero h(n) = 0 </a:t>
            </a:r>
          </a:p>
          <a:p>
            <a:pPr marL="914400" lvl="2" indent="0">
              <a:buNone/>
            </a:pPr>
            <a:r>
              <a:rPr lang="en-US" sz="2100" dirty="0">
                <a:latin typeface="Times New Roman"/>
                <a:cs typeface="Times New Roman"/>
              </a:rPr>
              <a:t>→ conduce </a:t>
            </a:r>
            <a:r>
              <a:rPr lang="en-US" sz="2100" dirty="0" err="1">
                <a:latin typeface="Times New Roman"/>
                <a:cs typeface="Times New Roman"/>
              </a:rPr>
              <a:t>în</a:t>
            </a:r>
            <a:r>
              <a:rPr lang="en-US" sz="2100" dirty="0">
                <a:latin typeface="Times New Roman"/>
                <a:cs typeface="Times New Roman"/>
              </a:rPr>
              <a:t> A* la UCS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euristica</a:t>
            </a:r>
            <a:r>
              <a:rPr lang="en-US" sz="2400" dirty="0">
                <a:latin typeface="Times New Roman"/>
                <a:cs typeface="Times New Roman"/>
              </a:rPr>
              <a:t> exacta h(n) = h*(n)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/>
                <a:cs typeface="Times New Roman"/>
              </a:rPr>
              <a:t>	</a:t>
            </a:r>
            <a:r>
              <a:rPr lang="en-US" sz="2100" dirty="0">
                <a:latin typeface="Times New Roman"/>
                <a:cs typeface="Times New Roman"/>
              </a:rPr>
              <a:t>→ A* </a:t>
            </a:r>
            <a:r>
              <a:rPr lang="en-US" sz="2100" dirty="0" err="1">
                <a:latin typeface="Times New Roman"/>
                <a:cs typeface="Times New Roman"/>
              </a:rPr>
              <a:t>explorează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doar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drumul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optim</a:t>
            </a:r>
            <a:endParaRPr lang="en-US" sz="2100" dirty="0">
              <a:latin typeface="Times New Roman"/>
              <a:cs typeface="Times New Roman"/>
            </a:endParaRPr>
          </a:p>
          <a:p>
            <a:pPr marL="457200" lvl="1" indent="0">
              <a:buNone/>
            </a:pPr>
            <a:r>
              <a:rPr lang="en-US" sz="2100" dirty="0">
                <a:latin typeface="Times New Roman"/>
                <a:cs typeface="Times New Roman"/>
              </a:rPr>
              <a:t>	→ ❗ </a:t>
            </a:r>
            <a:r>
              <a:rPr lang="en-US" sz="2100" dirty="0" err="1">
                <a:latin typeface="Times New Roman"/>
                <a:cs typeface="Times New Roman"/>
              </a:rPr>
              <a:t>imposibil</a:t>
            </a:r>
            <a:r>
              <a:rPr lang="en-US" sz="2100" dirty="0">
                <a:latin typeface="Times New Roman"/>
                <a:cs typeface="Times New Roman"/>
              </a:rPr>
              <a:t> de </a:t>
            </a:r>
            <a:r>
              <a:rPr lang="en-US" sz="2100" dirty="0" err="1">
                <a:latin typeface="Times New Roman"/>
                <a:cs typeface="Times New Roman"/>
              </a:rPr>
              <a:t>calculat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în</a:t>
            </a:r>
            <a:r>
              <a:rPr lang="en-US" sz="2100" dirty="0">
                <a:latin typeface="Times New Roman"/>
                <a:cs typeface="Times New Roman"/>
              </a:rPr>
              <a:t> </a:t>
            </a:r>
            <a:r>
              <a:rPr lang="en-US" sz="2100" dirty="0" err="1">
                <a:latin typeface="Times New Roman"/>
                <a:cs typeface="Times New Roman"/>
              </a:rPr>
              <a:t>practică</a:t>
            </a:r>
            <a:endParaRPr lang="en-US" sz="2100" dirty="0">
              <a:latin typeface="Times New Roman"/>
              <a:cs typeface="Times New Roman"/>
            </a:endParaRPr>
          </a:p>
        </p:txBody>
      </p:sp>
      <p:pic>
        <p:nvPicPr>
          <p:cNvPr id="27652" name="Picture 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025444" y="3579122"/>
            <a:ext cx="3093112" cy="34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7" name="Picture 1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204762" y="1725362"/>
            <a:ext cx="1987253" cy="301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8" name="Group 17"/>
          <p:cNvGrpSpPr/>
          <p:nvPr/>
        </p:nvGrpSpPr>
        <p:grpSpPr>
          <a:xfrm>
            <a:off x="7468528" y="1609923"/>
            <a:ext cx="1600200" cy="4253067"/>
            <a:chOff x="9344024" y="1896314"/>
            <a:chExt cx="1781176" cy="3550553"/>
          </a:xfrm>
        </p:grpSpPr>
        <p:pic>
          <p:nvPicPr>
            <p:cNvPr id="27653" name="Picture 9" descr="txp_fig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10263187" y="1896314"/>
              <a:ext cx="862013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54" name="Picture 11" descr="txp_fig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10356385" y="5270654"/>
              <a:ext cx="720725" cy="176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55" name="Picture 13" descr="txp_fig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9344024" y="3505200"/>
              <a:ext cx="350839" cy="2984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56" name="Picture 15" descr="txp_fig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10791825" y="3505201"/>
              <a:ext cx="333375" cy="3508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7658" name="Picture 19" descr="txp_fig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9344024" y="4349749"/>
              <a:ext cx="350839" cy="2984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59" name="Line 23"/>
            <p:cNvSpPr>
              <a:spLocks noChangeShapeType="1"/>
            </p:cNvSpPr>
            <p:nvPr/>
          </p:nvSpPr>
          <p:spPr bwMode="auto">
            <a:xfrm flipH="1" flipV="1">
              <a:off x="9572623" y="4800600"/>
              <a:ext cx="457200" cy="3048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sp>
          <p:nvSpPr>
            <p:cNvPr id="27660" name="Line 24"/>
            <p:cNvSpPr>
              <a:spLocks noChangeShapeType="1"/>
            </p:cNvSpPr>
            <p:nvPr/>
          </p:nvSpPr>
          <p:spPr bwMode="auto">
            <a:xfrm flipV="1">
              <a:off x="10334623" y="3962400"/>
              <a:ext cx="533400" cy="11430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sp>
          <p:nvSpPr>
            <p:cNvPr id="27661" name="Line 25"/>
            <p:cNvSpPr>
              <a:spLocks noChangeShapeType="1"/>
            </p:cNvSpPr>
            <p:nvPr/>
          </p:nvSpPr>
          <p:spPr bwMode="auto">
            <a:xfrm flipV="1">
              <a:off x="9496423" y="3962400"/>
              <a:ext cx="0" cy="3048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sp>
          <p:nvSpPr>
            <p:cNvPr id="27662" name="Line 26"/>
            <p:cNvSpPr>
              <a:spLocks noChangeShapeType="1"/>
            </p:cNvSpPr>
            <p:nvPr/>
          </p:nvSpPr>
          <p:spPr bwMode="auto">
            <a:xfrm flipV="1">
              <a:off x="9496423" y="3124200"/>
              <a:ext cx="685800" cy="2286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sp>
          <p:nvSpPr>
            <p:cNvPr id="27663" name="Line 27"/>
            <p:cNvSpPr>
              <a:spLocks noChangeShapeType="1"/>
            </p:cNvSpPr>
            <p:nvPr/>
          </p:nvSpPr>
          <p:spPr bwMode="auto">
            <a:xfrm flipH="1" flipV="1">
              <a:off x="10182223" y="3124200"/>
              <a:ext cx="762000" cy="2286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sp>
          <p:nvSpPr>
            <p:cNvPr id="27664" name="Line 28"/>
            <p:cNvSpPr>
              <a:spLocks noChangeShapeType="1"/>
            </p:cNvSpPr>
            <p:nvPr/>
          </p:nvSpPr>
          <p:spPr bwMode="auto">
            <a:xfrm flipV="1">
              <a:off x="10182223" y="2286000"/>
              <a:ext cx="0" cy="2286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</p:spPr>
          <p:txBody>
            <a:bodyPr lIns="91438" tIns="45719" rIns="91438" bIns="45719"/>
            <a:lstStyle/>
            <a:p>
              <a:endParaRPr lang="en-US"/>
            </a:p>
          </p:txBody>
        </p:sp>
        <p:pic>
          <p:nvPicPr>
            <p:cNvPr id="27665" name="Picture 29" descr="txp_fig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9420224" y="2732089"/>
              <a:ext cx="1560513" cy="295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E48000C-9DAB-111B-1618-A15E1340A300}"/>
              </a:ext>
            </a:extLst>
          </p:cNvPr>
          <p:cNvSpPr txBox="1"/>
          <p:nvPr/>
        </p:nvSpPr>
        <p:spPr>
          <a:xfrm>
            <a:off x="7514281" y="1544875"/>
            <a:ext cx="810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RO" sz="2400" i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RO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C7D90-EC7B-A261-A607-BADABE13289A}"/>
              </a:ext>
            </a:extLst>
          </p:cNvPr>
          <p:cNvSpPr txBox="1"/>
          <p:nvPr/>
        </p:nvSpPr>
        <p:spPr>
          <a:xfrm>
            <a:off x="7801386" y="5504317"/>
            <a:ext cx="647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RO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 </a:t>
            </a:r>
          </a:p>
        </p:txBody>
      </p:sp>
      <p:sp>
        <p:nvSpPr>
          <p:cNvPr id="7" name="Up Arrow 6">
            <a:extLst>
              <a:ext uri="{FF2B5EF4-FFF2-40B4-BE49-F238E27FC236}">
                <a16:creationId xmlns:a16="http://schemas.microsoft.com/office/drawing/2014/main" id="{F617EF2B-2335-47E3-21F5-E60B57CF08B5}"/>
              </a:ext>
            </a:extLst>
          </p:cNvPr>
          <p:cNvSpPr/>
          <p:nvPr/>
        </p:nvSpPr>
        <p:spPr>
          <a:xfrm>
            <a:off x="6689031" y="1174458"/>
            <a:ext cx="804296" cy="4925259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092A0-64E3-AB6D-C22C-7676FF78F437}"/>
              </a:ext>
            </a:extLst>
          </p:cNvPr>
          <p:cNvSpPr txBox="1"/>
          <p:nvPr/>
        </p:nvSpPr>
        <p:spPr>
          <a:xfrm rot="16200000">
            <a:off x="4625076" y="3406253"/>
            <a:ext cx="4925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RO" sz="2400" b="1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uristică mai informată</a:t>
            </a:r>
          </a:p>
        </p:txBody>
      </p:sp>
    </p:spTree>
    <p:extLst>
      <p:ext uri="{BB962C8B-B14F-4D97-AF65-F5344CB8AC3E}">
        <p14:creationId xmlns:p14="http://schemas.microsoft.com/office/powerpoint/2010/main" val="187969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305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1119250"/>
                <a:ext cx="9144000" cy="5738750"/>
              </a:xfrm>
            </p:spPr>
            <p:txBody>
              <a:bodyPr>
                <a:normAutofit lnSpcReduction="10000"/>
              </a:bodyPr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posibilă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măsură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a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cuantifica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calitatea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unei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euristici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cât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bună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e,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cât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ajută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să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rezolvăm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problemă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este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factorul</a:t>
                </a:r>
                <a:r>
                  <a:rPr lang="en-US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1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ramificare</a:t>
                </a:r>
                <a:r>
                  <a:rPr lang="en-US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efectiv</a:t>
                </a:r>
                <a:r>
                  <a:rPr lang="en-US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b*.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Echipez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algoritmul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A* cu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euristica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și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îl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rulez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problemă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particulară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Pot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apoi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1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b* </a:t>
                </a:r>
                <a:r>
                  <a:rPr lang="en-US" sz="21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astfel</a:t>
                </a:r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găsesc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soluția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adâncime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generez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în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total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noduri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aflu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b*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fiind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factorul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ramificare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unui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arbore care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generează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până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adâncimea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un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număr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noduri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 lvl="1" indent="0">
                  <a:lnSpc>
                    <a:spcPct val="90000"/>
                  </a:lnSpc>
                  <a:buNone/>
                </a:pPr>
                <a:endParaRPr lang="ro-RO" sz="18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ro-RO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+1=1+ </m:t>
                      </m:r>
                      <m:sSup>
                        <m:sSupPr>
                          <m:ctrlPr>
                            <a:rPr lang="ro-RO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ro-RO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ro-RO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r>
                        <a:rPr lang="ro-RO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ro-RO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ro-RO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o-RO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ro-RO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ro-RO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o-RO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ro-RO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…+</m:t>
                      </m:r>
                      <m:sSup>
                        <m:sSupPr>
                          <m:ctrlPr>
                            <a:rPr lang="ro-RO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ro-RO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o-RO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ro-RO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ro-RO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o-RO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lnSpc>
                    <a:spcPct val="90000"/>
                  </a:lnSpc>
                  <a:buNone/>
                </a:pPr>
                <a:endParaRPr lang="en-US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și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52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obținem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b*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1.92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b*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poate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varia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particulare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obicei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valori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apropiate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complexe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astfel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calculând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b*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pentru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serie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facem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idee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despre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bună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euristica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considerată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ideal, am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vrea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b*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să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fie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cât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aproape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1.</a:t>
                </a: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90000"/>
                  </a:lnSpc>
                </a:pPr>
                <a:endParaRPr lang="en-US" sz="1800" dirty="0"/>
              </a:p>
            </p:txBody>
          </p:sp>
        </mc:Choice>
        <mc:Fallback xmlns="">
          <p:sp>
            <p:nvSpPr>
              <p:cNvPr id="8130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19250"/>
                <a:ext cx="9144000" cy="5738750"/>
              </a:xfrm>
              <a:blipFill>
                <a:blip r:embed="rId3"/>
                <a:stretch>
                  <a:fillRect l="-694" t="-1770" r="-417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8E8A1AC4-8864-FACF-77F3-03DB2F0A8C5B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Factorul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ramificare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</a:t>
            </a:r>
            <a:r>
              <a:rPr lang="en-US" dirty="0">
                <a:latin typeface="Times New Roman"/>
                <a:cs typeface="Times New Roman"/>
              </a:rPr>
              <a:t> b*</a:t>
            </a:r>
          </a:p>
        </p:txBody>
      </p:sp>
    </p:spTree>
    <p:extLst>
      <p:ext uri="{BB962C8B-B14F-4D97-AF65-F5344CB8AC3E}">
        <p14:creationId xmlns:p14="http://schemas.microsoft.com/office/powerpoint/2010/main" val="236705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8A1AC4-8864-FACF-77F3-03DB2F0A8C5B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Factorul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ramificare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</a:t>
            </a:r>
            <a:r>
              <a:rPr lang="en-US" dirty="0">
                <a:latin typeface="Times New Roman"/>
                <a:cs typeface="Times New Roman"/>
              </a:rPr>
              <a:t> b*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14EB02-0FA1-FAB0-CD9F-BFE31E33E4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148" y="1107374"/>
            <a:ext cx="8824851" cy="565265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Considerăm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8-puzzle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7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așezate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greșit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(#Tiles)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7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distanțelor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Manhattan ale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pieselor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(Manhattan)</a:t>
            </a:r>
          </a:p>
          <a:p>
            <a:pPr eaLnBrk="1" hangingPunct="1"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Generăm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1200 de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instanțe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8-puzzle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astfel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de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instanțe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d = 2 (am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nevoie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2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mutări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găsesc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de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instanțe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d = 4 (am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nevoie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4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mutări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găsesc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de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instanțe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d = 6 (am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nevoie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6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mutări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găsesc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de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instanțe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d = 24 (am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nevoie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24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mutări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să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găsesc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9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= 1200 de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instanțe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Rulez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Calculez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b*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Adițional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rulez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iterativă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(IDS)</a:t>
            </a:r>
          </a:p>
        </p:txBody>
      </p:sp>
    </p:spTree>
    <p:extLst>
      <p:ext uri="{BB962C8B-B14F-4D97-AF65-F5344CB8AC3E}">
        <p14:creationId xmlns:p14="http://schemas.microsoft.com/office/powerpoint/2010/main" val="1740797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8A1AC4-8864-FACF-77F3-03DB2F0A8C5B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Factorul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ramificare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</a:t>
            </a:r>
            <a:r>
              <a:rPr lang="en-US" dirty="0">
                <a:latin typeface="Times New Roman"/>
                <a:cs typeface="Times New Roman"/>
              </a:rPr>
              <a:t> b*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14EB02-0FA1-FAB0-CD9F-BFE31E33E4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148" y="1107374"/>
            <a:ext cx="8824851" cy="56526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Rulez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Calculez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b*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Adițional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rulez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iterativă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(IDS)</a:t>
            </a:r>
          </a:p>
        </p:txBody>
      </p:sp>
      <p:pic>
        <p:nvPicPr>
          <p:cNvPr id="3" name="Picture 2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4C3BF33C-05CC-6361-EE62-E69E41B38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24" y="2197099"/>
            <a:ext cx="8369928" cy="466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38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E8A1AC4-8864-FACF-77F3-03DB2F0A8C5B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Factorul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ramificare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efectiv</a:t>
            </a:r>
            <a:r>
              <a:rPr lang="en-US" dirty="0">
                <a:latin typeface="Times New Roman"/>
                <a:cs typeface="Times New Roman"/>
              </a:rPr>
              <a:t> b*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14EB02-0FA1-FAB0-CD9F-BFE31E33E4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148" y="1107374"/>
            <a:ext cx="8824851" cy="56526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Rulez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Calculez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b*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Adițional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rulez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iterativă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(IDS)</a:t>
            </a:r>
          </a:p>
          <a:p>
            <a:pPr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definiția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euristicilor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stare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 ≤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(n),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domină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Experimental,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observăm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rezolvă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eficient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IDS.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 = 12, A* cu h</a:t>
            </a:r>
            <a:r>
              <a:rPr lang="en-US" sz="2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rezolvă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50.000 de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repede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IDS.</a:t>
            </a:r>
          </a:p>
          <a:p>
            <a:pPr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15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D23FA-02A9-CCF6-80F6-431BE9D92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73C465C-9C62-10A9-32B1-43B78C2B0D7B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Algoritmul</a:t>
            </a:r>
            <a:r>
              <a:rPr lang="en-US" dirty="0">
                <a:latin typeface="Times New Roman"/>
                <a:cs typeface="Times New Roman"/>
              </a:rPr>
              <a:t> A* </a:t>
            </a:r>
            <a:r>
              <a:rPr lang="en-US" dirty="0" err="1">
                <a:latin typeface="Times New Roman"/>
                <a:cs typeface="Times New Roman"/>
              </a:rPr>
              <a:t>ponderat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69B72-37AA-612D-F59D-4A8F3FFACD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148" y="1107374"/>
            <a:ext cx="8824851" cy="56526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Putem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ajusta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performanța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introducerea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pondere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w.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Multiplicăm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w:</a:t>
            </a:r>
          </a:p>
          <a:p>
            <a:pPr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g(n) +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w⋅h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  <a:p>
            <a:pPr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w&gt;1,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atunci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favorizează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direcția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indicată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euristică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w&lt;1,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atunci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are din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puțină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încredere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euristică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se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întâmplă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w→0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w→∞ ?</a:t>
            </a:r>
          </a:p>
        </p:txBody>
      </p:sp>
    </p:spTree>
    <p:extLst>
      <p:ext uri="{BB962C8B-B14F-4D97-AF65-F5344CB8AC3E}">
        <p14:creationId xmlns:p14="http://schemas.microsoft.com/office/powerpoint/2010/main" val="413650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A4BBA-1669-DF93-1CAD-5445D67F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31B7E15-FD51-1CB1-E906-40A1B1FDD7B7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Algoritmul</a:t>
            </a:r>
            <a:r>
              <a:rPr lang="en-US" dirty="0">
                <a:latin typeface="Times New Roman"/>
                <a:cs typeface="Times New Roman"/>
              </a:rPr>
              <a:t> A* </a:t>
            </a:r>
            <a:r>
              <a:rPr lang="en-US" dirty="0" err="1">
                <a:latin typeface="Times New Roman"/>
                <a:cs typeface="Times New Roman"/>
              </a:rPr>
              <a:t>ponderat</a:t>
            </a:r>
            <a:endParaRPr lang="en-US" dirty="0">
              <a:latin typeface="Times New Roman"/>
              <a:cs typeface="Times New Roman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3FD3F8A-B235-276F-869D-F0BD124F6A79}"/>
              </a:ext>
            </a:extLst>
          </p:cNvPr>
          <p:cNvGrpSpPr/>
          <p:nvPr/>
        </p:nvGrpSpPr>
        <p:grpSpPr>
          <a:xfrm>
            <a:off x="429946" y="1588611"/>
            <a:ext cx="8479878" cy="3680777"/>
            <a:chOff x="541121" y="2282380"/>
            <a:chExt cx="8479878" cy="3680777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DAF469E1-A04C-6833-3682-97891D6B4970}"/>
                </a:ext>
              </a:extLst>
            </p:cNvPr>
            <p:cNvSpPr txBox="1"/>
            <p:nvPr/>
          </p:nvSpPr>
          <p:spPr>
            <a:xfrm>
              <a:off x="612141" y="2282380"/>
              <a:ext cx="992505" cy="1285032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20000"/>
                </a:lnSpc>
                <a:spcBef>
                  <a:spcPts val="105"/>
                </a:spcBef>
              </a:pPr>
              <a:r>
                <a:rPr sz="36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A* UCS</a:t>
              </a:r>
              <a:endParaRPr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8DF97B1F-9F60-740E-B6EF-AC2AB6140B4C}"/>
                </a:ext>
              </a:extLst>
            </p:cNvPr>
            <p:cNvSpPr txBox="1"/>
            <p:nvPr/>
          </p:nvSpPr>
          <p:spPr>
            <a:xfrm>
              <a:off x="2441195" y="2282381"/>
              <a:ext cx="1425575" cy="1343025"/>
            </a:xfrm>
            <a:prstGeom prst="rect">
              <a:avLst/>
            </a:prstGeom>
          </p:spPr>
          <p:txBody>
            <a:bodyPr vert="horz" wrap="square" lIns="0" tIns="122555" rIns="0" bIns="0" rtlCol="0">
              <a:spAutoFit/>
            </a:bodyPr>
            <a:lstStyle/>
            <a:p>
              <a:pPr marL="12700">
                <a:spcBef>
                  <a:spcPts val="965"/>
                </a:spcBef>
              </a:pP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f(n)</a:t>
              </a:r>
              <a:r>
                <a:rPr sz="36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36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>
                <a:spcBef>
                  <a:spcPts val="870"/>
                </a:spcBef>
              </a:pP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f(n)</a:t>
              </a:r>
              <a:r>
                <a:rPr sz="36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36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932BC10E-7D73-1950-987E-C99B35A67749}"/>
                </a:ext>
              </a:extLst>
            </p:cNvPr>
            <p:cNvSpPr txBox="1"/>
            <p:nvPr/>
          </p:nvSpPr>
          <p:spPr>
            <a:xfrm>
              <a:off x="3977099" y="2294529"/>
              <a:ext cx="4427855" cy="2660650"/>
            </a:xfrm>
            <a:prstGeom prst="rect">
              <a:avLst/>
            </a:prstGeom>
          </p:spPr>
          <p:txBody>
            <a:bodyPr vert="horz" wrap="square" lIns="0" tIns="122555" rIns="0" bIns="0" rtlCol="0">
              <a:spAutoFit/>
            </a:bodyPr>
            <a:lstStyle/>
            <a:p>
              <a:pPr marL="12700">
                <a:spcBef>
                  <a:spcPts val="965"/>
                </a:spcBef>
                <a:tabLst>
                  <a:tab pos="1841500" algn="l"/>
                  <a:tab pos="2755900" algn="l"/>
                </a:tabLst>
              </a:pPr>
              <a:r>
                <a:rPr sz="36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g(n)</a:t>
              </a: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sz="36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sz="36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h(n)</a:t>
              </a:r>
              <a:endParaRPr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>
                <a:spcBef>
                  <a:spcPts val="870"/>
                </a:spcBef>
                <a:tabLst>
                  <a:tab pos="1841500" algn="l"/>
                  <a:tab pos="2755900" algn="l"/>
                </a:tabLst>
              </a:pPr>
              <a:r>
                <a:rPr sz="36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g(n)</a:t>
              </a: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sz="36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sz="36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 marR="5080">
                <a:lnSpc>
                  <a:spcPct val="120000"/>
                </a:lnSpc>
                <a:tabLst>
                  <a:tab pos="1841500" algn="l"/>
                  <a:tab pos="2755900" algn="l"/>
                </a:tabLst>
              </a:pPr>
              <a:r>
                <a:rPr sz="36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sz="36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sz="36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h(n) </a:t>
              </a:r>
              <a:endParaRPr lang="en-US" sz="3600" spc="-2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 marR="5080">
                <a:lnSpc>
                  <a:spcPct val="120000"/>
                </a:lnSpc>
                <a:tabLst>
                  <a:tab pos="1841500" algn="l"/>
                  <a:tab pos="2755900" algn="l"/>
                </a:tabLst>
              </a:pPr>
              <a:r>
                <a:rPr lang="en-GB" sz="36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RO" sz="36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GB" sz="36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sz="36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sz="36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sz="36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h(n)*w</a:t>
              </a:r>
              <a:endParaRPr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AF83F0DA-27C6-14AC-E118-59F5FDE61530}"/>
                </a:ext>
              </a:extLst>
            </p:cNvPr>
            <p:cNvSpPr txBox="1"/>
            <p:nvPr/>
          </p:nvSpPr>
          <p:spPr>
            <a:xfrm>
              <a:off x="612141" y="3600523"/>
              <a:ext cx="3254375" cy="128374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20000"/>
                </a:lnSpc>
                <a:spcBef>
                  <a:spcPts val="95"/>
                </a:spcBef>
                <a:tabLst>
                  <a:tab pos="1841500" algn="l"/>
                </a:tabLst>
              </a:pPr>
              <a:r>
                <a:rPr lang="en-US" sz="36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Greedy</a:t>
              </a: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f(n)</a:t>
              </a:r>
              <a:r>
                <a:rPr sz="36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36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sz="36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WA*</a:t>
              </a:r>
              <a:r>
                <a:rPr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f(n)</a:t>
              </a:r>
              <a:r>
                <a:rPr sz="3600" spc="-3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36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A5F658C3-54D5-D55A-027A-C3538FDDAE42}"/>
                </a:ext>
              </a:extLst>
            </p:cNvPr>
            <p:cNvSpPr/>
            <p:nvPr/>
          </p:nvSpPr>
          <p:spPr>
            <a:xfrm>
              <a:off x="1447800" y="5486400"/>
              <a:ext cx="6019800" cy="0"/>
            </a:xfrm>
            <a:custGeom>
              <a:avLst/>
              <a:gdLst/>
              <a:ahLst/>
              <a:cxnLst/>
              <a:rect l="l" t="t" r="r" b="b"/>
              <a:pathLst>
                <a:path w="6019800">
                  <a:moveTo>
                    <a:pt x="0" y="0"/>
                  </a:moveTo>
                  <a:lnTo>
                    <a:pt x="6019800" y="0"/>
                  </a:lnTo>
                </a:path>
              </a:pathLst>
            </a:custGeom>
            <a:ln w="76200">
              <a:solidFill>
                <a:srgbClr val="0088B8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D6CF017B-3C73-82CC-7338-12B4B45F2875}"/>
                </a:ext>
              </a:extLst>
            </p:cNvPr>
            <p:cNvSpPr txBox="1"/>
            <p:nvPr/>
          </p:nvSpPr>
          <p:spPr>
            <a:xfrm>
              <a:off x="541121" y="5288534"/>
              <a:ext cx="67056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4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UCS</a:t>
              </a: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1EEAD827-14CE-8734-9B68-4EE0135ACF4D}"/>
                </a:ext>
              </a:extLst>
            </p:cNvPr>
            <p:cNvSpPr txBox="1"/>
            <p:nvPr/>
          </p:nvSpPr>
          <p:spPr>
            <a:xfrm>
              <a:off x="7788910" y="5286706"/>
              <a:ext cx="1232089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en-US" sz="2400" spc="-1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Greedy</a:t>
              </a:r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CF0AFF36-EC4A-FA2D-7F00-DEE10423149D}"/>
                </a:ext>
              </a:extLst>
            </p:cNvPr>
            <p:cNvSpPr txBox="1"/>
            <p:nvPr/>
          </p:nvSpPr>
          <p:spPr>
            <a:xfrm>
              <a:off x="4134740" y="5564987"/>
              <a:ext cx="72199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4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WA*</a:t>
              </a: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23F31F6A-1381-6605-CF25-1615D40DD20D}"/>
                </a:ext>
              </a:extLst>
            </p:cNvPr>
            <p:cNvSpPr txBox="1"/>
            <p:nvPr/>
          </p:nvSpPr>
          <p:spPr>
            <a:xfrm>
              <a:off x="1507617" y="5571997"/>
              <a:ext cx="720725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4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w=0</a:t>
              </a: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6370761D-2CDE-3DC2-9FB9-A2921E567327}"/>
                </a:ext>
              </a:extLst>
            </p:cNvPr>
            <p:cNvSpPr txBox="1"/>
            <p:nvPr/>
          </p:nvSpPr>
          <p:spPr>
            <a:xfrm>
              <a:off x="6709664" y="5571997"/>
              <a:ext cx="831850" cy="3911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2400" spc="-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w=∞</a:t>
              </a: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4924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5EB3F7D-9DF9-1F9B-44E0-0112023F50F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Proprietățile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algoritmului</a:t>
            </a:r>
            <a:r>
              <a:rPr lang="en-US" dirty="0">
                <a:latin typeface="Times New Roman"/>
                <a:cs typeface="Times New Roman"/>
              </a:rPr>
              <a:t> A*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DF1787-DF32-4BB5-5C19-C770469C2430}"/>
              </a:ext>
            </a:extLst>
          </p:cNvPr>
          <p:cNvSpPr txBox="1"/>
          <p:nvPr/>
        </p:nvSpPr>
        <p:spPr>
          <a:xfrm>
            <a:off x="111512" y="925858"/>
            <a:ext cx="9032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Proprietățile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algoritmului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depind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direct de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calitatea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h(n)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estimarea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costului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destinație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varianta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implementare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folosită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Tree Search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Search.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D4D9FE4-2F6D-74B4-0E59-F4992CBCE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618657"/>
              </p:ext>
            </p:extLst>
          </p:nvPr>
        </p:nvGraphicFramePr>
        <p:xfrm>
          <a:off x="312234" y="2068858"/>
          <a:ext cx="8627328" cy="3609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776">
                  <a:extLst>
                    <a:ext uri="{9D8B030D-6E8A-4147-A177-3AD203B41FA5}">
                      <a16:colId xmlns:a16="http://schemas.microsoft.com/office/drawing/2014/main" val="1564189887"/>
                    </a:ext>
                  </a:extLst>
                </a:gridCol>
                <a:gridCol w="2875776">
                  <a:extLst>
                    <a:ext uri="{9D8B030D-6E8A-4147-A177-3AD203B41FA5}">
                      <a16:colId xmlns:a16="http://schemas.microsoft.com/office/drawing/2014/main" val="3199740887"/>
                    </a:ext>
                  </a:extLst>
                </a:gridCol>
                <a:gridCol w="2875776">
                  <a:extLst>
                    <a:ext uri="{9D8B030D-6E8A-4147-A177-3AD203B41FA5}">
                      <a16:colId xmlns:a16="http://schemas.microsoft.com/office/drawing/2014/main" val="3006051224"/>
                    </a:ext>
                  </a:extLst>
                </a:gridCol>
              </a:tblGrid>
              <a:tr h="570323">
                <a:tc>
                  <a:txBody>
                    <a:bodyPr/>
                    <a:lstStyle/>
                    <a:p>
                      <a:pPr algn="ctr"/>
                      <a:r>
                        <a:rPr lang="en-RO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Caracteristică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 tree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 graph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585628"/>
                  </a:ext>
                </a:extLst>
              </a:tr>
              <a:tr h="570323"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Complexitate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timp</a:t>
                      </a:r>
                      <a:endParaRPr lang="en-RO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O(b</a:t>
                      </a:r>
                      <a:r>
                        <a:rPr lang="en-RO" sz="24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RO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RO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O(b</a:t>
                      </a:r>
                      <a:r>
                        <a:rPr lang="en-RO" sz="24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RO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– dar mult mai eficient în practică</a:t>
                      </a:r>
                      <a:endParaRPr lang="en-RO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686351"/>
                  </a:ext>
                </a:extLst>
              </a:tr>
              <a:tr h="570323"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Complexitate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spațiu</a:t>
                      </a:r>
                      <a:endParaRPr lang="en-RO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O(b</a:t>
                      </a:r>
                      <a:r>
                        <a:rPr lang="en-RO" sz="24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RO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– Open List</a:t>
                      </a:r>
                      <a:endParaRPr lang="en-RO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O(b</a:t>
                      </a:r>
                      <a:r>
                        <a:rPr lang="en-RO" sz="24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RO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– Open List + Closed List</a:t>
                      </a:r>
                      <a:endParaRPr lang="en-RO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066099"/>
                  </a:ext>
                </a:extLst>
              </a:tr>
              <a:tr h="570323">
                <a:tc>
                  <a:txBody>
                    <a:bodyPr/>
                    <a:lstStyle/>
                    <a:p>
                      <a:r>
                        <a:rPr lang="en-RO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Completitudine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sz="2400" b="1" dirty="0">
                          <a:solidFill>
                            <a:srgbClr val="3D8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sz="2400" b="1" dirty="0">
                          <a:solidFill>
                            <a:srgbClr val="3D8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36489"/>
                  </a:ext>
                </a:extLst>
              </a:tr>
              <a:tr h="570323">
                <a:tc>
                  <a:txBody>
                    <a:bodyPr/>
                    <a:lstStyle/>
                    <a:p>
                      <a:r>
                        <a:rPr lang="en-RO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Optimalitate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rgbClr val="3D8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dacă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este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admisibilă</a:t>
                      </a:r>
                      <a:endParaRPr lang="en-RO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rgbClr val="3D8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dacă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este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consistentă</a:t>
                      </a:r>
                      <a:endParaRPr lang="en-RO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3661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3AF51FF-C632-F725-4620-DD701318B02C}"/>
              </a:ext>
            </a:extLst>
          </p:cNvPr>
          <p:cNvSpPr txBox="1"/>
          <p:nvPr/>
        </p:nvSpPr>
        <p:spPr>
          <a:xfrm>
            <a:off x="289932" y="5578024"/>
            <a:ext cx="7092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b: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factorul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ramificare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succesori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nod)</a:t>
            </a:r>
          </a:p>
          <a:p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d: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adâncimea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care se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află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optimă</a:t>
            </a:r>
            <a:endParaRPr lang="en-RO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320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BA621-A099-C1DD-2EBB-A6410F40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F1B79EA-5820-4546-EB8C-252D90C5B68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Proprietățile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algoritmului</a:t>
            </a:r>
            <a:r>
              <a:rPr lang="en-US" dirty="0">
                <a:latin typeface="Times New Roman"/>
                <a:cs typeface="Times New Roman"/>
              </a:rPr>
              <a:t> A*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C98CE3-AECF-466D-2063-C100448B5C14}"/>
              </a:ext>
            </a:extLst>
          </p:cNvPr>
          <p:cNvSpPr txBox="1"/>
          <p:nvPr/>
        </p:nvSpPr>
        <p:spPr>
          <a:xfrm>
            <a:off x="111512" y="925858"/>
            <a:ext cx="90324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Proprietățile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algoritmului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depind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direct de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calitatea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funcției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euristice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h(n)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estimarea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costului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destinație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varianta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implementare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folosită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Tree Search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Search.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474C958-B9F4-0214-E650-9F5714B4E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760981"/>
              </p:ext>
            </p:extLst>
          </p:nvPr>
        </p:nvGraphicFramePr>
        <p:xfrm>
          <a:off x="312234" y="2068858"/>
          <a:ext cx="8627328" cy="3609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776">
                  <a:extLst>
                    <a:ext uri="{9D8B030D-6E8A-4147-A177-3AD203B41FA5}">
                      <a16:colId xmlns:a16="http://schemas.microsoft.com/office/drawing/2014/main" val="1564189887"/>
                    </a:ext>
                  </a:extLst>
                </a:gridCol>
                <a:gridCol w="2875776">
                  <a:extLst>
                    <a:ext uri="{9D8B030D-6E8A-4147-A177-3AD203B41FA5}">
                      <a16:colId xmlns:a16="http://schemas.microsoft.com/office/drawing/2014/main" val="3199740887"/>
                    </a:ext>
                  </a:extLst>
                </a:gridCol>
                <a:gridCol w="2875776">
                  <a:extLst>
                    <a:ext uri="{9D8B030D-6E8A-4147-A177-3AD203B41FA5}">
                      <a16:colId xmlns:a16="http://schemas.microsoft.com/office/drawing/2014/main" val="3006051224"/>
                    </a:ext>
                  </a:extLst>
                </a:gridCol>
              </a:tblGrid>
              <a:tr h="570323">
                <a:tc>
                  <a:txBody>
                    <a:bodyPr/>
                    <a:lstStyle/>
                    <a:p>
                      <a:pPr algn="ctr"/>
                      <a:r>
                        <a:rPr lang="en-RO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Caracteristică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 tree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 graph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585628"/>
                  </a:ext>
                </a:extLst>
              </a:tr>
              <a:tr h="570323"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Complexitate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timp</a:t>
                      </a:r>
                      <a:endParaRPr lang="en-RO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O(b</a:t>
                      </a:r>
                      <a:r>
                        <a:rPr lang="en-RO" sz="24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RO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RO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O(b</a:t>
                      </a:r>
                      <a:r>
                        <a:rPr lang="en-RO" sz="24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RO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– dar mult mai eficient în practică</a:t>
                      </a:r>
                      <a:endParaRPr lang="en-RO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686351"/>
                  </a:ext>
                </a:extLst>
              </a:tr>
              <a:tr h="570323"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Complexitate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spațiu</a:t>
                      </a:r>
                      <a:endParaRPr lang="en-RO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O(b</a:t>
                      </a:r>
                      <a:r>
                        <a:rPr lang="en-RO" sz="2400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RO" sz="24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– Open List</a:t>
                      </a:r>
                      <a:endParaRPr lang="en-RO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O(b</a:t>
                      </a:r>
                      <a:r>
                        <a:rPr lang="en-RO" sz="2400" baseline="30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RO" sz="24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– Open List + Closed List</a:t>
                      </a:r>
                      <a:endParaRPr lang="en-RO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066099"/>
                  </a:ext>
                </a:extLst>
              </a:tr>
              <a:tr h="570323">
                <a:tc>
                  <a:txBody>
                    <a:bodyPr/>
                    <a:lstStyle/>
                    <a:p>
                      <a:r>
                        <a:rPr lang="en-RO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Completitudine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sz="2400" b="1" dirty="0">
                          <a:solidFill>
                            <a:srgbClr val="3D8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sz="2400" b="1" dirty="0">
                          <a:solidFill>
                            <a:srgbClr val="3D8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36489"/>
                  </a:ext>
                </a:extLst>
              </a:tr>
              <a:tr h="570323">
                <a:tc>
                  <a:txBody>
                    <a:bodyPr/>
                    <a:lstStyle/>
                    <a:p>
                      <a:r>
                        <a:rPr lang="en-RO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Optimalitate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rgbClr val="3D8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dacă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este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admisibilă</a:t>
                      </a:r>
                      <a:endParaRPr lang="en-RO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rgbClr val="3D89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dacă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este</a:t>
                      </a:r>
                      <a:r>
                        <a:rPr lang="en-GB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consistentă</a:t>
                      </a:r>
                      <a:endParaRPr lang="en-RO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3661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D0F23ED-E29C-49E6-BB42-92618508E651}"/>
              </a:ext>
            </a:extLst>
          </p:cNvPr>
          <p:cNvSpPr txBox="1"/>
          <p:nvPr/>
        </p:nvSpPr>
        <p:spPr>
          <a:xfrm>
            <a:off x="289932" y="5578024"/>
            <a:ext cx="7092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b: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factorul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ramificare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succesori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nod)</a:t>
            </a:r>
          </a:p>
          <a:p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d: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adâncimea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care se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află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optimă</a:t>
            </a:r>
            <a:endParaRPr lang="en-RO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CE3984-3E3A-9DB9-FF9D-081ED2951022}"/>
              </a:ext>
            </a:extLst>
          </p:cNvPr>
          <p:cNvSpPr txBox="1"/>
          <p:nvPr/>
        </p:nvSpPr>
        <p:spPr>
          <a:xfrm>
            <a:off x="111512" y="6044402"/>
            <a:ext cx="9032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 un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spațiu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masiv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A* - Graph Search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epuiza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rapid memoria RAM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disponibilă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înainte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rămâne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fără</a:t>
            </a:r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timp.</a:t>
            </a:r>
            <a:endParaRPr lang="en-RO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795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7597E-3D02-8CC5-588C-7E5D7D28D999}"/>
              </a:ext>
            </a:extLst>
          </p:cNvPr>
          <p:cNvSpPr txBox="1">
            <a:spLocks/>
          </p:cNvSpPr>
          <p:nvPr/>
        </p:nvSpPr>
        <p:spPr>
          <a:xfrm>
            <a:off x="0" y="97974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/>
                <a:cs typeface="Times New Roman"/>
              </a:rPr>
              <a:t>Algoritmul</a:t>
            </a:r>
            <a:r>
              <a:rPr lang="en-US" dirty="0">
                <a:latin typeface="Times New Roman"/>
                <a:cs typeface="Times New Roman"/>
              </a:rPr>
              <a:t> IDA* (iterative deepening A*)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F2BFAC4-8FA9-B964-68D7-2E191C585FCE}"/>
              </a:ext>
            </a:extLst>
          </p:cNvPr>
          <p:cNvSpPr txBox="1">
            <a:spLocks noChangeArrowheads="1"/>
          </p:cNvSpPr>
          <p:nvPr/>
        </p:nvSpPr>
        <p:spPr>
          <a:xfrm>
            <a:off x="319148" y="1107374"/>
            <a:ext cx="8824851" cy="565265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folosește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f(n) = g(n) + h(n)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iterativă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folosește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 o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de f (nu de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d)</a:t>
            </a:r>
          </a:p>
          <a:p>
            <a:pPr>
              <a:lnSpc>
                <a:spcPct val="90000"/>
              </a:lnSpc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pragul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inițial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threshold = f(start) = h(start)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(DF),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expandăm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f(n) ≤ threshold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depășim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pragul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reținem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 f(n) care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depășit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Creștem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pragul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threshold=min{f(n)&gt;threshold}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Repetăm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până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Avantaje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Dezavantaje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latin typeface="Times New Roman"/>
                <a:cs typeface="Times New Roman"/>
              </a:rPr>
              <a:t>→ </a:t>
            </a:r>
            <a:r>
              <a:rPr lang="en-US" sz="2000" dirty="0">
                <a:solidFill>
                  <a:srgbClr val="39FF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memorie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foarte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 la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adâncime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latin typeface="Times New Roman"/>
                <a:cs typeface="Times New Roman"/>
              </a:rPr>
              <a:t>→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✔️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găsește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admisibilă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consistentă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>
                <a:latin typeface="Times New Roman"/>
                <a:cs typeface="Times New Roman"/>
              </a:rPr>
              <a:t>→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❗ re-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expandează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noduri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decât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A*)</a:t>
            </a:r>
          </a:p>
        </p:txBody>
      </p:sp>
    </p:spTree>
    <p:extLst>
      <p:ext uri="{BB962C8B-B14F-4D97-AF65-F5344CB8AC3E}">
        <p14:creationId xmlns:p14="http://schemas.microsoft.com/office/powerpoint/2010/main" val="7994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10384" y="1789357"/>
            <a:ext cx="4723233" cy="480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14786"/>
            <a:ext cx="9144000" cy="1470025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Căutare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adversarială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143000" y="6248403"/>
            <a:ext cx="440055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63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75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Cursul</a:t>
            </a:r>
            <a:r>
              <a:rPr lang="en-US" dirty="0">
                <a:latin typeface="Times New Roman"/>
                <a:cs typeface="Times New Roman"/>
              </a:rPr>
              <a:t> 2: </a:t>
            </a:r>
            <a:r>
              <a:rPr lang="en-US" dirty="0" err="1">
                <a:latin typeface="Times New Roman"/>
                <a:cs typeface="Times New Roman"/>
              </a:rPr>
              <a:t>Agenți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inteligenți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mediile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aceștia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funcționează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</p:txBody>
      </p:sp>
      <p:pic>
        <p:nvPicPr>
          <p:cNvPr id="4" name="Content Placeholder 3" descr="pacman_game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114" b="-12114"/>
          <a:stretch>
            <a:fillRect/>
          </a:stretch>
        </p:blipFill>
        <p:spPr>
          <a:xfrm>
            <a:off x="0" y="1560810"/>
            <a:ext cx="8963678" cy="4929678"/>
          </a:xfrm>
        </p:spPr>
      </p:pic>
    </p:spTree>
    <p:extLst>
      <p:ext uri="{BB962C8B-B14F-4D97-AF65-F5344CB8AC3E}">
        <p14:creationId xmlns:p14="http://schemas.microsoft.com/office/powerpoint/2010/main" val="1584871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75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Cursul</a:t>
            </a:r>
            <a:r>
              <a:rPr lang="en-US" dirty="0">
                <a:latin typeface="Times New Roman"/>
                <a:cs typeface="Times New Roman"/>
              </a:rPr>
              <a:t> 2: </a:t>
            </a:r>
            <a:r>
              <a:rPr lang="en-US" dirty="0" err="1">
                <a:latin typeface="Times New Roman"/>
                <a:cs typeface="Times New Roman"/>
              </a:rPr>
              <a:t>Proprietăți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mediilor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funcționează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agenții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75" y="1361661"/>
            <a:ext cx="8937625" cy="5257800"/>
          </a:xfrm>
        </p:spPr>
        <p:txBody>
          <a:bodyPr>
            <a:normAutofit/>
          </a:bodyPr>
          <a:lstStyle/>
          <a:p>
            <a:pPr algn="just"/>
            <a:r>
              <a:rPr lang="en-US" sz="2200" dirty="0" err="1">
                <a:solidFill>
                  <a:srgbClr val="FF0000"/>
                </a:solidFill>
                <a:latin typeface="Times New Roman"/>
                <a:cs typeface="Times New Roman"/>
              </a:rPr>
              <a:t>Complet</a:t>
            </a:r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Times New Roman"/>
                <a:cs typeface="Times New Roman"/>
              </a:rPr>
              <a:t>observabil</a:t>
            </a:r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 vs </a:t>
            </a:r>
            <a:r>
              <a:rPr lang="en-US" sz="2200" dirty="0" err="1">
                <a:solidFill>
                  <a:srgbClr val="FF0000"/>
                </a:solidFill>
                <a:latin typeface="Times New Roman"/>
                <a:cs typeface="Times New Roman"/>
              </a:rPr>
              <a:t>parțial</a:t>
            </a:r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Times New Roman"/>
                <a:cs typeface="Times New Roman"/>
              </a:rPr>
              <a:t>observabil</a:t>
            </a:r>
            <a:r>
              <a:rPr lang="en-US" sz="2200" dirty="0">
                <a:latin typeface="Times New Roman"/>
                <a:cs typeface="Times New Roman"/>
              </a:rPr>
              <a:t>: la </a:t>
            </a:r>
            <a:r>
              <a:rPr lang="en-US" sz="2200" dirty="0" err="1">
                <a:latin typeface="Times New Roman"/>
                <a:cs typeface="Times New Roman"/>
              </a:rPr>
              <a:t>orice</a:t>
            </a:r>
            <a:r>
              <a:rPr lang="en-US" sz="2200" dirty="0">
                <a:latin typeface="Times New Roman"/>
                <a:cs typeface="Times New Roman"/>
              </a:rPr>
              <a:t> moment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timp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mediul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complet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observabil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dacă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senzorii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agentului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dau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acces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complet</a:t>
            </a:r>
            <a:r>
              <a:rPr lang="en-US" sz="2200" dirty="0">
                <a:latin typeface="Times New Roman"/>
                <a:cs typeface="Times New Roman"/>
              </a:rPr>
              <a:t> la </a:t>
            </a:r>
            <a:r>
              <a:rPr lang="en-US" sz="2200" dirty="0" err="1">
                <a:latin typeface="Times New Roman"/>
                <a:cs typeface="Times New Roman"/>
              </a:rPr>
              <a:t>starea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mediului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și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oferă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toate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aspectele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relevante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luarea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deciziei</a:t>
            </a:r>
            <a:r>
              <a:rPr lang="en-US" sz="2200" dirty="0">
                <a:latin typeface="Times New Roman"/>
                <a:cs typeface="Times New Roman"/>
              </a:rPr>
              <a:t> optime. </a:t>
            </a:r>
          </a:p>
          <a:p>
            <a:pPr lvl="1" algn="just"/>
            <a:r>
              <a:rPr lang="en-US" sz="2200" dirty="0" err="1">
                <a:latin typeface="Times New Roman"/>
                <a:cs typeface="Times New Roman"/>
              </a:rPr>
              <a:t>jocul</a:t>
            </a:r>
            <a:r>
              <a:rPr lang="en-US" sz="2200" dirty="0">
                <a:latin typeface="Times New Roman"/>
                <a:cs typeface="Times New Roman"/>
              </a:rPr>
              <a:t> de dame vs poker</a:t>
            </a:r>
          </a:p>
          <a:p>
            <a:pPr marL="457200" lvl="1" indent="0" algn="just">
              <a:buNone/>
            </a:pPr>
            <a:endParaRPr lang="en-US" sz="2200" dirty="0">
              <a:latin typeface="Times New Roman"/>
              <a:cs typeface="Times New Roman"/>
            </a:endParaRPr>
          </a:p>
          <a:p>
            <a:pPr algn="just"/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Determinist vs stochastic</a:t>
            </a:r>
            <a:r>
              <a:rPr lang="en-US" sz="2200" dirty="0">
                <a:latin typeface="Times New Roman"/>
                <a:cs typeface="Times New Roman"/>
              </a:rPr>
              <a:t>: </a:t>
            </a:r>
            <a:r>
              <a:rPr lang="en-US" sz="2200" dirty="0" err="1">
                <a:latin typeface="Times New Roman"/>
                <a:cs typeface="Times New Roman"/>
              </a:rPr>
              <a:t>dacă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următoarea</a:t>
            </a:r>
            <a:r>
              <a:rPr lang="en-US" sz="2200" dirty="0">
                <a:latin typeface="Times New Roman"/>
                <a:cs typeface="Times New Roman"/>
              </a:rPr>
              <a:t> stare a </a:t>
            </a:r>
            <a:r>
              <a:rPr lang="en-US" sz="2200" dirty="0" err="1">
                <a:latin typeface="Times New Roman"/>
                <a:cs typeface="Times New Roman"/>
              </a:rPr>
              <a:t>mediului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întregime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determinată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starea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curentă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și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acțiunile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agentului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mediul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determinist (nu </a:t>
            </a:r>
            <a:r>
              <a:rPr lang="en-US" sz="2200" dirty="0" err="1">
                <a:latin typeface="Times New Roman"/>
                <a:cs typeface="Times New Roman"/>
              </a:rPr>
              <a:t>există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incertitudine</a:t>
            </a:r>
            <a:r>
              <a:rPr lang="en-US" sz="2200" dirty="0">
                <a:latin typeface="Times New Roman"/>
                <a:cs typeface="Times New Roman"/>
              </a:rPr>
              <a:t>).</a:t>
            </a:r>
          </a:p>
          <a:p>
            <a:pPr lvl="1" algn="just"/>
            <a:r>
              <a:rPr lang="en-US" sz="2200" dirty="0" err="1">
                <a:latin typeface="Times New Roman"/>
                <a:cs typeface="Times New Roman"/>
              </a:rPr>
              <a:t>șah</a:t>
            </a:r>
            <a:r>
              <a:rPr lang="en-US" sz="2200" dirty="0">
                <a:latin typeface="Times New Roman"/>
                <a:cs typeface="Times New Roman"/>
              </a:rPr>
              <a:t> vs </a:t>
            </a:r>
            <a:r>
              <a:rPr lang="en-US" sz="2200" dirty="0" err="1">
                <a:latin typeface="Times New Roman"/>
                <a:cs typeface="Times New Roman"/>
              </a:rPr>
              <a:t>jocul</a:t>
            </a:r>
            <a:r>
              <a:rPr lang="en-US" sz="2200" dirty="0">
                <a:latin typeface="Times New Roman"/>
                <a:cs typeface="Times New Roman"/>
              </a:rPr>
              <a:t> de table</a:t>
            </a:r>
          </a:p>
          <a:p>
            <a:pPr marL="457200" lvl="1" indent="0" algn="just">
              <a:buNone/>
            </a:pPr>
            <a:endParaRPr lang="en-US" sz="2200" dirty="0">
              <a:latin typeface="Times New Roman"/>
              <a:cs typeface="Times New Roman"/>
            </a:endParaRPr>
          </a:p>
          <a:p>
            <a:pPr algn="just"/>
            <a:r>
              <a:rPr lang="en-US" sz="2200" dirty="0" err="1">
                <a:solidFill>
                  <a:srgbClr val="FF0000"/>
                </a:solidFill>
                <a:latin typeface="Times New Roman"/>
                <a:cs typeface="Times New Roman"/>
              </a:rPr>
              <a:t>Discret</a:t>
            </a:r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 vs </a:t>
            </a:r>
            <a:r>
              <a:rPr lang="en-US" sz="2200" dirty="0" err="1">
                <a:solidFill>
                  <a:srgbClr val="FF0000"/>
                </a:solidFill>
                <a:latin typeface="Times New Roman"/>
                <a:cs typeface="Times New Roman"/>
              </a:rPr>
              <a:t>continuu</a:t>
            </a:r>
            <a:r>
              <a:rPr lang="en-US" sz="2200" dirty="0">
                <a:latin typeface="Times New Roman"/>
                <a:cs typeface="Times New Roman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dacă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spațiul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stărilor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din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numărul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agentului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sunt finite </a:t>
            </a:r>
            <a:r>
              <a:rPr lang="en-US" sz="2200" dirty="0" err="1">
                <a:latin typeface="Times New Roman"/>
                <a:cs typeface="Times New Roman"/>
              </a:rPr>
              <a:t>atunci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mediul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discret</a:t>
            </a:r>
            <a:r>
              <a:rPr lang="en-US" sz="2200" dirty="0">
                <a:latin typeface="Times New Roman"/>
                <a:cs typeface="Times New Roman"/>
              </a:rPr>
              <a:t>. </a:t>
            </a:r>
          </a:p>
          <a:p>
            <a:pPr lvl="1" algn="just"/>
            <a:r>
              <a:rPr lang="en-US" sz="2200" dirty="0" err="1">
                <a:latin typeface="Times New Roman"/>
                <a:cs typeface="Times New Roman"/>
              </a:rPr>
              <a:t>jocul</a:t>
            </a:r>
            <a:r>
              <a:rPr lang="en-US" sz="2200" dirty="0">
                <a:latin typeface="Times New Roman"/>
                <a:cs typeface="Times New Roman"/>
              </a:rPr>
              <a:t> 8-puzzle vs </a:t>
            </a:r>
            <a:r>
              <a:rPr lang="en-US" sz="2200" dirty="0" err="1">
                <a:latin typeface="Times New Roman"/>
                <a:cs typeface="Times New Roman"/>
              </a:rPr>
              <a:t>condusul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unei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mașini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lvl="1" indent="0" algn="just">
              <a:buNone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9726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75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Cursul</a:t>
            </a:r>
            <a:r>
              <a:rPr lang="en-US" dirty="0">
                <a:latin typeface="Times New Roman"/>
                <a:cs typeface="Times New Roman"/>
              </a:rPr>
              <a:t> 2: </a:t>
            </a:r>
            <a:r>
              <a:rPr lang="en-US" dirty="0" err="1">
                <a:latin typeface="Times New Roman"/>
                <a:cs typeface="Times New Roman"/>
              </a:rPr>
              <a:t>Proprietăți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mediilor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care </a:t>
            </a:r>
            <a:r>
              <a:rPr lang="en-US" dirty="0" err="1">
                <a:latin typeface="Times New Roman"/>
                <a:cs typeface="Times New Roman"/>
              </a:rPr>
              <a:t>funcționează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agenții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187" y="1308652"/>
            <a:ext cx="8937625" cy="554934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Episodic vs </a:t>
            </a:r>
            <a:r>
              <a:rPr lang="en-US" sz="2200" dirty="0" err="1">
                <a:solidFill>
                  <a:srgbClr val="FF0000"/>
                </a:solidFill>
                <a:latin typeface="Times New Roman"/>
                <a:cs typeface="Times New Roman"/>
              </a:rPr>
              <a:t>secvențial</a:t>
            </a:r>
            <a:r>
              <a:rPr lang="en-US" sz="2200" dirty="0">
                <a:latin typeface="Times New Roman"/>
                <a:cs typeface="Times New Roman"/>
              </a:rPr>
              <a:t>: </a:t>
            </a:r>
            <a:r>
              <a:rPr lang="en-US" sz="2200" dirty="0" err="1">
                <a:latin typeface="Times New Roman"/>
                <a:cs typeface="Times New Roman"/>
              </a:rPr>
              <a:t>într</a:t>
            </a:r>
            <a:r>
              <a:rPr lang="en-US" sz="2200" dirty="0">
                <a:latin typeface="Times New Roman"/>
                <a:cs typeface="Times New Roman"/>
              </a:rPr>
              <a:t>-un </a:t>
            </a:r>
            <a:r>
              <a:rPr lang="en-US" sz="2200" dirty="0" err="1">
                <a:latin typeface="Times New Roman"/>
                <a:cs typeface="Times New Roman"/>
              </a:rPr>
              <a:t>mediu</a:t>
            </a:r>
            <a:r>
              <a:rPr lang="en-US" sz="2200" dirty="0">
                <a:latin typeface="Times New Roman"/>
                <a:cs typeface="Times New Roman"/>
              </a:rPr>
              <a:t> episodic, </a:t>
            </a:r>
            <a:r>
              <a:rPr lang="en-US" sz="2200" dirty="0" err="1">
                <a:latin typeface="Times New Roman"/>
                <a:cs typeface="Times New Roman"/>
              </a:rPr>
              <a:t>experiența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agentului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împărțită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episoade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independente</a:t>
            </a:r>
            <a:r>
              <a:rPr lang="en-US" sz="2200" dirty="0">
                <a:latin typeface="Times New Roman"/>
                <a:cs typeface="Times New Roman"/>
              </a:rPr>
              <a:t>. Un </a:t>
            </a:r>
            <a:r>
              <a:rPr lang="en-US" sz="2200" dirty="0" err="1">
                <a:latin typeface="Times New Roman"/>
                <a:cs typeface="Times New Roman"/>
              </a:rPr>
              <a:t>episod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constă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percepție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urmată</a:t>
            </a:r>
            <a:r>
              <a:rPr lang="en-US" sz="2200" dirty="0">
                <a:latin typeface="Times New Roman"/>
                <a:cs typeface="Times New Roman"/>
              </a:rPr>
              <a:t> de o </a:t>
            </a:r>
            <a:r>
              <a:rPr lang="en-US" sz="2200" dirty="0" err="1">
                <a:latin typeface="Times New Roman"/>
                <a:cs typeface="Times New Roman"/>
              </a:rPr>
              <a:t>singură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acțiune</a:t>
            </a:r>
            <a:r>
              <a:rPr lang="en-US" sz="2200" dirty="0">
                <a:latin typeface="Times New Roman"/>
                <a:cs typeface="Times New Roman"/>
              </a:rPr>
              <a:t>. </a:t>
            </a:r>
            <a:r>
              <a:rPr lang="en-US" sz="2200" dirty="0" err="1">
                <a:latin typeface="Times New Roman"/>
                <a:cs typeface="Times New Roman"/>
              </a:rPr>
              <a:t>Episoadele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următoare</a:t>
            </a:r>
            <a:r>
              <a:rPr lang="en-US" sz="2200" dirty="0">
                <a:latin typeface="Times New Roman"/>
                <a:cs typeface="Times New Roman"/>
              </a:rPr>
              <a:t> nu </a:t>
            </a:r>
            <a:r>
              <a:rPr lang="en-US" sz="2200" dirty="0" err="1">
                <a:latin typeface="Times New Roman"/>
                <a:cs typeface="Times New Roman"/>
              </a:rPr>
              <a:t>depind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acțiunile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episoadelor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anterioare</a:t>
            </a:r>
            <a:r>
              <a:rPr lang="en-US" sz="2200" dirty="0">
                <a:latin typeface="Times New Roman"/>
                <a:cs typeface="Times New Roman"/>
              </a:rPr>
              <a:t>. </a:t>
            </a:r>
          </a:p>
          <a:p>
            <a:pPr lvl="1" algn="just"/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pe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cifre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independente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(ex. LeNet pe MNIST)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vs </a:t>
            </a:r>
            <a:r>
              <a:rPr lang="en-US" sz="2200" dirty="0" err="1">
                <a:latin typeface="Times New Roman"/>
                <a:cs typeface="Times New Roman"/>
              </a:rPr>
              <a:t>șah</a:t>
            </a:r>
            <a:endParaRPr lang="en-US" sz="2200" dirty="0">
              <a:latin typeface="Times New Roman"/>
              <a:cs typeface="Times New Roman"/>
            </a:endParaRPr>
          </a:p>
          <a:p>
            <a:pPr lvl="1" algn="just"/>
            <a:endParaRPr lang="en-US" sz="2200" dirty="0">
              <a:latin typeface="Times New Roman"/>
              <a:cs typeface="Times New Roman"/>
            </a:endParaRPr>
          </a:p>
          <a:p>
            <a:pPr algn="just"/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Static vs </a:t>
            </a:r>
            <a:r>
              <a:rPr lang="en-US" sz="2200" dirty="0" err="1">
                <a:solidFill>
                  <a:srgbClr val="FF0000"/>
                </a:solidFill>
                <a:latin typeface="Times New Roman"/>
                <a:cs typeface="Times New Roman"/>
              </a:rPr>
              <a:t>dinamic</a:t>
            </a:r>
            <a:r>
              <a:rPr lang="en-US" sz="2200" dirty="0">
                <a:latin typeface="Times New Roman"/>
                <a:cs typeface="Times New Roman"/>
              </a:rPr>
              <a:t>: </a:t>
            </a:r>
            <a:r>
              <a:rPr lang="en-US" sz="2200" dirty="0" err="1">
                <a:latin typeface="Times New Roman"/>
                <a:cs typeface="Times New Roman"/>
              </a:rPr>
              <a:t>dacă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mediul</a:t>
            </a:r>
            <a:r>
              <a:rPr lang="en-US" sz="2200" dirty="0">
                <a:latin typeface="Times New Roman"/>
                <a:cs typeface="Times New Roman"/>
              </a:rPr>
              <a:t> se </a:t>
            </a:r>
            <a:r>
              <a:rPr lang="en-US" sz="2200" dirty="0" err="1">
                <a:latin typeface="Times New Roman"/>
                <a:cs typeface="Times New Roman"/>
              </a:rPr>
              <a:t>schimbă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cât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timp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agentul</a:t>
            </a:r>
            <a:r>
              <a:rPr lang="en-US" sz="2200" dirty="0">
                <a:latin typeface="Times New Roman"/>
                <a:cs typeface="Times New Roman"/>
              </a:rPr>
              <a:t> decide </a:t>
            </a:r>
            <a:r>
              <a:rPr lang="en-US" sz="2200" dirty="0" err="1">
                <a:latin typeface="Times New Roman"/>
                <a:cs typeface="Times New Roman"/>
              </a:rPr>
              <a:t>ce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acțiuni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facă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mediul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dinamic</a:t>
            </a:r>
            <a:r>
              <a:rPr lang="en-US" sz="2200" dirty="0">
                <a:latin typeface="Times New Roman"/>
                <a:cs typeface="Times New Roman"/>
              </a:rPr>
              <a:t>. </a:t>
            </a:r>
          </a:p>
          <a:p>
            <a:pPr lvl="1" algn="just"/>
            <a:r>
              <a:rPr lang="en-US" sz="2200" dirty="0" err="1">
                <a:latin typeface="Times New Roman"/>
                <a:cs typeface="Times New Roman"/>
              </a:rPr>
              <a:t>jocul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șah</a:t>
            </a:r>
            <a:r>
              <a:rPr lang="en-US" sz="2200" dirty="0">
                <a:latin typeface="Times New Roman"/>
                <a:cs typeface="Times New Roman"/>
              </a:rPr>
              <a:t> vs </a:t>
            </a:r>
            <a:r>
              <a:rPr lang="en-US" sz="2200" dirty="0" err="1">
                <a:latin typeface="Times New Roman"/>
                <a:cs typeface="Times New Roman"/>
              </a:rPr>
              <a:t>pac</a:t>
            </a:r>
            <a:r>
              <a:rPr lang="en-US" sz="2200" dirty="0">
                <a:latin typeface="Times New Roman"/>
                <a:cs typeface="Times New Roman"/>
              </a:rPr>
              <a:t>-man</a:t>
            </a:r>
          </a:p>
          <a:p>
            <a:pPr marL="457200" lvl="1" indent="0" algn="just">
              <a:buNone/>
            </a:pPr>
            <a:endParaRPr lang="en-US" sz="2200" dirty="0">
              <a:latin typeface="Times New Roman"/>
              <a:cs typeface="Times New Roman"/>
            </a:endParaRPr>
          </a:p>
          <a:p>
            <a:pPr algn="just"/>
            <a:r>
              <a:rPr lang="en-US" sz="2200" dirty="0">
                <a:solidFill>
                  <a:srgbClr val="FF0000"/>
                </a:solidFill>
                <a:latin typeface="Times New Roman"/>
                <a:cs typeface="Times New Roman"/>
              </a:rPr>
              <a:t>Agent vs multiagent</a:t>
            </a:r>
            <a:r>
              <a:rPr lang="en-US" sz="2200" dirty="0">
                <a:latin typeface="Times New Roman"/>
                <a:cs typeface="Times New Roman"/>
              </a:rPr>
              <a:t>: </a:t>
            </a:r>
            <a:r>
              <a:rPr lang="en-US" sz="2200" dirty="0" err="1">
                <a:latin typeface="Times New Roman"/>
                <a:cs typeface="Times New Roman"/>
              </a:rPr>
              <a:t>dacă</a:t>
            </a:r>
            <a:r>
              <a:rPr lang="en-US" sz="2200" dirty="0">
                <a:latin typeface="Times New Roman"/>
                <a:cs typeface="Times New Roman"/>
              </a:rPr>
              <a:t> sunt </a:t>
            </a:r>
            <a:r>
              <a:rPr lang="en-US" sz="2200" dirty="0" err="1">
                <a:latin typeface="Times New Roman"/>
                <a:cs typeface="Times New Roman"/>
              </a:rPr>
              <a:t>mai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mulți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agenți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mediul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multiagent (o </a:t>
            </a:r>
            <a:r>
              <a:rPr lang="en-US" sz="2200" dirty="0" err="1">
                <a:latin typeface="Times New Roman"/>
                <a:cs typeface="Times New Roman"/>
              </a:rPr>
              <a:t>entitate</a:t>
            </a:r>
            <a:r>
              <a:rPr lang="en-US" sz="2200" dirty="0">
                <a:latin typeface="Times New Roman"/>
                <a:cs typeface="Times New Roman"/>
              </a:rPr>
              <a:t> B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considerată</a:t>
            </a:r>
            <a:r>
              <a:rPr lang="en-US" sz="2200" dirty="0">
                <a:latin typeface="Times New Roman"/>
                <a:cs typeface="Times New Roman"/>
              </a:rPr>
              <a:t> agent </a:t>
            </a:r>
            <a:r>
              <a:rPr lang="en-US" sz="2200" dirty="0" err="1">
                <a:latin typeface="Times New Roman"/>
                <a:cs typeface="Times New Roman"/>
              </a:rPr>
              <a:t>dacă</a:t>
            </a:r>
            <a:r>
              <a:rPr lang="en-US" sz="2200" dirty="0">
                <a:latin typeface="Times New Roman"/>
                <a:cs typeface="Times New Roman"/>
              </a:rPr>
              <a:t> are un </a:t>
            </a:r>
            <a:r>
              <a:rPr lang="en-US" sz="2200" dirty="0" err="1">
                <a:latin typeface="Times New Roman"/>
                <a:cs typeface="Times New Roman"/>
              </a:rPr>
              <a:t>comportament</a:t>
            </a:r>
            <a:r>
              <a:rPr lang="en-US" sz="2200" dirty="0">
                <a:latin typeface="Times New Roman"/>
                <a:cs typeface="Times New Roman"/>
              </a:rPr>
              <a:t> care </a:t>
            </a:r>
            <a:r>
              <a:rPr lang="en-US" sz="2200" dirty="0" err="1">
                <a:latin typeface="Times New Roman"/>
                <a:cs typeface="Times New Roman"/>
              </a:rPr>
              <a:t>maximizează</a:t>
            </a:r>
            <a:r>
              <a:rPr lang="en-US" sz="2200" dirty="0">
                <a:latin typeface="Times New Roman"/>
                <a:cs typeface="Times New Roman"/>
              </a:rPr>
              <a:t> o </a:t>
            </a:r>
            <a:r>
              <a:rPr lang="en-US" sz="2200" dirty="0" err="1">
                <a:latin typeface="Times New Roman"/>
                <a:cs typeface="Times New Roman"/>
              </a:rPr>
              <a:t>măsură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performanță</a:t>
            </a:r>
            <a:r>
              <a:rPr lang="en-US" sz="2200" dirty="0">
                <a:latin typeface="Times New Roman"/>
                <a:cs typeface="Times New Roman"/>
              </a:rPr>
              <a:t> care </a:t>
            </a:r>
            <a:r>
              <a:rPr lang="en-US" sz="2200" dirty="0" err="1">
                <a:latin typeface="Times New Roman"/>
                <a:cs typeface="Times New Roman"/>
              </a:rPr>
              <a:t>depinde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comportamentul</a:t>
            </a:r>
            <a:r>
              <a:rPr lang="en-US" sz="2200" dirty="0">
                <a:latin typeface="Times New Roman"/>
                <a:cs typeface="Times New Roman"/>
              </a:rPr>
              <a:t> (</a:t>
            </a:r>
            <a:r>
              <a:rPr lang="en-US" sz="2200" dirty="0" err="1">
                <a:latin typeface="Times New Roman"/>
                <a:cs typeface="Times New Roman"/>
              </a:rPr>
              <a:t>deciziile</a:t>
            </a:r>
            <a:r>
              <a:rPr lang="en-US" sz="2200" dirty="0">
                <a:latin typeface="Times New Roman"/>
                <a:cs typeface="Times New Roman"/>
              </a:rPr>
              <a:t>) </a:t>
            </a:r>
            <a:r>
              <a:rPr lang="en-US" sz="2200" dirty="0" err="1">
                <a:latin typeface="Times New Roman"/>
                <a:cs typeface="Times New Roman"/>
              </a:rPr>
              <a:t>agentului</a:t>
            </a:r>
            <a:r>
              <a:rPr lang="en-US" sz="2200" dirty="0">
                <a:latin typeface="Times New Roman"/>
                <a:cs typeface="Times New Roman"/>
              </a:rPr>
              <a:t> A; </a:t>
            </a:r>
            <a:r>
              <a:rPr lang="en-US" sz="2200" dirty="0" err="1">
                <a:latin typeface="Times New Roman"/>
                <a:cs typeface="Times New Roman"/>
              </a:rPr>
              <a:t>distingem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sisteme</a:t>
            </a:r>
            <a:r>
              <a:rPr lang="en-US" sz="2200" dirty="0">
                <a:latin typeface="Times New Roman"/>
                <a:cs typeface="Times New Roman"/>
              </a:rPr>
              <a:t> multiagent competitive vs </a:t>
            </a:r>
            <a:r>
              <a:rPr lang="en-US" sz="2200" dirty="0" err="1">
                <a:latin typeface="Times New Roman"/>
                <a:cs typeface="Times New Roman"/>
              </a:rPr>
              <a:t>sisteme</a:t>
            </a:r>
            <a:r>
              <a:rPr lang="en-US" sz="2200" dirty="0">
                <a:latin typeface="Times New Roman"/>
                <a:cs typeface="Times New Roman"/>
              </a:rPr>
              <a:t> multiagent cooperative). </a:t>
            </a:r>
          </a:p>
          <a:p>
            <a:pPr lvl="1" algn="just"/>
            <a:r>
              <a:rPr lang="en-US" sz="2200" dirty="0">
                <a:latin typeface="Times New Roman"/>
                <a:cs typeface="Times New Roman"/>
              </a:rPr>
              <a:t> 8-puzzle vs </a:t>
            </a:r>
            <a:r>
              <a:rPr lang="en-US" sz="2200" dirty="0" err="1">
                <a:latin typeface="Times New Roman"/>
                <a:cs typeface="Times New Roman"/>
              </a:rPr>
              <a:t>șah</a:t>
            </a:r>
            <a:endParaRPr lang="en-US" sz="2200" dirty="0">
              <a:latin typeface="Times New Roman"/>
              <a:cs typeface="Times New Roman"/>
            </a:endParaRPr>
          </a:p>
          <a:p>
            <a:pPr marL="457200" lvl="1" indent="0" algn="just">
              <a:buNone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7138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750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Cursul</a:t>
            </a:r>
            <a:r>
              <a:rPr lang="en-US" dirty="0">
                <a:latin typeface="Times New Roman"/>
                <a:cs typeface="Times New Roman"/>
              </a:rPr>
              <a:t> 2: PAC 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1" y="5104820"/>
            <a:ext cx="42193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Complet</a:t>
            </a:r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observabil</a:t>
            </a:r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 vs 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parțial</a:t>
            </a:r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observabil</a:t>
            </a:r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Determinist vs 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stocastic</a:t>
            </a:r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Discret</a:t>
            </a:r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 vs 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continuu</a:t>
            </a:r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Episodic vs 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secvențial</a:t>
            </a:r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Static vs 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dinamic</a:t>
            </a:r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Agent vs multiagent</a:t>
            </a:r>
          </a:p>
          <a:p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67412" y="5092869"/>
            <a:ext cx="42193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Complet</a:t>
            </a:r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observabil</a:t>
            </a:r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Stocastic</a:t>
            </a:r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Discret</a:t>
            </a:r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Secvențial</a:t>
            </a:r>
          </a:p>
          <a:p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Dinamic</a:t>
            </a:r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/>
                <a:cs typeface="Times New Roman"/>
              </a:rPr>
              <a:t>Multiagent </a:t>
            </a:r>
            <a:r>
              <a:rPr lang="en-US" dirty="0" err="1">
                <a:solidFill>
                  <a:srgbClr val="FF0000"/>
                </a:solidFill>
                <a:latin typeface="Times New Roman"/>
                <a:cs typeface="Times New Roman"/>
              </a:rPr>
              <a:t>competitiv</a:t>
            </a:r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endParaRPr lang="en-US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8" name="Content Placeholder 3" descr="pacman_game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114" b="-12114"/>
          <a:stretch>
            <a:fillRect/>
          </a:stretch>
        </p:blipFill>
        <p:spPr>
          <a:xfrm>
            <a:off x="194750" y="611478"/>
            <a:ext cx="8963678" cy="4929678"/>
          </a:xfrm>
        </p:spPr>
      </p:pic>
    </p:spTree>
    <p:extLst>
      <p:ext uri="{BB962C8B-B14F-4D97-AF65-F5344CB8AC3E}">
        <p14:creationId xmlns:p14="http://schemas.microsoft.com/office/powerpoint/2010/main" val="2336512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05D04-57C9-8695-6EE0-0C48ABAA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439180-EA8E-95DE-D804-B3F31A6B5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750"/>
            <a:ext cx="91379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Cursul</a:t>
            </a:r>
            <a:r>
              <a:rPr lang="en-US" dirty="0">
                <a:latin typeface="Times New Roman"/>
                <a:cs typeface="Times New Roman"/>
              </a:rPr>
              <a:t> 2: </a:t>
            </a:r>
            <a:r>
              <a:rPr lang="en-US" dirty="0" err="1">
                <a:latin typeface="Times New Roman"/>
                <a:cs typeface="Times New Roman"/>
              </a:rPr>
              <a:t>Exemple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medii</a:t>
            </a:r>
            <a:r>
              <a:rPr lang="en-US" dirty="0">
                <a:latin typeface="Times New Roman"/>
                <a:cs typeface="Times New Roman"/>
              </a:rPr>
              <a:t> cu diverse </a:t>
            </a:r>
            <a:r>
              <a:rPr lang="en-US" dirty="0" err="1">
                <a:latin typeface="Times New Roman"/>
                <a:cs typeface="Times New Roman"/>
              </a:rPr>
              <a:t>proprietăți</a:t>
            </a:r>
            <a:endParaRPr lang="en-US" dirty="0">
              <a:latin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5EA23D-496B-F078-7496-20DC45CAEDF0}"/>
              </a:ext>
            </a:extLst>
          </p:cNvPr>
          <p:cNvGraphicFramePr>
            <a:graphicFrameLocks noGrp="1"/>
          </p:cNvGraphicFramePr>
          <p:nvPr/>
        </p:nvGraphicFramePr>
        <p:xfrm>
          <a:off x="141384" y="1996440"/>
          <a:ext cx="899651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55">
                  <a:extLst>
                    <a:ext uri="{9D8B030D-6E8A-4147-A177-3AD203B41FA5}">
                      <a16:colId xmlns:a16="http://schemas.microsoft.com/office/drawing/2014/main" val="562613111"/>
                    </a:ext>
                  </a:extLst>
                </a:gridCol>
                <a:gridCol w="1238864">
                  <a:extLst>
                    <a:ext uri="{9D8B030D-6E8A-4147-A177-3AD203B41FA5}">
                      <a16:colId xmlns:a16="http://schemas.microsoft.com/office/drawing/2014/main" val="2823000848"/>
                    </a:ext>
                  </a:extLst>
                </a:gridCol>
                <a:gridCol w="1283110">
                  <a:extLst>
                    <a:ext uri="{9D8B030D-6E8A-4147-A177-3AD203B41FA5}">
                      <a16:colId xmlns:a16="http://schemas.microsoft.com/office/drawing/2014/main" val="2195099934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53833836"/>
                    </a:ext>
                  </a:extLst>
                </a:gridCol>
                <a:gridCol w="1309302">
                  <a:extLst>
                    <a:ext uri="{9D8B030D-6E8A-4147-A177-3AD203B41FA5}">
                      <a16:colId xmlns:a16="http://schemas.microsoft.com/office/drawing/2014/main" val="2922921697"/>
                    </a:ext>
                  </a:extLst>
                </a:gridCol>
                <a:gridCol w="1124182">
                  <a:extLst>
                    <a:ext uri="{9D8B030D-6E8A-4147-A177-3AD203B41FA5}">
                      <a16:colId xmlns:a16="http://schemas.microsoft.com/office/drawing/2014/main" val="3341476829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1465022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Episodic/</a:t>
                      </a:r>
                    </a:p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Secvențial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 /</a:t>
                      </a:r>
                    </a:p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Determinst /</a:t>
                      </a:r>
                    </a:p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Stocastic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Observabil</a:t>
                      </a:r>
                      <a:endParaRPr lang="en-RO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/ Dinamic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 / Continuu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41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Secvențial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</a:t>
                      </a:r>
                    </a:p>
                  </a:txBody>
                  <a:tcPr>
                    <a:solidFill>
                      <a:srgbClr val="2BE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259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Șah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Secvențial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Multiagent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Determinist</a:t>
                      </a:r>
                    </a:p>
                  </a:txBody>
                  <a:tcPr>
                    <a:solidFill>
                      <a:srgbClr val="2BE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772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Secvențial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Multiagent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Stocastic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626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Secvențial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Multiagent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Stocastic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Parțial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646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Starcraft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Secvențial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Multiagent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Stocastic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Parțial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Dinamic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</a:t>
                      </a:r>
                    </a:p>
                  </a:txBody>
                  <a:tcPr>
                    <a:solidFill>
                      <a:srgbClr val="76E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Lumea reală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Secvențial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Multiagent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Stocastic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Parțial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Dinamic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RO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Continuu</a:t>
                      </a:r>
                    </a:p>
                  </a:txBody>
                  <a:tcPr>
                    <a:solidFill>
                      <a:srgbClr val="C18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591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938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303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Jocuri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06375" y="1266278"/>
            <a:ext cx="8937625" cy="52578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800" dirty="0" err="1">
                <a:latin typeface="Times New Roman"/>
                <a:cs typeface="Times New Roman"/>
              </a:rPr>
              <a:t>Medii</a:t>
            </a:r>
            <a:r>
              <a:rPr lang="en-US" sz="2800" dirty="0">
                <a:latin typeface="Times New Roman"/>
                <a:cs typeface="Times New Roman"/>
              </a:rPr>
              <a:t> multi-agent:</a:t>
            </a:r>
          </a:p>
          <a:p>
            <a:pPr lvl="1" algn="just"/>
            <a:r>
              <a:rPr lang="en-US" sz="2000" dirty="0" err="1">
                <a:latin typeface="Times New Roman"/>
                <a:cs typeface="Times New Roman"/>
              </a:rPr>
              <a:t>fiecare</a:t>
            </a:r>
            <a:r>
              <a:rPr lang="en-US" sz="2000" dirty="0">
                <a:latin typeface="Times New Roman"/>
                <a:cs typeface="Times New Roman"/>
              </a:rPr>
              <a:t> agent </a:t>
            </a:r>
            <a:r>
              <a:rPr lang="en-US" sz="2000" dirty="0" err="1">
                <a:latin typeface="Times New Roman"/>
                <a:cs typeface="Times New Roman"/>
              </a:rPr>
              <a:t>trebuie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considere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acțiunile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celorlalți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agenți</a:t>
            </a:r>
            <a:endParaRPr lang="en-US" sz="2000" dirty="0">
              <a:latin typeface="Times New Roman"/>
              <a:cs typeface="Times New Roman"/>
            </a:endParaRPr>
          </a:p>
          <a:p>
            <a:pPr lvl="1" algn="just"/>
            <a:r>
              <a:rPr lang="en-US" sz="2000" dirty="0" err="1">
                <a:latin typeface="Times New Roman"/>
                <a:cs typeface="Times New Roman"/>
              </a:rPr>
              <a:t>adversar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imprevizibil</a:t>
            </a:r>
            <a:r>
              <a:rPr lang="en-US" sz="2000" dirty="0">
                <a:latin typeface="Times New Roman"/>
                <a:cs typeface="Times New Roman"/>
              </a:rPr>
              <a:t>, </a:t>
            </a:r>
            <a:r>
              <a:rPr lang="en-US" sz="2000" dirty="0" err="1">
                <a:latin typeface="Times New Roman"/>
                <a:cs typeface="Times New Roman"/>
              </a:rPr>
              <a:t>incontrolabil</a:t>
            </a:r>
            <a:endParaRPr lang="en-US" sz="2000" dirty="0">
              <a:latin typeface="Times New Roman"/>
              <a:cs typeface="Times New Roman"/>
            </a:endParaRPr>
          </a:p>
          <a:p>
            <a:pPr lvl="1" algn="just"/>
            <a:r>
              <a:rPr lang="en-US" sz="2000" dirty="0" err="1">
                <a:latin typeface="Times New Roman"/>
                <a:cs typeface="Times New Roman"/>
              </a:rPr>
              <a:t>mediu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competitiv</a:t>
            </a:r>
            <a:endParaRPr lang="en-US" sz="2000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2400" dirty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adversarială</a:t>
            </a:r>
            <a:r>
              <a:rPr lang="en-US" sz="2400" dirty="0">
                <a:latin typeface="Times New Roman"/>
                <a:cs typeface="Times New Roman"/>
              </a:rPr>
              <a:t> = </a:t>
            </a:r>
            <a:r>
              <a:rPr lang="en-US" sz="2400" dirty="0" err="1">
                <a:latin typeface="Times New Roman"/>
                <a:cs typeface="Times New Roman"/>
              </a:rPr>
              <a:t>joc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2800" dirty="0" err="1">
                <a:latin typeface="Times New Roman"/>
                <a:cs typeface="Times New Roman"/>
              </a:rPr>
              <a:t>Soluția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este</a:t>
            </a:r>
            <a:r>
              <a:rPr lang="en-US" sz="2800" dirty="0">
                <a:latin typeface="Times New Roman"/>
                <a:cs typeface="Times New Roman"/>
              </a:rPr>
              <a:t> o </a:t>
            </a:r>
            <a:r>
              <a:rPr lang="en-US" sz="2800" b="1" dirty="0" err="1">
                <a:latin typeface="Times New Roman"/>
                <a:cs typeface="Times New Roman"/>
              </a:rPr>
              <a:t>strategie</a:t>
            </a:r>
            <a:r>
              <a:rPr lang="en-US" sz="2800" dirty="0">
                <a:latin typeface="Times New Roman"/>
                <a:cs typeface="Times New Roman"/>
              </a:rPr>
              <a:t> (policy) care </a:t>
            </a:r>
            <a:r>
              <a:rPr lang="en-US" sz="2800" dirty="0" err="1">
                <a:latin typeface="Times New Roman"/>
                <a:cs typeface="Times New Roman"/>
              </a:rPr>
              <a:t>specifică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mutarea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pentru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fiecare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mutare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posibilă</a:t>
            </a:r>
            <a:r>
              <a:rPr lang="en-US" sz="2800" dirty="0">
                <a:latin typeface="Times New Roman"/>
                <a:cs typeface="Times New Roman"/>
              </a:rPr>
              <a:t> a </a:t>
            </a:r>
            <a:r>
              <a:rPr lang="en-US" sz="2800" dirty="0" err="1">
                <a:latin typeface="Times New Roman"/>
                <a:cs typeface="Times New Roman"/>
              </a:rPr>
              <a:t>adversarului</a:t>
            </a:r>
            <a:endParaRPr lang="en-US" sz="2800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sz="2800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Problemele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adversarială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deosebesc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problemele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clasice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faptul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soluția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simplă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secvență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acțiuni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conduce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sigur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atingerea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scopului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 o </a:t>
            </a:r>
            <a:r>
              <a:rPr lang="en-GB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specifică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acțiunea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optimă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fiecare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posibilă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mutare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adversarului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54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0876" y="1488308"/>
            <a:ext cx="3861455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97001"/>
            <a:ext cx="8534400" cy="4729164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err="1">
                <a:latin typeface="Times New Roman"/>
                <a:cs typeface="Times New Roman"/>
              </a:rPr>
              <a:t>multe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tipuri</a:t>
            </a:r>
            <a:r>
              <a:rPr lang="en-US" sz="2800" dirty="0">
                <a:latin typeface="Times New Roman"/>
                <a:cs typeface="Times New Roman"/>
              </a:rPr>
              <a:t> de </a:t>
            </a:r>
            <a:r>
              <a:rPr lang="en-US" sz="2800" dirty="0" err="1">
                <a:latin typeface="Times New Roman"/>
                <a:cs typeface="Times New Roman"/>
              </a:rPr>
              <a:t>jocuri</a:t>
            </a:r>
            <a:r>
              <a:rPr lang="en-US" sz="2800" dirty="0">
                <a:latin typeface="Times New Roman"/>
                <a:cs typeface="Times New Roman"/>
              </a:rPr>
              <a:t>!</a:t>
            </a:r>
          </a:p>
          <a:p>
            <a:pPr lvl="1" eaLnBrk="1" hangingPunct="1"/>
            <a:endParaRPr lang="en-US" sz="2400" dirty="0">
              <a:latin typeface="Times New Roman"/>
              <a:cs typeface="Times New Roman"/>
            </a:endParaRPr>
          </a:p>
          <a:p>
            <a:pPr eaLnBrk="1" hangingPunct="1"/>
            <a:r>
              <a:rPr lang="en-US" sz="2800" dirty="0" err="1">
                <a:latin typeface="Times New Roman"/>
                <a:cs typeface="Times New Roman"/>
              </a:rPr>
              <a:t>dimensiuni</a:t>
            </a:r>
            <a:r>
              <a:rPr lang="en-US" sz="2800" dirty="0">
                <a:latin typeface="Times New Roman"/>
                <a:cs typeface="Times New Roman"/>
              </a:rPr>
              <a:t>:</a:t>
            </a:r>
          </a:p>
          <a:p>
            <a:pPr lvl="1" eaLnBrk="1" hangingPunct="1"/>
            <a:r>
              <a:rPr lang="en-US" sz="2400" dirty="0">
                <a:latin typeface="Times New Roman"/>
                <a:cs typeface="Times New Roman"/>
              </a:rPr>
              <a:t>deterministic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stocastic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unul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dirty="0" err="1">
                <a:latin typeface="Times New Roman"/>
                <a:cs typeface="Times New Roman"/>
              </a:rPr>
              <a:t>doi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mulți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jucători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joc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sumă</a:t>
            </a:r>
            <a:r>
              <a:rPr lang="en-US" sz="2400" dirty="0">
                <a:latin typeface="Times New Roman"/>
                <a:cs typeface="Times New Roman"/>
              </a:rPr>
              <a:t> zero?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complet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parțial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observabil</a:t>
            </a:r>
            <a:r>
              <a:rPr lang="en-US" sz="2400" dirty="0">
                <a:latin typeface="Times New Roman"/>
                <a:cs typeface="Times New Roman"/>
              </a:rPr>
              <a:t>? (se </a:t>
            </a:r>
            <a:r>
              <a:rPr lang="en-US" sz="2400" dirty="0" err="1">
                <a:latin typeface="Times New Roman"/>
                <a:cs typeface="Times New Roman"/>
              </a:rPr>
              <a:t>cunoaște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întreaga</a:t>
            </a:r>
            <a:r>
              <a:rPr lang="en-US" sz="2400" dirty="0">
                <a:latin typeface="Times New Roman"/>
                <a:cs typeface="Times New Roman"/>
              </a:rPr>
              <a:t> stare)</a:t>
            </a:r>
          </a:p>
          <a:p>
            <a:pPr lvl="1" eaLnBrk="1" hangingPunct="1"/>
            <a:endParaRPr lang="en-US" sz="2400" dirty="0">
              <a:latin typeface="Times New Roman"/>
              <a:cs typeface="Times New Roman"/>
            </a:endParaRPr>
          </a:p>
          <a:p>
            <a:pPr eaLnBrk="1" hangingPunct="1"/>
            <a:r>
              <a:rPr lang="en-US" sz="2800" dirty="0" err="1">
                <a:latin typeface="Times New Roman"/>
                <a:cs typeface="Times New Roman"/>
              </a:rPr>
              <a:t>vrem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să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găsim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algoritmi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pentru</a:t>
            </a:r>
            <a:r>
              <a:rPr lang="en-US" sz="2800" dirty="0">
                <a:latin typeface="Times New Roman"/>
                <a:cs typeface="Times New Roman"/>
              </a:rPr>
              <a:t> a </a:t>
            </a:r>
            <a:r>
              <a:rPr lang="en-US" sz="2800" dirty="0" err="1">
                <a:latin typeface="Times New Roman"/>
                <a:cs typeface="Times New Roman"/>
              </a:rPr>
              <a:t>calcula</a:t>
            </a:r>
            <a:r>
              <a:rPr lang="en-US" sz="2800" dirty="0">
                <a:latin typeface="Times New Roman"/>
                <a:cs typeface="Times New Roman"/>
              </a:rPr>
              <a:t> o </a:t>
            </a:r>
            <a:r>
              <a:rPr lang="en-US" sz="2800" dirty="0" err="1">
                <a:latin typeface="Times New Roman"/>
                <a:cs typeface="Times New Roman"/>
              </a:rPr>
              <a:t>strategie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ce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recomandă</a:t>
            </a:r>
            <a:r>
              <a:rPr lang="en-US" sz="2800" dirty="0">
                <a:latin typeface="Times New Roman"/>
                <a:cs typeface="Times New Roman"/>
              </a:rPr>
              <a:t> o </a:t>
            </a:r>
            <a:r>
              <a:rPr lang="en-US" sz="2800" dirty="0" err="1">
                <a:latin typeface="Times New Roman"/>
                <a:cs typeface="Times New Roman"/>
              </a:rPr>
              <a:t>mutare</a:t>
            </a:r>
            <a:r>
              <a:rPr lang="en-US" sz="2800" dirty="0">
                <a:latin typeface="Times New Roman"/>
                <a:cs typeface="Times New Roman"/>
              </a:rPr>
              <a:t> din </a:t>
            </a:r>
            <a:r>
              <a:rPr lang="en-US" sz="2800" dirty="0" err="1">
                <a:latin typeface="Times New Roman"/>
                <a:cs typeface="Times New Roman"/>
              </a:rPr>
              <a:t>fiecare</a:t>
            </a:r>
            <a:r>
              <a:rPr lang="en-US" sz="2800" dirty="0">
                <a:latin typeface="Times New Roman"/>
                <a:cs typeface="Times New Roman"/>
              </a:rPr>
              <a:t> stare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303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Tipuri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jocuri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91880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97781"/>
            <a:ext cx="8534400" cy="4729164"/>
          </a:xfrm>
        </p:spPr>
        <p:txBody>
          <a:bodyPr>
            <a:normAutofit/>
          </a:bodyPr>
          <a:lstStyle/>
          <a:p>
            <a:pPr lvl="1" eaLnBrk="1" hangingPunct="1"/>
            <a:endParaRPr lang="en-US" sz="2400" dirty="0">
              <a:latin typeface="Times New Roman"/>
              <a:cs typeface="Times New Roman"/>
            </a:endParaRPr>
          </a:p>
          <a:p>
            <a:pPr lvl="1" eaLnBrk="1" hangingPunct="1"/>
            <a:endParaRPr lang="en-US" sz="2400" dirty="0">
              <a:latin typeface="Times New Roman"/>
              <a:cs typeface="Times New Roman"/>
            </a:endParaRPr>
          </a:p>
          <a:p>
            <a:pPr eaLnBrk="1" hangingPunct="1"/>
            <a:r>
              <a:rPr lang="en-US" sz="2800" dirty="0" err="1">
                <a:latin typeface="Times New Roman"/>
                <a:cs typeface="Times New Roman"/>
              </a:rPr>
              <a:t>dimensiuni</a:t>
            </a:r>
            <a:r>
              <a:rPr lang="en-US" sz="2800" dirty="0">
                <a:latin typeface="Times New Roman"/>
                <a:cs typeface="Times New Roman"/>
              </a:rPr>
              <a:t>:</a:t>
            </a:r>
          </a:p>
          <a:p>
            <a:pPr lvl="1" eaLnBrk="1" hangingPunct="1"/>
            <a:r>
              <a:rPr lang="en-US" sz="2400" dirty="0">
                <a:latin typeface="Times New Roman"/>
                <a:cs typeface="Times New Roman"/>
              </a:rPr>
              <a:t>deterministic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stocastic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unul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dirty="0" err="1">
                <a:latin typeface="Times New Roman"/>
                <a:cs typeface="Times New Roman"/>
              </a:rPr>
              <a:t>doi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mulți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jucători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joc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sumă</a:t>
            </a:r>
            <a:r>
              <a:rPr lang="en-US" sz="2400" dirty="0">
                <a:latin typeface="Times New Roman"/>
                <a:cs typeface="Times New Roman"/>
              </a:rPr>
              <a:t> zero?</a:t>
            </a:r>
          </a:p>
          <a:p>
            <a:pPr lvl="1"/>
            <a:r>
              <a:rPr lang="en-US" sz="2400" dirty="0" err="1">
                <a:latin typeface="Times New Roman"/>
                <a:cs typeface="Times New Roman"/>
              </a:rPr>
              <a:t>complet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parțial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observabil</a:t>
            </a:r>
            <a:r>
              <a:rPr lang="en-US" sz="2400" dirty="0">
                <a:latin typeface="Times New Roman"/>
                <a:cs typeface="Times New Roman"/>
              </a:rPr>
              <a:t>? (se </a:t>
            </a:r>
            <a:r>
              <a:rPr lang="en-US" sz="2400" dirty="0" err="1">
                <a:latin typeface="Times New Roman"/>
                <a:cs typeface="Times New Roman"/>
              </a:rPr>
              <a:t>cunoaște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întreaga</a:t>
            </a:r>
            <a:r>
              <a:rPr lang="en-US" sz="2400" dirty="0">
                <a:latin typeface="Times New Roman"/>
                <a:cs typeface="Times New Roman"/>
              </a:rPr>
              <a:t> stare)</a:t>
            </a:r>
          </a:p>
          <a:p>
            <a:pPr lvl="1" eaLnBrk="1" hangingPunct="1"/>
            <a:endParaRPr lang="en-US" sz="2400" dirty="0">
              <a:latin typeface="Times New Roman"/>
              <a:cs typeface="Times New Roman"/>
            </a:endParaRPr>
          </a:p>
          <a:p>
            <a:pPr eaLnBrk="1" hangingPunct="1"/>
            <a:r>
              <a:rPr lang="en-US" sz="2800" dirty="0" err="1">
                <a:latin typeface="Times New Roman"/>
                <a:cs typeface="Times New Roman"/>
              </a:rPr>
              <a:t>vrem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să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găsim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algoritmi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pentru</a:t>
            </a:r>
            <a:r>
              <a:rPr lang="en-US" sz="2800" dirty="0">
                <a:latin typeface="Times New Roman"/>
                <a:cs typeface="Times New Roman"/>
              </a:rPr>
              <a:t> a </a:t>
            </a:r>
            <a:r>
              <a:rPr lang="en-US" sz="2800" dirty="0" err="1">
                <a:latin typeface="Times New Roman"/>
                <a:cs typeface="Times New Roman"/>
              </a:rPr>
              <a:t>calcula</a:t>
            </a:r>
            <a:r>
              <a:rPr lang="en-US" sz="2800" dirty="0">
                <a:latin typeface="Times New Roman"/>
                <a:cs typeface="Times New Roman"/>
              </a:rPr>
              <a:t> o </a:t>
            </a:r>
            <a:r>
              <a:rPr lang="en-US" sz="2800" dirty="0" err="1">
                <a:latin typeface="Times New Roman"/>
                <a:cs typeface="Times New Roman"/>
              </a:rPr>
              <a:t>strategie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ce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recomandă</a:t>
            </a:r>
            <a:r>
              <a:rPr lang="en-US" sz="2800" dirty="0">
                <a:latin typeface="Times New Roman"/>
                <a:cs typeface="Times New Roman"/>
              </a:rPr>
              <a:t> o </a:t>
            </a:r>
            <a:r>
              <a:rPr lang="en-US" sz="2800" dirty="0" err="1">
                <a:latin typeface="Times New Roman"/>
                <a:cs typeface="Times New Roman"/>
              </a:rPr>
              <a:t>mutare</a:t>
            </a:r>
            <a:r>
              <a:rPr lang="en-US" sz="2800" dirty="0">
                <a:latin typeface="Times New Roman"/>
                <a:cs typeface="Times New Roman"/>
              </a:rPr>
              <a:t> din </a:t>
            </a:r>
            <a:r>
              <a:rPr lang="en-US" sz="2800" dirty="0" err="1">
                <a:latin typeface="Times New Roman"/>
                <a:cs typeface="Times New Roman"/>
              </a:rPr>
              <a:t>fiecare</a:t>
            </a:r>
            <a:r>
              <a:rPr lang="en-US" sz="2800" dirty="0">
                <a:latin typeface="Times New Roman"/>
                <a:cs typeface="Times New Roman"/>
              </a:rPr>
              <a:t> stare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303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Tipuri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jocuri</a:t>
            </a:r>
            <a:endParaRPr lang="en-US" dirty="0">
              <a:latin typeface="Times New Roman"/>
              <a:cs typeface="Times New Roman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906083"/>
              </p:ext>
            </p:extLst>
          </p:nvPr>
        </p:nvGraphicFramePr>
        <p:xfrm>
          <a:off x="2975476" y="1494636"/>
          <a:ext cx="428139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7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dame,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table, monopoly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avioane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battleship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poker,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catan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13206" y="1501164"/>
            <a:ext cx="22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observabil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07" y="1826672"/>
            <a:ext cx="22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parțial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observabil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75477" y="1103640"/>
            <a:ext cx="183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3014" y="1080890"/>
            <a:ext cx="244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stocastic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18242" y="2603589"/>
            <a:ext cx="2038568" cy="17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340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97781"/>
            <a:ext cx="8534400" cy="4729164"/>
          </a:xfrm>
        </p:spPr>
        <p:txBody>
          <a:bodyPr>
            <a:normAutofit/>
          </a:bodyPr>
          <a:lstStyle/>
          <a:p>
            <a:pPr lvl="1" eaLnBrk="1" hangingPunct="1"/>
            <a:endParaRPr lang="en-US" sz="2400" dirty="0">
              <a:latin typeface="Times New Roman"/>
              <a:cs typeface="Times New Roman"/>
            </a:endParaRPr>
          </a:p>
          <a:p>
            <a:pPr lvl="1" eaLnBrk="1" hangingPunct="1"/>
            <a:endParaRPr lang="en-US" sz="2400" dirty="0">
              <a:latin typeface="Times New Roman"/>
              <a:cs typeface="Times New Roman"/>
            </a:endParaRPr>
          </a:p>
          <a:p>
            <a:pPr eaLnBrk="1" hangingPunct="1"/>
            <a:r>
              <a:rPr lang="en-US" sz="2800" dirty="0" err="1">
                <a:latin typeface="Times New Roman"/>
                <a:cs typeface="Times New Roman"/>
              </a:rPr>
              <a:t>dimensiuni</a:t>
            </a:r>
            <a:r>
              <a:rPr lang="en-US" sz="2800" dirty="0">
                <a:latin typeface="Times New Roman"/>
                <a:cs typeface="Times New Roman"/>
              </a:rPr>
              <a:t>:</a:t>
            </a:r>
          </a:p>
          <a:p>
            <a:pPr lvl="1" eaLnBrk="1" hangingPunct="1"/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deterministic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stocastic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</a:p>
          <a:p>
            <a:pPr lvl="1" eaLnBrk="1" hangingPunct="1"/>
            <a:r>
              <a:rPr lang="en-US" sz="2400" dirty="0" err="1">
                <a:latin typeface="Times New Roman"/>
                <a:cs typeface="Times New Roman"/>
              </a:rPr>
              <a:t>unul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doi</a:t>
            </a:r>
            <a:r>
              <a:rPr lang="en-US" sz="2400" dirty="0">
                <a:latin typeface="Times New Roman"/>
                <a:cs typeface="Times New Roman"/>
              </a:rPr>
              <a:t>,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mulți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jucători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</a:p>
          <a:p>
            <a:pPr lvl="1" eaLnBrk="1" hangingPunct="1"/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joc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sumă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zero</a:t>
            </a:r>
            <a:r>
              <a:rPr lang="en-US" sz="2400" dirty="0">
                <a:latin typeface="Times New Roman"/>
                <a:cs typeface="Times New Roman"/>
              </a:rPr>
              <a:t>?</a:t>
            </a:r>
          </a:p>
          <a:p>
            <a:pPr lvl="1"/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complet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sau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parțial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observabil</a:t>
            </a:r>
            <a:r>
              <a:rPr lang="en-US" sz="2400" dirty="0">
                <a:latin typeface="Times New Roman"/>
                <a:cs typeface="Times New Roman"/>
              </a:rPr>
              <a:t>? (se </a:t>
            </a:r>
            <a:r>
              <a:rPr lang="en-US" sz="2400" dirty="0" err="1">
                <a:latin typeface="Times New Roman"/>
                <a:cs typeface="Times New Roman"/>
              </a:rPr>
              <a:t>cunoaște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întreaga</a:t>
            </a:r>
            <a:r>
              <a:rPr lang="en-US" sz="2400" dirty="0">
                <a:latin typeface="Times New Roman"/>
                <a:cs typeface="Times New Roman"/>
              </a:rPr>
              <a:t> stare)</a:t>
            </a:r>
          </a:p>
          <a:p>
            <a:pPr lvl="1" eaLnBrk="1" hangingPunct="1"/>
            <a:endParaRPr lang="en-US" sz="2400" dirty="0">
              <a:latin typeface="Times New Roman"/>
              <a:cs typeface="Times New Roman"/>
            </a:endParaRPr>
          </a:p>
          <a:p>
            <a:pPr eaLnBrk="1" hangingPunct="1"/>
            <a:r>
              <a:rPr lang="en-US" sz="2800" dirty="0" err="1">
                <a:latin typeface="Times New Roman"/>
                <a:cs typeface="Times New Roman"/>
              </a:rPr>
              <a:t>vrem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să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găsim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algoritmi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pentru</a:t>
            </a:r>
            <a:r>
              <a:rPr lang="en-US" sz="2800" dirty="0">
                <a:latin typeface="Times New Roman"/>
                <a:cs typeface="Times New Roman"/>
              </a:rPr>
              <a:t> a </a:t>
            </a:r>
            <a:r>
              <a:rPr lang="en-US" sz="2800" dirty="0" err="1">
                <a:latin typeface="Times New Roman"/>
                <a:cs typeface="Times New Roman"/>
              </a:rPr>
              <a:t>calcula</a:t>
            </a:r>
            <a:r>
              <a:rPr lang="en-US" sz="2800" dirty="0">
                <a:latin typeface="Times New Roman"/>
                <a:cs typeface="Times New Roman"/>
              </a:rPr>
              <a:t> o </a:t>
            </a:r>
            <a:r>
              <a:rPr lang="en-US" sz="2800" dirty="0" err="1">
                <a:latin typeface="Times New Roman"/>
                <a:cs typeface="Times New Roman"/>
              </a:rPr>
              <a:t>strategie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ce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recomandă</a:t>
            </a:r>
            <a:r>
              <a:rPr lang="en-US" sz="2800" dirty="0">
                <a:latin typeface="Times New Roman"/>
                <a:cs typeface="Times New Roman"/>
              </a:rPr>
              <a:t> o </a:t>
            </a:r>
            <a:r>
              <a:rPr lang="en-US" sz="2800" dirty="0" err="1">
                <a:latin typeface="Times New Roman"/>
                <a:cs typeface="Times New Roman"/>
              </a:rPr>
              <a:t>mutare</a:t>
            </a:r>
            <a:r>
              <a:rPr lang="en-US" sz="2800" dirty="0">
                <a:latin typeface="Times New Roman"/>
                <a:cs typeface="Times New Roman"/>
              </a:rPr>
              <a:t> din </a:t>
            </a:r>
            <a:r>
              <a:rPr lang="en-US" sz="2800" dirty="0" err="1">
                <a:latin typeface="Times New Roman"/>
                <a:cs typeface="Times New Roman"/>
              </a:rPr>
              <a:t>fiecare</a:t>
            </a:r>
            <a:r>
              <a:rPr lang="en-US" sz="2800" dirty="0">
                <a:latin typeface="Times New Roman"/>
                <a:cs typeface="Times New Roman"/>
              </a:rPr>
              <a:t> stare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303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Tipuri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jocuri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18242" y="2603589"/>
            <a:ext cx="2038568" cy="17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CE8F31-3798-9116-702E-B7DEAAC80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875852"/>
              </p:ext>
            </p:extLst>
          </p:nvPr>
        </p:nvGraphicFramePr>
        <p:xfrm>
          <a:off x="2975476" y="1494636"/>
          <a:ext cx="428139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97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dame,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table, monopoly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avioane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battleship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poker,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catan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D98668-7858-A03A-DA32-871C1A058953}"/>
              </a:ext>
            </a:extLst>
          </p:cNvPr>
          <p:cNvSpPr txBox="1"/>
          <p:nvPr/>
        </p:nvSpPr>
        <p:spPr>
          <a:xfrm>
            <a:off x="713206" y="1501164"/>
            <a:ext cx="22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observabil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1C155-87E5-C9DA-A0CE-228EBF5523F1}"/>
              </a:ext>
            </a:extLst>
          </p:cNvPr>
          <p:cNvSpPr txBox="1"/>
          <p:nvPr/>
        </p:nvSpPr>
        <p:spPr>
          <a:xfrm>
            <a:off x="713207" y="1826672"/>
            <a:ext cx="226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parțial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observabil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8AEE9-25CD-1D4F-789F-48192B3EFA3A}"/>
              </a:ext>
            </a:extLst>
          </p:cNvPr>
          <p:cNvSpPr txBox="1"/>
          <p:nvPr/>
        </p:nvSpPr>
        <p:spPr>
          <a:xfrm>
            <a:off x="2975477" y="1103640"/>
            <a:ext cx="183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A73BF-974E-EA06-772A-03A409B272A1}"/>
              </a:ext>
            </a:extLst>
          </p:cNvPr>
          <p:cNvSpPr txBox="1"/>
          <p:nvPr/>
        </p:nvSpPr>
        <p:spPr>
          <a:xfrm>
            <a:off x="4813014" y="1080890"/>
            <a:ext cx="244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stocastic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058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26148" y="1357401"/>
            <a:ext cx="4937522" cy="267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136" y="1388558"/>
            <a:ext cx="3081090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92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Jocuri</a:t>
            </a:r>
            <a:r>
              <a:rPr lang="en-US" dirty="0">
                <a:latin typeface="Times New Roman"/>
                <a:cs typeface="Times New Roman"/>
              </a:rPr>
              <a:t> cu </a:t>
            </a:r>
            <a:r>
              <a:rPr lang="en-US" dirty="0" err="1">
                <a:latin typeface="Times New Roman"/>
                <a:cs typeface="Times New Roman"/>
              </a:rPr>
              <a:t>sumă</a:t>
            </a:r>
            <a:r>
              <a:rPr lang="en-US" dirty="0">
                <a:latin typeface="Times New Roman"/>
                <a:cs typeface="Times New Roman"/>
              </a:rPr>
              <a:t> zero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342900" y="4190999"/>
            <a:ext cx="4286250" cy="2081737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err="1">
                <a:latin typeface="Times New Roman"/>
                <a:cs typeface="Times New Roman"/>
              </a:rPr>
              <a:t>Jocuri</a:t>
            </a:r>
            <a:r>
              <a:rPr lang="en-US" sz="2400" dirty="0">
                <a:latin typeface="Times New Roman"/>
                <a:cs typeface="Times New Roman"/>
              </a:rPr>
              <a:t> cu </a:t>
            </a:r>
            <a:r>
              <a:rPr lang="en-US" sz="2400" dirty="0" err="1">
                <a:latin typeface="Times New Roman"/>
                <a:cs typeface="Times New Roman"/>
              </a:rPr>
              <a:t>sumă</a:t>
            </a:r>
            <a:r>
              <a:rPr lang="en-US" sz="2400" dirty="0">
                <a:latin typeface="Times New Roman"/>
                <a:cs typeface="Times New Roman"/>
              </a:rPr>
              <a:t> zero</a:t>
            </a: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agenții</a:t>
            </a:r>
            <a:r>
              <a:rPr lang="en-US" sz="2000" dirty="0">
                <a:latin typeface="Times New Roman"/>
                <a:cs typeface="Times New Roman"/>
              </a:rPr>
              <a:t> au </a:t>
            </a:r>
            <a:r>
              <a:rPr lang="en-US" sz="2000" dirty="0" err="1">
                <a:latin typeface="Times New Roman"/>
                <a:cs typeface="Times New Roman"/>
              </a:rPr>
              <a:t>utilități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evaluări</a:t>
            </a:r>
            <a:r>
              <a:rPr lang="en-US" sz="2000" dirty="0">
                <a:latin typeface="Times New Roman"/>
                <a:cs typeface="Times New Roman"/>
              </a:rPr>
              <a:t> ale </a:t>
            </a:r>
            <a:r>
              <a:rPr lang="en-US" sz="2000" dirty="0" err="1">
                <a:latin typeface="Times New Roman"/>
                <a:cs typeface="Times New Roman"/>
              </a:rPr>
              <a:t>rezultatelor</a:t>
            </a:r>
            <a:r>
              <a:rPr lang="en-US" sz="2000" dirty="0">
                <a:latin typeface="Times New Roman"/>
                <a:cs typeface="Times New Roman"/>
              </a:rPr>
              <a:t>) </a:t>
            </a:r>
            <a:r>
              <a:rPr lang="en-US" sz="2000" dirty="0" err="1">
                <a:latin typeface="Times New Roman"/>
                <a:cs typeface="Times New Roman"/>
              </a:rPr>
              <a:t>opuse</a:t>
            </a:r>
            <a:endParaRPr lang="en-US" sz="2000" dirty="0">
              <a:latin typeface="Times New Roman"/>
              <a:cs typeface="Times New Roman"/>
            </a:endParaRPr>
          </a:p>
          <a:p>
            <a:pPr lvl="1"/>
            <a:r>
              <a:rPr lang="en-US" sz="2000" dirty="0">
                <a:latin typeface="Times New Roman"/>
                <a:cs typeface="Times New Roman"/>
              </a:rPr>
              <a:t>un agent </a:t>
            </a:r>
            <a:r>
              <a:rPr lang="en-US" sz="2000" dirty="0" err="1">
                <a:latin typeface="Times New Roman"/>
                <a:cs typeface="Times New Roman"/>
              </a:rPr>
              <a:t>dorește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maximizarea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utilității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agentul</a:t>
            </a:r>
            <a:r>
              <a:rPr lang="en-US" sz="2000" dirty="0">
                <a:latin typeface="Times New Roman"/>
                <a:cs typeface="Times New Roman"/>
              </a:rPr>
              <a:t> MAX), </a:t>
            </a:r>
            <a:r>
              <a:rPr lang="en-US" sz="2000" dirty="0" err="1">
                <a:latin typeface="Times New Roman"/>
                <a:cs typeface="Times New Roman"/>
              </a:rPr>
              <a:t>celălalt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minimizarea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agentul</a:t>
            </a:r>
            <a:r>
              <a:rPr lang="en-US" sz="2000" dirty="0">
                <a:latin typeface="Times New Roman"/>
                <a:cs typeface="Times New Roman"/>
              </a:rPr>
              <a:t> MIN)</a:t>
            </a: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mediu</a:t>
            </a:r>
            <a:r>
              <a:rPr lang="en-US" sz="2000" dirty="0">
                <a:latin typeface="Times New Roman"/>
                <a:cs typeface="Times New Roman"/>
              </a:rPr>
              <a:t> adversarial </a:t>
            </a:r>
            <a:r>
              <a:rPr lang="en-US" sz="2000" dirty="0" err="1">
                <a:latin typeface="Times New Roman"/>
                <a:cs typeface="Times New Roman"/>
              </a:rPr>
              <a:t>pur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competitiv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629150" y="4191000"/>
            <a:ext cx="4514850" cy="1706564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 err="1">
                <a:latin typeface="Times New Roman"/>
                <a:cs typeface="Times New Roman"/>
              </a:rPr>
              <a:t>Jocuri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generale</a:t>
            </a:r>
            <a:endParaRPr lang="en-US" sz="2400" dirty="0">
              <a:latin typeface="Times New Roman"/>
              <a:cs typeface="Times New Roman"/>
            </a:endParaRP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agenții</a:t>
            </a:r>
            <a:r>
              <a:rPr lang="en-US" sz="2000" dirty="0">
                <a:latin typeface="Times New Roman"/>
                <a:cs typeface="Times New Roman"/>
              </a:rPr>
              <a:t> au </a:t>
            </a:r>
            <a:r>
              <a:rPr lang="en-US" sz="2000" dirty="0" err="1">
                <a:latin typeface="Times New Roman"/>
                <a:cs typeface="Times New Roman"/>
              </a:rPr>
              <a:t>utilități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independente</a:t>
            </a:r>
            <a:endParaRPr lang="en-US" sz="2000" dirty="0">
              <a:latin typeface="Times New Roman"/>
              <a:cs typeface="Times New Roman"/>
            </a:endParaRPr>
          </a:p>
          <a:p>
            <a:pPr lvl="1"/>
            <a:r>
              <a:rPr lang="en-US" sz="2000" dirty="0" err="1">
                <a:latin typeface="Times New Roman"/>
                <a:cs typeface="Times New Roman"/>
              </a:rPr>
              <a:t>cooperare</a:t>
            </a:r>
            <a:r>
              <a:rPr lang="en-US" sz="2000" dirty="0">
                <a:latin typeface="Times New Roman"/>
                <a:cs typeface="Times New Roman"/>
              </a:rPr>
              <a:t>, </a:t>
            </a:r>
            <a:r>
              <a:rPr lang="en-US" sz="2000" dirty="0" err="1">
                <a:latin typeface="Times New Roman"/>
                <a:cs typeface="Times New Roman"/>
              </a:rPr>
              <a:t>indiferență</a:t>
            </a:r>
            <a:r>
              <a:rPr lang="en-US" sz="2000" dirty="0">
                <a:latin typeface="Times New Roman"/>
                <a:cs typeface="Times New Roman"/>
              </a:rPr>
              <a:t>, </a:t>
            </a:r>
            <a:r>
              <a:rPr lang="en-US" sz="2000" dirty="0" err="1">
                <a:latin typeface="Times New Roman"/>
                <a:cs typeface="Times New Roman"/>
              </a:rPr>
              <a:t>competiție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1599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34868"/>
            <a:ext cx="8839200" cy="5623132"/>
          </a:xfrm>
        </p:spPr>
        <p:txBody>
          <a:bodyPr>
            <a:normAutofit/>
          </a:bodyPr>
          <a:lstStyle/>
          <a:p>
            <a:pPr algn="just"/>
            <a:r>
              <a:rPr lang="en-US" sz="2800" dirty="0" err="1">
                <a:latin typeface="Times New Roman"/>
                <a:cs typeface="Times New Roman"/>
              </a:rPr>
              <a:t>joc</a:t>
            </a:r>
            <a:r>
              <a:rPr lang="en-US" sz="2800" dirty="0">
                <a:latin typeface="Times New Roman"/>
                <a:cs typeface="Times New Roman"/>
              </a:rPr>
              <a:t> cu </a:t>
            </a:r>
            <a:r>
              <a:rPr lang="en-US" sz="2800" dirty="0" err="1">
                <a:latin typeface="Times New Roman"/>
                <a:cs typeface="Times New Roman"/>
              </a:rPr>
              <a:t>doi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jucători</a:t>
            </a:r>
            <a:r>
              <a:rPr lang="en-US" sz="2800" dirty="0">
                <a:latin typeface="Times New Roman"/>
                <a:cs typeface="Times New Roman"/>
              </a:rPr>
              <a:t>: MAX vs. MIN</a:t>
            </a:r>
          </a:p>
          <a:p>
            <a:pPr lvl="1" algn="just"/>
            <a:r>
              <a:rPr lang="en-US" sz="2400" dirty="0" err="1">
                <a:latin typeface="Times New Roman"/>
                <a:cs typeface="Times New Roman"/>
              </a:rPr>
              <a:t>joc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sumă</a:t>
            </a:r>
            <a:r>
              <a:rPr lang="en-US" sz="2400" dirty="0">
                <a:latin typeface="Times New Roman"/>
                <a:cs typeface="Times New Roman"/>
              </a:rPr>
              <a:t> zero: </a:t>
            </a:r>
            <a:r>
              <a:rPr lang="en-US" sz="2400" dirty="0" err="1">
                <a:latin typeface="Times New Roman"/>
                <a:cs typeface="Times New Roman"/>
              </a:rPr>
              <a:t>câștigul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unuia</a:t>
            </a:r>
            <a:r>
              <a:rPr lang="en-US" sz="2400" dirty="0">
                <a:latin typeface="Times New Roman"/>
                <a:cs typeface="Times New Roman"/>
              </a:rPr>
              <a:t> = </a:t>
            </a:r>
            <a:r>
              <a:rPr lang="en-US" sz="2400" dirty="0" err="1">
                <a:latin typeface="Times New Roman"/>
                <a:cs typeface="Times New Roman"/>
              </a:rPr>
              <a:t>pierderea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celuilalt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2800" dirty="0" err="1">
                <a:latin typeface="Times New Roman"/>
                <a:cs typeface="Times New Roman"/>
              </a:rPr>
              <a:t>Componentele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problemei</a:t>
            </a:r>
            <a:endParaRPr lang="en-US" sz="28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>
                <a:latin typeface="Times New Roman"/>
                <a:cs typeface="Times New Roman"/>
              </a:rPr>
              <a:t>stare </a:t>
            </a:r>
            <a:r>
              <a:rPr lang="en-US" sz="2400" dirty="0" err="1">
                <a:latin typeface="Times New Roman"/>
                <a:cs typeface="Times New Roman"/>
              </a:rPr>
              <a:t>inițială</a:t>
            </a:r>
            <a:r>
              <a:rPr lang="en-US" sz="2400" dirty="0">
                <a:latin typeface="Times New Roman"/>
                <a:cs typeface="Times New Roman"/>
              </a:rPr>
              <a:t>: s</a:t>
            </a:r>
            <a:r>
              <a:rPr lang="en-US" sz="2400" baseline="-25000" dirty="0">
                <a:latin typeface="Times New Roman"/>
                <a:cs typeface="Times New Roman"/>
              </a:rPr>
              <a:t>0</a:t>
            </a:r>
            <a:endParaRPr lang="en-US" sz="2400" dirty="0">
              <a:latin typeface="Times New Roman"/>
              <a:cs typeface="Times New Roman"/>
            </a:endParaRPr>
          </a:p>
          <a:p>
            <a:pPr algn="just"/>
            <a:r>
              <a:rPr lang="en-US" sz="2400" dirty="0" err="1">
                <a:latin typeface="Times New Roman"/>
                <a:cs typeface="Times New Roman"/>
              </a:rPr>
              <a:t>jucătorul</a:t>
            </a:r>
            <a:r>
              <a:rPr lang="en-US" sz="2400" dirty="0">
                <a:latin typeface="Times New Roman"/>
                <a:cs typeface="Times New Roman"/>
              </a:rPr>
              <a:t> la </a:t>
            </a:r>
            <a:r>
              <a:rPr lang="en-US" sz="2400" dirty="0" err="1">
                <a:latin typeface="Times New Roman"/>
                <a:cs typeface="Times New Roman"/>
              </a:rPr>
              <a:t>mutare</a:t>
            </a:r>
            <a:r>
              <a:rPr lang="en-US" sz="2400" dirty="0">
                <a:latin typeface="Times New Roman"/>
                <a:cs typeface="Times New Roman"/>
              </a:rPr>
              <a:t>: PLAYER(s)</a:t>
            </a:r>
          </a:p>
          <a:p>
            <a:pPr algn="just"/>
            <a:r>
              <a:rPr lang="en-US" sz="2400" dirty="0" err="1">
                <a:latin typeface="Times New Roman"/>
                <a:cs typeface="Times New Roman"/>
              </a:rPr>
              <a:t>acțiuni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legale</a:t>
            </a:r>
            <a:r>
              <a:rPr lang="en-US" sz="2400" dirty="0">
                <a:latin typeface="Times New Roman"/>
                <a:cs typeface="Times New Roman"/>
              </a:rPr>
              <a:t> : ACTIONS(s)</a:t>
            </a:r>
          </a:p>
          <a:p>
            <a:pPr algn="just"/>
            <a:r>
              <a:rPr lang="en-US" sz="2400" dirty="0" err="1">
                <a:latin typeface="Times New Roman"/>
                <a:cs typeface="Times New Roman"/>
              </a:rPr>
              <a:t>modelul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tranziție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funcția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succesor</a:t>
            </a:r>
            <a:r>
              <a:rPr lang="en-US" sz="2400" dirty="0">
                <a:latin typeface="Times New Roman"/>
                <a:cs typeface="Times New Roman"/>
              </a:rPr>
              <a:t>): RESULT(</a:t>
            </a:r>
            <a:r>
              <a:rPr lang="en-US" sz="2400" dirty="0" err="1">
                <a:latin typeface="Times New Roman"/>
                <a:cs typeface="Times New Roman"/>
              </a:rPr>
              <a:t>s,a</a:t>
            </a:r>
            <a:r>
              <a:rPr lang="en-US" sz="2400" dirty="0">
                <a:latin typeface="Times New Roman"/>
                <a:cs typeface="Times New Roman"/>
              </a:rPr>
              <a:t>)</a:t>
            </a:r>
          </a:p>
          <a:p>
            <a:pPr algn="just"/>
            <a:r>
              <a:rPr lang="en-US" sz="2400" dirty="0">
                <a:latin typeface="Times New Roman"/>
                <a:cs typeface="Times New Roman"/>
              </a:rPr>
              <a:t>test terminal : TERMINAL-TEST(s)</a:t>
            </a:r>
          </a:p>
          <a:p>
            <a:pPr algn="just"/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utilitate</a:t>
            </a:r>
            <a:r>
              <a:rPr lang="en-US" sz="2400" dirty="0">
                <a:latin typeface="Times New Roman"/>
                <a:cs typeface="Times New Roman"/>
              </a:rPr>
              <a:t>: UTILITY(s)</a:t>
            </a:r>
          </a:p>
          <a:p>
            <a:pPr marL="0" indent="0" algn="just">
              <a:buNone/>
            </a:pPr>
            <a:r>
              <a:rPr lang="en-US" sz="2800" dirty="0" err="1">
                <a:latin typeface="Times New Roman"/>
                <a:cs typeface="Times New Roman"/>
              </a:rPr>
              <a:t>Exemplu</a:t>
            </a:r>
            <a:r>
              <a:rPr lang="en-US" sz="2800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303"/>
            <a:ext cx="91440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800" dirty="0" err="1">
                <a:latin typeface="Times New Roman"/>
                <a:cs typeface="Times New Roman"/>
              </a:rPr>
              <a:t>Formularea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unei</a:t>
            </a:r>
            <a:r>
              <a:rPr lang="en-US" sz="3800" dirty="0">
                <a:latin typeface="Times New Roman"/>
                <a:cs typeface="Times New Roman"/>
              </a:rPr>
              <a:t> </a:t>
            </a:r>
            <a:r>
              <a:rPr lang="en-US" sz="3800" dirty="0" err="1">
                <a:latin typeface="Times New Roman"/>
                <a:cs typeface="Times New Roman"/>
              </a:rPr>
              <a:t>probleme</a:t>
            </a:r>
            <a:r>
              <a:rPr lang="en-US" sz="3800" dirty="0">
                <a:latin typeface="Times New Roman"/>
                <a:cs typeface="Times New Roman"/>
              </a:rPr>
              <a:t> de </a:t>
            </a:r>
            <a:r>
              <a:rPr lang="en-US" sz="3800" dirty="0" err="1">
                <a:latin typeface="Times New Roman"/>
                <a:cs typeface="Times New Roman"/>
              </a:rPr>
              <a:t>joc</a:t>
            </a:r>
            <a:r>
              <a:rPr lang="en-US" sz="3800" dirty="0">
                <a:latin typeface="Times New Roman"/>
                <a:cs typeface="Times New Roman"/>
              </a:rPr>
              <a:t> (Minimax)</a:t>
            </a:r>
          </a:p>
        </p:txBody>
      </p:sp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19AEF827-B093-0663-574D-AD111BC22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490" y="5396982"/>
            <a:ext cx="50546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91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74968" y="1320019"/>
            <a:ext cx="4113126" cy="507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922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Găsirea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unei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strategii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optime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5179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0" y="12613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/>
                <a:cs typeface="Times New Roman"/>
              </a:rPr>
              <a:t>Arbore de </a:t>
            </a:r>
            <a:r>
              <a:rPr lang="en-US" dirty="0" err="1">
                <a:latin typeface="Times New Roman"/>
                <a:cs typeface="Times New Roman"/>
              </a:rPr>
              <a:t>căutare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într</a:t>
            </a:r>
            <a:r>
              <a:rPr lang="en-US" dirty="0">
                <a:latin typeface="Times New Roman"/>
                <a:cs typeface="Times New Roman"/>
              </a:rPr>
              <a:t>-un </a:t>
            </a:r>
            <a:r>
              <a:rPr lang="en-US" dirty="0" err="1">
                <a:latin typeface="Times New Roman"/>
                <a:cs typeface="Times New Roman"/>
              </a:rPr>
              <a:t>mediu</a:t>
            </a:r>
            <a:r>
              <a:rPr lang="en-US" dirty="0">
                <a:latin typeface="Times New Roman"/>
                <a:cs typeface="Times New Roman"/>
              </a:rPr>
              <a:t> cu un </a:t>
            </a:r>
            <a:r>
              <a:rPr lang="en-US" dirty="0" err="1">
                <a:latin typeface="Times New Roman"/>
                <a:cs typeface="Times New Roman"/>
              </a:rPr>
              <a:t>singur</a:t>
            </a:r>
            <a:r>
              <a:rPr lang="en-US" dirty="0">
                <a:latin typeface="Times New Roman"/>
                <a:cs typeface="Times New Roman"/>
              </a:rPr>
              <a:t>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943350" y="1447800"/>
            <a:ext cx="11430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0485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 flipH="1">
            <a:off x="4400550" y="1512889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Oval 11"/>
          <p:cNvSpPr/>
          <p:nvPr/>
        </p:nvSpPr>
        <p:spPr>
          <a:xfrm>
            <a:off x="4914900" y="1600200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 rot="10800000" flipV="1">
            <a:off x="2743200" y="1905000"/>
            <a:ext cx="177165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514850" y="1905000"/>
            <a:ext cx="17145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10800000" flipV="1">
            <a:off x="5429250" y="2819400"/>
            <a:ext cx="8001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6229350" y="2819400"/>
            <a:ext cx="9144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rot="10800000" flipV="1">
            <a:off x="1943101" y="2819400"/>
            <a:ext cx="8001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2743201" y="2819400"/>
            <a:ext cx="914400" cy="381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171700" y="2362200"/>
            <a:ext cx="11430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0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>
            <a:off x="2400300" y="2427289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Oval 41"/>
          <p:cNvSpPr/>
          <p:nvPr/>
        </p:nvSpPr>
        <p:spPr>
          <a:xfrm>
            <a:off x="3143250" y="2514600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5657850" y="2362200"/>
            <a:ext cx="11430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5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 flipH="1">
            <a:off x="6343650" y="2427289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Oval 46"/>
          <p:cNvSpPr/>
          <p:nvPr/>
        </p:nvSpPr>
        <p:spPr>
          <a:xfrm>
            <a:off x="6629400" y="2514600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857750" y="3276600"/>
            <a:ext cx="11430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 flipH="1">
            <a:off x="5314950" y="3341689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Oval 49"/>
          <p:cNvSpPr/>
          <p:nvPr/>
        </p:nvSpPr>
        <p:spPr>
          <a:xfrm>
            <a:off x="5829300" y="3429000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572250" y="3276600"/>
            <a:ext cx="11430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 flipH="1">
            <a:off x="7486650" y="3341689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" name="Rectangle 53"/>
          <p:cNvSpPr/>
          <p:nvPr/>
        </p:nvSpPr>
        <p:spPr>
          <a:xfrm>
            <a:off x="1371600" y="3276600"/>
            <a:ext cx="11430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>
            <a:off x="1371600" y="3341689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Oval 55"/>
          <p:cNvSpPr/>
          <p:nvPr/>
        </p:nvSpPr>
        <p:spPr>
          <a:xfrm>
            <a:off x="2343150" y="3429000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086100" y="3276600"/>
            <a:ext cx="11430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 flipH="1">
            <a:off x="3543300" y="3341689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" name="Oval 58"/>
          <p:cNvSpPr/>
          <p:nvPr/>
        </p:nvSpPr>
        <p:spPr>
          <a:xfrm>
            <a:off x="4057650" y="3429000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Isosceles Triangle 59"/>
          <p:cNvSpPr/>
          <p:nvPr/>
        </p:nvSpPr>
        <p:spPr>
          <a:xfrm>
            <a:off x="1371600" y="3886200"/>
            <a:ext cx="1143000" cy="1752600"/>
          </a:xfrm>
          <a:prstGeom prst="triangle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Isosceles Triangle 60"/>
          <p:cNvSpPr/>
          <p:nvPr/>
        </p:nvSpPr>
        <p:spPr>
          <a:xfrm>
            <a:off x="3086100" y="3886200"/>
            <a:ext cx="1143000" cy="1752600"/>
          </a:xfrm>
          <a:prstGeom prst="triangle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Isosceles Triangle 61"/>
          <p:cNvSpPr/>
          <p:nvPr/>
        </p:nvSpPr>
        <p:spPr>
          <a:xfrm>
            <a:off x="4857750" y="3886200"/>
            <a:ext cx="1143000" cy="1752600"/>
          </a:xfrm>
          <a:prstGeom prst="triangle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029450" y="3733800"/>
            <a:ext cx="400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43050" y="5715001"/>
            <a:ext cx="51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5715001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4700" y="5715001"/>
            <a:ext cx="62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71900" y="5715001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5715001"/>
            <a:ext cx="62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00700" y="5715001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86050" y="5715001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00550" y="5715001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10132" y="3790805"/>
            <a:ext cx="253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terminală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43650" y="5779892"/>
            <a:ext cx="253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787" y="6087039"/>
            <a:ext cx="4790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/>
                <a:cs typeface="Times New Roman"/>
              </a:rPr>
              <a:t>Fiecare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mutare</a:t>
            </a:r>
            <a:r>
              <a:rPr lang="en-US" sz="2400" dirty="0">
                <a:latin typeface="Times New Roman"/>
                <a:cs typeface="Times New Roman"/>
              </a:rPr>
              <a:t>: -1 </a:t>
            </a:r>
            <a:r>
              <a:rPr lang="en-US" sz="2400" dirty="0" err="1">
                <a:latin typeface="Times New Roman"/>
                <a:cs typeface="Times New Roman"/>
              </a:rPr>
              <a:t>punct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 err="1">
                <a:latin typeface="Times New Roman"/>
                <a:cs typeface="Times New Roman"/>
              </a:rPr>
              <a:t>Mânânc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punctul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alb</a:t>
            </a:r>
            <a:r>
              <a:rPr lang="en-US" sz="2400" dirty="0">
                <a:latin typeface="Times New Roman"/>
                <a:cs typeface="Times New Roman"/>
              </a:rPr>
              <a:t>: + 10 </a:t>
            </a:r>
            <a:r>
              <a:rPr lang="en-US" sz="2400" dirty="0" err="1">
                <a:latin typeface="Times New Roman"/>
                <a:cs typeface="Times New Roman"/>
              </a:rPr>
              <a:t>puncte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49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 animBg="1"/>
      <p:bldP spid="43" grpId="0" animBg="1"/>
      <p:bldP spid="47" grpId="0" animBg="1"/>
      <p:bldP spid="48" grpId="0" animBg="1"/>
      <p:bldP spid="50" grpId="0" animBg="1"/>
      <p:bldP spid="51" grpId="0" animBg="1"/>
      <p:bldP spid="54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2" grpId="0"/>
      <p:bldP spid="5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93241" y="32769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unei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stări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799" y="1447801"/>
            <a:ext cx="2992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neterminale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pSp>
        <p:nvGrpSpPr>
          <p:cNvPr id="100" name="Group 99"/>
          <p:cNvGrpSpPr/>
          <p:nvPr/>
        </p:nvGrpSpPr>
        <p:grpSpPr>
          <a:xfrm>
            <a:off x="2343150" y="2362201"/>
            <a:ext cx="4743450" cy="3560121"/>
            <a:chOff x="1828800" y="1447800"/>
            <a:chExt cx="8458200" cy="4761126"/>
          </a:xfrm>
        </p:grpSpPr>
        <p:sp>
          <p:nvSpPr>
            <p:cNvPr id="41" name="Rectangle 40"/>
            <p:cNvSpPr/>
            <p:nvPr/>
          </p:nvSpPr>
          <p:spPr>
            <a:xfrm>
              <a:off x="5257800" y="14478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53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5867400" y="15128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" name="Oval 63"/>
            <p:cNvSpPr/>
            <p:nvPr/>
          </p:nvSpPr>
          <p:spPr>
            <a:xfrm>
              <a:off x="6553200" y="16002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cxnSp>
          <p:nvCxnSpPr>
            <p:cNvPr id="65" name="Straight Connector 64"/>
            <p:cNvCxnSpPr/>
            <p:nvPr/>
          </p:nvCxnSpPr>
          <p:spPr>
            <a:xfrm rot="10800000" flipV="1">
              <a:off x="3657600" y="1905000"/>
              <a:ext cx="23622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6019800" y="1905000"/>
              <a:ext cx="22860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10800000" flipV="1">
              <a:off x="7239000" y="2819400"/>
              <a:ext cx="10668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8305800" y="2819400"/>
              <a:ext cx="12192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0800000" flipV="1">
              <a:off x="2590801" y="2819400"/>
              <a:ext cx="10668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3657601" y="2819400"/>
              <a:ext cx="121920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 70"/>
            <p:cNvSpPr/>
            <p:nvPr/>
          </p:nvSpPr>
          <p:spPr>
            <a:xfrm>
              <a:off x="2895600" y="23622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72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3200400" y="24272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3" name="Oval 72"/>
            <p:cNvSpPr/>
            <p:nvPr/>
          </p:nvSpPr>
          <p:spPr>
            <a:xfrm>
              <a:off x="419100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543800" y="23622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75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8458200" y="24272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6" name="Oval 75"/>
            <p:cNvSpPr/>
            <p:nvPr/>
          </p:nvSpPr>
          <p:spPr>
            <a:xfrm>
              <a:off x="883920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6477000" y="32766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78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7086600" y="33416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9" name="Oval 78"/>
            <p:cNvSpPr/>
            <p:nvPr/>
          </p:nvSpPr>
          <p:spPr>
            <a:xfrm>
              <a:off x="777240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8763000" y="32766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81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9982200" y="33416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" name="Rectangle 81"/>
            <p:cNvSpPr/>
            <p:nvPr/>
          </p:nvSpPr>
          <p:spPr>
            <a:xfrm>
              <a:off x="1828800" y="32766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83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1828800" y="33416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4" name="Oval 83"/>
            <p:cNvSpPr/>
            <p:nvPr/>
          </p:nvSpPr>
          <p:spPr>
            <a:xfrm>
              <a:off x="312420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4114800" y="3276600"/>
              <a:ext cx="15240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pic>
          <p:nvPicPr>
            <p:cNvPr id="86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4724400" y="3341688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7" name="Oval 86"/>
            <p:cNvSpPr/>
            <p:nvPr/>
          </p:nvSpPr>
          <p:spPr>
            <a:xfrm>
              <a:off x="541020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400"/>
            </a:p>
          </p:txBody>
        </p:sp>
        <p:sp>
          <p:nvSpPr>
            <p:cNvPr id="88" name="Isosceles Triangle 87"/>
            <p:cNvSpPr/>
            <p:nvPr/>
          </p:nvSpPr>
          <p:spPr>
            <a:xfrm>
              <a:off x="1828800" y="3886200"/>
              <a:ext cx="1524000" cy="1752600"/>
            </a:xfrm>
            <a:prstGeom prst="triangle">
              <a:avLst/>
            </a:prstGeom>
            <a:solidFill>
              <a:srgbClr val="CC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9" name="Isosceles Triangle 88"/>
            <p:cNvSpPr/>
            <p:nvPr/>
          </p:nvSpPr>
          <p:spPr>
            <a:xfrm>
              <a:off x="4114800" y="3886200"/>
              <a:ext cx="1524000" cy="1752600"/>
            </a:xfrm>
            <a:prstGeom prst="triangle">
              <a:avLst/>
            </a:prstGeom>
            <a:solidFill>
              <a:srgbClr val="CC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0" name="Isosceles Triangle 89"/>
            <p:cNvSpPr/>
            <p:nvPr/>
          </p:nvSpPr>
          <p:spPr>
            <a:xfrm>
              <a:off x="6477000" y="3886200"/>
              <a:ext cx="1524000" cy="1752600"/>
            </a:xfrm>
            <a:prstGeom prst="triangle">
              <a:avLst/>
            </a:prstGeom>
            <a:solidFill>
              <a:srgbClr val="CCE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9345975" y="3733800"/>
              <a:ext cx="5334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8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060155" y="5715000"/>
              <a:ext cx="685799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644048" y="5715000"/>
              <a:ext cx="7620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4353499" y="5715000"/>
              <a:ext cx="8382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4987887" y="5715000"/>
              <a:ext cx="7620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6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697338" y="5715000"/>
              <a:ext cx="8382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7391401" y="5715000"/>
              <a:ext cx="7620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6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581400" y="5715000"/>
              <a:ext cx="7620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…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867400" y="5715000"/>
              <a:ext cx="762000" cy="493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…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6300009" y="5422938"/>
            <a:ext cx="2992651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terminale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V(s)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cunoscută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jocului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Right Arrow 109"/>
          <p:cNvSpPr/>
          <p:nvPr/>
        </p:nvSpPr>
        <p:spPr>
          <a:xfrm rot="9900000">
            <a:off x="6645352" y="2647461"/>
            <a:ext cx="800100" cy="304800"/>
          </a:xfrm>
          <a:prstGeom prst="rightArrow">
            <a:avLst/>
          </a:prstGeom>
          <a:solidFill>
            <a:srgbClr val="BEE395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ight Arrow 110"/>
          <p:cNvSpPr/>
          <p:nvPr/>
        </p:nvSpPr>
        <p:spPr>
          <a:xfrm rot="14100089">
            <a:off x="6590532" y="4829653"/>
            <a:ext cx="1066800" cy="228600"/>
          </a:xfrm>
          <a:prstGeom prst="rightArrow">
            <a:avLst/>
          </a:prstGeom>
          <a:solidFill>
            <a:srgbClr val="BEE395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262267" y="1389184"/>
            <a:ext cx="26791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 err="1">
                <a:latin typeface="Times New Roman"/>
                <a:cs typeface="Times New Roman"/>
              </a:rPr>
              <a:t>Valoarea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unei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stări</a:t>
            </a:r>
            <a:r>
              <a:rPr lang="en-US" sz="2200" dirty="0">
                <a:latin typeface="Times New Roman"/>
                <a:cs typeface="Times New Roman"/>
              </a:rPr>
              <a:t>: </a:t>
            </a:r>
            <a:r>
              <a:rPr lang="en-US" sz="2200" dirty="0" err="1">
                <a:latin typeface="Times New Roman"/>
                <a:cs typeface="Times New Roman"/>
              </a:rPr>
              <a:t>cea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mai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bună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utilitate</a:t>
            </a:r>
            <a:r>
              <a:rPr lang="en-US" sz="2200" dirty="0">
                <a:latin typeface="Times New Roman"/>
                <a:cs typeface="Times New Roman"/>
              </a:rPr>
              <a:t> (</a:t>
            </a:r>
            <a:r>
              <a:rPr lang="en-US" sz="2200" dirty="0" err="1">
                <a:latin typeface="Times New Roman"/>
                <a:cs typeface="Times New Roman"/>
              </a:rPr>
              <a:t>rezultat</a:t>
            </a:r>
            <a:r>
              <a:rPr lang="en-US" sz="2200" dirty="0">
                <a:latin typeface="Times New Roman"/>
                <a:cs typeface="Times New Roman"/>
              </a:rPr>
              <a:t>) care </a:t>
            </a:r>
            <a:r>
              <a:rPr lang="en-US" sz="2200" dirty="0" err="1">
                <a:latin typeface="Times New Roman"/>
                <a:cs typeface="Times New Roman"/>
              </a:rPr>
              <a:t>poate</a:t>
            </a:r>
            <a:r>
              <a:rPr lang="en-US" sz="2200" dirty="0">
                <a:latin typeface="Times New Roman"/>
                <a:cs typeface="Times New Roman"/>
              </a:rPr>
              <a:t> fi </a:t>
            </a:r>
            <a:r>
              <a:rPr lang="en-US" sz="2200" dirty="0" err="1">
                <a:latin typeface="Times New Roman"/>
                <a:cs typeface="Times New Roman"/>
              </a:rPr>
              <a:t>atinsă</a:t>
            </a:r>
            <a:r>
              <a:rPr lang="en-US" sz="2200" dirty="0">
                <a:latin typeface="Times New Roman"/>
                <a:cs typeface="Times New Roman"/>
              </a:rPr>
              <a:t> din </a:t>
            </a:r>
            <a:r>
              <a:rPr lang="en-US" sz="2200" dirty="0" err="1">
                <a:latin typeface="Times New Roman"/>
                <a:cs typeface="Times New Roman"/>
              </a:rPr>
              <a:t>acea</a:t>
            </a:r>
            <a:r>
              <a:rPr lang="en-US" sz="2200" dirty="0">
                <a:latin typeface="Times New Roman"/>
                <a:cs typeface="Times New Roman"/>
              </a:rPr>
              <a:t> stare 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28599" y="1295400"/>
            <a:ext cx="2712823" cy="1752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E40126-40BD-56D3-3282-82D43380A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86" y="1975775"/>
            <a:ext cx="2721061" cy="4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1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101" grpId="0"/>
      <p:bldP spid="110" grpId="0" animBg="1"/>
      <p:bldP spid="111" grpId="0" animBg="1"/>
      <p:bldP spid="113" grpId="0"/>
      <p:bldP spid="1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45" y="-97692"/>
            <a:ext cx="9144000" cy="1774092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Arbore de </a:t>
            </a:r>
            <a:r>
              <a:rPr lang="en-US" dirty="0" err="1">
                <a:latin typeface="Times New Roman"/>
                <a:cs typeface="Times New Roman"/>
              </a:rPr>
              <a:t>joc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medii</a:t>
            </a:r>
            <a:r>
              <a:rPr lang="en-US" dirty="0">
                <a:latin typeface="Times New Roman"/>
                <a:cs typeface="Times New Roman"/>
              </a:rPr>
              <a:t> cu </a:t>
            </a:r>
            <a:r>
              <a:rPr lang="en-US" dirty="0" err="1">
                <a:latin typeface="Times New Roman"/>
                <a:cs typeface="Times New Roman"/>
              </a:rPr>
              <a:t>doi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agenți</a:t>
            </a:r>
            <a:r>
              <a:rPr lang="en-US" dirty="0">
                <a:latin typeface="Times New Roman"/>
                <a:cs typeface="Times New Roman"/>
              </a:rPr>
              <a:t>, deterministic, </a:t>
            </a:r>
            <a:r>
              <a:rPr lang="en-US" dirty="0" err="1">
                <a:latin typeface="Times New Roman"/>
                <a:cs typeface="Times New Roman"/>
              </a:rPr>
              <a:t>mutări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rând</a:t>
            </a:r>
            <a:r>
              <a:rPr lang="en-US" dirty="0"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3829050" y="1669516"/>
            <a:ext cx="13716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 flipH="1">
            <a:off x="4057650" y="1745717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val 7"/>
          <p:cNvSpPr/>
          <p:nvPr/>
        </p:nvSpPr>
        <p:spPr>
          <a:xfrm>
            <a:off x="4595445" y="1821916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10800000" flipV="1">
            <a:off x="2743200" y="2126716"/>
            <a:ext cx="1771650" cy="38100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514850" y="2126716"/>
            <a:ext cx="1714500" cy="381000"/>
          </a:xfrm>
          <a:prstGeom prst="line">
            <a:avLst/>
          </a:prstGeom>
          <a:ln w="28575">
            <a:solidFill>
              <a:srgbClr val="0066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5429250" y="3041116"/>
            <a:ext cx="800100" cy="381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229350" y="3041116"/>
            <a:ext cx="914400" cy="381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0800000" flipV="1">
            <a:off x="1943101" y="3041116"/>
            <a:ext cx="800100" cy="381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743201" y="3041116"/>
            <a:ext cx="914400" cy="381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>
            <a:off x="1371600" y="4107916"/>
            <a:ext cx="1143000" cy="1752600"/>
          </a:xfrm>
          <a:prstGeom prst="triangle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3086100" y="4107916"/>
            <a:ext cx="1143000" cy="1752600"/>
          </a:xfrm>
          <a:prstGeom prst="triangle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4857750" y="4107916"/>
            <a:ext cx="1143000" cy="1752600"/>
          </a:xfrm>
          <a:prstGeom prst="triangle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280745" y="5936717"/>
            <a:ext cx="662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-20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36717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-8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43250" y="5936717"/>
            <a:ext cx="62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-18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1900" y="5936717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-5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4900" y="5936717"/>
            <a:ext cx="62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-10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43550" y="5936717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+4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86050" y="5936717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0550" y="5936717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…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43451" y="1722272"/>
            <a:ext cx="217220" cy="27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Rectangle 49"/>
          <p:cNvSpPr/>
          <p:nvPr/>
        </p:nvSpPr>
        <p:spPr>
          <a:xfrm>
            <a:off x="2057400" y="2583916"/>
            <a:ext cx="13716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1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>
            <a:off x="2080845" y="2644487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Oval 51"/>
          <p:cNvSpPr/>
          <p:nvPr/>
        </p:nvSpPr>
        <p:spPr>
          <a:xfrm>
            <a:off x="2823795" y="2736316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1" y="2636672"/>
            <a:ext cx="217220" cy="27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" name="Rectangle 53"/>
          <p:cNvSpPr/>
          <p:nvPr/>
        </p:nvSpPr>
        <p:spPr>
          <a:xfrm>
            <a:off x="5543550" y="2583916"/>
            <a:ext cx="13716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5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 flipH="1">
            <a:off x="6000750" y="2660117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" name="Oval 55"/>
          <p:cNvSpPr/>
          <p:nvPr/>
        </p:nvSpPr>
        <p:spPr>
          <a:xfrm>
            <a:off x="6309945" y="2736316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7951" y="2636672"/>
            <a:ext cx="217220" cy="27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" name="Rectangle 57"/>
          <p:cNvSpPr/>
          <p:nvPr/>
        </p:nvSpPr>
        <p:spPr>
          <a:xfrm>
            <a:off x="1257300" y="3498316"/>
            <a:ext cx="13716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9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>
            <a:off x="1280745" y="3558887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" name="Oval 59"/>
          <p:cNvSpPr/>
          <p:nvPr/>
        </p:nvSpPr>
        <p:spPr>
          <a:xfrm>
            <a:off x="2023695" y="3650716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3101" y="3551072"/>
            <a:ext cx="217220" cy="27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" name="Rectangle 61"/>
          <p:cNvSpPr/>
          <p:nvPr/>
        </p:nvSpPr>
        <p:spPr>
          <a:xfrm>
            <a:off x="2971800" y="3498316"/>
            <a:ext cx="13716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3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>
            <a:off x="2995245" y="3558887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" name="Oval 63"/>
          <p:cNvSpPr/>
          <p:nvPr/>
        </p:nvSpPr>
        <p:spPr>
          <a:xfrm>
            <a:off x="3738195" y="3650716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9030" y="3551072"/>
            <a:ext cx="217220" cy="27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Rectangle 65"/>
          <p:cNvSpPr/>
          <p:nvPr/>
        </p:nvSpPr>
        <p:spPr>
          <a:xfrm>
            <a:off x="4743450" y="3498316"/>
            <a:ext cx="13716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7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 flipH="1">
            <a:off x="5200650" y="3574517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" name="Oval 67"/>
          <p:cNvSpPr/>
          <p:nvPr/>
        </p:nvSpPr>
        <p:spPr>
          <a:xfrm>
            <a:off x="5509845" y="3650716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6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51" y="3551072"/>
            <a:ext cx="217220" cy="27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Rectangle 69"/>
          <p:cNvSpPr/>
          <p:nvPr/>
        </p:nvSpPr>
        <p:spPr>
          <a:xfrm>
            <a:off x="6457950" y="3498316"/>
            <a:ext cx="1371600" cy="381000"/>
          </a:xfrm>
          <a:prstGeom prst="rect">
            <a:avLst/>
          </a:prstGeom>
          <a:solidFill>
            <a:schemeClr val="tx1"/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1" name="Picture 3" descr="\\.host\Shared Folders\Shared with PC\images\Pacman_stuck_minimax.png"/>
          <p:cNvPicPr>
            <a:picLocks noChangeAspect="1" noChangeArrowheads="1"/>
          </p:cNvPicPr>
          <p:nvPr/>
        </p:nvPicPr>
        <p:blipFill>
          <a:blip r:embed="rId2" cstate="print"/>
          <a:srcRect l="38135" t="16438" r="44067" b="58904"/>
          <a:stretch>
            <a:fillRect/>
          </a:stretch>
        </p:blipFill>
        <p:spPr bwMode="auto">
          <a:xfrm flipH="1">
            <a:off x="6915150" y="3574517"/>
            <a:ext cx="228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Oval 71"/>
          <p:cNvSpPr/>
          <p:nvPr/>
        </p:nvSpPr>
        <p:spPr>
          <a:xfrm>
            <a:off x="7224345" y="3650716"/>
            <a:ext cx="57150" cy="76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180" y="3551072"/>
            <a:ext cx="217220" cy="27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" name="Isosceles Triangle 73"/>
          <p:cNvSpPr/>
          <p:nvPr/>
        </p:nvSpPr>
        <p:spPr>
          <a:xfrm>
            <a:off x="6572250" y="4107916"/>
            <a:ext cx="1143000" cy="1752600"/>
          </a:xfrm>
          <a:prstGeom prst="triangle">
            <a:avLst/>
          </a:prstGeom>
          <a:solidFill>
            <a:srgbClr val="CCE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6457950" y="5936717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-20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58050" y="5936717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+8</a:t>
            </a:r>
          </a:p>
        </p:txBody>
      </p:sp>
    </p:spTree>
    <p:extLst>
      <p:ext uri="{BB962C8B-B14F-4D97-AF65-F5344CB8AC3E}">
        <p14:creationId xmlns:p14="http://schemas.microsoft.com/office/powerpoint/2010/main" val="41110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50" grpId="0" animBg="1"/>
      <p:bldP spid="52" grpId="0" animBg="1"/>
      <p:bldP spid="54" grpId="0" animBg="1"/>
      <p:bldP spid="56" grpId="0" animBg="1"/>
      <p:bldP spid="58" grpId="0" animBg="1"/>
      <p:bldP spid="60" grpId="0" animBg="1"/>
      <p:bldP spid="62" grpId="0" animBg="1"/>
      <p:bldP spid="64" grpId="0" animBg="1"/>
      <p:bldP spid="66" grpId="0" animBg="1"/>
      <p:bldP spid="68" grpId="0" animBg="1"/>
      <p:bldP spid="70" grpId="0" animBg="1"/>
      <p:bldP spid="72" grpId="0" animBg="1"/>
      <p:bldP spid="74" grpId="0" animBg="1"/>
      <p:bldP spid="75" grpId="0"/>
      <p:bldP spid="7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err="1">
                <a:latin typeface="Times New Roman"/>
                <a:cs typeface="Times New Roman"/>
              </a:rPr>
              <a:t>Valoare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unei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stări</a:t>
            </a:r>
            <a:endParaRPr lang="en-US" dirty="0">
              <a:latin typeface="Times New Roman"/>
              <a:cs typeface="Times New Roman"/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2057400" y="3124200"/>
            <a:ext cx="5086350" cy="2230830"/>
            <a:chOff x="1676400" y="1447800"/>
            <a:chExt cx="8763000" cy="2882533"/>
          </a:xfrm>
        </p:grpSpPr>
        <p:sp>
          <p:nvSpPr>
            <p:cNvPr id="6" name="Rectangle 5"/>
            <p:cNvSpPr/>
            <p:nvPr/>
          </p:nvSpPr>
          <p:spPr>
            <a:xfrm>
              <a:off x="5105400" y="14478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5410200" y="15240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Oval 7"/>
            <p:cNvSpPr/>
            <p:nvPr/>
          </p:nvSpPr>
          <p:spPr>
            <a:xfrm>
              <a:off x="6127260" y="16002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 rot="10800000" flipV="1">
              <a:off x="3657600" y="1905000"/>
              <a:ext cx="2362200" cy="381000"/>
            </a:xfrm>
            <a:prstGeom prst="line">
              <a:avLst/>
            </a:prstGeom>
            <a:ln w="28575"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19800" y="1905000"/>
              <a:ext cx="2286000" cy="381000"/>
            </a:xfrm>
            <a:prstGeom prst="line">
              <a:avLst/>
            </a:prstGeom>
            <a:ln w="28575">
              <a:solidFill>
                <a:srgbClr val="0066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 flipV="1">
              <a:off x="7239000" y="2819400"/>
              <a:ext cx="10668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305800" y="2819400"/>
              <a:ext cx="12192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0800000" flipV="1">
              <a:off x="2590801" y="2819400"/>
              <a:ext cx="10668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657601" y="2819400"/>
              <a:ext cx="1219200" cy="381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98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324600" y="15005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" name="Rectangle 49"/>
            <p:cNvSpPr/>
            <p:nvPr/>
          </p:nvSpPr>
          <p:spPr>
            <a:xfrm>
              <a:off x="2743200" y="23622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1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2774460" y="24227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" name="Oval 51"/>
            <p:cNvSpPr/>
            <p:nvPr/>
          </p:nvSpPr>
          <p:spPr>
            <a:xfrm>
              <a:off x="376506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3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62400" y="24149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" name="Rectangle 53"/>
            <p:cNvSpPr/>
            <p:nvPr/>
          </p:nvSpPr>
          <p:spPr>
            <a:xfrm>
              <a:off x="7391400" y="23622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5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8001000" y="24384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6" name="Oval 55"/>
            <p:cNvSpPr/>
            <p:nvPr/>
          </p:nvSpPr>
          <p:spPr>
            <a:xfrm>
              <a:off x="8413260" y="25146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610600" y="24149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" name="Rectangle 57"/>
            <p:cNvSpPr/>
            <p:nvPr/>
          </p:nvSpPr>
          <p:spPr>
            <a:xfrm>
              <a:off x="16764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59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1707660" y="33371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0" name="Oval 59"/>
            <p:cNvSpPr/>
            <p:nvPr/>
          </p:nvSpPr>
          <p:spPr>
            <a:xfrm>
              <a:off x="26982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90800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Rectangle 61"/>
            <p:cNvSpPr/>
            <p:nvPr/>
          </p:nvSpPr>
          <p:spPr>
            <a:xfrm>
              <a:off x="39624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3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>
              <a:off x="3993660" y="333717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" name="Oval 63"/>
            <p:cNvSpPr/>
            <p:nvPr/>
          </p:nvSpPr>
          <p:spPr>
            <a:xfrm>
              <a:off x="49842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425373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6" name="Rectangle 65"/>
            <p:cNvSpPr/>
            <p:nvPr/>
          </p:nvSpPr>
          <p:spPr>
            <a:xfrm>
              <a:off x="63246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7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6934200" y="33528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8" name="Oval 67"/>
            <p:cNvSpPr/>
            <p:nvPr/>
          </p:nvSpPr>
          <p:spPr>
            <a:xfrm>
              <a:off x="73464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69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239000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0" name="Rectangle 69"/>
            <p:cNvSpPr/>
            <p:nvPr/>
          </p:nvSpPr>
          <p:spPr>
            <a:xfrm>
              <a:off x="8610600" y="3276600"/>
              <a:ext cx="1828800" cy="381000"/>
            </a:xfrm>
            <a:prstGeom prst="rect">
              <a:avLst/>
            </a:prstGeom>
            <a:solidFill>
              <a:schemeClr val="tx1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1" name="Picture 3" descr="\\.host\Shared Folders\Shared with PC\images\Pacman_stuck_minimax.png"/>
            <p:cNvPicPr>
              <a:picLocks noChangeAspect="1" noChangeArrowheads="1"/>
            </p:cNvPicPr>
            <p:nvPr/>
          </p:nvPicPr>
          <p:blipFill>
            <a:blip r:embed="rId2" cstate="print"/>
            <a:srcRect l="38135" t="16438" r="44067" b="58904"/>
            <a:stretch>
              <a:fillRect/>
            </a:stretch>
          </p:blipFill>
          <p:spPr bwMode="auto">
            <a:xfrm flipH="1">
              <a:off x="9220200" y="3352800"/>
              <a:ext cx="304800" cy="261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2" name="Oval 71"/>
            <p:cNvSpPr/>
            <p:nvPr/>
          </p:nvSpPr>
          <p:spPr>
            <a:xfrm>
              <a:off x="9632460" y="34290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73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073573" y="3329355"/>
              <a:ext cx="289627" cy="2735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7" name="TextBox 76"/>
            <p:cNvSpPr txBox="1"/>
            <p:nvPr/>
          </p:nvSpPr>
          <p:spPr>
            <a:xfrm>
              <a:off x="9207355" y="3733800"/>
              <a:ext cx="1232044" cy="596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+8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324600" y="3733800"/>
              <a:ext cx="1408415" cy="596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-10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630220" y="3733799"/>
              <a:ext cx="838199" cy="596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-5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267164" y="3733799"/>
              <a:ext cx="838199" cy="596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</a:rPr>
                <a:t>-8</a:t>
              </a: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262147" y="1348739"/>
            <a:ext cx="4578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controlate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MAX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86199" y="5562601"/>
            <a:ext cx="4418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terminale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V(s) =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cunoscută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dată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regulile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jocului</a:t>
            </a:r>
            <a:endParaRPr 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ight Arrow 85"/>
          <p:cNvSpPr/>
          <p:nvPr/>
        </p:nvSpPr>
        <p:spPr>
          <a:xfrm rot="1943663">
            <a:off x="3034353" y="2305478"/>
            <a:ext cx="1279822" cy="304800"/>
          </a:xfrm>
          <a:prstGeom prst="rightArrow">
            <a:avLst/>
          </a:prstGeom>
          <a:solidFill>
            <a:srgbClr val="CCECFF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5454237" y="1348740"/>
            <a:ext cx="4306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Stări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controlate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MIN:</a:t>
            </a:r>
          </a:p>
        </p:txBody>
      </p:sp>
      <p:sp>
        <p:nvSpPr>
          <p:cNvPr id="90" name="Right Arrow 89"/>
          <p:cNvSpPr/>
          <p:nvPr/>
        </p:nvSpPr>
        <p:spPr>
          <a:xfrm rot="8255959">
            <a:off x="6111290" y="2949051"/>
            <a:ext cx="1055105" cy="304800"/>
          </a:xfrm>
          <a:prstGeom prst="rightArrow">
            <a:avLst/>
          </a:prstGeom>
          <a:solidFill>
            <a:srgbClr val="FF9999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87EBA1-512A-1F4F-88E6-5838C7E70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27" y="1893658"/>
            <a:ext cx="2721061" cy="4009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212640-B484-013F-A673-611333EF3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4940" y="1893658"/>
            <a:ext cx="2897618" cy="42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18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/>
      <p:bldP spid="86" grpId="0" animBg="1"/>
      <p:bldP spid="87" grpId="0"/>
      <p:bldP spid="9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429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/>
                <a:cs typeface="Times New Roman"/>
              </a:rPr>
              <a:t>Arbore de </a:t>
            </a:r>
            <a:r>
              <a:rPr lang="en-US" dirty="0" err="1">
                <a:latin typeface="Times New Roman"/>
                <a:cs typeface="Times New Roman"/>
              </a:rPr>
              <a:t>joc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0824"/>
            <a:ext cx="8686800" cy="508302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 err="1">
                <a:latin typeface="Times New Roman"/>
                <a:cs typeface="Times New Roman"/>
              </a:rPr>
              <a:t>nodurile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corespund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situațiilor</a:t>
            </a:r>
            <a:r>
              <a:rPr lang="en-US" sz="2800" dirty="0">
                <a:latin typeface="Times New Roman"/>
                <a:cs typeface="Times New Roman"/>
              </a:rPr>
              <a:t> (</a:t>
            </a:r>
            <a:r>
              <a:rPr lang="en-US" sz="2800" dirty="0" err="1">
                <a:latin typeface="Times New Roman"/>
                <a:cs typeface="Times New Roman"/>
              </a:rPr>
              <a:t>stărilor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</a:p>
          <a:p>
            <a:pPr algn="just"/>
            <a:endParaRPr lang="en-US" sz="2800" dirty="0">
              <a:latin typeface="Times New Roman"/>
              <a:cs typeface="Times New Roman"/>
            </a:endParaRPr>
          </a:p>
          <a:p>
            <a:pPr algn="just"/>
            <a:r>
              <a:rPr lang="en-US" sz="2800" dirty="0" err="1">
                <a:latin typeface="Times New Roman"/>
                <a:cs typeface="Times New Roman"/>
              </a:rPr>
              <a:t>situația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inițială</a:t>
            </a:r>
            <a:r>
              <a:rPr lang="en-US" sz="2800" dirty="0">
                <a:latin typeface="Times New Roman"/>
                <a:cs typeface="Times New Roman"/>
              </a:rPr>
              <a:t> a </a:t>
            </a:r>
            <a:r>
              <a:rPr lang="en-US" sz="2800" dirty="0" err="1">
                <a:latin typeface="Times New Roman"/>
                <a:cs typeface="Times New Roman"/>
              </a:rPr>
              <a:t>jocului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dată</a:t>
            </a:r>
            <a:r>
              <a:rPr lang="en-US" sz="2800" dirty="0">
                <a:latin typeface="Times New Roman"/>
                <a:cs typeface="Times New Roman"/>
              </a:rPr>
              <a:t> de </a:t>
            </a:r>
            <a:r>
              <a:rPr lang="en-US" sz="2800" dirty="0" err="1">
                <a:latin typeface="Times New Roman"/>
                <a:cs typeface="Times New Roman"/>
              </a:rPr>
              <a:t>nodul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rădăcină</a:t>
            </a:r>
            <a:endParaRPr lang="en-US" sz="2800" dirty="0">
              <a:latin typeface="Times New Roman"/>
              <a:cs typeface="Times New Roman"/>
            </a:endParaRPr>
          </a:p>
          <a:p>
            <a:pPr algn="just"/>
            <a:endParaRPr lang="en-US" sz="2800" dirty="0">
              <a:latin typeface="Times New Roman"/>
              <a:cs typeface="Times New Roman"/>
            </a:endParaRPr>
          </a:p>
          <a:p>
            <a:pPr algn="just"/>
            <a:r>
              <a:rPr lang="en-US" sz="2800" dirty="0" err="1">
                <a:latin typeface="Times New Roman"/>
                <a:cs typeface="Times New Roman"/>
              </a:rPr>
              <a:t>arcele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corespund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mutărilor</a:t>
            </a:r>
            <a:endParaRPr lang="en-US" sz="2800" dirty="0">
              <a:latin typeface="Times New Roman"/>
              <a:cs typeface="Times New Roman"/>
            </a:endParaRPr>
          </a:p>
          <a:p>
            <a:pPr algn="just"/>
            <a:endParaRPr lang="en-US" sz="2800" dirty="0">
              <a:latin typeface="Times New Roman"/>
              <a:cs typeface="Times New Roman"/>
            </a:endParaRPr>
          </a:p>
          <a:p>
            <a:pPr algn="just"/>
            <a:r>
              <a:rPr lang="en-US" sz="2800" dirty="0" err="1">
                <a:latin typeface="Times New Roman"/>
                <a:cs typeface="Times New Roman"/>
              </a:rPr>
              <a:t>frunzele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corespund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situaților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terminale</a:t>
            </a:r>
            <a:r>
              <a:rPr lang="en-US" sz="2800" dirty="0">
                <a:latin typeface="Times New Roman"/>
                <a:cs typeface="Times New Roman"/>
              </a:rPr>
              <a:t> (s-a </a:t>
            </a:r>
            <a:r>
              <a:rPr lang="en-US" sz="2800" dirty="0" err="1">
                <a:latin typeface="Times New Roman"/>
                <a:cs typeface="Times New Roman"/>
              </a:rPr>
              <a:t>terminat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jocul</a:t>
            </a:r>
            <a:r>
              <a:rPr lang="en-US" sz="2800" dirty="0">
                <a:latin typeface="Times New Roman"/>
                <a:cs typeface="Times New Roman"/>
              </a:rPr>
              <a:t>)</a:t>
            </a:r>
          </a:p>
          <a:p>
            <a:pPr algn="just"/>
            <a:endParaRPr lang="en-US" sz="2800" dirty="0">
              <a:latin typeface="Times New Roman"/>
              <a:cs typeface="Times New Roman"/>
            </a:endParaRPr>
          </a:p>
          <a:p>
            <a:pPr algn="just"/>
            <a:r>
              <a:rPr lang="en-US" sz="2800" dirty="0">
                <a:latin typeface="Times New Roman"/>
                <a:cs typeface="Times New Roman"/>
              </a:rPr>
              <a:t>2 </a:t>
            </a:r>
            <a:r>
              <a:rPr lang="en-US" sz="2800" dirty="0" err="1">
                <a:latin typeface="Times New Roman"/>
                <a:cs typeface="Times New Roman"/>
              </a:rPr>
              <a:t>jucători</a:t>
            </a:r>
            <a:r>
              <a:rPr lang="en-US" sz="2800" dirty="0">
                <a:latin typeface="Times New Roman"/>
                <a:cs typeface="Times New Roman"/>
              </a:rPr>
              <a:t>: MAX (de </a:t>
            </a:r>
            <a:r>
              <a:rPr lang="en-US" sz="2800" dirty="0" err="1">
                <a:latin typeface="Times New Roman"/>
                <a:cs typeface="Times New Roman"/>
              </a:rPr>
              <a:t>obicei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este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lang="en-US" sz="2800" dirty="0" err="1">
                <a:latin typeface="Times New Roman"/>
                <a:cs typeface="Times New Roman"/>
              </a:rPr>
              <a:t>cel</a:t>
            </a:r>
            <a:r>
              <a:rPr lang="en-US" sz="2800" dirty="0">
                <a:latin typeface="Times New Roman"/>
                <a:cs typeface="Times New Roman"/>
              </a:rPr>
              <a:t> care face prima </a:t>
            </a:r>
            <a:r>
              <a:rPr lang="en-US" sz="2800" dirty="0" err="1">
                <a:latin typeface="Times New Roman"/>
                <a:cs typeface="Times New Roman"/>
              </a:rPr>
              <a:t>mutare</a:t>
            </a:r>
            <a:r>
              <a:rPr lang="en-US" sz="2800" dirty="0">
                <a:latin typeface="Times New Roman"/>
                <a:cs typeface="Times New Roman"/>
              </a:rPr>
              <a:t>) </a:t>
            </a:r>
            <a:r>
              <a:rPr lang="en-US" sz="2800" dirty="0" err="1">
                <a:latin typeface="Times New Roman"/>
                <a:cs typeface="Times New Roman"/>
              </a:rPr>
              <a:t>și</a:t>
            </a:r>
            <a:r>
              <a:rPr lang="en-US" sz="2800" dirty="0">
                <a:latin typeface="Times New Roman"/>
                <a:cs typeface="Times New Roman"/>
              </a:rPr>
              <a:t> MIN </a:t>
            </a:r>
          </a:p>
        </p:txBody>
      </p:sp>
    </p:spTree>
    <p:extLst>
      <p:ext uri="{BB962C8B-B14F-4D97-AF65-F5344CB8AC3E}">
        <p14:creationId xmlns:p14="http://schemas.microsoft.com/office/powerpoint/2010/main" val="19232794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613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/>
                <a:cs typeface="Times New Roman"/>
              </a:rPr>
              <a:t>Arbore de </a:t>
            </a:r>
            <a:r>
              <a:rPr lang="en-US" dirty="0" err="1">
                <a:latin typeface="Times New Roman"/>
                <a:cs typeface="Times New Roman"/>
              </a:rPr>
              <a:t>joc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X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0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90048" y="988516"/>
            <a:ext cx="5971424" cy="5765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5199" y="1066800"/>
            <a:ext cx="784215" cy="1033462"/>
          </a:xfrm>
          <a:prstGeom prst="rect">
            <a:avLst/>
          </a:prstGeom>
          <a:noFill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3550" y="1981885"/>
            <a:ext cx="696663" cy="1032093"/>
          </a:xfrm>
          <a:prstGeom prst="rect">
            <a:avLst/>
          </a:prstGeom>
          <a:noFill/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5199" y="2895600"/>
            <a:ext cx="784215" cy="1033462"/>
          </a:xfrm>
          <a:prstGeom prst="rect">
            <a:avLst/>
          </a:prstGeom>
          <a:noFill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3550" y="3810685"/>
            <a:ext cx="696663" cy="1032093"/>
          </a:xfrm>
          <a:prstGeom prst="rect">
            <a:avLst/>
          </a:prstGeom>
          <a:noFill/>
        </p:spPr>
      </p:pic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52315" y="3929062"/>
            <a:ext cx="3314700" cy="216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2783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Algoritmul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căutare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adversarială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0" y="1474690"/>
            <a:ext cx="6179866" cy="4525963"/>
          </a:xfrm>
        </p:spPr>
        <p:txBody>
          <a:bodyPr>
            <a:normAutofit fontScale="92500" lnSpcReduction="10000"/>
          </a:bodyPr>
          <a:lstStyle/>
          <a:p>
            <a:pPr algn="just" eaLnBrk="1" hangingPunct="1"/>
            <a:r>
              <a:rPr lang="en-US" sz="2200" dirty="0" err="1">
                <a:latin typeface="Times New Roman"/>
                <a:cs typeface="Times New Roman"/>
              </a:rPr>
              <a:t>Jocuri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sumă</a:t>
            </a:r>
            <a:r>
              <a:rPr lang="en-US" sz="2200" dirty="0">
                <a:latin typeface="Times New Roman"/>
                <a:cs typeface="Times New Roman"/>
              </a:rPr>
              <a:t> zero cu </a:t>
            </a:r>
            <a:r>
              <a:rPr lang="en-US" sz="2200" dirty="0" err="1">
                <a:latin typeface="Times New Roman"/>
                <a:cs typeface="Times New Roman"/>
              </a:rPr>
              <a:t>doi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jucători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deterministe</a:t>
            </a:r>
            <a:r>
              <a:rPr lang="en-US" sz="2200" dirty="0">
                <a:latin typeface="Times New Roman"/>
                <a:cs typeface="Times New Roman"/>
              </a:rPr>
              <a:t>, cu </a:t>
            </a:r>
            <a:r>
              <a:rPr lang="en-US" sz="2200" dirty="0" err="1">
                <a:latin typeface="Times New Roman"/>
                <a:cs typeface="Times New Roman"/>
              </a:rPr>
              <a:t>informație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perfectă</a:t>
            </a:r>
            <a:endParaRPr lang="en-US" sz="2200" dirty="0">
              <a:latin typeface="Times New Roman"/>
              <a:cs typeface="Times New Roman"/>
            </a:endParaRPr>
          </a:p>
          <a:p>
            <a:pPr lvl="1" algn="just" eaLnBrk="1" hangingPunct="1"/>
            <a:r>
              <a:rPr lang="en-US" sz="2200" dirty="0">
                <a:latin typeface="Times New Roman"/>
                <a:cs typeface="Times New Roman"/>
              </a:rPr>
              <a:t>X </a:t>
            </a:r>
            <a:r>
              <a:rPr lang="en-US" sz="2200" dirty="0" err="1">
                <a:latin typeface="Times New Roman"/>
                <a:cs typeface="Times New Roman"/>
              </a:rPr>
              <a:t>și</a:t>
            </a:r>
            <a:r>
              <a:rPr lang="en-US" sz="2200" dirty="0">
                <a:latin typeface="Times New Roman"/>
                <a:cs typeface="Times New Roman"/>
              </a:rPr>
              <a:t> 0, </a:t>
            </a:r>
            <a:r>
              <a:rPr lang="en-US" sz="2200" dirty="0" err="1">
                <a:latin typeface="Times New Roman"/>
                <a:cs typeface="Times New Roman"/>
              </a:rPr>
              <a:t>șah</a:t>
            </a:r>
            <a:r>
              <a:rPr lang="en-US" sz="2200" dirty="0">
                <a:latin typeface="Times New Roman"/>
                <a:cs typeface="Times New Roman"/>
              </a:rPr>
              <a:t>, dame</a:t>
            </a:r>
          </a:p>
          <a:p>
            <a:pPr lvl="1" algn="just" eaLnBrk="1" hangingPunct="1"/>
            <a:r>
              <a:rPr lang="en-US" sz="2200" dirty="0">
                <a:latin typeface="Times New Roman"/>
                <a:cs typeface="Times New Roman"/>
              </a:rPr>
              <a:t>un </a:t>
            </a:r>
            <a:r>
              <a:rPr lang="en-US" sz="2200" dirty="0" err="1">
                <a:latin typeface="Times New Roman"/>
                <a:cs typeface="Times New Roman"/>
              </a:rPr>
              <a:t>jucător</a:t>
            </a:r>
            <a:r>
              <a:rPr lang="en-US" sz="2200" dirty="0">
                <a:latin typeface="Times New Roman"/>
                <a:cs typeface="Times New Roman"/>
              </a:rPr>
              <a:t> (MAX) </a:t>
            </a:r>
            <a:r>
              <a:rPr lang="en-US" sz="2200" dirty="0" err="1">
                <a:latin typeface="Times New Roman"/>
                <a:cs typeface="Times New Roman"/>
              </a:rPr>
              <a:t>maximizează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utilitatea</a:t>
            </a:r>
            <a:endParaRPr lang="en-US" sz="2200" dirty="0">
              <a:latin typeface="Times New Roman"/>
              <a:cs typeface="Times New Roman"/>
            </a:endParaRPr>
          </a:p>
          <a:p>
            <a:pPr lvl="1" algn="just" eaLnBrk="1" hangingPunct="1"/>
            <a:r>
              <a:rPr lang="en-US" sz="2200" dirty="0" err="1">
                <a:latin typeface="Times New Roman"/>
                <a:cs typeface="Times New Roman"/>
              </a:rPr>
              <a:t>celălalt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jucător</a:t>
            </a:r>
            <a:r>
              <a:rPr lang="en-US" sz="2200" dirty="0">
                <a:latin typeface="Times New Roman"/>
                <a:cs typeface="Times New Roman"/>
              </a:rPr>
              <a:t> (MIN) </a:t>
            </a:r>
            <a:r>
              <a:rPr lang="en-US" sz="2200" dirty="0" err="1">
                <a:latin typeface="Times New Roman"/>
                <a:cs typeface="Times New Roman"/>
              </a:rPr>
              <a:t>minimizează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utilitatea</a:t>
            </a:r>
            <a:endParaRPr lang="en-US" sz="2200" dirty="0">
              <a:latin typeface="Times New Roman"/>
              <a:cs typeface="Times New Roman"/>
            </a:endParaRPr>
          </a:p>
          <a:p>
            <a:pPr lvl="1" algn="just" eaLnBrk="1" hangingPunct="1"/>
            <a:endParaRPr lang="en-US" sz="2200" dirty="0">
              <a:latin typeface="Times New Roman"/>
              <a:cs typeface="Times New Roman"/>
            </a:endParaRPr>
          </a:p>
          <a:p>
            <a:pPr algn="just" eaLnBrk="1" hangingPunct="1"/>
            <a:r>
              <a:rPr lang="en-US" sz="2200" dirty="0" err="1">
                <a:latin typeface="Times New Roman"/>
                <a:cs typeface="Times New Roman"/>
              </a:rPr>
              <a:t>Căutare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MiniMax</a:t>
            </a:r>
            <a:r>
              <a:rPr lang="en-US" sz="2200" dirty="0">
                <a:latin typeface="Times New Roman"/>
                <a:cs typeface="Times New Roman"/>
              </a:rPr>
              <a:t>:</a:t>
            </a:r>
          </a:p>
          <a:p>
            <a:pPr lvl="1" algn="just" eaLnBrk="1" hangingPunct="1"/>
            <a:r>
              <a:rPr lang="en-US" sz="2200" dirty="0">
                <a:latin typeface="Times New Roman"/>
                <a:cs typeface="Times New Roman"/>
              </a:rPr>
              <a:t>arbore de </a:t>
            </a:r>
            <a:r>
              <a:rPr lang="en-US" sz="2200" dirty="0" err="1">
                <a:latin typeface="Times New Roman"/>
                <a:cs typeface="Times New Roman"/>
              </a:rPr>
              <a:t>căutare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spațiul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stărilor</a:t>
            </a:r>
            <a:endParaRPr lang="en-US" sz="2200" dirty="0">
              <a:latin typeface="Times New Roman"/>
              <a:cs typeface="Times New Roman"/>
            </a:endParaRPr>
          </a:p>
          <a:p>
            <a:pPr lvl="1" algn="just" eaLnBrk="1" hangingPunct="1"/>
            <a:r>
              <a:rPr lang="en-US" sz="2200" dirty="0" err="1">
                <a:latin typeface="Times New Roman"/>
                <a:cs typeface="Times New Roman"/>
              </a:rPr>
              <a:t>jucătorii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mută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pe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rând</a:t>
            </a:r>
            <a:endParaRPr lang="en-US" sz="2200" dirty="0">
              <a:latin typeface="Times New Roman"/>
              <a:cs typeface="Times New Roman"/>
            </a:endParaRPr>
          </a:p>
          <a:p>
            <a:pPr lvl="1" algn="just" eaLnBrk="1" hangingPunct="1"/>
            <a:r>
              <a:rPr lang="en-US" sz="2200" dirty="0" err="1">
                <a:latin typeface="Times New Roman"/>
                <a:cs typeface="Times New Roman"/>
              </a:rPr>
              <a:t>calculăm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pentru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fiecare</a:t>
            </a:r>
            <a:r>
              <a:rPr lang="en-US" sz="2200" dirty="0">
                <a:latin typeface="Times New Roman"/>
                <a:cs typeface="Times New Roman"/>
              </a:rPr>
              <a:t> nod </a:t>
            </a:r>
            <a:r>
              <a:rPr lang="en-US" sz="2200" dirty="0" err="1">
                <a:latin typeface="Times New Roman"/>
                <a:cs typeface="Times New Roman"/>
              </a:rPr>
              <a:t>valoarea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b="1" dirty="0" err="1">
                <a:solidFill>
                  <a:srgbClr val="CC0000"/>
                </a:solidFill>
                <a:latin typeface="Times New Roman"/>
                <a:cs typeface="Times New Roman"/>
              </a:rPr>
              <a:t>minimax</a:t>
            </a:r>
            <a:r>
              <a:rPr lang="en-US" sz="2200" b="1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r>
              <a:rPr lang="en-US" sz="220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mai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bună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utilitate</a:t>
            </a:r>
            <a:r>
              <a:rPr lang="en-US" sz="2200" dirty="0">
                <a:latin typeface="Times New Roman"/>
                <a:cs typeface="Times New Roman"/>
              </a:rPr>
              <a:t> care </a:t>
            </a:r>
            <a:r>
              <a:rPr lang="en-US" sz="2200" dirty="0" err="1">
                <a:latin typeface="Times New Roman"/>
                <a:cs typeface="Times New Roman"/>
              </a:rPr>
              <a:t>poate</a:t>
            </a:r>
            <a:r>
              <a:rPr lang="en-US" sz="2200" dirty="0">
                <a:latin typeface="Times New Roman"/>
                <a:cs typeface="Times New Roman"/>
              </a:rPr>
              <a:t> fi </a:t>
            </a:r>
            <a:r>
              <a:rPr lang="en-US" sz="2200" dirty="0" err="1">
                <a:latin typeface="Times New Roman"/>
                <a:cs typeface="Times New Roman"/>
              </a:rPr>
              <a:t>obținută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împotriva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unui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adversar</a:t>
            </a:r>
            <a:r>
              <a:rPr lang="en-US" sz="2200" dirty="0">
                <a:latin typeface="Times New Roman"/>
                <a:cs typeface="Times New Roman"/>
              </a:rPr>
              <a:t> care </a:t>
            </a:r>
            <a:r>
              <a:rPr lang="en-US" sz="2200" dirty="0" err="1">
                <a:latin typeface="Times New Roman"/>
                <a:cs typeface="Times New Roman"/>
              </a:rPr>
              <a:t>joacă</a:t>
            </a:r>
            <a:r>
              <a:rPr lang="en-US" sz="2200" dirty="0">
                <a:latin typeface="Times New Roman"/>
                <a:cs typeface="Times New Roman"/>
              </a:rPr>
              <a:t> perfect</a:t>
            </a:r>
          </a:p>
          <a:p>
            <a:pPr lvl="1" algn="just" eaLnBrk="1" hangingPunct="1"/>
            <a:r>
              <a:rPr lang="en-US" sz="2200" dirty="0" err="1">
                <a:latin typeface="Times New Roman"/>
                <a:cs typeface="Times New Roman"/>
              </a:rPr>
              <a:t>determină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strategia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optimă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corespunzătoare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lui</a:t>
            </a:r>
            <a:r>
              <a:rPr lang="en-US" sz="2200" dirty="0">
                <a:latin typeface="Times New Roman"/>
                <a:cs typeface="Times New Roman"/>
              </a:rPr>
              <a:t> MAX, care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mai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bună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primă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mutare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12292" name="AutoShape 4"/>
          <p:cNvSpPr>
            <a:spLocks noChangeArrowheads="1"/>
          </p:cNvSpPr>
          <p:nvPr/>
        </p:nvSpPr>
        <p:spPr bwMode="auto">
          <a:xfrm>
            <a:off x="7408591" y="2352577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293" name="AutoShape 5"/>
          <p:cNvSpPr>
            <a:spLocks noChangeArrowheads="1"/>
          </p:cNvSpPr>
          <p:nvPr/>
        </p:nvSpPr>
        <p:spPr bwMode="auto">
          <a:xfrm rot="10800000">
            <a:off x="6837091" y="3343177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294" name="AutoShape 6"/>
          <p:cNvSpPr>
            <a:spLocks noChangeArrowheads="1"/>
          </p:cNvSpPr>
          <p:nvPr/>
        </p:nvSpPr>
        <p:spPr bwMode="auto">
          <a:xfrm rot="10800000">
            <a:off x="7980091" y="3343177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6551341" y="4638577"/>
            <a:ext cx="28575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8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7065691" y="4638577"/>
            <a:ext cx="28575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2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7694341" y="4638577"/>
            <a:ext cx="28575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5</a:t>
            </a: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8265841" y="4638577"/>
            <a:ext cx="28575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6</a:t>
            </a:r>
          </a:p>
        </p:txBody>
      </p:sp>
      <p:cxnSp>
        <p:nvCxnSpPr>
          <p:cNvPr id="12299" name="AutoShape 11"/>
          <p:cNvCxnSpPr>
            <a:cxnSpLocks noChangeShapeType="1"/>
            <a:stCxn id="12292" idx="3"/>
            <a:endCxn id="12293" idx="3"/>
          </p:cNvCxnSpPr>
          <p:nvPr/>
        </p:nvCxnSpPr>
        <p:spPr bwMode="auto">
          <a:xfrm flipH="1">
            <a:off x="6979966" y="2657377"/>
            <a:ext cx="5715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00" name="AutoShape 12"/>
          <p:cNvCxnSpPr>
            <a:cxnSpLocks noChangeShapeType="1"/>
            <a:stCxn id="12292" idx="3"/>
            <a:endCxn id="12294" idx="3"/>
          </p:cNvCxnSpPr>
          <p:nvPr/>
        </p:nvCxnSpPr>
        <p:spPr bwMode="auto">
          <a:xfrm>
            <a:off x="7551466" y="2657377"/>
            <a:ext cx="5715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01" name="AutoShape 13"/>
          <p:cNvCxnSpPr>
            <a:cxnSpLocks noChangeShapeType="1"/>
            <a:stCxn id="12293" idx="0"/>
            <a:endCxn id="12295" idx="0"/>
          </p:cNvCxnSpPr>
          <p:nvPr/>
        </p:nvCxnSpPr>
        <p:spPr bwMode="auto">
          <a:xfrm flipH="1">
            <a:off x="6694216" y="3647977"/>
            <a:ext cx="28575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02" name="AutoShape 14"/>
          <p:cNvCxnSpPr>
            <a:cxnSpLocks noChangeShapeType="1"/>
            <a:stCxn id="12293" idx="0"/>
            <a:endCxn id="12296" idx="0"/>
          </p:cNvCxnSpPr>
          <p:nvPr/>
        </p:nvCxnSpPr>
        <p:spPr bwMode="auto">
          <a:xfrm>
            <a:off x="6979966" y="3647977"/>
            <a:ext cx="2286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03" name="AutoShape 15"/>
          <p:cNvCxnSpPr>
            <a:cxnSpLocks noChangeShapeType="1"/>
            <a:stCxn id="12294" idx="0"/>
            <a:endCxn id="12297" idx="0"/>
          </p:cNvCxnSpPr>
          <p:nvPr/>
        </p:nvCxnSpPr>
        <p:spPr bwMode="auto">
          <a:xfrm flipH="1">
            <a:off x="7837216" y="3647977"/>
            <a:ext cx="28575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04" name="AutoShape 16"/>
          <p:cNvCxnSpPr>
            <a:cxnSpLocks noChangeShapeType="1"/>
            <a:stCxn id="12294" idx="0"/>
            <a:endCxn id="12298" idx="0"/>
          </p:cNvCxnSpPr>
          <p:nvPr/>
        </p:nvCxnSpPr>
        <p:spPr bwMode="auto">
          <a:xfrm>
            <a:off x="8122966" y="3647977"/>
            <a:ext cx="28575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7711010" y="2351268"/>
            <a:ext cx="69770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</a:rPr>
              <a:t>MAX</a:t>
            </a: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8143124" y="3265668"/>
            <a:ext cx="69770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</a:rPr>
              <a:t>MIN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841794" y="3261096"/>
            <a:ext cx="1443295" cy="374376"/>
            <a:chOff x="6026007" y="3193884"/>
            <a:chExt cx="1924171" cy="374376"/>
          </a:xfrm>
        </p:grpSpPr>
        <p:sp>
          <p:nvSpPr>
            <p:cNvPr id="12316" name="TextBox 19"/>
            <p:cNvSpPr txBox="1">
              <a:spLocks noChangeArrowheads="1"/>
            </p:cNvSpPr>
            <p:nvPr/>
          </p:nvSpPr>
          <p:spPr bwMode="auto">
            <a:xfrm>
              <a:off x="6026007" y="3193884"/>
              <a:ext cx="4021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12317" name="TextBox 20"/>
            <p:cNvSpPr txBox="1">
              <a:spLocks noChangeArrowheads="1"/>
            </p:cNvSpPr>
            <p:nvPr/>
          </p:nvSpPr>
          <p:spPr bwMode="auto">
            <a:xfrm>
              <a:off x="7548011" y="3198928"/>
              <a:ext cx="4021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5</a:t>
              </a:r>
            </a:p>
          </p:txBody>
        </p:sp>
      </p:grp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7410911" y="2351323"/>
            <a:ext cx="3016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34" charset="0"/>
              </a:rPr>
              <a:t>5</a:t>
            </a: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6437041" y="4409977"/>
            <a:ext cx="2403790" cy="1484364"/>
            <a:chOff x="5486400" y="4343400"/>
            <a:chExt cx="3205053" cy="1484594"/>
          </a:xfrm>
        </p:grpSpPr>
        <p:sp>
          <p:nvSpPr>
            <p:cNvPr id="23" name="Rounded Rectangle 22"/>
            <p:cNvSpPr/>
            <p:nvPr/>
          </p:nvSpPr>
          <p:spPr>
            <a:xfrm>
              <a:off x="5486400" y="4343400"/>
              <a:ext cx="3048000" cy="762118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 pitchFamily="34" charset="0"/>
              </a:endParaRPr>
            </a:p>
          </p:txBody>
        </p:sp>
        <p:sp>
          <p:nvSpPr>
            <p:cNvPr id="12315" name="Text Box 17"/>
            <p:cNvSpPr txBox="1">
              <a:spLocks noChangeArrowheads="1"/>
            </p:cNvSpPr>
            <p:nvPr/>
          </p:nvSpPr>
          <p:spPr bwMode="auto">
            <a:xfrm>
              <a:off x="5486400" y="5181563"/>
              <a:ext cx="3205053" cy="6464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 dirty="0" err="1">
                  <a:latin typeface="Calibri" pitchFamily="34" charset="0"/>
                </a:rPr>
                <a:t>Valori</a:t>
              </a:r>
              <a:r>
                <a:rPr lang="en-US" b="1" dirty="0">
                  <a:latin typeface="Calibri" pitchFamily="34" charset="0"/>
                </a:rPr>
                <a:t> </a:t>
              </a:r>
              <a:r>
                <a:rPr lang="en-US" b="1" dirty="0" err="1">
                  <a:latin typeface="Calibri" pitchFamily="34" charset="0"/>
                </a:rPr>
                <a:t>terminale</a:t>
              </a:r>
              <a:r>
                <a:rPr lang="en-US" b="1" dirty="0">
                  <a:latin typeface="Calibri" pitchFamily="34" charset="0"/>
                </a:rPr>
                <a:t>:</a:t>
              </a:r>
              <a:br>
                <a:rPr lang="en-US" b="1" dirty="0">
                  <a:latin typeface="Calibri" pitchFamily="34" charset="0"/>
                </a:rPr>
              </a:br>
              <a:r>
                <a:rPr lang="en-US" b="1" dirty="0">
                  <a:latin typeface="Calibri" pitchFamily="34" charset="0"/>
                </a:rPr>
                <a:t>date de </a:t>
              </a:r>
              <a:r>
                <a:rPr lang="en-US" b="1" dirty="0" err="1">
                  <a:latin typeface="Calibri" pitchFamily="34" charset="0"/>
                </a:rPr>
                <a:t>regulile</a:t>
              </a:r>
              <a:r>
                <a:rPr lang="en-US" b="1" dirty="0">
                  <a:latin typeface="Calibri" pitchFamily="34" charset="0"/>
                </a:rPr>
                <a:t> </a:t>
              </a:r>
              <a:r>
                <a:rPr lang="en-US" b="1" dirty="0" err="1">
                  <a:latin typeface="Calibri" pitchFamily="34" charset="0"/>
                </a:rPr>
                <a:t>jocului</a:t>
              </a:r>
              <a:endParaRPr lang="en-US" b="1" dirty="0">
                <a:latin typeface="Calibri" pitchFamily="34" charset="0"/>
              </a:endParaRP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6437041" y="1474690"/>
            <a:ext cx="2343150" cy="2362200"/>
            <a:chOff x="5334000" y="2855913"/>
            <a:chExt cx="3124200" cy="2362200"/>
          </a:xfrm>
        </p:grpSpPr>
        <p:sp>
          <p:nvSpPr>
            <p:cNvPr id="29" name="Rounded Rectangle 28"/>
            <p:cNvSpPr/>
            <p:nvPr/>
          </p:nvSpPr>
          <p:spPr>
            <a:xfrm>
              <a:off x="5334000" y="3541713"/>
              <a:ext cx="3124200" cy="1676400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 pitchFamily="34" charset="0"/>
              </a:endParaRPr>
            </a:p>
          </p:txBody>
        </p:sp>
        <p:sp>
          <p:nvSpPr>
            <p:cNvPr id="12313" name="Text Box 17"/>
            <p:cNvSpPr txBox="1">
              <a:spLocks noChangeArrowheads="1"/>
            </p:cNvSpPr>
            <p:nvPr/>
          </p:nvSpPr>
          <p:spPr bwMode="auto">
            <a:xfrm>
              <a:off x="5334000" y="2855913"/>
              <a:ext cx="3124200" cy="6463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 dirty="0" err="1">
                  <a:latin typeface="Calibri" pitchFamily="34" charset="0"/>
                </a:rPr>
                <a:t>Valori</a:t>
              </a:r>
              <a:r>
                <a:rPr lang="en-US" b="1" dirty="0">
                  <a:latin typeface="Calibri" pitchFamily="34" charset="0"/>
                </a:rPr>
                <a:t> </a:t>
              </a:r>
              <a:r>
                <a:rPr lang="en-US" b="1" dirty="0" err="1">
                  <a:latin typeface="Calibri" pitchFamily="34" charset="0"/>
                </a:rPr>
                <a:t>minimax</a:t>
              </a:r>
              <a:r>
                <a:rPr lang="en-US" b="1" dirty="0">
                  <a:latin typeface="Calibri" pitchFamily="34" charset="0"/>
                </a:rPr>
                <a:t>:</a:t>
              </a:r>
              <a:br>
                <a:rPr lang="en-US" b="1" dirty="0">
                  <a:latin typeface="Calibri" pitchFamily="34" charset="0"/>
                </a:rPr>
              </a:br>
              <a:r>
                <a:rPr lang="en-US" b="1" dirty="0">
                  <a:latin typeface="Calibri" pitchFamily="34" charset="0"/>
                </a:rPr>
                <a:t>calculate </a:t>
              </a:r>
              <a:r>
                <a:rPr lang="en-US" b="1" dirty="0" err="1">
                  <a:latin typeface="Calibri" pitchFamily="34" charset="0"/>
                </a:rPr>
                <a:t>recursiv</a:t>
              </a:r>
              <a:endParaRPr lang="en-US" b="1" dirty="0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02347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59687"/>
            <a:ext cx="8839200" cy="6155545"/>
          </a:xfrm>
        </p:spPr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200" dirty="0" err="1">
                <a:latin typeface="Times New Roman"/>
                <a:cs typeface="Times New Roman"/>
              </a:rPr>
              <a:t>Generează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întreg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arborele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joc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până</a:t>
            </a:r>
            <a:r>
              <a:rPr lang="en-US" sz="2200" dirty="0">
                <a:latin typeface="Times New Roman"/>
                <a:cs typeface="Times New Roman"/>
              </a:rPr>
              <a:t> la </a:t>
            </a:r>
            <a:r>
              <a:rPr lang="en-US" sz="2200" dirty="0" err="1">
                <a:latin typeface="Times New Roman"/>
                <a:cs typeface="Times New Roman"/>
              </a:rPr>
              <a:t>stările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terminale</a:t>
            </a:r>
            <a:endParaRPr lang="en-US" sz="2200" dirty="0">
              <a:latin typeface="Times New Roman"/>
              <a:cs typeface="Times New Roman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sz="2200" dirty="0">
              <a:latin typeface="Times New Roman"/>
              <a:cs typeface="Times New Roman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err="1">
                <a:latin typeface="Times New Roman"/>
                <a:cs typeface="Times New Roman"/>
              </a:rPr>
              <a:t>Aplică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funcția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utilitate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fiecărei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stării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terminale</a:t>
            </a:r>
            <a:r>
              <a:rPr lang="en-US" sz="2200" dirty="0">
                <a:latin typeface="Times New Roman"/>
                <a:cs typeface="Times New Roman"/>
              </a:rPr>
              <a:t> - </a:t>
            </a:r>
            <a:r>
              <a:rPr lang="en-US" sz="2200" dirty="0" err="1">
                <a:latin typeface="Times New Roman"/>
                <a:cs typeface="Times New Roman"/>
              </a:rPr>
              <a:t>obține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valoarea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stării</a:t>
            </a:r>
            <a:endParaRPr lang="en-US" sz="2200" dirty="0">
              <a:latin typeface="Times New Roman"/>
              <a:cs typeface="Times New Roman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sz="2200" dirty="0">
              <a:latin typeface="Times New Roman"/>
              <a:cs typeface="Times New Roman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err="1">
                <a:latin typeface="Times New Roman"/>
                <a:cs typeface="Times New Roman"/>
              </a:rPr>
              <a:t>Deplasează-te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înapoi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arbore, de la </a:t>
            </a:r>
            <a:r>
              <a:rPr lang="en-US" sz="2200" dirty="0" err="1">
                <a:latin typeface="Times New Roman"/>
                <a:cs typeface="Times New Roman"/>
              </a:rPr>
              <a:t>nodurile-frunze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spre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nodul-rădăcină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determinând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corespunzător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fiecărui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nivel</a:t>
            </a:r>
            <a:r>
              <a:rPr lang="en-US" sz="2200" dirty="0">
                <a:latin typeface="Times New Roman"/>
                <a:cs typeface="Times New Roman"/>
              </a:rPr>
              <a:t> al </a:t>
            </a:r>
            <a:r>
              <a:rPr lang="en-US" sz="2200" dirty="0" err="1">
                <a:latin typeface="Times New Roman"/>
                <a:cs typeface="Times New Roman"/>
              </a:rPr>
              <a:t>arborelui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valorile</a:t>
            </a:r>
            <a:r>
              <a:rPr lang="en-US" sz="2200" dirty="0">
                <a:latin typeface="Times New Roman"/>
                <a:cs typeface="Times New Roman"/>
              </a:rPr>
              <a:t> care </a:t>
            </a:r>
            <a:r>
              <a:rPr lang="en-US" sz="2200" dirty="0" err="1">
                <a:latin typeface="Times New Roman"/>
                <a:cs typeface="Times New Roman"/>
              </a:rPr>
              <a:t>reprezintă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utilitatea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nodurilor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aflate</a:t>
            </a:r>
            <a:r>
              <a:rPr lang="en-US" sz="2200" dirty="0">
                <a:latin typeface="Times New Roman"/>
                <a:cs typeface="Times New Roman"/>
              </a:rPr>
              <a:t> la </a:t>
            </a:r>
            <a:r>
              <a:rPr lang="en-US" sz="2200" dirty="0" err="1">
                <a:latin typeface="Times New Roman"/>
                <a:cs typeface="Times New Roman"/>
              </a:rPr>
              <a:t>acel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nivel</a:t>
            </a:r>
            <a:r>
              <a:rPr lang="en-US" sz="2200" dirty="0">
                <a:latin typeface="Times New Roman"/>
                <a:cs typeface="Times New Roman"/>
              </a:rPr>
              <a:t>. </a:t>
            </a:r>
            <a:r>
              <a:rPr lang="en-US" sz="2200" dirty="0" err="1">
                <a:latin typeface="Times New Roman"/>
                <a:cs typeface="Times New Roman"/>
              </a:rPr>
              <a:t>Propagarea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acestor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valori</a:t>
            </a:r>
            <a:r>
              <a:rPr lang="en-US" sz="2200" dirty="0">
                <a:latin typeface="Times New Roman"/>
                <a:cs typeface="Times New Roman"/>
              </a:rPr>
              <a:t> la </a:t>
            </a:r>
            <a:r>
              <a:rPr lang="en-US" sz="2200" dirty="0" err="1">
                <a:latin typeface="Times New Roman"/>
                <a:cs typeface="Times New Roman"/>
              </a:rPr>
              <a:t>niveluri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anterioare</a:t>
            </a:r>
            <a:r>
              <a:rPr lang="en-US" sz="2200" dirty="0">
                <a:latin typeface="Times New Roman"/>
                <a:cs typeface="Times New Roman"/>
              </a:rPr>
              <a:t> se face </a:t>
            </a:r>
            <a:r>
              <a:rPr lang="en-US" sz="2200" dirty="0" err="1">
                <a:latin typeface="Times New Roman"/>
                <a:cs typeface="Times New Roman"/>
              </a:rPr>
              <a:t>prin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intermediul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nodurilor-părinte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succesive</a:t>
            </a:r>
            <a:r>
              <a:rPr lang="en-US" sz="2200" dirty="0">
                <a:latin typeface="Times New Roman"/>
                <a:cs typeface="Times New Roman"/>
              </a:rPr>
              <a:t>, conform </a:t>
            </a:r>
            <a:r>
              <a:rPr lang="en-US" sz="2200" dirty="0" err="1">
                <a:latin typeface="Times New Roman"/>
                <a:cs typeface="Times New Roman"/>
              </a:rPr>
              <a:t>următoarei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reguli</a:t>
            </a:r>
            <a:r>
              <a:rPr lang="en-US" sz="2200" dirty="0">
                <a:latin typeface="Times New Roman"/>
                <a:cs typeface="Times New Roman"/>
              </a:rPr>
              <a:t>: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/>
                <a:cs typeface="Times New Roman"/>
              </a:rPr>
              <a:t>	- </a:t>
            </a:r>
            <a:r>
              <a:rPr lang="en-US" sz="2200" dirty="0" err="1">
                <a:latin typeface="Times New Roman"/>
                <a:cs typeface="Times New Roman"/>
              </a:rPr>
              <a:t>dacă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starea-părinte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un nod de tip MAX, </a:t>
            </a:r>
            <a:r>
              <a:rPr lang="en-US" sz="2200" dirty="0" err="1">
                <a:latin typeface="Times New Roman"/>
                <a:cs typeface="Times New Roman"/>
              </a:rPr>
              <a:t>atribuie-i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maximul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dintre</a:t>
            </a:r>
            <a:r>
              <a:rPr lang="en-US" sz="2200" dirty="0">
                <a:latin typeface="Times New Roman"/>
                <a:cs typeface="Times New Roman"/>
              </a:rPr>
              <a:t> 	</a:t>
            </a:r>
            <a:r>
              <a:rPr lang="en-US" sz="2200" dirty="0" err="1">
                <a:latin typeface="Times New Roman"/>
                <a:cs typeface="Times New Roman"/>
              </a:rPr>
              <a:t>valorile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avute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fii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săi</a:t>
            </a:r>
            <a:r>
              <a:rPr lang="en-US" sz="2200" dirty="0">
                <a:latin typeface="Times New Roman"/>
                <a:cs typeface="Times New Roman"/>
              </a:rPr>
              <a:t>;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/>
                <a:cs typeface="Times New Roman"/>
              </a:rPr>
              <a:t>	- </a:t>
            </a:r>
            <a:r>
              <a:rPr lang="en-US" sz="2200" dirty="0" err="1">
                <a:latin typeface="Times New Roman"/>
                <a:cs typeface="Times New Roman"/>
              </a:rPr>
              <a:t>dacă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starea-părinte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un nod de tip MIN, </a:t>
            </a:r>
            <a:r>
              <a:rPr lang="en-US" sz="2200" dirty="0" err="1">
                <a:latin typeface="Times New Roman"/>
                <a:cs typeface="Times New Roman"/>
              </a:rPr>
              <a:t>atribuie-i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minimul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dintre</a:t>
            </a:r>
            <a:r>
              <a:rPr lang="en-US" sz="2200" dirty="0">
                <a:latin typeface="Times New Roman"/>
                <a:cs typeface="Times New Roman"/>
              </a:rPr>
              <a:t> 	</a:t>
            </a:r>
            <a:r>
              <a:rPr lang="en-US" sz="2200" dirty="0" err="1">
                <a:latin typeface="Times New Roman"/>
                <a:cs typeface="Times New Roman"/>
              </a:rPr>
              <a:t>valorile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avute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fii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săi</a:t>
            </a:r>
            <a:r>
              <a:rPr lang="en-US" sz="2200" dirty="0">
                <a:latin typeface="Times New Roman"/>
                <a:cs typeface="Times New Roman"/>
              </a:rPr>
              <a:t>;</a:t>
            </a:r>
          </a:p>
          <a:p>
            <a:pPr marL="0" indent="0" algn="just">
              <a:buNone/>
            </a:pPr>
            <a:endParaRPr lang="en-US" sz="2200" dirty="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2200" dirty="0">
                <a:latin typeface="Times New Roman"/>
                <a:cs typeface="Times New Roman"/>
              </a:rPr>
              <a:t>4. 	</a:t>
            </a:r>
            <a:r>
              <a:rPr lang="en-US" sz="2200" dirty="0" err="1">
                <a:latin typeface="Times New Roman"/>
                <a:cs typeface="Times New Roman"/>
              </a:rPr>
              <a:t>Ajuns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nodul-rădăcină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alege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pentru</a:t>
            </a:r>
            <a:r>
              <a:rPr lang="en-US" sz="2200" dirty="0">
                <a:latin typeface="Times New Roman"/>
                <a:cs typeface="Times New Roman"/>
              </a:rPr>
              <a:t> MAX </a:t>
            </a:r>
            <a:r>
              <a:rPr lang="en-US" sz="2200" dirty="0" err="1">
                <a:latin typeface="Times New Roman"/>
                <a:cs typeface="Times New Roman"/>
              </a:rPr>
              <a:t>acea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mutare</a:t>
            </a:r>
            <a:r>
              <a:rPr lang="en-US" sz="2200" dirty="0">
                <a:latin typeface="Times New Roman"/>
                <a:cs typeface="Times New Roman"/>
              </a:rPr>
              <a:t> care conduce la </a:t>
            </a:r>
            <a:r>
              <a:rPr lang="en-US" sz="2200" dirty="0" err="1">
                <a:latin typeface="Times New Roman"/>
                <a:cs typeface="Times New Roman"/>
              </a:rPr>
              <a:t>valoarea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maximă</a:t>
            </a:r>
            <a:r>
              <a:rPr lang="en-US" sz="2200" dirty="0">
                <a:latin typeface="Times New Roman"/>
                <a:cs typeface="Times New Roman"/>
              </a:rPr>
              <a:t>. </a:t>
            </a:r>
            <a:r>
              <a:rPr lang="en-US" sz="2200" dirty="0" err="1">
                <a:latin typeface="Times New Roman"/>
                <a:cs typeface="Times New Roman"/>
              </a:rPr>
              <a:t>Mutarea</a:t>
            </a:r>
            <a:r>
              <a:rPr lang="en-US" sz="2200" dirty="0">
                <a:latin typeface="Times New Roman"/>
                <a:cs typeface="Times New Roman"/>
              </a:rPr>
              <a:t> se </a:t>
            </a:r>
            <a:r>
              <a:rPr lang="en-US" sz="2200" dirty="0" err="1">
                <a:latin typeface="Times New Roman"/>
                <a:cs typeface="Times New Roman"/>
              </a:rPr>
              <a:t>numește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b="1" i="1" dirty="0" err="1">
                <a:latin typeface="Times New Roman"/>
                <a:cs typeface="Times New Roman"/>
              </a:rPr>
              <a:t>decizia</a:t>
            </a:r>
            <a:r>
              <a:rPr lang="en-US" sz="2200" b="1" i="1" dirty="0">
                <a:latin typeface="Times New Roman"/>
                <a:cs typeface="Times New Roman"/>
              </a:rPr>
              <a:t> </a:t>
            </a:r>
            <a:r>
              <a:rPr lang="en-US" sz="2200" b="1" i="1" dirty="0" err="1">
                <a:latin typeface="Times New Roman"/>
                <a:cs typeface="Times New Roman"/>
              </a:rPr>
              <a:t>minimax</a:t>
            </a:r>
            <a:r>
              <a:rPr lang="en-US" sz="2200" b="1" i="1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- </a:t>
            </a:r>
            <a:r>
              <a:rPr lang="en-US" sz="2200" dirty="0" err="1">
                <a:latin typeface="Times New Roman"/>
                <a:cs typeface="Times New Roman"/>
              </a:rPr>
              <a:t>maximizează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utilitatea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ipoteza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oponentul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joacă</a:t>
            </a:r>
            <a:r>
              <a:rPr lang="en-US" sz="2200" dirty="0">
                <a:latin typeface="Times New Roman"/>
                <a:cs typeface="Times New Roman"/>
              </a:rPr>
              <a:t> perfect cu </a:t>
            </a:r>
            <a:r>
              <a:rPr lang="en-US" sz="2200" dirty="0" err="1">
                <a:latin typeface="Times New Roman"/>
                <a:cs typeface="Times New Roman"/>
              </a:rPr>
              <a:t>scopul</a:t>
            </a:r>
            <a:r>
              <a:rPr lang="en-US" sz="2200" dirty="0">
                <a:latin typeface="Times New Roman"/>
                <a:cs typeface="Times New Roman"/>
              </a:rPr>
              <a:t> de a o </a:t>
            </a:r>
            <a:r>
              <a:rPr lang="en-US" sz="2200" dirty="0" err="1">
                <a:latin typeface="Times New Roman"/>
                <a:cs typeface="Times New Roman"/>
              </a:rPr>
              <a:t>minimiza</a:t>
            </a:r>
            <a:r>
              <a:rPr lang="en-US" sz="22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303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Algoritmul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- </a:t>
            </a:r>
            <a:r>
              <a:rPr lang="en-US" dirty="0" err="1">
                <a:latin typeface="Times New Roman"/>
                <a:cs typeface="Times New Roman"/>
              </a:rPr>
              <a:t>descriere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6193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8173A-C61C-CBD9-576C-75582941D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30CC8678-BE5A-7A02-2322-342C646675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34868"/>
            <a:ext cx="8839200" cy="5623132"/>
          </a:xfrm>
        </p:spPr>
        <p:txBody>
          <a:bodyPr>
            <a:normAutofit/>
          </a:bodyPr>
          <a:lstStyle/>
          <a:p>
            <a:pPr algn="just"/>
            <a:r>
              <a:rPr lang="en-US" sz="2400" dirty="0" err="1">
                <a:latin typeface="Times New Roman"/>
                <a:cs typeface="Times New Roman"/>
              </a:rPr>
              <a:t>jucătorul</a:t>
            </a:r>
            <a:r>
              <a:rPr lang="en-US" sz="2400" dirty="0">
                <a:latin typeface="Times New Roman"/>
                <a:cs typeface="Times New Roman"/>
              </a:rPr>
              <a:t> la </a:t>
            </a:r>
            <a:r>
              <a:rPr lang="en-US" sz="2400" dirty="0" err="1">
                <a:latin typeface="Times New Roman"/>
                <a:cs typeface="Times New Roman"/>
              </a:rPr>
              <a:t>mutare</a:t>
            </a:r>
            <a:r>
              <a:rPr lang="en-US" sz="2400" dirty="0">
                <a:latin typeface="Times New Roman"/>
                <a:cs typeface="Times New Roman"/>
              </a:rPr>
              <a:t>: PLAYER(s)</a:t>
            </a:r>
          </a:p>
          <a:p>
            <a:pPr algn="just"/>
            <a:r>
              <a:rPr lang="en-US" sz="2400" dirty="0" err="1">
                <a:latin typeface="Times New Roman"/>
                <a:cs typeface="Times New Roman"/>
              </a:rPr>
              <a:t>acțiuni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legale</a:t>
            </a:r>
            <a:r>
              <a:rPr lang="en-US" sz="2400" dirty="0">
                <a:latin typeface="Times New Roman"/>
                <a:cs typeface="Times New Roman"/>
              </a:rPr>
              <a:t>: ACTIONS(s)</a:t>
            </a:r>
          </a:p>
          <a:p>
            <a:pPr algn="just"/>
            <a:r>
              <a:rPr lang="en-US" sz="2400" dirty="0" err="1">
                <a:latin typeface="Times New Roman"/>
                <a:cs typeface="Times New Roman"/>
              </a:rPr>
              <a:t>modelul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tranziție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funcția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succesor</a:t>
            </a:r>
            <a:r>
              <a:rPr lang="en-US" sz="2400" dirty="0">
                <a:latin typeface="Times New Roman"/>
                <a:cs typeface="Times New Roman"/>
              </a:rPr>
              <a:t>): RESULT(</a:t>
            </a:r>
            <a:r>
              <a:rPr lang="en-US" sz="2400" dirty="0" err="1">
                <a:latin typeface="Times New Roman"/>
                <a:cs typeface="Times New Roman"/>
              </a:rPr>
              <a:t>s,a</a:t>
            </a:r>
            <a:r>
              <a:rPr lang="en-US" sz="2400" dirty="0">
                <a:latin typeface="Times New Roman"/>
                <a:cs typeface="Times New Roman"/>
              </a:rPr>
              <a:t>)</a:t>
            </a:r>
          </a:p>
          <a:p>
            <a:pPr algn="just"/>
            <a:r>
              <a:rPr lang="en-US" sz="2400" dirty="0">
                <a:latin typeface="Times New Roman"/>
                <a:cs typeface="Times New Roman"/>
              </a:rPr>
              <a:t>test terminal: TERMINAL-TEST(s)</a:t>
            </a:r>
          </a:p>
          <a:p>
            <a:pPr algn="just"/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utilitate</a:t>
            </a:r>
            <a:r>
              <a:rPr lang="en-US" sz="2400" dirty="0">
                <a:latin typeface="Times New Roman"/>
                <a:cs typeface="Times New Roman"/>
              </a:rPr>
              <a:t>: UTILITY(s)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E1F04A-C708-F9BB-94FC-92B158C15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303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Algoritmul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- </a:t>
            </a:r>
            <a:r>
              <a:rPr lang="en-US" dirty="0" err="1">
                <a:latin typeface="Times New Roman"/>
                <a:cs typeface="Times New Roman"/>
              </a:rPr>
              <a:t>formalizare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9" name="Picture 8" descr="Screen Shot 2020-12-27 at 10.11.04.png">
            <a:extLst>
              <a:ext uri="{FF2B5EF4-FFF2-40B4-BE49-F238E27FC236}">
                <a16:creationId xmlns:a16="http://schemas.microsoft.com/office/drawing/2014/main" id="{414FF543-23BE-64EA-477E-276A03DD5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456" b="73682"/>
          <a:stretch>
            <a:fillRect/>
          </a:stretch>
        </p:blipFill>
        <p:spPr>
          <a:xfrm>
            <a:off x="-705123" y="4913321"/>
            <a:ext cx="2565454" cy="452674"/>
          </a:xfrm>
          <a:prstGeom prst="rect">
            <a:avLst/>
          </a:prstGeom>
        </p:spPr>
      </p:pic>
      <p:pic>
        <p:nvPicPr>
          <p:cNvPr id="10" name="Picture 9" descr="Screen Shot 2020-12-27 at 10.11.04.png">
            <a:extLst>
              <a:ext uri="{FF2B5EF4-FFF2-40B4-BE49-F238E27FC236}">
                <a16:creationId xmlns:a16="http://schemas.microsoft.com/office/drawing/2014/main" id="{662CBD82-987C-1486-3531-AD6D1D044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t="27570"/>
          <a:stretch>
            <a:fillRect/>
          </a:stretch>
        </p:blipFill>
        <p:spPr>
          <a:xfrm>
            <a:off x="1879950" y="4718988"/>
            <a:ext cx="7654984" cy="116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156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876044" y="1086556"/>
            <a:ext cx="6173611" cy="2325511"/>
          </a:xfrm>
          <a:prstGeom prst="roundRect">
            <a:avLst/>
          </a:prstGeom>
          <a:solidFill>
            <a:srgbClr val="C39BE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045379" y="990600"/>
            <a:ext cx="6059311" cy="3810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endParaRPr lang="en-US" sz="200" dirty="0">
              <a:latin typeface="Times New Roman"/>
              <a:cs typeface="Times New Roman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7030A0"/>
                </a:solidFill>
                <a:latin typeface="Times New Roman"/>
                <a:cs typeface="Times New Roman"/>
              </a:rPr>
              <a:t>def value(stare):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stare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o stare </a:t>
            </a:r>
            <a:r>
              <a:rPr lang="en-US" sz="2000" dirty="0" err="1">
                <a:latin typeface="Times New Roman"/>
                <a:cs typeface="Times New Roman"/>
              </a:rPr>
              <a:t>terminală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utilitatea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stării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următorul</a:t>
            </a:r>
            <a:r>
              <a:rPr lang="en-US" sz="2000" dirty="0">
                <a:latin typeface="Times New Roman"/>
                <a:cs typeface="Times New Roman"/>
              </a:rPr>
              <a:t> agent care </a:t>
            </a:r>
            <a:r>
              <a:rPr lang="en-US" sz="2000" dirty="0" err="1">
                <a:latin typeface="Times New Roman"/>
                <a:cs typeface="Times New Roman"/>
              </a:rPr>
              <a:t>mută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MAX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max-value(stare)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următorul</a:t>
            </a:r>
            <a:r>
              <a:rPr lang="en-US" sz="2000" dirty="0">
                <a:latin typeface="Times New Roman"/>
                <a:cs typeface="Times New Roman"/>
              </a:rPr>
              <a:t> agent care </a:t>
            </a:r>
            <a:r>
              <a:rPr lang="en-US" sz="2000" dirty="0" err="1">
                <a:latin typeface="Times New Roman"/>
                <a:cs typeface="Times New Roman"/>
              </a:rPr>
              <a:t>mută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/>
                <a:cs typeface="Times New Roman"/>
              </a:rPr>
              <a:t>MIN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/>
                <a:cs typeface="Times New Roman"/>
              </a:rPr>
              <a:t>min-value(stare)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Implementare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2" name="Picture 1" descr="Screen Shot 2020-12-27 at 10.11.04.png">
            <a:extLst>
              <a:ext uri="{FF2B5EF4-FFF2-40B4-BE49-F238E27FC236}">
                <a16:creationId xmlns:a16="http://schemas.microsoft.com/office/drawing/2014/main" id="{590B5ABF-553D-D9E2-1045-69213269D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456" b="73682"/>
          <a:stretch>
            <a:fillRect/>
          </a:stretch>
        </p:blipFill>
        <p:spPr>
          <a:xfrm>
            <a:off x="-705123" y="4913321"/>
            <a:ext cx="2565454" cy="452674"/>
          </a:xfrm>
          <a:prstGeom prst="rect">
            <a:avLst/>
          </a:prstGeom>
        </p:spPr>
      </p:pic>
      <p:pic>
        <p:nvPicPr>
          <p:cNvPr id="3" name="Picture 2" descr="Screen Shot 2020-12-27 at 10.11.04.png">
            <a:extLst>
              <a:ext uri="{FF2B5EF4-FFF2-40B4-BE49-F238E27FC236}">
                <a16:creationId xmlns:a16="http://schemas.microsoft.com/office/drawing/2014/main" id="{0ED005FC-5563-9F04-481F-BB89297B4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t="27570"/>
          <a:stretch>
            <a:fillRect/>
          </a:stretch>
        </p:blipFill>
        <p:spPr>
          <a:xfrm>
            <a:off x="1879950" y="4718988"/>
            <a:ext cx="7654984" cy="116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9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288F8-E710-2ECF-5998-FA24D6B6D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ft-Right-Up Arrow 8">
            <a:extLst>
              <a:ext uri="{FF2B5EF4-FFF2-40B4-BE49-F238E27FC236}">
                <a16:creationId xmlns:a16="http://schemas.microsoft.com/office/drawing/2014/main" id="{84EDBF91-C651-05BD-AC24-DCB7DA03CB61}"/>
              </a:ext>
            </a:extLst>
          </p:cNvPr>
          <p:cNvSpPr/>
          <p:nvPr/>
        </p:nvSpPr>
        <p:spPr>
          <a:xfrm>
            <a:off x="3771900" y="2895600"/>
            <a:ext cx="1600200" cy="2590800"/>
          </a:xfrm>
          <a:prstGeom prst="leftRightUpArrow">
            <a:avLst>
              <a:gd name="adj1" fmla="val 18522"/>
              <a:gd name="adj2" fmla="val 19062"/>
              <a:gd name="adj3" fmla="val 19062"/>
            </a:avLst>
          </a:prstGeom>
          <a:solidFill>
            <a:srgbClr val="BD92DE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A107859-571D-66A1-8537-ADC91F9EC770}"/>
              </a:ext>
            </a:extLst>
          </p:cNvPr>
          <p:cNvSpPr/>
          <p:nvPr/>
        </p:nvSpPr>
        <p:spPr>
          <a:xfrm>
            <a:off x="5372100" y="3962400"/>
            <a:ext cx="3752118" cy="2209800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318802-54C7-8C23-4C77-25CAC0346D2E}"/>
              </a:ext>
            </a:extLst>
          </p:cNvPr>
          <p:cNvSpPr/>
          <p:nvPr/>
        </p:nvSpPr>
        <p:spPr>
          <a:xfrm>
            <a:off x="0" y="3962400"/>
            <a:ext cx="3714750" cy="2209800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6678AE-2FB7-AEA9-9EAF-654B31B48309}"/>
              </a:ext>
            </a:extLst>
          </p:cNvPr>
          <p:cNvSpPr/>
          <p:nvPr/>
        </p:nvSpPr>
        <p:spPr>
          <a:xfrm>
            <a:off x="1876044" y="1086556"/>
            <a:ext cx="6173611" cy="2325511"/>
          </a:xfrm>
          <a:prstGeom prst="roundRect">
            <a:avLst/>
          </a:prstGeom>
          <a:solidFill>
            <a:srgbClr val="C39BE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F4FB2D54-A764-6CF5-3CDC-23B78D20F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5379" y="990600"/>
            <a:ext cx="6059311" cy="3810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endParaRPr lang="en-US" sz="200" dirty="0">
              <a:latin typeface="Times New Roman"/>
              <a:cs typeface="Times New Roman"/>
            </a:endParaRPr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7030A0"/>
                </a:solidFill>
                <a:latin typeface="Times New Roman"/>
                <a:cs typeface="Times New Roman"/>
              </a:rPr>
              <a:t>def value(stare):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stare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o stare </a:t>
            </a:r>
            <a:r>
              <a:rPr lang="en-US" sz="2000" dirty="0" err="1">
                <a:latin typeface="Times New Roman"/>
                <a:cs typeface="Times New Roman"/>
              </a:rPr>
              <a:t>terminală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utilitatea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stării</a:t>
            </a:r>
            <a:endParaRPr lang="en-US" sz="2000" dirty="0">
              <a:latin typeface="Times New Roman"/>
              <a:cs typeface="Times New Roman"/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următorul</a:t>
            </a:r>
            <a:r>
              <a:rPr lang="en-US" sz="2000" dirty="0">
                <a:latin typeface="Times New Roman"/>
                <a:cs typeface="Times New Roman"/>
              </a:rPr>
              <a:t> agent care </a:t>
            </a:r>
            <a:r>
              <a:rPr lang="en-US" sz="2000" dirty="0" err="1">
                <a:latin typeface="Times New Roman"/>
                <a:cs typeface="Times New Roman"/>
              </a:rPr>
              <a:t>mută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MAX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/>
                <a:cs typeface="Times New Roman"/>
              </a:rPr>
              <a:t>max-value(stare)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următorul</a:t>
            </a:r>
            <a:r>
              <a:rPr lang="en-US" sz="2000" dirty="0">
                <a:latin typeface="Times New Roman"/>
                <a:cs typeface="Times New Roman"/>
              </a:rPr>
              <a:t> agent care </a:t>
            </a:r>
            <a:r>
              <a:rPr lang="en-US" sz="2000" dirty="0" err="1">
                <a:latin typeface="Times New Roman"/>
                <a:cs typeface="Times New Roman"/>
              </a:rPr>
              <a:t>mută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/>
                <a:cs typeface="Times New Roman"/>
              </a:rPr>
              <a:t>MIN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dirty="0" err="1">
                <a:latin typeface="Times New Roman"/>
                <a:cs typeface="Times New Roman"/>
              </a:rPr>
              <a:t>returnează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Times New Roman"/>
                <a:cs typeface="Times New Roman"/>
              </a:rPr>
              <a:t>min-value(stare)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512CCF-727F-C7E1-55F5-CEEE5BD000DF}"/>
              </a:ext>
            </a:extLst>
          </p:cNvPr>
          <p:cNvSpPr txBox="1">
            <a:spLocks/>
          </p:cNvSpPr>
          <p:nvPr/>
        </p:nvSpPr>
        <p:spPr bwMode="auto">
          <a:xfrm>
            <a:off x="5414433" y="4027312"/>
            <a:ext cx="3888343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 defTabSz="914400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sz="2400" kern="0" dirty="0">
                <a:solidFill>
                  <a:srgbClr val="C00000"/>
                </a:solidFill>
                <a:latin typeface="Times New Roman"/>
                <a:cs typeface="Times New Roman"/>
              </a:rPr>
              <a:t>def min-value(stare):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initializează</a:t>
            </a:r>
            <a:r>
              <a:rPr lang="en-US" sz="2000" kern="0" dirty="0">
                <a:latin typeface="Times New Roman"/>
                <a:cs typeface="Times New Roman"/>
              </a:rPr>
              <a:t> v = +∞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pentru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fiecare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succesor</a:t>
            </a:r>
            <a:r>
              <a:rPr lang="en-US" sz="2000" kern="0" dirty="0">
                <a:latin typeface="Times New Roman"/>
                <a:cs typeface="Times New Roman"/>
              </a:rPr>
              <a:t> al </a:t>
            </a:r>
            <a:r>
              <a:rPr lang="en-US" sz="2000" kern="0" dirty="0" err="1">
                <a:latin typeface="Times New Roman"/>
                <a:cs typeface="Times New Roman"/>
              </a:rPr>
              <a:t>stării</a:t>
            </a:r>
            <a:r>
              <a:rPr lang="en-US" sz="2000" kern="0" dirty="0">
                <a:latin typeface="Times New Roman"/>
                <a:cs typeface="Times New Roman"/>
              </a:rPr>
              <a:t>:</a:t>
            </a:r>
          </a:p>
          <a:p>
            <a:pPr marL="1142942" lvl="2" indent="-228589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kern="0" dirty="0">
                <a:latin typeface="Times New Roman"/>
                <a:cs typeface="Times New Roman"/>
              </a:rPr>
              <a:t>v = min(v, </a:t>
            </a:r>
            <a:r>
              <a:rPr lang="en-US" kern="0" dirty="0">
                <a:solidFill>
                  <a:srgbClr val="0070C0"/>
                </a:solidFill>
                <a:latin typeface="Times New Roman"/>
                <a:cs typeface="Times New Roman"/>
              </a:rPr>
              <a:t>value(successor)</a:t>
            </a:r>
            <a:r>
              <a:rPr lang="en-US" kern="0" dirty="0">
                <a:latin typeface="Times New Roman"/>
                <a:cs typeface="Times New Roman"/>
              </a:rPr>
              <a:t>)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returnează</a:t>
            </a:r>
            <a:r>
              <a:rPr lang="en-US" sz="2000" kern="0" dirty="0">
                <a:latin typeface="Times New Roman"/>
                <a:cs typeface="Times New Roman"/>
              </a:rPr>
              <a:t> v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090A95F-74CD-1415-B632-5D698C05DF86}"/>
              </a:ext>
            </a:extLst>
          </p:cNvPr>
          <p:cNvSpPr txBox="1">
            <a:spLocks/>
          </p:cNvSpPr>
          <p:nvPr/>
        </p:nvSpPr>
        <p:spPr bwMode="auto">
          <a:xfrm>
            <a:off x="-72697" y="4016023"/>
            <a:ext cx="4122587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lvl="0" indent="-342882" defTabSz="914400" fontAlgn="base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sz="2400" kern="0" dirty="0" err="1">
                <a:solidFill>
                  <a:srgbClr val="0070C0"/>
                </a:solidFill>
                <a:latin typeface="Times New Roman"/>
                <a:cs typeface="Times New Roman"/>
              </a:rPr>
              <a:t>def</a:t>
            </a:r>
            <a:r>
              <a:rPr lang="en-US" sz="2400" kern="0" dirty="0">
                <a:solidFill>
                  <a:srgbClr val="0070C0"/>
                </a:solidFill>
                <a:latin typeface="Times New Roman"/>
                <a:cs typeface="Times New Roman"/>
              </a:rPr>
              <a:t> max-value(stare):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initializează</a:t>
            </a:r>
            <a:r>
              <a:rPr lang="en-US" sz="2000" kern="0" dirty="0">
                <a:latin typeface="Times New Roman"/>
                <a:cs typeface="Times New Roman"/>
              </a:rPr>
              <a:t> v = -∞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pentru</a:t>
            </a:r>
            <a:r>
              <a:rPr lang="en-US" sz="2000" kern="0" dirty="0">
                <a:latin typeface="Times New Roman"/>
                <a:cs typeface="Times New Roman"/>
              </a:rPr>
              <a:t> </a:t>
            </a:r>
            <a:r>
              <a:rPr lang="en-US" sz="2000" kern="0" dirty="0" err="1">
                <a:latin typeface="Times New Roman"/>
                <a:cs typeface="Times New Roman"/>
              </a:rPr>
              <a:t>fiecare</a:t>
            </a:r>
            <a:r>
              <a:rPr lang="en-US" sz="2000" kern="0" dirty="0">
                <a:latin typeface="Times New Roman"/>
                <a:cs typeface="Times New Roman"/>
              </a:rPr>
              <a:t> successor al </a:t>
            </a:r>
            <a:r>
              <a:rPr lang="en-US" sz="2000" kern="0" dirty="0" err="1">
                <a:latin typeface="Times New Roman"/>
                <a:cs typeface="Times New Roman"/>
              </a:rPr>
              <a:t>starii</a:t>
            </a:r>
            <a:r>
              <a:rPr lang="en-US" sz="2000" kern="0" dirty="0">
                <a:latin typeface="Times New Roman"/>
                <a:cs typeface="Times New Roman"/>
              </a:rPr>
              <a:t>:</a:t>
            </a:r>
          </a:p>
          <a:p>
            <a:pPr marL="1142942" lvl="2" indent="-228589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kern="0" dirty="0">
                <a:latin typeface="Times New Roman"/>
                <a:cs typeface="Times New Roman"/>
              </a:rPr>
              <a:t>v = max(v, </a:t>
            </a:r>
            <a:r>
              <a:rPr lang="en-US" kern="0" dirty="0">
                <a:solidFill>
                  <a:srgbClr val="C00000"/>
                </a:solidFill>
                <a:latin typeface="Times New Roman"/>
                <a:cs typeface="Times New Roman"/>
              </a:rPr>
              <a:t>value(successor)</a:t>
            </a:r>
            <a:r>
              <a:rPr lang="en-US" kern="0" dirty="0">
                <a:latin typeface="Times New Roman"/>
                <a:cs typeface="Times New Roman"/>
              </a:rPr>
              <a:t>)</a:t>
            </a:r>
          </a:p>
          <a:p>
            <a:pPr marL="742913" lvl="1" indent="-285737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2000" kern="0" dirty="0" err="1">
                <a:latin typeface="Times New Roman"/>
                <a:cs typeface="Times New Roman"/>
              </a:rPr>
              <a:t>returnează</a:t>
            </a:r>
            <a:r>
              <a:rPr lang="en-US" sz="2000" kern="0" dirty="0">
                <a:latin typeface="Times New Roman"/>
                <a:cs typeface="Times New Roman"/>
              </a:rPr>
              <a:t> v</a:t>
            </a: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27CAA43-2FAD-7846-FC98-A62CBCBA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Implementare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4E2CFF-748B-EDAC-96C6-9D5EFCA1A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9" y="6321604"/>
            <a:ext cx="3640461" cy="536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E7FE59-EB6A-2A5D-ABE5-3CC826FBC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27" y="6267599"/>
            <a:ext cx="3876673" cy="57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1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CD20A0-DB7A-9D41-AF02-B54EB013E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Autofit/>
          </a:bodyPr>
          <a:lstStyle/>
          <a:p>
            <a:r>
              <a:rPr lang="en-US" sz="4300" dirty="0" err="1">
                <a:latin typeface="Times New Roman"/>
                <a:cs typeface="Times New Roman"/>
              </a:rPr>
              <a:t>Implementare</a:t>
            </a:r>
            <a:r>
              <a:rPr lang="en-US" sz="4300" dirty="0">
                <a:latin typeface="Times New Roman"/>
                <a:cs typeface="Times New Roman"/>
              </a:rPr>
              <a:t> </a:t>
            </a:r>
            <a:r>
              <a:rPr lang="en-US" sz="4300" dirty="0" err="1">
                <a:latin typeface="Times New Roman"/>
                <a:cs typeface="Times New Roman"/>
              </a:rPr>
              <a:t>MiniMax</a:t>
            </a:r>
            <a:r>
              <a:rPr lang="en-US" sz="4300" dirty="0">
                <a:latin typeface="Times New Roman"/>
                <a:cs typeface="Times New Roman"/>
              </a:rPr>
              <a:t> (pe tot </a:t>
            </a:r>
            <a:r>
              <a:rPr lang="en-US" sz="4300" dirty="0" err="1">
                <a:latin typeface="Times New Roman"/>
                <a:cs typeface="Times New Roman"/>
              </a:rPr>
              <a:t>arborele</a:t>
            </a:r>
            <a:r>
              <a:rPr lang="en-US" sz="4300" dirty="0">
                <a:latin typeface="Times New Roman"/>
                <a:cs typeface="Times New Roman"/>
              </a:rPr>
              <a:t>)</a:t>
            </a:r>
          </a:p>
        </p:txBody>
      </p:sp>
      <p:pic>
        <p:nvPicPr>
          <p:cNvPr id="6" name="Picture 5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FCB9F397-968A-9634-6858-0CEA725BD9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15" b="20858"/>
          <a:stretch>
            <a:fillRect/>
          </a:stretch>
        </p:blipFill>
        <p:spPr>
          <a:xfrm>
            <a:off x="300266" y="1360448"/>
            <a:ext cx="8543467" cy="308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70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Exemplul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MiniMax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21507" name="AutoShape 4"/>
          <p:cNvSpPr>
            <a:spLocks noChangeArrowheads="1"/>
          </p:cNvSpPr>
          <p:nvPr/>
        </p:nvSpPr>
        <p:spPr bwMode="auto">
          <a:xfrm>
            <a:off x="4270375" y="2209800"/>
            <a:ext cx="381000" cy="304800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1981200" y="3765550"/>
            <a:ext cx="381000" cy="1187450"/>
            <a:chOff x="1981200" y="3765550"/>
            <a:chExt cx="381000" cy="1187450"/>
          </a:xfrm>
        </p:grpSpPr>
        <p:cxnSp>
          <p:nvCxnSpPr>
            <p:cNvPr id="21550" name="AutoShape 13"/>
            <p:cNvCxnSpPr>
              <a:cxnSpLocks noChangeShapeType="1"/>
              <a:stCxn id="21542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51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173288" y="3765550"/>
            <a:ext cx="950912" cy="1187450"/>
            <a:chOff x="2173288" y="3765550"/>
            <a:chExt cx="950912" cy="1187450"/>
          </a:xfrm>
        </p:grpSpPr>
        <p:cxnSp>
          <p:nvCxnSpPr>
            <p:cNvPr id="21548" name="AutoShape 17"/>
            <p:cNvCxnSpPr>
              <a:cxnSpLocks noChangeShapeType="1"/>
              <a:stCxn id="21542" idx="0"/>
            </p:cNvCxnSpPr>
            <p:nvPr/>
          </p:nvCxnSpPr>
          <p:spPr bwMode="auto">
            <a:xfrm>
              <a:off x="2173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9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6553200" y="3765550"/>
            <a:ext cx="381000" cy="1187450"/>
            <a:chOff x="6553200" y="3765550"/>
            <a:chExt cx="381000" cy="1187450"/>
          </a:xfrm>
        </p:grpSpPr>
        <p:cxnSp>
          <p:nvCxnSpPr>
            <p:cNvPr id="21546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7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6745288" y="3765550"/>
            <a:ext cx="950912" cy="1187450"/>
            <a:chOff x="6745288" y="3765550"/>
            <a:chExt cx="950912" cy="1187450"/>
          </a:xfrm>
        </p:grpSpPr>
        <p:cxnSp>
          <p:nvCxnSpPr>
            <p:cNvPr id="21544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5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1984375" y="2538117"/>
            <a:ext cx="2476500" cy="1227433"/>
            <a:chOff x="1984375" y="2538117"/>
            <a:chExt cx="2476501" cy="1227433"/>
          </a:xfrm>
        </p:grpSpPr>
        <p:sp>
          <p:nvSpPr>
            <p:cNvPr id="21542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43" name="AutoShape 7"/>
            <p:cNvCxnSpPr>
              <a:cxnSpLocks noChangeShapeType="1"/>
              <a:stCxn id="21507" idx="3"/>
              <a:endCxn id="21542" idx="3"/>
            </p:cNvCxnSpPr>
            <p:nvPr/>
          </p:nvCxnSpPr>
          <p:spPr bwMode="auto">
            <a:xfrm flipH="1">
              <a:off x="2174875" y="2538117"/>
              <a:ext cx="2286001" cy="92263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21542" idx="0"/>
          </p:cNvCxnSpPr>
          <p:nvPr/>
        </p:nvCxnSpPr>
        <p:spPr bwMode="auto">
          <a:xfrm flipH="1">
            <a:off x="1412876" y="3765552"/>
            <a:ext cx="760413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219200" y="4648200"/>
            <a:ext cx="38100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4304507" y="2666207"/>
            <a:ext cx="304800" cy="1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020094" y="3913982"/>
            <a:ext cx="304800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21542" idx="0"/>
          </p:cNvCxnSpPr>
          <p:nvPr/>
        </p:nvCxnSpPr>
        <p:spPr bwMode="auto">
          <a:xfrm rot="16200000" flipH="1">
            <a:off x="2170113" y="3770312"/>
            <a:ext cx="196850" cy="187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4270375" y="2538117"/>
            <a:ext cx="381000" cy="1211560"/>
            <a:chOff x="4270375" y="2538115"/>
            <a:chExt cx="381000" cy="1211560"/>
          </a:xfrm>
        </p:grpSpPr>
        <p:sp>
          <p:nvSpPr>
            <p:cNvPr id="21540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D9969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41" name="AutoShape 21"/>
            <p:cNvCxnSpPr>
              <a:cxnSpLocks noChangeShapeType="1"/>
              <a:stCxn id="21507" idx="3"/>
              <a:endCxn id="21540" idx="3"/>
            </p:cNvCxnSpPr>
            <p:nvPr/>
          </p:nvCxnSpPr>
          <p:spPr bwMode="auto">
            <a:xfrm>
              <a:off x="4460875" y="2538115"/>
              <a:ext cx="0" cy="90676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3505200" y="3762377"/>
            <a:ext cx="1143000" cy="1190625"/>
            <a:chOff x="3505200" y="3762375"/>
            <a:chExt cx="1142999" cy="1190625"/>
          </a:xfrm>
        </p:grpSpPr>
        <p:cxnSp>
          <p:nvCxnSpPr>
            <p:cNvPr id="21536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37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21538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39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4460875" y="2538117"/>
            <a:ext cx="2476500" cy="1227433"/>
            <a:chOff x="4460875" y="2538117"/>
            <a:chExt cx="2476500" cy="1227433"/>
          </a:xfrm>
        </p:grpSpPr>
        <p:sp>
          <p:nvSpPr>
            <p:cNvPr id="21534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D9969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35" name="AutoShape 27"/>
            <p:cNvCxnSpPr>
              <a:cxnSpLocks noChangeShapeType="1"/>
              <a:stCxn id="21507" idx="3"/>
              <a:endCxn id="21534" idx="3"/>
            </p:cNvCxnSpPr>
            <p:nvPr/>
          </p:nvCxnSpPr>
          <p:spPr bwMode="auto">
            <a:xfrm>
              <a:off x="4460875" y="2538117"/>
              <a:ext cx="2286000" cy="92263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5791200" y="3762377"/>
            <a:ext cx="1143000" cy="1190625"/>
            <a:chOff x="5791200" y="3762375"/>
            <a:chExt cx="1142999" cy="1190625"/>
          </a:xfrm>
        </p:grpSpPr>
        <p:cxnSp>
          <p:nvCxnSpPr>
            <p:cNvPr id="21530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31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21532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33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4267200" y="3765550"/>
            <a:ext cx="381000" cy="1187450"/>
            <a:chOff x="6553200" y="3765550"/>
            <a:chExt cx="381000" cy="1187450"/>
          </a:xfrm>
        </p:grpSpPr>
        <p:cxnSp>
          <p:nvCxnSpPr>
            <p:cNvPr id="21528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29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4459288" y="3765550"/>
            <a:ext cx="950912" cy="1187450"/>
            <a:chOff x="6745288" y="3765550"/>
            <a:chExt cx="950912" cy="1187450"/>
          </a:xfrm>
        </p:grpSpPr>
        <p:cxnSp>
          <p:nvCxnSpPr>
            <p:cNvPr id="21526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27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0" y="2194089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3348230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107404179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Exemplul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MiniMax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21507" name="AutoShape 4"/>
          <p:cNvSpPr>
            <a:spLocks noChangeArrowheads="1"/>
          </p:cNvSpPr>
          <p:nvPr/>
        </p:nvSpPr>
        <p:spPr bwMode="auto">
          <a:xfrm>
            <a:off x="4270375" y="2209800"/>
            <a:ext cx="381000" cy="304800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1981200" y="3765550"/>
            <a:ext cx="381000" cy="1187450"/>
            <a:chOff x="1981200" y="3765550"/>
            <a:chExt cx="381000" cy="1187450"/>
          </a:xfrm>
        </p:grpSpPr>
        <p:cxnSp>
          <p:nvCxnSpPr>
            <p:cNvPr id="21550" name="AutoShape 13"/>
            <p:cNvCxnSpPr>
              <a:cxnSpLocks noChangeShapeType="1"/>
              <a:stCxn id="21542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51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173288" y="3765550"/>
            <a:ext cx="950912" cy="1187450"/>
            <a:chOff x="2173288" y="3765550"/>
            <a:chExt cx="950912" cy="1187450"/>
          </a:xfrm>
        </p:grpSpPr>
        <p:cxnSp>
          <p:nvCxnSpPr>
            <p:cNvPr id="21548" name="AutoShape 17"/>
            <p:cNvCxnSpPr>
              <a:cxnSpLocks noChangeShapeType="1"/>
              <a:stCxn id="21542" idx="0"/>
            </p:cNvCxnSpPr>
            <p:nvPr/>
          </p:nvCxnSpPr>
          <p:spPr bwMode="auto">
            <a:xfrm>
              <a:off x="2173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9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6553200" y="3765550"/>
            <a:ext cx="381000" cy="1187450"/>
            <a:chOff x="6553200" y="3765550"/>
            <a:chExt cx="381000" cy="1187450"/>
          </a:xfrm>
        </p:grpSpPr>
        <p:cxnSp>
          <p:nvCxnSpPr>
            <p:cNvPr id="21546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7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6745288" y="3765550"/>
            <a:ext cx="950912" cy="1187450"/>
            <a:chOff x="6745288" y="3765550"/>
            <a:chExt cx="950912" cy="1187450"/>
          </a:xfrm>
        </p:grpSpPr>
        <p:cxnSp>
          <p:nvCxnSpPr>
            <p:cNvPr id="21544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5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1984375" y="2538117"/>
            <a:ext cx="2476500" cy="1227433"/>
            <a:chOff x="1984375" y="2538117"/>
            <a:chExt cx="2476501" cy="1227433"/>
          </a:xfrm>
        </p:grpSpPr>
        <p:sp>
          <p:nvSpPr>
            <p:cNvPr id="21542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43" name="AutoShape 7"/>
            <p:cNvCxnSpPr>
              <a:cxnSpLocks noChangeShapeType="1"/>
              <a:stCxn id="21507" idx="3"/>
              <a:endCxn id="21542" idx="3"/>
            </p:cNvCxnSpPr>
            <p:nvPr/>
          </p:nvCxnSpPr>
          <p:spPr bwMode="auto">
            <a:xfrm flipH="1">
              <a:off x="2174875" y="2538117"/>
              <a:ext cx="2286001" cy="92263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21542" idx="0"/>
          </p:cNvCxnSpPr>
          <p:nvPr/>
        </p:nvCxnSpPr>
        <p:spPr bwMode="auto">
          <a:xfrm flipH="1">
            <a:off x="1412876" y="3765552"/>
            <a:ext cx="760413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219200" y="4648200"/>
            <a:ext cx="38100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4304507" y="2666207"/>
            <a:ext cx="304800" cy="1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020094" y="3913982"/>
            <a:ext cx="304800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21542" idx="0"/>
          </p:cNvCxnSpPr>
          <p:nvPr/>
        </p:nvCxnSpPr>
        <p:spPr bwMode="auto">
          <a:xfrm rot="16200000" flipH="1">
            <a:off x="2170113" y="3770312"/>
            <a:ext cx="196850" cy="187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4270375" y="2538117"/>
            <a:ext cx="381000" cy="1211560"/>
            <a:chOff x="4270375" y="2538115"/>
            <a:chExt cx="381000" cy="1211560"/>
          </a:xfrm>
        </p:grpSpPr>
        <p:sp>
          <p:nvSpPr>
            <p:cNvPr id="21540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D9969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41" name="AutoShape 21"/>
            <p:cNvCxnSpPr>
              <a:cxnSpLocks noChangeShapeType="1"/>
              <a:stCxn id="21507" idx="3"/>
              <a:endCxn id="21540" idx="3"/>
            </p:cNvCxnSpPr>
            <p:nvPr/>
          </p:nvCxnSpPr>
          <p:spPr bwMode="auto">
            <a:xfrm>
              <a:off x="4460875" y="2538115"/>
              <a:ext cx="0" cy="90676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3505200" y="3762377"/>
            <a:ext cx="1143000" cy="1190625"/>
            <a:chOff x="3505200" y="3762375"/>
            <a:chExt cx="1142999" cy="1190625"/>
          </a:xfrm>
        </p:grpSpPr>
        <p:cxnSp>
          <p:nvCxnSpPr>
            <p:cNvPr id="21536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37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21538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39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4460875" y="2538117"/>
            <a:ext cx="2476500" cy="1227433"/>
            <a:chOff x="4460875" y="2538117"/>
            <a:chExt cx="2476500" cy="1227433"/>
          </a:xfrm>
        </p:grpSpPr>
        <p:sp>
          <p:nvSpPr>
            <p:cNvPr id="21534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D9969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35" name="AutoShape 27"/>
            <p:cNvCxnSpPr>
              <a:cxnSpLocks noChangeShapeType="1"/>
              <a:stCxn id="21507" idx="3"/>
              <a:endCxn id="21534" idx="3"/>
            </p:cNvCxnSpPr>
            <p:nvPr/>
          </p:nvCxnSpPr>
          <p:spPr bwMode="auto">
            <a:xfrm>
              <a:off x="4460875" y="2538117"/>
              <a:ext cx="2286000" cy="92263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5791200" y="3762377"/>
            <a:ext cx="1143000" cy="1190625"/>
            <a:chOff x="5791200" y="3762375"/>
            <a:chExt cx="1142999" cy="1190625"/>
          </a:xfrm>
        </p:grpSpPr>
        <p:cxnSp>
          <p:nvCxnSpPr>
            <p:cNvPr id="21530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31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21532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33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4267200" y="3765550"/>
            <a:ext cx="381000" cy="1187450"/>
            <a:chOff x="6553200" y="3765550"/>
            <a:chExt cx="381000" cy="1187450"/>
          </a:xfrm>
        </p:grpSpPr>
        <p:cxnSp>
          <p:nvCxnSpPr>
            <p:cNvPr id="21528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29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4459288" y="3765550"/>
            <a:ext cx="950912" cy="1187450"/>
            <a:chOff x="6745288" y="3765550"/>
            <a:chExt cx="950912" cy="1187450"/>
          </a:xfrm>
        </p:grpSpPr>
        <p:cxnSp>
          <p:nvCxnSpPr>
            <p:cNvPr id="21526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27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033867" y="3373807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8201" y="3362256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267" y="3380826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8352" y="2209800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194089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3348230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26816640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13" grpId="0"/>
      <p:bldP spid="48" grpId="0"/>
      <p:bldP spid="48" grpId="1"/>
      <p:bldP spid="49" grpId="0"/>
      <p:bldP spid="49" grpId="1"/>
      <p:bldP spid="49" grpId="2"/>
      <p:bldP spid="50" grpId="0"/>
      <p:bldP spid="50" grpId="1"/>
      <p:bldP spid="50" grpId="2"/>
      <p:bldP spid="50" grpId="3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Exemplul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MiniMax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89676" y="1005485"/>
            <a:ext cx="7696200" cy="2758913"/>
            <a:chOff x="0" y="2194089"/>
            <a:chExt cx="7696200" cy="2758913"/>
          </a:xfrm>
        </p:grpSpPr>
        <p:sp>
          <p:nvSpPr>
            <p:cNvPr id="21507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21550" name="AutoShape 13"/>
              <p:cNvCxnSpPr>
                <a:cxnSpLocks noChangeShapeType="1"/>
                <a:stCxn id="21542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1551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21548" name="AutoShape 17"/>
              <p:cNvCxnSpPr>
                <a:cxnSpLocks noChangeShapeType="1"/>
                <a:stCxn id="21542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1549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4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21546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1547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21544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1545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1984375" y="2538117"/>
              <a:ext cx="2476500" cy="1227433"/>
              <a:chOff x="1984375" y="2538117"/>
              <a:chExt cx="2476501" cy="1227433"/>
            </a:xfrm>
          </p:grpSpPr>
          <p:sp>
            <p:nvSpPr>
              <p:cNvPr id="21542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1543" name="AutoShape 7"/>
              <p:cNvCxnSpPr>
                <a:cxnSpLocks noChangeShapeType="1"/>
                <a:stCxn id="21507" idx="3"/>
                <a:endCxn id="21542" idx="3"/>
              </p:cNvCxnSpPr>
              <p:nvPr/>
            </p:nvCxnSpPr>
            <p:spPr bwMode="auto">
              <a:xfrm flipH="1">
                <a:off x="2174875" y="2538117"/>
                <a:ext cx="2286001" cy="922633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20" name="AutoShape 9"/>
            <p:cNvCxnSpPr>
              <a:cxnSpLocks noChangeShapeType="1"/>
              <a:stCxn id="21542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1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cxnSp>
          <p:nvCxnSpPr>
            <p:cNvPr id="67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4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5" name="AutoShape 21"/>
            <p:cNvCxnSpPr>
              <a:cxnSpLocks noChangeShapeType="1"/>
              <a:stCxn id="21542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7" name="Group 59"/>
            <p:cNvGrpSpPr>
              <a:grpSpLocks/>
            </p:cNvGrpSpPr>
            <p:nvPr/>
          </p:nvGrpSpPr>
          <p:grpSpPr bwMode="auto">
            <a:xfrm>
              <a:off x="4270375" y="2538117"/>
              <a:ext cx="381000" cy="1211560"/>
              <a:chOff x="4270375" y="2538115"/>
              <a:chExt cx="381000" cy="1211560"/>
            </a:xfrm>
          </p:grpSpPr>
          <p:sp>
            <p:nvSpPr>
              <p:cNvPr id="21540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1541" name="AutoShape 21"/>
              <p:cNvCxnSpPr>
                <a:cxnSpLocks noChangeShapeType="1"/>
                <a:stCxn id="21507" idx="3"/>
                <a:endCxn id="21540" idx="3"/>
              </p:cNvCxnSpPr>
              <p:nvPr/>
            </p:nvCxnSpPr>
            <p:spPr bwMode="auto">
              <a:xfrm>
                <a:off x="4460875" y="2538115"/>
                <a:ext cx="0" cy="90676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8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21536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1537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21538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1539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9" name="Group 61"/>
            <p:cNvGrpSpPr>
              <a:grpSpLocks/>
            </p:cNvGrpSpPr>
            <p:nvPr/>
          </p:nvGrpSpPr>
          <p:grpSpPr bwMode="auto">
            <a:xfrm>
              <a:off x="4460875" y="2538117"/>
              <a:ext cx="2476500" cy="1227433"/>
              <a:chOff x="4460875" y="2538117"/>
              <a:chExt cx="2476500" cy="1227433"/>
            </a:xfrm>
          </p:grpSpPr>
          <p:sp>
            <p:nvSpPr>
              <p:cNvPr id="21534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1535" name="AutoShape 27"/>
              <p:cNvCxnSpPr>
                <a:cxnSpLocks noChangeShapeType="1"/>
                <a:stCxn id="21507" idx="3"/>
                <a:endCxn id="21534" idx="3"/>
              </p:cNvCxnSpPr>
              <p:nvPr/>
            </p:nvCxnSpPr>
            <p:spPr bwMode="auto">
              <a:xfrm>
                <a:off x="4460875" y="2538117"/>
                <a:ext cx="2286000" cy="922633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10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21530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1531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21532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1533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11" name="Group 64"/>
            <p:cNvGrpSpPr>
              <a:grpSpLocks/>
            </p:cNvGrpSpPr>
            <p:nvPr/>
          </p:nvGrpSpPr>
          <p:grpSpPr bwMode="auto">
            <a:xfrm>
              <a:off x="4267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21528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1529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4</a:t>
                </a:r>
              </a:p>
            </p:txBody>
          </p:sp>
        </p:grpSp>
        <p:grpSp>
          <p:nvGrpSpPr>
            <p:cNvPr id="12" name="Group 65"/>
            <p:cNvGrpSpPr>
              <a:grpSpLocks/>
            </p:cNvGrpSpPr>
            <p:nvPr/>
          </p:nvGrpSpPr>
          <p:grpSpPr bwMode="auto">
            <a:xfrm>
              <a:off x="4459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21526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1527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6</a:t>
                </a: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318201" y="3362256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601267" y="3380826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328352" y="2209800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0" y="2194089"/>
              <a:ext cx="2278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/>
                  <a:cs typeface="Times New Roman"/>
                </a:rPr>
                <a:t>MAX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0" y="3348230"/>
              <a:ext cx="2278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Times New Roman"/>
                  <a:cs typeface="Times New Roman"/>
                </a:rPr>
                <a:t>MIN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00233" y="4023710"/>
            <a:ext cx="8885263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dirty="0" err="1">
                <a:latin typeface="Times New Roman"/>
                <a:cs typeface="Times New Roman"/>
              </a:rPr>
              <a:t>valorile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pozițiilor</a:t>
            </a:r>
            <a:r>
              <a:rPr lang="en-US" dirty="0">
                <a:latin typeface="Times New Roman"/>
                <a:cs typeface="Times New Roman"/>
              </a:rPr>
              <a:t> de la </a:t>
            </a:r>
            <a:r>
              <a:rPr lang="en-US" dirty="0" err="1">
                <a:latin typeface="Times New Roman"/>
                <a:cs typeface="Times New Roman"/>
              </a:rPr>
              <a:t>ultimul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nivel</a:t>
            </a:r>
            <a:r>
              <a:rPr lang="en-US" dirty="0">
                <a:latin typeface="Times New Roman"/>
                <a:cs typeface="Times New Roman"/>
              </a:rPr>
              <a:t> sunt determinate de </a:t>
            </a:r>
            <a:r>
              <a:rPr lang="en-US" dirty="0" err="1">
                <a:latin typeface="Times New Roman"/>
                <a:cs typeface="Times New Roman"/>
              </a:rPr>
              <a:t>către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funcția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utilitate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se </a:t>
            </a:r>
            <a:r>
              <a:rPr lang="en-US" dirty="0" err="1">
                <a:latin typeface="Times New Roman"/>
                <a:cs typeface="Times New Roman"/>
              </a:rPr>
              <a:t>numesc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valori</a:t>
            </a:r>
            <a:r>
              <a:rPr lang="en-US" dirty="0">
                <a:latin typeface="Times New Roman"/>
                <a:cs typeface="Times New Roman"/>
              </a:rPr>
              <a:t> statice (se </a:t>
            </a:r>
            <a:r>
              <a:rPr lang="en-US" dirty="0" err="1">
                <a:latin typeface="Times New Roman"/>
                <a:cs typeface="Times New Roman"/>
              </a:rPr>
              <a:t>realizează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evaluări</a:t>
            </a:r>
            <a:r>
              <a:rPr lang="en-US" dirty="0">
                <a:latin typeface="Times New Roman"/>
                <a:cs typeface="Times New Roman"/>
              </a:rPr>
              <a:t> statice). 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 err="1">
                <a:latin typeface="Times New Roman"/>
                <a:cs typeface="Times New Roman"/>
              </a:rPr>
              <a:t>valorile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nodurilor</a:t>
            </a:r>
            <a:r>
              <a:rPr lang="en-US" dirty="0">
                <a:latin typeface="Times New Roman"/>
                <a:cs typeface="Times New Roman"/>
              </a:rPr>
              <a:t> interne </a:t>
            </a:r>
            <a:r>
              <a:rPr lang="en-US" dirty="0" err="1">
                <a:latin typeface="Times New Roman"/>
                <a:cs typeface="Times New Roman"/>
              </a:rPr>
              <a:t>sunt</a:t>
            </a:r>
            <a:r>
              <a:rPr lang="en-US" dirty="0">
                <a:latin typeface="Times New Roman"/>
                <a:cs typeface="Times New Roman"/>
              </a:rPr>
              <a:t> calculate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mod </a:t>
            </a:r>
            <a:r>
              <a:rPr lang="en-US" dirty="0" err="1">
                <a:latin typeface="Times New Roman"/>
                <a:cs typeface="Times New Roman"/>
              </a:rPr>
              <a:t>dinamic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manieră</a:t>
            </a:r>
            <a:r>
              <a:rPr lang="en-US" dirty="0">
                <a:latin typeface="Times New Roman"/>
                <a:cs typeface="Times New Roman"/>
              </a:rPr>
              <a:t> bottom-up, </a:t>
            </a:r>
            <a:r>
              <a:rPr lang="en-US" dirty="0" err="1">
                <a:latin typeface="Times New Roman"/>
                <a:cs typeface="Times New Roman"/>
              </a:rPr>
              <a:t>nivel</a:t>
            </a:r>
            <a:r>
              <a:rPr lang="en-US" dirty="0">
                <a:latin typeface="Times New Roman"/>
                <a:cs typeface="Times New Roman"/>
              </a:rPr>
              <a:t> cu </a:t>
            </a:r>
            <a:r>
              <a:rPr lang="en-US" dirty="0" err="1">
                <a:latin typeface="Times New Roman"/>
                <a:cs typeface="Times New Roman"/>
              </a:rPr>
              <a:t>nivel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până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atins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nodul-rădăcină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rezultată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3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prin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bună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mutare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lui</a:t>
            </a:r>
            <a:r>
              <a:rPr lang="en-US" dirty="0">
                <a:latin typeface="Times New Roman"/>
                <a:cs typeface="Times New Roman"/>
              </a:rPr>
              <a:t> MAX din </a:t>
            </a:r>
            <a:r>
              <a:rPr lang="en-US" dirty="0" err="1">
                <a:latin typeface="Times New Roman"/>
                <a:cs typeface="Times New Roman"/>
              </a:rPr>
              <a:t>poziția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curentă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mutarea</a:t>
            </a:r>
            <a:r>
              <a:rPr lang="en-US" dirty="0">
                <a:latin typeface="Times New Roman"/>
                <a:cs typeface="Times New Roman"/>
              </a:rPr>
              <a:t> la </a:t>
            </a:r>
            <a:r>
              <a:rPr lang="en-US" dirty="0" err="1">
                <a:latin typeface="Times New Roman"/>
                <a:cs typeface="Times New Roman"/>
              </a:rPr>
              <a:t>stânga</a:t>
            </a:r>
            <a:r>
              <a:rPr lang="en-US" dirty="0">
                <a:latin typeface="Times New Roman"/>
                <a:cs typeface="Times New Roman"/>
              </a:rPr>
              <a:t>. </a:t>
            </a:r>
            <a:r>
              <a:rPr lang="en-US" dirty="0" err="1">
                <a:latin typeface="Times New Roman"/>
                <a:cs typeface="Times New Roman"/>
              </a:rPr>
              <a:t>Cel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bun </a:t>
            </a:r>
            <a:r>
              <a:rPr lang="en-US" dirty="0" err="1">
                <a:latin typeface="Times New Roman"/>
                <a:cs typeface="Times New Roman"/>
              </a:rPr>
              <a:t>răspuns</a:t>
            </a:r>
            <a:r>
              <a:rPr lang="en-US" dirty="0">
                <a:latin typeface="Times New Roman"/>
                <a:cs typeface="Times New Roman"/>
              </a:rPr>
              <a:t> al </a:t>
            </a:r>
            <a:r>
              <a:rPr lang="en-US" dirty="0" err="1">
                <a:latin typeface="Times New Roman"/>
                <a:cs typeface="Times New Roman"/>
              </a:rPr>
              <a:t>lui</a:t>
            </a:r>
            <a:r>
              <a:rPr lang="en-US" dirty="0">
                <a:latin typeface="Times New Roman"/>
                <a:cs typeface="Times New Roman"/>
              </a:rPr>
              <a:t> MIN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mutarea</a:t>
            </a:r>
            <a:r>
              <a:rPr lang="en-US" dirty="0">
                <a:latin typeface="Times New Roman"/>
                <a:cs typeface="Times New Roman"/>
              </a:rPr>
              <a:t> la </a:t>
            </a:r>
            <a:r>
              <a:rPr lang="en-US" dirty="0" err="1">
                <a:latin typeface="Times New Roman"/>
                <a:cs typeface="Times New Roman"/>
              </a:rPr>
              <a:t>stânga</a:t>
            </a:r>
            <a:r>
              <a:rPr lang="en-US" dirty="0">
                <a:latin typeface="Times New Roman"/>
                <a:cs typeface="Times New Roman"/>
              </a:rPr>
              <a:t>. </a:t>
            </a:r>
            <a:r>
              <a:rPr lang="en-US" dirty="0" err="1">
                <a:latin typeface="Times New Roman"/>
                <a:cs typeface="Times New Roman"/>
              </a:rPr>
              <a:t>Această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secvență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jocului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poartă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denumirea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variație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principală</a:t>
            </a:r>
            <a:r>
              <a:rPr lang="en-US" dirty="0">
                <a:latin typeface="Times New Roman"/>
                <a:cs typeface="Times New Roman"/>
              </a:rPr>
              <a:t>. </a:t>
            </a:r>
            <a:r>
              <a:rPr lang="en-US" dirty="0" err="1">
                <a:latin typeface="Times New Roman"/>
                <a:cs typeface="Times New Roman"/>
              </a:rPr>
              <a:t>Ea</a:t>
            </a:r>
            <a:r>
              <a:rPr lang="en-US" dirty="0">
                <a:latin typeface="Times New Roman"/>
                <a:cs typeface="Times New Roman"/>
              </a:rPr>
              <a:t>  </a:t>
            </a:r>
            <a:r>
              <a:rPr lang="en-US" dirty="0" err="1">
                <a:latin typeface="Times New Roman"/>
                <a:cs typeface="Times New Roman"/>
              </a:rPr>
              <a:t>definește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jocul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optim</a:t>
            </a:r>
            <a:r>
              <a:rPr lang="en-US" dirty="0">
                <a:latin typeface="Times New Roman"/>
                <a:cs typeface="Times New Roman"/>
              </a:rPr>
              <a:t> de tip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ambele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părți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  <a:p>
            <a:pPr marL="285750" indent="-285750" algn="just">
              <a:buFont typeface="Arial"/>
              <a:buChar char="•"/>
            </a:pPr>
            <a:r>
              <a:rPr lang="en-US" dirty="0">
                <a:latin typeface="Times New Roman"/>
                <a:cs typeface="Times New Roman"/>
              </a:rPr>
              <a:t>se </a:t>
            </a:r>
            <a:r>
              <a:rPr lang="en-US" dirty="0" err="1">
                <a:latin typeface="Times New Roman"/>
                <a:cs typeface="Times New Roman"/>
              </a:rPr>
              <a:t>observă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ca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valoarea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pozițiilor</a:t>
            </a:r>
            <a:r>
              <a:rPr lang="en-US" dirty="0">
                <a:latin typeface="Times New Roman"/>
                <a:cs typeface="Times New Roman"/>
              </a:rPr>
              <a:t> de-a </a:t>
            </a:r>
            <a:r>
              <a:rPr lang="en-US" dirty="0" err="1">
                <a:latin typeface="Times New Roman"/>
                <a:cs typeface="Times New Roman"/>
              </a:rPr>
              <a:t>lungul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variației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principale</a:t>
            </a:r>
            <a:r>
              <a:rPr lang="en-US" dirty="0">
                <a:latin typeface="Times New Roman"/>
                <a:cs typeface="Times New Roman"/>
              </a:rPr>
              <a:t> nu </a:t>
            </a:r>
            <a:r>
              <a:rPr lang="en-US" dirty="0" err="1">
                <a:latin typeface="Times New Roman"/>
                <a:cs typeface="Times New Roman"/>
              </a:rPr>
              <a:t>variază</a:t>
            </a:r>
            <a:r>
              <a:rPr lang="en-US" dirty="0">
                <a:latin typeface="Times New Roman"/>
                <a:cs typeface="Times New Roman"/>
              </a:rPr>
              <a:t>. </a:t>
            </a:r>
            <a:r>
              <a:rPr lang="en-US" dirty="0" err="1">
                <a:latin typeface="Times New Roman"/>
                <a:cs typeface="Times New Roman"/>
              </a:rPr>
              <a:t>Prin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urmare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b="1" i="1" dirty="0" err="1">
                <a:latin typeface="Times New Roman"/>
                <a:cs typeface="Times New Roman"/>
              </a:rPr>
              <a:t>mutările</a:t>
            </a:r>
            <a:r>
              <a:rPr lang="en-US" b="1" i="1" dirty="0">
                <a:latin typeface="Times New Roman"/>
                <a:cs typeface="Times New Roman"/>
              </a:rPr>
              <a:t> </a:t>
            </a:r>
            <a:r>
              <a:rPr lang="en-US" b="1" i="1" dirty="0" err="1">
                <a:latin typeface="Times New Roman"/>
                <a:cs typeface="Times New Roman"/>
              </a:rPr>
              <a:t>corecte</a:t>
            </a:r>
            <a:r>
              <a:rPr lang="en-US" b="1" i="1" dirty="0">
                <a:latin typeface="Times New Roman"/>
                <a:cs typeface="Times New Roman"/>
              </a:rPr>
              <a:t> </a:t>
            </a:r>
            <a:r>
              <a:rPr lang="en-US" b="1" i="1" dirty="0" err="1">
                <a:latin typeface="Times New Roman"/>
                <a:cs typeface="Times New Roman"/>
              </a:rPr>
              <a:t>sunt</a:t>
            </a:r>
            <a:r>
              <a:rPr lang="en-US" b="1" i="1" dirty="0">
                <a:latin typeface="Times New Roman"/>
                <a:cs typeface="Times New Roman"/>
              </a:rPr>
              <a:t> </a:t>
            </a:r>
            <a:r>
              <a:rPr lang="en-US" b="1" i="1" dirty="0" err="1">
                <a:latin typeface="Times New Roman"/>
                <a:cs typeface="Times New Roman"/>
              </a:rPr>
              <a:t>cele</a:t>
            </a:r>
            <a:r>
              <a:rPr lang="en-US" b="1" i="1" dirty="0">
                <a:latin typeface="Times New Roman"/>
                <a:cs typeface="Times New Roman"/>
              </a:rPr>
              <a:t> care </a:t>
            </a:r>
            <a:r>
              <a:rPr lang="en-US" b="1" i="1" dirty="0" err="1">
                <a:latin typeface="Times New Roman"/>
                <a:cs typeface="Times New Roman"/>
              </a:rPr>
              <a:t>conservă</a:t>
            </a:r>
            <a:r>
              <a:rPr lang="en-US" b="1" i="1" dirty="0">
                <a:latin typeface="Times New Roman"/>
                <a:cs typeface="Times New Roman"/>
              </a:rPr>
              <a:t> </a:t>
            </a:r>
            <a:r>
              <a:rPr lang="en-US" b="1" i="1" dirty="0" err="1">
                <a:latin typeface="Times New Roman"/>
                <a:cs typeface="Times New Roman"/>
              </a:rPr>
              <a:t>valoarea</a:t>
            </a:r>
            <a:r>
              <a:rPr lang="en-US" b="1" i="1" dirty="0">
                <a:latin typeface="Times New Roman"/>
                <a:cs typeface="Times New Roman"/>
              </a:rPr>
              <a:t> </a:t>
            </a:r>
            <a:r>
              <a:rPr lang="en-US" b="1" i="1" dirty="0" err="1">
                <a:latin typeface="Times New Roman"/>
                <a:cs typeface="Times New Roman"/>
              </a:rPr>
              <a:t>jocului</a:t>
            </a:r>
            <a:r>
              <a:rPr lang="en-US" b="1" i="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3829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82519" y="1470462"/>
            <a:ext cx="3689229" cy="454933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638"/>
            <a:ext cx="9144000" cy="1143000"/>
          </a:xfrm>
        </p:spPr>
        <p:txBody>
          <a:bodyPr>
            <a:no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Proprietăți</a:t>
            </a:r>
            <a:r>
              <a:rPr lang="en-US" dirty="0">
                <a:latin typeface="Times New Roman"/>
                <a:cs typeface="Times New Roman"/>
              </a:rPr>
              <a:t> ale </a:t>
            </a:r>
            <a:r>
              <a:rPr lang="en-US" dirty="0" err="1">
                <a:latin typeface="Times New Roman"/>
                <a:cs typeface="Times New Roman"/>
              </a:rPr>
              <a:t>algoritmului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1519236"/>
            <a:ext cx="5029201" cy="4729164"/>
          </a:xfrm>
        </p:spPr>
        <p:txBody>
          <a:bodyPr>
            <a:normAutofit/>
          </a:bodyPr>
          <a:lstStyle/>
          <a:p>
            <a:pPr lvl="0">
              <a:lnSpc>
                <a:spcPct val="90000"/>
              </a:lnSpc>
              <a:buClr>
                <a:srgbClr val="333399"/>
              </a:buClr>
            </a:pPr>
            <a:r>
              <a:rPr lang="en-US" sz="2800" dirty="0" err="1">
                <a:solidFill>
                  <a:srgbClr val="333399"/>
                </a:solidFill>
                <a:latin typeface="Times New Roman"/>
                <a:cs typeface="Times New Roman"/>
              </a:rPr>
              <a:t>Cât</a:t>
            </a:r>
            <a:r>
              <a:rPr lang="en-US" sz="2800" dirty="0">
                <a:solidFill>
                  <a:srgbClr val="333399"/>
                </a:solidFill>
                <a:latin typeface="Times New Roman"/>
                <a:cs typeface="Times New Roman"/>
              </a:rPr>
              <a:t> de </a:t>
            </a:r>
            <a:r>
              <a:rPr lang="en-US" sz="2800" dirty="0" err="1">
                <a:solidFill>
                  <a:srgbClr val="333399"/>
                </a:solidFill>
                <a:latin typeface="Times New Roman"/>
                <a:cs typeface="Times New Roman"/>
              </a:rPr>
              <a:t>eficient</a:t>
            </a:r>
            <a:r>
              <a:rPr lang="en-US" sz="28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lang="en-US" sz="2800" dirty="0" err="1">
                <a:solidFill>
                  <a:srgbClr val="333399"/>
                </a:solidFill>
                <a:latin typeface="Times New Roman"/>
                <a:cs typeface="Times New Roman"/>
              </a:rPr>
              <a:t>este</a:t>
            </a:r>
            <a:r>
              <a:rPr lang="en-US" sz="28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lang="en-US" sz="2800" dirty="0" err="1">
                <a:solidFill>
                  <a:srgbClr val="333399"/>
                </a:solidFill>
                <a:latin typeface="Times New Roman"/>
                <a:cs typeface="Times New Roman"/>
              </a:rPr>
              <a:t>MiniMax</a:t>
            </a:r>
            <a:r>
              <a:rPr lang="en-US" sz="2800" dirty="0">
                <a:solidFill>
                  <a:srgbClr val="333399"/>
                </a:solidFill>
                <a:latin typeface="Times New Roman"/>
                <a:cs typeface="Times New Roman"/>
              </a:rPr>
              <a:t>?</a:t>
            </a:r>
          </a:p>
          <a:p>
            <a:pPr lvl="1">
              <a:lnSpc>
                <a:spcPct val="90000"/>
              </a:lnSpc>
              <a:buClr>
                <a:srgbClr val="333399"/>
              </a:buClr>
            </a:pPr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exhaustivă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manieră</a:t>
            </a:r>
            <a:r>
              <a:rPr lang="en-US" sz="2400" dirty="0">
                <a:latin typeface="Times New Roman"/>
                <a:cs typeface="Times New Roman"/>
              </a:rPr>
              <a:t> depth-first (</a:t>
            </a:r>
            <a:r>
              <a:rPr lang="en-US" sz="2400" dirty="0" err="1">
                <a:latin typeface="Times New Roman"/>
                <a:cs typeface="Times New Roman"/>
              </a:rPr>
              <a:t>căutare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adâncime</a:t>
            </a:r>
            <a:r>
              <a:rPr lang="en-US" sz="2400" dirty="0">
                <a:latin typeface="Times New Roman"/>
                <a:cs typeface="Times New Roman"/>
              </a:rPr>
              <a:t>)</a:t>
            </a:r>
          </a:p>
          <a:p>
            <a:pPr lvl="1">
              <a:lnSpc>
                <a:spcPct val="90000"/>
              </a:lnSpc>
              <a:buClr>
                <a:srgbClr val="000000"/>
              </a:buClr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timp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: O(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  <a:r>
              <a:rPr lang="en-US" sz="2400" baseline="30000" dirty="0" err="1">
                <a:solidFill>
                  <a:srgbClr val="000000"/>
                </a:solidFill>
                <a:latin typeface="Times New Roman"/>
                <a:cs typeface="Times New Roman"/>
              </a:rPr>
              <a:t>m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  <a:p>
            <a:pPr lvl="1">
              <a:lnSpc>
                <a:spcPct val="90000"/>
              </a:lnSpc>
              <a:buClr>
                <a:srgbClr val="000000"/>
              </a:buClr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spațiu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: O(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bm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  <a:p>
            <a:pPr lvl="0">
              <a:lnSpc>
                <a:spcPct val="90000"/>
              </a:lnSpc>
              <a:buClr>
                <a:srgbClr val="333399"/>
              </a:buClr>
            </a:pPr>
            <a:endParaRPr lang="en-US" sz="2800" dirty="0">
              <a:solidFill>
                <a:srgbClr val="333399"/>
              </a:solidFill>
              <a:latin typeface="Times New Roman"/>
              <a:cs typeface="Times New Roman"/>
            </a:endParaRPr>
          </a:p>
          <a:p>
            <a:pPr lvl="0">
              <a:lnSpc>
                <a:spcPct val="90000"/>
              </a:lnSpc>
              <a:buClr>
                <a:srgbClr val="333399"/>
              </a:buClr>
            </a:pPr>
            <a:r>
              <a:rPr lang="en-US" sz="2800" dirty="0" err="1">
                <a:solidFill>
                  <a:srgbClr val="333399"/>
                </a:solidFill>
                <a:latin typeface="Times New Roman"/>
                <a:cs typeface="Times New Roman"/>
              </a:rPr>
              <a:t>Exemple</a:t>
            </a:r>
            <a:r>
              <a:rPr lang="en-US" sz="2800" dirty="0">
                <a:solidFill>
                  <a:srgbClr val="333399"/>
                </a:solidFill>
                <a:latin typeface="Times New Roman"/>
                <a:cs typeface="Times New Roman"/>
              </a:rPr>
              <a:t>: </a:t>
            </a:r>
            <a:r>
              <a:rPr lang="en-US" sz="2800" dirty="0" err="1">
                <a:solidFill>
                  <a:srgbClr val="333399"/>
                </a:solidFill>
                <a:latin typeface="Times New Roman"/>
                <a:cs typeface="Times New Roman"/>
              </a:rPr>
              <a:t>pentru</a:t>
            </a:r>
            <a:r>
              <a:rPr lang="en-US" sz="2800" dirty="0">
                <a:solidFill>
                  <a:srgbClr val="333399"/>
                </a:solidFill>
                <a:latin typeface="Times New Roman"/>
                <a:cs typeface="Times New Roman"/>
              </a:rPr>
              <a:t> </a:t>
            </a:r>
            <a:r>
              <a:rPr lang="en-US" sz="2800" dirty="0" err="1">
                <a:solidFill>
                  <a:srgbClr val="333399"/>
                </a:solidFill>
                <a:latin typeface="Times New Roman"/>
                <a:cs typeface="Times New Roman"/>
              </a:rPr>
              <a:t>șah</a:t>
            </a:r>
            <a:r>
              <a:rPr lang="en-US" sz="2800" kern="1200" dirty="0">
                <a:solidFill>
                  <a:srgbClr val="333399"/>
                </a:solidFill>
                <a:latin typeface="Times New Roman"/>
                <a:cs typeface="Times New Roman"/>
              </a:rPr>
              <a:t>, b </a:t>
            </a:r>
            <a:r>
              <a:rPr lang="en-US" sz="2800" kern="1200" dirty="0">
                <a:solidFill>
                  <a:srgbClr val="333399"/>
                </a:solidFill>
                <a:latin typeface="Times New Roman"/>
                <a:cs typeface="Times New Roman"/>
                <a:sym typeface="Symbol" pitchFamily="18" charset="2"/>
              </a:rPr>
              <a:t> 35, m  100</a:t>
            </a:r>
            <a:endParaRPr lang="en-US" sz="2800" dirty="0">
              <a:solidFill>
                <a:srgbClr val="333399"/>
              </a:solidFill>
              <a:latin typeface="Times New Roman"/>
              <a:cs typeface="Times New Roman"/>
            </a:endParaRPr>
          </a:p>
          <a:p>
            <a:pPr marL="800082" lvl="1" indent="-342882">
              <a:lnSpc>
                <a:spcPct val="90000"/>
              </a:lnSpc>
              <a:buClrTx/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o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soluție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exactă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este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imposibilă</a:t>
            </a:r>
            <a:endParaRPr lang="en-US" sz="24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800082" lvl="1" indent="-342882">
              <a:lnSpc>
                <a:spcPct val="90000"/>
              </a:lnSpc>
              <a:buClrTx/>
            </a:pP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dar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oare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chiar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trebui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să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explorăm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întreg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/>
                <a:cs typeface="Times New Roman"/>
              </a:rPr>
              <a:t>arborele</a:t>
            </a: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?</a:t>
            </a:r>
          </a:p>
          <a:p>
            <a:endParaRPr lang="en-US" sz="4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1941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59688"/>
            <a:ext cx="8839200" cy="5623132"/>
          </a:xfrm>
        </p:spPr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2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Generează</a:t>
            </a:r>
            <a:r>
              <a:rPr lang="en-US"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întreg</a:t>
            </a:r>
            <a:r>
              <a:rPr lang="en-US"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arborele</a:t>
            </a:r>
            <a:r>
              <a:rPr lang="en-US"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 de </a:t>
            </a:r>
            <a:r>
              <a:rPr lang="en-US" sz="22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joc</a:t>
            </a:r>
            <a:r>
              <a:rPr lang="en-US"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până</a:t>
            </a:r>
            <a:r>
              <a:rPr lang="en-US"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 la </a:t>
            </a:r>
            <a:r>
              <a:rPr lang="en-US" sz="22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stările</a:t>
            </a:r>
            <a:r>
              <a:rPr lang="en-US"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200" b="1" dirty="0" err="1">
                <a:solidFill>
                  <a:srgbClr val="FF0000"/>
                </a:solidFill>
                <a:latin typeface="Times New Roman"/>
                <a:cs typeface="Times New Roman"/>
              </a:rPr>
              <a:t>terminale</a:t>
            </a:r>
            <a:endParaRPr lang="en-US" sz="2200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sz="2200" dirty="0">
              <a:latin typeface="Times New Roman"/>
              <a:cs typeface="Times New Roman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err="1">
                <a:latin typeface="Times New Roman"/>
                <a:cs typeface="Times New Roman"/>
              </a:rPr>
              <a:t>Aplică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funcția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utilitate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fiecărei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stării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terminale</a:t>
            </a:r>
            <a:r>
              <a:rPr lang="en-US" sz="2200" dirty="0">
                <a:latin typeface="Times New Roman"/>
                <a:cs typeface="Times New Roman"/>
              </a:rPr>
              <a:t> - </a:t>
            </a:r>
            <a:r>
              <a:rPr lang="en-US" sz="2200" dirty="0" err="1">
                <a:latin typeface="Times New Roman"/>
                <a:cs typeface="Times New Roman"/>
              </a:rPr>
              <a:t>obține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valoarea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stării</a:t>
            </a:r>
            <a:endParaRPr lang="en-US" sz="2200" dirty="0">
              <a:latin typeface="Times New Roman"/>
              <a:cs typeface="Times New Roman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sz="2200" dirty="0">
              <a:latin typeface="Times New Roman"/>
              <a:cs typeface="Times New Roman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200" dirty="0" err="1">
                <a:latin typeface="Times New Roman"/>
                <a:cs typeface="Times New Roman"/>
              </a:rPr>
              <a:t>Deplasează-te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înapoi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arbore, de la </a:t>
            </a:r>
            <a:r>
              <a:rPr lang="en-US" sz="2200" dirty="0" err="1">
                <a:latin typeface="Times New Roman"/>
                <a:cs typeface="Times New Roman"/>
              </a:rPr>
              <a:t>nodurile-frunze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spre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nodul-rădăcină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determinând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corespunzător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fiecărui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nivel</a:t>
            </a:r>
            <a:r>
              <a:rPr lang="en-US" sz="2200" dirty="0">
                <a:latin typeface="Times New Roman"/>
                <a:cs typeface="Times New Roman"/>
              </a:rPr>
              <a:t> al </a:t>
            </a:r>
            <a:r>
              <a:rPr lang="en-US" sz="2200" dirty="0" err="1">
                <a:latin typeface="Times New Roman"/>
                <a:cs typeface="Times New Roman"/>
              </a:rPr>
              <a:t>arborelui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valorile</a:t>
            </a:r>
            <a:r>
              <a:rPr lang="en-US" sz="2200" dirty="0">
                <a:latin typeface="Times New Roman"/>
                <a:cs typeface="Times New Roman"/>
              </a:rPr>
              <a:t> care </a:t>
            </a:r>
            <a:r>
              <a:rPr lang="en-US" sz="2200" dirty="0" err="1">
                <a:latin typeface="Times New Roman"/>
                <a:cs typeface="Times New Roman"/>
              </a:rPr>
              <a:t>reprezintă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utilitatea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nodurilor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aflate</a:t>
            </a:r>
            <a:r>
              <a:rPr lang="en-US" sz="2200" dirty="0">
                <a:latin typeface="Times New Roman"/>
                <a:cs typeface="Times New Roman"/>
              </a:rPr>
              <a:t> la </a:t>
            </a:r>
            <a:r>
              <a:rPr lang="en-US" sz="2200" dirty="0" err="1">
                <a:latin typeface="Times New Roman"/>
                <a:cs typeface="Times New Roman"/>
              </a:rPr>
              <a:t>acel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nivel</a:t>
            </a:r>
            <a:r>
              <a:rPr lang="en-US" sz="2200" dirty="0">
                <a:latin typeface="Times New Roman"/>
                <a:cs typeface="Times New Roman"/>
              </a:rPr>
              <a:t>. </a:t>
            </a:r>
            <a:r>
              <a:rPr lang="en-US" sz="2200" dirty="0" err="1">
                <a:latin typeface="Times New Roman"/>
                <a:cs typeface="Times New Roman"/>
              </a:rPr>
              <a:t>Propagarea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acestor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valori</a:t>
            </a:r>
            <a:r>
              <a:rPr lang="en-US" sz="2200" dirty="0">
                <a:latin typeface="Times New Roman"/>
                <a:cs typeface="Times New Roman"/>
              </a:rPr>
              <a:t> la </a:t>
            </a:r>
            <a:r>
              <a:rPr lang="en-US" sz="2200" dirty="0" err="1">
                <a:latin typeface="Times New Roman"/>
                <a:cs typeface="Times New Roman"/>
              </a:rPr>
              <a:t>niveluri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anterioare</a:t>
            </a:r>
            <a:r>
              <a:rPr lang="en-US" sz="2200" dirty="0">
                <a:latin typeface="Times New Roman"/>
                <a:cs typeface="Times New Roman"/>
              </a:rPr>
              <a:t> se face </a:t>
            </a:r>
            <a:r>
              <a:rPr lang="en-US" sz="2200" dirty="0" err="1">
                <a:latin typeface="Times New Roman"/>
                <a:cs typeface="Times New Roman"/>
              </a:rPr>
              <a:t>prin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intermediul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nodurilor-părinte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succesive</a:t>
            </a:r>
            <a:r>
              <a:rPr lang="en-US" sz="2200" dirty="0">
                <a:latin typeface="Times New Roman"/>
                <a:cs typeface="Times New Roman"/>
              </a:rPr>
              <a:t>, conform </a:t>
            </a:r>
            <a:r>
              <a:rPr lang="en-US" sz="2200" dirty="0" err="1">
                <a:latin typeface="Times New Roman"/>
                <a:cs typeface="Times New Roman"/>
              </a:rPr>
              <a:t>următoarei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reguli</a:t>
            </a:r>
            <a:r>
              <a:rPr lang="en-US" sz="2200" dirty="0">
                <a:latin typeface="Times New Roman"/>
                <a:cs typeface="Times New Roman"/>
              </a:rPr>
              <a:t>: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/>
                <a:cs typeface="Times New Roman"/>
              </a:rPr>
              <a:t>	- </a:t>
            </a:r>
            <a:r>
              <a:rPr lang="en-US" sz="2200" dirty="0" err="1">
                <a:latin typeface="Times New Roman"/>
                <a:cs typeface="Times New Roman"/>
              </a:rPr>
              <a:t>dacă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starea-părinte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un nod de tip MAX, </a:t>
            </a:r>
            <a:r>
              <a:rPr lang="en-US" sz="2200" dirty="0" err="1">
                <a:latin typeface="Times New Roman"/>
                <a:cs typeface="Times New Roman"/>
              </a:rPr>
              <a:t>atribuie-i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maximul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dintre</a:t>
            </a:r>
            <a:r>
              <a:rPr lang="en-US" sz="2200" dirty="0">
                <a:latin typeface="Times New Roman"/>
                <a:cs typeface="Times New Roman"/>
              </a:rPr>
              <a:t> 	</a:t>
            </a:r>
            <a:r>
              <a:rPr lang="en-US" sz="2200" dirty="0" err="1">
                <a:latin typeface="Times New Roman"/>
                <a:cs typeface="Times New Roman"/>
              </a:rPr>
              <a:t>valorile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avute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fii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săi</a:t>
            </a:r>
            <a:r>
              <a:rPr lang="en-US" sz="2200" dirty="0">
                <a:latin typeface="Times New Roman"/>
                <a:cs typeface="Times New Roman"/>
              </a:rPr>
              <a:t>;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/>
                <a:cs typeface="Times New Roman"/>
              </a:rPr>
              <a:t>	- </a:t>
            </a:r>
            <a:r>
              <a:rPr lang="en-US" sz="2200" dirty="0" err="1">
                <a:latin typeface="Times New Roman"/>
                <a:cs typeface="Times New Roman"/>
              </a:rPr>
              <a:t>dacă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starea-părinte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este</a:t>
            </a:r>
            <a:r>
              <a:rPr lang="en-US" sz="2200" dirty="0">
                <a:latin typeface="Times New Roman"/>
                <a:cs typeface="Times New Roman"/>
              </a:rPr>
              <a:t> un nod de tip MIN, </a:t>
            </a:r>
            <a:r>
              <a:rPr lang="en-US" sz="2200" dirty="0" err="1">
                <a:latin typeface="Times New Roman"/>
                <a:cs typeface="Times New Roman"/>
              </a:rPr>
              <a:t>atribuie-i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minimul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dintre</a:t>
            </a:r>
            <a:r>
              <a:rPr lang="en-US" sz="2200" dirty="0">
                <a:latin typeface="Times New Roman"/>
                <a:cs typeface="Times New Roman"/>
              </a:rPr>
              <a:t> 	</a:t>
            </a:r>
            <a:r>
              <a:rPr lang="en-US" sz="2200" dirty="0" err="1">
                <a:latin typeface="Times New Roman"/>
                <a:cs typeface="Times New Roman"/>
              </a:rPr>
              <a:t>valorile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avute</a:t>
            </a:r>
            <a:r>
              <a:rPr lang="en-US" sz="2200" dirty="0">
                <a:latin typeface="Times New Roman"/>
                <a:cs typeface="Times New Roman"/>
              </a:rPr>
              <a:t> de </a:t>
            </a:r>
            <a:r>
              <a:rPr lang="en-US" sz="2200" dirty="0" err="1">
                <a:latin typeface="Times New Roman"/>
                <a:cs typeface="Times New Roman"/>
              </a:rPr>
              <a:t>fii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săi</a:t>
            </a:r>
            <a:r>
              <a:rPr lang="en-US" sz="2200" dirty="0">
                <a:latin typeface="Times New Roman"/>
                <a:cs typeface="Times New Roman"/>
              </a:rPr>
              <a:t>;</a:t>
            </a:r>
          </a:p>
          <a:p>
            <a:pPr marL="0" indent="0" algn="just">
              <a:buNone/>
            </a:pPr>
            <a:r>
              <a:rPr lang="en-US" sz="2200" dirty="0">
                <a:latin typeface="Times New Roman"/>
                <a:cs typeface="Times New Roman"/>
              </a:rPr>
              <a:t>4. 	</a:t>
            </a:r>
            <a:r>
              <a:rPr lang="en-US" sz="2200" dirty="0" err="1">
                <a:latin typeface="Times New Roman"/>
                <a:cs typeface="Times New Roman"/>
              </a:rPr>
              <a:t>Ajuns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nodul-rădăcină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alege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pentru</a:t>
            </a:r>
            <a:r>
              <a:rPr lang="en-US" sz="2200" dirty="0">
                <a:latin typeface="Times New Roman"/>
                <a:cs typeface="Times New Roman"/>
              </a:rPr>
              <a:t> MAX </a:t>
            </a:r>
            <a:r>
              <a:rPr lang="en-US" sz="2200" dirty="0" err="1">
                <a:latin typeface="Times New Roman"/>
                <a:cs typeface="Times New Roman"/>
              </a:rPr>
              <a:t>acea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mutare</a:t>
            </a:r>
            <a:r>
              <a:rPr lang="en-US" sz="2200" dirty="0">
                <a:latin typeface="Times New Roman"/>
                <a:cs typeface="Times New Roman"/>
              </a:rPr>
              <a:t> care conduce la </a:t>
            </a:r>
            <a:r>
              <a:rPr lang="en-US" sz="2200" dirty="0" err="1">
                <a:latin typeface="Times New Roman"/>
                <a:cs typeface="Times New Roman"/>
              </a:rPr>
              <a:t>valoarea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maximă</a:t>
            </a:r>
            <a:r>
              <a:rPr lang="en-US" sz="2200" dirty="0">
                <a:latin typeface="Times New Roman"/>
                <a:cs typeface="Times New Roman"/>
              </a:rPr>
              <a:t>. </a:t>
            </a:r>
            <a:r>
              <a:rPr lang="en-US" sz="2200" dirty="0" err="1">
                <a:latin typeface="Times New Roman"/>
                <a:cs typeface="Times New Roman"/>
              </a:rPr>
              <a:t>Mutarea</a:t>
            </a:r>
            <a:r>
              <a:rPr lang="en-US" sz="2200" dirty="0">
                <a:latin typeface="Times New Roman"/>
                <a:cs typeface="Times New Roman"/>
              </a:rPr>
              <a:t> se </a:t>
            </a:r>
            <a:r>
              <a:rPr lang="en-US" sz="2200" dirty="0" err="1">
                <a:latin typeface="Times New Roman"/>
                <a:cs typeface="Times New Roman"/>
              </a:rPr>
              <a:t>numește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b="1" i="1" dirty="0" err="1">
                <a:latin typeface="Times New Roman"/>
                <a:cs typeface="Times New Roman"/>
              </a:rPr>
              <a:t>decizia</a:t>
            </a:r>
            <a:r>
              <a:rPr lang="en-US" sz="2200" b="1" i="1" dirty="0">
                <a:latin typeface="Times New Roman"/>
                <a:cs typeface="Times New Roman"/>
              </a:rPr>
              <a:t> </a:t>
            </a:r>
            <a:r>
              <a:rPr lang="en-US" sz="2200" b="1" i="1" dirty="0" err="1">
                <a:latin typeface="Times New Roman"/>
                <a:cs typeface="Times New Roman"/>
              </a:rPr>
              <a:t>minimax</a:t>
            </a:r>
            <a:r>
              <a:rPr lang="en-US" sz="2200" b="1" i="1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- </a:t>
            </a:r>
            <a:r>
              <a:rPr lang="en-US" sz="2200" dirty="0" err="1">
                <a:latin typeface="Times New Roman"/>
                <a:cs typeface="Times New Roman"/>
              </a:rPr>
              <a:t>maximizează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utilitatea</a:t>
            </a:r>
            <a:r>
              <a:rPr lang="en-US" sz="2200" dirty="0">
                <a:latin typeface="Times New Roman"/>
                <a:cs typeface="Times New Roman"/>
              </a:rPr>
              <a:t>, </a:t>
            </a:r>
            <a:r>
              <a:rPr lang="en-US" sz="2200" dirty="0" err="1">
                <a:latin typeface="Times New Roman"/>
                <a:cs typeface="Times New Roman"/>
              </a:rPr>
              <a:t>în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ipoteza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că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oponentul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dirty="0" err="1">
                <a:latin typeface="Times New Roman"/>
                <a:cs typeface="Times New Roman"/>
              </a:rPr>
              <a:t>joacă</a:t>
            </a:r>
            <a:r>
              <a:rPr lang="en-US" sz="2200" dirty="0">
                <a:latin typeface="Times New Roman"/>
                <a:cs typeface="Times New Roman"/>
              </a:rPr>
              <a:t> perfect cu </a:t>
            </a:r>
            <a:r>
              <a:rPr lang="en-US" sz="2200" dirty="0" err="1">
                <a:latin typeface="Times New Roman"/>
                <a:cs typeface="Times New Roman"/>
              </a:rPr>
              <a:t>scopul</a:t>
            </a:r>
            <a:r>
              <a:rPr lang="en-US" sz="2200" dirty="0">
                <a:latin typeface="Times New Roman"/>
                <a:cs typeface="Times New Roman"/>
              </a:rPr>
              <a:t> de a o </a:t>
            </a:r>
            <a:r>
              <a:rPr lang="en-US" sz="2200" dirty="0" err="1">
                <a:latin typeface="Times New Roman"/>
                <a:cs typeface="Times New Roman"/>
              </a:rPr>
              <a:t>minimiza</a:t>
            </a:r>
            <a:r>
              <a:rPr lang="en-US" sz="22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-141121" y="45303"/>
            <a:ext cx="9506425" cy="1143000"/>
          </a:xfrm>
        </p:spPr>
        <p:txBody>
          <a:bodyPr>
            <a:noAutofit/>
          </a:bodyPr>
          <a:lstStyle/>
          <a:p>
            <a:r>
              <a:rPr lang="en-US" sz="3500" dirty="0" err="1">
                <a:latin typeface="Times New Roman"/>
                <a:cs typeface="Times New Roman"/>
              </a:rPr>
              <a:t>Limitări</a:t>
            </a:r>
            <a:r>
              <a:rPr lang="en-US" sz="3500" dirty="0">
                <a:latin typeface="Times New Roman"/>
                <a:cs typeface="Times New Roman"/>
              </a:rPr>
              <a:t> date de </a:t>
            </a:r>
            <a:r>
              <a:rPr lang="en-US" sz="3500" dirty="0" err="1">
                <a:latin typeface="Times New Roman"/>
                <a:cs typeface="Times New Roman"/>
              </a:rPr>
              <a:t>resurse</a:t>
            </a:r>
            <a:r>
              <a:rPr lang="en-US" sz="3500" dirty="0">
                <a:latin typeface="Times New Roman"/>
                <a:cs typeface="Times New Roman"/>
              </a:rPr>
              <a:t> ale </a:t>
            </a:r>
            <a:r>
              <a:rPr lang="en-US" sz="3500" dirty="0" err="1">
                <a:latin typeface="Times New Roman"/>
                <a:cs typeface="Times New Roman"/>
              </a:rPr>
              <a:t>algoritmului</a:t>
            </a:r>
            <a:r>
              <a:rPr lang="en-US" sz="3500" dirty="0">
                <a:latin typeface="Times New Roman"/>
                <a:cs typeface="Times New Roman"/>
              </a:rPr>
              <a:t>  </a:t>
            </a:r>
            <a:r>
              <a:rPr lang="en-US" sz="3500" dirty="0" err="1">
                <a:latin typeface="Times New Roman"/>
                <a:cs typeface="Times New Roman"/>
              </a:rPr>
              <a:t>MiniMax</a:t>
            </a:r>
            <a:endParaRPr lang="en-US" sz="35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87894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8698" y="1188303"/>
            <a:ext cx="6048252" cy="4525963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</a:rPr>
              <a:t>problemă</a:t>
            </a:r>
            <a:r>
              <a:rPr lang="en-US" sz="1500" dirty="0">
                <a:latin typeface="Times New Roman"/>
                <a:cs typeface="Times New Roman"/>
              </a:rPr>
              <a:t>: </a:t>
            </a:r>
            <a:r>
              <a:rPr lang="en-US" sz="1500" dirty="0" err="1">
                <a:latin typeface="Times New Roman"/>
                <a:cs typeface="Times New Roman"/>
              </a:rPr>
              <a:t>în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jocuri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reale</a:t>
            </a:r>
            <a:r>
              <a:rPr lang="en-US" sz="1500" dirty="0">
                <a:latin typeface="Times New Roman"/>
                <a:cs typeface="Times New Roman"/>
              </a:rPr>
              <a:t>, nu </a:t>
            </a:r>
            <a:r>
              <a:rPr lang="en-US" sz="1500" dirty="0" err="1">
                <a:latin typeface="Times New Roman"/>
                <a:cs typeface="Times New Roman"/>
              </a:rPr>
              <a:t>putem</a:t>
            </a:r>
            <a:r>
              <a:rPr lang="en-US" sz="1500" dirty="0">
                <a:latin typeface="Times New Roman"/>
                <a:cs typeface="Times New Roman"/>
              </a:rPr>
              <a:t> genera tot </a:t>
            </a:r>
            <a:r>
              <a:rPr lang="en-US" sz="1500" dirty="0" err="1">
                <a:latin typeface="Times New Roman"/>
                <a:cs typeface="Times New Roman"/>
              </a:rPr>
              <a:t>arborele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până</a:t>
            </a:r>
            <a:r>
              <a:rPr lang="en-US" sz="1500" dirty="0">
                <a:latin typeface="Times New Roman"/>
                <a:cs typeface="Times New Roman"/>
              </a:rPr>
              <a:t> la </a:t>
            </a:r>
            <a:r>
              <a:rPr lang="en-US" sz="1500" dirty="0" err="1">
                <a:latin typeface="Times New Roman"/>
                <a:cs typeface="Times New Roman"/>
              </a:rPr>
              <a:t>frunze</a:t>
            </a:r>
            <a:r>
              <a:rPr lang="en-US" sz="1500" dirty="0">
                <a:latin typeface="Times New Roman"/>
                <a:cs typeface="Times New Roman"/>
              </a:rPr>
              <a:t> din </a:t>
            </a:r>
            <a:r>
              <a:rPr lang="en-US" sz="1500" dirty="0" err="1">
                <a:latin typeface="Times New Roman"/>
                <a:cs typeface="Times New Roman"/>
              </a:rPr>
              <a:t>cauza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resurselor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limitate</a:t>
            </a:r>
            <a:r>
              <a:rPr lang="en-US" sz="1500" dirty="0">
                <a:latin typeface="Times New Roman"/>
                <a:cs typeface="Times New Roman"/>
              </a:rPr>
              <a:t> (</a:t>
            </a:r>
            <a:r>
              <a:rPr lang="en-US" sz="1500" dirty="0" err="1">
                <a:latin typeface="Times New Roman"/>
                <a:cs typeface="Times New Roman"/>
              </a:rPr>
              <a:t>timp</a:t>
            </a:r>
            <a:r>
              <a:rPr lang="en-US" sz="1500" dirty="0">
                <a:latin typeface="Times New Roman"/>
                <a:cs typeface="Times New Roman"/>
              </a:rPr>
              <a:t> + </a:t>
            </a:r>
            <a:r>
              <a:rPr lang="en-US" sz="1500" dirty="0" err="1">
                <a:latin typeface="Times New Roman"/>
                <a:cs typeface="Times New Roman"/>
              </a:rPr>
              <a:t>spațiu</a:t>
            </a:r>
            <a:r>
              <a:rPr lang="en-US" sz="1500" dirty="0">
                <a:latin typeface="Times New Roman"/>
                <a:cs typeface="Times New Roman"/>
              </a:rPr>
              <a:t>)</a:t>
            </a:r>
          </a:p>
          <a:p>
            <a:pPr algn="just" eaLnBrk="1" hangingPunct="1">
              <a:lnSpc>
                <a:spcPct val="110000"/>
              </a:lnSpc>
            </a:pPr>
            <a:endParaRPr lang="en-US" sz="15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</a:rPr>
              <a:t>soluție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posibilă</a:t>
            </a:r>
            <a:r>
              <a:rPr lang="en-US" sz="1500" dirty="0">
                <a:latin typeface="Times New Roman"/>
                <a:cs typeface="Times New Roman"/>
              </a:rPr>
              <a:t>: </a:t>
            </a:r>
            <a:r>
              <a:rPr lang="en-US" sz="1500" dirty="0" err="1">
                <a:latin typeface="Times New Roman"/>
                <a:cs typeface="Times New Roman"/>
              </a:rPr>
              <a:t>căutare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în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adâncime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limitată</a:t>
            </a:r>
            <a:endParaRPr lang="en-US" sz="1500" dirty="0">
              <a:latin typeface="Times New Roman"/>
              <a:cs typeface="Times New Roman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</a:rPr>
              <a:t>caută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până</a:t>
            </a:r>
            <a:r>
              <a:rPr lang="en-US" sz="1500" dirty="0">
                <a:latin typeface="Times New Roman"/>
                <a:cs typeface="Times New Roman"/>
              </a:rPr>
              <a:t> la o </a:t>
            </a:r>
            <a:r>
              <a:rPr lang="en-US" sz="1500" dirty="0" err="1">
                <a:latin typeface="Times New Roman"/>
                <a:cs typeface="Times New Roman"/>
              </a:rPr>
              <a:t>anumită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adâncime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în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arborele</a:t>
            </a:r>
            <a:r>
              <a:rPr lang="en-US" sz="1500" dirty="0">
                <a:latin typeface="Times New Roman"/>
                <a:cs typeface="Times New Roman"/>
              </a:rPr>
              <a:t> de </a:t>
            </a:r>
            <a:r>
              <a:rPr lang="en-US" sz="1500" dirty="0" err="1">
                <a:latin typeface="Times New Roman"/>
                <a:cs typeface="Times New Roman"/>
              </a:rPr>
              <a:t>joc</a:t>
            </a:r>
            <a:endParaRPr lang="en-US" sz="1500" dirty="0">
              <a:latin typeface="Times New Roman"/>
              <a:cs typeface="Times New Roman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</a:rPr>
              <a:t>înlocuiește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utilitățile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stărilor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terminale</a:t>
            </a:r>
            <a:r>
              <a:rPr lang="en-US" sz="1500" dirty="0">
                <a:latin typeface="Times New Roman"/>
                <a:cs typeface="Times New Roman"/>
              </a:rPr>
              <a:t> (care </a:t>
            </a:r>
            <a:r>
              <a:rPr lang="en-US" sz="1500" dirty="0" err="1">
                <a:latin typeface="Times New Roman"/>
                <a:cs typeface="Times New Roman"/>
              </a:rPr>
              <a:t>sunt</a:t>
            </a:r>
            <a:r>
              <a:rPr lang="en-US" sz="1500" dirty="0">
                <a:latin typeface="Times New Roman"/>
                <a:cs typeface="Times New Roman"/>
              </a:rPr>
              <a:t> calculate exact, </a:t>
            </a:r>
            <a:r>
              <a:rPr lang="en-US" sz="1500" dirty="0" err="1">
                <a:latin typeface="Times New Roman"/>
                <a:cs typeface="Times New Roman"/>
              </a:rPr>
              <a:t>după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regulile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jocului</a:t>
            </a:r>
            <a:r>
              <a:rPr lang="en-US" sz="1500" dirty="0">
                <a:latin typeface="Times New Roman"/>
                <a:cs typeface="Times New Roman"/>
              </a:rPr>
              <a:t>) cu o </a:t>
            </a:r>
            <a:r>
              <a:rPr lang="en-US" sz="1500" dirty="0" err="1">
                <a:latin typeface="Times New Roman"/>
                <a:cs typeface="Times New Roman"/>
              </a:rPr>
              <a:t>funcție</a:t>
            </a:r>
            <a:r>
              <a:rPr lang="en-US" sz="1500" dirty="0">
                <a:latin typeface="Times New Roman"/>
                <a:cs typeface="Times New Roman"/>
              </a:rPr>
              <a:t> de </a:t>
            </a:r>
            <a:r>
              <a:rPr lang="en-US" sz="1500" dirty="0" err="1">
                <a:latin typeface="Times New Roman"/>
                <a:cs typeface="Times New Roman"/>
              </a:rPr>
              <a:t>evaluare</a:t>
            </a:r>
            <a:r>
              <a:rPr lang="en-US" sz="1500" dirty="0">
                <a:latin typeface="Times New Roman"/>
                <a:cs typeface="Times New Roman"/>
              </a:rPr>
              <a:t> a </a:t>
            </a:r>
            <a:r>
              <a:rPr lang="en-US" sz="1500" dirty="0" err="1">
                <a:latin typeface="Times New Roman"/>
                <a:cs typeface="Times New Roman"/>
              </a:rPr>
              <a:t>utilității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unor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stări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neterminale</a:t>
            </a:r>
            <a:r>
              <a:rPr lang="en-US" sz="1500" dirty="0">
                <a:latin typeface="Times New Roman"/>
                <a:cs typeface="Times New Roman"/>
              </a:rPr>
              <a:t> (</a:t>
            </a:r>
            <a:r>
              <a:rPr lang="en-US" sz="1500" dirty="0" err="1">
                <a:latin typeface="Times New Roman"/>
                <a:cs typeface="Times New Roman"/>
              </a:rPr>
              <a:t>această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funcție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aproximează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utilitatea</a:t>
            </a:r>
            <a:r>
              <a:rPr lang="en-US" sz="1500" dirty="0">
                <a:latin typeface="Times New Roman"/>
                <a:cs typeface="Times New Roman"/>
              </a:rPr>
              <a:t>)</a:t>
            </a:r>
          </a:p>
          <a:p>
            <a:pPr lvl="1" algn="just" eaLnBrk="1" hangingPunct="1">
              <a:lnSpc>
                <a:spcPct val="110000"/>
              </a:lnSpc>
            </a:pPr>
            <a:endParaRPr lang="en-US" sz="15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</a:rPr>
              <a:t>exemplu</a:t>
            </a:r>
            <a:r>
              <a:rPr lang="en-US" sz="1500" dirty="0">
                <a:latin typeface="Times New Roman"/>
                <a:cs typeface="Times New Roman"/>
              </a:rPr>
              <a:t>: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</a:rPr>
              <a:t>avem</a:t>
            </a:r>
            <a:r>
              <a:rPr lang="en-US" sz="1500" dirty="0">
                <a:latin typeface="Times New Roman"/>
                <a:cs typeface="Times New Roman"/>
              </a:rPr>
              <a:t> la </a:t>
            </a:r>
            <a:r>
              <a:rPr lang="en-US" sz="1500" dirty="0" err="1">
                <a:latin typeface="Times New Roman"/>
                <a:cs typeface="Times New Roman"/>
              </a:rPr>
              <a:t>dispoziție</a:t>
            </a:r>
            <a:r>
              <a:rPr lang="en-US" sz="1500" dirty="0">
                <a:latin typeface="Times New Roman"/>
                <a:cs typeface="Times New Roman"/>
              </a:rPr>
              <a:t> 100 de </a:t>
            </a:r>
            <a:r>
              <a:rPr lang="en-US" sz="1500" dirty="0" err="1">
                <a:latin typeface="Times New Roman"/>
                <a:cs typeface="Times New Roman"/>
              </a:rPr>
              <a:t>secunde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pentru</a:t>
            </a:r>
            <a:r>
              <a:rPr lang="en-US" sz="1500" dirty="0">
                <a:latin typeface="Times New Roman"/>
                <a:cs typeface="Times New Roman"/>
              </a:rPr>
              <a:t> a </a:t>
            </a:r>
            <a:r>
              <a:rPr lang="en-US" sz="1500" dirty="0" err="1">
                <a:latin typeface="Times New Roman"/>
                <a:cs typeface="Times New Roman"/>
              </a:rPr>
              <a:t>realiza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mutarea</a:t>
            </a:r>
            <a:r>
              <a:rPr lang="en-US" sz="1500" dirty="0">
                <a:latin typeface="Times New Roman"/>
                <a:cs typeface="Times New Roman"/>
              </a:rPr>
              <a:t>; 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</a:rPr>
              <a:t>putem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explora</a:t>
            </a:r>
            <a:r>
              <a:rPr lang="en-US" sz="1500" dirty="0">
                <a:latin typeface="Times New Roman"/>
                <a:cs typeface="Times New Roman"/>
              </a:rPr>
              <a:t> 10000 </a:t>
            </a:r>
            <a:r>
              <a:rPr lang="en-US" sz="1500" dirty="0" err="1">
                <a:latin typeface="Times New Roman"/>
                <a:cs typeface="Times New Roman"/>
              </a:rPr>
              <a:t>noduri</a:t>
            </a:r>
            <a:r>
              <a:rPr lang="en-US" sz="1500" dirty="0">
                <a:latin typeface="Times New Roman"/>
                <a:cs typeface="Times New Roman"/>
              </a:rPr>
              <a:t> / </a:t>
            </a:r>
            <a:r>
              <a:rPr lang="en-US" sz="1500" dirty="0" err="1">
                <a:latin typeface="Times New Roman"/>
                <a:cs typeface="Times New Roman"/>
              </a:rPr>
              <a:t>secundă</a:t>
            </a:r>
            <a:r>
              <a:rPr lang="en-US" sz="1500" dirty="0">
                <a:latin typeface="Times New Roman"/>
                <a:cs typeface="Times New Roman"/>
              </a:rPr>
              <a:t>;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</a:rPr>
              <a:t>în</a:t>
            </a:r>
            <a:r>
              <a:rPr lang="en-US" sz="1500" dirty="0">
                <a:latin typeface="Times New Roman"/>
                <a:cs typeface="Times New Roman"/>
              </a:rPr>
              <a:t> 100 de </a:t>
            </a:r>
            <a:r>
              <a:rPr lang="en-US" sz="1500" dirty="0" err="1">
                <a:latin typeface="Times New Roman"/>
                <a:cs typeface="Times New Roman"/>
              </a:rPr>
              <a:t>secunde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putem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explora</a:t>
            </a:r>
            <a:r>
              <a:rPr lang="en-US" sz="1500" dirty="0">
                <a:latin typeface="Times New Roman"/>
                <a:cs typeface="Times New Roman"/>
              </a:rPr>
              <a:t> 1 </a:t>
            </a:r>
            <a:r>
              <a:rPr lang="en-US" sz="1500" dirty="0" err="1">
                <a:latin typeface="Times New Roman"/>
                <a:cs typeface="Times New Roman"/>
              </a:rPr>
              <a:t>Milion</a:t>
            </a:r>
            <a:r>
              <a:rPr lang="en-US" sz="1500" dirty="0">
                <a:latin typeface="Times New Roman"/>
                <a:cs typeface="Times New Roman"/>
              </a:rPr>
              <a:t> de </a:t>
            </a:r>
            <a:r>
              <a:rPr lang="en-US" sz="1500" dirty="0" err="1">
                <a:latin typeface="Times New Roman"/>
                <a:cs typeface="Times New Roman"/>
              </a:rPr>
              <a:t>noduri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pentru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mutare</a:t>
            </a:r>
            <a:endParaRPr lang="en-US" sz="1500" dirty="0">
              <a:latin typeface="Times New Roman"/>
              <a:cs typeface="Times New Roman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algoritmul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 - </a:t>
            </a: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 (</a:t>
            </a: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îl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prezentăm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azi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) </a:t>
            </a: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ajunge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 la </a:t>
            </a: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adâncime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 8 – </a:t>
            </a: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performanță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bună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în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1500" dirty="0" err="1">
                <a:latin typeface="Times New Roman"/>
                <a:cs typeface="Times New Roman"/>
                <a:sym typeface="Symbol" pitchFamily="18" charset="2"/>
              </a:rPr>
              <a:t>șah</a:t>
            </a:r>
            <a:r>
              <a:rPr lang="en-US" sz="1500" dirty="0">
                <a:latin typeface="Times New Roman"/>
                <a:cs typeface="Times New Roman"/>
                <a:sym typeface="Symbol" pitchFamily="18" charset="2"/>
              </a:rPr>
              <a:t>;</a:t>
            </a:r>
          </a:p>
          <a:p>
            <a:pPr algn="just" eaLnBrk="1" hangingPunct="1">
              <a:lnSpc>
                <a:spcPct val="110000"/>
              </a:lnSpc>
            </a:pPr>
            <a:endParaRPr lang="en-US" sz="15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</a:rPr>
              <a:t>garanția</a:t>
            </a:r>
            <a:r>
              <a:rPr lang="en-US" sz="1500" dirty="0">
                <a:latin typeface="Times New Roman"/>
                <a:cs typeface="Times New Roman"/>
              </a:rPr>
              <a:t> de </a:t>
            </a:r>
            <a:r>
              <a:rPr lang="en-US" sz="1500" dirty="0" err="1">
                <a:latin typeface="Times New Roman"/>
                <a:cs typeface="Times New Roman"/>
              </a:rPr>
              <a:t>optimalitate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dispare</a:t>
            </a:r>
            <a:r>
              <a:rPr lang="en-US" sz="1500" dirty="0">
                <a:latin typeface="Times New Roman"/>
                <a:cs typeface="Times New Roman"/>
              </a:rPr>
              <a:t>;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1500" dirty="0">
                <a:latin typeface="Times New Roman"/>
                <a:cs typeface="Times New Roman"/>
              </a:rPr>
              <a:t>cu </a:t>
            </a:r>
            <a:r>
              <a:rPr lang="en-US" sz="1500" dirty="0" err="1">
                <a:latin typeface="Times New Roman"/>
                <a:cs typeface="Times New Roman"/>
              </a:rPr>
              <a:t>cât</a:t>
            </a:r>
            <a:r>
              <a:rPr lang="en-US" sz="1500" dirty="0">
                <a:latin typeface="Times New Roman"/>
                <a:cs typeface="Times New Roman"/>
              </a:rPr>
              <a:t> pot </a:t>
            </a:r>
            <a:r>
              <a:rPr lang="en-US" sz="1500" dirty="0" err="1">
                <a:latin typeface="Times New Roman"/>
                <a:cs typeface="Times New Roman"/>
              </a:rPr>
              <a:t>analiza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mai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multe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noduri</a:t>
            </a:r>
            <a:r>
              <a:rPr lang="en-US" sz="1500" dirty="0">
                <a:latin typeface="Times New Roman"/>
                <a:cs typeface="Times New Roman"/>
              </a:rPr>
              <a:t> cu </a:t>
            </a:r>
            <a:r>
              <a:rPr lang="en-US" sz="1500" dirty="0" err="1">
                <a:latin typeface="Times New Roman"/>
                <a:cs typeface="Times New Roman"/>
              </a:rPr>
              <a:t>atât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mutarea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este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mai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bună</a:t>
            </a:r>
            <a:r>
              <a:rPr lang="en-US" sz="1500" dirty="0">
                <a:latin typeface="Times New Roman"/>
                <a:cs typeface="Times New Roman"/>
              </a:rPr>
              <a:t>;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1500" dirty="0" err="1">
                <a:latin typeface="Times New Roman"/>
                <a:cs typeface="Times New Roman"/>
              </a:rPr>
              <a:t>uneori</a:t>
            </a:r>
            <a:r>
              <a:rPr lang="en-US" sz="1500" dirty="0">
                <a:latin typeface="Times New Roman"/>
                <a:cs typeface="Times New Roman"/>
              </a:rPr>
              <a:t> pot </a:t>
            </a:r>
            <a:r>
              <a:rPr lang="en-US" sz="1500" dirty="0" err="1">
                <a:latin typeface="Times New Roman"/>
                <a:cs typeface="Times New Roman"/>
              </a:rPr>
              <a:t>folosi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și</a:t>
            </a:r>
            <a:r>
              <a:rPr lang="en-US" sz="1500" dirty="0">
                <a:latin typeface="Times New Roman"/>
                <a:cs typeface="Times New Roman"/>
              </a:rPr>
              <a:t> un </a:t>
            </a:r>
            <a:r>
              <a:rPr lang="en-US" sz="1500" dirty="0" err="1">
                <a:latin typeface="Times New Roman"/>
                <a:cs typeface="Times New Roman"/>
              </a:rPr>
              <a:t>algoritm</a:t>
            </a:r>
            <a:r>
              <a:rPr lang="en-US" sz="1500" dirty="0">
                <a:latin typeface="Times New Roman"/>
                <a:cs typeface="Times New Roman"/>
              </a:rPr>
              <a:t> de </a:t>
            </a:r>
            <a:r>
              <a:rPr lang="en-US" sz="1500" dirty="0" err="1">
                <a:latin typeface="Times New Roman"/>
                <a:cs typeface="Times New Roman"/>
              </a:rPr>
              <a:t>căutare</a:t>
            </a:r>
            <a:r>
              <a:rPr lang="en-US" sz="1500" dirty="0">
                <a:latin typeface="Times New Roman"/>
                <a:cs typeface="Times New Roman"/>
              </a:rPr>
              <a:t> iterative </a:t>
            </a:r>
            <a:r>
              <a:rPr lang="en-US" sz="1500" dirty="0" err="1">
                <a:latin typeface="Times New Roman"/>
                <a:cs typeface="Times New Roman"/>
              </a:rPr>
              <a:t>în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dirty="0" err="1">
                <a:latin typeface="Times New Roman"/>
                <a:cs typeface="Times New Roman"/>
              </a:rPr>
              <a:t>adâncime</a:t>
            </a:r>
            <a:endParaRPr lang="en-US" sz="1500" dirty="0">
              <a:latin typeface="Times New Roman"/>
              <a:cs typeface="Times New Roman"/>
            </a:endParaRPr>
          </a:p>
          <a:p>
            <a:pPr lvl="1" algn="just" eaLnBrk="1" hangingPunct="1">
              <a:lnSpc>
                <a:spcPct val="80000"/>
              </a:lnSpc>
            </a:pPr>
            <a:endParaRPr lang="en-US" sz="1500" dirty="0">
              <a:solidFill>
                <a:srgbClr val="CC0000"/>
              </a:solidFill>
              <a:latin typeface="Times New Roman"/>
              <a:cs typeface="Times New Roman"/>
            </a:endParaRPr>
          </a:p>
        </p:txBody>
      </p:sp>
      <p:sp>
        <p:nvSpPr>
          <p:cNvPr id="17412" name="AutoShape 22"/>
          <p:cNvSpPr>
            <a:spLocks noChangeArrowheads="1"/>
          </p:cNvSpPr>
          <p:nvPr/>
        </p:nvSpPr>
        <p:spPr bwMode="auto">
          <a:xfrm>
            <a:off x="6972300" y="15240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sp>
        <p:nvSpPr>
          <p:cNvPr id="17413" name="AutoShape 23"/>
          <p:cNvSpPr>
            <a:spLocks noChangeArrowheads="1"/>
          </p:cNvSpPr>
          <p:nvPr/>
        </p:nvSpPr>
        <p:spPr bwMode="auto">
          <a:xfrm rot="10800000">
            <a:off x="6343650" y="19812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14" name="AutoShape 24"/>
          <p:cNvSpPr>
            <a:spLocks noChangeArrowheads="1"/>
          </p:cNvSpPr>
          <p:nvPr/>
        </p:nvSpPr>
        <p:spPr bwMode="auto">
          <a:xfrm rot="10800000">
            <a:off x="7600950" y="19812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  <p:cxnSp>
        <p:nvCxnSpPr>
          <p:cNvPr id="17415" name="AutoShape 25"/>
          <p:cNvCxnSpPr>
            <a:cxnSpLocks noChangeShapeType="1"/>
            <a:stCxn id="17412" idx="3"/>
            <a:endCxn id="17413" idx="3"/>
          </p:cNvCxnSpPr>
          <p:nvPr/>
        </p:nvCxnSpPr>
        <p:spPr bwMode="auto">
          <a:xfrm flipH="1">
            <a:off x="6486525" y="1828800"/>
            <a:ext cx="6286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16" name="AutoShape 26"/>
          <p:cNvCxnSpPr>
            <a:cxnSpLocks noChangeShapeType="1"/>
            <a:stCxn id="17412" idx="3"/>
            <a:endCxn id="17414" idx="3"/>
          </p:cNvCxnSpPr>
          <p:nvPr/>
        </p:nvCxnSpPr>
        <p:spPr bwMode="auto">
          <a:xfrm>
            <a:off x="7115175" y="1828800"/>
            <a:ext cx="6286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17" name="AutoShape 27"/>
          <p:cNvCxnSpPr>
            <a:cxnSpLocks noChangeShapeType="1"/>
            <a:stCxn id="17413" idx="0"/>
            <a:endCxn id="1085499" idx="0"/>
          </p:cNvCxnSpPr>
          <p:nvPr/>
        </p:nvCxnSpPr>
        <p:spPr bwMode="auto">
          <a:xfrm flipH="1">
            <a:off x="6229350" y="2286000"/>
            <a:ext cx="257175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18" name="AutoShape 28"/>
          <p:cNvCxnSpPr>
            <a:cxnSpLocks noChangeShapeType="1"/>
            <a:stCxn id="17413" idx="0"/>
            <a:endCxn id="1085500" idx="0"/>
          </p:cNvCxnSpPr>
          <p:nvPr/>
        </p:nvCxnSpPr>
        <p:spPr bwMode="auto">
          <a:xfrm>
            <a:off x="6486525" y="2286000"/>
            <a:ext cx="257175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19" name="AutoShape 29"/>
          <p:cNvCxnSpPr>
            <a:cxnSpLocks noChangeShapeType="1"/>
            <a:stCxn id="17424" idx="3"/>
            <a:endCxn id="17427" idx="0"/>
          </p:cNvCxnSpPr>
          <p:nvPr/>
        </p:nvCxnSpPr>
        <p:spPr bwMode="auto">
          <a:xfrm flipH="1">
            <a:off x="7743825" y="2743200"/>
            <a:ext cx="2286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20" name="AutoShape 30"/>
          <p:cNvCxnSpPr>
            <a:cxnSpLocks noChangeShapeType="1"/>
            <a:stCxn id="17424" idx="3"/>
            <a:endCxn id="17428" idx="0"/>
          </p:cNvCxnSpPr>
          <p:nvPr/>
        </p:nvCxnSpPr>
        <p:spPr bwMode="auto">
          <a:xfrm>
            <a:off x="7972425" y="2743200"/>
            <a:ext cx="2286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421" name="AutoShape 31"/>
          <p:cNvSpPr>
            <a:spLocks noChangeArrowheads="1"/>
          </p:cNvSpPr>
          <p:nvPr/>
        </p:nvSpPr>
        <p:spPr bwMode="auto">
          <a:xfrm>
            <a:off x="6115050" y="24384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2" name="AutoShape 32"/>
          <p:cNvSpPr>
            <a:spLocks noChangeArrowheads="1"/>
          </p:cNvSpPr>
          <p:nvPr/>
        </p:nvSpPr>
        <p:spPr bwMode="auto">
          <a:xfrm>
            <a:off x="6572250" y="24384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3" name="AutoShape 33"/>
          <p:cNvSpPr>
            <a:spLocks noChangeArrowheads="1"/>
          </p:cNvSpPr>
          <p:nvPr/>
        </p:nvSpPr>
        <p:spPr bwMode="auto">
          <a:xfrm>
            <a:off x="7372350" y="24384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4" name="AutoShape 34"/>
          <p:cNvSpPr>
            <a:spLocks noChangeArrowheads="1"/>
          </p:cNvSpPr>
          <p:nvPr/>
        </p:nvSpPr>
        <p:spPr bwMode="auto">
          <a:xfrm>
            <a:off x="7829550" y="24384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5" name="AutoShape 35"/>
          <p:cNvSpPr>
            <a:spLocks noChangeArrowheads="1"/>
          </p:cNvSpPr>
          <p:nvPr/>
        </p:nvSpPr>
        <p:spPr bwMode="auto">
          <a:xfrm>
            <a:off x="6343650" y="28956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6" name="AutoShape 36"/>
          <p:cNvSpPr>
            <a:spLocks noChangeArrowheads="1"/>
          </p:cNvSpPr>
          <p:nvPr/>
        </p:nvSpPr>
        <p:spPr bwMode="auto">
          <a:xfrm>
            <a:off x="6343650" y="38100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7" name="AutoShape 37"/>
          <p:cNvSpPr>
            <a:spLocks noChangeArrowheads="1"/>
          </p:cNvSpPr>
          <p:nvPr/>
        </p:nvSpPr>
        <p:spPr bwMode="auto">
          <a:xfrm>
            <a:off x="7600950" y="28956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8" name="AutoShape 38"/>
          <p:cNvSpPr>
            <a:spLocks noChangeArrowheads="1"/>
          </p:cNvSpPr>
          <p:nvPr/>
        </p:nvSpPr>
        <p:spPr bwMode="auto">
          <a:xfrm>
            <a:off x="8058150" y="28956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7429" name="AutoShape 39"/>
          <p:cNvSpPr>
            <a:spLocks noChangeArrowheads="1"/>
          </p:cNvSpPr>
          <p:nvPr/>
        </p:nvSpPr>
        <p:spPr bwMode="auto">
          <a:xfrm>
            <a:off x="6115050" y="33528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AutoShape 40"/>
          <p:cNvSpPr>
            <a:spLocks noChangeArrowheads="1"/>
          </p:cNvSpPr>
          <p:nvPr/>
        </p:nvSpPr>
        <p:spPr bwMode="auto">
          <a:xfrm>
            <a:off x="6572250" y="33528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431" name="AutoShape 41"/>
          <p:cNvCxnSpPr>
            <a:cxnSpLocks noChangeShapeType="1"/>
            <a:stCxn id="17414" idx="0"/>
            <a:endCxn id="17423" idx="0"/>
          </p:cNvCxnSpPr>
          <p:nvPr/>
        </p:nvCxnSpPr>
        <p:spPr bwMode="auto">
          <a:xfrm flipH="1">
            <a:off x="7515225" y="2286000"/>
            <a:ext cx="2286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32" name="AutoShape 42"/>
          <p:cNvCxnSpPr>
            <a:cxnSpLocks noChangeShapeType="1"/>
            <a:stCxn id="17414" idx="0"/>
            <a:endCxn id="17424" idx="0"/>
          </p:cNvCxnSpPr>
          <p:nvPr/>
        </p:nvCxnSpPr>
        <p:spPr bwMode="auto">
          <a:xfrm>
            <a:off x="7743825" y="2286000"/>
            <a:ext cx="2286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33" name="AutoShape 43"/>
          <p:cNvCxnSpPr>
            <a:cxnSpLocks noChangeShapeType="1"/>
            <a:stCxn id="17422" idx="3"/>
            <a:endCxn id="17425" idx="0"/>
          </p:cNvCxnSpPr>
          <p:nvPr/>
        </p:nvCxnSpPr>
        <p:spPr bwMode="auto">
          <a:xfrm flipH="1">
            <a:off x="6486525" y="2743200"/>
            <a:ext cx="2286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434" name="AutoShape 44"/>
          <p:cNvSpPr>
            <a:spLocks noChangeArrowheads="1"/>
          </p:cNvSpPr>
          <p:nvPr/>
        </p:nvSpPr>
        <p:spPr bwMode="auto">
          <a:xfrm>
            <a:off x="6800850" y="38100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435" name="AutoShape 45"/>
          <p:cNvCxnSpPr>
            <a:cxnSpLocks noChangeShapeType="1"/>
            <a:stCxn id="17425" idx="3"/>
            <a:endCxn id="17429" idx="0"/>
          </p:cNvCxnSpPr>
          <p:nvPr/>
        </p:nvCxnSpPr>
        <p:spPr bwMode="auto">
          <a:xfrm flipH="1">
            <a:off x="6257925" y="3200400"/>
            <a:ext cx="2286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36" name="AutoShape 46"/>
          <p:cNvCxnSpPr>
            <a:cxnSpLocks noChangeShapeType="1"/>
            <a:stCxn id="17425" idx="3"/>
            <a:endCxn id="17430" idx="0"/>
          </p:cNvCxnSpPr>
          <p:nvPr/>
        </p:nvCxnSpPr>
        <p:spPr bwMode="auto">
          <a:xfrm>
            <a:off x="6486525" y="3200400"/>
            <a:ext cx="2286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37" name="AutoShape 47"/>
          <p:cNvCxnSpPr>
            <a:cxnSpLocks noChangeShapeType="1"/>
            <a:stCxn id="17430" idx="3"/>
            <a:endCxn id="17426" idx="0"/>
          </p:cNvCxnSpPr>
          <p:nvPr/>
        </p:nvCxnSpPr>
        <p:spPr bwMode="auto">
          <a:xfrm flipH="1">
            <a:off x="6486525" y="3657600"/>
            <a:ext cx="2286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7438" name="AutoShape 48"/>
          <p:cNvCxnSpPr>
            <a:cxnSpLocks noChangeShapeType="1"/>
            <a:stCxn id="17430" idx="3"/>
            <a:endCxn id="17434" idx="0"/>
          </p:cNvCxnSpPr>
          <p:nvPr/>
        </p:nvCxnSpPr>
        <p:spPr bwMode="auto">
          <a:xfrm>
            <a:off x="6715125" y="3657600"/>
            <a:ext cx="2286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439" name="Rectangle 49"/>
          <p:cNvSpPr>
            <a:spLocks noChangeArrowheads="1"/>
          </p:cNvSpPr>
          <p:nvPr/>
        </p:nvSpPr>
        <p:spPr bwMode="auto">
          <a:xfrm>
            <a:off x="5943600" y="5791200"/>
            <a:ext cx="40005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17440" name="Rectangle 50"/>
          <p:cNvSpPr>
            <a:spLocks noChangeArrowheads="1"/>
          </p:cNvSpPr>
          <p:nvPr/>
        </p:nvSpPr>
        <p:spPr bwMode="auto">
          <a:xfrm>
            <a:off x="6572250" y="5791200"/>
            <a:ext cx="400050" cy="304800"/>
          </a:xfrm>
          <a:prstGeom prst="rect">
            <a:avLst/>
          </a:prstGeom>
          <a:solidFill>
            <a:srgbClr val="B3A2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17441" name="Rectangle 51"/>
          <p:cNvSpPr>
            <a:spLocks noChangeArrowheads="1"/>
          </p:cNvSpPr>
          <p:nvPr/>
        </p:nvSpPr>
        <p:spPr bwMode="auto">
          <a:xfrm>
            <a:off x="7315200" y="5791200"/>
            <a:ext cx="400050" cy="304800"/>
          </a:xfrm>
          <a:prstGeom prst="rect">
            <a:avLst/>
          </a:prstGeom>
          <a:solidFill>
            <a:srgbClr val="B3A2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17442" name="Rectangle 52"/>
          <p:cNvSpPr>
            <a:spLocks noChangeArrowheads="1"/>
          </p:cNvSpPr>
          <p:nvPr/>
        </p:nvSpPr>
        <p:spPr bwMode="auto">
          <a:xfrm>
            <a:off x="7943850" y="5791200"/>
            <a:ext cx="400050" cy="304800"/>
          </a:xfrm>
          <a:prstGeom prst="rect">
            <a:avLst/>
          </a:prstGeom>
          <a:solidFill>
            <a:srgbClr val="B3A2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?</a:t>
            </a:r>
          </a:p>
        </p:txBody>
      </p:sp>
      <p:sp>
        <p:nvSpPr>
          <p:cNvPr id="17443" name="Freeform 53"/>
          <p:cNvSpPr>
            <a:spLocks/>
          </p:cNvSpPr>
          <p:nvPr/>
        </p:nvSpPr>
        <p:spPr bwMode="auto">
          <a:xfrm>
            <a:off x="6076950" y="4114800"/>
            <a:ext cx="381000" cy="1676400"/>
          </a:xfrm>
          <a:custGeom>
            <a:avLst/>
            <a:gdLst>
              <a:gd name="T0" fmla="*/ 2147483647 w 320"/>
              <a:gd name="T1" fmla="*/ 0 h 1440"/>
              <a:gd name="T2" fmla="*/ 2147483647 w 320"/>
              <a:gd name="T3" fmla="*/ 2147483647 h 1440"/>
              <a:gd name="T4" fmla="*/ 2147483647 w 320"/>
              <a:gd name="T5" fmla="*/ 2147483647 h 1440"/>
              <a:gd name="T6" fmla="*/ 2147483647 w 320"/>
              <a:gd name="T7" fmla="*/ 2147483647 h 1440"/>
              <a:gd name="T8" fmla="*/ 2147483647 w 320"/>
              <a:gd name="T9" fmla="*/ 2147483647 h 1440"/>
              <a:gd name="T10" fmla="*/ 2147483647 w 320"/>
              <a:gd name="T11" fmla="*/ 2147483647 h 144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0"/>
              <a:gd name="T19" fmla="*/ 0 h 1440"/>
              <a:gd name="T20" fmla="*/ 320 w 320"/>
              <a:gd name="T21" fmla="*/ 1440 h 144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0" h="1440">
                <a:moveTo>
                  <a:pt x="320" y="0"/>
                </a:moveTo>
                <a:cubicBezTo>
                  <a:pt x="232" y="72"/>
                  <a:pt x="144" y="144"/>
                  <a:pt x="128" y="240"/>
                </a:cubicBezTo>
                <a:cubicBezTo>
                  <a:pt x="112" y="336"/>
                  <a:pt x="240" y="480"/>
                  <a:pt x="224" y="576"/>
                </a:cubicBezTo>
                <a:cubicBezTo>
                  <a:pt x="208" y="672"/>
                  <a:pt x="64" y="736"/>
                  <a:pt x="32" y="816"/>
                </a:cubicBezTo>
                <a:cubicBezTo>
                  <a:pt x="0" y="896"/>
                  <a:pt x="32" y="952"/>
                  <a:pt x="32" y="1056"/>
                </a:cubicBezTo>
                <a:cubicBezTo>
                  <a:pt x="32" y="1160"/>
                  <a:pt x="32" y="1300"/>
                  <a:pt x="32" y="144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4" name="Freeform 54"/>
          <p:cNvSpPr>
            <a:spLocks/>
          </p:cNvSpPr>
          <p:nvPr/>
        </p:nvSpPr>
        <p:spPr bwMode="auto">
          <a:xfrm>
            <a:off x="6667500" y="4114800"/>
            <a:ext cx="304800" cy="1676400"/>
          </a:xfrm>
          <a:custGeom>
            <a:avLst/>
            <a:gdLst>
              <a:gd name="T0" fmla="*/ 2147483647 w 256"/>
              <a:gd name="T1" fmla="*/ 0 h 1056"/>
              <a:gd name="T2" fmla="*/ 2147483647 w 256"/>
              <a:gd name="T3" fmla="*/ 2147483647 h 1056"/>
              <a:gd name="T4" fmla="*/ 2147483647 w 256"/>
              <a:gd name="T5" fmla="*/ 2147483647 h 1056"/>
              <a:gd name="T6" fmla="*/ 2147483647 w 256"/>
              <a:gd name="T7" fmla="*/ 2147483647 h 1056"/>
              <a:gd name="T8" fmla="*/ 2147483647 w 256"/>
              <a:gd name="T9" fmla="*/ 2147483647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6"/>
              <a:gd name="T16" fmla="*/ 0 h 1056"/>
              <a:gd name="T17" fmla="*/ 256 w 256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6" h="1056">
                <a:moveTo>
                  <a:pt x="256" y="0"/>
                </a:moveTo>
                <a:cubicBezTo>
                  <a:pt x="140" y="148"/>
                  <a:pt x="24" y="296"/>
                  <a:pt x="16" y="384"/>
                </a:cubicBezTo>
                <a:cubicBezTo>
                  <a:pt x="8" y="472"/>
                  <a:pt x="208" y="456"/>
                  <a:pt x="208" y="528"/>
                </a:cubicBezTo>
                <a:cubicBezTo>
                  <a:pt x="208" y="600"/>
                  <a:pt x="32" y="728"/>
                  <a:pt x="16" y="816"/>
                </a:cubicBezTo>
                <a:cubicBezTo>
                  <a:pt x="0" y="904"/>
                  <a:pt x="56" y="980"/>
                  <a:pt x="112" y="1056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5" name="Freeform 55"/>
          <p:cNvSpPr>
            <a:spLocks/>
          </p:cNvSpPr>
          <p:nvPr/>
        </p:nvSpPr>
        <p:spPr bwMode="auto">
          <a:xfrm>
            <a:off x="7886700" y="3200400"/>
            <a:ext cx="342900" cy="2590800"/>
          </a:xfrm>
          <a:custGeom>
            <a:avLst/>
            <a:gdLst>
              <a:gd name="T0" fmla="*/ 2147483647 w 256"/>
              <a:gd name="T1" fmla="*/ 0 h 1056"/>
              <a:gd name="T2" fmla="*/ 2147483647 w 256"/>
              <a:gd name="T3" fmla="*/ 2147483647 h 1056"/>
              <a:gd name="T4" fmla="*/ 2147483647 w 256"/>
              <a:gd name="T5" fmla="*/ 2147483647 h 1056"/>
              <a:gd name="T6" fmla="*/ 2147483647 w 256"/>
              <a:gd name="T7" fmla="*/ 2147483647 h 1056"/>
              <a:gd name="T8" fmla="*/ 2147483647 w 256"/>
              <a:gd name="T9" fmla="*/ 2147483647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6"/>
              <a:gd name="T16" fmla="*/ 0 h 1056"/>
              <a:gd name="T17" fmla="*/ 256 w 256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6" h="1056">
                <a:moveTo>
                  <a:pt x="256" y="0"/>
                </a:moveTo>
                <a:cubicBezTo>
                  <a:pt x="140" y="148"/>
                  <a:pt x="24" y="296"/>
                  <a:pt x="16" y="384"/>
                </a:cubicBezTo>
                <a:cubicBezTo>
                  <a:pt x="8" y="472"/>
                  <a:pt x="208" y="456"/>
                  <a:pt x="208" y="528"/>
                </a:cubicBezTo>
                <a:cubicBezTo>
                  <a:pt x="208" y="600"/>
                  <a:pt x="32" y="728"/>
                  <a:pt x="16" y="816"/>
                </a:cubicBezTo>
                <a:cubicBezTo>
                  <a:pt x="0" y="904"/>
                  <a:pt x="56" y="980"/>
                  <a:pt x="112" y="1056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46" name="Freeform 56"/>
          <p:cNvSpPr>
            <a:spLocks/>
          </p:cNvSpPr>
          <p:nvPr/>
        </p:nvSpPr>
        <p:spPr bwMode="auto">
          <a:xfrm>
            <a:off x="7458075" y="3200400"/>
            <a:ext cx="381000" cy="2590800"/>
          </a:xfrm>
          <a:custGeom>
            <a:avLst/>
            <a:gdLst>
              <a:gd name="T0" fmla="*/ 2147483647 w 320"/>
              <a:gd name="T1" fmla="*/ 0 h 1632"/>
              <a:gd name="T2" fmla="*/ 2147483647 w 320"/>
              <a:gd name="T3" fmla="*/ 2147483647 h 1632"/>
              <a:gd name="T4" fmla="*/ 2147483647 w 320"/>
              <a:gd name="T5" fmla="*/ 2147483647 h 1632"/>
              <a:gd name="T6" fmla="*/ 2147483647 w 320"/>
              <a:gd name="T7" fmla="*/ 2147483647 h 1632"/>
              <a:gd name="T8" fmla="*/ 2147483647 w 320"/>
              <a:gd name="T9" fmla="*/ 2147483647 h 1632"/>
              <a:gd name="T10" fmla="*/ 2147483647 w 320"/>
              <a:gd name="T11" fmla="*/ 2147483647 h 16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0"/>
              <a:gd name="T19" fmla="*/ 0 h 1632"/>
              <a:gd name="T20" fmla="*/ 320 w 320"/>
              <a:gd name="T21" fmla="*/ 1632 h 163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0" h="1632">
                <a:moveTo>
                  <a:pt x="216" y="0"/>
                </a:moveTo>
                <a:cubicBezTo>
                  <a:pt x="268" y="108"/>
                  <a:pt x="320" y="216"/>
                  <a:pt x="312" y="336"/>
                </a:cubicBezTo>
                <a:cubicBezTo>
                  <a:pt x="304" y="456"/>
                  <a:pt x="192" y="576"/>
                  <a:pt x="168" y="720"/>
                </a:cubicBezTo>
                <a:cubicBezTo>
                  <a:pt x="144" y="864"/>
                  <a:pt x="192" y="1104"/>
                  <a:pt x="168" y="1200"/>
                </a:cubicBezTo>
                <a:cubicBezTo>
                  <a:pt x="144" y="1296"/>
                  <a:pt x="48" y="1224"/>
                  <a:pt x="24" y="1296"/>
                </a:cubicBezTo>
                <a:cubicBezTo>
                  <a:pt x="0" y="1368"/>
                  <a:pt x="12" y="1500"/>
                  <a:pt x="24" y="163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7447" name="AutoShape 57"/>
          <p:cNvCxnSpPr>
            <a:cxnSpLocks noChangeShapeType="1"/>
            <a:stCxn id="17422" idx="3"/>
            <a:endCxn id="17448" idx="0"/>
          </p:cNvCxnSpPr>
          <p:nvPr/>
        </p:nvCxnSpPr>
        <p:spPr bwMode="auto">
          <a:xfrm>
            <a:off x="6715125" y="2743200"/>
            <a:ext cx="2286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7448" name="AutoShape 58"/>
          <p:cNvSpPr>
            <a:spLocks noChangeArrowheads="1"/>
          </p:cNvSpPr>
          <p:nvPr/>
        </p:nvSpPr>
        <p:spPr bwMode="auto">
          <a:xfrm>
            <a:off x="6800850" y="28956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085499" name="Rectangle 59"/>
          <p:cNvSpPr>
            <a:spLocks noChangeArrowheads="1"/>
          </p:cNvSpPr>
          <p:nvPr/>
        </p:nvSpPr>
        <p:spPr bwMode="auto">
          <a:xfrm>
            <a:off x="6057900" y="2438400"/>
            <a:ext cx="342900" cy="304800"/>
          </a:xfrm>
          <a:prstGeom prst="rect">
            <a:avLst/>
          </a:prstGeom>
          <a:solidFill>
            <a:srgbClr val="8EB4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-1</a:t>
            </a:r>
          </a:p>
        </p:txBody>
      </p:sp>
      <p:sp>
        <p:nvSpPr>
          <p:cNvPr id="1085500" name="Rectangle 60"/>
          <p:cNvSpPr>
            <a:spLocks noChangeArrowheads="1"/>
          </p:cNvSpPr>
          <p:nvPr/>
        </p:nvSpPr>
        <p:spPr bwMode="auto">
          <a:xfrm>
            <a:off x="6572250" y="2438400"/>
            <a:ext cx="342900" cy="304800"/>
          </a:xfrm>
          <a:prstGeom prst="rect">
            <a:avLst/>
          </a:prstGeom>
          <a:solidFill>
            <a:srgbClr val="8EB4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-2</a:t>
            </a:r>
          </a:p>
        </p:txBody>
      </p:sp>
      <p:sp>
        <p:nvSpPr>
          <p:cNvPr id="1085501" name="Rectangle 61"/>
          <p:cNvSpPr>
            <a:spLocks noChangeArrowheads="1"/>
          </p:cNvSpPr>
          <p:nvPr/>
        </p:nvSpPr>
        <p:spPr bwMode="auto">
          <a:xfrm>
            <a:off x="7315200" y="2438400"/>
            <a:ext cx="342900" cy="304800"/>
          </a:xfrm>
          <a:prstGeom prst="rect">
            <a:avLst/>
          </a:prstGeom>
          <a:solidFill>
            <a:srgbClr val="8EB4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4</a:t>
            </a:r>
          </a:p>
        </p:txBody>
      </p:sp>
      <p:sp>
        <p:nvSpPr>
          <p:cNvPr id="1085502" name="Rectangle 62"/>
          <p:cNvSpPr>
            <a:spLocks noChangeArrowheads="1"/>
          </p:cNvSpPr>
          <p:nvPr/>
        </p:nvSpPr>
        <p:spPr bwMode="auto">
          <a:xfrm>
            <a:off x="7829550" y="2438400"/>
            <a:ext cx="342900" cy="304800"/>
          </a:xfrm>
          <a:prstGeom prst="rect">
            <a:avLst/>
          </a:prstGeom>
          <a:solidFill>
            <a:srgbClr val="8EB4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9</a:t>
            </a:r>
          </a:p>
        </p:txBody>
      </p:sp>
      <p:sp>
        <p:nvSpPr>
          <p:cNvPr id="1085505" name="AutoShape 65"/>
          <p:cNvSpPr>
            <a:spLocks noChangeArrowheads="1"/>
          </p:cNvSpPr>
          <p:nvPr/>
        </p:nvSpPr>
        <p:spPr bwMode="auto">
          <a:xfrm>
            <a:off x="6972300" y="15240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8EB4E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tIns="182880" anchor="b" anchorCtr="0"/>
          <a:lstStyle/>
          <a:p>
            <a:pPr algn="ctr"/>
            <a:r>
              <a:rPr lang="en-US" dirty="0">
                <a:latin typeface="Calibri" pitchFamily="34" charset="0"/>
              </a:rPr>
              <a:t>4</a:t>
            </a:r>
          </a:p>
        </p:txBody>
      </p:sp>
      <p:sp>
        <p:nvSpPr>
          <p:cNvPr id="1085507" name="Text Box 67"/>
          <p:cNvSpPr txBox="1">
            <a:spLocks noChangeArrowheads="1"/>
          </p:cNvSpPr>
          <p:nvPr/>
        </p:nvSpPr>
        <p:spPr bwMode="auto">
          <a:xfrm>
            <a:off x="8172451" y="1917978"/>
            <a:ext cx="74295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</a:rPr>
              <a:t>min</a:t>
            </a:r>
          </a:p>
        </p:txBody>
      </p:sp>
      <p:sp>
        <p:nvSpPr>
          <p:cNvPr id="1085508" name="Text Box 68"/>
          <p:cNvSpPr txBox="1">
            <a:spLocks noChangeArrowheads="1"/>
          </p:cNvSpPr>
          <p:nvPr/>
        </p:nvSpPr>
        <p:spPr bwMode="auto">
          <a:xfrm>
            <a:off x="8058151" y="1460778"/>
            <a:ext cx="85725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latin typeface="Calibri" pitchFamily="34" charset="0"/>
              </a:rPr>
              <a:t>max</a:t>
            </a:r>
          </a:p>
        </p:txBody>
      </p:sp>
      <p:sp>
        <p:nvSpPr>
          <p:cNvPr id="1085509" name="AutoShape 69"/>
          <p:cNvSpPr>
            <a:spLocks noChangeArrowheads="1"/>
          </p:cNvSpPr>
          <p:nvPr/>
        </p:nvSpPr>
        <p:spPr bwMode="auto">
          <a:xfrm rot="10800000">
            <a:off x="6343650" y="19812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757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 anchorCtr="1"/>
          <a:lstStyle/>
          <a:p>
            <a:pPr algn="ctr"/>
            <a:r>
              <a:rPr lang="en-US" dirty="0">
                <a:latin typeface="Calibri" pitchFamily="34" charset="0"/>
              </a:rPr>
              <a:t>-2</a:t>
            </a:r>
          </a:p>
        </p:txBody>
      </p:sp>
      <p:sp>
        <p:nvSpPr>
          <p:cNvPr id="1085510" name="AutoShape 70"/>
          <p:cNvSpPr>
            <a:spLocks noChangeArrowheads="1"/>
          </p:cNvSpPr>
          <p:nvPr/>
        </p:nvSpPr>
        <p:spPr bwMode="auto">
          <a:xfrm rot="10800000">
            <a:off x="7600950" y="19812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757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 anchorCtr="1"/>
          <a:lstStyle/>
          <a:p>
            <a:pPr algn="ctr"/>
            <a:r>
              <a:rPr lang="en-US" dirty="0">
                <a:latin typeface="Calibri" pitchFamily="34" charset="0"/>
              </a:rPr>
              <a:t>4</a:t>
            </a:r>
          </a:p>
        </p:txBody>
      </p:sp>
      <p:sp>
        <p:nvSpPr>
          <p:cNvPr id="5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303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Limitări</a:t>
            </a:r>
            <a:r>
              <a:rPr lang="en-US" dirty="0">
                <a:latin typeface="Times New Roman"/>
                <a:cs typeface="Times New Roman"/>
              </a:rPr>
              <a:t> date de </a:t>
            </a:r>
            <a:r>
              <a:rPr lang="en-US" dirty="0" err="1">
                <a:latin typeface="Times New Roman"/>
                <a:cs typeface="Times New Roman"/>
              </a:rPr>
              <a:t>resurse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658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99" grpId="0" animBg="1" autoUpdateAnimBg="0"/>
      <p:bldP spid="1085500" grpId="0" animBg="1" autoUpdateAnimBg="0"/>
      <p:bldP spid="1085501" grpId="0" animBg="1" autoUpdateAnimBg="0"/>
      <p:bldP spid="1085502" grpId="0" animBg="1" autoUpdateAnimBg="0"/>
      <p:bldP spid="1085505" grpId="0" animBg="1" autoUpdateAnimBg="0"/>
      <p:bldP spid="1085509" grpId="0" animBg="1"/>
      <p:bldP spid="10855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DAA1-A537-C634-8282-425B4F2A6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2D80DE-EDC4-2AFF-4794-25AB725D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Autofit/>
          </a:bodyPr>
          <a:lstStyle/>
          <a:p>
            <a:r>
              <a:rPr lang="en-US" sz="3400" dirty="0" err="1">
                <a:latin typeface="Times New Roman"/>
                <a:cs typeface="Times New Roman"/>
              </a:rPr>
              <a:t>Implementare</a:t>
            </a:r>
            <a:r>
              <a:rPr lang="en-US" sz="3400" dirty="0">
                <a:latin typeface="Times New Roman"/>
                <a:cs typeface="Times New Roman"/>
              </a:rPr>
              <a:t> </a:t>
            </a:r>
            <a:r>
              <a:rPr lang="en-US" sz="3400" dirty="0" err="1">
                <a:latin typeface="Times New Roman"/>
                <a:cs typeface="Times New Roman"/>
              </a:rPr>
              <a:t>MiniMax</a:t>
            </a:r>
            <a:r>
              <a:rPr lang="en-US" sz="3400" dirty="0">
                <a:latin typeface="Times New Roman"/>
                <a:cs typeface="Times New Roman"/>
              </a:rPr>
              <a:t> (cu </a:t>
            </a:r>
            <a:r>
              <a:rPr lang="en-US" sz="3400" dirty="0" err="1">
                <a:latin typeface="Times New Roman"/>
                <a:cs typeface="Times New Roman"/>
              </a:rPr>
              <a:t>adâncime</a:t>
            </a:r>
            <a:r>
              <a:rPr lang="en-US" sz="3400" dirty="0">
                <a:latin typeface="Times New Roman"/>
                <a:cs typeface="Times New Roman"/>
              </a:rPr>
              <a:t> </a:t>
            </a:r>
            <a:r>
              <a:rPr lang="en-US" sz="3400" dirty="0" err="1">
                <a:latin typeface="Times New Roman"/>
                <a:cs typeface="Times New Roman"/>
              </a:rPr>
              <a:t>limitată</a:t>
            </a:r>
            <a:r>
              <a:rPr lang="en-US" sz="3400" dirty="0">
                <a:latin typeface="Times New Roman"/>
                <a:cs typeface="Times New Roman"/>
              </a:rPr>
              <a:t> d)</a:t>
            </a:r>
          </a:p>
        </p:txBody>
      </p:sp>
      <p:pic>
        <p:nvPicPr>
          <p:cNvPr id="3" name="Picture 2" descr="A close-up of a math problem&#10;&#10;AI-generated content may be incorrect.">
            <a:extLst>
              <a:ext uri="{FF2B5EF4-FFF2-40B4-BE49-F238E27FC236}">
                <a16:creationId xmlns:a16="http://schemas.microsoft.com/office/drawing/2014/main" id="{4C5C2ACA-C108-E3EB-D7A0-D3A5E74E16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41" b="19396"/>
          <a:stretch>
            <a:fillRect/>
          </a:stretch>
        </p:blipFill>
        <p:spPr>
          <a:xfrm>
            <a:off x="208400" y="1254512"/>
            <a:ext cx="8727200" cy="290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097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6B2AB-6DA0-BA8C-447C-783B7FBC8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B22351-063C-3EEE-E411-D3A5B0A8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24218" cy="1143000"/>
          </a:xfrm>
        </p:spPr>
        <p:txBody>
          <a:bodyPr>
            <a:noAutofit/>
          </a:bodyPr>
          <a:lstStyle/>
          <a:p>
            <a:r>
              <a:rPr lang="en-US" sz="3400" dirty="0" err="1">
                <a:latin typeface="Times New Roman"/>
                <a:cs typeface="Times New Roman"/>
              </a:rPr>
              <a:t>Implementare</a:t>
            </a:r>
            <a:r>
              <a:rPr lang="en-US" sz="3400" dirty="0">
                <a:latin typeface="Times New Roman"/>
                <a:cs typeface="Times New Roman"/>
              </a:rPr>
              <a:t> </a:t>
            </a:r>
            <a:r>
              <a:rPr lang="en-US" sz="3400" dirty="0" err="1">
                <a:latin typeface="Times New Roman"/>
                <a:cs typeface="Times New Roman"/>
              </a:rPr>
              <a:t>MiniMax</a:t>
            </a:r>
            <a:r>
              <a:rPr lang="en-US" sz="3400" dirty="0">
                <a:latin typeface="Times New Roman"/>
                <a:cs typeface="Times New Roman"/>
              </a:rPr>
              <a:t> (cu </a:t>
            </a:r>
            <a:r>
              <a:rPr lang="en-US" sz="3400" dirty="0" err="1">
                <a:latin typeface="Times New Roman"/>
                <a:cs typeface="Times New Roman"/>
              </a:rPr>
              <a:t>adâncime</a:t>
            </a:r>
            <a:r>
              <a:rPr lang="en-US" sz="3400" dirty="0">
                <a:latin typeface="Times New Roman"/>
                <a:cs typeface="Times New Roman"/>
              </a:rPr>
              <a:t> </a:t>
            </a:r>
            <a:r>
              <a:rPr lang="en-US" sz="3400" dirty="0" err="1">
                <a:latin typeface="Times New Roman"/>
                <a:cs typeface="Times New Roman"/>
              </a:rPr>
              <a:t>limitată</a:t>
            </a:r>
            <a:r>
              <a:rPr lang="en-US" sz="3400" dirty="0">
                <a:latin typeface="Times New Roman"/>
                <a:cs typeface="Times New Roman"/>
              </a:rPr>
              <a:t> d)</a:t>
            </a: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94E080F-7112-27D6-492D-4B5097DA3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77" b="7357"/>
          <a:stretch>
            <a:fillRect/>
          </a:stretch>
        </p:blipFill>
        <p:spPr>
          <a:xfrm>
            <a:off x="663973" y="950641"/>
            <a:ext cx="7509153" cy="49567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88020B-296E-7365-8773-A55407B2BCCB}"/>
              </a:ext>
            </a:extLst>
          </p:cNvPr>
          <p:cNvSpPr txBox="1"/>
          <p:nvPr/>
        </p:nvSpPr>
        <p:spPr>
          <a:xfrm>
            <a:off x="663973" y="6133171"/>
            <a:ext cx="4599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Apel inițial: </a:t>
            </a:r>
            <a:r>
              <a:rPr lang="en-RO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Minimax(start, 0, true)</a:t>
            </a:r>
          </a:p>
        </p:txBody>
      </p:sp>
    </p:spTree>
    <p:extLst>
      <p:ext uri="{BB962C8B-B14F-4D97-AF65-F5344CB8AC3E}">
        <p14:creationId xmlns:p14="http://schemas.microsoft.com/office/powerpoint/2010/main" val="23458277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0625" y="1404537"/>
            <a:ext cx="3457575" cy="22675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7750" y="3886200"/>
            <a:ext cx="3514725" cy="215879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7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Influența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adâncimii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pentru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funcția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evaluare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97001"/>
            <a:ext cx="4095750" cy="4729164"/>
          </a:xfrm>
        </p:spPr>
        <p:txBody>
          <a:bodyPr>
            <a:normAutofit/>
          </a:bodyPr>
          <a:lstStyle/>
          <a:p>
            <a:pPr algn="just"/>
            <a:r>
              <a:rPr lang="en-US" sz="2600" dirty="0" err="1">
                <a:latin typeface="Times New Roman"/>
                <a:cs typeface="Times New Roman"/>
              </a:rPr>
              <a:t>Funcțiile</a:t>
            </a:r>
            <a:r>
              <a:rPr lang="en-US" sz="2600" dirty="0">
                <a:latin typeface="Times New Roman"/>
                <a:cs typeface="Times New Roman"/>
              </a:rPr>
              <a:t> de </a:t>
            </a:r>
            <a:r>
              <a:rPr lang="en-US" sz="2600" dirty="0" err="1">
                <a:latin typeface="Times New Roman"/>
                <a:cs typeface="Times New Roman"/>
              </a:rPr>
              <a:t>evaluare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sunt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imperfecte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</a:p>
          <a:p>
            <a:pPr algn="just"/>
            <a:endParaRPr lang="en-US" sz="2600" dirty="0">
              <a:latin typeface="Times New Roman"/>
              <a:cs typeface="Times New Roman"/>
            </a:endParaRPr>
          </a:p>
          <a:p>
            <a:pPr algn="just"/>
            <a:endParaRPr lang="en-US" sz="2600" dirty="0">
              <a:latin typeface="Times New Roman"/>
              <a:cs typeface="Times New Roman"/>
            </a:endParaRPr>
          </a:p>
          <a:p>
            <a:pPr algn="just"/>
            <a:r>
              <a:rPr lang="en-US" sz="2600" dirty="0">
                <a:latin typeface="Times New Roman"/>
                <a:cs typeface="Times New Roman"/>
              </a:rPr>
              <a:t>Cu </a:t>
            </a:r>
            <a:r>
              <a:rPr lang="en-US" sz="2600" dirty="0" err="1">
                <a:latin typeface="Times New Roman"/>
                <a:cs typeface="Times New Roman"/>
              </a:rPr>
              <a:t>cât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merg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mai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adâncime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în</a:t>
            </a:r>
            <a:r>
              <a:rPr lang="en-US" sz="2600" dirty="0">
                <a:latin typeface="Times New Roman"/>
                <a:cs typeface="Times New Roman"/>
              </a:rPr>
              <a:t> arbore </a:t>
            </a:r>
            <a:r>
              <a:rPr lang="en-US" sz="2600" dirty="0" err="1">
                <a:latin typeface="Times New Roman"/>
                <a:cs typeface="Times New Roman"/>
              </a:rPr>
              <a:t>și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apelez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funcția</a:t>
            </a:r>
            <a:r>
              <a:rPr lang="en-US" sz="2600" dirty="0">
                <a:latin typeface="Times New Roman"/>
                <a:cs typeface="Times New Roman"/>
              </a:rPr>
              <a:t> de </a:t>
            </a:r>
            <a:r>
              <a:rPr lang="en-US" sz="2600" dirty="0" err="1">
                <a:latin typeface="Times New Roman"/>
                <a:cs typeface="Times New Roman"/>
              </a:rPr>
              <a:t>evaluare</a:t>
            </a:r>
            <a:r>
              <a:rPr lang="en-US" sz="2600" dirty="0">
                <a:latin typeface="Times New Roman"/>
                <a:cs typeface="Times New Roman"/>
              </a:rPr>
              <a:t> a </a:t>
            </a:r>
            <a:r>
              <a:rPr lang="en-US" sz="2600" dirty="0" err="1">
                <a:latin typeface="Times New Roman"/>
                <a:cs typeface="Times New Roman"/>
              </a:rPr>
              <a:t>unei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stări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neterminale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mai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târziu</a:t>
            </a:r>
            <a:r>
              <a:rPr lang="en-US" sz="2600" dirty="0">
                <a:latin typeface="Times New Roman"/>
                <a:cs typeface="Times New Roman"/>
              </a:rPr>
              <a:t> cu </a:t>
            </a:r>
            <a:r>
              <a:rPr lang="en-US" sz="2600" dirty="0" err="1">
                <a:latin typeface="Times New Roman"/>
                <a:cs typeface="Times New Roman"/>
              </a:rPr>
              <a:t>atât</a:t>
            </a:r>
            <a:r>
              <a:rPr lang="en-US" sz="2600" dirty="0">
                <a:latin typeface="Times New Roman"/>
                <a:cs typeface="Times New Roman"/>
              </a:rPr>
              <a:t> am </a:t>
            </a:r>
            <a:r>
              <a:rPr lang="en-US" sz="2600" dirty="0" err="1">
                <a:latin typeface="Times New Roman"/>
                <a:cs typeface="Times New Roman"/>
              </a:rPr>
              <a:t>șanse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să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greșesc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mai</a:t>
            </a:r>
            <a:r>
              <a:rPr lang="en-US" sz="2600" dirty="0">
                <a:latin typeface="Times New Roman"/>
                <a:cs typeface="Times New Roman"/>
              </a:rPr>
              <a:t> </a:t>
            </a:r>
            <a:r>
              <a:rPr lang="en-US" sz="2600" dirty="0" err="1">
                <a:latin typeface="Times New Roman"/>
                <a:cs typeface="Times New Roman"/>
              </a:rPr>
              <a:t>puțin</a:t>
            </a:r>
            <a:r>
              <a:rPr lang="en-US" sz="2600" dirty="0">
                <a:latin typeface="Times New Roman"/>
                <a:cs typeface="Times New Roman"/>
              </a:rPr>
              <a:t>.</a:t>
            </a:r>
          </a:p>
          <a:p>
            <a:pPr algn="just"/>
            <a:endParaRPr lang="en-US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500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xmlns:p14="http://schemas.microsoft.com/office/powerpoint/2010/main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Funcții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evaluare</a:t>
            </a:r>
            <a:r>
              <a:rPr lang="en-US" dirty="0">
                <a:latin typeface="Times New Roman"/>
                <a:cs typeface="Times New Roman"/>
              </a:rPr>
              <a:t> - </a:t>
            </a:r>
            <a:r>
              <a:rPr lang="en-US" dirty="0" err="1">
                <a:latin typeface="Times New Roman"/>
                <a:cs typeface="Times New Roman"/>
              </a:rPr>
              <a:t>șah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0" y="1192630"/>
            <a:ext cx="9144000" cy="495300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10000"/>
              </a:lnSpc>
            </a:pPr>
            <a:r>
              <a:rPr lang="en-US" sz="2350" dirty="0" err="1">
                <a:latin typeface="Times New Roman"/>
                <a:cs typeface="Times New Roman"/>
              </a:rPr>
              <a:t>Funcțiile</a:t>
            </a:r>
            <a:r>
              <a:rPr lang="en-US" sz="2350" dirty="0">
                <a:latin typeface="Times New Roman"/>
                <a:cs typeface="Times New Roman"/>
              </a:rPr>
              <a:t> de </a:t>
            </a:r>
            <a:r>
              <a:rPr lang="en-US" sz="2350" dirty="0" err="1">
                <a:latin typeface="Times New Roman"/>
                <a:cs typeface="Times New Roman"/>
              </a:rPr>
              <a:t>evaluare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r>
              <a:rPr lang="en-US" sz="2350" dirty="0" err="1">
                <a:latin typeface="Times New Roman"/>
                <a:cs typeface="Times New Roman"/>
              </a:rPr>
              <a:t>asociază</a:t>
            </a:r>
            <a:r>
              <a:rPr lang="en-US" sz="2350" dirty="0">
                <a:latin typeface="Times New Roman"/>
                <a:cs typeface="Times New Roman"/>
              </a:rPr>
              <a:t> un </a:t>
            </a:r>
            <a:r>
              <a:rPr lang="en-US" sz="2350" dirty="0" err="1">
                <a:latin typeface="Times New Roman"/>
                <a:cs typeface="Times New Roman"/>
              </a:rPr>
              <a:t>scor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r>
              <a:rPr lang="en-US" sz="2350" dirty="0" err="1">
                <a:latin typeface="Times New Roman"/>
                <a:cs typeface="Times New Roman"/>
              </a:rPr>
              <a:t>stărilor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r>
              <a:rPr lang="en-US" sz="2350" dirty="0" err="1">
                <a:latin typeface="Times New Roman"/>
                <a:cs typeface="Times New Roman"/>
              </a:rPr>
              <a:t>neterminale</a:t>
            </a:r>
            <a:r>
              <a:rPr lang="en-US" sz="2350" dirty="0">
                <a:latin typeface="Times New Roman"/>
                <a:cs typeface="Times New Roman"/>
              </a:rPr>
              <a:t> (</a:t>
            </a:r>
            <a:r>
              <a:rPr lang="en-US" sz="2350" dirty="0" err="1">
                <a:latin typeface="Times New Roman"/>
                <a:cs typeface="Times New Roman"/>
              </a:rPr>
              <a:t>este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r>
              <a:rPr lang="en-US" sz="2350" dirty="0" err="1">
                <a:latin typeface="Times New Roman"/>
                <a:cs typeface="Times New Roman"/>
              </a:rPr>
              <a:t>folosită</a:t>
            </a:r>
            <a:r>
              <a:rPr lang="en-US" sz="2350" dirty="0">
                <a:latin typeface="Times New Roman"/>
                <a:cs typeface="Times New Roman"/>
              </a:rPr>
              <a:t> de </a:t>
            </a:r>
            <a:r>
              <a:rPr lang="en-US" sz="2350" dirty="0" err="1">
                <a:latin typeface="Times New Roman"/>
                <a:cs typeface="Times New Roman"/>
              </a:rPr>
              <a:t>căutarea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r>
              <a:rPr lang="en-US" sz="2350" dirty="0" err="1">
                <a:latin typeface="Times New Roman"/>
                <a:cs typeface="Times New Roman"/>
              </a:rPr>
              <a:t>în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r>
              <a:rPr lang="en-US" sz="2350" dirty="0" err="1">
                <a:latin typeface="Times New Roman"/>
                <a:cs typeface="Times New Roman"/>
              </a:rPr>
              <a:t>adâncime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r>
              <a:rPr lang="en-US" sz="2350" dirty="0" err="1">
                <a:latin typeface="Times New Roman"/>
                <a:cs typeface="Times New Roman"/>
              </a:rPr>
              <a:t>limitată</a:t>
            </a:r>
            <a:r>
              <a:rPr lang="en-US" sz="2350" dirty="0">
                <a:latin typeface="Times New Roman"/>
                <a:cs typeface="Times New Roman"/>
              </a:rPr>
              <a:t>, </a:t>
            </a:r>
            <a:r>
              <a:rPr lang="en-US" sz="2350" dirty="0" err="1">
                <a:latin typeface="Times New Roman"/>
                <a:cs typeface="Times New Roman"/>
              </a:rPr>
              <a:t>căutarea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r>
              <a:rPr lang="en-US" sz="2350" dirty="0" err="1">
                <a:latin typeface="Times New Roman"/>
                <a:cs typeface="Times New Roman"/>
              </a:rPr>
              <a:t>iterativă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r>
              <a:rPr lang="en-US" sz="2350" dirty="0" err="1">
                <a:latin typeface="Times New Roman"/>
                <a:cs typeface="Times New Roman"/>
              </a:rPr>
              <a:t>în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r>
              <a:rPr lang="en-US" sz="2350" dirty="0" err="1">
                <a:latin typeface="Times New Roman"/>
                <a:cs typeface="Times New Roman"/>
              </a:rPr>
              <a:t>adâncime</a:t>
            </a:r>
            <a:r>
              <a:rPr lang="en-US" sz="2350" dirty="0">
                <a:latin typeface="Times New Roman"/>
                <a:cs typeface="Times New Roman"/>
              </a:rPr>
              <a:t>)</a:t>
            </a: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marL="0" indent="0" algn="just" eaLnBrk="1" hangingPunct="1">
              <a:lnSpc>
                <a:spcPct val="110000"/>
              </a:lnSpc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en-US" sz="2400" dirty="0">
                <a:latin typeface="Times New Roman"/>
                <a:cs typeface="Times New Roman"/>
              </a:rPr>
              <a:t>o </a:t>
            </a:r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ideală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returnează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valoarea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MiniMax</a:t>
            </a:r>
            <a:r>
              <a:rPr lang="en-US" sz="2400" dirty="0">
                <a:latin typeface="Times New Roman"/>
                <a:cs typeface="Times New Roman"/>
              </a:rPr>
              <a:t> a </a:t>
            </a:r>
            <a:r>
              <a:rPr lang="en-US" sz="2400" dirty="0" err="1">
                <a:latin typeface="Times New Roman"/>
                <a:cs typeface="Times New Roman"/>
              </a:rPr>
              <a:t>stării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2400" dirty="0">
                <a:latin typeface="Times New Roman"/>
                <a:cs typeface="Times New Roman"/>
              </a:rPr>
              <a:t>diverse </a:t>
            </a:r>
            <a:r>
              <a:rPr lang="en-US" sz="2400" dirty="0" err="1">
                <a:latin typeface="Times New Roman"/>
                <a:cs typeface="Times New Roman"/>
              </a:rPr>
              <a:t>funcții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specifice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fiecare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joc</a:t>
            </a:r>
            <a:r>
              <a:rPr lang="en-US" sz="2400" dirty="0">
                <a:latin typeface="Times New Roman"/>
                <a:cs typeface="Times New Roman"/>
              </a:rPr>
              <a:t>: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șah</a:t>
            </a:r>
            <a:r>
              <a:rPr lang="en-US" sz="2400" dirty="0">
                <a:latin typeface="Times New Roman"/>
                <a:cs typeface="Times New Roman"/>
              </a:rPr>
              <a:t> se </a:t>
            </a:r>
            <a:r>
              <a:rPr lang="en-US" sz="2400" dirty="0" err="1">
                <a:latin typeface="Times New Roman"/>
                <a:cs typeface="Times New Roman"/>
              </a:rPr>
              <a:t>consideră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funcții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liniare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care </a:t>
            </a:r>
            <a:r>
              <a:rPr lang="en-US" sz="2400" dirty="0" err="1">
                <a:latin typeface="Times New Roman"/>
                <a:cs typeface="Times New Roman"/>
              </a:rPr>
              <a:t>ponderăm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piesele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pe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tablă</a:t>
            </a: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8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8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unde</a:t>
            </a:r>
            <a:r>
              <a:rPr lang="en-US" sz="2400" dirty="0">
                <a:latin typeface="Times New Roman"/>
                <a:cs typeface="Times New Roman"/>
              </a:rPr>
              <a:t>,  </a:t>
            </a:r>
            <a:r>
              <a:rPr lang="en-US" sz="2400" i="1" dirty="0">
                <a:solidFill>
                  <a:srgbClr val="CC0000"/>
                </a:solidFill>
                <a:latin typeface="Times New Roman"/>
                <a:cs typeface="Times New Roman"/>
              </a:rPr>
              <a:t>f</a:t>
            </a:r>
            <a:r>
              <a:rPr lang="en-US" sz="2400" baseline="-25000" dirty="0">
                <a:solidFill>
                  <a:srgbClr val="CC0000"/>
                </a:solidFill>
                <a:latin typeface="Times New Roman"/>
                <a:cs typeface="Times New Roman"/>
              </a:rPr>
              <a:t>1</a:t>
            </a:r>
            <a:r>
              <a:rPr lang="en-US" sz="2400" dirty="0">
                <a:solidFill>
                  <a:srgbClr val="CC0000"/>
                </a:solidFill>
                <a:latin typeface="Times New Roman"/>
                <a:cs typeface="Times New Roman"/>
              </a:rPr>
              <a:t>(</a:t>
            </a:r>
            <a:r>
              <a:rPr lang="en-US" sz="2400" i="1" dirty="0">
                <a:solidFill>
                  <a:srgbClr val="CC0000"/>
                </a:solidFill>
                <a:latin typeface="Times New Roman"/>
                <a:cs typeface="Times New Roman"/>
              </a:rPr>
              <a:t>s</a:t>
            </a:r>
            <a:r>
              <a:rPr lang="en-US" sz="2400" dirty="0">
                <a:solidFill>
                  <a:srgbClr val="CC0000"/>
                </a:solidFill>
                <a:latin typeface="Times New Roman"/>
                <a:cs typeface="Times New Roman"/>
              </a:rPr>
              <a:t>) = (#</a:t>
            </a:r>
            <a:r>
              <a:rPr lang="en-US" sz="2400" dirty="0" err="1">
                <a:solidFill>
                  <a:srgbClr val="CC0000"/>
                </a:solidFill>
                <a:latin typeface="Times New Roman"/>
                <a:cs typeface="Times New Roman"/>
              </a:rPr>
              <a:t>regine_albe</a:t>
            </a:r>
            <a:r>
              <a:rPr lang="en-US" sz="2400" dirty="0">
                <a:solidFill>
                  <a:srgbClr val="CC0000"/>
                </a:solidFill>
                <a:latin typeface="Times New Roman"/>
                <a:cs typeface="Times New Roman"/>
              </a:rPr>
              <a:t> – #</a:t>
            </a:r>
            <a:r>
              <a:rPr lang="en-US" sz="2400" dirty="0" err="1">
                <a:solidFill>
                  <a:srgbClr val="CC0000"/>
                </a:solidFill>
                <a:latin typeface="Times New Roman"/>
                <a:cs typeface="Times New Roman"/>
              </a:rPr>
              <a:t>regine_negre</a:t>
            </a:r>
            <a:r>
              <a:rPr lang="en-US" sz="2400" dirty="0">
                <a:solidFill>
                  <a:srgbClr val="CC0000"/>
                </a:solidFill>
                <a:latin typeface="Times New Roman"/>
                <a:cs typeface="Times New Roman"/>
              </a:rPr>
              <a:t>)</a:t>
            </a:r>
            <a:r>
              <a:rPr lang="en-US" sz="2400" dirty="0">
                <a:latin typeface="Times New Roman"/>
                <a:cs typeface="Times New Roman"/>
              </a:rPr>
              <a:t>, w</a:t>
            </a:r>
            <a:r>
              <a:rPr lang="en-US" sz="2400" baseline="-25000" dirty="0">
                <a:latin typeface="Times New Roman"/>
                <a:cs typeface="Times New Roman"/>
              </a:rPr>
              <a:t>1</a:t>
            </a:r>
            <a:r>
              <a:rPr lang="en-US" sz="2400" dirty="0">
                <a:latin typeface="Times New Roman"/>
                <a:cs typeface="Times New Roman"/>
              </a:rPr>
              <a:t> = 100, etc.</a:t>
            </a:r>
          </a:p>
        </p:txBody>
      </p:sp>
      <p:pic>
        <p:nvPicPr>
          <p:cNvPr id="19460" name="Picture 2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4500" y="1989078"/>
            <a:ext cx="1787724" cy="244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2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07882" y="1989078"/>
            <a:ext cx="1847488" cy="246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2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04801" y="5819422"/>
            <a:ext cx="5562600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3" name="AutoShape 27"/>
          <p:cNvSpPr>
            <a:spLocks noChangeArrowheads="1"/>
          </p:cNvSpPr>
          <p:nvPr/>
        </p:nvSpPr>
        <p:spPr bwMode="auto">
          <a:xfrm>
            <a:off x="4475560" y="2509778"/>
            <a:ext cx="136417" cy="168275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AutoShape 28"/>
          <p:cNvSpPr>
            <a:spLocks noChangeArrowheads="1"/>
          </p:cNvSpPr>
          <p:nvPr/>
        </p:nvSpPr>
        <p:spPr bwMode="auto">
          <a:xfrm rot="10800000">
            <a:off x="4035028" y="2903477"/>
            <a:ext cx="137717" cy="168275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AutoShape 29"/>
          <p:cNvSpPr>
            <a:spLocks noChangeArrowheads="1"/>
          </p:cNvSpPr>
          <p:nvPr/>
        </p:nvSpPr>
        <p:spPr bwMode="auto">
          <a:xfrm rot="10800000">
            <a:off x="4851797" y="2903477"/>
            <a:ext cx="137717" cy="168275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AutoShape 30"/>
          <p:cNvSpPr>
            <a:spLocks noChangeArrowheads="1"/>
          </p:cNvSpPr>
          <p:nvPr/>
        </p:nvSpPr>
        <p:spPr bwMode="auto">
          <a:xfrm>
            <a:off x="3817143" y="3192403"/>
            <a:ext cx="137717" cy="168275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AutoShape 31"/>
          <p:cNvSpPr>
            <a:spLocks noChangeArrowheads="1"/>
          </p:cNvSpPr>
          <p:nvPr/>
        </p:nvSpPr>
        <p:spPr bwMode="auto">
          <a:xfrm>
            <a:off x="4274343" y="3192403"/>
            <a:ext cx="137717" cy="168275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AutoShape 32"/>
          <p:cNvSpPr>
            <a:spLocks noChangeArrowheads="1"/>
          </p:cNvSpPr>
          <p:nvPr/>
        </p:nvSpPr>
        <p:spPr bwMode="auto">
          <a:xfrm>
            <a:off x="4617243" y="3192403"/>
            <a:ext cx="137717" cy="168275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9" name="AutoShape 33"/>
          <p:cNvSpPr>
            <a:spLocks noChangeArrowheads="1"/>
          </p:cNvSpPr>
          <p:nvPr/>
        </p:nvSpPr>
        <p:spPr bwMode="auto">
          <a:xfrm>
            <a:off x="5104209" y="3192403"/>
            <a:ext cx="137717" cy="168275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70" name="AutoShape 34"/>
          <p:cNvCxnSpPr>
            <a:cxnSpLocks noChangeShapeType="1"/>
            <a:stCxn id="19463" idx="3"/>
            <a:endCxn id="19464" idx="3"/>
          </p:cNvCxnSpPr>
          <p:nvPr/>
        </p:nvCxnSpPr>
        <p:spPr bwMode="auto">
          <a:xfrm flipH="1">
            <a:off x="4103886" y="2678053"/>
            <a:ext cx="439883" cy="22542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71" name="AutoShape 35"/>
          <p:cNvCxnSpPr>
            <a:cxnSpLocks noChangeShapeType="1"/>
            <a:stCxn id="19463" idx="3"/>
            <a:endCxn id="19465" idx="3"/>
          </p:cNvCxnSpPr>
          <p:nvPr/>
        </p:nvCxnSpPr>
        <p:spPr bwMode="auto">
          <a:xfrm>
            <a:off x="4543769" y="2678053"/>
            <a:ext cx="376886" cy="22542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72" name="AutoShape 36"/>
          <p:cNvCxnSpPr>
            <a:cxnSpLocks noChangeShapeType="1"/>
            <a:stCxn id="19464" idx="0"/>
            <a:endCxn id="19466" idx="0"/>
          </p:cNvCxnSpPr>
          <p:nvPr/>
        </p:nvCxnSpPr>
        <p:spPr bwMode="auto">
          <a:xfrm flipH="1">
            <a:off x="3886002" y="3071752"/>
            <a:ext cx="217884" cy="12065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73" name="AutoShape 37"/>
          <p:cNvCxnSpPr>
            <a:cxnSpLocks noChangeShapeType="1"/>
            <a:stCxn id="19464" idx="0"/>
            <a:endCxn id="19467" idx="0"/>
          </p:cNvCxnSpPr>
          <p:nvPr/>
        </p:nvCxnSpPr>
        <p:spPr bwMode="auto">
          <a:xfrm>
            <a:off x="4103886" y="3071752"/>
            <a:ext cx="239316" cy="12065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74" name="AutoShape 38"/>
          <p:cNvCxnSpPr>
            <a:cxnSpLocks noChangeShapeType="1"/>
            <a:stCxn id="19465" idx="0"/>
            <a:endCxn id="19468" idx="0"/>
          </p:cNvCxnSpPr>
          <p:nvPr/>
        </p:nvCxnSpPr>
        <p:spPr bwMode="auto">
          <a:xfrm flipH="1">
            <a:off x="4686102" y="3071752"/>
            <a:ext cx="234553" cy="12065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75" name="AutoShape 39"/>
          <p:cNvCxnSpPr>
            <a:cxnSpLocks noChangeShapeType="1"/>
            <a:stCxn id="19465" idx="0"/>
            <a:endCxn id="19469" idx="0"/>
          </p:cNvCxnSpPr>
          <p:nvPr/>
        </p:nvCxnSpPr>
        <p:spPr bwMode="auto">
          <a:xfrm>
            <a:off x="4920655" y="3071752"/>
            <a:ext cx="252413" cy="12065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9476" name="AutoShape 40"/>
          <p:cNvSpPr>
            <a:spLocks noChangeArrowheads="1"/>
          </p:cNvSpPr>
          <p:nvPr/>
        </p:nvSpPr>
        <p:spPr bwMode="auto">
          <a:xfrm>
            <a:off x="4972050" y="3851215"/>
            <a:ext cx="498900" cy="271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77" name="AutoShape 41"/>
          <p:cNvCxnSpPr>
            <a:cxnSpLocks noChangeShapeType="1"/>
            <a:endCxn id="19463" idx="1"/>
          </p:cNvCxnSpPr>
          <p:nvPr/>
        </p:nvCxnSpPr>
        <p:spPr bwMode="auto">
          <a:xfrm flipV="1">
            <a:off x="3352800" y="2593916"/>
            <a:ext cx="1156864" cy="620711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19478" name="AutoShape 42"/>
          <p:cNvCxnSpPr>
            <a:cxnSpLocks noChangeShapeType="1"/>
            <a:endCxn id="19482" idx="1"/>
          </p:cNvCxnSpPr>
          <p:nvPr/>
        </p:nvCxnSpPr>
        <p:spPr bwMode="auto">
          <a:xfrm flipH="1">
            <a:off x="5269310" y="3219391"/>
            <a:ext cx="638573" cy="53022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19479" name="Rectangle 43"/>
          <p:cNvSpPr>
            <a:spLocks noChangeArrowheads="1"/>
          </p:cNvSpPr>
          <p:nvPr/>
        </p:nvSpPr>
        <p:spPr bwMode="auto">
          <a:xfrm rot="10800000">
            <a:off x="4617243" y="3649602"/>
            <a:ext cx="137717" cy="168275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9480" name="AutoShape 44"/>
          <p:cNvCxnSpPr>
            <a:cxnSpLocks noChangeShapeType="1"/>
            <a:stCxn id="19468" idx="3"/>
            <a:endCxn id="19479" idx="2"/>
          </p:cNvCxnSpPr>
          <p:nvPr/>
        </p:nvCxnSpPr>
        <p:spPr bwMode="auto">
          <a:xfrm flipH="1">
            <a:off x="4686101" y="3360678"/>
            <a:ext cx="1" cy="28892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9481" name="AutoShape 45"/>
          <p:cNvCxnSpPr>
            <a:cxnSpLocks noChangeShapeType="1"/>
            <a:stCxn id="19468" idx="4"/>
            <a:endCxn id="19482" idx="2"/>
          </p:cNvCxnSpPr>
          <p:nvPr/>
        </p:nvCxnSpPr>
        <p:spPr bwMode="auto">
          <a:xfrm>
            <a:off x="4754960" y="3360678"/>
            <a:ext cx="445491" cy="30479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19482" name="Rectangle 46"/>
          <p:cNvSpPr>
            <a:spLocks noChangeArrowheads="1"/>
          </p:cNvSpPr>
          <p:nvPr/>
        </p:nvSpPr>
        <p:spPr bwMode="auto">
          <a:xfrm rot="10800000">
            <a:off x="5131593" y="3665476"/>
            <a:ext cx="137717" cy="168275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3" name="AutoShape 47"/>
          <p:cNvSpPr>
            <a:spLocks noChangeArrowheads="1"/>
          </p:cNvSpPr>
          <p:nvPr/>
        </p:nvSpPr>
        <p:spPr bwMode="auto">
          <a:xfrm>
            <a:off x="4457700" y="3851215"/>
            <a:ext cx="498900" cy="2714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136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F8749-26DC-A8AF-E91C-02ABC8F9D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9E0FAE5-7D5F-F8E2-D21F-69D095266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Funcții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evaluare</a:t>
            </a:r>
            <a:r>
              <a:rPr lang="en-US" dirty="0">
                <a:latin typeface="Times New Roman"/>
                <a:cs typeface="Times New Roman"/>
              </a:rPr>
              <a:t> - </a:t>
            </a:r>
            <a:r>
              <a:rPr lang="en-US" dirty="0" err="1">
                <a:latin typeface="Times New Roman"/>
                <a:cs typeface="Times New Roman"/>
              </a:rPr>
              <a:t>StockFISH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C3B574FC-F25D-7A9B-B352-695320BA8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289" y="913128"/>
            <a:ext cx="5890062" cy="5274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CBD877-8040-C065-1022-811E4CAE716B}"/>
              </a:ext>
            </a:extLst>
          </p:cNvPr>
          <p:cNvSpPr txBox="1"/>
          <p:nvPr/>
        </p:nvSpPr>
        <p:spPr>
          <a:xfrm>
            <a:off x="183931" y="6488668"/>
            <a:ext cx="850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https://official-</a:t>
            </a:r>
            <a:r>
              <a:rPr lang="en-GB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stockfish.github.io</a:t>
            </a:r>
            <a:r>
              <a:rPr lang="en-GB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/docs/</a:t>
            </a:r>
            <a:r>
              <a:rPr lang="en-GB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nnue</a:t>
            </a:r>
            <a:r>
              <a:rPr lang="en-GB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GB" dirty="0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-wiki/docs/</a:t>
            </a:r>
            <a:r>
              <a:rPr lang="en-GB" dirty="0" err="1">
                <a:solidFill>
                  <a:srgbClr val="290A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nnue.html#what-is-nnue</a:t>
            </a:r>
            <a:endParaRPr lang="en-RO" dirty="0">
              <a:solidFill>
                <a:srgbClr val="290AD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8ED72-13A0-E194-DC44-8CAF10A349AA}"/>
              </a:ext>
            </a:extLst>
          </p:cNvPr>
          <p:cNvSpPr txBox="1"/>
          <p:nvPr/>
        </p:nvSpPr>
        <p:spPr>
          <a:xfrm>
            <a:off x="246992" y="6119336"/>
            <a:ext cx="837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NNUE - Efficiently Updatable Neural Network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cuantifica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scorul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poziții</a:t>
            </a:r>
            <a:endParaRPr lang="en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4187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Funcții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evaluare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mr-IN" dirty="0">
                <a:latin typeface="Times New Roman"/>
                <a:cs typeface="Times New Roman"/>
              </a:rPr>
              <a:t>–</a:t>
            </a:r>
            <a:r>
              <a:rPr lang="en-US" dirty="0">
                <a:latin typeface="Times New Roman"/>
                <a:cs typeface="Times New Roman"/>
              </a:rPr>
              <a:t> X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0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60735" y="1062005"/>
            <a:ext cx="8629650" cy="495300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/>
                <a:cs typeface="Times New Roman"/>
              </a:rPr>
              <a:t>o </a:t>
            </a:r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ideală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returnează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valoarea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MiniMax</a:t>
            </a:r>
            <a:r>
              <a:rPr lang="en-US" sz="2400" dirty="0">
                <a:latin typeface="Times New Roman"/>
                <a:cs typeface="Times New Roman"/>
              </a:rPr>
              <a:t> a </a:t>
            </a:r>
            <a:r>
              <a:rPr lang="en-US" sz="2400" dirty="0" err="1">
                <a:latin typeface="Times New Roman"/>
                <a:cs typeface="Times New Roman"/>
              </a:rPr>
              <a:t>stării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/>
                <a:cs typeface="Times New Roman"/>
              </a:rPr>
              <a:t>diverse </a:t>
            </a:r>
            <a:r>
              <a:rPr lang="en-US" sz="2400" dirty="0" err="1">
                <a:latin typeface="Times New Roman"/>
                <a:cs typeface="Times New Roman"/>
              </a:rPr>
              <a:t>funcții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specifice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fiecare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joc</a:t>
            </a:r>
            <a:r>
              <a:rPr lang="en-US" sz="2400" dirty="0">
                <a:latin typeface="Times New Roman"/>
                <a:cs typeface="Times New Roman"/>
              </a:rPr>
              <a:t>:</a:t>
            </a: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marL="0" indent="0" algn="just" eaLnBrk="1" hangingPunct="1">
              <a:lnSpc>
                <a:spcPct val="110000"/>
              </a:lnSpc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exemplu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X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0: </a:t>
            </a:r>
            <a:r>
              <a:rPr lang="en-US" sz="2400" dirty="0" err="1">
                <a:latin typeface="Times New Roman"/>
                <a:cs typeface="Times New Roman"/>
              </a:rPr>
              <a:t>diferența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dintre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numărul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soluții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disponibile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pentru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MAX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numărul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soluții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disponibile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pentru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MIN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exemplul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sus</a:t>
            </a:r>
            <a:r>
              <a:rPr lang="en-US" sz="2400" dirty="0">
                <a:latin typeface="Times New Roman"/>
                <a:cs typeface="Times New Roman"/>
              </a:rPr>
              <a:t>: 8-5 = 3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748823" y="2218602"/>
            <a:ext cx="1823714" cy="1757206"/>
            <a:chOff x="8683419" y="1191554"/>
            <a:chExt cx="1823714" cy="1757206"/>
          </a:xfrm>
        </p:grpSpPr>
        <p:sp>
          <p:nvSpPr>
            <p:cNvPr id="29" name="TextBox 28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231533" y="2218602"/>
            <a:ext cx="1823714" cy="1757206"/>
            <a:chOff x="8683419" y="1191554"/>
            <a:chExt cx="1823714" cy="1757206"/>
          </a:xfrm>
        </p:grpSpPr>
        <p:sp>
          <p:nvSpPr>
            <p:cNvPr id="39" name="TextBox 38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</p:grpSp>
      <p:cxnSp>
        <p:nvCxnSpPr>
          <p:cNvPr id="3" name="Straight Connector 2"/>
          <p:cNvCxnSpPr/>
          <p:nvPr/>
        </p:nvCxnSpPr>
        <p:spPr>
          <a:xfrm>
            <a:off x="3550948" y="2551417"/>
            <a:ext cx="0" cy="1195912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34887" y="2478127"/>
            <a:ext cx="0" cy="1195912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4792804" y="2478127"/>
            <a:ext cx="0" cy="1195912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3304431" y="3149372"/>
            <a:ext cx="1713826" cy="1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3316761" y="3711025"/>
            <a:ext cx="1713826" cy="1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3304431" y="2478127"/>
            <a:ext cx="1713826" cy="1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401448" y="2402048"/>
            <a:ext cx="1391356" cy="1444596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3401449" y="2402048"/>
            <a:ext cx="1481105" cy="1444596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5820766" y="2211285"/>
            <a:ext cx="1823714" cy="1757206"/>
            <a:chOff x="8683419" y="1191554"/>
            <a:chExt cx="1823714" cy="1757206"/>
          </a:xfrm>
        </p:grpSpPr>
        <p:sp>
          <p:nvSpPr>
            <p:cNvPr id="71" name="TextBox 70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</p:grpSp>
      <p:cxnSp>
        <p:nvCxnSpPr>
          <p:cNvPr id="80" name="Straight Connector 79"/>
          <p:cNvCxnSpPr/>
          <p:nvPr/>
        </p:nvCxnSpPr>
        <p:spPr>
          <a:xfrm flipV="1">
            <a:off x="5930654" y="3134646"/>
            <a:ext cx="171382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5942984" y="3742535"/>
            <a:ext cx="171382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6095384" y="2428811"/>
            <a:ext cx="1314755" cy="14168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6734313" y="2428811"/>
            <a:ext cx="0" cy="14903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V="1">
            <a:off x="7330583" y="2423628"/>
            <a:ext cx="0" cy="14903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8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Funcții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evaluare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mr-IN" dirty="0">
                <a:latin typeface="Times New Roman"/>
                <a:cs typeface="Times New Roman"/>
              </a:rPr>
              <a:t>–</a:t>
            </a:r>
            <a:r>
              <a:rPr lang="en-US" dirty="0">
                <a:latin typeface="Times New Roman"/>
                <a:cs typeface="Times New Roman"/>
              </a:rPr>
              <a:t> X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0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60735" y="1062005"/>
            <a:ext cx="8629650" cy="495300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/>
                <a:cs typeface="Times New Roman"/>
              </a:rPr>
              <a:t>o </a:t>
            </a:r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ideală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returnează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valoarea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MiniMax</a:t>
            </a:r>
            <a:r>
              <a:rPr lang="en-US" sz="2400" dirty="0">
                <a:latin typeface="Times New Roman"/>
                <a:cs typeface="Times New Roman"/>
              </a:rPr>
              <a:t> a </a:t>
            </a:r>
            <a:r>
              <a:rPr lang="en-US" sz="2400" dirty="0" err="1">
                <a:latin typeface="Times New Roman"/>
                <a:cs typeface="Times New Roman"/>
              </a:rPr>
              <a:t>stării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/>
                <a:cs typeface="Times New Roman"/>
              </a:rPr>
              <a:t>diverse </a:t>
            </a:r>
            <a:r>
              <a:rPr lang="en-US" sz="2400" dirty="0" err="1">
                <a:latin typeface="Times New Roman"/>
                <a:cs typeface="Times New Roman"/>
              </a:rPr>
              <a:t>funcții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specifice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fiecare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joc</a:t>
            </a:r>
            <a:r>
              <a:rPr lang="en-US" sz="2400" dirty="0">
                <a:latin typeface="Times New Roman"/>
                <a:cs typeface="Times New Roman"/>
              </a:rPr>
              <a:t>:</a:t>
            </a: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marL="0" indent="0" algn="just" eaLnBrk="1" hangingPunct="1">
              <a:lnSpc>
                <a:spcPct val="110000"/>
              </a:lnSpc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exemplu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X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0: </a:t>
            </a:r>
            <a:r>
              <a:rPr lang="en-US" sz="2400" dirty="0" err="1">
                <a:latin typeface="Times New Roman"/>
                <a:cs typeface="Times New Roman"/>
              </a:rPr>
              <a:t>diferența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dintre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numărul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soluții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disponibile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pentru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MAX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numărul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soluții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disponibile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pentru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MIN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exemplul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sus</a:t>
            </a:r>
            <a:r>
              <a:rPr lang="en-US" sz="2400" dirty="0">
                <a:latin typeface="Times New Roman"/>
                <a:cs typeface="Times New Roman"/>
              </a:rPr>
              <a:t>: 8-4 = 4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748823" y="2218602"/>
            <a:ext cx="1823714" cy="1757206"/>
            <a:chOff x="8683419" y="1191554"/>
            <a:chExt cx="1823714" cy="1757206"/>
          </a:xfrm>
        </p:grpSpPr>
        <p:sp>
          <p:nvSpPr>
            <p:cNvPr id="29" name="TextBox 28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231533" y="2218602"/>
            <a:ext cx="1823714" cy="1757206"/>
            <a:chOff x="8683419" y="1191554"/>
            <a:chExt cx="1823714" cy="1757206"/>
          </a:xfrm>
        </p:grpSpPr>
        <p:sp>
          <p:nvSpPr>
            <p:cNvPr id="39" name="TextBox 38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</p:grpSp>
      <p:cxnSp>
        <p:nvCxnSpPr>
          <p:cNvPr id="3" name="Straight Connector 2"/>
          <p:cNvCxnSpPr/>
          <p:nvPr/>
        </p:nvCxnSpPr>
        <p:spPr>
          <a:xfrm>
            <a:off x="3550948" y="2551417"/>
            <a:ext cx="0" cy="1195912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34887" y="2478127"/>
            <a:ext cx="0" cy="1195912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4792804" y="2478127"/>
            <a:ext cx="0" cy="1195912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3304431" y="3149372"/>
            <a:ext cx="1713826" cy="1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3316761" y="3711025"/>
            <a:ext cx="1713826" cy="1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3304431" y="2478127"/>
            <a:ext cx="1713826" cy="1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401448" y="2402048"/>
            <a:ext cx="1391356" cy="1444596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3436893" y="2404153"/>
            <a:ext cx="1481105" cy="1444596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5820766" y="2211285"/>
            <a:ext cx="1823714" cy="1757206"/>
            <a:chOff x="8683419" y="1191554"/>
            <a:chExt cx="1823714" cy="1757206"/>
          </a:xfrm>
        </p:grpSpPr>
        <p:sp>
          <p:nvSpPr>
            <p:cNvPr id="71" name="TextBox 70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</p:grpSp>
      <p:cxnSp>
        <p:nvCxnSpPr>
          <p:cNvPr id="80" name="Straight Connector 79"/>
          <p:cNvCxnSpPr/>
          <p:nvPr/>
        </p:nvCxnSpPr>
        <p:spPr>
          <a:xfrm flipV="1">
            <a:off x="5942984" y="2566829"/>
            <a:ext cx="171382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5942984" y="3742535"/>
            <a:ext cx="171382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6095384" y="2389465"/>
            <a:ext cx="0" cy="14903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V="1">
            <a:off x="7330583" y="2423628"/>
            <a:ext cx="0" cy="14903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2644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Funcții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evaluare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mr-IN" dirty="0">
                <a:latin typeface="Times New Roman"/>
                <a:cs typeface="Times New Roman"/>
              </a:rPr>
              <a:t>–</a:t>
            </a:r>
            <a:r>
              <a:rPr lang="en-US" dirty="0">
                <a:latin typeface="Times New Roman"/>
                <a:cs typeface="Times New Roman"/>
              </a:rPr>
              <a:t> X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0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60735" y="1062005"/>
            <a:ext cx="8629650" cy="495300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/>
                <a:cs typeface="Times New Roman"/>
              </a:rPr>
              <a:t>o </a:t>
            </a:r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ideală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returnează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valoarea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MiniMax</a:t>
            </a:r>
            <a:r>
              <a:rPr lang="en-US" sz="2400" dirty="0">
                <a:latin typeface="Times New Roman"/>
                <a:cs typeface="Times New Roman"/>
              </a:rPr>
              <a:t> a </a:t>
            </a:r>
            <a:r>
              <a:rPr lang="en-US" sz="2400" dirty="0" err="1">
                <a:latin typeface="Times New Roman"/>
                <a:cs typeface="Times New Roman"/>
              </a:rPr>
              <a:t>stării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/>
                <a:cs typeface="Times New Roman"/>
              </a:rPr>
              <a:t>diverse </a:t>
            </a:r>
            <a:r>
              <a:rPr lang="en-US" sz="2400" dirty="0" err="1">
                <a:latin typeface="Times New Roman"/>
                <a:cs typeface="Times New Roman"/>
              </a:rPr>
              <a:t>funcții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specifice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fiecare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joc</a:t>
            </a:r>
            <a:r>
              <a:rPr lang="en-US" sz="2400" dirty="0">
                <a:latin typeface="Times New Roman"/>
                <a:cs typeface="Times New Roman"/>
              </a:rPr>
              <a:t>:</a:t>
            </a: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marL="0" indent="0" algn="just" eaLnBrk="1" hangingPunct="1">
              <a:lnSpc>
                <a:spcPct val="110000"/>
              </a:lnSpc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exemplu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X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0: </a:t>
            </a:r>
            <a:r>
              <a:rPr lang="en-US" sz="2400" dirty="0" err="1">
                <a:latin typeface="Times New Roman"/>
                <a:cs typeface="Times New Roman"/>
              </a:rPr>
              <a:t>diferența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dintre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numărul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soluții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disponibile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pentru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MAX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numărul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soluții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disponibile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pentru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MIN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exemplul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sus</a:t>
            </a:r>
            <a:r>
              <a:rPr lang="en-US" sz="2400" dirty="0">
                <a:latin typeface="Times New Roman"/>
                <a:cs typeface="Times New Roman"/>
              </a:rPr>
              <a:t>: 6-4 = 2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748823" y="2218602"/>
            <a:ext cx="1823714" cy="1757206"/>
            <a:chOff x="8683419" y="1191554"/>
            <a:chExt cx="1823714" cy="1757206"/>
          </a:xfrm>
        </p:grpSpPr>
        <p:sp>
          <p:nvSpPr>
            <p:cNvPr id="29" name="TextBox 28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231533" y="2218602"/>
            <a:ext cx="1823714" cy="1757206"/>
            <a:chOff x="8683419" y="1191554"/>
            <a:chExt cx="1823714" cy="1757206"/>
          </a:xfrm>
        </p:grpSpPr>
        <p:sp>
          <p:nvSpPr>
            <p:cNvPr id="39" name="TextBox 38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0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</p:grpSp>
      <p:cxnSp>
        <p:nvCxnSpPr>
          <p:cNvPr id="3" name="Straight Connector 2"/>
          <p:cNvCxnSpPr/>
          <p:nvPr/>
        </p:nvCxnSpPr>
        <p:spPr>
          <a:xfrm>
            <a:off x="3550948" y="2551417"/>
            <a:ext cx="0" cy="1195912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34887" y="2478127"/>
            <a:ext cx="0" cy="1195912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3316761" y="3711025"/>
            <a:ext cx="1713826" cy="1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3304431" y="2478127"/>
            <a:ext cx="1713826" cy="1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401448" y="2402048"/>
            <a:ext cx="1391356" cy="1444596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3436893" y="2404153"/>
            <a:ext cx="1481105" cy="1444596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5820766" y="2211285"/>
            <a:ext cx="1823714" cy="1757206"/>
            <a:chOff x="8683419" y="1191554"/>
            <a:chExt cx="1823714" cy="1757206"/>
          </a:xfrm>
        </p:grpSpPr>
        <p:sp>
          <p:nvSpPr>
            <p:cNvPr id="71" name="TextBox 70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0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</p:grpSp>
      <p:cxnSp>
        <p:nvCxnSpPr>
          <p:cNvPr id="80" name="Straight Connector 79"/>
          <p:cNvCxnSpPr/>
          <p:nvPr/>
        </p:nvCxnSpPr>
        <p:spPr>
          <a:xfrm flipV="1">
            <a:off x="5942984" y="2566829"/>
            <a:ext cx="171382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5942984" y="3742535"/>
            <a:ext cx="171382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6095384" y="2389465"/>
            <a:ext cx="0" cy="14903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V="1">
            <a:off x="7330583" y="2423628"/>
            <a:ext cx="0" cy="14903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967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</a:rPr>
              <a:t>Funcții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evaluare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mr-IN" dirty="0">
                <a:latin typeface="Times New Roman"/>
                <a:cs typeface="Times New Roman"/>
              </a:rPr>
              <a:t>–</a:t>
            </a:r>
            <a:r>
              <a:rPr lang="en-US" dirty="0">
                <a:latin typeface="Times New Roman"/>
                <a:cs typeface="Times New Roman"/>
              </a:rPr>
              <a:t> X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0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60735" y="1062005"/>
            <a:ext cx="8629650" cy="495300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/>
                <a:cs typeface="Times New Roman"/>
              </a:rPr>
              <a:t>o </a:t>
            </a:r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ideală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returnează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valoarea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MiniMax</a:t>
            </a:r>
            <a:r>
              <a:rPr lang="en-US" sz="2400" dirty="0">
                <a:latin typeface="Times New Roman"/>
                <a:cs typeface="Times New Roman"/>
              </a:rPr>
              <a:t> a </a:t>
            </a:r>
            <a:r>
              <a:rPr lang="en-US" sz="2400" dirty="0" err="1">
                <a:latin typeface="Times New Roman"/>
                <a:cs typeface="Times New Roman"/>
              </a:rPr>
              <a:t>stării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en-US" sz="2400" dirty="0">
                <a:latin typeface="Times New Roman"/>
                <a:cs typeface="Times New Roman"/>
              </a:rPr>
              <a:t>diverse </a:t>
            </a:r>
            <a:r>
              <a:rPr lang="en-US" sz="2400" dirty="0" err="1">
                <a:latin typeface="Times New Roman"/>
                <a:cs typeface="Times New Roman"/>
              </a:rPr>
              <a:t>funcții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specifice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fiecare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joc</a:t>
            </a:r>
            <a:r>
              <a:rPr lang="en-US" sz="2400" dirty="0">
                <a:latin typeface="Times New Roman"/>
                <a:cs typeface="Times New Roman"/>
              </a:rPr>
              <a:t>:</a:t>
            </a: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marL="0" indent="0" algn="just" eaLnBrk="1" hangingPunct="1">
              <a:lnSpc>
                <a:spcPct val="110000"/>
              </a:lnSpc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exemplu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funcție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evaluare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X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0: </a:t>
            </a:r>
            <a:r>
              <a:rPr lang="en-US" sz="2400" dirty="0" err="1">
                <a:latin typeface="Times New Roman"/>
                <a:cs typeface="Times New Roman"/>
              </a:rPr>
              <a:t>diferența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dintre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numărul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soluții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disponibile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2FC338"/>
                </a:solidFill>
                <a:latin typeface="Times New Roman"/>
                <a:cs typeface="Times New Roman"/>
              </a:rPr>
              <a:t>pentru</a:t>
            </a:r>
            <a:r>
              <a:rPr lang="en-US" sz="2400" dirty="0">
                <a:solidFill>
                  <a:srgbClr val="2FC338"/>
                </a:solidFill>
                <a:latin typeface="Times New Roman"/>
                <a:cs typeface="Times New Roman"/>
              </a:rPr>
              <a:t> MAX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numărul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de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soluții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disponibile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cs typeface="Times New Roman"/>
              </a:rPr>
              <a:t>pentru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 MIN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exemplul</a:t>
            </a:r>
            <a:r>
              <a:rPr lang="en-US" sz="2400" dirty="0">
                <a:latin typeface="Times New Roman"/>
                <a:cs typeface="Times New Roman"/>
              </a:rPr>
              <a:t> de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sus</a:t>
            </a:r>
            <a:r>
              <a:rPr lang="en-US" sz="2400" dirty="0">
                <a:latin typeface="Times New Roman"/>
                <a:cs typeface="Times New Roman"/>
              </a:rPr>
              <a:t>: 5-4 = 1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748823" y="2218602"/>
            <a:ext cx="1823714" cy="1757206"/>
            <a:chOff x="8683419" y="1191554"/>
            <a:chExt cx="1823714" cy="1757206"/>
          </a:xfrm>
        </p:grpSpPr>
        <p:sp>
          <p:nvSpPr>
            <p:cNvPr id="29" name="TextBox 28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231533" y="2218602"/>
            <a:ext cx="1823714" cy="1757206"/>
            <a:chOff x="8683419" y="1191554"/>
            <a:chExt cx="1823714" cy="1757206"/>
          </a:xfrm>
        </p:grpSpPr>
        <p:sp>
          <p:nvSpPr>
            <p:cNvPr id="39" name="TextBox 38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</p:grpSp>
      <p:cxnSp>
        <p:nvCxnSpPr>
          <p:cNvPr id="3" name="Straight Connector 2"/>
          <p:cNvCxnSpPr/>
          <p:nvPr/>
        </p:nvCxnSpPr>
        <p:spPr>
          <a:xfrm>
            <a:off x="3550948" y="2551417"/>
            <a:ext cx="0" cy="1195912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134887" y="2478127"/>
            <a:ext cx="0" cy="1195912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3316761" y="3711025"/>
            <a:ext cx="1713826" cy="1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3401448" y="2402048"/>
            <a:ext cx="1391356" cy="1444596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5820766" y="2211285"/>
            <a:ext cx="1823714" cy="1757206"/>
            <a:chOff x="8683419" y="1191554"/>
            <a:chExt cx="1823714" cy="1757206"/>
          </a:xfrm>
        </p:grpSpPr>
        <p:sp>
          <p:nvSpPr>
            <p:cNvPr id="71" name="TextBox 70"/>
            <p:cNvSpPr txBox="1"/>
            <p:nvPr/>
          </p:nvSpPr>
          <p:spPr>
            <a:xfrm>
              <a:off x="8686800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293577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900355" y="119155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0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9900355" y="1778835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9900355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293577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683419" y="2363984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686800" y="1776330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3200" b="1" dirty="0">
                <a:latin typeface="Times New Roman"/>
                <a:cs typeface="Times New Roman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9290197" y="1779208"/>
              <a:ext cx="606778" cy="58477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latin typeface="Times New Roman"/>
                  <a:cs typeface="Times New Roman"/>
                </a:rPr>
                <a:t>X</a:t>
              </a:r>
            </a:p>
          </p:txBody>
        </p:sp>
      </p:grpSp>
      <p:cxnSp>
        <p:nvCxnSpPr>
          <p:cNvPr id="80" name="Straight Connector 79"/>
          <p:cNvCxnSpPr/>
          <p:nvPr/>
        </p:nvCxnSpPr>
        <p:spPr>
          <a:xfrm flipV="1">
            <a:off x="5942984" y="2566829"/>
            <a:ext cx="171382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5942984" y="3742535"/>
            <a:ext cx="1713826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6095384" y="2389465"/>
            <a:ext cx="0" cy="14903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 flipV="1">
            <a:off x="7330583" y="2423628"/>
            <a:ext cx="0" cy="149036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3304431" y="3149372"/>
            <a:ext cx="1713826" cy="1"/>
          </a:xfrm>
          <a:prstGeom prst="line">
            <a:avLst/>
          </a:prstGeom>
          <a:ln>
            <a:solidFill>
              <a:srgbClr val="2FC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6390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14551" y="1448322"/>
            <a:ext cx="5042297" cy="44185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en-US" dirty="0" err="1">
                <a:latin typeface="Times New Roman"/>
                <a:cs typeface="Times New Roman"/>
              </a:rPr>
              <a:t>Retezări</a:t>
            </a:r>
            <a:r>
              <a:rPr lang="en-US" dirty="0">
                <a:latin typeface="Times New Roman"/>
                <a:cs typeface="Times New Roman"/>
              </a:rPr>
              <a:t> (Pruning) </a:t>
            </a:r>
            <a:r>
              <a:rPr lang="en-US" dirty="0" err="1">
                <a:latin typeface="Times New Roman"/>
                <a:cs typeface="Times New Roman"/>
              </a:rPr>
              <a:t>în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arborele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joc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42163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Exemplu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MiniMax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21507" name="AutoShape 4"/>
          <p:cNvSpPr>
            <a:spLocks noChangeArrowheads="1"/>
          </p:cNvSpPr>
          <p:nvPr/>
        </p:nvSpPr>
        <p:spPr bwMode="auto">
          <a:xfrm>
            <a:off x="4270375" y="2209800"/>
            <a:ext cx="381000" cy="304800"/>
          </a:xfrm>
          <a:prstGeom prst="triangle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1981200" y="3765550"/>
            <a:ext cx="381000" cy="1187450"/>
            <a:chOff x="1981200" y="3765550"/>
            <a:chExt cx="381000" cy="1187450"/>
          </a:xfrm>
        </p:grpSpPr>
        <p:cxnSp>
          <p:nvCxnSpPr>
            <p:cNvPr id="21550" name="AutoShape 13"/>
            <p:cNvCxnSpPr>
              <a:cxnSpLocks noChangeShapeType="1"/>
              <a:stCxn id="21542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51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173288" y="3765550"/>
            <a:ext cx="950912" cy="1187450"/>
            <a:chOff x="2173288" y="3765550"/>
            <a:chExt cx="950912" cy="1187450"/>
          </a:xfrm>
        </p:grpSpPr>
        <p:cxnSp>
          <p:nvCxnSpPr>
            <p:cNvPr id="21548" name="AutoShape 17"/>
            <p:cNvCxnSpPr>
              <a:cxnSpLocks noChangeShapeType="1"/>
              <a:stCxn id="21542" idx="0"/>
            </p:cNvCxnSpPr>
            <p:nvPr/>
          </p:nvCxnSpPr>
          <p:spPr bwMode="auto">
            <a:xfrm>
              <a:off x="2173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9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6553200" y="3765550"/>
            <a:ext cx="381000" cy="1187450"/>
            <a:chOff x="6553200" y="3765550"/>
            <a:chExt cx="381000" cy="1187450"/>
          </a:xfrm>
        </p:grpSpPr>
        <p:cxnSp>
          <p:nvCxnSpPr>
            <p:cNvPr id="21546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7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6745288" y="3765550"/>
            <a:ext cx="950912" cy="1187450"/>
            <a:chOff x="6745288" y="3765550"/>
            <a:chExt cx="950912" cy="1187450"/>
          </a:xfrm>
        </p:grpSpPr>
        <p:cxnSp>
          <p:nvCxnSpPr>
            <p:cNvPr id="21544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5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1984375" y="2514600"/>
            <a:ext cx="2476500" cy="1250950"/>
            <a:chOff x="1984375" y="2514600"/>
            <a:chExt cx="2476501" cy="1250950"/>
          </a:xfrm>
        </p:grpSpPr>
        <p:sp>
          <p:nvSpPr>
            <p:cNvPr id="21542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43" name="AutoShape 7"/>
            <p:cNvCxnSpPr>
              <a:cxnSpLocks noChangeShapeType="1"/>
              <a:stCxn id="21507" idx="3"/>
              <a:endCxn id="21542" idx="3"/>
            </p:cNvCxnSpPr>
            <p:nvPr/>
          </p:nvCxnSpPr>
          <p:spPr bwMode="auto">
            <a:xfrm flipH="1">
              <a:off x="2173288" y="2514600"/>
              <a:ext cx="2287588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21542" idx="0"/>
          </p:cNvCxnSpPr>
          <p:nvPr/>
        </p:nvCxnSpPr>
        <p:spPr bwMode="auto">
          <a:xfrm flipH="1">
            <a:off x="1412876" y="3765552"/>
            <a:ext cx="760413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219200" y="4648200"/>
            <a:ext cx="38100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4304507" y="2666207"/>
            <a:ext cx="304800" cy="1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21507" idx="3"/>
          </p:cNvCxnSpPr>
          <p:nvPr/>
        </p:nvCxnSpPr>
        <p:spPr bwMode="auto">
          <a:xfrm rot="16200000" flipH="1">
            <a:off x="4630738" y="2344739"/>
            <a:ext cx="228600" cy="568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020094" y="3913982"/>
            <a:ext cx="304800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21542" idx="0"/>
          </p:cNvCxnSpPr>
          <p:nvPr/>
        </p:nvCxnSpPr>
        <p:spPr bwMode="auto">
          <a:xfrm rot="16200000" flipH="1">
            <a:off x="2170113" y="3770312"/>
            <a:ext cx="196850" cy="187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4270375" y="2514602"/>
            <a:ext cx="381000" cy="1235075"/>
            <a:chOff x="4270375" y="2514600"/>
            <a:chExt cx="381000" cy="1235075"/>
          </a:xfrm>
        </p:grpSpPr>
        <p:sp>
          <p:nvSpPr>
            <p:cNvPr id="21540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D9969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41" name="AutoShape 21"/>
            <p:cNvCxnSpPr>
              <a:cxnSpLocks noChangeShapeType="1"/>
              <a:stCxn id="21507" idx="3"/>
              <a:endCxn id="21540" idx="3"/>
            </p:cNvCxnSpPr>
            <p:nvPr/>
          </p:nvCxnSpPr>
          <p:spPr bwMode="auto">
            <a:xfrm flipH="1">
              <a:off x="4459288" y="2514600"/>
              <a:ext cx="1588" cy="9302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3505200" y="3762377"/>
            <a:ext cx="1143000" cy="1190625"/>
            <a:chOff x="3505200" y="3762375"/>
            <a:chExt cx="1142999" cy="1190625"/>
          </a:xfrm>
        </p:grpSpPr>
        <p:cxnSp>
          <p:nvCxnSpPr>
            <p:cNvPr id="21536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37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21538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39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4460875" y="2514600"/>
            <a:ext cx="2476500" cy="1250950"/>
            <a:chOff x="4460875" y="2514600"/>
            <a:chExt cx="2476500" cy="1250950"/>
          </a:xfrm>
        </p:grpSpPr>
        <p:sp>
          <p:nvSpPr>
            <p:cNvPr id="21534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D9969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35" name="AutoShape 27"/>
            <p:cNvCxnSpPr>
              <a:cxnSpLocks noChangeShapeType="1"/>
              <a:stCxn id="21507" idx="3"/>
              <a:endCxn id="21534" idx="3"/>
            </p:cNvCxnSpPr>
            <p:nvPr/>
          </p:nvCxnSpPr>
          <p:spPr bwMode="auto">
            <a:xfrm>
              <a:off x="4460875" y="2514600"/>
              <a:ext cx="228441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5791200" y="3762377"/>
            <a:ext cx="1143000" cy="1190625"/>
            <a:chOff x="5791200" y="3762375"/>
            <a:chExt cx="1142999" cy="1190625"/>
          </a:xfrm>
        </p:grpSpPr>
        <p:cxnSp>
          <p:nvCxnSpPr>
            <p:cNvPr id="21530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31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21532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33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4267200" y="3765550"/>
            <a:ext cx="381000" cy="1187450"/>
            <a:chOff x="6553200" y="3765550"/>
            <a:chExt cx="381000" cy="1187450"/>
          </a:xfrm>
        </p:grpSpPr>
        <p:cxnSp>
          <p:nvCxnSpPr>
            <p:cNvPr id="21528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29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4459288" y="3765550"/>
            <a:ext cx="950912" cy="1187450"/>
            <a:chOff x="6745288" y="3765550"/>
            <a:chExt cx="950912" cy="1187450"/>
          </a:xfrm>
        </p:grpSpPr>
        <p:cxnSp>
          <p:nvCxnSpPr>
            <p:cNvPr id="21526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27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6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033867" y="3373807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8201" y="3362256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267" y="3380826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8352" y="2209800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0" y="2194089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0" y="3348230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2256561784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AutoShape 4"/>
          <p:cNvSpPr>
            <a:spLocks noChangeArrowheads="1"/>
          </p:cNvSpPr>
          <p:nvPr/>
        </p:nvSpPr>
        <p:spPr bwMode="auto">
          <a:xfrm>
            <a:off x="4270375" y="2209800"/>
            <a:ext cx="381000" cy="304800"/>
          </a:xfrm>
          <a:prstGeom prst="triangle">
            <a:avLst>
              <a:gd name="adj" fmla="val 50000"/>
            </a:avLst>
          </a:prstGeom>
          <a:solidFill>
            <a:srgbClr val="8EB4E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1981200" y="3765550"/>
            <a:ext cx="381000" cy="1187450"/>
            <a:chOff x="1981200" y="3765550"/>
            <a:chExt cx="381000" cy="1187450"/>
          </a:xfrm>
        </p:grpSpPr>
        <p:cxnSp>
          <p:nvCxnSpPr>
            <p:cNvPr id="22568" name="AutoShape 13"/>
            <p:cNvCxnSpPr>
              <a:cxnSpLocks noChangeShapeType="1"/>
              <a:stCxn id="22560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9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173288" y="3765550"/>
            <a:ext cx="950912" cy="1187450"/>
            <a:chOff x="2173288" y="3765550"/>
            <a:chExt cx="950912" cy="1187450"/>
          </a:xfrm>
        </p:grpSpPr>
        <p:cxnSp>
          <p:nvCxnSpPr>
            <p:cNvPr id="22566" name="AutoShape 17"/>
            <p:cNvCxnSpPr>
              <a:cxnSpLocks noChangeShapeType="1"/>
              <a:stCxn id="22560" idx="0"/>
            </p:cNvCxnSpPr>
            <p:nvPr/>
          </p:nvCxnSpPr>
          <p:spPr bwMode="auto">
            <a:xfrm>
              <a:off x="2173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7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6553200" y="3765550"/>
            <a:ext cx="381000" cy="1187450"/>
            <a:chOff x="6553200" y="3765550"/>
            <a:chExt cx="381000" cy="1187450"/>
          </a:xfrm>
        </p:grpSpPr>
        <p:cxnSp>
          <p:nvCxnSpPr>
            <p:cNvPr id="22564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5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6745288" y="3765550"/>
            <a:ext cx="950912" cy="1187450"/>
            <a:chOff x="6745288" y="3765550"/>
            <a:chExt cx="950912" cy="1187450"/>
          </a:xfrm>
        </p:grpSpPr>
        <p:cxnSp>
          <p:nvCxnSpPr>
            <p:cNvPr id="22562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3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1984375" y="2514600"/>
            <a:ext cx="2476500" cy="1250950"/>
            <a:chOff x="1984375" y="2514600"/>
            <a:chExt cx="2476501" cy="1250950"/>
          </a:xfrm>
        </p:grpSpPr>
        <p:sp>
          <p:nvSpPr>
            <p:cNvPr id="22560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2561" name="AutoShape 7"/>
            <p:cNvCxnSpPr>
              <a:cxnSpLocks noChangeShapeType="1"/>
              <a:stCxn id="22531" idx="3"/>
              <a:endCxn id="22560" idx="3"/>
            </p:cNvCxnSpPr>
            <p:nvPr/>
          </p:nvCxnSpPr>
          <p:spPr bwMode="auto">
            <a:xfrm flipH="1">
              <a:off x="2174875" y="2514600"/>
              <a:ext cx="2286001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22560" idx="0"/>
          </p:cNvCxnSpPr>
          <p:nvPr/>
        </p:nvCxnSpPr>
        <p:spPr bwMode="auto">
          <a:xfrm flipH="1">
            <a:off x="1412876" y="3765552"/>
            <a:ext cx="760413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219200" y="4648200"/>
            <a:ext cx="381000" cy="304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4304507" y="2666207"/>
            <a:ext cx="304800" cy="1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22531" idx="3"/>
          </p:cNvCxnSpPr>
          <p:nvPr/>
        </p:nvCxnSpPr>
        <p:spPr bwMode="auto">
          <a:xfrm rot="16200000" flipH="1">
            <a:off x="4630738" y="2344739"/>
            <a:ext cx="228600" cy="568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020094" y="3913982"/>
            <a:ext cx="304800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22560" idx="0"/>
          </p:cNvCxnSpPr>
          <p:nvPr/>
        </p:nvCxnSpPr>
        <p:spPr bwMode="auto">
          <a:xfrm rot="16200000" flipH="1">
            <a:off x="2170113" y="3770312"/>
            <a:ext cx="196850" cy="187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4270375" y="2514602"/>
            <a:ext cx="381000" cy="1235075"/>
            <a:chOff x="4270375" y="2514600"/>
            <a:chExt cx="381000" cy="1235075"/>
          </a:xfrm>
        </p:grpSpPr>
        <p:sp>
          <p:nvSpPr>
            <p:cNvPr id="22558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D9969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2559" name="AutoShape 21"/>
            <p:cNvCxnSpPr>
              <a:cxnSpLocks noChangeShapeType="1"/>
              <a:stCxn id="22531" idx="3"/>
              <a:endCxn id="22558" idx="3"/>
            </p:cNvCxnSpPr>
            <p:nvPr/>
          </p:nvCxnSpPr>
          <p:spPr bwMode="auto">
            <a:xfrm flipH="1">
              <a:off x="4459288" y="2514600"/>
              <a:ext cx="1588" cy="9302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3505200" y="3762377"/>
            <a:ext cx="1143000" cy="1190625"/>
            <a:chOff x="3505200" y="3762375"/>
            <a:chExt cx="1142999" cy="1190625"/>
          </a:xfrm>
        </p:grpSpPr>
        <p:cxnSp>
          <p:nvCxnSpPr>
            <p:cNvPr id="22554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55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22556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557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4460875" y="2514600"/>
            <a:ext cx="2476500" cy="1250950"/>
            <a:chOff x="4460875" y="2514600"/>
            <a:chExt cx="2476500" cy="1250950"/>
          </a:xfrm>
        </p:grpSpPr>
        <p:sp>
          <p:nvSpPr>
            <p:cNvPr id="22552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D99694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2553" name="AutoShape 27"/>
            <p:cNvCxnSpPr>
              <a:cxnSpLocks noChangeShapeType="1"/>
              <a:stCxn id="22531" idx="3"/>
              <a:endCxn id="22552" idx="3"/>
            </p:cNvCxnSpPr>
            <p:nvPr/>
          </p:nvCxnSpPr>
          <p:spPr bwMode="auto">
            <a:xfrm>
              <a:off x="4460875" y="2514600"/>
              <a:ext cx="228441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5791200" y="3762377"/>
            <a:ext cx="1143000" cy="1190625"/>
            <a:chOff x="5791200" y="3762375"/>
            <a:chExt cx="1142999" cy="1190625"/>
          </a:xfrm>
        </p:grpSpPr>
        <p:cxnSp>
          <p:nvCxnSpPr>
            <p:cNvPr id="22548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49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solidFill>
              <a:srgbClr val="B3A2C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22550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551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Accelerarea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algoritmului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MiniMax</a:t>
            </a:r>
            <a:endParaRPr lang="en-US" dirty="0">
              <a:latin typeface="Times New Roman"/>
              <a:cs typeface="Times New Roman"/>
              <a:sym typeface="Symbol" pitchFamily="18" charset="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033867" y="3373807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4383" y="2171315"/>
            <a:ext cx="47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≥3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7746" y="3396220"/>
            <a:ext cx="47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≤2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7375" y="3276084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≤14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7098" y="3550776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≤5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2215" y="383544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≤2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08860" y="2203009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0" y="2194089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3348230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267" y="3380826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86942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3" grpId="0"/>
      <p:bldP spid="44" grpId="0"/>
      <p:bldP spid="45" grpId="0"/>
      <p:bldP spid="46" grpId="0"/>
      <p:bldP spid="47" grpId="0"/>
      <p:bldP spid="48" grpId="0"/>
      <p:bldP spid="49" grpId="0"/>
      <p:bldP spid="5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219200" y="1089533"/>
            <a:ext cx="6477000" cy="2781687"/>
            <a:chOff x="1219200" y="2171315"/>
            <a:chExt cx="6477000" cy="2781687"/>
          </a:xfrm>
        </p:grpSpPr>
        <p:sp>
          <p:nvSpPr>
            <p:cNvPr id="22531" name="AutoShape 4"/>
            <p:cNvSpPr>
              <a:spLocks noChangeArrowheads="1"/>
            </p:cNvSpPr>
            <p:nvPr/>
          </p:nvSpPr>
          <p:spPr bwMode="auto">
            <a:xfrm>
              <a:off x="4270375" y="2209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60"/>
            <p:cNvGrpSpPr>
              <a:grpSpLocks/>
            </p:cNvGrpSpPr>
            <p:nvPr/>
          </p:nvGrpSpPr>
          <p:grpSpPr bwMode="auto">
            <a:xfrm>
              <a:off x="1981200" y="3765550"/>
              <a:ext cx="381000" cy="1187450"/>
              <a:chOff x="1981200" y="3765550"/>
              <a:chExt cx="381000" cy="1187450"/>
            </a:xfrm>
          </p:grpSpPr>
          <p:cxnSp>
            <p:nvCxnSpPr>
              <p:cNvPr id="22568" name="AutoShape 13"/>
              <p:cNvCxnSpPr>
                <a:cxnSpLocks noChangeShapeType="1"/>
                <a:stCxn id="22560" idx="0"/>
              </p:cNvCxnSpPr>
              <p:nvPr/>
            </p:nvCxnSpPr>
            <p:spPr bwMode="auto">
              <a:xfrm>
                <a:off x="2173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69" name="Rectangle 7"/>
              <p:cNvSpPr>
                <a:spLocks noChangeArrowheads="1"/>
              </p:cNvSpPr>
              <p:nvPr/>
            </p:nvSpPr>
            <p:spPr bwMode="auto">
              <a:xfrm>
                <a:off x="198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12</a:t>
                </a:r>
              </a:p>
            </p:txBody>
          </p:sp>
        </p:grpSp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2173288" y="3765550"/>
              <a:ext cx="950912" cy="1187450"/>
              <a:chOff x="2173288" y="3765550"/>
              <a:chExt cx="950912" cy="1187450"/>
            </a:xfrm>
          </p:grpSpPr>
          <p:cxnSp>
            <p:nvCxnSpPr>
              <p:cNvPr id="22566" name="AutoShape 17"/>
              <p:cNvCxnSpPr>
                <a:cxnSpLocks noChangeShapeType="1"/>
                <a:stCxn id="22560" idx="0"/>
              </p:cNvCxnSpPr>
              <p:nvPr/>
            </p:nvCxnSpPr>
            <p:spPr bwMode="auto">
              <a:xfrm>
                <a:off x="2173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67" name="Rectangle 7"/>
              <p:cNvSpPr>
                <a:spLocks noChangeArrowheads="1"/>
              </p:cNvSpPr>
              <p:nvPr/>
            </p:nvSpPr>
            <p:spPr bwMode="auto">
              <a:xfrm>
                <a:off x="274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8</a:t>
                </a:r>
              </a:p>
            </p:txBody>
          </p:sp>
        </p:grpSp>
        <p:grpSp>
          <p:nvGrpSpPr>
            <p:cNvPr id="4" name="Group 64"/>
            <p:cNvGrpSpPr>
              <a:grpSpLocks/>
            </p:cNvGrpSpPr>
            <p:nvPr/>
          </p:nvGrpSpPr>
          <p:grpSpPr bwMode="auto">
            <a:xfrm>
              <a:off x="6553200" y="3765550"/>
              <a:ext cx="381000" cy="1187450"/>
              <a:chOff x="6553200" y="3765550"/>
              <a:chExt cx="381000" cy="1187450"/>
            </a:xfrm>
          </p:grpSpPr>
          <p:cxnSp>
            <p:nvCxnSpPr>
              <p:cNvPr id="22564" name="AutoShape 33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1588" cy="8064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65" name="Rectangle 7"/>
              <p:cNvSpPr>
                <a:spLocks noChangeArrowheads="1"/>
              </p:cNvSpPr>
              <p:nvPr/>
            </p:nvSpPr>
            <p:spPr bwMode="auto">
              <a:xfrm>
                <a:off x="6553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5</a:t>
                </a:r>
              </a:p>
            </p:txBody>
          </p:sp>
        </p:grpSp>
        <p:grpSp>
          <p:nvGrpSpPr>
            <p:cNvPr id="5" name="Group 65"/>
            <p:cNvGrpSpPr>
              <a:grpSpLocks/>
            </p:cNvGrpSpPr>
            <p:nvPr/>
          </p:nvGrpSpPr>
          <p:grpSpPr bwMode="auto">
            <a:xfrm>
              <a:off x="6745288" y="3765550"/>
              <a:ext cx="950912" cy="1187450"/>
              <a:chOff x="6745288" y="3765550"/>
              <a:chExt cx="950912" cy="1187450"/>
            </a:xfrm>
          </p:grpSpPr>
          <p:cxnSp>
            <p:nvCxnSpPr>
              <p:cNvPr id="22562" name="AutoShape 37"/>
              <p:cNvCxnSpPr>
                <a:cxnSpLocks noChangeShapeType="1"/>
              </p:cNvCxnSpPr>
              <p:nvPr/>
            </p:nvCxnSpPr>
            <p:spPr bwMode="auto">
              <a:xfrm>
                <a:off x="6745288" y="3765550"/>
                <a:ext cx="763587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63" name="Rectangle 7"/>
              <p:cNvSpPr>
                <a:spLocks noChangeArrowheads="1"/>
              </p:cNvSpPr>
              <p:nvPr/>
            </p:nvSpPr>
            <p:spPr bwMode="auto">
              <a:xfrm>
                <a:off x="731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</p:grpSp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1984375" y="2514600"/>
              <a:ext cx="2476500" cy="1250950"/>
              <a:chOff x="1984375" y="2514600"/>
              <a:chExt cx="2476501" cy="1250950"/>
            </a:xfrm>
          </p:grpSpPr>
          <p:sp>
            <p:nvSpPr>
              <p:cNvPr id="22560" name="AutoShape 6"/>
              <p:cNvSpPr>
                <a:spLocks noChangeArrowheads="1"/>
              </p:cNvSpPr>
              <p:nvPr/>
            </p:nvSpPr>
            <p:spPr bwMode="auto">
              <a:xfrm flipV="1">
                <a:off x="1984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2561" name="AutoShape 7"/>
              <p:cNvCxnSpPr>
                <a:cxnSpLocks noChangeShapeType="1"/>
                <a:stCxn id="22531" idx="3"/>
                <a:endCxn id="22560" idx="3"/>
              </p:cNvCxnSpPr>
              <p:nvPr/>
            </p:nvCxnSpPr>
            <p:spPr bwMode="auto">
              <a:xfrm flipH="1">
                <a:off x="2173288" y="2514600"/>
                <a:ext cx="2287588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20" name="AutoShape 9"/>
            <p:cNvCxnSpPr>
              <a:cxnSpLocks noChangeShapeType="1"/>
              <a:stCxn id="22560" idx="0"/>
            </p:cNvCxnSpPr>
            <p:nvPr/>
          </p:nvCxnSpPr>
          <p:spPr bwMode="auto">
            <a:xfrm flipH="1">
              <a:off x="1412876" y="3765552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1" name="Rectangle 7"/>
            <p:cNvSpPr>
              <a:spLocks noChangeArrowheads="1"/>
            </p:cNvSpPr>
            <p:nvPr/>
          </p:nvSpPr>
          <p:spPr bwMode="auto">
            <a:xfrm>
              <a:off x="1219200" y="4648200"/>
              <a:ext cx="381000" cy="3048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3</a:t>
              </a:r>
            </a:p>
          </p:txBody>
        </p:sp>
        <p:cxnSp>
          <p:nvCxnSpPr>
            <p:cNvPr id="67" name="AutoShape 21"/>
            <p:cNvCxnSpPr>
              <a:cxnSpLocks noChangeShapeType="1"/>
            </p:cNvCxnSpPr>
            <p:nvPr/>
          </p:nvCxnSpPr>
          <p:spPr bwMode="auto">
            <a:xfrm rot="5400000">
              <a:off x="4304507" y="2666207"/>
              <a:ext cx="304800" cy="15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0" name="AutoShape 21"/>
            <p:cNvCxnSpPr>
              <a:cxnSpLocks noChangeShapeType="1"/>
              <a:stCxn id="22531" idx="3"/>
            </p:cNvCxnSpPr>
            <p:nvPr/>
          </p:nvCxnSpPr>
          <p:spPr bwMode="auto">
            <a:xfrm rot="16200000" flipH="1">
              <a:off x="4630738" y="2344739"/>
              <a:ext cx="228600" cy="568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4" name="AutoShape 21"/>
            <p:cNvCxnSpPr>
              <a:cxnSpLocks noChangeShapeType="1"/>
            </p:cNvCxnSpPr>
            <p:nvPr/>
          </p:nvCxnSpPr>
          <p:spPr bwMode="auto">
            <a:xfrm rot="5400000">
              <a:off x="2020094" y="3913982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5" name="AutoShape 21"/>
            <p:cNvCxnSpPr>
              <a:cxnSpLocks noChangeShapeType="1"/>
              <a:stCxn id="22560" idx="0"/>
            </p:cNvCxnSpPr>
            <p:nvPr/>
          </p:nvCxnSpPr>
          <p:spPr bwMode="auto">
            <a:xfrm rot="16200000" flipH="1">
              <a:off x="2170113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7" name="Group 59"/>
            <p:cNvGrpSpPr>
              <a:grpSpLocks/>
            </p:cNvGrpSpPr>
            <p:nvPr/>
          </p:nvGrpSpPr>
          <p:grpSpPr bwMode="auto">
            <a:xfrm>
              <a:off x="4270375" y="2514602"/>
              <a:ext cx="381000" cy="1235075"/>
              <a:chOff x="4270375" y="2514600"/>
              <a:chExt cx="381000" cy="1235075"/>
            </a:xfrm>
          </p:grpSpPr>
          <p:sp>
            <p:nvSpPr>
              <p:cNvPr id="22558" name="AutoShape 20"/>
              <p:cNvSpPr>
                <a:spLocks noChangeArrowheads="1"/>
              </p:cNvSpPr>
              <p:nvPr/>
            </p:nvSpPr>
            <p:spPr bwMode="auto">
              <a:xfrm flipV="1">
                <a:off x="4270375" y="3444875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2559" name="AutoShape 21"/>
              <p:cNvCxnSpPr>
                <a:cxnSpLocks noChangeShapeType="1"/>
                <a:stCxn id="22531" idx="3"/>
                <a:endCxn id="22558" idx="3"/>
              </p:cNvCxnSpPr>
              <p:nvPr/>
            </p:nvCxnSpPr>
            <p:spPr bwMode="auto">
              <a:xfrm flipH="1">
                <a:off x="4459288" y="2514600"/>
                <a:ext cx="1588" cy="9302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8" name="Group 58"/>
            <p:cNvGrpSpPr>
              <a:grpSpLocks/>
            </p:cNvGrpSpPr>
            <p:nvPr/>
          </p:nvGrpSpPr>
          <p:grpSpPr bwMode="auto">
            <a:xfrm>
              <a:off x="3505200" y="3762377"/>
              <a:ext cx="1143000" cy="1190625"/>
              <a:chOff x="3505200" y="3762375"/>
              <a:chExt cx="1142999" cy="1190625"/>
            </a:xfrm>
          </p:grpSpPr>
          <p:cxnSp>
            <p:nvCxnSpPr>
              <p:cNvPr id="22554" name="AutoShape 23"/>
              <p:cNvCxnSpPr>
                <a:cxnSpLocks noChangeShapeType="1"/>
              </p:cNvCxnSpPr>
              <p:nvPr/>
            </p:nvCxnSpPr>
            <p:spPr bwMode="auto">
              <a:xfrm flipH="1">
                <a:off x="3698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55" name="Rectangle 7"/>
              <p:cNvSpPr>
                <a:spLocks noChangeArrowheads="1"/>
              </p:cNvSpPr>
              <p:nvPr/>
            </p:nvSpPr>
            <p:spPr bwMode="auto">
              <a:xfrm>
                <a:off x="3505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2</a:t>
                </a:r>
              </a:p>
            </p:txBody>
          </p:sp>
          <p:cxnSp>
            <p:nvCxnSpPr>
              <p:cNvPr id="22556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4306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2557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4456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grpSp>
          <p:nvGrpSpPr>
            <p:cNvPr id="9" name="Group 61"/>
            <p:cNvGrpSpPr>
              <a:grpSpLocks/>
            </p:cNvGrpSpPr>
            <p:nvPr/>
          </p:nvGrpSpPr>
          <p:grpSpPr bwMode="auto">
            <a:xfrm>
              <a:off x="4460875" y="2514600"/>
              <a:ext cx="2476500" cy="1250950"/>
              <a:chOff x="4460875" y="2514600"/>
              <a:chExt cx="2476500" cy="1250950"/>
            </a:xfrm>
          </p:grpSpPr>
          <p:sp>
            <p:nvSpPr>
              <p:cNvPr id="22552" name="AutoShape 26"/>
              <p:cNvSpPr>
                <a:spLocks noChangeArrowheads="1"/>
              </p:cNvSpPr>
              <p:nvPr/>
            </p:nvSpPr>
            <p:spPr bwMode="auto">
              <a:xfrm flipV="1">
                <a:off x="6556375" y="3460750"/>
                <a:ext cx="381000" cy="304800"/>
              </a:xfrm>
              <a:prstGeom prst="triangle">
                <a:avLst>
                  <a:gd name="adj" fmla="val 50000"/>
                </a:avLst>
              </a:prstGeom>
              <a:solidFill>
                <a:srgbClr val="D99694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2553" name="AutoShape 27"/>
              <p:cNvCxnSpPr>
                <a:cxnSpLocks noChangeShapeType="1"/>
                <a:stCxn id="22531" idx="3"/>
                <a:endCxn id="22552" idx="3"/>
              </p:cNvCxnSpPr>
              <p:nvPr/>
            </p:nvCxnSpPr>
            <p:spPr bwMode="auto">
              <a:xfrm>
                <a:off x="4460875" y="2514600"/>
                <a:ext cx="2284413" cy="94615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grpSp>
          <p:nvGrpSpPr>
            <p:cNvPr id="10" name="Group 60"/>
            <p:cNvGrpSpPr>
              <a:grpSpLocks/>
            </p:cNvGrpSpPr>
            <p:nvPr/>
          </p:nvGrpSpPr>
          <p:grpSpPr bwMode="auto">
            <a:xfrm>
              <a:off x="5791200" y="3762377"/>
              <a:ext cx="1143000" cy="1190625"/>
              <a:chOff x="5791200" y="3762375"/>
              <a:chExt cx="1142999" cy="1190625"/>
            </a:xfrm>
          </p:grpSpPr>
          <p:cxnSp>
            <p:nvCxnSpPr>
              <p:cNvPr id="22548" name="AutoShape 29"/>
              <p:cNvCxnSpPr>
                <a:cxnSpLocks noChangeShapeType="1"/>
              </p:cNvCxnSpPr>
              <p:nvPr/>
            </p:nvCxnSpPr>
            <p:spPr bwMode="auto">
              <a:xfrm flipH="1">
                <a:off x="5984875" y="3765550"/>
                <a:ext cx="760413" cy="822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22549" name="Rectangle 7"/>
              <p:cNvSpPr>
                <a:spLocks noChangeArrowheads="1"/>
              </p:cNvSpPr>
              <p:nvPr/>
            </p:nvSpPr>
            <p:spPr bwMode="auto">
              <a:xfrm>
                <a:off x="5791200" y="4648200"/>
                <a:ext cx="381000" cy="304800"/>
              </a:xfrm>
              <a:prstGeom prst="rect">
                <a:avLst/>
              </a:prstGeom>
              <a:solidFill>
                <a:srgbClr val="B3A2C7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/>
                  <a:t>14</a:t>
                </a:r>
              </a:p>
            </p:txBody>
          </p:sp>
          <p:cxnSp>
            <p:nvCxnSpPr>
              <p:cNvPr id="22550" name="AutoShape 21"/>
              <p:cNvCxnSpPr>
                <a:cxnSpLocks noChangeShapeType="1"/>
              </p:cNvCxnSpPr>
              <p:nvPr/>
            </p:nvCxnSpPr>
            <p:spPr bwMode="auto">
              <a:xfrm rot="5400000">
                <a:off x="6592094" y="3913981"/>
                <a:ext cx="304800" cy="158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2551" name="AutoShape 21"/>
              <p:cNvCxnSpPr>
                <a:cxnSpLocks noChangeShapeType="1"/>
              </p:cNvCxnSpPr>
              <p:nvPr/>
            </p:nvCxnSpPr>
            <p:spPr bwMode="auto">
              <a:xfrm rot="16200000" flipH="1">
                <a:off x="6742112" y="3770312"/>
                <a:ext cx="196850" cy="18732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43" name="TextBox 42"/>
            <p:cNvSpPr txBox="1"/>
            <p:nvPr/>
          </p:nvSpPr>
          <p:spPr>
            <a:xfrm>
              <a:off x="2033867" y="3373807"/>
              <a:ext cx="2450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694383" y="2171315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≥3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687746" y="3396220"/>
              <a:ext cx="472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937375" y="3276084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≤14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957098" y="355077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≤5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992215" y="3835441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≤2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324303" y="2194406"/>
              <a:ext cx="5715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94457" y="4538685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Times New Roman"/>
                <a:cs typeface="Times New Roman"/>
              </a:rPr>
              <a:t>Tehnica</a:t>
            </a:r>
            <a:r>
              <a:rPr lang="en-US" dirty="0">
                <a:latin typeface="Times New Roman"/>
                <a:cs typeface="Times New Roman"/>
              </a:rPr>
              <a:t> de </a:t>
            </a:r>
            <a:r>
              <a:rPr lang="en-US" dirty="0" err="1">
                <a:latin typeface="Times New Roman"/>
                <a:cs typeface="Times New Roman"/>
              </a:rPr>
              <a:t>alfa</a:t>
            </a:r>
            <a:r>
              <a:rPr lang="en-US" dirty="0">
                <a:latin typeface="Times New Roman"/>
                <a:cs typeface="Times New Roman"/>
              </a:rPr>
              <a:t>-beta </a:t>
            </a:r>
            <a:r>
              <a:rPr lang="en-US" dirty="0" err="1">
                <a:latin typeface="Times New Roman"/>
                <a:cs typeface="Times New Roman"/>
              </a:rPr>
              <a:t>retezare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când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este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aplicată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unui</a:t>
            </a:r>
            <a:r>
              <a:rPr lang="en-US" dirty="0">
                <a:latin typeface="Times New Roman"/>
                <a:cs typeface="Times New Roman"/>
              </a:rPr>
              <a:t> arbore de tip </a:t>
            </a:r>
            <a:r>
              <a:rPr lang="en-US" dirty="0" err="1">
                <a:latin typeface="Times New Roman"/>
                <a:cs typeface="Times New Roman"/>
              </a:rPr>
              <a:t>Minimax</a:t>
            </a:r>
            <a:r>
              <a:rPr lang="en-US" dirty="0">
                <a:latin typeface="Times New Roman"/>
                <a:cs typeface="Times New Roman"/>
              </a:rPr>
              <a:t> standard,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va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întoarce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aceeași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mutare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pe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care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ar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furniza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-o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și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Algoritmul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MiniMax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dar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într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-un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timp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mai</a:t>
            </a: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cs typeface="Times New Roman"/>
              </a:rPr>
              <a:t>scurt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întrucât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realizează</a:t>
            </a:r>
            <a:r>
              <a:rPr lang="en-US" dirty="0">
                <a:latin typeface="Times New Roman"/>
                <a:cs typeface="Times New Roman"/>
              </a:rPr>
              <a:t> o </a:t>
            </a:r>
            <a:r>
              <a:rPr lang="en-US" dirty="0" err="1">
                <a:latin typeface="Times New Roman"/>
                <a:cs typeface="Times New Roman"/>
              </a:rPr>
              <a:t>retezare</a:t>
            </a:r>
            <a:r>
              <a:rPr lang="en-US" dirty="0">
                <a:latin typeface="Times New Roman"/>
                <a:cs typeface="Times New Roman"/>
              </a:rPr>
              <a:t> a </a:t>
            </a:r>
            <a:r>
              <a:rPr lang="en-US" dirty="0" err="1">
                <a:latin typeface="Times New Roman"/>
                <a:cs typeface="Times New Roman"/>
              </a:rPr>
              <a:t>unor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ramuri</a:t>
            </a:r>
            <a:r>
              <a:rPr lang="en-US" dirty="0">
                <a:latin typeface="Times New Roman"/>
                <a:cs typeface="Times New Roman"/>
              </a:rPr>
              <a:t> (</a:t>
            </a:r>
            <a:r>
              <a:rPr lang="en-US" dirty="0" err="1">
                <a:latin typeface="Times New Roman"/>
                <a:cs typeface="Times New Roman"/>
              </a:rPr>
              <a:t>subarbori</a:t>
            </a:r>
            <a:r>
              <a:rPr lang="en-US" dirty="0">
                <a:latin typeface="Times New Roman"/>
                <a:cs typeface="Times New Roman"/>
              </a:rPr>
              <a:t>) ale </a:t>
            </a:r>
            <a:r>
              <a:rPr lang="en-US" dirty="0" err="1">
                <a:latin typeface="Times New Roman"/>
                <a:cs typeface="Times New Roman"/>
              </a:rPr>
              <a:t>arborelui</a:t>
            </a:r>
            <a:r>
              <a:rPr lang="en-US" dirty="0">
                <a:latin typeface="Times New Roman"/>
                <a:cs typeface="Times New Roman"/>
              </a:rPr>
              <a:t> care nu pot </a:t>
            </a:r>
            <a:r>
              <a:rPr lang="en-US" dirty="0" err="1">
                <a:latin typeface="Times New Roman"/>
                <a:cs typeface="Times New Roman"/>
              </a:rPr>
              <a:t>influența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decizia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finală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și</a:t>
            </a:r>
            <a:r>
              <a:rPr lang="en-US" dirty="0">
                <a:latin typeface="Times New Roman"/>
                <a:cs typeface="Times New Roman"/>
              </a:rPr>
              <a:t> care nu </a:t>
            </a:r>
            <a:r>
              <a:rPr lang="en-US" dirty="0" err="1">
                <a:latin typeface="Times New Roman"/>
                <a:cs typeface="Times New Roman"/>
              </a:rPr>
              <a:t>mai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sunt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vizitate</a:t>
            </a:r>
            <a:r>
              <a:rPr lang="en-US" dirty="0">
                <a:latin typeface="Times New Roman"/>
                <a:cs typeface="Times New Roman"/>
              </a:rPr>
              <a:t>.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0" y="1132036"/>
            <a:ext cx="100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MAX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0" y="2286177"/>
            <a:ext cx="897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98438" y="2284939"/>
            <a:ext cx="245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85515595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few green branches with text&#10;&#10;AI-generated content may be incorrect.">
            <a:extLst>
              <a:ext uri="{FF2B5EF4-FFF2-40B4-BE49-F238E27FC236}">
                <a16:creationId xmlns:a16="http://schemas.microsoft.com/office/drawing/2014/main" id="{5F3B9030-19A8-20CF-4266-B8029697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149"/>
          <a:stretch>
            <a:fillRect/>
          </a:stretch>
        </p:blipFill>
        <p:spPr>
          <a:xfrm>
            <a:off x="221149" y="1346848"/>
            <a:ext cx="8922851" cy="3805015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893DC4F5-217B-A725-0D9B-F5F2E5CEA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729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C9BFF-D8E7-B7AA-2CB5-521F377097AC}"/>
              </a:ext>
            </a:extLst>
          </p:cNvPr>
          <p:cNvSpPr txBox="1"/>
          <p:nvPr/>
        </p:nvSpPr>
        <p:spPr>
          <a:xfrm>
            <a:off x="1483112" y="5280319"/>
            <a:ext cx="2129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înainte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0C98F-4F93-6201-DAB6-C55988DBF341}"/>
              </a:ext>
            </a:extLst>
          </p:cNvPr>
          <p:cNvSpPr txBox="1"/>
          <p:nvPr/>
        </p:nvSpPr>
        <p:spPr>
          <a:xfrm>
            <a:off x="6274419" y="5280318"/>
            <a:ext cx="2129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după</a:t>
            </a:r>
          </a:p>
        </p:txBody>
      </p:sp>
    </p:spTree>
    <p:extLst>
      <p:ext uri="{BB962C8B-B14F-4D97-AF65-F5344CB8AC3E}">
        <p14:creationId xmlns:p14="http://schemas.microsoft.com/office/powerpoint/2010/main" val="19292018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-1" y="1447800"/>
            <a:ext cx="6196496" cy="5410199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Cazurile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când</a:t>
            </a:r>
            <a:r>
              <a:rPr lang="en-US" sz="2400" dirty="0">
                <a:latin typeface="Times New Roman"/>
                <a:cs typeface="Times New Roman"/>
              </a:rPr>
              <a:t> se </a:t>
            </a:r>
            <a:r>
              <a:rPr lang="en-US" sz="2400" dirty="0" err="1">
                <a:latin typeface="Times New Roman"/>
                <a:cs typeface="Times New Roman"/>
              </a:rPr>
              <a:t>aplică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</a:t>
            </a:r>
            <a:r>
              <a:rPr lang="en-US" sz="2400" dirty="0">
                <a:latin typeface="Times New Roman"/>
                <a:cs typeface="Times New Roman"/>
              </a:rPr>
              <a:t> de tip MIN)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calculăm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pentru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jucătorul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MIN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valoarea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nodului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i="1" dirty="0">
                <a:latin typeface="Times New Roman"/>
                <a:cs typeface="Times New Roman"/>
                <a:sym typeface="Symbol" pitchFamily="18" charset="2"/>
              </a:rPr>
              <a:t>n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iterăm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după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toți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succesorii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nodului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i="1" dirty="0">
                <a:latin typeface="Times New Roman"/>
                <a:cs typeface="Times New Roman"/>
                <a:sym typeface="Symbol" pitchFamily="18" charset="2"/>
              </a:rPr>
              <a:t>n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de la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stânga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la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dreapta</a:t>
            </a:r>
            <a:endParaRPr lang="en-US" sz="2000" dirty="0">
              <a:latin typeface="Times New Roman"/>
              <a:cs typeface="Times New Roman"/>
              <a:sym typeface="Symbol" pitchFamily="18" charset="2"/>
            </a:endParaRPr>
          </a:p>
          <a:p>
            <a:pPr lvl="1" algn="just">
              <a:lnSpc>
                <a:spcPct val="110000"/>
              </a:lnSpc>
            </a:pP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valoarea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estimată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a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nodului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i="1" dirty="0">
                <a:latin typeface="Times New Roman"/>
                <a:cs typeface="Times New Roman"/>
                <a:sym typeface="Symbol" pitchFamily="18" charset="2"/>
              </a:rPr>
              <a:t>n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va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scădea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pe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măsură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ce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îi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vizităm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toți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succesorii</a:t>
            </a:r>
            <a:endParaRPr lang="en-US" sz="2000" dirty="0">
              <a:latin typeface="Times New Roman"/>
              <a:cs typeface="Times New Roman"/>
              <a:sym typeface="Symbol" pitchFamily="18" charset="2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cine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este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interesat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de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valoarea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nodului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sz="2000" i="1" dirty="0">
                <a:latin typeface="Times New Roman"/>
                <a:cs typeface="Times New Roman"/>
                <a:sym typeface="Symbol" pitchFamily="18" charset="2"/>
              </a:rPr>
              <a:t>n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?  MAX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fie </a:t>
            </a:r>
            <a:r>
              <a:rPr lang="en-US" sz="2000" dirty="0">
                <a:latin typeface="Times New Roman"/>
                <a:cs typeface="Times New Roman"/>
              </a:rPr>
              <a:t>α </a:t>
            </a:r>
            <a:r>
              <a:rPr lang="en-US" sz="2000" dirty="0" err="1">
                <a:latin typeface="Times New Roman"/>
                <a:cs typeface="Times New Roman"/>
              </a:rPr>
              <a:t>cea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mai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bună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valoare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curentă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garantată</a:t>
            </a:r>
            <a:r>
              <a:rPr lang="en-US" sz="2000" dirty="0">
                <a:latin typeface="Times New Roman"/>
                <a:cs typeface="Times New Roman"/>
              </a:rPr>
              <a:t>) </a:t>
            </a:r>
            <a:r>
              <a:rPr lang="en-US" sz="2000" dirty="0" err="1">
                <a:latin typeface="Times New Roman"/>
                <a:cs typeface="Times New Roman"/>
              </a:rPr>
              <a:t>pe</a:t>
            </a:r>
            <a:r>
              <a:rPr lang="en-US" sz="2000" dirty="0">
                <a:latin typeface="Times New Roman"/>
                <a:cs typeface="Times New Roman"/>
              </a:rPr>
              <a:t> care MAX o </a:t>
            </a:r>
            <a:r>
              <a:rPr lang="en-US" sz="2000" dirty="0" err="1">
                <a:latin typeface="Times New Roman"/>
                <a:cs typeface="Times New Roman"/>
              </a:rPr>
              <a:t>poate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obține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după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ce</a:t>
            </a:r>
            <a:r>
              <a:rPr lang="en-US" sz="2000" dirty="0">
                <a:latin typeface="Times New Roman"/>
                <a:cs typeface="Times New Roman"/>
              </a:rPr>
              <a:t> a </a:t>
            </a:r>
            <a:r>
              <a:rPr lang="en-US" sz="2000" dirty="0" err="1">
                <a:latin typeface="Times New Roman"/>
                <a:cs typeface="Times New Roman"/>
              </a:rPr>
              <a:t>vizitat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subarborii</a:t>
            </a:r>
            <a:r>
              <a:rPr lang="en-US" sz="2000" dirty="0">
                <a:latin typeface="Times New Roman"/>
                <a:cs typeface="Times New Roman"/>
              </a:rPr>
              <a:t> din </a:t>
            </a:r>
            <a:r>
              <a:rPr lang="en-US" sz="2000" dirty="0" err="1">
                <a:latin typeface="Times New Roman"/>
                <a:cs typeface="Times New Roman"/>
              </a:rPr>
              <a:t>stânga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subarborelui</a:t>
            </a:r>
            <a:r>
              <a:rPr lang="en-US" sz="2000" dirty="0">
                <a:latin typeface="Times New Roman"/>
                <a:cs typeface="Times New Roman"/>
              </a:rPr>
              <a:t> actual </a:t>
            </a:r>
            <a:r>
              <a:rPr lang="en-US" sz="2000" dirty="0" err="1">
                <a:latin typeface="Times New Roman"/>
                <a:cs typeface="Times New Roman"/>
              </a:rPr>
              <a:t>vizitat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pornind</a:t>
            </a:r>
            <a:r>
              <a:rPr lang="en-US" sz="2000" dirty="0">
                <a:latin typeface="Times New Roman"/>
                <a:cs typeface="Times New Roman"/>
              </a:rPr>
              <a:t> de la </a:t>
            </a:r>
            <a:r>
              <a:rPr lang="en-US" sz="2000" dirty="0" err="1">
                <a:latin typeface="Times New Roman"/>
                <a:cs typeface="Times New Roman"/>
              </a:rPr>
              <a:t>rădăcină</a:t>
            </a:r>
            <a:endParaRPr lang="en-US" sz="2000" dirty="0">
              <a:latin typeface="Times New Roman"/>
              <a:cs typeface="Times New Roman"/>
            </a:endParaRPr>
          </a:p>
          <a:p>
            <a:pPr lvl="1" algn="just">
              <a:lnSpc>
                <a:spcPct val="110000"/>
              </a:lnSpc>
            </a:pPr>
            <a:r>
              <a:rPr lang="en-US" sz="2000" dirty="0" err="1">
                <a:latin typeface="Times New Roman"/>
                <a:cs typeface="Times New Roman"/>
              </a:rPr>
              <a:t>dacă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valoarea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curentă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estimată</a:t>
            </a:r>
            <a:r>
              <a:rPr lang="en-US" sz="2000" dirty="0">
                <a:latin typeface="Times New Roman"/>
                <a:cs typeface="Times New Roman"/>
              </a:rPr>
              <a:t> a </a:t>
            </a:r>
            <a:r>
              <a:rPr lang="en-US" sz="2000" dirty="0" err="1">
                <a:latin typeface="Times New Roman"/>
                <a:cs typeface="Times New Roman"/>
              </a:rPr>
              <a:t>lui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i="1" dirty="0">
                <a:latin typeface="Times New Roman"/>
                <a:cs typeface="Times New Roman"/>
              </a:rPr>
              <a:t>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devine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mai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mică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decât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α</a:t>
            </a:r>
            <a:r>
              <a:rPr lang="en-US" sz="2000" dirty="0">
                <a:latin typeface="Times New Roman"/>
                <a:cs typeface="Times New Roman"/>
              </a:rPr>
              <a:t>, MAX nu </a:t>
            </a:r>
            <a:r>
              <a:rPr lang="en-US" sz="2000" dirty="0" err="1">
                <a:latin typeface="Times New Roman"/>
                <a:cs typeface="Times New Roman"/>
              </a:rPr>
              <a:t>va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alege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acest</a:t>
            </a:r>
            <a:r>
              <a:rPr lang="en-US" sz="2000" dirty="0">
                <a:latin typeface="Times New Roman"/>
                <a:cs typeface="Times New Roman"/>
              </a:rPr>
              <a:t> drum, </a:t>
            </a:r>
            <a:r>
              <a:rPr lang="en-US" sz="2000" dirty="0" err="1">
                <a:latin typeface="Times New Roman"/>
                <a:cs typeface="Times New Roman"/>
              </a:rPr>
              <a:t>deci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putem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renunțăm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să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retezăm</a:t>
            </a:r>
            <a:r>
              <a:rPr lang="en-US" sz="2000" dirty="0">
                <a:latin typeface="Times New Roman"/>
                <a:cs typeface="Times New Roman"/>
              </a:rPr>
              <a:t>) </a:t>
            </a:r>
            <a:r>
              <a:rPr lang="en-US" sz="2000" dirty="0" err="1">
                <a:latin typeface="Times New Roman"/>
                <a:cs typeface="Times New Roman"/>
              </a:rPr>
              <a:t>să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evaluăm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valorile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pentru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celelalte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noduri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succesor</a:t>
            </a:r>
            <a:r>
              <a:rPr lang="en-US" sz="2000" dirty="0">
                <a:latin typeface="Times New Roman"/>
                <a:cs typeface="Times New Roman"/>
              </a:rPr>
              <a:t> ale </a:t>
            </a:r>
            <a:r>
              <a:rPr lang="en-US" sz="2000" dirty="0" err="1">
                <a:latin typeface="Times New Roman"/>
                <a:cs typeface="Times New Roman"/>
              </a:rPr>
              <a:t>lui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i="1" dirty="0">
                <a:latin typeface="Times New Roman"/>
                <a:cs typeface="Times New Roman"/>
              </a:rPr>
              <a:t>n. </a:t>
            </a:r>
            <a:endParaRPr lang="en-US" sz="2000" dirty="0">
              <a:latin typeface="Times New Roman"/>
              <a:cs typeface="Times New Roman"/>
            </a:endParaRPr>
          </a:p>
          <a:p>
            <a:pPr lvl="1" algn="just" eaLnBrk="1" hangingPunct="1">
              <a:lnSpc>
                <a:spcPct val="11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Cazurile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când</a:t>
            </a:r>
            <a:r>
              <a:rPr lang="en-US" sz="2400" dirty="0">
                <a:latin typeface="Times New Roman"/>
                <a:cs typeface="Times New Roman"/>
              </a:rPr>
              <a:t> se </a:t>
            </a:r>
            <a:r>
              <a:rPr lang="en-US" sz="2400" dirty="0" err="1">
                <a:latin typeface="Times New Roman"/>
                <a:cs typeface="Times New Roman"/>
              </a:rPr>
              <a:t>aplică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</a:t>
            </a:r>
            <a:r>
              <a:rPr lang="en-US" sz="2400" dirty="0">
                <a:latin typeface="Times New Roman"/>
                <a:cs typeface="Times New Roman"/>
              </a:rPr>
              <a:t> de tip MAX)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 err="1">
                <a:latin typeface="Times New Roman"/>
                <a:cs typeface="Times New Roman"/>
                <a:sym typeface="Symbol" pitchFamily="18" charset="2"/>
              </a:rPr>
              <a:t>simetric</a:t>
            </a:r>
            <a:r>
              <a:rPr lang="en-US" sz="2000" dirty="0">
                <a:latin typeface="Times New Roman"/>
                <a:cs typeface="Times New Roman"/>
                <a:sym typeface="Symbol" pitchFamily="18" charset="2"/>
              </a:rPr>
              <a:t>, </a:t>
            </a:r>
            <a:r>
              <a:rPr lang="ro-RO" sz="2000" dirty="0">
                <a:latin typeface="Times New Roman"/>
                <a:cs typeface="Times New Roman"/>
                <a:sym typeface="Symbol" pitchFamily="18" charset="2"/>
              </a:rPr>
              <a:t>s</a:t>
            </a:r>
            <a:r>
              <a:rPr lang="ro-RO" sz="2000" dirty="0">
                <a:latin typeface="Times New Roman"/>
                <a:cs typeface="Times New Roman"/>
              </a:rPr>
              <a:t>e definește în mod similar valoarea β ca fiind cea mai bună valoare (garantată) pe care MIN o poate obține.</a:t>
            </a:r>
          </a:p>
          <a:p>
            <a:pPr lvl="1" algn="just">
              <a:lnSpc>
                <a:spcPct val="110000"/>
              </a:lnSpc>
            </a:pPr>
            <a:r>
              <a:rPr lang="en-US" sz="2000" dirty="0">
                <a:latin typeface="Times New Roman"/>
                <a:cs typeface="Times New Roman"/>
              </a:rPr>
              <a:t>MIN nu </a:t>
            </a:r>
            <a:r>
              <a:rPr lang="en-US" sz="2000" dirty="0" err="1">
                <a:latin typeface="Times New Roman"/>
                <a:cs typeface="Times New Roman"/>
              </a:rPr>
              <a:t>mai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trebuie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să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mai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ia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în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considerare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nicio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valoare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internă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mai</a:t>
            </a:r>
            <a:r>
              <a:rPr lang="en-US" sz="2000" dirty="0">
                <a:latin typeface="Times New Roman"/>
                <a:cs typeface="Times New Roman"/>
              </a:rPr>
              <a:t> mare </a:t>
            </a:r>
            <a:r>
              <a:rPr lang="en-US" sz="2000" dirty="0" err="1">
                <a:latin typeface="Times New Roman"/>
                <a:cs typeface="Times New Roman"/>
              </a:rPr>
              <a:t>sau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egală</a:t>
            </a:r>
            <a:r>
              <a:rPr lang="en-US" sz="2000" dirty="0">
                <a:latin typeface="Times New Roman"/>
                <a:cs typeface="Times New Roman"/>
              </a:rPr>
              <a:t> cu β care </a:t>
            </a:r>
            <a:r>
              <a:rPr lang="en-US" sz="2000" dirty="0" err="1">
                <a:latin typeface="Times New Roman"/>
                <a:cs typeface="Times New Roman"/>
              </a:rPr>
              <a:t>este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asociată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oricărui</a:t>
            </a:r>
            <a:r>
              <a:rPr lang="en-US" sz="2000" dirty="0">
                <a:latin typeface="Times New Roman"/>
                <a:cs typeface="Times New Roman"/>
              </a:rPr>
              <a:t> nod intern </a:t>
            </a:r>
            <a:r>
              <a:rPr lang="en-US" sz="2000" i="1" dirty="0">
                <a:latin typeface="Times New Roman"/>
                <a:cs typeface="Times New Roman"/>
              </a:rPr>
              <a:t>n</a:t>
            </a:r>
            <a:r>
              <a:rPr lang="en-US" sz="2000" dirty="0">
                <a:latin typeface="Times New Roman"/>
                <a:cs typeface="Times New Roman"/>
              </a:rPr>
              <a:t> de tip MAX. </a:t>
            </a:r>
            <a:r>
              <a:rPr lang="en-US" sz="2000" dirty="0" err="1">
                <a:latin typeface="Times New Roman"/>
                <a:cs typeface="Times New Roman"/>
              </a:rPr>
              <a:t>Putem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tăia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reteza</a:t>
            </a:r>
            <a:r>
              <a:rPr lang="en-US" sz="2000" dirty="0">
                <a:latin typeface="Times New Roman"/>
                <a:cs typeface="Times New Roman"/>
              </a:rPr>
              <a:t>) </a:t>
            </a:r>
            <a:r>
              <a:rPr lang="en-US" sz="2000" dirty="0" err="1">
                <a:latin typeface="Times New Roman"/>
                <a:cs typeface="Times New Roman"/>
              </a:rPr>
              <a:t>acea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ramură</a:t>
            </a:r>
            <a:r>
              <a:rPr lang="en-US" sz="2000" dirty="0">
                <a:latin typeface="Times New Roman"/>
                <a:cs typeface="Times New Roman"/>
              </a:rPr>
              <a:t> a </a:t>
            </a:r>
            <a:r>
              <a:rPr lang="en-US" sz="2000" dirty="0" err="1">
                <a:latin typeface="Times New Roman"/>
                <a:cs typeface="Times New Roman"/>
              </a:rPr>
              <a:t>arborelui</a:t>
            </a:r>
            <a:r>
              <a:rPr lang="en-US" sz="2000" dirty="0">
                <a:latin typeface="Times New Roman"/>
                <a:cs typeface="Times New Roman"/>
              </a:rPr>
              <a:t> de </a:t>
            </a:r>
            <a:r>
              <a:rPr lang="en-US" sz="2000" dirty="0" err="1">
                <a:latin typeface="Times New Roman"/>
                <a:cs typeface="Times New Roman"/>
              </a:rPr>
              <a:t>joc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6372880" y="1995765"/>
            <a:ext cx="6353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MAX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6372881" y="2819678"/>
            <a:ext cx="58918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MIN</a:t>
            </a: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6372880" y="4205565"/>
            <a:ext cx="6353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MAX</a:t>
            </a: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6372881" y="4967566"/>
            <a:ext cx="58918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MIN</a:t>
            </a:r>
          </a:p>
        </p:txBody>
      </p:sp>
      <p:sp>
        <p:nvSpPr>
          <p:cNvPr id="23560" name="AutoShape 8"/>
          <p:cNvSpPr>
            <a:spLocks noChangeArrowheads="1"/>
          </p:cNvSpPr>
          <p:nvPr/>
        </p:nvSpPr>
        <p:spPr bwMode="auto">
          <a:xfrm flipV="1">
            <a:off x="7511118" y="28956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/>
          <a:lstStyle/>
          <a:p>
            <a:pPr algn="ctr"/>
            <a:r>
              <a:rPr lang="en-US" sz="1600" i="1" dirty="0">
                <a:latin typeface="Calibri" pitchFamily="34" charset="0"/>
                <a:sym typeface="Symbol" pitchFamily="18" charset="2"/>
              </a:rPr>
              <a:t>α</a:t>
            </a:r>
            <a:endParaRPr lang="en-US" sz="1600" i="1" dirty="0">
              <a:latin typeface="Calibri" pitchFamily="34" charset="0"/>
            </a:endParaRPr>
          </a:p>
        </p:txBody>
      </p:sp>
      <p:cxnSp>
        <p:nvCxnSpPr>
          <p:cNvPr id="23561" name="AutoShape 9"/>
          <p:cNvCxnSpPr>
            <a:cxnSpLocks noChangeShapeType="1"/>
            <a:stCxn id="23564" idx="3"/>
            <a:endCxn id="23560" idx="3"/>
          </p:cNvCxnSpPr>
          <p:nvPr/>
        </p:nvCxnSpPr>
        <p:spPr bwMode="auto">
          <a:xfrm flipH="1">
            <a:off x="7652803" y="2362200"/>
            <a:ext cx="57269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2" name="AutoShape 10"/>
          <p:cNvSpPr>
            <a:spLocks noChangeArrowheads="1"/>
          </p:cNvSpPr>
          <p:nvPr/>
        </p:nvSpPr>
        <p:spPr bwMode="auto">
          <a:xfrm>
            <a:off x="8254068" y="4205288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600">
              <a:latin typeface="Calibri" pitchFamily="34" charset="0"/>
            </a:endParaRPr>
          </a:p>
        </p:txBody>
      </p:sp>
      <p:cxnSp>
        <p:nvCxnSpPr>
          <p:cNvPr id="23563" name="AutoShape 11"/>
          <p:cNvCxnSpPr>
            <a:cxnSpLocks noChangeShapeType="1"/>
            <a:stCxn id="23560" idx="0"/>
          </p:cNvCxnSpPr>
          <p:nvPr/>
        </p:nvCxnSpPr>
        <p:spPr bwMode="auto">
          <a:xfrm>
            <a:off x="7653993" y="3200400"/>
            <a:ext cx="258366" cy="381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4" name="AutoShape 12"/>
          <p:cNvSpPr>
            <a:spLocks noChangeArrowheads="1"/>
          </p:cNvSpPr>
          <p:nvPr/>
        </p:nvSpPr>
        <p:spPr bwMode="auto">
          <a:xfrm>
            <a:off x="8082618" y="20574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>
            <a:off x="6653868" y="32766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66" name="AutoShape 14"/>
          <p:cNvSpPr>
            <a:spLocks noChangeArrowheads="1"/>
          </p:cNvSpPr>
          <p:nvPr/>
        </p:nvSpPr>
        <p:spPr bwMode="auto">
          <a:xfrm flipV="1">
            <a:off x="8539818" y="50292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/>
          <a:lstStyle/>
          <a:p>
            <a:pPr algn="ctr"/>
            <a:r>
              <a:rPr lang="en-US" sz="1600" i="1" dirty="0">
                <a:latin typeface="Calibri" pitchFamily="34" charset="0"/>
              </a:rPr>
              <a:t>n</a:t>
            </a:r>
            <a:endParaRPr lang="en-US" sz="1600" dirty="0">
              <a:latin typeface="Calibri" pitchFamily="34" charset="0"/>
            </a:endParaRPr>
          </a:p>
        </p:txBody>
      </p:sp>
      <p:cxnSp>
        <p:nvCxnSpPr>
          <p:cNvPr id="23567" name="AutoShape 15"/>
          <p:cNvCxnSpPr>
            <a:cxnSpLocks noChangeShapeType="1"/>
            <a:stCxn id="23562" idx="3"/>
            <a:endCxn id="23566" idx="3"/>
          </p:cNvCxnSpPr>
          <p:nvPr/>
        </p:nvCxnSpPr>
        <p:spPr bwMode="auto">
          <a:xfrm rot="16200000" flipH="1">
            <a:off x="8280262" y="4626769"/>
            <a:ext cx="519112" cy="2857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68" name="AutoShape 16"/>
          <p:cNvCxnSpPr>
            <a:cxnSpLocks noChangeShapeType="1"/>
            <a:stCxn id="23560" idx="0"/>
          </p:cNvCxnSpPr>
          <p:nvPr/>
        </p:nvCxnSpPr>
        <p:spPr bwMode="auto">
          <a:xfrm flipH="1">
            <a:off x="7398009" y="3200400"/>
            <a:ext cx="255984" cy="381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9" name="Freeform 17"/>
          <p:cNvSpPr>
            <a:spLocks/>
          </p:cNvSpPr>
          <p:nvPr/>
        </p:nvSpPr>
        <p:spPr bwMode="auto">
          <a:xfrm>
            <a:off x="8177868" y="2362200"/>
            <a:ext cx="333375" cy="1828800"/>
          </a:xfrm>
          <a:custGeom>
            <a:avLst/>
            <a:gdLst>
              <a:gd name="T0" fmla="*/ 2147483647 w 280"/>
              <a:gd name="T1" fmla="*/ 0 h 1152"/>
              <a:gd name="T2" fmla="*/ 2147483647 w 280"/>
              <a:gd name="T3" fmla="*/ 2147483647 h 1152"/>
              <a:gd name="T4" fmla="*/ 2147483647 w 280"/>
              <a:gd name="T5" fmla="*/ 2147483647 h 1152"/>
              <a:gd name="T6" fmla="*/ 2147483647 w 280"/>
              <a:gd name="T7" fmla="*/ 2147483647 h 1152"/>
              <a:gd name="T8" fmla="*/ 2147483647 w 280"/>
              <a:gd name="T9" fmla="*/ 2147483647 h 1152"/>
              <a:gd name="T10" fmla="*/ 2147483647 w 280"/>
              <a:gd name="T11" fmla="*/ 2147483647 h 11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0"/>
              <a:gd name="T19" fmla="*/ 0 h 1152"/>
              <a:gd name="T20" fmla="*/ 280 w 280"/>
              <a:gd name="T21" fmla="*/ 1152 h 11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0" h="1152">
                <a:moveTo>
                  <a:pt x="40" y="0"/>
                </a:moveTo>
                <a:cubicBezTo>
                  <a:pt x="20" y="112"/>
                  <a:pt x="0" y="224"/>
                  <a:pt x="40" y="288"/>
                </a:cubicBezTo>
                <a:cubicBezTo>
                  <a:pt x="80" y="352"/>
                  <a:pt x="280" y="304"/>
                  <a:pt x="280" y="384"/>
                </a:cubicBezTo>
                <a:cubicBezTo>
                  <a:pt x="280" y="464"/>
                  <a:pt x="48" y="688"/>
                  <a:pt x="40" y="768"/>
                </a:cubicBezTo>
                <a:cubicBezTo>
                  <a:pt x="32" y="848"/>
                  <a:pt x="208" y="800"/>
                  <a:pt x="232" y="864"/>
                </a:cubicBezTo>
                <a:cubicBezTo>
                  <a:pt x="256" y="928"/>
                  <a:pt x="220" y="1040"/>
                  <a:pt x="184" y="115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cxnSp>
        <p:nvCxnSpPr>
          <p:cNvPr id="23570" name="AutoShape 18"/>
          <p:cNvCxnSpPr>
            <a:cxnSpLocks noChangeShapeType="1"/>
            <a:stCxn id="23562" idx="3"/>
          </p:cNvCxnSpPr>
          <p:nvPr/>
        </p:nvCxnSpPr>
        <p:spPr bwMode="auto">
          <a:xfrm flipH="1">
            <a:off x="8139768" y="4510088"/>
            <a:ext cx="257175" cy="5191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1" name="AutoShape 19"/>
          <p:cNvCxnSpPr>
            <a:cxnSpLocks noChangeShapeType="1"/>
            <a:endCxn id="23564" idx="0"/>
          </p:cNvCxnSpPr>
          <p:nvPr/>
        </p:nvCxnSpPr>
        <p:spPr bwMode="auto">
          <a:xfrm flipH="1">
            <a:off x="8225493" y="1600200"/>
            <a:ext cx="314325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3" name="AutoShape 15"/>
          <p:cNvCxnSpPr>
            <a:cxnSpLocks noChangeShapeType="1"/>
            <a:stCxn id="23566" idx="0"/>
          </p:cNvCxnSpPr>
          <p:nvPr/>
        </p:nvCxnSpPr>
        <p:spPr bwMode="auto">
          <a:xfrm rot="16200000" flipH="1">
            <a:off x="8639831" y="5376863"/>
            <a:ext cx="228600" cy="142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3574" name="AutoShape 18"/>
          <p:cNvCxnSpPr>
            <a:cxnSpLocks noChangeShapeType="1"/>
            <a:stCxn id="23566" idx="0"/>
          </p:cNvCxnSpPr>
          <p:nvPr/>
        </p:nvCxnSpPr>
        <p:spPr bwMode="auto">
          <a:xfrm rot="5400000">
            <a:off x="8309432" y="5479853"/>
            <a:ext cx="519113" cy="22740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5" name="AutoShape 15"/>
          <p:cNvCxnSpPr>
            <a:cxnSpLocks noChangeShapeType="1"/>
            <a:stCxn id="23566" idx="0"/>
          </p:cNvCxnSpPr>
          <p:nvPr/>
        </p:nvCxnSpPr>
        <p:spPr bwMode="auto">
          <a:xfrm rot="16200000" flipH="1">
            <a:off x="8468381" y="5548313"/>
            <a:ext cx="457200" cy="285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(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pruning)</a:t>
            </a:r>
          </a:p>
        </p:txBody>
      </p:sp>
    </p:spTree>
    <p:extLst>
      <p:ext uri="{BB962C8B-B14F-4D97-AF65-F5344CB8AC3E}">
        <p14:creationId xmlns:p14="http://schemas.microsoft.com/office/powerpoint/2010/main" val="326504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FB58-0F24-6F55-F19E-654CBAEA6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0E73DF62-AE87-36C8-BD6C-DEE5CA90BA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1447800"/>
            <a:ext cx="6196496" cy="5410199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Încep</a:t>
            </a:r>
            <a:r>
              <a:rPr lang="en-US" sz="2400" dirty="0">
                <a:latin typeface="Times New Roman"/>
                <a:cs typeface="Times New Roman"/>
              </a:rPr>
              <a:t> cu </a:t>
            </a:r>
            <a:r>
              <a:rPr lang="en-US" sz="2400" dirty="0" err="1">
                <a:latin typeface="Times New Roman"/>
                <a:cs typeface="Times New Roman"/>
              </a:rPr>
              <a:t>parametri</a:t>
            </a:r>
            <a:r>
              <a:rPr lang="en-US" sz="2400" dirty="0">
                <a:latin typeface="Times New Roman"/>
                <a:cs typeface="Times New Roman"/>
              </a:rPr>
              <a:t> α = -∞, β = +∞ din </a:t>
            </a:r>
            <a:r>
              <a:rPr lang="en-US" sz="2400" dirty="0" err="1">
                <a:latin typeface="Times New Roman"/>
                <a:cs typeface="Times New Roman"/>
              </a:rPr>
              <a:t>rădăcină</a:t>
            </a:r>
            <a:r>
              <a:rPr lang="en-US" sz="2400" dirty="0">
                <a:latin typeface="Times New Roman"/>
                <a:cs typeface="Times New Roman"/>
              </a:rPr>
              <a:t> pe care </a:t>
            </a:r>
            <a:r>
              <a:rPr lang="en-US" sz="2400" dirty="0" err="1">
                <a:latin typeface="Times New Roman"/>
                <a:cs typeface="Times New Roman"/>
              </a:rPr>
              <a:t>îi</a:t>
            </a:r>
            <a:r>
              <a:rPr lang="en-US" sz="2400" dirty="0">
                <a:latin typeface="Times New Roman"/>
                <a:cs typeface="Times New Roman"/>
              </a:rPr>
              <a:t> transmit (</a:t>
            </a:r>
            <a:r>
              <a:rPr lang="en-US" sz="2400" b="1" i="1" dirty="0">
                <a:latin typeface="Times New Roman"/>
                <a:cs typeface="Times New Roman"/>
              </a:rPr>
              <a:t>ca </a:t>
            </a:r>
            <a:r>
              <a:rPr lang="en-US" sz="2400" b="1" i="1" dirty="0" err="1">
                <a:latin typeface="Times New Roman"/>
                <a:cs typeface="Times New Roman"/>
              </a:rPr>
              <a:t>valoare</a:t>
            </a:r>
            <a:r>
              <a:rPr lang="en-US" sz="2400" b="1" i="1" dirty="0">
                <a:latin typeface="Times New Roman"/>
                <a:cs typeface="Times New Roman"/>
              </a:rPr>
              <a:t> nu ca </a:t>
            </a:r>
            <a:r>
              <a:rPr lang="en-US" sz="2400" b="1" i="1" dirty="0" err="1">
                <a:latin typeface="Times New Roman"/>
                <a:cs typeface="Times New Roman"/>
              </a:rPr>
              <a:t>referință</a:t>
            </a:r>
            <a:r>
              <a:rPr lang="en-US" sz="2400" dirty="0">
                <a:latin typeface="Times New Roman"/>
                <a:cs typeface="Times New Roman"/>
              </a:rPr>
              <a:t>) </a:t>
            </a:r>
            <a:r>
              <a:rPr lang="en-US" sz="2400" dirty="0" err="1">
                <a:latin typeface="Times New Roman"/>
                <a:cs typeface="Times New Roman"/>
              </a:rPr>
              <a:t>în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subarbori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după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îi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parcurg</a:t>
            </a:r>
            <a:r>
              <a:rPr lang="en-US" sz="2400" dirty="0">
                <a:latin typeface="Times New Roman"/>
                <a:cs typeface="Times New Roman"/>
              </a:rPr>
              <a:t> pe </a:t>
            </a:r>
            <a:r>
              <a:rPr lang="en-US" sz="2400" dirty="0" err="1">
                <a:latin typeface="Times New Roman"/>
                <a:cs typeface="Times New Roman"/>
              </a:rPr>
              <a:t>aceștia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actualizez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valorile</a:t>
            </a:r>
            <a:r>
              <a:rPr lang="en-US" sz="2400" dirty="0">
                <a:latin typeface="Times New Roman"/>
                <a:cs typeface="Times New Roman"/>
              </a:rPr>
              <a:t> α </a:t>
            </a:r>
            <a:r>
              <a:rPr lang="en-US" sz="2400" dirty="0" err="1">
                <a:latin typeface="Times New Roman"/>
                <a:cs typeface="Times New Roman"/>
              </a:rPr>
              <a:t>și</a:t>
            </a:r>
            <a:r>
              <a:rPr lang="en-US" sz="2400" dirty="0">
                <a:latin typeface="Times New Roman"/>
                <a:cs typeface="Times New Roman"/>
              </a:rPr>
              <a:t> β.</a:t>
            </a:r>
          </a:p>
          <a:p>
            <a:pPr algn="just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nodurile</a:t>
            </a:r>
            <a:r>
              <a:rPr lang="en-US" sz="2400" dirty="0">
                <a:latin typeface="Times New Roman"/>
                <a:cs typeface="Times New Roman"/>
              </a:rPr>
              <a:t> de tip MAX: </a:t>
            </a:r>
            <a:r>
              <a:rPr lang="en-US" sz="2400" dirty="0" err="1">
                <a:latin typeface="Times New Roman"/>
                <a:cs typeface="Times New Roman"/>
              </a:rPr>
              <a:t>după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parcurg</a:t>
            </a:r>
            <a:r>
              <a:rPr lang="en-US" sz="2400" dirty="0">
                <a:latin typeface="Times New Roman"/>
                <a:cs typeface="Times New Roman"/>
              </a:rPr>
              <a:t> prima </a:t>
            </a:r>
            <a:r>
              <a:rPr lang="en-US" sz="2400" dirty="0" err="1">
                <a:latin typeface="Times New Roman"/>
                <a:cs typeface="Times New Roman"/>
              </a:rPr>
              <a:t>ramură</a:t>
            </a:r>
            <a:r>
              <a:rPr lang="en-US" sz="2400" dirty="0">
                <a:latin typeface="Times New Roman"/>
                <a:cs typeface="Times New Roman"/>
              </a:rPr>
              <a:t> din </a:t>
            </a:r>
            <a:r>
              <a:rPr lang="en-US" sz="2400" dirty="0" err="1">
                <a:latin typeface="Times New Roman"/>
                <a:cs typeface="Times New Roman"/>
              </a:rPr>
              <a:t>stânga</a:t>
            </a:r>
            <a:r>
              <a:rPr lang="en-US" sz="2400" dirty="0">
                <a:latin typeface="Times New Roman"/>
                <a:cs typeface="Times New Roman"/>
              </a:rPr>
              <a:t> (sub-</a:t>
            </a:r>
            <a:r>
              <a:rPr lang="en-US" sz="2400" dirty="0" err="1">
                <a:latin typeface="Times New Roman"/>
                <a:cs typeface="Times New Roman"/>
              </a:rPr>
              <a:t>arborele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stâng</a:t>
            </a:r>
            <a:r>
              <a:rPr lang="en-US" sz="2400" dirty="0">
                <a:latin typeface="Times New Roman"/>
                <a:cs typeface="Times New Roman"/>
              </a:rPr>
              <a:t>) am o </a:t>
            </a:r>
            <a:r>
              <a:rPr lang="en-US" sz="2400" dirty="0" err="1">
                <a:latin typeface="Times New Roman"/>
                <a:cs typeface="Times New Roman"/>
              </a:rPr>
              <a:t>valoare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minimă</a:t>
            </a:r>
            <a:r>
              <a:rPr lang="en-US" sz="2400" dirty="0">
                <a:latin typeface="Times New Roman"/>
                <a:cs typeface="Times New Roman"/>
              </a:rPr>
              <a:t> α. Pot </a:t>
            </a:r>
            <a:r>
              <a:rPr lang="en-US" sz="2400" dirty="0" err="1">
                <a:latin typeface="Times New Roman"/>
                <a:cs typeface="Times New Roman"/>
              </a:rPr>
              <a:t>atunci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sub-</a:t>
            </a:r>
            <a:r>
              <a:rPr lang="en-US" sz="2400" dirty="0" err="1">
                <a:latin typeface="Times New Roman"/>
                <a:cs typeface="Times New Roman"/>
              </a:rPr>
              <a:t>arborii</a:t>
            </a:r>
            <a:r>
              <a:rPr lang="en-US" sz="2400" dirty="0">
                <a:latin typeface="Times New Roman"/>
                <a:cs typeface="Times New Roman"/>
              </a:rPr>
              <a:t> care </a:t>
            </a:r>
            <a:r>
              <a:rPr lang="en-US" sz="2400" dirty="0" err="1">
                <a:latin typeface="Times New Roman"/>
                <a:cs typeface="Times New Roman"/>
              </a:rPr>
              <a:t>urmează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să</a:t>
            </a:r>
            <a:r>
              <a:rPr lang="en-US" sz="2400" dirty="0">
                <a:latin typeface="Times New Roman"/>
                <a:cs typeface="Times New Roman"/>
              </a:rPr>
              <a:t> nu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vizitez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să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retez</a:t>
            </a:r>
            <a:r>
              <a:rPr lang="en-US" sz="2400" dirty="0">
                <a:latin typeface="Times New Roman"/>
                <a:cs typeface="Times New Roman"/>
              </a:rPr>
              <a:t>) sub-</a:t>
            </a:r>
            <a:r>
              <a:rPr lang="en-US" sz="2400" dirty="0" err="1">
                <a:latin typeface="Times New Roman"/>
                <a:cs typeface="Times New Roman"/>
              </a:rPr>
              <a:t>arbori</a:t>
            </a:r>
            <a:r>
              <a:rPr lang="en-US" sz="2400" dirty="0">
                <a:latin typeface="Times New Roman"/>
                <a:cs typeface="Times New Roman"/>
              </a:rPr>
              <a:t> din </a:t>
            </a:r>
            <a:r>
              <a:rPr lang="en-US" sz="2400" dirty="0" err="1">
                <a:latin typeface="Times New Roman"/>
                <a:cs typeface="Times New Roman"/>
              </a:rPr>
              <a:t>nodurile</a:t>
            </a:r>
            <a:r>
              <a:rPr lang="en-US" sz="2400" dirty="0">
                <a:latin typeface="Times New Roman"/>
                <a:cs typeface="Times New Roman"/>
              </a:rPr>
              <a:t> de tip MIN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care </a:t>
            </a:r>
            <a:r>
              <a:rPr lang="en-US" sz="2400" dirty="0" err="1">
                <a:latin typeface="Times New Roman"/>
                <a:cs typeface="Times New Roman"/>
              </a:rPr>
              <a:t>avem</a:t>
            </a:r>
            <a:r>
              <a:rPr lang="en-US" sz="2400" dirty="0">
                <a:latin typeface="Times New Roman"/>
                <a:cs typeface="Times New Roman"/>
              </a:rPr>
              <a:t> β ≤ α.</a:t>
            </a:r>
          </a:p>
          <a:p>
            <a:pPr algn="just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</a:pP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nodurile</a:t>
            </a:r>
            <a:r>
              <a:rPr lang="en-US" sz="2400" dirty="0">
                <a:latin typeface="Times New Roman"/>
                <a:cs typeface="Times New Roman"/>
              </a:rPr>
              <a:t> de tip MIN: </a:t>
            </a:r>
            <a:r>
              <a:rPr lang="en-US" sz="2400" dirty="0" err="1">
                <a:latin typeface="Times New Roman"/>
                <a:cs typeface="Times New Roman"/>
              </a:rPr>
              <a:t>după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ce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parcurg</a:t>
            </a:r>
            <a:r>
              <a:rPr lang="en-US" sz="2400" dirty="0">
                <a:latin typeface="Times New Roman"/>
                <a:cs typeface="Times New Roman"/>
              </a:rPr>
              <a:t> prima </a:t>
            </a:r>
            <a:r>
              <a:rPr lang="en-US" sz="2400" dirty="0" err="1">
                <a:latin typeface="Times New Roman"/>
                <a:cs typeface="Times New Roman"/>
              </a:rPr>
              <a:t>ramură</a:t>
            </a:r>
            <a:r>
              <a:rPr lang="en-US" sz="2400" dirty="0">
                <a:latin typeface="Times New Roman"/>
                <a:cs typeface="Times New Roman"/>
              </a:rPr>
              <a:t> din </a:t>
            </a:r>
            <a:r>
              <a:rPr lang="en-US" sz="2400" dirty="0" err="1">
                <a:latin typeface="Times New Roman"/>
                <a:cs typeface="Times New Roman"/>
              </a:rPr>
              <a:t>stânga</a:t>
            </a:r>
            <a:r>
              <a:rPr lang="en-US" sz="2400" dirty="0">
                <a:latin typeface="Times New Roman"/>
                <a:cs typeface="Times New Roman"/>
              </a:rPr>
              <a:t> (sub-</a:t>
            </a:r>
            <a:r>
              <a:rPr lang="en-US" sz="2400" dirty="0" err="1">
                <a:latin typeface="Times New Roman"/>
                <a:cs typeface="Times New Roman"/>
              </a:rPr>
              <a:t>arborele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stâng</a:t>
            </a:r>
            <a:r>
              <a:rPr lang="en-US" sz="2400" dirty="0">
                <a:latin typeface="Times New Roman"/>
                <a:cs typeface="Times New Roman"/>
              </a:rPr>
              <a:t>) am o </a:t>
            </a:r>
            <a:r>
              <a:rPr lang="en-US" sz="2400" dirty="0" err="1">
                <a:latin typeface="Times New Roman"/>
                <a:cs typeface="Times New Roman"/>
              </a:rPr>
              <a:t>valoare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maximă</a:t>
            </a:r>
            <a:r>
              <a:rPr lang="en-US" sz="2400" dirty="0">
                <a:latin typeface="Times New Roman"/>
                <a:cs typeface="Times New Roman"/>
              </a:rPr>
              <a:t> β. Pot </a:t>
            </a:r>
            <a:r>
              <a:rPr lang="en-US" sz="2400" dirty="0" err="1">
                <a:latin typeface="Times New Roman"/>
                <a:cs typeface="Times New Roman"/>
              </a:rPr>
              <a:t>atunci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sub-</a:t>
            </a:r>
            <a:r>
              <a:rPr lang="en-US" sz="2400" dirty="0" err="1">
                <a:latin typeface="Times New Roman"/>
                <a:cs typeface="Times New Roman"/>
              </a:rPr>
              <a:t>arborii</a:t>
            </a:r>
            <a:r>
              <a:rPr lang="en-US" sz="2400" dirty="0">
                <a:latin typeface="Times New Roman"/>
                <a:cs typeface="Times New Roman"/>
              </a:rPr>
              <a:t> care </a:t>
            </a:r>
            <a:r>
              <a:rPr lang="en-US" sz="2400" dirty="0" err="1">
                <a:latin typeface="Times New Roman"/>
                <a:cs typeface="Times New Roman"/>
              </a:rPr>
              <a:t>urmează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să</a:t>
            </a:r>
            <a:r>
              <a:rPr lang="en-US" sz="2400" dirty="0">
                <a:latin typeface="Times New Roman"/>
                <a:cs typeface="Times New Roman"/>
              </a:rPr>
              <a:t> nu </a:t>
            </a:r>
            <a:r>
              <a:rPr lang="en-US" sz="2400" dirty="0" err="1">
                <a:latin typeface="Times New Roman"/>
                <a:cs typeface="Times New Roman"/>
              </a:rPr>
              <a:t>mai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vizitez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dirty="0" err="1">
                <a:latin typeface="Times New Roman"/>
                <a:cs typeface="Times New Roman"/>
              </a:rPr>
              <a:t>să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/>
                <a:cs typeface="Times New Roman"/>
              </a:rPr>
              <a:t>retez</a:t>
            </a:r>
            <a:r>
              <a:rPr lang="en-US" sz="2400" dirty="0">
                <a:latin typeface="Times New Roman"/>
                <a:cs typeface="Times New Roman"/>
              </a:rPr>
              <a:t>)  sub-</a:t>
            </a:r>
            <a:r>
              <a:rPr lang="en-US" sz="2400" dirty="0" err="1">
                <a:latin typeface="Times New Roman"/>
                <a:cs typeface="Times New Roman"/>
              </a:rPr>
              <a:t>arbori</a:t>
            </a:r>
            <a:r>
              <a:rPr lang="en-US" sz="2400" dirty="0">
                <a:latin typeface="Times New Roman"/>
                <a:cs typeface="Times New Roman"/>
              </a:rPr>
              <a:t> din </a:t>
            </a:r>
            <a:r>
              <a:rPr lang="en-US" sz="2400" dirty="0" err="1">
                <a:latin typeface="Times New Roman"/>
                <a:cs typeface="Times New Roman"/>
              </a:rPr>
              <a:t>nodurile</a:t>
            </a:r>
            <a:r>
              <a:rPr lang="en-US" sz="2400" dirty="0">
                <a:latin typeface="Times New Roman"/>
                <a:cs typeface="Times New Roman"/>
              </a:rPr>
              <a:t> de tip MAX </a:t>
            </a:r>
            <a:r>
              <a:rPr lang="en-US" sz="2400" dirty="0" err="1">
                <a:latin typeface="Times New Roman"/>
                <a:cs typeface="Times New Roman"/>
              </a:rPr>
              <a:t>pentru</a:t>
            </a:r>
            <a:r>
              <a:rPr lang="en-US" sz="2400" dirty="0">
                <a:latin typeface="Times New Roman"/>
                <a:cs typeface="Times New Roman"/>
              </a:rPr>
              <a:t> care </a:t>
            </a:r>
            <a:r>
              <a:rPr lang="en-US" sz="2400" dirty="0" err="1">
                <a:latin typeface="Times New Roman"/>
                <a:cs typeface="Times New Roman"/>
              </a:rPr>
              <a:t>avem</a:t>
            </a:r>
            <a:r>
              <a:rPr lang="en-US" sz="2400" dirty="0">
                <a:latin typeface="Times New Roman"/>
                <a:cs typeface="Times New Roman"/>
              </a:rPr>
              <a:t> α ≥ β.</a:t>
            </a:r>
          </a:p>
          <a:p>
            <a:pPr algn="just">
              <a:lnSpc>
                <a:spcPct val="110000"/>
              </a:lnSpc>
            </a:pPr>
            <a:endParaRPr lang="en-US" sz="2000" dirty="0">
              <a:latin typeface="Times New Roman"/>
              <a:cs typeface="Times New Roman"/>
            </a:endParaRPr>
          </a:p>
          <a:p>
            <a:pPr algn="just">
              <a:lnSpc>
                <a:spcPct val="110000"/>
              </a:lnSpc>
            </a:pP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C09161EE-50A4-CDCB-F966-2B50C2666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880" y="1995765"/>
            <a:ext cx="6353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MAX</a:t>
            </a:r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01C69264-9E14-F7A7-9B5A-1B166D507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881" y="2819678"/>
            <a:ext cx="58918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MIN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78499BCC-7B88-CDFA-AC9B-6BF6B4243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880" y="4205565"/>
            <a:ext cx="63539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MAX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952865B8-AEE9-6234-2084-CB633C2C4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881" y="4967566"/>
            <a:ext cx="58918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>
                <a:latin typeface="Calibri" pitchFamily="34" charset="0"/>
              </a:rPr>
              <a:t>MIN</a:t>
            </a:r>
          </a:p>
        </p:txBody>
      </p:sp>
      <p:sp>
        <p:nvSpPr>
          <p:cNvPr id="23560" name="AutoShape 8">
            <a:extLst>
              <a:ext uri="{FF2B5EF4-FFF2-40B4-BE49-F238E27FC236}">
                <a16:creationId xmlns:a16="http://schemas.microsoft.com/office/drawing/2014/main" id="{FF828364-DC3A-4BD4-0CE0-438C292B2A0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511118" y="28956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/>
          <a:lstStyle/>
          <a:p>
            <a:pPr algn="ctr"/>
            <a:r>
              <a:rPr lang="en-US" sz="1600" i="1" dirty="0">
                <a:latin typeface="Calibri" pitchFamily="34" charset="0"/>
                <a:sym typeface="Symbol" pitchFamily="18" charset="2"/>
              </a:rPr>
              <a:t>α</a:t>
            </a:r>
            <a:endParaRPr lang="en-US" sz="1600" i="1" dirty="0">
              <a:latin typeface="Calibri" pitchFamily="34" charset="0"/>
            </a:endParaRPr>
          </a:p>
        </p:txBody>
      </p:sp>
      <p:cxnSp>
        <p:nvCxnSpPr>
          <p:cNvPr id="23561" name="AutoShape 9">
            <a:extLst>
              <a:ext uri="{FF2B5EF4-FFF2-40B4-BE49-F238E27FC236}">
                <a16:creationId xmlns:a16="http://schemas.microsoft.com/office/drawing/2014/main" id="{EF7EDDA7-767A-D562-5D34-645A50FB4975}"/>
              </a:ext>
            </a:extLst>
          </p:cNvPr>
          <p:cNvCxnSpPr>
            <a:cxnSpLocks noChangeShapeType="1"/>
            <a:stCxn id="23564" idx="3"/>
            <a:endCxn id="23560" idx="3"/>
          </p:cNvCxnSpPr>
          <p:nvPr/>
        </p:nvCxnSpPr>
        <p:spPr bwMode="auto">
          <a:xfrm flipH="1">
            <a:off x="7652803" y="2362200"/>
            <a:ext cx="57269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2" name="AutoShape 10">
            <a:extLst>
              <a:ext uri="{FF2B5EF4-FFF2-40B4-BE49-F238E27FC236}">
                <a16:creationId xmlns:a16="http://schemas.microsoft.com/office/drawing/2014/main" id="{918531B2-7E99-8AE9-05E1-2CA7F9122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4068" y="4205288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600">
              <a:latin typeface="Calibri" pitchFamily="34" charset="0"/>
            </a:endParaRPr>
          </a:p>
        </p:txBody>
      </p:sp>
      <p:cxnSp>
        <p:nvCxnSpPr>
          <p:cNvPr id="23563" name="AutoShape 11">
            <a:extLst>
              <a:ext uri="{FF2B5EF4-FFF2-40B4-BE49-F238E27FC236}">
                <a16:creationId xmlns:a16="http://schemas.microsoft.com/office/drawing/2014/main" id="{89EEC9E2-0ACE-768C-6614-05940727EFBC}"/>
              </a:ext>
            </a:extLst>
          </p:cNvPr>
          <p:cNvCxnSpPr>
            <a:cxnSpLocks noChangeShapeType="1"/>
            <a:stCxn id="23560" idx="0"/>
          </p:cNvCxnSpPr>
          <p:nvPr/>
        </p:nvCxnSpPr>
        <p:spPr bwMode="auto">
          <a:xfrm>
            <a:off x="7653993" y="3200400"/>
            <a:ext cx="258366" cy="381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4" name="AutoShape 12">
            <a:extLst>
              <a:ext uri="{FF2B5EF4-FFF2-40B4-BE49-F238E27FC236}">
                <a16:creationId xmlns:a16="http://schemas.microsoft.com/office/drawing/2014/main" id="{15138B73-2FC5-7D1B-E8AC-00B9EBFC4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2618" y="20574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65" name="Line 13">
            <a:extLst>
              <a:ext uri="{FF2B5EF4-FFF2-40B4-BE49-F238E27FC236}">
                <a16:creationId xmlns:a16="http://schemas.microsoft.com/office/drawing/2014/main" id="{ABC8191C-40AF-3A61-6603-103CF24F36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3868" y="32766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23566" name="AutoShape 14">
            <a:extLst>
              <a:ext uri="{FF2B5EF4-FFF2-40B4-BE49-F238E27FC236}">
                <a16:creationId xmlns:a16="http://schemas.microsoft.com/office/drawing/2014/main" id="{218A4C83-37E5-FA9D-B7F0-B43E56B494E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539818" y="5029200"/>
            <a:ext cx="28575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tIns="91440" anchor="ctr"/>
          <a:lstStyle/>
          <a:p>
            <a:pPr algn="ctr"/>
            <a:r>
              <a:rPr lang="en-US" sz="1600" i="1" dirty="0">
                <a:latin typeface="Calibri" pitchFamily="34" charset="0"/>
              </a:rPr>
              <a:t>n</a:t>
            </a:r>
            <a:endParaRPr lang="en-US" sz="1600" dirty="0">
              <a:latin typeface="Calibri" pitchFamily="34" charset="0"/>
            </a:endParaRPr>
          </a:p>
        </p:txBody>
      </p:sp>
      <p:cxnSp>
        <p:nvCxnSpPr>
          <p:cNvPr id="23567" name="AutoShape 15">
            <a:extLst>
              <a:ext uri="{FF2B5EF4-FFF2-40B4-BE49-F238E27FC236}">
                <a16:creationId xmlns:a16="http://schemas.microsoft.com/office/drawing/2014/main" id="{6D65924A-8D3D-1EA4-6230-BA87E81A706E}"/>
              </a:ext>
            </a:extLst>
          </p:cNvPr>
          <p:cNvCxnSpPr>
            <a:cxnSpLocks noChangeShapeType="1"/>
            <a:stCxn id="23562" idx="3"/>
            <a:endCxn id="23566" idx="3"/>
          </p:cNvCxnSpPr>
          <p:nvPr/>
        </p:nvCxnSpPr>
        <p:spPr bwMode="auto">
          <a:xfrm rot="16200000" flipH="1">
            <a:off x="8280262" y="4626769"/>
            <a:ext cx="519112" cy="2857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68" name="AutoShape 16">
            <a:extLst>
              <a:ext uri="{FF2B5EF4-FFF2-40B4-BE49-F238E27FC236}">
                <a16:creationId xmlns:a16="http://schemas.microsoft.com/office/drawing/2014/main" id="{8BE1E888-B4A6-E8D0-03B8-977803A790BF}"/>
              </a:ext>
            </a:extLst>
          </p:cNvPr>
          <p:cNvCxnSpPr>
            <a:cxnSpLocks noChangeShapeType="1"/>
            <a:stCxn id="23560" idx="0"/>
          </p:cNvCxnSpPr>
          <p:nvPr/>
        </p:nvCxnSpPr>
        <p:spPr bwMode="auto">
          <a:xfrm flipH="1">
            <a:off x="7398009" y="3200400"/>
            <a:ext cx="255984" cy="3810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3569" name="Freeform 17">
            <a:extLst>
              <a:ext uri="{FF2B5EF4-FFF2-40B4-BE49-F238E27FC236}">
                <a16:creationId xmlns:a16="http://schemas.microsoft.com/office/drawing/2014/main" id="{2B7D4848-15AF-AA5B-19A6-273B18CC4CCE}"/>
              </a:ext>
            </a:extLst>
          </p:cNvPr>
          <p:cNvSpPr>
            <a:spLocks/>
          </p:cNvSpPr>
          <p:nvPr/>
        </p:nvSpPr>
        <p:spPr bwMode="auto">
          <a:xfrm>
            <a:off x="8177868" y="2362200"/>
            <a:ext cx="333375" cy="1828800"/>
          </a:xfrm>
          <a:custGeom>
            <a:avLst/>
            <a:gdLst>
              <a:gd name="T0" fmla="*/ 2147483647 w 280"/>
              <a:gd name="T1" fmla="*/ 0 h 1152"/>
              <a:gd name="T2" fmla="*/ 2147483647 w 280"/>
              <a:gd name="T3" fmla="*/ 2147483647 h 1152"/>
              <a:gd name="T4" fmla="*/ 2147483647 w 280"/>
              <a:gd name="T5" fmla="*/ 2147483647 h 1152"/>
              <a:gd name="T6" fmla="*/ 2147483647 w 280"/>
              <a:gd name="T7" fmla="*/ 2147483647 h 1152"/>
              <a:gd name="T8" fmla="*/ 2147483647 w 280"/>
              <a:gd name="T9" fmla="*/ 2147483647 h 1152"/>
              <a:gd name="T10" fmla="*/ 2147483647 w 280"/>
              <a:gd name="T11" fmla="*/ 2147483647 h 11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0"/>
              <a:gd name="T19" fmla="*/ 0 h 1152"/>
              <a:gd name="T20" fmla="*/ 280 w 280"/>
              <a:gd name="T21" fmla="*/ 1152 h 11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0" h="1152">
                <a:moveTo>
                  <a:pt x="40" y="0"/>
                </a:moveTo>
                <a:cubicBezTo>
                  <a:pt x="20" y="112"/>
                  <a:pt x="0" y="224"/>
                  <a:pt x="40" y="288"/>
                </a:cubicBezTo>
                <a:cubicBezTo>
                  <a:pt x="80" y="352"/>
                  <a:pt x="280" y="304"/>
                  <a:pt x="280" y="384"/>
                </a:cubicBezTo>
                <a:cubicBezTo>
                  <a:pt x="280" y="464"/>
                  <a:pt x="48" y="688"/>
                  <a:pt x="40" y="768"/>
                </a:cubicBezTo>
                <a:cubicBezTo>
                  <a:pt x="32" y="848"/>
                  <a:pt x="208" y="800"/>
                  <a:pt x="232" y="864"/>
                </a:cubicBezTo>
                <a:cubicBezTo>
                  <a:pt x="256" y="928"/>
                  <a:pt x="220" y="1040"/>
                  <a:pt x="184" y="1152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cxnSp>
        <p:nvCxnSpPr>
          <p:cNvPr id="23570" name="AutoShape 18">
            <a:extLst>
              <a:ext uri="{FF2B5EF4-FFF2-40B4-BE49-F238E27FC236}">
                <a16:creationId xmlns:a16="http://schemas.microsoft.com/office/drawing/2014/main" id="{6EA45A03-CE32-F4E2-49D8-46926997A099}"/>
              </a:ext>
            </a:extLst>
          </p:cNvPr>
          <p:cNvCxnSpPr>
            <a:cxnSpLocks noChangeShapeType="1"/>
            <a:stCxn id="23562" idx="3"/>
          </p:cNvCxnSpPr>
          <p:nvPr/>
        </p:nvCxnSpPr>
        <p:spPr bwMode="auto">
          <a:xfrm flipH="1">
            <a:off x="8139768" y="4510088"/>
            <a:ext cx="257175" cy="5191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1" name="AutoShape 19">
            <a:extLst>
              <a:ext uri="{FF2B5EF4-FFF2-40B4-BE49-F238E27FC236}">
                <a16:creationId xmlns:a16="http://schemas.microsoft.com/office/drawing/2014/main" id="{6773C89D-404B-27F5-8427-8B7D792C500F}"/>
              </a:ext>
            </a:extLst>
          </p:cNvPr>
          <p:cNvCxnSpPr>
            <a:cxnSpLocks noChangeShapeType="1"/>
            <a:endCxn id="23564" idx="0"/>
          </p:cNvCxnSpPr>
          <p:nvPr/>
        </p:nvCxnSpPr>
        <p:spPr bwMode="auto">
          <a:xfrm flipH="1">
            <a:off x="8225493" y="1600200"/>
            <a:ext cx="314325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3" name="AutoShape 15">
            <a:extLst>
              <a:ext uri="{FF2B5EF4-FFF2-40B4-BE49-F238E27FC236}">
                <a16:creationId xmlns:a16="http://schemas.microsoft.com/office/drawing/2014/main" id="{0F5D3ED5-1F7D-D496-7F65-F95E3971CDD2}"/>
              </a:ext>
            </a:extLst>
          </p:cNvPr>
          <p:cNvCxnSpPr>
            <a:cxnSpLocks noChangeShapeType="1"/>
            <a:stCxn id="23566" idx="0"/>
          </p:cNvCxnSpPr>
          <p:nvPr/>
        </p:nvCxnSpPr>
        <p:spPr bwMode="auto">
          <a:xfrm rot="16200000" flipH="1">
            <a:off x="8639831" y="5376863"/>
            <a:ext cx="228600" cy="1428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3574" name="AutoShape 18">
            <a:extLst>
              <a:ext uri="{FF2B5EF4-FFF2-40B4-BE49-F238E27FC236}">
                <a16:creationId xmlns:a16="http://schemas.microsoft.com/office/drawing/2014/main" id="{3EB82D28-55E3-C6C9-8872-11A65FFF1BA3}"/>
              </a:ext>
            </a:extLst>
          </p:cNvPr>
          <p:cNvCxnSpPr>
            <a:cxnSpLocks noChangeShapeType="1"/>
            <a:stCxn id="23566" idx="0"/>
          </p:cNvCxnSpPr>
          <p:nvPr/>
        </p:nvCxnSpPr>
        <p:spPr bwMode="auto">
          <a:xfrm rot="5400000">
            <a:off x="8309432" y="5479853"/>
            <a:ext cx="519113" cy="22740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3575" name="AutoShape 15">
            <a:extLst>
              <a:ext uri="{FF2B5EF4-FFF2-40B4-BE49-F238E27FC236}">
                <a16:creationId xmlns:a16="http://schemas.microsoft.com/office/drawing/2014/main" id="{47A633AB-30DD-F988-8F4A-6D6F67B71133}"/>
              </a:ext>
            </a:extLst>
          </p:cNvPr>
          <p:cNvCxnSpPr>
            <a:cxnSpLocks noChangeShapeType="1"/>
            <a:stCxn id="23566" idx="0"/>
          </p:cNvCxnSpPr>
          <p:nvPr/>
        </p:nvCxnSpPr>
        <p:spPr bwMode="auto">
          <a:xfrm rot="16200000" flipH="1">
            <a:off x="8468381" y="5548313"/>
            <a:ext cx="457200" cy="2857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4" name="Rectangle 2">
            <a:extLst>
              <a:ext uri="{FF2B5EF4-FFF2-40B4-BE49-F238E27FC236}">
                <a16:creationId xmlns:a16="http://schemas.microsoft.com/office/drawing/2014/main" id="{F9655C98-517A-E17F-CF75-77C4750EC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Retezare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 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(</a:t>
            </a:r>
            <a:r>
              <a:rPr lang="en-US" dirty="0" err="1">
                <a:latin typeface="Times New Roman"/>
                <a:cs typeface="Times New Roman"/>
                <a:sym typeface="Symbol" pitchFamily="18" charset="2"/>
              </a:rPr>
              <a:t>alfa</a:t>
            </a:r>
            <a:r>
              <a:rPr lang="en-US" dirty="0">
                <a:latin typeface="Times New Roman"/>
                <a:cs typeface="Times New Roman"/>
                <a:sym typeface="Symbol" pitchFamily="18" charset="2"/>
              </a:rPr>
              <a:t>-beta pruning)</a:t>
            </a:r>
          </a:p>
        </p:txBody>
      </p:sp>
    </p:spTree>
    <p:extLst>
      <p:ext uri="{BB962C8B-B14F-4D97-AF65-F5344CB8AC3E}">
        <p14:creationId xmlns:p14="http://schemas.microsoft.com/office/powerpoint/2010/main" val="32475670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red}{h(n) = max(h_a(n), h_b(n)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249"/>
  <p:tag name="PICTUREFILESIZE" val="2011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red}{\forall n : h_a(n) \ge h_c(n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176"/>
  <p:tag name="PICTUREFILESIZE" val="1407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exact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49"/>
  <p:tag name="PICTUREFILESIZE" val="49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zero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41"/>
  <p:tag name="PICTUREFILESIZE" val="389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h_a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20"/>
  <p:tag name="PICTUREFILESIZE" val="289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h_b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19"/>
  <p:tag name="PICTUREFILESIZE" val="297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h_c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20"/>
  <p:tag name="PICTUREFILESIZE" val="272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lue}{max(h_a, h_b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111"/>
  <p:tag name="PICTUREFILESIZE" val="1104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{\sc Eval}(s) = w_1 f_1(s) + w_2 f_2(s) + \ldots + w_n f_n(s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727"/>
  <p:tag name="BOXHEIGHT" val="381"/>
  <p:tag name="BOXFONT" val="10"/>
  <p:tag name="BOXWRAP" val="False"/>
  <p:tag name="WORKAROUNDTRANSPARENCYBUG" val="False"/>
  <p:tag name="ALLOWFONTSUBSTITUTION" val="False"/>
  <p:tag name="BITMAPFORMAT" val="pngmono"/>
  <p:tag name="ORIGWIDTH" val="442"/>
  <p:tag name="PICTUREFILESIZE" val="20164"/>
</p:tagLst>
</file>

<file path=ppt/theme/theme1.xml><?xml version="1.0" encoding="utf-8"?>
<a:theme xmlns:a="http://schemas.openxmlformats.org/drawingml/2006/main" name="fromPrest">
  <a:themeElements>
    <a:clrScheme name="ET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335B"/>
      </a:accent1>
      <a:accent2>
        <a:srgbClr val="005091"/>
      </a:accent2>
      <a:accent3>
        <a:srgbClr val="7FA7C8"/>
      </a:accent3>
      <a:accent4>
        <a:srgbClr val="BFD3E3"/>
      </a:accent4>
      <a:accent5>
        <a:srgbClr val="F5A858"/>
      </a:accent5>
      <a:accent6>
        <a:srgbClr val="7A4A60"/>
      </a:accent6>
      <a:hlink>
        <a:srgbClr val="52ADE7"/>
      </a:hlink>
      <a:folHlink>
        <a:srgbClr val="C7E4F7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romPrest">
  <a:themeElements>
    <a:clrScheme name="ET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335B"/>
      </a:accent1>
      <a:accent2>
        <a:srgbClr val="005091"/>
      </a:accent2>
      <a:accent3>
        <a:srgbClr val="7FA7C8"/>
      </a:accent3>
      <a:accent4>
        <a:srgbClr val="BFD3E3"/>
      </a:accent4>
      <a:accent5>
        <a:srgbClr val="F5A858"/>
      </a:accent5>
      <a:accent6>
        <a:srgbClr val="7A4A60"/>
      </a:accent6>
      <a:hlink>
        <a:srgbClr val="52ADE7"/>
      </a:hlink>
      <a:folHlink>
        <a:srgbClr val="C7E4F7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fromPrest">
  <a:themeElements>
    <a:clrScheme name="ET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335B"/>
      </a:accent1>
      <a:accent2>
        <a:srgbClr val="005091"/>
      </a:accent2>
      <a:accent3>
        <a:srgbClr val="7FA7C8"/>
      </a:accent3>
      <a:accent4>
        <a:srgbClr val="BFD3E3"/>
      </a:accent4>
      <a:accent5>
        <a:srgbClr val="F5A858"/>
      </a:accent5>
      <a:accent6>
        <a:srgbClr val="7A4A60"/>
      </a:accent6>
      <a:hlink>
        <a:srgbClr val="52ADE7"/>
      </a:hlink>
      <a:folHlink>
        <a:srgbClr val="C7E4F7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fromPrest">
  <a:themeElements>
    <a:clrScheme name="ET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335B"/>
      </a:accent1>
      <a:accent2>
        <a:srgbClr val="005091"/>
      </a:accent2>
      <a:accent3>
        <a:srgbClr val="7FA7C8"/>
      </a:accent3>
      <a:accent4>
        <a:srgbClr val="BFD3E3"/>
      </a:accent4>
      <a:accent5>
        <a:srgbClr val="F5A858"/>
      </a:accent5>
      <a:accent6>
        <a:srgbClr val="7A4A60"/>
      </a:accent6>
      <a:hlink>
        <a:srgbClr val="52ADE7"/>
      </a:hlink>
      <a:folHlink>
        <a:srgbClr val="C7E4F7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36000" rIns="0" bIns="3600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ts val="2400"/>
          </a:lnSpc>
          <a:spcBef>
            <a:spcPts val="600"/>
          </a:spcBef>
          <a:spcAft>
            <a:spcPct val="0"/>
          </a:spcAft>
          <a:buClr>
            <a:srgbClr val="2A6AB3"/>
          </a:buClr>
          <a:buSzPct val="110000"/>
          <a:buFont typeface="Wingdings" pitchFamily="16" charset="2"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Leere Prä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ere Prä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ere Prä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A0003DC97DEF4B8F1101A4D4EA06E2" ma:contentTypeVersion="7" ma:contentTypeDescription="Create a new document." ma:contentTypeScope="" ma:versionID="bfef44f6b8d2b2f2f7150fb1160aa08e">
  <xsd:schema xmlns:xsd="http://www.w3.org/2001/XMLSchema" xmlns:xs="http://www.w3.org/2001/XMLSchema" xmlns:p="http://schemas.microsoft.com/office/2006/metadata/properties" xmlns:ns2="bc4f9371-6ecc-4f2c-abc4-90cc414ddc6e" targetNamespace="http://schemas.microsoft.com/office/2006/metadata/properties" ma:root="true" ma:fieldsID="5aed0b65cc35f1e2975c5a8cfb488eb9" ns2:_="">
    <xsd:import namespace="bc4f9371-6ecc-4f2c-abc4-90cc414dd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4f9371-6ecc-4f2c-abc4-90cc414ddc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1FA4A4-2F2C-461D-B4D3-D70FD26FEF4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D3B15-FEE6-480D-901E-1610CA84EC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6945C2-D1B0-444A-9037-FA6182E8C21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10691</TotalTime>
  <Words>4613</Words>
  <Application>Microsoft Macintosh PowerPoint</Application>
  <PresentationFormat>On-screen Show (4:3)</PresentationFormat>
  <Paragraphs>806</Paragraphs>
  <Slides>65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65</vt:i4>
      </vt:variant>
    </vt:vector>
  </HeadingPairs>
  <TitlesOfParts>
    <vt:vector size="76" baseType="lpstr">
      <vt:lpstr>Arial</vt:lpstr>
      <vt:lpstr>Calibri</vt:lpstr>
      <vt:lpstr>Cambria Math</vt:lpstr>
      <vt:lpstr>Myriad Pro</vt:lpstr>
      <vt:lpstr>Times New Roman</vt:lpstr>
      <vt:lpstr>Wingdings</vt:lpstr>
      <vt:lpstr>fromPrest</vt:lpstr>
      <vt:lpstr>1_fromPrest</vt:lpstr>
      <vt:lpstr>2_fromPrest</vt:lpstr>
      <vt:lpstr>3_fromPrest</vt:lpstr>
      <vt:lpstr>Office Theme</vt:lpstr>
      <vt:lpstr>Inteligență Artificială</vt:lpstr>
      <vt:lpstr>Recapitulare – cursul trecut</vt:lpstr>
      <vt:lpstr>Cuprinsul cursului de azi</vt:lpstr>
      <vt:lpstr>PowerPoint Presentation</vt:lpstr>
      <vt:lpstr>PowerPoint Presentation</vt:lpstr>
      <vt:lpstr>PowerPoint Presentation</vt:lpstr>
      <vt:lpstr>PowerPoint Presentation</vt:lpstr>
      <vt:lpstr>Euristici pentru A*</vt:lpstr>
      <vt:lpstr>Euristici dominante și banale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Căutare adversarială</vt:lpstr>
      <vt:lpstr>Cursul 2: Agenți inteligenți și mediile în care aceștia funcționează </vt:lpstr>
      <vt:lpstr>Cursul 2: Proprietăți ale mediilor în care funcționează agenții</vt:lpstr>
      <vt:lpstr>Cursul 2: Proprietăți ale mediilor în care funcționează agenții</vt:lpstr>
      <vt:lpstr>Cursul 2: PAC MAN</vt:lpstr>
      <vt:lpstr>Cursul 2: Exemple de medii cu diverse proprietăți</vt:lpstr>
      <vt:lpstr>Jocuri</vt:lpstr>
      <vt:lpstr>Tipuri de jocuri</vt:lpstr>
      <vt:lpstr>Tipuri de jocuri</vt:lpstr>
      <vt:lpstr>Tipuri de jocuri</vt:lpstr>
      <vt:lpstr>Jocuri cu sumă zero</vt:lpstr>
      <vt:lpstr>Formularea unei probleme de joc (Minimax)</vt:lpstr>
      <vt:lpstr>Găsirea unei strategii optime</vt:lpstr>
      <vt:lpstr>Arbore de căutare într-un mediu cu un singur agent</vt:lpstr>
      <vt:lpstr>Valoarea unei stări</vt:lpstr>
      <vt:lpstr>Arbore de joc în medii cu doi agenți, deterministic, mutări pe rând </vt:lpstr>
      <vt:lpstr>Valoare MiniMax a unei stări</vt:lpstr>
      <vt:lpstr>Arbore de joc</vt:lpstr>
      <vt:lpstr>Arbore de joc pentru X și 0</vt:lpstr>
      <vt:lpstr>Algoritmul MiniMax pentru căutare adversarială</vt:lpstr>
      <vt:lpstr>Algoritmul MiniMax - descriere</vt:lpstr>
      <vt:lpstr>Algoritmul MiniMax - formalizare</vt:lpstr>
      <vt:lpstr>Implementare MiniMax</vt:lpstr>
      <vt:lpstr>Implementare MiniMax</vt:lpstr>
      <vt:lpstr>Implementare MiniMax (pe tot arborele)</vt:lpstr>
      <vt:lpstr>Exemplul MiniMax</vt:lpstr>
      <vt:lpstr>Exemplul MiniMax</vt:lpstr>
      <vt:lpstr>Exemplul MiniMax</vt:lpstr>
      <vt:lpstr>Proprietăți ale algoritmului MiniMax</vt:lpstr>
      <vt:lpstr>Limitări date de resurse ale algoritmului  MiniMax</vt:lpstr>
      <vt:lpstr>Limitări date de resurse</vt:lpstr>
      <vt:lpstr>Implementare MiniMax (cu adâncime limitată d)</vt:lpstr>
      <vt:lpstr>Implementare MiniMax (cu adâncime limitată d)</vt:lpstr>
      <vt:lpstr>Influența adâncimii pentru funcția de evaluare</vt:lpstr>
      <vt:lpstr>Funcții de evaluare - șah</vt:lpstr>
      <vt:lpstr>Funcții de evaluare - StockFISH</vt:lpstr>
      <vt:lpstr>Funcții de evaluare – X și 0</vt:lpstr>
      <vt:lpstr>Funcții de evaluare – X și 0</vt:lpstr>
      <vt:lpstr>Funcții de evaluare – X și 0</vt:lpstr>
      <vt:lpstr>Funcții de evaluare – X și 0</vt:lpstr>
      <vt:lpstr>Retezări (Pruning) în arborele de joc</vt:lpstr>
      <vt:lpstr>Exemplu MiniMax</vt:lpstr>
      <vt:lpstr>Accelerarea algoritmului MiniMax</vt:lpstr>
      <vt:lpstr>Retezare alfa-beta</vt:lpstr>
      <vt:lpstr>Retezare alfa-beta</vt:lpstr>
      <vt:lpstr>Retezare alfa-beta (alfa-beta pruning)</vt:lpstr>
      <vt:lpstr>Retezare alfa-beta (alfa-beta pruning)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 Alexe</dc:creator>
  <cp:lastModifiedBy>Bogdan Alexe</cp:lastModifiedBy>
  <cp:revision>135</cp:revision>
  <dcterms:created xsi:type="dcterms:W3CDTF">2014-09-11T11:15:46Z</dcterms:created>
  <dcterms:modified xsi:type="dcterms:W3CDTF">2026-03-25T18:15:05Z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0x01010043A0003DC97DEF4B8F1101A4D4EA06E2</vt:lpwstr>
  </property>
</Properties>
</file>