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8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1" r:id="rId5"/>
    <p:sldMasterId id="2147483682" r:id="rId6"/>
    <p:sldMasterId id="2147483693" r:id="rId7"/>
    <p:sldMasterId id="2147483704" r:id="rId8"/>
  </p:sldMasterIdLst>
  <p:notesMasterIdLst>
    <p:notesMasterId r:id="rId108"/>
  </p:notesMasterIdLst>
  <p:sldIdLst>
    <p:sldId id="852" r:id="rId9"/>
    <p:sldId id="1997" r:id="rId10"/>
    <p:sldId id="2417" r:id="rId11"/>
    <p:sldId id="1927" r:id="rId12"/>
    <p:sldId id="2105" r:id="rId13"/>
    <p:sldId id="1953" r:id="rId14"/>
    <p:sldId id="2095" r:id="rId15"/>
    <p:sldId id="2080" r:id="rId16"/>
    <p:sldId id="2081" r:id="rId17"/>
    <p:sldId id="2096" r:id="rId18"/>
    <p:sldId id="2082" r:id="rId19"/>
    <p:sldId id="1955" r:id="rId20"/>
    <p:sldId id="2418" r:id="rId21"/>
    <p:sldId id="2061" r:id="rId22"/>
    <p:sldId id="2062" r:id="rId23"/>
    <p:sldId id="2063" r:id="rId24"/>
    <p:sldId id="2064" r:id="rId25"/>
    <p:sldId id="2065" r:id="rId26"/>
    <p:sldId id="2083" r:id="rId27"/>
    <p:sldId id="2066" r:id="rId28"/>
    <p:sldId id="2067" r:id="rId29"/>
    <p:sldId id="2068" r:id="rId30"/>
    <p:sldId id="2069" r:id="rId31"/>
    <p:sldId id="2070" r:id="rId32"/>
    <p:sldId id="2071" r:id="rId33"/>
    <p:sldId id="2072" r:id="rId34"/>
    <p:sldId id="2073" r:id="rId35"/>
    <p:sldId id="2074" r:id="rId36"/>
    <p:sldId id="2075" r:id="rId37"/>
    <p:sldId id="2076" r:id="rId38"/>
    <p:sldId id="1936" r:id="rId39"/>
    <p:sldId id="1937" r:id="rId40"/>
    <p:sldId id="2053" r:id="rId41"/>
    <p:sldId id="1938" r:id="rId42"/>
    <p:sldId id="1939" r:id="rId43"/>
    <p:sldId id="1940" r:id="rId44"/>
    <p:sldId id="2054" r:id="rId45"/>
    <p:sldId id="2097" r:id="rId46"/>
    <p:sldId id="1942" r:id="rId47"/>
    <p:sldId id="1943" r:id="rId48"/>
    <p:sldId id="2055" r:id="rId49"/>
    <p:sldId id="1944" r:id="rId50"/>
    <p:sldId id="761" r:id="rId51"/>
    <p:sldId id="2050" r:id="rId52"/>
    <p:sldId id="2049" r:id="rId53"/>
    <p:sldId id="2051" r:id="rId54"/>
    <p:sldId id="735" r:id="rId55"/>
    <p:sldId id="1964" r:id="rId56"/>
    <p:sldId id="771" r:id="rId57"/>
    <p:sldId id="2056" r:id="rId58"/>
    <p:sldId id="737" r:id="rId59"/>
    <p:sldId id="1965" r:id="rId60"/>
    <p:sldId id="1966" r:id="rId61"/>
    <p:sldId id="738" r:id="rId62"/>
    <p:sldId id="1967" r:id="rId63"/>
    <p:sldId id="764" r:id="rId64"/>
    <p:sldId id="732" r:id="rId65"/>
    <p:sldId id="733" r:id="rId66"/>
    <p:sldId id="734" r:id="rId67"/>
    <p:sldId id="2046" r:id="rId68"/>
    <p:sldId id="560" r:id="rId69"/>
    <p:sldId id="513" r:id="rId70"/>
    <p:sldId id="2414" r:id="rId71"/>
    <p:sldId id="2415" r:id="rId72"/>
    <p:sldId id="574" r:id="rId73"/>
    <p:sldId id="577" r:id="rId74"/>
    <p:sldId id="514" r:id="rId75"/>
    <p:sldId id="2077" r:id="rId76"/>
    <p:sldId id="2058" r:id="rId77"/>
    <p:sldId id="521" r:id="rId78"/>
    <p:sldId id="2419" r:id="rId79"/>
    <p:sldId id="553" r:id="rId80"/>
    <p:sldId id="2094" r:id="rId81"/>
    <p:sldId id="2147" r:id="rId82"/>
    <p:sldId id="2148" r:id="rId83"/>
    <p:sldId id="2149" r:id="rId84"/>
    <p:sldId id="1716" r:id="rId85"/>
    <p:sldId id="2151" r:id="rId86"/>
    <p:sldId id="655" r:id="rId87"/>
    <p:sldId id="640" r:id="rId88"/>
    <p:sldId id="2365" r:id="rId89"/>
    <p:sldId id="2171" r:id="rId90"/>
    <p:sldId id="2366" r:id="rId91"/>
    <p:sldId id="2172" r:id="rId92"/>
    <p:sldId id="2173" r:id="rId93"/>
    <p:sldId id="2175" r:id="rId94"/>
    <p:sldId id="2177" r:id="rId95"/>
    <p:sldId id="2176" r:id="rId96"/>
    <p:sldId id="2174" r:id="rId97"/>
    <p:sldId id="2179" r:id="rId98"/>
    <p:sldId id="571" r:id="rId99"/>
    <p:sldId id="664" r:id="rId100"/>
    <p:sldId id="2389" r:id="rId101"/>
    <p:sldId id="2391" r:id="rId102"/>
    <p:sldId id="2390" r:id="rId103"/>
    <p:sldId id="264" r:id="rId104"/>
    <p:sldId id="2392" r:id="rId105"/>
    <p:sldId id="2367" r:id="rId106"/>
    <p:sldId id="2412" r:id="rId10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3D8900"/>
    <a:srgbClr val="39FF45"/>
    <a:srgbClr val="290ADD"/>
    <a:srgbClr val="20A21F"/>
    <a:srgbClr val="FF00FF"/>
    <a:srgbClr val="FED51E"/>
    <a:srgbClr val="00FF00"/>
    <a:srgbClr val="E46C0A"/>
    <a:srgbClr val="2BEDFF"/>
    <a:srgbClr val="2FC3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99"/>
    <p:restoredTop sz="94694"/>
  </p:normalViewPr>
  <p:slideViewPr>
    <p:cSldViewPr snapToGrid="0">
      <p:cViewPr varScale="1">
        <p:scale>
          <a:sx n="121" d="100"/>
          <a:sy n="121" d="100"/>
        </p:scale>
        <p:origin x="124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slide" Target="slides/slide81.xml"/><Relationship Id="rId112" Type="http://schemas.openxmlformats.org/officeDocument/2006/relationships/tableStyles" Target="tableStyles.xml"/><Relationship Id="rId16" Type="http://schemas.openxmlformats.org/officeDocument/2006/relationships/slide" Target="slides/slide8.xml"/><Relationship Id="rId107" Type="http://schemas.openxmlformats.org/officeDocument/2006/relationships/slide" Target="slides/slide99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102" Type="http://schemas.openxmlformats.org/officeDocument/2006/relationships/slide" Target="slides/slide94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2.xml"/><Relationship Id="rId95" Type="http://schemas.openxmlformats.org/officeDocument/2006/relationships/slide" Target="slides/slide87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59" Type="http://schemas.openxmlformats.org/officeDocument/2006/relationships/slide" Target="slides/slide51.xml"/><Relationship Id="rId103" Type="http://schemas.openxmlformats.org/officeDocument/2006/relationships/slide" Target="slides/slide95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46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6" Type="http://schemas.openxmlformats.org/officeDocument/2006/relationships/slide" Target="slides/slide98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94" Type="http://schemas.openxmlformats.org/officeDocument/2006/relationships/slide" Target="slides/slide86.xml"/><Relationship Id="rId99" Type="http://schemas.openxmlformats.org/officeDocument/2006/relationships/slide" Target="slides/slide91.xml"/><Relationship Id="rId101" Type="http://schemas.openxmlformats.org/officeDocument/2006/relationships/slide" Target="slides/slide9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109" Type="http://schemas.openxmlformats.org/officeDocument/2006/relationships/presProps" Target="presProps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slide" Target="slides/slide89.xml"/><Relationship Id="rId104" Type="http://schemas.openxmlformats.org/officeDocument/2006/relationships/slide" Target="slides/slide96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110" Type="http://schemas.openxmlformats.org/officeDocument/2006/relationships/viewProps" Target="viewProps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100" Type="http://schemas.openxmlformats.org/officeDocument/2006/relationships/slide" Target="slides/slide92.xml"/><Relationship Id="rId105" Type="http://schemas.openxmlformats.org/officeDocument/2006/relationships/slide" Target="slides/slide97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slide" Target="slides/slide90.xml"/><Relationship Id="rId3" Type="http://schemas.openxmlformats.org/officeDocument/2006/relationships/customXml" Target="../customXml/item3.xml"/><Relationship Id="rId25" Type="http://schemas.openxmlformats.org/officeDocument/2006/relationships/slide" Target="slides/slide17.xml"/><Relationship Id="rId46" Type="http://schemas.openxmlformats.org/officeDocument/2006/relationships/slide" Target="slides/slide38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62" Type="http://schemas.openxmlformats.org/officeDocument/2006/relationships/slide" Target="slides/slide54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11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807AF-595C-6344-81ED-D7AAD024752E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18F1C-4373-664D-95DC-963B89AD7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8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D6F6B2-B4A7-4DD8-9C8A-489B85C4F060}" type="slidenum">
              <a:rPr lang="en-US" smtClean="0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79BA-1200-337D-9DAA-84B47108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30817C75-48EB-4285-371B-B07E29B0E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D6F6B2-B4A7-4DD8-9C8A-489B85C4F060}" type="slidenum">
              <a:rPr lang="en-US" smtClean="0">
                <a:latin typeface="Arial" charset="0"/>
              </a:rPr>
              <a:pPr/>
              <a:t>7</a:t>
            </a:fld>
            <a:endParaRPr lang="en-US">
              <a:latin typeface="Arial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629B1FC0-F1B4-CD79-1226-98DFB6FDD4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558F7225-0D14-1989-0403-0D7DE6AF8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576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8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224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1CFA-47D1-7327-C5DD-A3585A1D7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9B659400-97A9-4FDF-0665-D4584BBDB2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09491F90-6AE3-1DB6-8375-14FFC6382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Pick an order for two reasons: sequential processor and pruning</a:t>
            </a:r>
            <a:endParaRPr lang="en-US" dirty="0">
              <a:latin typeface="Arial" charset="0"/>
            </a:endParaRPr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E17218D5-670E-FC75-0ADD-3ED6B3EA5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10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040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17E2D-6506-36D1-A11F-38CCF90F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10B52B8F-7597-BCCD-74D6-8797F7AAE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168E6634-3E03-FD2F-CCAC-2114F7F02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BCA0A100-DC07-6CA5-F898-076CE4741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11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457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8ADE4E-6B6A-43C5-A4E7-3C3886E87B4F}" type="slidenum">
              <a:rPr lang="en-US" smtClean="0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461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953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17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015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7357-E3E3-432D-48A8-900FC0D17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495B9A6D-9F9E-2C42-AE32-C9EBE1A2A0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19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1A1099D5-D6CB-3071-7B10-52A7F2D20D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DADF9AF6-D353-6EA4-7949-67BE16ADD1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293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20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21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488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22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3435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23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164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24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6708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25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405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26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1787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27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7199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28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445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29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2783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30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447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0F0E28-396E-4F98-845A-678F748F62CE}" type="slidenum">
              <a:rPr lang="en-US" smtClean="0">
                <a:latin typeface="Arial" charset="0"/>
              </a:rPr>
              <a:pPr/>
              <a:t>42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8350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3ED746-492E-4D0C-832A-ACED5D621C80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606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8350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3ED746-492E-4D0C-832A-ACED5D621C80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819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8350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3ED746-492E-4D0C-832A-ACED5D621C80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103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8350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3ED746-492E-4D0C-832A-ACED5D621C80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610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E13D75-3764-4B96-AB14-8A910A94CEF9}" type="slidenum">
              <a:rPr lang="en-US" smtClean="0">
                <a:latin typeface="Arial" charset="0"/>
              </a:rPr>
              <a:pPr/>
              <a:t>47</a:t>
            </a:fld>
            <a:endParaRPr lang="en-US">
              <a:latin typeface="Arial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48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8379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C3337F-E14C-4722-B064-8328E1374C64}" type="slidenum">
              <a:rPr lang="en-US" smtClean="0">
                <a:latin typeface="Arial" charset="0"/>
              </a:rPr>
              <a:pPr/>
              <a:t>57</a:t>
            </a:fld>
            <a:endParaRPr lang="en-US">
              <a:latin typeface="Arial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E85BB2-29B2-497D-B377-09C1EC678A88}" type="slidenum">
              <a:rPr lang="en-US" smtClean="0">
                <a:latin typeface="Arial" charset="0"/>
              </a:rPr>
              <a:pPr/>
              <a:t>58</a:t>
            </a:fld>
            <a:endParaRPr lang="en-US">
              <a:latin typeface="Arial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18F1C-4373-664D-95DC-963B89AD74D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700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0=7, R=4, W=6, U=2, T=8, F=1; 867 + 867 = 1734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D9CA2C-7D38-4F9B-A2C1-D1432DE939B2}" type="slidenum">
              <a:rPr lang="en-US" smtClean="0">
                <a:latin typeface="Arial" charset="0"/>
              </a:rPr>
              <a:pPr>
                <a:defRPr/>
              </a:pPr>
              <a:t>70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3423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Arial" charset="0"/>
              </a:rPr>
              <a:t>0=7, R=4, W=6, U=2, T=8, F=1; 867 + 867 = 1734 </a:t>
            </a:r>
            <a:r>
              <a:rPr lang="en-US" dirty="0" err="1">
                <a:latin typeface="Arial" charset="0"/>
              </a:rPr>
              <a:t>sau</a:t>
            </a:r>
            <a:r>
              <a:rPr lang="en-US" dirty="0">
                <a:latin typeface="Arial" charset="0"/>
              </a:rPr>
              <a:t> 734 + 734 = 1468 </a:t>
            </a:r>
            <a:r>
              <a:rPr lang="en-US" dirty="0" err="1">
                <a:latin typeface="Arial" charset="0"/>
              </a:rPr>
              <a:t>sau</a:t>
            </a:r>
            <a:r>
              <a:rPr lang="en-US" dirty="0">
                <a:latin typeface="Arial" charset="0"/>
              </a:rPr>
              <a:t> 765+ 765 = 1530 </a:t>
            </a:r>
            <a:r>
              <a:rPr lang="en-US" dirty="0" err="1">
                <a:latin typeface="Arial" charset="0"/>
              </a:rPr>
              <a:t>sau</a:t>
            </a:r>
            <a:r>
              <a:rPr lang="en-US" dirty="0">
                <a:latin typeface="Arial" charset="0"/>
              </a:rPr>
              <a:t> 836 + 836 = 1672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D9CA2C-7D38-4F9B-A2C1-D1432DE939B2}" type="slidenum">
              <a:rPr lang="en-US" smtClean="0">
                <a:latin typeface="Arial" charset="0"/>
              </a:rPr>
              <a:pPr>
                <a:defRPr/>
              </a:pPr>
              <a:t>71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2100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246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is the goal? If BFS</a:t>
            </a:r>
            <a:r>
              <a:rPr lang="en-US" baseline="0" dirty="0"/>
              <a:t> were a person, this is what would keep it up at night.</a:t>
            </a:r>
            <a:endParaRPr lang="en-US" dirty="0"/>
          </a:p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Naïve Search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106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370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3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wmf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wmf"/><Relationship Id="rId4" Type="http://schemas.openxmlformats.org/officeDocument/2006/relationships/image" Target="../media/image5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wmf"/><Relationship Id="rId4" Type="http://schemas.openxmlformats.org/officeDocument/2006/relationships/image" Target="../media/image5.jpe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wmf"/><Relationship Id="rId4" Type="http://schemas.openxmlformats.org/officeDocument/2006/relationships/image" Target="../media/image5.jpe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Grafik 16" descr="pic_titel_1.jpg"/>
          <p:cNvPicPr>
            <a:picLocks noChangeAspect="1"/>
          </p:cNvPicPr>
          <p:nvPr/>
        </p:nvPicPr>
        <p:blipFill>
          <a:blip r:embed="rId3" cstate="print">
            <a:lum bright="10000" contrast="-20000"/>
          </a:blip>
          <a:srcRect b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Grafik 14" descr="pic_titel_2.jpg"/>
          <p:cNvPicPr>
            <a:picLocks noChangeAspect="1"/>
          </p:cNvPicPr>
          <p:nvPr/>
        </p:nvPicPr>
        <p:blipFill>
          <a:blip r:embed="rId4" cstate="print"/>
          <a:srcRect t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pic>
        <p:nvPicPr>
          <p:cNvPr id="16" name="Picture 15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hg.jpg"/>
          <p:cNvPicPr>
            <a:picLocks noChangeAspect="1"/>
          </p:cNvPicPr>
          <p:nvPr/>
        </p:nvPicPr>
        <p:blipFill>
          <a:blip r:embed="rId2" cstate="print"/>
          <a:srcRect t="13959"/>
          <a:stretch>
            <a:fillRect/>
          </a:stretch>
        </p:blipFill>
        <p:spPr>
          <a:xfrm>
            <a:off x="0" y="957263"/>
            <a:ext cx="9144000" cy="567213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1528764"/>
            <a:ext cx="8382000" cy="1052512"/>
          </a:xfrm>
        </p:spPr>
        <p:txBody>
          <a:bodyPr>
            <a:normAutofit/>
          </a:bodyPr>
          <a:lstStyle>
            <a:lvl1pPr algn="l">
              <a:defRPr sz="2800" b="1" cap="all">
                <a:solidFill>
                  <a:schemeClr val="bg1"/>
                </a:solidFill>
              </a:defRPr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2620962"/>
            <a:ext cx="8382000" cy="19700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0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957263"/>
            <a:ext cx="9144000" cy="56213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Drag picture to placeholder or click icon to add</a:t>
            </a:r>
            <a:endParaRPr lang="de-C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4" y="3620323"/>
            <a:ext cx="8919179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97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5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17"/>
          </p:nvPr>
        </p:nvSpPr>
        <p:spPr>
          <a:xfrm>
            <a:off x="3117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1" name="Content Placeholder 6"/>
          <p:cNvSpPr>
            <a:spLocks noGrp="1"/>
          </p:cNvSpPr>
          <p:nvPr>
            <p:ph sz="quarter" idx="18"/>
          </p:nvPr>
        </p:nvSpPr>
        <p:spPr>
          <a:xfrm>
            <a:off x="6122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5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Grafik 16" descr="pic_titel_1.jpg"/>
          <p:cNvPicPr>
            <a:picLocks noChangeAspect="1"/>
          </p:cNvPicPr>
          <p:nvPr/>
        </p:nvPicPr>
        <p:blipFill>
          <a:blip r:embed="rId3" cstate="print">
            <a:lum bright="10000" contrast="-20000"/>
          </a:blip>
          <a:srcRect b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Grafik 14" descr="pic_titel_2.jpg"/>
          <p:cNvPicPr>
            <a:picLocks noChangeAspect="1"/>
          </p:cNvPicPr>
          <p:nvPr/>
        </p:nvPicPr>
        <p:blipFill>
          <a:blip r:embed="rId4" cstate="print"/>
          <a:srcRect t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pic>
        <p:nvPicPr>
          <p:cNvPr id="16" name="Picture 15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hg.jpg"/>
          <p:cNvPicPr>
            <a:picLocks noChangeAspect="1"/>
          </p:cNvPicPr>
          <p:nvPr/>
        </p:nvPicPr>
        <p:blipFill>
          <a:blip r:embed="rId2" cstate="print"/>
          <a:srcRect t="13959"/>
          <a:stretch>
            <a:fillRect/>
          </a:stretch>
        </p:blipFill>
        <p:spPr>
          <a:xfrm>
            <a:off x="0" y="957263"/>
            <a:ext cx="9144000" cy="567213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1528764"/>
            <a:ext cx="8382000" cy="1052512"/>
          </a:xfrm>
        </p:spPr>
        <p:txBody>
          <a:bodyPr>
            <a:normAutofit/>
          </a:bodyPr>
          <a:lstStyle>
            <a:lvl1pPr algn="l">
              <a:defRPr sz="2800" b="1" cap="all">
                <a:solidFill>
                  <a:schemeClr val="bg1"/>
                </a:solidFill>
              </a:defRPr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2620962"/>
            <a:ext cx="8382000" cy="19700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0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957263"/>
            <a:ext cx="9144000" cy="56213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Drag picture to placeholder or click icon to add</a:t>
            </a:r>
            <a:endParaRPr lang="de-C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4" y="3620323"/>
            <a:ext cx="8919179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97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5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17"/>
          </p:nvPr>
        </p:nvSpPr>
        <p:spPr>
          <a:xfrm>
            <a:off x="3117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1" name="Content Placeholder 6"/>
          <p:cNvSpPr>
            <a:spLocks noGrp="1"/>
          </p:cNvSpPr>
          <p:nvPr>
            <p:ph sz="quarter" idx="18"/>
          </p:nvPr>
        </p:nvSpPr>
        <p:spPr>
          <a:xfrm>
            <a:off x="6122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517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Grafik 16" descr="pic_titel_1.jpg"/>
          <p:cNvPicPr>
            <a:picLocks noChangeAspect="1"/>
          </p:cNvPicPr>
          <p:nvPr/>
        </p:nvPicPr>
        <p:blipFill>
          <a:blip r:embed="rId3" cstate="print">
            <a:lum bright="10000" contrast="-20000"/>
          </a:blip>
          <a:srcRect b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Grafik 14" descr="pic_titel_2.jpg"/>
          <p:cNvPicPr>
            <a:picLocks noChangeAspect="1"/>
          </p:cNvPicPr>
          <p:nvPr/>
        </p:nvPicPr>
        <p:blipFill>
          <a:blip r:embed="rId4" cstate="print"/>
          <a:srcRect t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pic>
        <p:nvPicPr>
          <p:cNvPr id="16" name="Picture 15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hg.jpg"/>
          <p:cNvPicPr>
            <a:picLocks noChangeAspect="1"/>
          </p:cNvPicPr>
          <p:nvPr/>
        </p:nvPicPr>
        <p:blipFill>
          <a:blip r:embed="rId2" cstate="print"/>
          <a:srcRect t="13959"/>
          <a:stretch>
            <a:fillRect/>
          </a:stretch>
        </p:blipFill>
        <p:spPr>
          <a:xfrm>
            <a:off x="0" y="957263"/>
            <a:ext cx="9144000" cy="567213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1528764"/>
            <a:ext cx="8382000" cy="1052512"/>
          </a:xfrm>
        </p:spPr>
        <p:txBody>
          <a:bodyPr>
            <a:normAutofit/>
          </a:bodyPr>
          <a:lstStyle>
            <a:lvl1pPr algn="l">
              <a:defRPr sz="2800" b="1" cap="all">
                <a:solidFill>
                  <a:schemeClr val="bg1"/>
                </a:solidFill>
              </a:defRPr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2620962"/>
            <a:ext cx="8382000" cy="19700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0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957263"/>
            <a:ext cx="9144000" cy="56213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Drag picture to placeholder or click icon to add</a:t>
            </a:r>
            <a:endParaRPr lang="de-C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4" y="3620323"/>
            <a:ext cx="8919179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971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5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17"/>
          </p:nvPr>
        </p:nvSpPr>
        <p:spPr>
          <a:xfrm>
            <a:off x="3117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1" name="Content Placeholder 6"/>
          <p:cNvSpPr>
            <a:spLocks noGrp="1"/>
          </p:cNvSpPr>
          <p:nvPr>
            <p:ph sz="quarter" idx="18"/>
          </p:nvPr>
        </p:nvSpPr>
        <p:spPr>
          <a:xfrm>
            <a:off x="6122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517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Grafik 16" descr="pic_titel_1.jpg"/>
          <p:cNvPicPr>
            <a:picLocks noChangeAspect="1"/>
          </p:cNvPicPr>
          <p:nvPr/>
        </p:nvPicPr>
        <p:blipFill>
          <a:blip r:embed="rId3" cstate="print">
            <a:lum bright="10000" contrast="-20000"/>
          </a:blip>
          <a:srcRect b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Grafik 14" descr="pic_titel_2.jpg"/>
          <p:cNvPicPr>
            <a:picLocks noChangeAspect="1"/>
          </p:cNvPicPr>
          <p:nvPr/>
        </p:nvPicPr>
        <p:blipFill>
          <a:blip r:embed="rId4" cstate="print"/>
          <a:srcRect t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pic>
        <p:nvPicPr>
          <p:cNvPr id="16" name="Picture 15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hg.jpg"/>
          <p:cNvPicPr>
            <a:picLocks noChangeAspect="1"/>
          </p:cNvPicPr>
          <p:nvPr/>
        </p:nvPicPr>
        <p:blipFill>
          <a:blip r:embed="rId2" cstate="print"/>
          <a:srcRect t="13959"/>
          <a:stretch>
            <a:fillRect/>
          </a:stretch>
        </p:blipFill>
        <p:spPr>
          <a:xfrm>
            <a:off x="0" y="957263"/>
            <a:ext cx="9144000" cy="567213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1528764"/>
            <a:ext cx="8382000" cy="1052512"/>
          </a:xfrm>
        </p:spPr>
        <p:txBody>
          <a:bodyPr>
            <a:normAutofit/>
          </a:bodyPr>
          <a:lstStyle>
            <a:lvl1pPr algn="l">
              <a:defRPr sz="2800" b="1" cap="all">
                <a:solidFill>
                  <a:schemeClr val="bg1"/>
                </a:solidFill>
              </a:defRPr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2620962"/>
            <a:ext cx="8382000" cy="19700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0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957263"/>
            <a:ext cx="9144000" cy="56213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Drag picture to placeholder or click icon to add</a:t>
            </a:r>
            <a:endParaRPr lang="de-C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4" y="3620323"/>
            <a:ext cx="8919179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971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5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17"/>
          </p:nvPr>
        </p:nvSpPr>
        <p:spPr>
          <a:xfrm>
            <a:off x="3117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1" name="Content Placeholder 6"/>
          <p:cNvSpPr>
            <a:spLocks noGrp="1"/>
          </p:cNvSpPr>
          <p:nvPr>
            <p:ph sz="quarter" idx="18"/>
          </p:nvPr>
        </p:nvSpPr>
        <p:spPr>
          <a:xfrm>
            <a:off x="6122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517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6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18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116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880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878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550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652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541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694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409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4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360000"/>
            <a:ext cx="8382000" cy="766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41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1122363"/>
            <a:ext cx="8382000" cy="524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185988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7091363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32" name="Datumsplatzhalter 18"/>
          <p:cNvSpPr>
            <a:spLocks noGrp="1"/>
          </p:cNvSpPr>
          <p:nvPr>
            <p:ph type="dt" sz="half" idx="2"/>
          </p:nvPr>
        </p:nvSpPr>
        <p:spPr bwMode="auto">
          <a:xfrm>
            <a:off x="292100" y="6635750"/>
            <a:ext cx="18224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3" name="Foliennummernplatzhalter 19"/>
          <p:cNvSpPr>
            <a:spLocks noGrp="1"/>
          </p:cNvSpPr>
          <p:nvPr>
            <p:ph type="sldNum" sz="quarter" idx="4"/>
          </p:nvPr>
        </p:nvSpPr>
        <p:spPr bwMode="auto">
          <a:xfrm>
            <a:off x="7204075" y="6635750"/>
            <a:ext cx="16383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ußzeilenplatzhalter 20"/>
          <p:cNvSpPr>
            <a:spLocks noGrp="1"/>
          </p:cNvSpPr>
          <p:nvPr>
            <p:ph type="ftr" sz="quarter" idx="3"/>
          </p:nvPr>
        </p:nvSpPr>
        <p:spPr bwMode="auto">
          <a:xfrm>
            <a:off x="2239963" y="6635750"/>
            <a:ext cx="4773612" cy="4492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9pPr>
    </p:titleStyle>
    <p:bodyStyle>
      <a:lvl1pPr marL="361950" indent="-3619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16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42888" algn="l" rtl="0" eaLnBrk="1" fontAlgn="base" hangingPunct="1">
        <a:lnSpc>
          <a:spcPts val="2200"/>
        </a:lnSpc>
        <a:spcBef>
          <a:spcPts val="400"/>
        </a:spcBef>
        <a:spcAft>
          <a:spcPct val="0"/>
        </a:spcAft>
        <a:buClr>
          <a:schemeClr val="accent3"/>
        </a:buClr>
        <a:buFont typeface="Wingdings" pitchFamily="16" charset="2"/>
        <a:buChar char="§"/>
        <a:defRPr sz="2000">
          <a:solidFill>
            <a:schemeClr val="tx1"/>
          </a:solidFill>
          <a:latin typeface="+mn-lt"/>
          <a:ea typeface="+mn-ea"/>
        </a:defRPr>
      </a:lvl2pPr>
      <a:lvl3pPr marL="957263" indent="-190500" algn="l" rtl="0" eaLnBrk="1" fontAlgn="base" hangingPunct="1">
        <a:lnSpc>
          <a:spcPts val="2000"/>
        </a:lnSpc>
        <a:spcBef>
          <a:spcPts val="4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600">
          <a:solidFill>
            <a:schemeClr val="tx1"/>
          </a:solidFill>
          <a:latin typeface="+mn-lt"/>
          <a:ea typeface="+mn-ea"/>
        </a:defRPr>
      </a:lvl3pPr>
      <a:lvl4pPr marL="1343025" indent="-195263" algn="l" rtl="0" eaLnBrk="1" fontAlgn="base" hangingPunct="1">
        <a:lnSpc>
          <a:spcPts val="1800"/>
        </a:lnSpc>
        <a:spcBef>
          <a:spcPts val="2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400">
          <a:solidFill>
            <a:schemeClr val="tx1"/>
          </a:solidFill>
          <a:latin typeface="+mn-lt"/>
          <a:ea typeface="+mn-ea"/>
        </a:defRPr>
      </a:lvl4pPr>
      <a:lvl5pPr marL="1524000" indent="-96838" algn="l" rtl="0" eaLnBrk="1" fontAlgn="base" hangingPunct="1">
        <a:spcBef>
          <a:spcPct val="200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5pPr>
      <a:lvl6pPr marL="19812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6pPr>
      <a:lvl7pPr marL="24384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7pPr>
      <a:lvl8pPr marL="28956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8pPr>
      <a:lvl9pPr marL="33528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360000"/>
            <a:ext cx="8382000" cy="766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41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1122363"/>
            <a:ext cx="8382000" cy="524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185988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7091363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32" name="Datumsplatzhalter 18"/>
          <p:cNvSpPr>
            <a:spLocks noGrp="1"/>
          </p:cNvSpPr>
          <p:nvPr>
            <p:ph type="dt" sz="half" idx="2"/>
          </p:nvPr>
        </p:nvSpPr>
        <p:spPr bwMode="auto">
          <a:xfrm>
            <a:off x="292100" y="6635750"/>
            <a:ext cx="18224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3" name="Foliennummernplatzhalter 19"/>
          <p:cNvSpPr>
            <a:spLocks noGrp="1"/>
          </p:cNvSpPr>
          <p:nvPr>
            <p:ph type="sldNum" sz="quarter" idx="4"/>
          </p:nvPr>
        </p:nvSpPr>
        <p:spPr bwMode="auto">
          <a:xfrm>
            <a:off x="7204075" y="6635750"/>
            <a:ext cx="16383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ußzeilenplatzhalter 20"/>
          <p:cNvSpPr>
            <a:spLocks noGrp="1"/>
          </p:cNvSpPr>
          <p:nvPr>
            <p:ph type="ftr" sz="quarter" idx="3"/>
          </p:nvPr>
        </p:nvSpPr>
        <p:spPr bwMode="auto">
          <a:xfrm>
            <a:off x="2239963" y="6635750"/>
            <a:ext cx="4773612" cy="4492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9pPr>
    </p:titleStyle>
    <p:bodyStyle>
      <a:lvl1pPr marL="361950" indent="-3619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16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42888" algn="l" rtl="0" eaLnBrk="1" fontAlgn="base" hangingPunct="1">
        <a:lnSpc>
          <a:spcPts val="2200"/>
        </a:lnSpc>
        <a:spcBef>
          <a:spcPts val="400"/>
        </a:spcBef>
        <a:spcAft>
          <a:spcPct val="0"/>
        </a:spcAft>
        <a:buClr>
          <a:schemeClr val="accent3"/>
        </a:buClr>
        <a:buFont typeface="Wingdings" pitchFamily="16" charset="2"/>
        <a:buChar char="§"/>
        <a:defRPr sz="2000">
          <a:solidFill>
            <a:schemeClr val="tx1"/>
          </a:solidFill>
          <a:latin typeface="+mn-lt"/>
          <a:ea typeface="+mn-ea"/>
        </a:defRPr>
      </a:lvl2pPr>
      <a:lvl3pPr marL="957263" indent="-190500" algn="l" rtl="0" eaLnBrk="1" fontAlgn="base" hangingPunct="1">
        <a:lnSpc>
          <a:spcPts val="2000"/>
        </a:lnSpc>
        <a:spcBef>
          <a:spcPts val="4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600">
          <a:solidFill>
            <a:schemeClr val="tx1"/>
          </a:solidFill>
          <a:latin typeface="+mn-lt"/>
          <a:ea typeface="+mn-ea"/>
        </a:defRPr>
      </a:lvl3pPr>
      <a:lvl4pPr marL="1343025" indent="-195263" algn="l" rtl="0" eaLnBrk="1" fontAlgn="base" hangingPunct="1">
        <a:lnSpc>
          <a:spcPts val="1800"/>
        </a:lnSpc>
        <a:spcBef>
          <a:spcPts val="2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400">
          <a:solidFill>
            <a:schemeClr val="tx1"/>
          </a:solidFill>
          <a:latin typeface="+mn-lt"/>
          <a:ea typeface="+mn-ea"/>
        </a:defRPr>
      </a:lvl4pPr>
      <a:lvl5pPr marL="1524000" indent="-96838" algn="l" rtl="0" eaLnBrk="1" fontAlgn="base" hangingPunct="1">
        <a:spcBef>
          <a:spcPct val="200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5pPr>
      <a:lvl6pPr marL="19812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6pPr>
      <a:lvl7pPr marL="24384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7pPr>
      <a:lvl8pPr marL="28956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8pPr>
      <a:lvl9pPr marL="33528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360000"/>
            <a:ext cx="8382000" cy="766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41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1122363"/>
            <a:ext cx="8382000" cy="524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185988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7091363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32" name="Datumsplatzhalter 18"/>
          <p:cNvSpPr>
            <a:spLocks noGrp="1"/>
          </p:cNvSpPr>
          <p:nvPr>
            <p:ph type="dt" sz="half" idx="2"/>
          </p:nvPr>
        </p:nvSpPr>
        <p:spPr bwMode="auto">
          <a:xfrm>
            <a:off x="292100" y="6635750"/>
            <a:ext cx="18224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3" name="Foliennummernplatzhalter 19"/>
          <p:cNvSpPr>
            <a:spLocks noGrp="1"/>
          </p:cNvSpPr>
          <p:nvPr>
            <p:ph type="sldNum" sz="quarter" idx="4"/>
          </p:nvPr>
        </p:nvSpPr>
        <p:spPr bwMode="auto">
          <a:xfrm>
            <a:off x="7204075" y="6635750"/>
            <a:ext cx="16383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ußzeilenplatzhalter 20"/>
          <p:cNvSpPr>
            <a:spLocks noGrp="1"/>
          </p:cNvSpPr>
          <p:nvPr>
            <p:ph type="ftr" sz="quarter" idx="3"/>
          </p:nvPr>
        </p:nvSpPr>
        <p:spPr bwMode="auto">
          <a:xfrm>
            <a:off x="2239963" y="6635750"/>
            <a:ext cx="4773612" cy="4492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9pPr>
    </p:titleStyle>
    <p:bodyStyle>
      <a:lvl1pPr marL="361950" indent="-3619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16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42888" algn="l" rtl="0" eaLnBrk="1" fontAlgn="base" hangingPunct="1">
        <a:lnSpc>
          <a:spcPts val="2200"/>
        </a:lnSpc>
        <a:spcBef>
          <a:spcPts val="400"/>
        </a:spcBef>
        <a:spcAft>
          <a:spcPct val="0"/>
        </a:spcAft>
        <a:buClr>
          <a:schemeClr val="accent3"/>
        </a:buClr>
        <a:buFont typeface="Wingdings" pitchFamily="16" charset="2"/>
        <a:buChar char="§"/>
        <a:defRPr sz="2000">
          <a:solidFill>
            <a:schemeClr val="tx1"/>
          </a:solidFill>
          <a:latin typeface="+mn-lt"/>
          <a:ea typeface="+mn-ea"/>
        </a:defRPr>
      </a:lvl2pPr>
      <a:lvl3pPr marL="957263" indent="-190500" algn="l" rtl="0" eaLnBrk="1" fontAlgn="base" hangingPunct="1">
        <a:lnSpc>
          <a:spcPts val="2000"/>
        </a:lnSpc>
        <a:spcBef>
          <a:spcPts val="4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600">
          <a:solidFill>
            <a:schemeClr val="tx1"/>
          </a:solidFill>
          <a:latin typeface="+mn-lt"/>
          <a:ea typeface="+mn-ea"/>
        </a:defRPr>
      </a:lvl3pPr>
      <a:lvl4pPr marL="1343025" indent="-195263" algn="l" rtl="0" eaLnBrk="1" fontAlgn="base" hangingPunct="1">
        <a:lnSpc>
          <a:spcPts val="1800"/>
        </a:lnSpc>
        <a:spcBef>
          <a:spcPts val="2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400">
          <a:solidFill>
            <a:schemeClr val="tx1"/>
          </a:solidFill>
          <a:latin typeface="+mn-lt"/>
          <a:ea typeface="+mn-ea"/>
        </a:defRPr>
      </a:lvl4pPr>
      <a:lvl5pPr marL="1524000" indent="-96838" algn="l" rtl="0" eaLnBrk="1" fontAlgn="base" hangingPunct="1">
        <a:spcBef>
          <a:spcPct val="200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5pPr>
      <a:lvl6pPr marL="19812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6pPr>
      <a:lvl7pPr marL="24384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7pPr>
      <a:lvl8pPr marL="28956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8pPr>
      <a:lvl9pPr marL="33528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360000"/>
            <a:ext cx="8382000" cy="766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41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1122363"/>
            <a:ext cx="8382000" cy="524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185988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7091363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32" name="Datumsplatzhalter 18"/>
          <p:cNvSpPr>
            <a:spLocks noGrp="1"/>
          </p:cNvSpPr>
          <p:nvPr>
            <p:ph type="dt" sz="half" idx="2"/>
          </p:nvPr>
        </p:nvSpPr>
        <p:spPr bwMode="auto">
          <a:xfrm>
            <a:off x="292100" y="6635750"/>
            <a:ext cx="18224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3" name="Foliennummernplatzhalter 19"/>
          <p:cNvSpPr>
            <a:spLocks noGrp="1"/>
          </p:cNvSpPr>
          <p:nvPr>
            <p:ph type="sldNum" sz="quarter" idx="4"/>
          </p:nvPr>
        </p:nvSpPr>
        <p:spPr bwMode="auto">
          <a:xfrm>
            <a:off x="7204075" y="6635750"/>
            <a:ext cx="16383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ußzeilenplatzhalter 20"/>
          <p:cNvSpPr>
            <a:spLocks noGrp="1"/>
          </p:cNvSpPr>
          <p:nvPr>
            <p:ph type="ftr" sz="quarter" idx="3"/>
          </p:nvPr>
        </p:nvSpPr>
        <p:spPr bwMode="auto">
          <a:xfrm>
            <a:off x="2239963" y="6635750"/>
            <a:ext cx="4773612" cy="4492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9pPr>
    </p:titleStyle>
    <p:bodyStyle>
      <a:lvl1pPr marL="361950" indent="-3619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16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42888" algn="l" rtl="0" eaLnBrk="1" fontAlgn="base" hangingPunct="1">
        <a:lnSpc>
          <a:spcPts val="2200"/>
        </a:lnSpc>
        <a:spcBef>
          <a:spcPts val="400"/>
        </a:spcBef>
        <a:spcAft>
          <a:spcPct val="0"/>
        </a:spcAft>
        <a:buClr>
          <a:schemeClr val="accent3"/>
        </a:buClr>
        <a:buFont typeface="Wingdings" pitchFamily="16" charset="2"/>
        <a:buChar char="§"/>
        <a:defRPr sz="2000">
          <a:solidFill>
            <a:schemeClr val="tx1"/>
          </a:solidFill>
          <a:latin typeface="+mn-lt"/>
          <a:ea typeface="+mn-ea"/>
        </a:defRPr>
      </a:lvl2pPr>
      <a:lvl3pPr marL="957263" indent="-190500" algn="l" rtl="0" eaLnBrk="1" fontAlgn="base" hangingPunct="1">
        <a:lnSpc>
          <a:spcPts val="2000"/>
        </a:lnSpc>
        <a:spcBef>
          <a:spcPts val="4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600">
          <a:solidFill>
            <a:schemeClr val="tx1"/>
          </a:solidFill>
          <a:latin typeface="+mn-lt"/>
          <a:ea typeface="+mn-ea"/>
        </a:defRPr>
      </a:lvl3pPr>
      <a:lvl4pPr marL="1343025" indent="-195263" algn="l" rtl="0" eaLnBrk="1" fontAlgn="base" hangingPunct="1">
        <a:lnSpc>
          <a:spcPts val="1800"/>
        </a:lnSpc>
        <a:spcBef>
          <a:spcPts val="2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400">
          <a:solidFill>
            <a:schemeClr val="tx1"/>
          </a:solidFill>
          <a:latin typeface="+mn-lt"/>
          <a:ea typeface="+mn-ea"/>
        </a:defRPr>
      </a:lvl4pPr>
      <a:lvl5pPr marL="1524000" indent="-96838" algn="l" rtl="0" eaLnBrk="1" fontAlgn="base" hangingPunct="1">
        <a:spcBef>
          <a:spcPct val="200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5pPr>
      <a:lvl6pPr marL="19812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6pPr>
      <a:lvl7pPr marL="24384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7pPr>
      <a:lvl8pPr marL="28956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8pPr>
      <a:lvl9pPr marL="33528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8AC18-39C1-4F48-90C9-BE77E4C6F81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revor@eecs.berkeley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4" Type="http://schemas.openxmlformats.org/officeDocument/2006/relationships/hyperlink" Target="mailto:raducu.ionescu@gmail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4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4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4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4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3.xml"/><Relationship Id="rId7" Type="http://schemas.openxmlformats.org/officeDocument/2006/relationships/image" Target="../media/image2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slideLayout" Target="../slideLayouts/slideLayout42.xml"/><Relationship Id="rId10" Type="http://schemas.openxmlformats.org/officeDocument/2006/relationships/image" Target="../media/image32.png"/><Relationship Id="rId4" Type="http://schemas.openxmlformats.org/officeDocument/2006/relationships/tags" Target="../tags/tag4.xml"/><Relationship Id="rId9" Type="http://schemas.openxmlformats.org/officeDocument/2006/relationships/image" Target="../media/image31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3" Type="http://schemas.openxmlformats.org/officeDocument/2006/relationships/tags" Target="../tags/tag7.xml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42.xml"/><Relationship Id="rId11" Type="http://schemas.openxmlformats.org/officeDocument/2006/relationships/image" Target="../media/image31.png"/><Relationship Id="rId5" Type="http://schemas.openxmlformats.org/officeDocument/2006/relationships/tags" Target="../tags/tag9.xml"/><Relationship Id="rId10" Type="http://schemas.openxmlformats.org/officeDocument/2006/relationships/image" Target="../media/image34.png"/><Relationship Id="rId4" Type="http://schemas.openxmlformats.org/officeDocument/2006/relationships/tags" Target="../tags/tag8.xml"/><Relationship Id="rId9" Type="http://schemas.openxmlformats.org/officeDocument/2006/relationships/image" Target="../media/image3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tags" Target="../tags/tag12.xml"/><Relationship Id="rId7" Type="http://schemas.openxmlformats.org/officeDocument/2006/relationships/image" Target="../media/image35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8.png"/><Relationship Id="rId5" Type="http://schemas.openxmlformats.org/officeDocument/2006/relationships/slideLayout" Target="../slideLayouts/slideLayout42.xml"/><Relationship Id="rId10" Type="http://schemas.openxmlformats.org/officeDocument/2006/relationships/image" Target="../media/image38.png"/><Relationship Id="rId4" Type="http://schemas.openxmlformats.org/officeDocument/2006/relationships/tags" Target="../tags/tag13.xml"/><Relationship Id="rId9" Type="http://schemas.openxmlformats.org/officeDocument/2006/relationships/image" Target="../media/image3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16.xml"/><Relationship Id="rId7" Type="http://schemas.openxmlformats.org/officeDocument/2006/relationships/image" Target="../media/image39.wmf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40.wmf"/><Relationship Id="rId11" Type="http://schemas.openxmlformats.org/officeDocument/2006/relationships/image" Target="../media/image44.emf"/><Relationship Id="rId5" Type="http://schemas.openxmlformats.org/officeDocument/2006/relationships/notesSlide" Target="../notesSlides/notesSlide39.xml"/><Relationship Id="rId10" Type="http://schemas.openxmlformats.org/officeDocument/2006/relationships/image" Target="../media/image43.png"/><Relationship Id="rId4" Type="http://schemas.openxmlformats.org/officeDocument/2006/relationships/slideLayout" Target="../slideLayouts/slideLayout42.xml"/><Relationship Id="rId9" Type="http://schemas.openxmlformats.org/officeDocument/2006/relationships/image" Target="../media/image42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50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4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slideLayout" Target="../slideLayouts/slideLayout4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wmf"/><Relationship Id="rId1" Type="http://schemas.openxmlformats.org/officeDocument/2006/relationships/slideLayout" Target="../slideLayouts/slideLayout4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gif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208" y="1663762"/>
            <a:ext cx="7771584" cy="1790912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latin typeface="Times New Roman"/>
                <a:cs typeface="Times New Roman"/>
              </a:rPr>
              <a:t>Inteligență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Artificială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725" y="3886152"/>
            <a:ext cx="8981796" cy="2684299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  <a:latin typeface="Times New Roman"/>
                <a:cs typeface="Times New Roman"/>
              </a:rPr>
              <a:t>	Bogdan Alexe				Radu Ionescu</a:t>
            </a:r>
          </a:p>
          <a:p>
            <a:endParaRPr lang="en-US" sz="3599" dirty="0">
              <a:latin typeface="Times New Roman"/>
              <a:cs typeface="Times New Roman"/>
            </a:endParaRPr>
          </a:p>
          <a:p>
            <a:endParaRPr lang="en-US" sz="2903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2903" dirty="0" err="1">
                <a:solidFill>
                  <a:srgbClr val="000000"/>
                </a:solidFill>
                <a:latin typeface="Times New Roman"/>
                <a:cs typeface="Times New Roman"/>
              </a:rPr>
              <a:t>Informatică</a:t>
            </a:r>
            <a:r>
              <a:rPr lang="en-US" sz="2903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lang="en-US" sz="2903" dirty="0" err="1">
                <a:solidFill>
                  <a:srgbClr val="000000"/>
                </a:solidFill>
                <a:latin typeface="Times New Roman"/>
                <a:cs typeface="Times New Roman"/>
              </a:rPr>
              <a:t>anul</a:t>
            </a:r>
            <a:r>
              <a:rPr lang="en-US" sz="2903" dirty="0">
                <a:solidFill>
                  <a:srgbClr val="000000"/>
                </a:solidFill>
                <a:latin typeface="Times New Roman"/>
                <a:cs typeface="Times New Roman"/>
              </a:rPr>
              <a:t> II, 2025-2026</a:t>
            </a:r>
          </a:p>
          <a:p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6209" y="4462266"/>
            <a:ext cx="3930884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bogdan.alexe@fmi.unibuc.ro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4839" y="4445907"/>
            <a:ext cx="3780202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raducu.ionescu@gmail.com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58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8794E-33CC-7093-803F-5B45CDD60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4A98-4B48-3D0E-12E5-D9819600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750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Recapitulare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mr-IN" dirty="0">
                <a:latin typeface="Times New Roman"/>
                <a:cs typeface="Times New Roman"/>
              </a:rPr>
              <a:t>–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cursul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trecut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78DC5-72BE-7394-07D3-6A6551D27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375" y="1600200"/>
            <a:ext cx="8937625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latin typeface="Times New Roman"/>
                <a:cs typeface="Times New Roman"/>
              </a:rPr>
              <a:t>Crearea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euristici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admisibile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adversarială</a:t>
            </a:r>
            <a:r>
              <a:rPr lang="en-US" sz="2400" dirty="0">
                <a:latin typeface="Times New Roman"/>
                <a:cs typeface="Times New Roman"/>
              </a:rPr>
              <a:t>: </a:t>
            </a:r>
          </a:p>
          <a:p>
            <a:pPr lvl="1"/>
            <a:r>
              <a:rPr lang="en-US" sz="2400" dirty="0" err="1">
                <a:latin typeface="Times New Roman"/>
                <a:cs typeface="Times New Roman"/>
              </a:rPr>
              <a:t>jocuri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adversariale</a:t>
            </a:r>
            <a:endParaRPr lang="en-US" sz="2400" dirty="0">
              <a:latin typeface="Times New Roman"/>
              <a:cs typeface="Times New Roman"/>
            </a:endParaRPr>
          </a:p>
          <a:p>
            <a:pPr lvl="1"/>
            <a:r>
              <a:rPr lang="en-US" sz="2400" dirty="0" err="1">
                <a:latin typeface="Times New Roman"/>
                <a:cs typeface="Times New Roman"/>
              </a:rPr>
              <a:t>algoritmul</a:t>
            </a:r>
            <a:r>
              <a:rPr lang="en-US" sz="2400" dirty="0">
                <a:latin typeface="Times New Roman"/>
                <a:cs typeface="Times New Roman"/>
              </a:rPr>
              <a:t> MINIMAX</a:t>
            </a:r>
          </a:p>
          <a:p>
            <a:pPr lvl="1"/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algoritmul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α-β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retezare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(α-β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prunning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</a:p>
          <a:p>
            <a:pPr marL="0" indent="0">
              <a:buNone/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258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8794E-33CC-7093-803F-5B45CDD60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4A98-4B48-3D0E-12E5-D9819600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750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Cuprinsul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cursului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azi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78DC5-72BE-7394-07D3-6A6551D27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375" y="1600200"/>
            <a:ext cx="8937625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Algoritmul α-β </a:t>
            </a:r>
            <a:r>
              <a:rPr lang="en-US" sz="2400" dirty="0" err="1">
                <a:latin typeface="Times New Roman"/>
                <a:cs typeface="Times New Roman"/>
              </a:rPr>
              <a:t>retezare</a:t>
            </a:r>
            <a:r>
              <a:rPr lang="en-US" sz="2400" dirty="0">
                <a:latin typeface="Times New Roman"/>
                <a:cs typeface="Times New Roman"/>
              </a:rPr>
              <a:t> (α-β </a:t>
            </a:r>
            <a:r>
              <a:rPr lang="en-US" sz="2400" dirty="0" err="1">
                <a:latin typeface="Times New Roman"/>
                <a:cs typeface="Times New Roman"/>
              </a:rPr>
              <a:t>prunning</a:t>
            </a:r>
            <a:r>
              <a:rPr lang="en-US" sz="2400" dirty="0">
                <a:latin typeface="Times New Roman"/>
                <a:cs typeface="Times New Roman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ExpectiMax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latin typeface="Times New Roman"/>
                <a:cs typeface="Times New Roman"/>
              </a:rPr>
              <a:t>Probleme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satisfacere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constrângeri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latin typeface="Times New Roman"/>
                <a:cs typeface="Times New Roman"/>
              </a:rPr>
              <a:t>Algoritmi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locală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latin typeface="Times New Roman"/>
                <a:cs typeface="Times New Roman"/>
              </a:rPr>
              <a:t>Algoritmi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genetici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2236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22531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22568" name="AutoShape 13"/>
              <p:cNvCxnSpPr>
                <a:cxnSpLocks noChangeShapeType="1"/>
                <a:stCxn id="22560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69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22566" name="AutoShape 17"/>
              <p:cNvCxnSpPr>
                <a:cxnSpLocks noChangeShapeType="1"/>
                <a:stCxn id="22560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67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4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22564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65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22562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63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22560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2561" name="AutoShape 7"/>
              <p:cNvCxnSpPr>
                <a:cxnSpLocks noChangeShapeType="1"/>
                <a:stCxn id="22531" idx="3"/>
                <a:endCxn id="22560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20" name="AutoShape 9"/>
            <p:cNvCxnSpPr>
              <a:cxnSpLocks noChangeShapeType="1"/>
              <a:stCxn id="22560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1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7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0" name="AutoShape 21"/>
            <p:cNvCxnSpPr>
              <a:cxnSpLocks noChangeShapeType="1"/>
              <a:stCxn id="22531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4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5" name="AutoShape 21"/>
            <p:cNvCxnSpPr>
              <a:cxnSpLocks noChangeShapeType="1"/>
              <a:stCxn id="22560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7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22558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2559" name="AutoShape 21"/>
              <p:cNvCxnSpPr>
                <a:cxnSpLocks noChangeShapeType="1"/>
                <a:stCxn id="22531" idx="3"/>
                <a:endCxn id="22558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8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22554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55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22556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2557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9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22552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2553" name="AutoShape 27"/>
              <p:cNvCxnSpPr>
                <a:cxnSpLocks noChangeShapeType="1"/>
                <a:stCxn id="22531" idx="3"/>
                <a:endCxn id="22552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10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22548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49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22550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2551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43" name="TextBox 42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94457" y="4538685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Times New Roman"/>
                <a:cs typeface="Times New Roman"/>
              </a:rPr>
              <a:t>Tehnica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-beta </a:t>
            </a:r>
            <a:r>
              <a:rPr lang="en-US" dirty="0" err="1">
                <a:latin typeface="Times New Roman"/>
                <a:cs typeface="Times New Roman"/>
              </a:rPr>
              <a:t>retezare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când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aplicată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arbore de tip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standard,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va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întoarce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aceeași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mutare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pe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care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ar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furniza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-o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și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Algoritmul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MiniMax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dar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într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-un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timp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mai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scurt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întrucât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realizează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retezare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unor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ramuri</a:t>
            </a:r>
            <a:r>
              <a:rPr lang="en-US" dirty="0">
                <a:latin typeface="Times New Roman"/>
                <a:cs typeface="Times New Roman"/>
              </a:rPr>
              <a:t> (</a:t>
            </a:r>
            <a:r>
              <a:rPr lang="en-US" dirty="0" err="1">
                <a:latin typeface="Times New Roman"/>
                <a:cs typeface="Times New Roman"/>
              </a:rPr>
              <a:t>subarbori</a:t>
            </a:r>
            <a:r>
              <a:rPr lang="en-US" dirty="0">
                <a:latin typeface="Times New Roman"/>
                <a:cs typeface="Times New Roman"/>
              </a:rPr>
              <a:t>) ale </a:t>
            </a:r>
            <a:r>
              <a:rPr lang="en-US" dirty="0" err="1">
                <a:latin typeface="Times New Roman"/>
                <a:cs typeface="Times New Roman"/>
              </a:rPr>
              <a:t>arborelui</a:t>
            </a:r>
            <a:r>
              <a:rPr lang="en-US" dirty="0">
                <a:latin typeface="Times New Roman"/>
                <a:cs typeface="Times New Roman"/>
              </a:rPr>
              <a:t> care nu pot </a:t>
            </a:r>
            <a:r>
              <a:rPr lang="en-US" dirty="0" err="1">
                <a:latin typeface="Times New Roman"/>
                <a:cs typeface="Times New Roman"/>
              </a:rPr>
              <a:t>influența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decizia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finală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care nu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sunt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vizitate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98438" y="2284939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8551559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few green branches with text&#10;&#10;AI-generated content may be incorrect.">
            <a:extLst>
              <a:ext uri="{FF2B5EF4-FFF2-40B4-BE49-F238E27FC236}">
                <a16:creationId xmlns:a16="http://schemas.microsoft.com/office/drawing/2014/main" id="{5F3B9030-19A8-20CF-4266-B8029697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149"/>
          <a:stretch>
            <a:fillRect/>
          </a:stretch>
        </p:blipFill>
        <p:spPr>
          <a:xfrm>
            <a:off x="221149" y="1346848"/>
            <a:ext cx="8922851" cy="3805015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893DC4F5-217B-A725-0D9B-F5F2E5CEA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C9BFF-D8E7-B7AA-2CB5-521F377097AC}"/>
              </a:ext>
            </a:extLst>
          </p:cNvPr>
          <p:cNvSpPr txBox="1"/>
          <p:nvPr/>
        </p:nvSpPr>
        <p:spPr>
          <a:xfrm>
            <a:off x="1483112" y="5280319"/>
            <a:ext cx="2129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înainte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0C98F-4F93-6201-DAB6-C55988DBF341}"/>
              </a:ext>
            </a:extLst>
          </p:cNvPr>
          <p:cNvSpPr txBox="1"/>
          <p:nvPr/>
        </p:nvSpPr>
        <p:spPr>
          <a:xfrm>
            <a:off x="6274419" y="5280318"/>
            <a:ext cx="2129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după</a:t>
            </a:r>
          </a:p>
        </p:txBody>
      </p:sp>
    </p:spTree>
    <p:extLst>
      <p:ext uri="{BB962C8B-B14F-4D97-AF65-F5344CB8AC3E}">
        <p14:creationId xmlns:p14="http://schemas.microsoft.com/office/powerpoint/2010/main" val="192920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-1" y="1447800"/>
            <a:ext cx="6196496" cy="5410199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Cazurile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când</a:t>
            </a:r>
            <a:r>
              <a:rPr lang="en-US" sz="2400" dirty="0">
                <a:latin typeface="Times New Roman"/>
                <a:cs typeface="Times New Roman"/>
              </a:rPr>
              <a:t> se </a:t>
            </a:r>
            <a:r>
              <a:rPr lang="en-US" sz="2400" dirty="0" err="1">
                <a:latin typeface="Times New Roman"/>
                <a:cs typeface="Times New Roman"/>
              </a:rPr>
              <a:t>aplică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</a:t>
            </a:r>
            <a:r>
              <a:rPr lang="en-US" sz="2400" dirty="0">
                <a:latin typeface="Times New Roman"/>
                <a:cs typeface="Times New Roman"/>
              </a:rPr>
              <a:t> de tip MIN)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calculăm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pentru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jucătorul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MIN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valoarea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nodului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i="1" dirty="0">
                <a:latin typeface="Times New Roman"/>
                <a:cs typeface="Times New Roman"/>
                <a:sym typeface="Symbol" pitchFamily="18" charset="2"/>
              </a:rPr>
              <a:t>n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iterăm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după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toți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succesorii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nodului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i="1" dirty="0">
                <a:latin typeface="Times New Roman"/>
                <a:cs typeface="Times New Roman"/>
                <a:sym typeface="Symbol" pitchFamily="18" charset="2"/>
              </a:rPr>
              <a:t>n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de la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stânga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la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dreapta</a:t>
            </a:r>
            <a:endParaRPr lang="en-US" sz="2000" dirty="0">
              <a:latin typeface="Times New Roman"/>
              <a:cs typeface="Times New Roman"/>
              <a:sym typeface="Symbol" pitchFamily="18" charset="2"/>
            </a:endParaRPr>
          </a:p>
          <a:p>
            <a:pPr lvl="1" algn="just">
              <a:lnSpc>
                <a:spcPct val="110000"/>
              </a:lnSpc>
            </a:pP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valoarea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estimată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a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nodului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i="1" dirty="0">
                <a:latin typeface="Times New Roman"/>
                <a:cs typeface="Times New Roman"/>
                <a:sym typeface="Symbol" pitchFamily="18" charset="2"/>
              </a:rPr>
              <a:t>n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va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scădea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pe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măsură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ce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îi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vizităm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toți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succesorii</a:t>
            </a:r>
            <a:endParaRPr lang="en-US" sz="2000" dirty="0">
              <a:latin typeface="Times New Roman"/>
              <a:cs typeface="Times New Roman"/>
              <a:sym typeface="Symbol" pitchFamily="18" charset="2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cine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este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interesat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de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valoarea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nodului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i="1" dirty="0">
                <a:latin typeface="Times New Roman"/>
                <a:cs typeface="Times New Roman"/>
                <a:sym typeface="Symbol" pitchFamily="18" charset="2"/>
              </a:rPr>
              <a:t>n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?  MAX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fie </a:t>
            </a:r>
            <a:r>
              <a:rPr lang="en-US" sz="2000" dirty="0">
                <a:latin typeface="Times New Roman"/>
                <a:cs typeface="Times New Roman"/>
              </a:rPr>
              <a:t>α </a:t>
            </a:r>
            <a:r>
              <a:rPr lang="en-US" sz="2000" dirty="0" err="1">
                <a:latin typeface="Times New Roman"/>
                <a:cs typeface="Times New Roman"/>
              </a:rPr>
              <a:t>cea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mai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bună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valoare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curentă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garantată</a:t>
            </a:r>
            <a:r>
              <a:rPr lang="en-US" sz="2000" dirty="0">
                <a:latin typeface="Times New Roman"/>
                <a:cs typeface="Times New Roman"/>
              </a:rPr>
              <a:t>) </a:t>
            </a:r>
            <a:r>
              <a:rPr lang="en-US" sz="2000" dirty="0" err="1">
                <a:latin typeface="Times New Roman"/>
                <a:cs typeface="Times New Roman"/>
              </a:rPr>
              <a:t>pe</a:t>
            </a:r>
            <a:r>
              <a:rPr lang="en-US" sz="2000" dirty="0">
                <a:latin typeface="Times New Roman"/>
                <a:cs typeface="Times New Roman"/>
              </a:rPr>
              <a:t> care MAX o </a:t>
            </a:r>
            <a:r>
              <a:rPr lang="en-US" sz="2000" dirty="0" err="1">
                <a:latin typeface="Times New Roman"/>
                <a:cs typeface="Times New Roman"/>
              </a:rPr>
              <a:t>poate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obține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după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ce</a:t>
            </a:r>
            <a:r>
              <a:rPr lang="en-US" sz="2000" dirty="0">
                <a:latin typeface="Times New Roman"/>
                <a:cs typeface="Times New Roman"/>
              </a:rPr>
              <a:t> a </a:t>
            </a:r>
            <a:r>
              <a:rPr lang="en-US" sz="2000" dirty="0" err="1">
                <a:latin typeface="Times New Roman"/>
                <a:cs typeface="Times New Roman"/>
              </a:rPr>
              <a:t>vizitat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subarborii</a:t>
            </a:r>
            <a:r>
              <a:rPr lang="en-US" sz="2000" dirty="0">
                <a:latin typeface="Times New Roman"/>
                <a:cs typeface="Times New Roman"/>
              </a:rPr>
              <a:t> din </a:t>
            </a:r>
            <a:r>
              <a:rPr lang="en-US" sz="2000" dirty="0" err="1">
                <a:latin typeface="Times New Roman"/>
                <a:cs typeface="Times New Roman"/>
              </a:rPr>
              <a:t>stânga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subarborelui</a:t>
            </a:r>
            <a:r>
              <a:rPr lang="en-US" sz="2000" dirty="0">
                <a:latin typeface="Times New Roman"/>
                <a:cs typeface="Times New Roman"/>
              </a:rPr>
              <a:t> actual </a:t>
            </a:r>
            <a:r>
              <a:rPr lang="en-US" sz="2000" dirty="0" err="1">
                <a:latin typeface="Times New Roman"/>
                <a:cs typeface="Times New Roman"/>
              </a:rPr>
              <a:t>vizitat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pornind</a:t>
            </a:r>
            <a:r>
              <a:rPr lang="en-US" sz="2000" dirty="0">
                <a:latin typeface="Times New Roman"/>
                <a:cs typeface="Times New Roman"/>
              </a:rPr>
              <a:t> de la </a:t>
            </a:r>
            <a:r>
              <a:rPr lang="en-US" sz="2000" dirty="0" err="1">
                <a:latin typeface="Times New Roman"/>
                <a:cs typeface="Times New Roman"/>
              </a:rPr>
              <a:t>rădăcină</a:t>
            </a:r>
            <a:endParaRPr lang="en-US" sz="2000" dirty="0">
              <a:latin typeface="Times New Roman"/>
              <a:cs typeface="Times New Roman"/>
            </a:endParaRPr>
          </a:p>
          <a:p>
            <a:pPr lvl="1" algn="just">
              <a:lnSpc>
                <a:spcPct val="110000"/>
              </a:lnSpc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valoarea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curentă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estimată</a:t>
            </a:r>
            <a:r>
              <a:rPr lang="en-US" sz="2000" dirty="0">
                <a:latin typeface="Times New Roman"/>
                <a:cs typeface="Times New Roman"/>
              </a:rPr>
              <a:t> a </a:t>
            </a:r>
            <a:r>
              <a:rPr lang="en-US" sz="2000" dirty="0" err="1">
                <a:latin typeface="Times New Roman"/>
                <a:cs typeface="Times New Roman"/>
              </a:rPr>
              <a:t>lui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i="1" dirty="0">
                <a:latin typeface="Times New Roman"/>
                <a:cs typeface="Times New Roman"/>
              </a:rPr>
              <a:t>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devine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mai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mică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decât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α</a:t>
            </a:r>
            <a:r>
              <a:rPr lang="en-US" sz="2000" dirty="0">
                <a:latin typeface="Times New Roman"/>
                <a:cs typeface="Times New Roman"/>
              </a:rPr>
              <a:t>, MAX nu </a:t>
            </a:r>
            <a:r>
              <a:rPr lang="en-US" sz="2000" dirty="0" err="1">
                <a:latin typeface="Times New Roman"/>
                <a:cs typeface="Times New Roman"/>
              </a:rPr>
              <a:t>va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alege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acest</a:t>
            </a:r>
            <a:r>
              <a:rPr lang="en-US" sz="2000" dirty="0">
                <a:latin typeface="Times New Roman"/>
                <a:cs typeface="Times New Roman"/>
              </a:rPr>
              <a:t> drum, </a:t>
            </a:r>
            <a:r>
              <a:rPr lang="en-US" sz="2000" dirty="0" err="1">
                <a:latin typeface="Times New Roman"/>
                <a:cs typeface="Times New Roman"/>
              </a:rPr>
              <a:t>deci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putem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renunțăm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să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retezăm</a:t>
            </a:r>
            <a:r>
              <a:rPr lang="en-US" sz="2000" dirty="0">
                <a:latin typeface="Times New Roman"/>
                <a:cs typeface="Times New Roman"/>
              </a:rPr>
              <a:t>) </a:t>
            </a:r>
            <a:r>
              <a:rPr lang="en-US" sz="2000" dirty="0" err="1">
                <a:latin typeface="Times New Roman"/>
                <a:cs typeface="Times New Roman"/>
              </a:rPr>
              <a:t>să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evaluăm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valorile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pentru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celelalte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noduri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succesor</a:t>
            </a:r>
            <a:r>
              <a:rPr lang="en-US" sz="2000" dirty="0">
                <a:latin typeface="Times New Roman"/>
                <a:cs typeface="Times New Roman"/>
              </a:rPr>
              <a:t> ale </a:t>
            </a:r>
            <a:r>
              <a:rPr lang="en-US" sz="2000" dirty="0" err="1">
                <a:latin typeface="Times New Roman"/>
                <a:cs typeface="Times New Roman"/>
              </a:rPr>
              <a:t>lui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i="1" dirty="0">
                <a:latin typeface="Times New Roman"/>
                <a:cs typeface="Times New Roman"/>
              </a:rPr>
              <a:t>n. </a:t>
            </a:r>
            <a:endParaRPr lang="en-US" sz="2000" dirty="0">
              <a:latin typeface="Times New Roman"/>
              <a:cs typeface="Times New Roman"/>
            </a:endParaRPr>
          </a:p>
          <a:p>
            <a:pPr lvl="1" algn="just" eaLnBrk="1" hangingPunct="1">
              <a:lnSpc>
                <a:spcPct val="11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Cazurile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când</a:t>
            </a:r>
            <a:r>
              <a:rPr lang="en-US" sz="2400" dirty="0">
                <a:latin typeface="Times New Roman"/>
                <a:cs typeface="Times New Roman"/>
              </a:rPr>
              <a:t> se </a:t>
            </a:r>
            <a:r>
              <a:rPr lang="en-US" sz="2400" dirty="0" err="1">
                <a:latin typeface="Times New Roman"/>
                <a:cs typeface="Times New Roman"/>
              </a:rPr>
              <a:t>aplică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</a:t>
            </a:r>
            <a:r>
              <a:rPr lang="en-US" sz="2400" dirty="0">
                <a:latin typeface="Times New Roman"/>
                <a:cs typeface="Times New Roman"/>
              </a:rPr>
              <a:t> de tip MAX)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simetric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, </a:t>
            </a:r>
            <a:r>
              <a:rPr lang="ro-RO" sz="2000" dirty="0">
                <a:latin typeface="Times New Roman"/>
                <a:cs typeface="Times New Roman"/>
                <a:sym typeface="Symbol" pitchFamily="18" charset="2"/>
              </a:rPr>
              <a:t>s</a:t>
            </a:r>
            <a:r>
              <a:rPr lang="ro-RO" sz="2000" dirty="0">
                <a:latin typeface="Times New Roman"/>
                <a:cs typeface="Times New Roman"/>
              </a:rPr>
              <a:t>e definește în mod similar valoarea β ca fiind cea mai bună valoare (garantată) pe care MIN o poate obține.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>
                <a:latin typeface="Times New Roman"/>
                <a:cs typeface="Times New Roman"/>
              </a:rPr>
              <a:t>MIN nu </a:t>
            </a:r>
            <a:r>
              <a:rPr lang="en-US" sz="2000" dirty="0" err="1">
                <a:latin typeface="Times New Roman"/>
                <a:cs typeface="Times New Roman"/>
              </a:rPr>
              <a:t>mai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trebuie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mai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ia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în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considerare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nicio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valoare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internă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mai</a:t>
            </a:r>
            <a:r>
              <a:rPr lang="en-US" sz="2000" dirty="0">
                <a:latin typeface="Times New Roman"/>
                <a:cs typeface="Times New Roman"/>
              </a:rPr>
              <a:t> mare </a:t>
            </a:r>
            <a:r>
              <a:rPr lang="en-US" sz="2000" dirty="0" err="1">
                <a:latin typeface="Times New Roman"/>
                <a:cs typeface="Times New Roman"/>
              </a:rPr>
              <a:t>sau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egală</a:t>
            </a:r>
            <a:r>
              <a:rPr lang="en-US" sz="2000" dirty="0">
                <a:latin typeface="Times New Roman"/>
                <a:cs typeface="Times New Roman"/>
              </a:rPr>
              <a:t> cu β care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asociată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oricărui</a:t>
            </a:r>
            <a:r>
              <a:rPr lang="en-US" sz="2000" dirty="0">
                <a:latin typeface="Times New Roman"/>
                <a:cs typeface="Times New Roman"/>
              </a:rPr>
              <a:t> nod intern </a:t>
            </a:r>
            <a:r>
              <a:rPr lang="en-US" sz="2000" i="1" dirty="0">
                <a:latin typeface="Times New Roman"/>
                <a:cs typeface="Times New Roman"/>
              </a:rPr>
              <a:t>n</a:t>
            </a:r>
            <a:r>
              <a:rPr lang="en-US" sz="2000" dirty="0">
                <a:latin typeface="Times New Roman"/>
                <a:cs typeface="Times New Roman"/>
              </a:rPr>
              <a:t> de tip MAX. </a:t>
            </a:r>
            <a:r>
              <a:rPr lang="en-US" sz="2000" dirty="0" err="1">
                <a:latin typeface="Times New Roman"/>
                <a:cs typeface="Times New Roman"/>
              </a:rPr>
              <a:t>Putem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tăia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reteza</a:t>
            </a:r>
            <a:r>
              <a:rPr lang="en-US" sz="2000" dirty="0">
                <a:latin typeface="Times New Roman"/>
                <a:cs typeface="Times New Roman"/>
              </a:rPr>
              <a:t>) </a:t>
            </a:r>
            <a:r>
              <a:rPr lang="en-US" sz="2000" dirty="0" err="1">
                <a:latin typeface="Times New Roman"/>
                <a:cs typeface="Times New Roman"/>
              </a:rPr>
              <a:t>acea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ramură</a:t>
            </a:r>
            <a:r>
              <a:rPr lang="en-US" sz="2000" dirty="0">
                <a:latin typeface="Times New Roman"/>
                <a:cs typeface="Times New Roman"/>
              </a:rPr>
              <a:t> a </a:t>
            </a:r>
            <a:r>
              <a:rPr lang="en-US" sz="2000" dirty="0" err="1">
                <a:latin typeface="Times New Roman"/>
                <a:cs typeface="Times New Roman"/>
              </a:rPr>
              <a:t>arborelui</a:t>
            </a:r>
            <a:r>
              <a:rPr lang="en-US" sz="2000" dirty="0">
                <a:latin typeface="Times New Roman"/>
                <a:cs typeface="Times New Roman"/>
              </a:rPr>
              <a:t> de </a:t>
            </a:r>
            <a:r>
              <a:rPr lang="en-US" sz="2000" dirty="0" err="1">
                <a:latin typeface="Times New Roman"/>
                <a:cs typeface="Times New Roman"/>
              </a:rPr>
              <a:t>joc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6372880" y="1995765"/>
            <a:ext cx="6353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MAX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6372881" y="2819678"/>
            <a:ext cx="58918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MIN</a:t>
            </a: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6372880" y="4205565"/>
            <a:ext cx="6353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MAX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6372881" y="4967566"/>
            <a:ext cx="58918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MIN</a:t>
            </a:r>
          </a:p>
        </p:txBody>
      </p:sp>
      <p:sp>
        <p:nvSpPr>
          <p:cNvPr id="23560" name="AutoShape 8"/>
          <p:cNvSpPr>
            <a:spLocks noChangeArrowheads="1"/>
          </p:cNvSpPr>
          <p:nvPr/>
        </p:nvSpPr>
        <p:spPr bwMode="auto">
          <a:xfrm flipV="1">
            <a:off x="7511118" y="28956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/>
          <a:lstStyle/>
          <a:p>
            <a:pPr algn="ctr"/>
            <a:r>
              <a:rPr lang="en-US" sz="1600" i="1" dirty="0">
                <a:latin typeface="Calibri" pitchFamily="34" charset="0"/>
                <a:sym typeface="Symbol" pitchFamily="18" charset="2"/>
              </a:rPr>
              <a:t>α</a:t>
            </a:r>
            <a:endParaRPr lang="en-US" sz="1600" i="1" dirty="0">
              <a:latin typeface="Calibri" pitchFamily="34" charset="0"/>
            </a:endParaRPr>
          </a:p>
        </p:txBody>
      </p:sp>
      <p:cxnSp>
        <p:nvCxnSpPr>
          <p:cNvPr id="23561" name="AutoShape 9"/>
          <p:cNvCxnSpPr>
            <a:cxnSpLocks noChangeShapeType="1"/>
            <a:stCxn id="23564" idx="3"/>
            <a:endCxn id="23560" idx="3"/>
          </p:cNvCxnSpPr>
          <p:nvPr/>
        </p:nvCxnSpPr>
        <p:spPr bwMode="auto">
          <a:xfrm flipH="1">
            <a:off x="7652803" y="2362200"/>
            <a:ext cx="57269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2" name="AutoShape 10"/>
          <p:cNvSpPr>
            <a:spLocks noChangeArrowheads="1"/>
          </p:cNvSpPr>
          <p:nvPr/>
        </p:nvSpPr>
        <p:spPr bwMode="auto">
          <a:xfrm>
            <a:off x="8254068" y="4205288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600">
              <a:latin typeface="Calibri" pitchFamily="34" charset="0"/>
            </a:endParaRPr>
          </a:p>
        </p:txBody>
      </p:sp>
      <p:cxnSp>
        <p:nvCxnSpPr>
          <p:cNvPr id="23563" name="AutoShape 11"/>
          <p:cNvCxnSpPr>
            <a:cxnSpLocks noChangeShapeType="1"/>
            <a:stCxn id="23560" idx="0"/>
          </p:cNvCxnSpPr>
          <p:nvPr/>
        </p:nvCxnSpPr>
        <p:spPr bwMode="auto">
          <a:xfrm>
            <a:off x="7653993" y="3200400"/>
            <a:ext cx="258366" cy="381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4" name="AutoShape 12"/>
          <p:cNvSpPr>
            <a:spLocks noChangeArrowheads="1"/>
          </p:cNvSpPr>
          <p:nvPr/>
        </p:nvSpPr>
        <p:spPr bwMode="auto">
          <a:xfrm>
            <a:off x="8082618" y="20574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>
            <a:off x="6653868" y="32766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66" name="AutoShape 14"/>
          <p:cNvSpPr>
            <a:spLocks noChangeArrowheads="1"/>
          </p:cNvSpPr>
          <p:nvPr/>
        </p:nvSpPr>
        <p:spPr bwMode="auto">
          <a:xfrm flipV="1">
            <a:off x="8539818" y="50292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/>
          <a:lstStyle/>
          <a:p>
            <a:pPr algn="ctr"/>
            <a:r>
              <a:rPr lang="en-US" sz="1600" i="1" dirty="0">
                <a:latin typeface="Calibri" pitchFamily="34" charset="0"/>
              </a:rPr>
              <a:t>n</a:t>
            </a:r>
            <a:endParaRPr lang="en-US" sz="1600" dirty="0">
              <a:latin typeface="Calibri" pitchFamily="34" charset="0"/>
            </a:endParaRPr>
          </a:p>
        </p:txBody>
      </p:sp>
      <p:cxnSp>
        <p:nvCxnSpPr>
          <p:cNvPr id="23567" name="AutoShape 15"/>
          <p:cNvCxnSpPr>
            <a:cxnSpLocks noChangeShapeType="1"/>
            <a:stCxn id="23562" idx="3"/>
            <a:endCxn id="23566" idx="3"/>
          </p:cNvCxnSpPr>
          <p:nvPr/>
        </p:nvCxnSpPr>
        <p:spPr bwMode="auto">
          <a:xfrm rot="16200000" flipH="1">
            <a:off x="8280262" y="4626769"/>
            <a:ext cx="519112" cy="2857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68" name="AutoShape 16"/>
          <p:cNvCxnSpPr>
            <a:cxnSpLocks noChangeShapeType="1"/>
            <a:stCxn id="23560" idx="0"/>
          </p:cNvCxnSpPr>
          <p:nvPr/>
        </p:nvCxnSpPr>
        <p:spPr bwMode="auto">
          <a:xfrm flipH="1">
            <a:off x="7398009" y="3200400"/>
            <a:ext cx="255984" cy="381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9" name="Freeform 17"/>
          <p:cNvSpPr>
            <a:spLocks/>
          </p:cNvSpPr>
          <p:nvPr/>
        </p:nvSpPr>
        <p:spPr bwMode="auto">
          <a:xfrm>
            <a:off x="8177868" y="2362200"/>
            <a:ext cx="333375" cy="1828800"/>
          </a:xfrm>
          <a:custGeom>
            <a:avLst/>
            <a:gdLst>
              <a:gd name="T0" fmla="*/ 2147483647 w 280"/>
              <a:gd name="T1" fmla="*/ 0 h 1152"/>
              <a:gd name="T2" fmla="*/ 2147483647 w 280"/>
              <a:gd name="T3" fmla="*/ 2147483647 h 1152"/>
              <a:gd name="T4" fmla="*/ 2147483647 w 280"/>
              <a:gd name="T5" fmla="*/ 2147483647 h 1152"/>
              <a:gd name="T6" fmla="*/ 2147483647 w 280"/>
              <a:gd name="T7" fmla="*/ 2147483647 h 1152"/>
              <a:gd name="T8" fmla="*/ 2147483647 w 280"/>
              <a:gd name="T9" fmla="*/ 2147483647 h 1152"/>
              <a:gd name="T10" fmla="*/ 2147483647 w 280"/>
              <a:gd name="T11" fmla="*/ 2147483647 h 11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0"/>
              <a:gd name="T19" fmla="*/ 0 h 1152"/>
              <a:gd name="T20" fmla="*/ 280 w 280"/>
              <a:gd name="T21" fmla="*/ 1152 h 11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0" h="1152">
                <a:moveTo>
                  <a:pt x="40" y="0"/>
                </a:moveTo>
                <a:cubicBezTo>
                  <a:pt x="20" y="112"/>
                  <a:pt x="0" y="224"/>
                  <a:pt x="40" y="288"/>
                </a:cubicBezTo>
                <a:cubicBezTo>
                  <a:pt x="80" y="352"/>
                  <a:pt x="280" y="304"/>
                  <a:pt x="280" y="384"/>
                </a:cubicBezTo>
                <a:cubicBezTo>
                  <a:pt x="280" y="464"/>
                  <a:pt x="48" y="688"/>
                  <a:pt x="40" y="768"/>
                </a:cubicBezTo>
                <a:cubicBezTo>
                  <a:pt x="32" y="848"/>
                  <a:pt x="208" y="800"/>
                  <a:pt x="232" y="864"/>
                </a:cubicBezTo>
                <a:cubicBezTo>
                  <a:pt x="256" y="928"/>
                  <a:pt x="220" y="1040"/>
                  <a:pt x="184" y="115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cxnSp>
        <p:nvCxnSpPr>
          <p:cNvPr id="23570" name="AutoShape 18"/>
          <p:cNvCxnSpPr>
            <a:cxnSpLocks noChangeShapeType="1"/>
            <a:stCxn id="23562" idx="3"/>
          </p:cNvCxnSpPr>
          <p:nvPr/>
        </p:nvCxnSpPr>
        <p:spPr bwMode="auto">
          <a:xfrm flipH="1">
            <a:off x="8139768" y="4510088"/>
            <a:ext cx="257175" cy="5191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1" name="AutoShape 19"/>
          <p:cNvCxnSpPr>
            <a:cxnSpLocks noChangeShapeType="1"/>
            <a:endCxn id="23564" idx="0"/>
          </p:cNvCxnSpPr>
          <p:nvPr/>
        </p:nvCxnSpPr>
        <p:spPr bwMode="auto">
          <a:xfrm flipH="1">
            <a:off x="8225493" y="1600200"/>
            <a:ext cx="314325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3" name="AutoShape 15"/>
          <p:cNvCxnSpPr>
            <a:cxnSpLocks noChangeShapeType="1"/>
            <a:stCxn id="23566" idx="0"/>
          </p:cNvCxnSpPr>
          <p:nvPr/>
        </p:nvCxnSpPr>
        <p:spPr bwMode="auto">
          <a:xfrm rot="16200000" flipH="1">
            <a:off x="8639831" y="5376863"/>
            <a:ext cx="228600" cy="142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3574" name="AutoShape 18"/>
          <p:cNvCxnSpPr>
            <a:cxnSpLocks noChangeShapeType="1"/>
            <a:stCxn id="23566" idx="0"/>
          </p:cNvCxnSpPr>
          <p:nvPr/>
        </p:nvCxnSpPr>
        <p:spPr bwMode="auto">
          <a:xfrm rot="5400000">
            <a:off x="8309432" y="5479853"/>
            <a:ext cx="519113" cy="22740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5" name="AutoShape 15"/>
          <p:cNvCxnSpPr>
            <a:cxnSpLocks noChangeShapeType="1"/>
            <a:stCxn id="23566" idx="0"/>
          </p:cNvCxnSpPr>
          <p:nvPr/>
        </p:nvCxnSpPr>
        <p:spPr bwMode="auto">
          <a:xfrm rot="16200000" flipH="1">
            <a:off x="8468381" y="5548313"/>
            <a:ext cx="457200" cy="285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(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pruning)</a:t>
            </a:r>
          </a:p>
        </p:txBody>
      </p:sp>
    </p:spTree>
    <p:extLst>
      <p:ext uri="{BB962C8B-B14F-4D97-AF65-F5344CB8AC3E}">
        <p14:creationId xmlns:p14="http://schemas.microsoft.com/office/powerpoint/2010/main" val="326504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FB58-0F24-6F55-F19E-654CBAEA6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0E73DF62-AE87-36C8-BD6C-DEE5CA90BA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1447800"/>
            <a:ext cx="6196496" cy="5410199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Încep</a:t>
            </a:r>
            <a:r>
              <a:rPr lang="en-US" sz="2400" dirty="0">
                <a:latin typeface="Times New Roman"/>
                <a:cs typeface="Times New Roman"/>
              </a:rPr>
              <a:t> cu </a:t>
            </a:r>
            <a:r>
              <a:rPr lang="en-US" sz="2400" dirty="0" err="1">
                <a:latin typeface="Times New Roman"/>
                <a:cs typeface="Times New Roman"/>
              </a:rPr>
              <a:t>parametri</a:t>
            </a:r>
            <a:r>
              <a:rPr lang="en-US" sz="2400" dirty="0">
                <a:latin typeface="Times New Roman"/>
                <a:cs typeface="Times New Roman"/>
              </a:rPr>
              <a:t> α = -∞, β = +∞ din </a:t>
            </a:r>
            <a:r>
              <a:rPr lang="en-US" sz="2400" dirty="0" err="1">
                <a:latin typeface="Times New Roman"/>
                <a:cs typeface="Times New Roman"/>
              </a:rPr>
              <a:t>rădăcină</a:t>
            </a:r>
            <a:r>
              <a:rPr lang="en-US" sz="2400" dirty="0">
                <a:latin typeface="Times New Roman"/>
                <a:cs typeface="Times New Roman"/>
              </a:rPr>
              <a:t> pe care </a:t>
            </a:r>
            <a:r>
              <a:rPr lang="en-US" sz="2400" dirty="0" err="1">
                <a:latin typeface="Times New Roman"/>
                <a:cs typeface="Times New Roman"/>
              </a:rPr>
              <a:t>îi</a:t>
            </a:r>
            <a:r>
              <a:rPr lang="en-US" sz="2400" dirty="0">
                <a:latin typeface="Times New Roman"/>
                <a:cs typeface="Times New Roman"/>
              </a:rPr>
              <a:t> transmit (</a:t>
            </a:r>
            <a:r>
              <a:rPr lang="en-US" sz="2400" b="1" i="1" dirty="0">
                <a:latin typeface="Times New Roman"/>
                <a:cs typeface="Times New Roman"/>
              </a:rPr>
              <a:t>ca </a:t>
            </a:r>
            <a:r>
              <a:rPr lang="en-US" sz="2400" b="1" i="1" dirty="0" err="1">
                <a:latin typeface="Times New Roman"/>
                <a:cs typeface="Times New Roman"/>
              </a:rPr>
              <a:t>valoare</a:t>
            </a:r>
            <a:r>
              <a:rPr lang="en-US" sz="2400" b="1" i="1" dirty="0">
                <a:latin typeface="Times New Roman"/>
                <a:cs typeface="Times New Roman"/>
              </a:rPr>
              <a:t> nu ca </a:t>
            </a:r>
            <a:r>
              <a:rPr lang="en-US" sz="2400" b="1" i="1" dirty="0" err="1">
                <a:latin typeface="Times New Roman"/>
                <a:cs typeface="Times New Roman"/>
              </a:rPr>
              <a:t>referință</a:t>
            </a:r>
            <a:r>
              <a:rPr lang="en-US" sz="2400" dirty="0">
                <a:latin typeface="Times New Roman"/>
                <a:cs typeface="Times New Roman"/>
              </a:rPr>
              <a:t>) </a:t>
            </a: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subarbori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după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îi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parcurg</a:t>
            </a:r>
            <a:r>
              <a:rPr lang="en-US" sz="2400" dirty="0">
                <a:latin typeface="Times New Roman"/>
                <a:cs typeface="Times New Roman"/>
              </a:rPr>
              <a:t> pe </a:t>
            </a:r>
            <a:r>
              <a:rPr lang="en-US" sz="2400" dirty="0" err="1">
                <a:latin typeface="Times New Roman"/>
                <a:cs typeface="Times New Roman"/>
              </a:rPr>
              <a:t>aceștia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actualizez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valorile</a:t>
            </a:r>
            <a:r>
              <a:rPr lang="en-US" sz="2400" dirty="0">
                <a:latin typeface="Times New Roman"/>
                <a:cs typeface="Times New Roman"/>
              </a:rPr>
              <a:t> α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β.</a:t>
            </a:r>
          </a:p>
          <a:p>
            <a:pPr algn="just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nodurile</a:t>
            </a:r>
            <a:r>
              <a:rPr lang="en-US" sz="2400" dirty="0">
                <a:latin typeface="Times New Roman"/>
                <a:cs typeface="Times New Roman"/>
              </a:rPr>
              <a:t> de tip MAX: </a:t>
            </a:r>
            <a:r>
              <a:rPr lang="en-US" sz="2400" dirty="0" err="1">
                <a:latin typeface="Times New Roman"/>
                <a:cs typeface="Times New Roman"/>
              </a:rPr>
              <a:t>după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parcurg</a:t>
            </a:r>
            <a:r>
              <a:rPr lang="en-US" sz="2400" dirty="0">
                <a:latin typeface="Times New Roman"/>
                <a:cs typeface="Times New Roman"/>
              </a:rPr>
              <a:t> prima </a:t>
            </a:r>
            <a:r>
              <a:rPr lang="en-US" sz="2400" dirty="0" err="1">
                <a:latin typeface="Times New Roman"/>
                <a:cs typeface="Times New Roman"/>
              </a:rPr>
              <a:t>ramură</a:t>
            </a:r>
            <a:r>
              <a:rPr lang="en-US" sz="2400" dirty="0">
                <a:latin typeface="Times New Roman"/>
                <a:cs typeface="Times New Roman"/>
              </a:rPr>
              <a:t> din </a:t>
            </a:r>
            <a:r>
              <a:rPr lang="en-US" sz="2400" dirty="0" err="1">
                <a:latin typeface="Times New Roman"/>
                <a:cs typeface="Times New Roman"/>
              </a:rPr>
              <a:t>stânga</a:t>
            </a:r>
            <a:r>
              <a:rPr lang="en-US" sz="2400" dirty="0">
                <a:latin typeface="Times New Roman"/>
                <a:cs typeface="Times New Roman"/>
              </a:rPr>
              <a:t> (sub-</a:t>
            </a:r>
            <a:r>
              <a:rPr lang="en-US" sz="2400" dirty="0" err="1">
                <a:latin typeface="Times New Roman"/>
                <a:cs typeface="Times New Roman"/>
              </a:rPr>
              <a:t>arborele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stâng</a:t>
            </a:r>
            <a:r>
              <a:rPr lang="en-US" sz="2400" dirty="0">
                <a:latin typeface="Times New Roman"/>
                <a:cs typeface="Times New Roman"/>
              </a:rPr>
              <a:t>) am o </a:t>
            </a:r>
            <a:r>
              <a:rPr lang="en-US" sz="2400" dirty="0" err="1">
                <a:latin typeface="Times New Roman"/>
                <a:cs typeface="Times New Roman"/>
              </a:rPr>
              <a:t>valoare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minimă</a:t>
            </a:r>
            <a:r>
              <a:rPr lang="en-US" sz="2400" dirty="0">
                <a:latin typeface="Times New Roman"/>
                <a:cs typeface="Times New Roman"/>
              </a:rPr>
              <a:t> α. Pot </a:t>
            </a:r>
            <a:r>
              <a:rPr lang="en-US" sz="2400" dirty="0" err="1">
                <a:latin typeface="Times New Roman"/>
                <a:cs typeface="Times New Roman"/>
              </a:rPr>
              <a:t>atunci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sub-</a:t>
            </a:r>
            <a:r>
              <a:rPr lang="en-US" sz="2400" dirty="0" err="1">
                <a:latin typeface="Times New Roman"/>
                <a:cs typeface="Times New Roman"/>
              </a:rPr>
              <a:t>arborii</a:t>
            </a:r>
            <a:r>
              <a:rPr lang="en-US" sz="2400" dirty="0">
                <a:latin typeface="Times New Roman"/>
                <a:cs typeface="Times New Roman"/>
              </a:rPr>
              <a:t> care </a:t>
            </a:r>
            <a:r>
              <a:rPr lang="en-US" sz="2400" dirty="0" err="1">
                <a:latin typeface="Times New Roman"/>
                <a:cs typeface="Times New Roman"/>
              </a:rPr>
              <a:t>urmează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să</a:t>
            </a:r>
            <a:r>
              <a:rPr lang="en-US" sz="2400" dirty="0">
                <a:latin typeface="Times New Roman"/>
                <a:cs typeface="Times New Roman"/>
              </a:rPr>
              <a:t> nu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vizitez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să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retez</a:t>
            </a:r>
            <a:r>
              <a:rPr lang="en-US" sz="2400" dirty="0">
                <a:latin typeface="Times New Roman"/>
                <a:cs typeface="Times New Roman"/>
              </a:rPr>
              <a:t>) sub-</a:t>
            </a:r>
            <a:r>
              <a:rPr lang="en-US" sz="2400" dirty="0" err="1">
                <a:latin typeface="Times New Roman"/>
                <a:cs typeface="Times New Roman"/>
              </a:rPr>
              <a:t>arbori</a:t>
            </a:r>
            <a:r>
              <a:rPr lang="en-US" sz="2400" dirty="0">
                <a:latin typeface="Times New Roman"/>
                <a:cs typeface="Times New Roman"/>
              </a:rPr>
              <a:t> din </a:t>
            </a:r>
            <a:r>
              <a:rPr lang="en-US" sz="2400" dirty="0" err="1">
                <a:latin typeface="Times New Roman"/>
                <a:cs typeface="Times New Roman"/>
              </a:rPr>
              <a:t>nodurile</a:t>
            </a:r>
            <a:r>
              <a:rPr lang="en-US" sz="2400" dirty="0">
                <a:latin typeface="Times New Roman"/>
                <a:cs typeface="Times New Roman"/>
              </a:rPr>
              <a:t> de tip MIN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care </a:t>
            </a:r>
            <a:r>
              <a:rPr lang="en-US" sz="2400" dirty="0" err="1">
                <a:latin typeface="Times New Roman"/>
                <a:cs typeface="Times New Roman"/>
              </a:rPr>
              <a:t>avem</a:t>
            </a:r>
            <a:r>
              <a:rPr lang="en-US" sz="2400" dirty="0">
                <a:latin typeface="Times New Roman"/>
                <a:cs typeface="Times New Roman"/>
              </a:rPr>
              <a:t> β ≤ α.</a:t>
            </a:r>
          </a:p>
          <a:p>
            <a:pPr algn="just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nodurile</a:t>
            </a:r>
            <a:r>
              <a:rPr lang="en-US" sz="2400" dirty="0">
                <a:latin typeface="Times New Roman"/>
                <a:cs typeface="Times New Roman"/>
              </a:rPr>
              <a:t> de tip MIN: </a:t>
            </a:r>
            <a:r>
              <a:rPr lang="en-US" sz="2400" dirty="0" err="1">
                <a:latin typeface="Times New Roman"/>
                <a:cs typeface="Times New Roman"/>
              </a:rPr>
              <a:t>după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parcurg</a:t>
            </a:r>
            <a:r>
              <a:rPr lang="en-US" sz="2400" dirty="0">
                <a:latin typeface="Times New Roman"/>
                <a:cs typeface="Times New Roman"/>
              </a:rPr>
              <a:t> prima </a:t>
            </a:r>
            <a:r>
              <a:rPr lang="en-US" sz="2400" dirty="0" err="1">
                <a:latin typeface="Times New Roman"/>
                <a:cs typeface="Times New Roman"/>
              </a:rPr>
              <a:t>ramură</a:t>
            </a:r>
            <a:r>
              <a:rPr lang="en-US" sz="2400" dirty="0">
                <a:latin typeface="Times New Roman"/>
                <a:cs typeface="Times New Roman"/>
              </a:rPr>
              <a:t> din </a:t>
            </a:r>
            <a:r>
              <a:rPr lang="en-US" sz="2400" dirty="0" err="1">
                <a:latin typeface="Times New Roman"/>
                <a:cs typeface="Times New Roman"/>
              </a:rPr>
              <a:t>stânga</a:t>
            </a:r>
            <a:r>
              <a:rPr lang="en-US" sz="2400" dirty="0">
                <a:latin typeface="Times New Roman"/>
                <a:cs typeface="Times New Roman"/>
              </a:rPr>
              <a:t> (sub-</a:t>
            </a:r>
            <a:r>
              <a:rPr lang="en-US" sz="2400" dirty="0" err="1">
                <a:latin typeface="Times New Roman"/>
                <a:cs typeface="Times New Roman"/>
              </a:rPr>
              <a:t>arborele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stâng</a:t>
            </a:r>
            <a:r>
              <a:rPr lang="en-US" sz="2400" dirty="0">
                <a:latin typeface="Times New Roman"/>
                <a:cs typeface="Times New Roman"/>
              </a:rPr>
              <a:t>) am o </a:t>
            </a:r>
            <a:r>
              <a:rPr lang="en-US" sz="2400" dirty="0" err="1">
                <a:latin typeface="Times New Roman"/>
                <a:cs typeface="Times New Roman"/>
              </a:rPr>
              <a:t>valoare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maximă</a:t>
            </a:r>
            <a:r>
              <a:rPr lang="en-US" sz="2400" dirty="0">
                <a:latin typeface="Times New Roman"/>
                <a:cs typeface="Times New Roman"/>
              </a:rPr>
              <a:t> β. Pot </a:t>
            </a:r>
            <a:r>
              <a:rPr lang="en-US" sz="2400" dirty="0" err="1">
                <a:latin typeface="Times New Roman"/>
                <a:cs typeface="Times New Roman"/>
              </a:rPr>
              <a:t>atunci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sub-</a:t>
            </a:r>
            <a:r>
              <a:rPr lang="en-US" sz="2400" dirty="0" err="1">
                <a:latin typeface="Times New Roman"/>
                <a:cs typeface="Times New Roman"/>
              </a:rPr>
              <a:t>arborii</a:t>
            </a:r>
            <a:r>
              <a:rPr lang="en-US" sz="2400" dirty="0">
                <a:latin typeface="Times New Roman"/>
                <a:cs typeface="Times New Roman"/>
              </a:rPr>
              <a:t> care </a:t>
            </a:r>
            <a:r>
              <a:rPr lang="en-US" sz="2400" dirty="0" err="1">
                <a:latin typeface="Times New Roman"/>
                <a:cs typeface="Times New Roman"/>
              </a:rPr>
              <a:t>urmează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să</a:t>
            </a:r>
            <a:r>
              <a:rPr lang="en-US" sz="2400" dirty="0">
                <a:latin typeface="Times New Roman"/>
                <a:cs typeface="Times New Roman"/>
              </a:rPr>
              <a:t> nu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vizitez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să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retez</a:t>
            </a:r>
            <a:r>
              <a:rPr lang="en-US" sz="2400" dirty="0">
                <a:latin typeface="Times New Roman"/>
                <a:cs typeface="Times New Roman"/>
              </a:rPr>
              <a:t>)  sub-</a:t>
            </a:r>
            <a:r>
              <a:rPr lang="en-US" sz="2400" dirty="0" err="1">
                <a:latin typeface="Times New Roman"/>
                <a:cs typeface="Times New Roman"/>
              </a:rPr>
              <a:t>arbori</a:t>
            </a:r>
            <a:r>
              <a:rPr lang="en-US" sz="2400" dirty="0">
                <a:latin typeface="Times New Roman"/>
                <a:cs typeface="Times New Roman"/>
              </a:rPr>
              <a:t> din </a:t>
            </a:r>
            <a:r>
              <a:rPr lang="en-US" sz="2400" dirty="0" err="1">
                <a:latin typeface="Times New Roman"/>
                <a:cs typeface="Times New Roman"/>
              </a:rPr>
              <a:t>nodurile</a:t>
            </a:r>
            <a:r>
              <a:rPr lang="en-US" sz="2400" dirty="0">
                <a:latin typeface="Times New Roman"/>
                <a:cs typeface="Times New Roman"/>
              </a:rPr>
              <a:t> de tip MAX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care </a:t>
            </a:r>
            <a:r>
              <a:rPr lang="en-US" sz="2400" dirty="0" err="1">
                <a:latin typeface="Times New Roman"/>
                <a:cs typeface="Times New Roman"/>
              </a:rPr>
              <a:t>avem</a:t>
            </a:r>
            <a:r>
              <a:rPr lang="en-US" sz="2400" dirty="0">
                <a:latin typeface="Times New Roman"/>
                <a:cs typeface="Times New Roman"/>
              </a:rPr>
              <a:t> α ≥ β.</a:t>
            </a:r>
          </a:p>
          <a:p>
            <a:pPr algn="just">
              <a:lnSpc>
                <a:spcPct val="11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C09161EE-50A4-CDCB-F966-2B50C2666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880" y="1995765"/>
            <a:ext cx="6353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MAX</a:t>
            </a:r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01C69264-9E14-F7A7-9B5A-1B166D507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881" y="2819678"/>
            <a:ext cx="58918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MIN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78499BCC-7B88-CDFA-AC9B-6BF6B4243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880" y="4205565"/>
            <a:ext cx="6353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MAX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952865B8-AEE9-6234-2084-CB633C2C4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881" y="4967566"/>
            <a:ext cx="58918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MIN</a:t>
            </a:r>
          </a:p>
        </p:txBody>
      </p:sp>
      <p:sp>
        <p:nvSpPr>
          <p:cNvPr id="23560" name="AutoShape 8">
            <a:extLst>
              <a:ext uri="{FF2B5EF4-FFF2-40B4-BE49-F238E27FC236}">
                <a16:creationId xmlns:a16="http://schemas.microsoft.com/office/drawing/2014/main" id="{FF828364-DC3A-4BD4-0CE0-438C292B2A0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511118" y="28956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/>
          <a:lstStyle/>
          <a:p>
            <a:pPr algn="ctr"/>
            <a:r>
              <a:rPr lang="en-US" sz="1600" i="1" dirty="0">
                <a:latin typeface="Calibri" pitchFamily="34" charset="0"/>
                <a:sym typeface="Symbol" pitchFamily="18" charset="2"/>
              </a:rPr>
              <a:t>α</a:t>
            </a:r>
            <a:endParaRPr lang="en-US" sz="1600" i="1" dirty="0">
              <a:latin typeface="Calibri" pitchFamily="34" charset="0"/>
            </a:endParaRPr>
          </a:p>
        </p:txBody>
      </p:sp>
      <p:cxnSp>
        <p:nvCxnSpPr>
          <p:cNvPr id="23561" name="AutoShape 9">
            <a:extLst>
              <a:ext uri="{FF2B5EF4-FFF2-40B4-BE49-F238E27FC236}">
                <a16:creationId xmlns:a16="http://schemas.microsoft.com/office/drawing/2014/main" id="{EF7EDDA7-767A-D562-5D34-645A50FB4975}"/>
              </a:ext>
            </a:extLst>
          </p:cNvPr>
          <p:cNvCxnSpPr>
            <a:cxnSpLocks noChangeShapeType="1"/>
            <a:stCxn id="23564" idx="3"/>
            <a:endCxn id="23560" idx="3"/>
          </p:cNvCxnSpPr>
          <p:nvPr/>
        </p:nvCxnSpPr>
        <p:spPr bwMode="auto">
          <a:xfrm flipH="1">
            <a:off x="7652803" y="2362200"/>
            <a:ext cx="57269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2" name="AutoShape 10">
            <a:extLst>
              <a:ext uri="{FF2B5EF4-FFF2-40B4-BE49-F238E27FC236}">
                <a16:creationId xmlns:a16="http://schemas.microsoft.com/office/drawing/2014/main" id="{918531B2-7E99-8AE9-05E1-2CA7F9122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4068" y="4205288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600">
              <a:latin typeface="Calibri" pitchFamily="34" charset="0"/>
            </a:endParaRPr>
          </a:p>
        </p:txBody>
      </p:sp>
      <p:cxnSp>
        <p:nvCxnSpPr>
          <p:cNvPr id="23563" name="AutoShape 11">
            <a:extLst>
              <a:ext uri="{FF2B5EF4-FFF2-40B4-BE49-F238E27FC236}">
                <a16:creationId xmlns:a16="http://schemas.microsoft.com/office/drawing/2014/main" id="{89EEC9E2-0ACE-768C-6614-05940727EFBC}"/>
              </a:ext>
            </a:extLst>
          </p:cNvPr>
          <p:cNvCxnSpPr>
            <a:cxnSpLocks noChangeShapeType="1"/>
            <a:stCxn id="23560" idx="0"/>
          </p:cNvCxnSpPr>
          <p:nvPr/>
        </p:nvCxnSpPr>
        <p:spPr bwMode="auto">
          <a:xfrm>
            <a:off x="7653993" y="3200400"/>
            <a:ext cx="258366" cy="381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4" name="AutoShape 12">
            <a:extLst>
              <a:ext uri="{FF2B5EF4-FFF2-40B4-BE49-F238E27FC236}">
                <a16:creationId xmlns:a16="http://schemas.microsoft.com/office/drawing/2014/main" id="{15138B73-2FC5-7D1B-E8AC-00B9EBFC4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2618" y="20574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65" name="Line 13">
            <a:extLst>
              <a:ext uri="{FF2B5EF4-FFF2-40B4-BE49-F238E27FC236}">
                <a16:creationId xmlns:a16="http://schemas.microsoft.com/office/drawing/2014/main" id="{ABC8191C-40AF-3A61-6603-103CF24F3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3868" y="32766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66" name="AutoShape 14">
            <a:extLst>
              <a:ext uri="{FF2B5EF4-FFF2-40B4-BE49-F238E27FC236}">
                <a16:creationId xmlns:a16="http://schemas.microsoft.com/office/drawing/2014/main" id="{218A4C83-37E5-FA9D-B7F0-B43E56B494E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539818" y="50292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/>
          <a:lstStyle/>
          <a:p>
            <a:pPr algn="ctr"/>
            <a:r>
              <a:rPr lang="en-US" sz="1600" i="1" dirty="0">
                <a:latin typeface="Calibri" pitchFamily="34" charset="0"/>
              </a:rPr>
              <a:t>n</a:t>
            </a:r>
            <a:endParaRPr lang="en-US" sz="1600" dirty="0">
              <a:latin typeface="Calibri" pitchFamily="34" charset="0"/>
            </a:endParaRPr>
          </a:p>
        </p:txBody>
      </p:sp>
      <p:cxnSp>
        <p:nvCxnSpPr>
          <p:cNvPr id="23567" name="AutoShape 15">
            <a:extLst>
              <a:ext uri="{FF2B5EF4-FFF2-40B4-BE49-F238E27FC236}">
                <a16:creationId xmlns:a16="http://schemas.microsoft.com/office/drawing/2014/main" id="{6D65924A-8D3D-1EA4-6230-BA87E81A706E}"/>
              </a:ext>
            </a:extLst>
          </p:cNvPr>
          <p:cNvCxnSpPr>
            <a:cxnSpLocks noChangeShapeType="1"/>
            <a:stCxn id="23562" idx="3"/>
            <a:endCxn id="23566" idx="3"/>
          </p:cNvCxnSpPr>
          <p:nvPr/>
        </p:nvCxnSpPr>
        <p:spPr bwMode="auto">
          <a:xfrm rot="16200000" flipH="1">
            <a:off x="8280262" y="4626769"/>
            <a:ext cx="519112" cy="2857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68" name="AutoShape 16">
            <a:extLst>
              <a:ext uri="{FF2B5EF4-FFF2-40B4-BE49-F238E27FC236}">
                <a16:creationId xmlns:a16="http://schemas.microsoft.com/office/drawing/2014/main" id="{8BE1E888-B4A6-E8D0-03B8-977803A790BF}"/>
              </a:ext>
            </a:extLst>
          </p:cNvPr>
          <p:cNvCxnSpPr>
            <a:cxnSpLocks noChangeShapeType="1"/>
            <a:stCxn id="23560" idx="0"/>
          </p:cNvCxnSpPr>
          <p:nvPr/>
        </p:nvCxnSpPr>
        <p:spPr bwMode="auto">
          <a:xfrm flipH="1">
            <a:off x="7398009" y="3200400"/>
            <a:ext cx="255984" cy="381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9" name="Freeform 17">
            <a:extLst>
              <a:ext uri="{FF2B5EF4-FFF2-40B4-BE49-F238E27FC236}">
                <a16:creationId xmlns:a16="http://schemas.microsoft.com/office/drawing/2014/main" id="{2B7D4848-15AF-AA5B-19A6-273B18CC4CCE}"/>
              </a:ext>
            </a:extLst>
          </p:cNvPr>
          <p:cNvSpPr>
            <a:spLocks/>
          </p:cNvSpPr>
          <p:nvPr/>
        </p:nvSpPr>
        <p:spPr bwMode="auto">
          <a:xfrm>
            <a:off x="8177868" y="2362200"/>
            <a:ext cx="333375" cy="1828800"/>
          </a:xfrm>
          <a:custGeom>
            <a:avLst/>
            <a:gdLst>
              <a:gd name="T0" fmla="*/ 2147483647 w 280"/>
              <a:gd name="T1" fmla="*/ 0 h 1152"/>
              <a:gd name="T2" fmla="*/ 2147483647 w 280"/>
              <a:gd name="T3" fmla="*/ 2147483647 h 1152"/>
              <a:gd name="T4" fmla="*/ 2147483647 w 280"/>
              <a:gd name="T5" fmla="*/ 2147483647 h 1152"/>
              <a:gd name="T6" fmla="*/ 2147483647 w 280"/>
              <a:gd name="T7" fmla="*/ 2147483647 h 1152"/>
              <a:gd name="T8" fmla="*/ 2147483647 w 280"/>
              <a:gd name="T9" fmla="*/ 2147483647 h 1152"/>
              <a:gd name="T10" fmla="*/ 2147483647 w 280"/>
              <a:gd name="T11" fmla="*/ 2147483647 h 11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0"/>
              <a:gd name="T19" fmla="*/ 0 h 1152"/>
              <a:gd name="T20" fmla="*/ 280 w 280"/>
              <a:gd name="T21" fmla="*/ 1152 h 11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0" h="1152">
                <a:moveTo>
                  <a:pt x="40" y="0"/>
                </a:moveTo>
                <a:cubicBezTo>
                  <a:pt x="20" y="112"/>
                  <a:pt x="0" y="224"/>
                  <a:pt x="40" y="288"/>
                </a:cubicBezTo>
                <a:cubicBezTo>
                  <a:pt x="80" y="352"/>
                  <a:pt x="280" y="304"/>
                  <a:pt x="280" y="384"/>
                </a:cubicBezTo>
                <a:cubicBezTo>
                  <a:pt x="280" y="464"/>
                  <a:pt x="48" y="688"/>
                  <a:pt x="40" y="768"/>
                </a:cubicBezTo>
                <a:cubicBezTo>
                  <a:pt x="32" y="848"/>
                  <a:pt x="208" y="800"/>
                  <a:pt x="232" y="864"/>
                </a:cubicBezTo>
                <a:cubicBezTo>
                  <a:pt x="256" y="928"/>
                  <a:pt x="220" y="1040"/>
                  <a:pt x="184" y="115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cxnSp>
        <p:nvCxnSpPr>
          <p:cNvPr id="23570" name="AutoShape 18">
            <a:extLst>
              <a:ext uri="{FF2B5EF4-FFF2-40B4-BE49-F238E27FC236}">
                <a16:creationId xmlns:a16="http://schemas.microsoft.com/office/drawing/2014/main" id="{6EA45A03-CE32-F4E2-49D8-46926997A099}"/>
              </a:ext>
            </a:extLst>
          </p:cNvPr>
          <p:cNvCxnSpPr>
            <a:cxnSpLocks noChangeShapeType="1"/>
            <a:stCxn id="23562" idx="3"/>
          </p:cNvCxnSpPr>
          <p:nvPr/>
        </p:nvCxnSpPr>
        <p:spPr bwMode="auto">
          <a:xfrm flipH="1">
            <a:off x="8139768" y="4510088"/>
            <a:ext cx="257175" cy="5191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1" name="AutoShape 19">
            <a:extLst>
              <a:ext uri="{FF2B5EF4-FFF2-40B4-BE49-F238E27FC236}">
                <a16:creationId xmlns:a16="http://schemas.microsoft.com/office/drawing/2014/main" id="{6773C89D-404B-27F5-8427-8B7D792C500F}"/>
              </a:ext>
            </a:extLst>
          </p:cNvPr>
          <p:cNvCxnSpPr>
            <a:cxnSpLocks noChangeShapeType="1"/>
            <a:endCxn id="23564" idx="0"/>
          </p:cNvCxnSpPr>
          <p:nvPr/>
        </p:nvCxnSpPr>
        <p:spPr bwMode="auto">
          <a:xfrm flipH="1">
            <a:off x="8225493" y="1600200"/>
            <a:ext cx="314325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3" name="AutoShape 15">
            <a:extLst>
              <a:ext uri="{FF2B5EF4-FFF2-40B4-BE49-F238E27FC236}">
                <a16:creationId xmlns:a16="http://schemas.microsoft.com/office/drawing/2014/main" id="{0F5D3ED5-1F7D-D496-7F65-F95E3971CDD2}"/>
              </a:ext>
            </a:extLst>
          </p:cNvPr>
          <p:cNvCxnSpPr>
            <a:cxnSpLocks noChangeShapeType="1"/>
            <a:stCxn id="23566" idx="0"/>
          </p:cNvCxnSpPr>
          <p:nvPr/>
        </p:nvCxnSpPr>
        <p:spPr bwMode="auto">
          <a:xfrm rot="16200000" flipH="1">
            <a:off x="8639831" y="5376863"/>
            <a:ext cx="228600" cy="142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3574" name="AutoShape 18">
            <a:extLst>
              <a:ext uri="{FF2B5EF4-FFF2-40B4-BE49-F238E27FC236}">
                <a16:creationId xmlns:a16="http://schemas.microsoft.com/office/drawing/2014/main" id="{3EB82D28-55E3-C6C9-8872-11A65FFF1BA3}"/>
              </a:ext>
            </a:extLst>
          </p:cNvPr>
          <p:cNvCxnSpPr>
            <a:cxnSpLocks noChangeShapeType="1"/>
            <a:stCxn id="23566" idx="0"/>
          </p:cNvCxnSpPr>
          <p:nvPr/>
        </p:nvCxnSpPr>
        <p:spPr bwMode="auto">
          <a:xfrm rot="5400000">
            <a:off x="8309432" y="5479853"/>
            <a:ext cx="519113" cy="22740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5" name="AutoShape 15">
            <a:extLst>
              <a:ext uri="{FF2B5EF4-FFF2-40B4-BE49-F238E27FC236}">
                <a16:creationId xmlns:a16="http://schemas.microsoft.com/office/drawing/2014/main" id="{47A633AB-30DD-F988-8F4A-6D6F67B71133}"/>
              </a:ext>
            </a:extLst>
          </p:cNvPr>
          <p:cNvCxnSpPr>
            <a:cxnSpLocks noChangeShapeType="1"/>
            <a:stCxn id="23566" idx="0"/>
          </p:cNvCxnSpPr>
          <p:nvPr/>
        </p:nvCxnSpPr>
        <p:spPr bwMode="auto">
          <a:xfrm rot="16200000" flipH="1">
            <a:off x="8468381" y="5548313"/>
            <a:ext cx="457200" cy="285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Rectangle 2">
            <a:extLst>
              <a:ext uri="{FF2B5EF4-FFF2-40B4-BE49-F238E27FC236}">
                <a16:creationId xmlns:a16="http://schemas.microsoft.com/office/drawing/2014/main" id="{F9655C98-517A-E17F-CF75-77C4750EC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(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pruning)</a:t>
            </a:r>
          </a:p>
        </p:txBody>
      </p:sp>
    </p:spTree>
    <p:extLst>
      <p:ext uri="{BB962C8B-B14F-4D97-AF65-F5344CB8AC3E}">
        <p14:creationId xmlns:p14="http://schemas.microsoft.com/office/powerpoint/2010/main" val="3247567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120424" y="3048000"/>
            <a:ext cx="8680676" cy="3242235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571500" y="110285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Implementare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Alfa-Beta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retezare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20424" y="2900659"/>
            <a:ext cx="9023576" cy="2704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max-value(stare, </a:t>
            </a:r>
            <a:r>
              <a:rPr lang="el-GR" sz="2200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sz="2200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sz="2200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	//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</a:rPr>
              <a:t>nodul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</a:rPr>
              <a:t>n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</a:rPr>
              <a:t> e de tip MAX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, MAX are </a:t>
            </a:r>
            <a:r>
              <a:rPr lang="el-GR" sz="2200" dirty="0">
                <a:solidFill>
                  <a:srgbClr val="0066CC"/>
                </a:solidFill>
              </a:rPr>
              <a:t>α</a:t>
            </a:r>
            <a:r>
              <a:rPr lang="ro-RO" sz="2200" dirty="0">
                <a:solidFill>
                  <a:srgbClr val="0066CC"/>
                </a:solidFill>
              </a:rPr>
              <a:t>, </a:t>
            </a:r>
            <a:r>
              <a:rPr lang="ro-RO" sz="2200" dirty="0">
                <a:solidFill>
                  <a:srgbClr val="C00000"/>
                </a:solidFill>
              </a:rPr>
              <a:t>MIN are </a:t>
            </a:r>
            <a:r>
              <a:rPr lang="el-GR" sz="2200" dirty="0">
                <a:solidFill>
                  <a:srgbClr val="C00000"/>
                </a:solidFill>
              </a:rPr>
              <a:t>β</a:t>
            </a:r>
            <a:r>
              <a:rPr lang="ro-RO" sz="2200" dirty="0">
                <a:solidFill>
                  <a:srgbClr val="C00000"/>
                </a:solidFill>
              </a:rPr>
              <a:t> </a:t>
            </a:r>
            <a:r>
              <a:rPr lang="ro-RO" sz="2200" dirty="0">
                <a:solidFill>
                  <a:srgbClr val="0066CC"/>
                </a:solidFill>
              </a:rPr>
              <a:t>  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dirty="0" err="1">
                <a:latin typeface="Calibri" pitchFamily="34" charset="0"/>
              </a:rPr>
              <a:t>p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entru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succesor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al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stării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:	//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pentru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succesor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al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lui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n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sz="2000" kern="0" noProof="0" dirty="0">
                <a:latin typeface="Calibri" pitchFamily="34" charset="0"/>
              </a:rPr>
              <a:t>max(v,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sz="2000" kern="0" dirty="0">
                <a:latin typeface="Calibri" pitchFamily="34" charset="0"/>
              </a:rPr>
              <a:t>)   //</a:t>
            </a:r>
            <a:r>
              <a:rPr lang="en-US" sz="2000" kern="0" dirty="0" err="1">
                <a:latin typeface="Calibri" pitchFamily="34" charset="0"/>
              </a:rPr>
              <a:t>calculăm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valoarea</a:t>
            </a:r>
            <a:r>
              <a:rPr lang="en-US" sz="2000" kern="0" dirty="0">
                <a:latin typeface="Calibri" pitchFamily="34" charset="0"/>
              </a:rPr>
              <a:t> v </a:t>
            </a:r>
            <a:r>
              <a:rPr lang="en-US" sz="2000" kern="0" dirty="0" err="1">
                <a:latin typeface="Calibri" pitchFamily="34" charset="0"/>
              </a:rPr>
              <a:t>și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actualizăm</a:t>
            </a:r>
            <a:r>
              <a:rPr lang="en-US" sz="2000" kern="0" dirty="0">
                <a:latin typeface="Calibri" pitchFamily="34" charset="0"/>
              </a:rPr>
              <a:t> max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sz="2000" kern="0" baseline="0" dirty="0">
                <a:latin typeface="Calibri" pitchFamily="34" charset="0"/>
              </a:rPr>
              <a:t>if</a:t>
            </a:r>
            <a:r>
              <a:rPr lang="en-US" sz="2000" kern="0" dirty="0">
                <a:latin typeface="Calibri" pitchFamily="34" charset="0"/>
              </a:rPr>
              <a:t> v ≥ </a:t>
            </a:r>
            <a:r>
              <a:rPr lang="el-GR" sz="2000" kern="0" dirty="0">
                <a:latin typeface="Calibri" pitchFamily="34" charset="0"/>
              </a:rPr>
              <a:t>β</a:t>
            </a:r>
            <a:r>
              <a:rPr lang="en-US" sz="2000" kern="0" dirty="0">
                <a:latin typeface="Calibri" pitchFamily="34" charset="0"/>
              </a:rPr>
              <a:t> return v	//</a:t>
            </a:r>
            <a:r>
              <a:rPr lang="en-US" sz="2000" kern="0" dirty="0" err="1">
                <a:latin typeface="Calibri" pitchFamily="34" charset="0"/>
              </a:rPr>
              <a:t>dacă</a:t>
            </a:r>
            <a:r>
              <a:rPr lang="en-US" sz="2000" kern="0" dirty="0">
                <a:latin typeface="Calibri" pitchFamily="34" charset="0"/>
              </a:rPr>
              <a:t> v </a:t>
            </a:r>
            <a:r>
              <a:rPr lang="en-US" sz="2000" kern="0" dirty="0" err="1">
                <a:latin typeface="Calibri" pitchFamily="34" charset="0"/>
              </a:rPr>
              <a:t>depășește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limita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l-GR" sz="2000" dirty="0">
                <a:solidFill>
                  <a:srgbClr val="C00000"/>
                </a:solidFill>
              </a:rPr>
              <a:t>β</a:t>
            </a:r>
            <a:r>
              <a:rPr lang="ro-RO" sz="2000" dirty="0">
                <a:solidFill>
                  <a:srgbClr val="000000"/>
                </a:solidFill>
              </a:rPr>
              <a:t> a lui</a:t>
            </a:r>
            <a:r>
              <a:rPr lang="ro-RO" sz="2000" dirty="0">
                <a:solidFill>
                  <a:srgbClr val="C00000"/>
                </a:solidFill>
              </a:rPr>
              <a:t> MIN </a:t>
            </a:r>
            <a:r>
              <a:rPr lang="ro-RO" sz="2000" dirty="0">
                <a:solidFill>
                  <a:srgbClr val="000000"/>
                </a:solidFill>
              </a:rPr>
              <a:t>nu mai continuăm</a:t>
            </a:r>
            <a:endParaRPr lang="en-US" sz="2000" kern="0" dirty="0">
              <a:solidFill>
                <a:srgbClr val="000000"/>
              </a:solidFill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ro-RO" sz="2000" kern="0" dirty="0">
                <a:latin typeface="Calibri" pitchFamily="34" charset="0"/>
              </a:rPr>
              <a:t>				       // întoarcem în acest caz v  = o estimare a lui </a:t>
            </a:r>
            <a:r>
              <a:rPr lang="ro-RO" sz="2000" i="1" kern="0" dirty="0">
                <a:latin typeface="Calibri" pitchFamily="34" charset="0"/>
              </a:rPr>
              <a:t>n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 = max(</a:t>
            </a: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, v)       // </a:t>
            </a:r>
            <a:r>
              <a:rPr lang="en-US" sz="2000" kern="0" dirty="0" err="1">
                <a:latin typeface="Calibri" pitchFamily="34" charset="0"/>
              </a:rPr>
              <a:t>actualizăm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valoarea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l-GR" sz="2000" dirty="0">
                <a:solidFill>
                  <a:srgbClr val="0066CC"/>
                </a:solidFill>
              </a:rPr>
              <a:t>α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CF7B2-31C0-C012-490B-C05B366141F5}"/>
              </a:ext>
            </a:extLst>
          </p:cNvPr>
          <p:cNvSpPr/>
          <p:nvPr/>
        </p:nvSpPr>
        <p:spPr>
          <a:xfrm>
            <a:off x="120424" y="1526118"/>
            <a:ext cx="8933257" cy="1337807"/>
          </a:xfrm>
          <a:prstGeom prst="roundRect">
            <a:avLst/>
          </a:prstGeom>
          <a:solidFill>
            <a:srgbClr val="7030A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46B99E-A3EE-0BF8-A114-038614A54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9456"/>
            <a:ext cx="9144000" cy="1447800"/>
          </a:xfrm>
        </p:spPr>
        <p:txBody>
          <a:bodyPr>
            <a:normAutofit lnSpcReduction="10000"/>
          </a:bodyPr>
          <a:lstStyle/>
          <a:p>
            <a:pPr lvl="1" algn="ctr">
              <a:lnSpc>
                <a:spcPct val="80000"/>
              </a:lnSpc>
              <a:buNone/>
            </a:pPr>
            <a:r>
              <a:rPr lang="el-GR" sz="2200" dirty="0">
                <a:solidFill>
                  <a:srgbClr val="0066CC"/>
                </a:solidFill>
              </a:rPr>
              <a:t>α</a:t>
            </a:r>
            <a:r>
              <a:rPr lang="en-US" sz="2200" dirty="0">
                <a:solidFill>
                  <a:srgbClr val="0066CC"/>
                </a:solidFill>
              </a:rPr>
              <a:t>: </a:t>
            </a:r>
            <a:r>
              <a:rPr lang="en-US" sz="2200" dirty="0" err="1">
                <a:solidFill>
                  <a:srgbClr val="0066CC"/>
                </a:solidFill>
              </a:rPr>
              <a:t>opțiunea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curentă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cea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mai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bună</a:t>
            </a:r>
            <a:r>
              <a:rPr lang="en-US" sz="2200" dirty="0">
                <a:solidFill>
                  <a:srgbClr val="0066CC"/>
                </a:solidFill>
              </a:rPr>
              <a:t> a </a:t>
            </a:r>
            <a:r>
              <a:rPr lang="en-US" sz="2200" dirty="0" err="1">
                <a:solidFill>
                  <a:srgbClr val="0066CC"/>
                </a:solidFill>
              </a:rPr>
              <a:t>lui</a:t>
            </a:r>
            <a:r>
              <a:rPr lang="en-US" sz="2200" dirty="0">
                <a:solidFill>
                  <a:srgbClr val="0066CC"/>
                </a:solidFill>
              </a:rPr>
              <a:t> MAX (MAX </a:t>
            </a:r>
            <a:r>
              <a:rPr lang="en-US" sz="2200" dirty="0" err="1">
                <a:solidFill>
                  <a:srgbClr val="0066CC"/>
                </a:solidFill>
              </a:rPr>
              <a:t>vrea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să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maximizeze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l-GR" sz="2200" dirty="0">
                <a:solidFill>
                  <a:srgbClr val="0066CC"/>
                </a:solidFill>
              </a:rPr>
              <a:t>α</a:t>
            </a:r>
            <a:r>
              <a:rPr lang="ro-RO" sz="2200" dirty="0">
                <a:solidFill>
                  <a:srgbClr val="0066CC"/>
                </a:solidFill>
              </a:rPr>
              <a:t>) de la nodul curent la nodul rădăcină</a:t>
            </a:r>
            <a:endParaRPr lang="en-US" sz="2200" dirty="0">
              <a:solidFill>
                <a:srgbClr val="0070C0"/>
              </a:solidFill>
            </a:endParaRPr>
          </a:p>
          <a:p>
            <a:pPr lvl="1" algn="ctr">
              <a:lnSpc>
                <a:spcPct val="80000"/>
              </a:lnSpc>
              <a:buNone/>
            </a:pPr>
            <a:r>
              <a:rPr lang="el-GR" sz="2200" dirty="0">
                <a:solidFill>
                  <a:srgbClr val="C00000"/>
                </a:solidFill>
              </a:rPr>
              <a:t>β</a:t>
            </a:r>
            <a:r>
              <a:rPr lang="en-US" sz="2200" dirty="0">
                <a:solidFill>
                  <a:srgbClr val="C00000"/>
                </a:solidFill>
              </a:rPr>
              <a:t>:</a:t>
            </a:r>
            <a:r>
              <a:rPr lang="el-GR" sz="2200" dirty="0">
                <a:solidFill>
                  <a:srgbClr val="C00000"/>
                </a:solidFill>
              </a:rPr>
              <a:t> </a:t>
            </a:r>
            <a:r>
              <a:rPr lang="ro-RO" sz="2200" dirty="0">
                <a:solidFill>
                  <a:srgbClr val="C00000"/>
                </a:solidFill>
              </a:rPr>
              <a:t>opțiunea curentă cea mai bună a lui MIN (MIN vrea să minimizeze </a:t>
            </a:r>
            <a:r>
              <a:rPr lang="el-GR" sz="2200" dirty="0">
                <a:solidFill>
                  <a:srgbClr val="C00000"/>
                </a:solidFill>
              </a:rPr>
              <a:t>β</a:t>
            </a:r>
            <a:r>
              <a:rPr lang="ro-RO" sz="2200" dirty="0">
                <a:solidFill>
                  <a:srgbClr val="C00000"/>
                </a:solidFill>
              </a:rPr>
              <a:t>) de la nodul curent la nodul rădăcină</a:t>
            </a:r>
          </a:p>
          <a:p>
            <a:pPr lvl="1" algn="ctr">
              <a:lnSpc>
                <a:spcPct val="80000"/>
              </a:lnSpc>
              <a:buNone/>
            </a:pPr>
            <a:r>
              <a:rPr lang="ro-RO" sz="2200" dirty="0">
                <a:solidFill>
                  <a:srgbClr val="000000"/>
                </a:solidFill>
              </a:rPr>
              <a:t>Întotdeauna vom avea </a:t>
            </a:r>
            <a:r>
              <a:rPr lang="el-GR" sz="2200" dirty="0">
                <a:solidFill>
                  <a:srgbClr val="0066CC"/>
                </a:solidFill>
              </a:rPr>
              <a:t>α</a:t>
            </a:r>
            <a:r>
              <a:rPr lang="ro-RO" sz="2200" dirty="0">
                <a:solidFill>
                  <a:srgbClr val="0066CC"/>
                </a:solidFill>
              </a:rPr>
              <a:t> </a:t>
            </a:r>
            <a:r>
              <a:rPr lang="ro-RO" sz="2200" dirty="0">
                <a:solidFill>
                  <a:srgbClr val="000000"/>
                </a:solidFill>
              </a:rPr>
              <a:t>≤</a:t>
            </a:r>
            <a:r>
              <a:rPr lang="ro-RO" sz="2200" dirty="0">
                <a:solidFill>
                  <a:srgbClr val="0066CC"/>
                </a:solidFill>
              </a:rPr>
              <a:t> </a:t>
            </a:r>
            <a:r>
              <a:rPr lang="el-GR" sz="2200" dirty="0">
                <a:solidFill>
                  <a:srgbClr val="C00000"/>
                </a:solidFill>
              </a:rPr>
              <a:t>β</a:t>
            </a:r>
            <a:endParaRPr lang="en-US" sz="2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171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743450" y="3048000"/>
            <a:ext cx="4310232" cy="3242235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20424" y="3048000"/>
            <a:ext cx="4444734" cy="3242235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571500" y="110285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Implementare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Alfa-Beta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retezare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648722" y="3296607"/>
            <a:ext cx="4629094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def min-value(stare</a:t>
            </a:r>
            <a:r>
              <a:rPr lang="en-US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l-GR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v = </a:t>
            </a:r>
            <a:r>
              <a:rPr lang="en-US" sz="2000" kern="0" dirty="0">
                <a:latin typeface="Times New Roman" panose="02020603050405020304" pitchFamily="18" charset="0"/>
                <a:cs typeface="Times New Roman" pitchFamily="18" charset="0"/>
              </a:rPr>
              <a:t>+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stării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min(v,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 ≤ </a:t>
            </a: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returneaza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min(</a:t>
            </a: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75820" y="2900659"/>
            <a:ext cx="4741508" cy="1659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def max-value(stare, </a:t>
            </a:r>
            <a:r>
              <a:rPr lang="el-GR" sz="2200" kern="0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200" kern="0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200" kern="0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v = 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entru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stării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 = </a:t>
            </a:r>
            <a:r>
              <a:rPr lang="en-US" sz="2000" kern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≥ </a:t>
            </a: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returneaza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max(</a:t>
            </a: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70729C-AF79-3627-22C9-82E7D466AA02}"/>
              </a:ext>
            </a:extLst>
          </p:cNvPr>
          <p:cNvSpPr/>
          <p:nvPr/>
        </p:nvSpPr>
        <p:spPr>
          <a:xfrm>
            <a:off x="120424" y="1526118"/>
            <a:ext cx="8933257" cy="1337807"/>
          </a:xfrm>
          <a:prstGeom prst="roundRect">
            <a:avLst/>
          </a:prstGeom>
          <a:solidFill>
            <a:srgbClr val="7030A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D43362-60FC-F819-AF02-96972FE32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9456"/>
            <a:ext cx="9144000" cy="1447800"/>
          </a:xfrm>
        </p:spPr>
        <p:txBody>
          <a:bodyPr>
            <a:normAutofit lnSpcReduction="10000"/>
          </a:bodyPr>
          <a:lstStyle/>
          <a:p>
            <a:pPr lvl="1" algn="ctr">
              <a:lnSpc>
                <a:spcPct val="80000"/>
              </a:lnSpc>
              <a:buNone/>
            </a:pPr>
            <a:r>
              <a:rPr lang="el-GR" sz="2200" dirty="0">
                <a:solidFill>
                  <a:srgbClr val="0066CC"/>
                </a:solidFill>
              </a:rPr>
              <a:t>α</a:t>
            </a:r>
            <a:r>
              <a:rPr lang="en-US" sz="2200" dirty="0">
                <a:solidFill>
                  <a:srgbClr val="0066CC"/>
                </a:solidFill>
              </a:rPr>
              <a:t>: </a:t>
            </a:r>
            <a:r>
              <a:rPr lang="en-US" sz="2200" dirty="0" err="1">
                <a:solidFill>
                  <a:srgbClr val="0066CC"/>
                </a:solidFill>
              </a:rPr>
              <a:t>opțiunea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curentă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cea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mai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bună</a:t>
            </a:r>
            <a:r>
              <a:rPr lang="en-US" sz="2200" dirty="0">
                <a:solidFill>
                  <a:srgbClr val="0066CC"/>
                </a:solidFill>
              </a:rPr>
              <a:t> a </a:t>
            </a:r>
            <a:r>
              <a:rPr lang="en-US" sz="2200" dirty="0" err="1">
                <a:solidFill>
                  <a:srgbClr val="0066CC"/>
                </a:solidFill>
              </a:rPr>
              <a:t>lui</a:t>
            </a:r>
            <a:r>
              <a:rPr lang="en-US" sz="2200" dirty="0">
                <a:solidFill>
                  <a:srgbClr val="0066CC"/>
                </a:solidFill>
              </a:rPr>
              <a:t> MAX (MAX </a:t>
            </a:r>
            <a:r>
              <a:rPr lang="en-US" sz="2200" dirty="0" err="1">
                <a:solidFill>
                  <a:srgbClr val="0066CC"/>
                </a:solidFill>
              </a:rPr>
              <a:t>vrea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să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n-US" sz="2200" dirty="0" err="1">
                <a:solidFill>
                  <a:srgbClr val="0066CC"/>
                </a:solidFill>
              </a:rPr>
              <a:t>maximizeze</a:t>
            </a:r>
            <a:r>
              <a:rPr lang="en-US" sz="2200" dirty="0">
                <a:solidFill>
                  <a:srgbClr val="0066CC"/>
                </a:solidFill>
              </a:rPr>
              <a:t> </a:t>
            </a:r>
            <a:r>
              <a:rPr lang="el-GR" sz="2200" dirty="0">
                <a:solidFill>
                  <a:srgbClr val="0066CC"/>
                </a:solidFill>
              </a:rPr>
              <a:t>α</a:t>
            </a:r>
            <a:r>
              <a:rPr lang="ro-RO" sz="2200" dirty="0">
                <a:solidFill>
                  <a:srgbClr val="0066CC"/>
                </a:solidFill>
              </a:rPr>
              <a:t>) de la nodul curent la nodul rădăcină</a:t>
            </a:r>
            <a:endParaRPr lang="en-US" sz="2200" dirty="0">
              <a:solidFill>
                <a:srgbClr val="0070C0"/>
              </a:solidFill>
            </a:endParaRPr>
          </a:p>
          <a:p>
            <a:pPr lvl="1" algn="ctr">
              <a:lnSpc>
                <a:spcPct val="80000"/>
              </a:lnSpc>
              <a:buNone/>
            </a:pPr>
            <a:r>
              <a:rPr lang="el-GR" sz="2200" dirty="0">
                <a:solidFill>
                  <a:srgbClr val="C00000"/>
                </a:solidFill>
              </a:rPr>
              <a:t>β</a:t>
            </a:r>
            <a:r>
              <a:rPr lang="en-US" sz="2200" dirty="0">
                <a:solidFill>
                  <a:srgbClr val="C00000"/>
                </a:solidFill>
              </a:rPr>
              <a:t>:</a:t>
            </a:r>
            <a:r>
              <a:rPr lang="el-GR" sz="2200" dirty="0">
                <a:solidFill>
                  <a:srgbClr val="C00000"/>
                </a:solidFill>
              </a:rPr>
              <a:t> </a:t>
            </a:r>
            <a:r>
              <a:rPr lang="ro-RO" sz="2200" dirty="0">
                <a:solidFill>
                  <a:srgbClr val="C00000"/>
                </a:solidFill>
              </a:rPr>
              <a:t>opțiunea curentă cea mai bună a lui MIN (MIN vrea să minimizeze </a:t>
            </a:r>
            <a:r>
              <a:rPr lang="el-GR" sz="2200" dirty="0">
                <a:solidFill>
                  <a:srgbClr val="C00000"/>
                </a:solidFill>
              </a:rPr>
              <a:t>β</a:t>
            </a:r>
            <a:r>
              <a:rPr lang="ro-RO" sz="2200" dirty="0">
                <a:solidFill>
                  <a:srgbClr val="C00000"/>
                </a:solidFill>
              </a:rPr>
              <a:t>) de la nodul curent la nodul rădăcină</a:t>
            </a:r>
          </a:p>
          <a:p>
            <a:pPr lvl="1" algn="ctr">
              <a:lnSpc>
                <a:spcPct val="80000"/>
              </a:lnSpc>
              <a:buNone/>
            </a:pPr>
            <a:r>
              <a:rPr lang="ro-RO" sz="2200" dirty="0">
                <a:solidFill>
                  <a:srgbClr val="000000"/>
                </a:solidFill>
              </a:rPr>
              <a:t>Întotdeauna vom avea </a:t>
            </a:r>
            <a:r>
              <a:rPr lang="el-GR" sz="2200" dirty="0">
                <a:solidFill>
                  <a:srgbClr val="0066CC"/>
                </a:solidFill>
              </a:rPr>
              <a:t>α</a:t>
            </a:r>
            <a:r>
              <a:rPr lang="ro-RO" sz="2200" dirty="0">
                <a:solidFill>
                  <a:srgbClr val="0066CC"/>
                </a:solidFill>
              </a:rPr>
              <a:t> </a:t>
            </a:r>
            <a:r>
              <a:rPr lang="ro-RO" sz="2200" dirty="0">
                <a:solidFill>
                  <a:srgbClr val="000000"/>
                </a:solidFill>
              </a:rPr>
              <a:t>≤</a:t>
            </a:r>
            <a:r>
              <a:rPr lang="ro-RO" sz="2200" dirty="0">
                <a:solidFill>
                  <a:srgbClr val="0066CC"/>
                </a:solidFill>
              </a:rPr>
              <a:t> </a:t>
            </a:r>
            <a:r>
              <a:rPr lang="el-GR" sz="2200" dirty="0">
                <a:solidFill>
                  <a:srgbClr val="C00000"/>
                </a:solidFill>
              </a:rPr>
              <a:t>β</a:t>
            </a:r>
            <a:endParaRPr lang="en-US" sz="2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85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FDEA-C7BF-0033-86C8-F04B30F6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ft-Right-Up Arrow 8">
            <a:extLst>
              <a:ext uri="{FF2B5EF4-FFF2-40B4-BE49-F238E27FC236}">
                <a16:creationId xmlns:a16="http://schemas.microsoft.com/office/drawing/2014/main" id="{E7EFEB0D-4A16-4AC4-36F4-CA4CE5547896}"/>
              </a:ext>
            </a:extLst>
          </p:cNvPr>
          <p:cNvSpPr/>
          <p:nvPr/>
        </p:nvSpPr>
        <p:spPr>
          <a:xfrm>
            <a:off x="3771900" y="2895600"/>
            <a:ext cx="1600200" cy="2590800"/>
          </a:xfrm>
          <a:prstGeom prst="leftRightUpArrow">
            <a:avLst>
              <a:gd name="adj1" fmla="val 18522"/>
              <a:gd name="adj2" fmla="val 19062"/>
              <a:gd name="adj3" fmla="val 19062"/>
            </a:avLst>
          </a:prstGeom>
          <a:solidFill>
            <a:srgbClr val="BD92DE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F6EA61E-06D0-B8EB-675D-2006C6D5587A}"/>
              </a:ext>
            </a:extLst>
          </p:cNvPr>
          <p:cNvSpPr/>
          <p:nvPr/>
        </p:nvSpPr>
        <p:spPr>
          <a:xfrm>
            <a:off x="5372100" y="3962400"/>
            <a:ext cx="3752118" cy="2209800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40D9601-4C32-F8ED-4A2A-3E6E3AEC168C}"/>
              </a:ext>
            </a:extLst>
          </p:cNvPr>
          <p:cNvSpPr/>
          <p:nvPr/>
        </p:nvSpPr>
        <p:spPr>
          <a:xfrm>
            <a:off x="0" y="3962400"/>
            <a:ext cx="3714750" cy="2209800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118D40F-4F47-6F95-68F7-D5A8D196AAC2}"/>
              </a:ext>
            </a:extLst>
          </p:cNvPr>
          <p:cNvSpPr/>
          <p:nvPr/>
        </p:nvSpPr>
        <p:spPr>
          <a:xfrm>
            <a:off x="1876044" y="1086556"/>
            <a:ext cx="6173611" cy="2325511"/>
          </a:xfrm>
          <a:prstGeom prst="roundRect">
            <a:avLst/>
          </a:prstGeom>
          <a:solidFill>
            <a:srgbClr val="C39BE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398F1050-49EC-71BB-83A9-2A7B4ECDB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5379" y="990600"/>
            <a:ext cx="6059311" cy="3810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endParaRPr lang="en-US" sz="200" dirty="0">
              <a:latin typeface="Times New Roman"/>
              <a:cs typeface="Times New Roman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7030A0"/>
                </a:solidFill>
                <a:latin typeface="Times New Roman"/>
                <a:cs typeface="Times New Roman"/>
              </a:rPr>
              <a:t>def value(stare):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stare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o stare </a:t>
            </a:r>
            <a:r>
              <a:rPr lang="en-US" sz="2000" dirty="0" err="1">
                <a:latin typeface="Times New Roman"/>
                <a:cs typeface="Times New Roman"/>
              </a:rPr>
              <a:t>terminală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utilitatea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stării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următorul</a:t>
            </a:r>
            <a:r>
              <a:rPr lang="en-US" sz="2000" dirty="0">
                <a:latin typeface="Times New Roman"/>
                <a:cs typeface="Times New Roman"/>
              </a:rPr>
              <a:t> agent care </a:t>
            </a:r>
            <a:r>
              <a:rPr lang="en-US" sz="2000" dirty="0" err="1">
                <a:latin typeface="Times New Roman"/>
                <a:cs typeface="Times New Roman"/>
              </a:rPr>
              <a:t>mută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MAX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max-value(stare)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următorul</a:t>
            </a:r>
            <a:r>
              <a:rPr lang="en-US" sz="2000" dirty="0">
                <a:latin typeface="Times New Roman"/>
                <a:cs typeface="Times New Roman"/>
              </a:rPr>
              <a:t> agent care </a:t>
            </a:r>
            <a:r>
              <a:rPr lang="en-US" sz="2000" dirty="0" err="1">
                <a:latin typeface="Times New Roman"/>
                <a:cs typeface="Times New Roman"/>
              </a:rPr>
              <a:t>mută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/>
                <a:cs typeface="Times New Roman"/>
              </a:rPr>
              <a:t>MIN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/>
                <a:cs typeface="Times New Roman"/>
              </a:rPr>
              <a:t>min-value(stare)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AE8129-633D-E7AA-9204-9B7DA0CB1700}"/>
              </a:ext>
            </a:extLst>
          </p:cNvPr>
          <p:cNvSpPr txBox="1">
            <a:spLocks/>
          </p:cNvSpPr>
          <p:nvPr/>
        </p:nvSpPr>
        <p:spPr bwMode="auto">
          <a:xfrm>
            <a:off x="5414433" y="4027312"/>
            <a:ext cx="388834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 defTabSz="914400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sz="2400" kern="0" dirty="0">
                <a:solidFill>
                  <a:srgbClr val="C00000"/>
                </a:solidFill>
                <a:latin typeface="Times New Roman"/>
                <a:cs typeface="Times New Roman"/>
              </a:rPr>
              <a:t>def min-value(stare):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initializeaza</a:t>
            </a:r>
            <a:r>
              <a:rPr lang="en-US" sz="2000" kern="0" dirty="0">
                <a:latin typeface="Times New Roman"/>
                <a:cs typeface="Times New Roman"/>
              </a:rPr>
              <a:t> v = +∞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pentru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fiecare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succesor</a:t>
            </a:r>
            <a:r>
              <a:rPr lang="en-US" sz="2000" kern="0" dirty="0">
                <a:latin typeface="Times New Roman"/>
                <a:cs typeface="Times New Roman"/>
              </a:rPr>
              <a:t> al </a:t>
            </a:r>
            <a:r>
              <a:rPr lang="en-US" sz="2000" kern="0" dirty="0" err="1">
                <a:latin typeface="Times New Roman"/>
                <a:cs typeface="Times New Roman"/>
              </a:rPr>
              <a:t>stării</a:t>
            </a:r>
            <a:r>
              <a:rPr lang="en-US" sz="2000" kern="0" dirty="0">
                <a:latin typeface="Times New Roman"/>
                <a:cs typeface="Times New Roman"/>
              </a:rPr>
              <a:t>:</a:t>
            </a:r>
          </a:p>
          <a:p>
            <a:pPr marL="1142942" lvl="2" indent="-228589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kern="0" dirty="0">
                <a:latin typeface="Times New Roman"/>
                <a:cs typeface="Times New Roman"/>
              </a:rPr>
              <a:t>v = min(v, </a:t>
            </a:r>
            <a:r>
              <a:rPr lang="en-US" kern="0" dirty="0">
                <a:solidFill>
                  <a:srgbClr val="0070C0"/>
                </a:solidFill>
                <a:latin typeface="Times New Roman"/>
                <a:cs typeface="Times New Roman"/>
              </a:rPr>
              <a:t>value(successor)</a:t>
            </a:r>
            <a:r>
              <a:rPr lang="en-US" kern="0" dirty="0">
                <a:latin typeface="Times New Roman"/>
                <a:cs typeface="Times New Roman"/>
              </a:rPr>
              <a:t>)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returneaza</a:t>
            </a:r>
            <a:r>
              <a:rPr lang="en-US" sz="2000" kern="0" dirty="0">
                <a:latin typeface="Times New Roman"/>
                <a:cs typeface="Times New Roman"/>
              </a:rPr>
              <a:t> v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A5413F-EE22-ECA5-B61B-B3F096D14C87}"/>
              </a:ext>
            </a:extLst>
          </p:cNvPr>
          <p:cNvSpPr txBox="1">
            <a:spLocks/>
          </p:cNvSpPr>
          <p:nvPr/>
        </p:nvSpPr>
        <p:spPr bwMode="auto">
          <a:xfrm>
            <a:off x="-72697" y="4016023"/>
            <a:ext cx="4122587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 defTabSz="914400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sz="2400" kern="0" dirty="0" err="1">
                <a:solidFill>
                  <a:srgbClr val="0070C0"/>
                </a:solidFill>
                <a:latin typeface="Times New Roman"/>
                <a:cs typeface="Times New Roman"/>
              </a:rPr>
              <a:t>def</a:t>
            </a:r>
            <a:r>
              <a:rPr lang="en-US" sz="2400" kern="0" dirty="0">
                <a:solidFill>
                  <a:srgbClr val="0070C0"/>
                </a:solidFill>
                <a:latin typeface="Times New Roman"/>
                <a:cs typeface="Times New Roman"/>
              </a:rPr>
              <a:t> max-value(stare):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initializeaza</a:t>
            </a:r>
            <a:r>
              <a:rPr lang="en-US" sz="2000" kern="0" dirty="0">
                <a:latin typeface="Times New Roman"/>
                <a:cs typeface="Times New Roman"/>
              </a:rPr>
              <a:t> v = -∞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pentru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fiecare</a:t>
            </a:r>
            <a:r>
              <a:rPr lang="en-US" sz="2000" kern="0" dirty="0">
                <a:latin typeface="Times New Roman"/>
                <a:cs typeface="Times New Roman"/>
              </a:rPr>
              <a:t> successor al </a:t>
            </a:r>
            <a:r>
              <a:rPr lang="en-US" sz="2000" kern="0" dirty="0" err="1">
                <a:latin typeface="Times New Roman"/>
                <a:cs typeface="Times New Roman"/>
              </a:rPr>
              <a:t>starii</a:t>
            </a:r>
            <a:r>
              <a:rPr lang="en-US" sz="2000" kern="0" dirty="0">
                <a:latin typeface="Times New Roman"/>
                <a:cs typeface="Times New Roman"/>
              </a:rPr>
              <a:t>:</a:t>
            </a:r>
          </a:p>
          <a:p>
            <a:pPr marL="1142942" lvl="2" indent="-228589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kern="0" dirty="0">
                <a:latin typeface="Times New Roman"/>
                <a:cs typeface="Times New Roman"/>
              </a:rPr>
              <a:t>v = max(v, </a:t>
            </a:r>
            <a:r>
              <a:rPr lang="en-US" kern="0" dirty="0">
                <a:solidFill>
                  <a:srgbClr val="C00000"/>
                </a:solidFill>
                <a:latin typeface="Times New Roman"/>
                <a:cs typeface="Times New Roman"/>
              </a:rPr>
              <a:t>value(successor)</a:t>
            </a:r>
            <a:r>
              <a:rPr lang="en-US" kern="0" dirty="0">
                <a:latin typeface="Times New Roman"/>
                <a:cs typeface="Times New Roman"/>
              </a:rPr>
              <a:t>)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returneaza</a:t>
            </a:r>
            <a:r>
              <a:rPr lang="en-US" sz="2000" kern="0" dirty="0">
                <a:latin typeface="Times New Roman"/>
                <a:cs typeface="Times New Roman"/>
              </a:rPr>
              <a:t> v</a:t>
            </a: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242AAA6-D9D0-E96A-485F-A9F095C3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Implementare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C663D8-581D-8706-4E4F-B35378F32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9" y="6321604"/>
            <a:ext cx="3640461" cy="536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3D721F-3133-6B00-DF75-4625D1D5F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27" y="6267599"/>
            <a:ext cx="3876673" cy="57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2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F0A8-23A2-09C9-AE78-B92B8614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3D3A60-4425-6EF0-F6FD-6A262748ECE3}"/>
              </a:ext>
            </a:extLst>
          </p:cNvPr>
          <p:cNvSpPr/>
          <p:nvPr/>
        </p:nvSpPr>
        <p:spPr>
          <a:xfrm>
            <a:off x="1876044" y="1086556"/>
            <a:ext cx="6173611" cy="2325511"/>
          </a:xfrm>
          <a:prstGeom prst="roundRect">
            <a:avLst/>
          </a:prstGeom>
          <a:solidFill>
            <a:srgbClr val="C39BE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F3AB8B7F-9B78-41A1-FAA9-86E1C38E2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5379" y="990600"/>
            <a:ext cx="6059311" cy="3810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endParaRPr lang="en-US" sz="200" dirty="0">
              <a:latin typeface="Times New Roman"/>
              <a:cs typeface="Times New Roman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7030A0"/>
                </a:solidFill>
                <a:latin typeface="Times New Roman"/>
                <a:cs typeface="Times New Roman"/>
              </a:rPr>
              <a:t>def value(stare,</a:t>
            </a:r>
            <a:r>
              <a:rPr lang="el-GR" sz="2400" kern="0" dirty="0">
                <a:solidFill>
                  <a:srgbClr val="7030A0"/>
                </a:solidFill>
                <a:latin typeface="Calibri" pitchFamily="34" charset="0"/>
              </a:rPr>
              <a:t> α</a:t>
            </a:r>
            <a:r>
              <a:rPr lang="en-US" sz="24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lang="en-US" sz="2400" dirty="0">
                <a:solidFill>
                  <a:srgbClr val="7030A0"/>
                </a:solidFill>
                <a:latin typeface="Times New Roman"/>
                <a:cs typeface="Times New Roman"/>
              </a:rPr>
              <a:t>):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stare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o stare </a:t>
            </a:r>
            <a:r>
              <a:rPr lang="en-US" sz="2000" dirty="0" err="1">
                <a:latin typeface="Times New Roman"/>
                <a:cs typeface="Times New Roman"/>
              </a:rPr>
              <a:t>terminală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utilitatea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stării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următorul</a:t>
            </a:r>
            <a:r>
              <a:rPr lang="en-US" sz="2000" dirty="0">
                <a:latin typeface="Times New Roman"/>
                <a:cs typeface="Times New Roman"/>
              </a:rPr>
              <a:t> agent care </a:t>
            </a:r>
            <a:r>
              <a:rPr lang="en-US" sz="2000" dirty="0" err="1">
                <a:latin typeface="Times New Roman"/>
                <a:cs typeface="Times New Roman"/>
              </a:rPr>
              <a:t>mută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MAX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max-value(stare, </a:t>
            </a:r>
            <a:r>
              <a:rPr lang="el-GR" sz="2000" kern="0" dirty="0">
                <a:solidFill>
                  <a:srgbClr val="0070C0"/>
                </a:solidFill>
                <a:latin typeface="Calibri" pitchFamily="34" charset="0"/>
              </a:rPr>
              <a:t>α</a:t>
            </a:r>
            <a:r>
              <a:rPr lang="en-US" sz="2000" kern="0" dirty="0">
                <a:solidFill>
                  <a:srgbClr val="0070C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0070C0"/>
                </a:solidFill>
                <a:latin typeface="Calibri" pitchFamily="34" charset="0"/>
              </a:rPr>
              <a:t>β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)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următorul</a:t>
            </a:r>
            <a:r>
              <a:rPr lang="en-US" sz="2000" dirty="0">
                <a:latin typeface="Times New Roman"/>
                <a:cs typeface="Times New Roman"/>
              </a:rPr>
              <a:t> agent care </a:t>
            </a:r>
            <a:r>
              <a:rPr lang="en-US" sz="2000" dirty="0" err="1">
                <a:latin typeface="Times New Roman"/>
                <a:cs typeface="Times New Roman"/>
              </a:rPr>
              <a:t>mută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MIN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min-value(stare, </a:t>
            </a:r>
            <a:r>
              <a:rPr lang="el-GR" sz="2000" kern="0" dirty="0">
                <a:solidFill>
                  <a:srgbClr val="FF0000"/>
                </a:solidFill>
                <a:latin typeface="Calibri" pitchFamily="34" charset="0"/>
              </a:rPr>
              <a:t>α</a:t>
            </a:r>
            <a:r>
              <a:rPr lang="en-US" sz="2000" kern="0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FF0000"/>
                </a:solidFill>
                <a:latin typeface="Calibri" pitchFamily="34" charset="0"/>
              </a:rPr>
              <a:t>β</a:t>
            </a:r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EBD7084-7D19-2FC2-123D-013213628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Implementare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Alfa-Beta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retezare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DC88C3C-567B-606D-735F-14EB254C0AA6}"/>
              </a:ext>
            </a:extLst>
          </p:cNvPr>
          <p:cNvSpPr/>
          <p:nvPr/>
        </p:nvSpPr>
        <p:spPr>
          <a:xfrm>
            <a:off x="4743450" y="3563006"/>
            <a:ext cx="4310232" cy="3242235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0B39910-8F3D-73AE-4F49-745E4C0F7AE3}"/>
              </a:ext>
            </a:extLst>
          </p:cNvPr>
          <p:cNvSpPr/>
          <p:nvPr/>
        </p:nvSpPr>
        <p:spPr>
          <a:xfrm>
            <a:off x="120424" y="3563006"/>
            <a:ext cx="4444734" cy="3242235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3EDBBF-998A-7C88-E73C-EDEFCBC526D6}"/>
              </a:ext>
            </a:extLst>
          </p:cNvPr>
          <p:cNvSpPr txBox="1">
            <a:spLocks/>
          </p:cNvSpPr>
          <p:nvPr/>
        </p:nvSpPr>
        <p:spPr bwMode="auto">
          <a:xfrm>
            <a:off x="90318" y="3668649"/>
            <a:ext cx="4741508" cy="1659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def max-value(stare, </a:t>
            </a:r>
            <a:r>
              <a:rPr lang="el-GR" sz="2200" kern="0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200" kern="0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200" kern="0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v = 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entru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stării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 = </a:t>
            </a:r>
            <a:r>
              <a:rPr lang="en-US" sz="2000" kern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≥ </a:t>
            </a: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returneaza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max(</a:t>
            </a: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DAA679-A1FB-22C2-6A8F-1BD49A98F8E8}"/>
              </a:ext>
            </a:extLst>
          </p:cNvPr>
          <p:cNvSpPr txBox="1">
            <a:spLocks/>
          </p:cNvSpPr>
          <p:nvPr/>
        </p:nvSpPr>
        <p:spPr bwMode="auto">
          <a:xfrm>
            <a:off x="4667587" y="4074576"/>
            <a:ext cx="4629094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def min-value(stare</a:t>
            </a:r>
            <a:r>
              <a:rPr lang="en-US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l-GR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v = </a:t>
            </a:r>
            <a:r>
              <a:rPr lang="en-US" sz="2000" kern="0" dirty="0">
                <a:latin typeface="Times New Roman" panose="02020603050405020304" pitchFamily="18" charset="0"/>
                <a:cs typeface="Times New Roman" pitchFamily="18" charset="0"/>
              </a:rPr>
              <a:t>+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stării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min(v,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 ≤ </a:t>
            </a: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returneaza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min(</a:t>
            </a:r>
            <a:r>
              <a:rPr lang="el-GR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34570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Exemplu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MiniMax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21507" name="AutoShape 4"/>
          <p:cNvSpPr>
            <a:spLocks noChangeArrowheads="1"/>
          </p:cNvSpPr>
          <p:nvPr/>
        </p:nvSpPr>
        <p:spPr bwMode="auto">
          <a:xfrm>
            <a:off x="4270375" y="2209800"/>
            <a:ext cx="381000" cy="304800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1981200" y="3765550"/>
            <a:ext cx="381000" cy="1187450"/>
            <a:chOff x="1981200" y="3765550"/>
            <a:chExt cx="381000" cy="1187450"/>
          </a:xfrm>
        </p:grpSpPr>
        <p:cxnSp>
          <p:nvCxnSpPr>
            <p:cNvPr id="21550" name="AutoShape 13"/>
            <p:cNvCxnSpPr>
              <a:cxnSpLocks noChangeShapeType="1"/>
              <a:stCxn id="21542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51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173288" y="3765550"/>
            <a:ext cx="950912" cy="1187450"/>
            <a:chOff x="2173288" y="3765550"/>
            <a:chExt cx="950912" cy="1187450"/>
          </a:xfrm>
        </p:grpSpPr>
        <p:cxnSp>
          <p:nvCxnSpPr>
            <p:cNvPr id="21548" name="AutoShape 17"/>
            <p:cNvCxnSpPr>
              <a:cxnSpLocks noChangeShapeType="1"/>
              <a:stCxn id="21542" idx="0"/>
            </p:cNvCxnSpPr>
            <p:nvPr/>
          </p:nvCxnSpPr>
          <p:spPr bwMode="auto">
            <a:xfrm>
              <a:off x="2173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9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6553200" y="3765550"/>
            <a:ext cx="381000" cy="1187450"/>
            <a:chOff x="6553200" y="3765550"/>
            <a:chExt cx="381000" cy="1187450"/>
          </a:xfrm>
        </p:grpSpPr>
        <p:cxnSp>
          <p:nvCxnSpPr>
            <p:cNvPr id="21546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7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6745288" y="3765550"/>
            <a:ext cx="950912" cy="1187450"/>
            <a:chOff x="6745288" y="3765550"/>
            <a:chExt cx="950912" cy="1187450"/>
          </a:xfrm>
        </p:grpSpPr>
        <p:cxnSp>
          <p:nvCxnSpPr>
            <p:cNvPr id="21544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5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1984375" y="2514600"/>
            <a:ext cx="2476500" cy="1250950"/>
            <a:chOff x="1984375" y="2514600"/>
            <a:chExt cx="2476501" cy="1250950"/>
          </a:xfrm>
        </p:grpSpPr>
        <p:sp>
          <p:nvSpPr>
            <p:cNvPr id="21542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43" name="AutoShape 7"/>
            <p:cNvCxnSpPr>
              <a:cxnSpLocks noChangeShapeType="1"/>
              <a:stCxn id="21507" idx="3"/>
              <a:endCxn id="21542" idx="3"/>
            </p:cNvCxnSpPr>
            <p:nvPr/>
          </p:nvCxnSpPr>
          <p:spPr bwMode="auto">
            <a:xfrm flipH="1">
              <a:off x="2173288" y="2514600"/>
              <a:ext cx="2287588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21542" idx="0"/>
          </p:cNvCxnSpPr>
          <p:nvPr/>
        </p:nvCxnSpPr>
        <p:spPr bwMode="auto">
          <a:xfrm flipH="1">
            <a:off x="1412876" y="3765552"/>
            <a:ext cx="760413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219200" y="4648200"/>
            <a:ext cx="38100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4304507" y="2666207"/>
            <a:ext cx="304800" cy="1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21507" idx="3"/>
          </p:cNvCxnSpPr>
          <p:nvPr/>
        </p:nvCxnSpPr>
        <p:spPr bwMode="auto">
          <a:xfrm rot="16200000" flipH="1">
            <a:off x="4630738" y="2344739"/>
            <a:ext cx="228600" cy="568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020094" y="3913982"/>
            <a:ext cx="304800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21542" idx="0"/>
          </p:cNvCxnSpPr>
          <p:nvPr/>
        </p:nvCxnSpPr>
        <p:spPr bwMode="auto">
          <a:xfrm rot="16200000" flipH="1">
            <a:off x="2170113" y="3770312"/>
            <a:ext cx="196850" cy="187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4270375" y="2514602"/>
            <a:ext cx="381000" cy="1235075"/>
            <a:chOff x="4270375" y="2514600"/>
            <a:chExt cx="381000" cy="1235075"/>
          </a:xfrm>
        </p:grpSpPr>
        <p:sp>
          <p:nvSpPr>
            <p:cNvPr id="21540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D9969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41" name="AutoShape 21"/>
            <p:cNvCxnSpPr>
              <a:cxnSpLocks noChangeShapeType="1"/>
              <a:stCxn id="21507" idx="3"/>
              <a:endCxn id="21540" idx="3"/>
            </p:cNvCxnSpPr>
            <p:nvPr/>
          </p:nvCxnSpPr>
          <p:spPr bwMode="auto">
            <a:xfrm flipH="1">
              <a:off x="4459288" y="2514600"/>
              <a:ext cx="1588" cy="9302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3505200" y="3762377"/>
            <a:ext cx="1143000" cy="1190625"/>
            <a:chOff x="3505200" y="3762375"/>
            <a:chExt cx="1142999" cy="1190625"/>
          </a:xfrm>
        </p:grpSpPr>
        <p:cxnSp>
          <p:nvCxnSpPr>
            <p:cNvPr id="21536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37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21538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39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4460875" y="2514600"/>
            <a:ext cx="2476500" cy="1250950"/>
            <a:chOff x="4460875" y="2514600"/>
            <a:chExt cx="2476500" cy="1250950"/>
          </a:xfrm>
        </p:grpSpPr>
        <p:sp>
          <p:nvSpPr>
            <p:cNvPr id="21534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D9969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35" name="AutoShape 27"/>
            <p:cNvCxnSpPr>
              <a:cxnSpLocks noChangeShapeType="1"/>
              <a:stCxn id="21507" idx="3"/>
              <a:endCxn id="21534" idx="3"/>
            </p:cNvCxnSpPr>
            <p:nvPr/>
          </p:nvCxnSpPr>
          <p:spPr bwMode="auto">
            <a:xfrm>
              <a:off x="4460875" y="2514600"/>
              <a:ext cx="228441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5791200" y="3762377"/>
            <a:ext cx="1143000" cy="1190625"/>
            <a:chOff x="5791200" y="3762375"/>
            <a:chExt cx="1142999" cy="1190625"/>
          </a:xfrm>
        </p:grpSpPr>
        <p:cxnSp>
          <p:nvCxnSpPr>
            <p:cNvPr id="21530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31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21532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33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4267200" y="3765550"/>
            <a:ext cx="381000" cy="1187450"/>
            <a:chOff x="6553200" y="3765550"/>
            <a:chExt cx="381000" cy="1187450"/>
          </a:xfrm>
        </p:grpSpPr>
        <p:cxnSp>
          <p:nvCxnSpPr>
            <p:cNvPr id="21528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29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4459288" y="3765550"/>
            <a:ext cx="950912" cy="1187450"/>
            <a:chOff x="6745288" y="3765550"/>
            <a:chExt cx="950912" cy="1187450"/>
          </a:xfrm>
        </p:grpSpPr>
        <p:cxnSp>
          <p:nvCxnSpPr>
            <p:cNvPr id="21526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27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6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033867" y="3373807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8201" y="3362256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267" y="3380826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8352" y="2209800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0" y="2194089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0" y="3348230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189345252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60876" y="123071"/>
            <a:ext cx="4796246" cy="2862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4" name="TextBox 103"/>
          <p:cNvSpPr txBox="1"/>
          <p:nvPr/>
        </p:nvSpPr>
        <p:spPr>
          <a:xfrm>
            <a:off x="99556" y="2194302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AEF333-448D-ECA3-B9F9-F99EF2545FE6}"/>
              </a:ext>
            </a:extLst>
          </p:cNvPr>
          <p:cNvSpPr txBox="1"/>
          <p:nvPr/>
        </p:nvSpPr>
        <p:spPr>
          <a:xfrm>
            <a:off x="2915548" y="197988"/>
            <a:ext cx="8030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C8B2D-59B2-54BD-16D0-BAE869211077}"/>
              </a:ext>
            </a:extLst>
          </p:cNvPr>
          <p:cNvSpPr txBox="1"/>
          <p:nvPr/>
        </p:nvSpPr>
        <p:spPr>
          <a:xfrm>
            <a:off x="1533374" y="2337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901DC-4937-9FDA-2EC3-9376A16424E3}"/>
              </a:ext>
            </a:extLst>
          </p:cNvPr>
          <p:cNvSpPr txBox="1"/>
          <p:nvPr/>
        </p:nvSpPr>
        <p:spPr>
          <a:xfrm>
            <a:off x="268369" y="95550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D7606B-704D-6D33-CDF2-1B72A4E77472}"/>
              </a:ext>
            </a:extLst>
          </p:cNvPr>
          <p:cNvSpPr/>
          <p:nvPr/>
        </p:nvSpPr>
        <p:spPr>
          <a:xfrm>
            <a:off x="120424" y="3048000"/>
            <a:ext cx="4571594" cy="2548179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6F5D27C-2B22-A990-6922-8D17C5F13033}"/>
              </a:ext>
            </a:extLst>
          </p:cNvPr>
          <p:cNvSpPr txBox="1">
            <a:spLocks/>
          </p:cNvSpPr>
          <p:nvPr/>
        </p:nvSpPr>
        <p:spPr bwMode="auto">
          <a:xfrm>
            <a:off x="120424" y="2900659"/>
            <a:ext cx="4552315" cy="1659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max-value(stare, </a:t>
            </a:r>
            <a:r>
              <a:rPr lang="el-GR" sz="2200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sz="2200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sz="2200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dirty="0" err="1">
                <a:latin typeface="Calibri" pitchFamily="34" charset="0"/>
              </a:rPr>
              <a:t>p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entru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succesor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al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stării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sz="2000" kern="0" noProof="0" dirty="0">
                <a:latin typeface="Calibri" pitchFamily="34" charset="0"/>
              </a:rPr>
              <a:t>max(v,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sz="2000" kern="0" dirty="0">
                <a:latin typeface="Calibri" pitchFamily="34" charset="0"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baseline="0" dirty="0">
                <a:latin typeface="Calibri" pitchFamily="34" charset="0"/>
              </a:rPr>
              <a:t>if</a:t>
            </a:r>
            <a:r>
              <a:rPr lang="en-US" sz="2000" kern="0" dirty="0">
                <a:latin typeface="Calibri" pitchFamily="34" charset="0"/>
              </a:rPr>
              <a:t> v ≥ </a:t>
            </a:r>
            <a:r>
              <a:rPr lang="el-GR" sz="2000" kern="0" dirty="0">
                <a:latin typeface="Calibri" pitchFamily="34" charset="0"/>
              </a:rPr>
              <a:t>β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returneaza</a:t>
            </a:r>
            <a:r>
              <a:rPr lang="en-US" sz="2000" kern="0" dirty="0">
                <a:latin typeface="Calibri" pitchFamily="34" charset="0"/>
              </a:rPr>
              <a:t>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 = max(</a:t>
            </a: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141174325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60876" y="123071"/>
            <a:ext cx="4796246" cy="2862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4" name="TextBox 103"/>
          <p:cNvSpPr txBox="1"/>
          <p:nvPr/>
        </p:nvSpPr>
        <p:spPr>
          <a:xfrm>
            <a:off x="99556" y="2194302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AEF333-448D-ECA3-B9F9-F99EF2545FE6}"/>
              </a:ext>
            </a:extLst>
          </p:cNvPr>
          <p:cNvSpPr txBox="1"/>
          <p:nvPr/>
        </p:nvSpPr>
        <p:spPr>
          <a:xfrm>
            <a:off x="2915548" y="197988"/>
            <a:ext cx="8030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C8B2D-59B2-54BD-16D0-BAE869211077}"/>
              </a:ext>
            </a:extLst>
          </p:cNvPr>
          <p:cNvSpPr txBox="1"/>
          <p:nvPr/>
        </p:nvSpPr>
        <p:spPr>
          <a:xfrm>
            <a:off x="1533374" y="2337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901DC-4937-9FDA-2EC3-9376A16424E3}"/>
              </a:ext>
            </a:extLst>
          </p:cNvPr>
          <p:cNvSpPr txBox="1"/>
          <p:nvPr/>
        </p:nvSpPr>
        <p:spPr>
          <a:xfrm>
            <a:off x="268369" y="95550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FC7B9-BFF2-E1B0-BD51-2BFCC78C7713}"/>
              </a:ext>
            </a:extLst>
          </p:cNvPr>
          <p:cNvSpPr txBox="1"/>
          <p:nvPr/>
        </p:nvSpPr>
        <p:spPr>
          <a:xfrm>
            <a:off x="465438" y="741822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2B53EB4-B3D8-FF9A-2225-49A4B2E03896}"/>
              </a:ext>
            </a:extLst>
          </p:cNvPr>
          <p:cNvSpPr/>
          <p:nvPr/>
        </p:nvSpPr>
        <p:spPr>
          <a:xfrm>
            <a:off x="188421" y="3490218"/>
            <a:ext cx="4458191" cy="2500679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87905F-0129-2F27-587D-B9857EECE65F}"/>
              </a:ext>
            </a:extLst>
          </p:cNvPr>
          <p:cNvSpPr txBox="1">
            <a:spLocks/>
          </p:cNvSpPr>
          <p:nvPr/>
        </p:nvSpPr>
        <p:spPr bwMode="auto">
          <a:xfrm>
            <a:off x="149448" y="3705372"/>
            <a:ext cx="4672333" cy="2386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min-value(stare</a:t>
            </a:r>
            <a:r>
              <a:rPr lang="en-US" sz="2400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sz="2400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sz="2400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Calibri" pitchFamily="34" charset="0"/>
              </a:rPr>
              <a:t>pentru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fiecare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succesor</a:t>
            </a:r>
            <a:r>
              <a:rPr lang="en-US" sz="2000" kern="0" dirty="0">
                <a:latin typeface="Calibri" pitchFamily="34" charset="0"/>
              </a:rPr>
              <a:t> al </a:t>
            </a:r>
            <a:r>
              <a:rPr lang="en-US" sz="2000" kern="0" dirty="0" err="1">
                <a:latin typeface="Calibri" pitchFamily="34" charset="0"/>
              </a:rPr>
              <a:t>stării</a:t>
            </a:r>
            <a:r>
              <a:rPr lang="en-US" sz="2000" kern="0" dirty="0">
                <a:latin typeface="Calibri" pitchFamily="34" charset="0"/>
              </a:rPr>
              <a:t>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Calibri" pitchFamily="34" charset="0"/>
              </a:rPr>
              <a:t>v = min(v,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Calibri" pitchFamily="34" charset="0"/>
              </a:rPr>
              <a:t>if v ≤ </a:t>
            </a: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returneaza</a:t>
            </a:r>
            <a:r>
              <a:rPr lang="en-US" sz="2000" kern="0" dirty="0">
                <a:latin typeface="Calibri" pitchFamily="34" charset="0"/>
              </a:rPr>
              <a:t> v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Calibri" pitchFamily="34" charset="0"/>
              </a:rPr>
              <a:t>β </a:t>
            </a:r>
            <a:r>
              <a:rPr lang="en-US" sz="2000" kern="0" dirty="0">
                <a:latin typeface="Calibri" pitchFamily="34" charset="0"/>
              </a:rPr>
              <a:t>= min(</a:t>
            </a:r>
            <a:r>
              <a:rPr lang="el-GR" sz="2000" kern="0" dirty="0">
                <a:latin typeface="Calibri" pitchFamily="34" charset="0"/>
              </a:rPr>
              <a:t>β</a:t>
            </a:r>
            <a:r>
              <a:rPr lang="en-US" sz="2000" kern="0" dirty="0">
                <a:latin typeface="Calibri" pitchFamily="34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309319201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60876" y="123071"/>
            <a:ext cx="4796246" cy="2862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4" name="TextBox 103"/>
          <p:cNvSpPr txBox="1"/>
          <p:nvPr/>
        </p:nvSpPr>
        <p:spPr>
          <a:xfrm>
            <a:off x="99556" y="2194302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AEF333-448D-ECA3-B9F9-F99EF2545FE6}"/>
              </a:ext>
            </a:extLst>
          </p:cNvPr>
          <p:cNvSpPr txBox="1"/>
          <p:nvPr/>
        </p:nvSpPr>
        <p:spPr>
          <a:xfrm>
            <a:off x="2915548" y="197988"/>
            <a:ext cx="8030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C8B2D-59B2-54BD-16D0-BAE869211077}"/>
              </a:ext>
            </a:extLst>
          </p:cNvPr>
          <p:cNvSpPr txBox="1"/>
          <p:nvPr/>
        </p:nvSpPr>
        <p:spPr>
          <a:xfrm>
            <a:off x="1533374" y="2337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901DC-4937-9FDA-2EC3-9376A16424E3}"/>
              </a:ext>
            </a:extLst>
          </p:cNvPr>
          <p:cNvSpPr txBox="1"/>
          <p:nvPr/>
        </p:nvSpPr>
        <p:spPr>
          <a:xfrm>
            <a:off x="268369" y="95550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CD895-D875-3E11-1711-A217BD4A2F17}"/>
              </a:ext>
            </a:extLst>
          </p:cNvPr>
          <p:cNvSpPr txBox="1"/>
          <p:nvPr/>
        </p:nvSpPr>
        <p:spPr>
          <a:xfrm>
            <a:off x="471827" y="734027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E765B0-4C3C-2629-D83F-29D786864771}"/>
              </a:ext>
            </a:extLst>
          </p:cNvPr>
          <p:cNvSpPr/>
          <p:nvPr/>
        </p:nvSpPr>
        <p:spPr>
          <a:xfrm>
            <a:off x="188421" y="3490218"/>
            <a:ext cx="4458191" cy="2500679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C16F3D-F018-0283-31A7-F3E205B79033}"/>
              </a:ext>
            </a:extLst>
          </p:cNvPr>
          <p:cNvSpPr txBox="1">
            <a:spLocks/>
          </p:cNvSpPr>
          <p:nvPr/>
        </p:nvSpPr>
        <p:spPr bwMode="auto">
          <a:xfrm>
            <a:off x="149448" y="3705372"/>
            <a:ext cx="4672333" cy="2386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min-value(stare</a:t>
            </a:r>
            <a:r>
              <a:rPr lang="en-US" sz="2400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sz="2400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sz="2400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Calibri" pitchFamily="34" charset="0"/>
              </a:rPr>
              <a:t>pentru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fiecare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succesor</a:t>
            </a:r>
            <a:r>
              <a:rPr lang="en-US" sz="2000" kern="0" dirty="0">
                <a:latin typeface="Calibri" pitchFamily="34" charset="0"/>
              </a:rPr>
              <a:t> al </a:t>
            </a:r>
            <a:r>
              <a:rPr lang="en-US" sz="2000" kern="0" dirty="0" err="1">
                <a:latin typeface="Calibri" pitchFamily="34" charset="0"/>
              </a:rPr>
              <a:t>stării</a:t>
            </a:r>
            <a:r>
              <a:rPr lang="en-US" sz="2000" kern="0" dirty="0">
                <a:latin typeface="Calibri" pitchFamily="34" charset="0"/>
              </a:rPr>
              <a:t>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Calibri" pitchFamily="34" charset="0"/>
              </a:rPr>
              <a:t>v = min(v,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Calibri" pitchFamily="34" charset="0"/>
              </a:rPr>
              <a:t>if v ≤ </a:t>
            </a: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returneaza</a:t>
            </a:r>
            <a:r>
              <a:rPr lang="en-US" sz="2000" kern="0" dirty="0">
                <a:latin typeface="Calibri" pitchFamily="34" charset="0"/>
              </a:rPr>
              <a:t> v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Calibri" pitchFamily="34" charset="0"/>
              </a:rPr>
              <a:t>β </a:t>
            </a:r>
            <a:r>
              <a:rPr lang="en-US" sz="2000" kern="0" dirty="0">
                <a:latin typeface="Calibri" pitchFamily="34" charset="0"/>
              </a:rPr>
              <a:t>= min(</a:t>
            </a:r>
            <a:r>
              <a:rPr lang="el-GR" sz="2000" kern="0" dirty="0">
                <a:latin typeface="Calibri" pitchFamily="34" charset="0"/>
              </a:rPr>
              <a:t>β</a:t>
            </a:r>
            <a:r>
              <a:rPr lang="en-US" sz="2000" kern="0" dirty="0">
                <a:latin typeface="Calibri" pitchFamily="34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294103884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99556" y="2194302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A06BB-17EE-10CD-CBD3-469F0E84E925}"/>
              </a:ext>
            </a:extLst>
          </p:cNvPr>
          <p:cNvSpPr txBox="1"/>
          <p:nvPr/>
        </p:nvSpPr>
        <p:spPr>
          <a:xfrm>
            <a:off x="2915548" y="197988"/>
            <a:ext cx="8030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8539A-943E-2A30-0960-5B917708B210}"/>
              </a:ext>
            </a:extLst>
          </p:cNvPr>
          <p:cNvSpPr txBox="1"/>
          <p:nvPr/>
        </p:nvSpPr>
        <p:spPr>
          <a:xfrm>
            <a:off x="1533374" y="2337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797C3-BCA7-78B0-0930-DD95417F51DD}"/>
              </a:ext>
            </a:extLst>
          </p:cNvPr>
          <p:cNvSpPr txBox="1"/>
          <p:nvPr/>
        </p:nvSpPr>
        <p:spPr>
          <a:xfrm>
            <a:off x="268369" y="95550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FF1AB4-E9E6-A1BA-5F2E-AEC52209826F}"/>
              </a:ext>
            </a:extLst>
          </p:cNvPr>
          <p:cNvSpPr txBox="1"/>
          <p:nvPr/>
        </p:nvSpPr>
        <p:spPr>
          <a:xfrm>
            <a:off x="5980896" y="24561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26D580-C518-F898-F672-C5140670934C}"/>
              </a:ext>
            </a:extLst>
          </p:cNvPr>
          <p:cNvSpPr txBox="1"/>
          <p:nvPr/>
        </p:nvSpPr>
        <p:spPr>
          <a:xfrm>
            <a:off x="4732002" y="89612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82820A-1C7B-F229-4FFD-558226DD6080}"/>
              </a:ext>
            </a:extLst>
          </p:cNvPr>
          <p:cNvSpPr txBox="1"/>
          <p:nvPr/>
        </p:nvSpPr>
        <p:spPr>
          <a:xfrm>
            <a:off x="5001145" y="841527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B64B0-7328-6F17-3527-645A2B707ADD}"/>
              </a:ext>
            </a:extLst>
          </p:cNvPr>
          <p:cNvSpPr txBox="1"/>
          <p:nvPr/>
        </p:nvSpPr>
        <p:spPr>
          <a:xfrm>
            <a:off x="7357042" y="197987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D93A68A-3D3C-E54A-1489-80041B9355A9}"/>
              </a:ext>
            </a:extLst>
          </p:cNvPr>
          <p:cNvSpPr/>
          <p:nvPr/>
        </p:nvSpPr>
        <p:spPr>
          <a:xfrm>
            <a:off x="188421" y="3490218"/>
            <a:ext cx="4458191" cy="2500679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416B25-3412-91DA-7497-0BC275745A82}"/>
              </a:ext>
            </a:extLst>
          </p:cNvPr>
          <p:cNvSpPr txBox="1">
            <a:spLocks/>
          </p:cNvSpPr>
          <p:nvPr/>
        </p:nvSpPr>
        <p:spPr bwMode="auto">
          <a:xfrm>
            <a:off x="149448" y="3705372"/>
            <a:ext cx="4672333" cy="2386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min-value(stare</a:t>
            </a:r>
            <a:r>
              <a:rPr lang="en-US" sz="2400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sz="2400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sz="2400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Calibri" pitchFamily="34" charset="0"/>
              </a:rPr>
              <a:t>pentru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fiecare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succesor</a:t>
            </a:r>
            <a:r>
              <a:rPr lang="en-US" sz="2000" kern="0" dirty="0">
                <a:latin typeface="Calibri" pitchFamily="34" charset="0"/>
              </a:rPr>
              <a:t> al </a:t>
            </a:r>
            <a:r>
              <a:rPr lang="en-US" sz="2000" kern="0" dirty="0" err="1">
                <a:latin typeface="Calibri" pitchFamily="34" charset="0"/>
              </a:rPr>
              <a:t>stării</a:t>
            </a:r>
            <a:r>
              <a:rPr lang="en-US" sz="2000" kern="0" dirty="0">
                <a:latin typeface="Calibri" pitchFamily="34" charset="0"/>
              </a:rPr>
              <a:t>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Calibri" pitchFamily="34" charset="0"/>
              </a:rPr>
              <a:t>v = min(v,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Calibri" pitchFamily="34" charset="0"/>
              </a:rPr>
              <a:t>if v ≤ </a:t>
            </a: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returneaza</a:t>
            </a:r>
            <a:r>
              <a:rPr lang="en-US" sz="2000" kern="0" dirty="0">
                <a:latin typeface="Calibri" pitchFamily="34" charset="0"/>
              </a:rPr>
              <a:t> v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Calibri" pitchFamily="34" charset="0"/>
              </a:rPr>
              <a:t>β </a:t>
            </a:r>
            <a:r>
              <a:rPr lang="en-US" sz="2000" kern="0" dirty="0">
                <a:latin typeface="Calibri" pitchFamily="34" charset="0"/>
              </a:rPr>
              <a:t>= min(</a:t>
            </a:r>
            <a:r>
              <a:rPr lang="el-GR" sz="2000" kern="0" dirty="0">
                <a:latin typeface="Calibri" pitchFamily="34" charset="0"/>
              </a:rPr>
              <a:t>β</a:t>
            </a:r>
            <a:r>
              <a:rPr lang="en-US" sz="2000" kern="0" dirty="0">
                <a:latin typeface="Calibri" pitchFamily="34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403917708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2700" y="4603373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4967551" y="2363095"/>
            <a:ext cx="4114799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416A46-8ABA-884B-CD6C-E74FDA6FF554}"/>
              </a:ext>
            </a:extLst>
          </p:cNvPr>
          <p:cNvSpPr txBox="1"/>
          <p:nvPr/>
        </p:nvSpPr>
        <p:spPr>
          <a:xfrm>
            <a:off x="1533374" y="2337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4B3D2D-3D25-CD06-0403-5E0C0FB82A54}"/>
              </a:ext>
            </a:extLst>
          </p:cNvPr>
          <p:cNvSpPr txBox="1"/>
          <p:nvPr/>
        </p:nvSpPr>
        <p:spPr>
          <a:xfrm>
            <a:off x="268369" y="95550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8A9D15-3E22-5643-21A9-A6E1F0AA8596}"/>
              </a:ext>
            </a:extLst>
          </p:cNvPr>
          <p:cNvSpPr txBox="1"/>
          <p:nvPr/>
        </p:nvSpPr>
        <p:spPr>
          <a:xfrm>
            <a:off x="5980896" y="24561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D9CE5-2988-7BF1-FDBB-E8B3FF3F2D83}"/>
              </a:ext>
            </a:extLst>
          </p:cNvPr>
          <p:cNvSpPr txBox="1"/>
          <p:nvPr/>
        </p:nvSpPr>
        <p:spPr>
          <a:xfrm>
            <a:off x="4732002" y="89612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7E4B30-5965-60FE-0472-3FBA8D9075B3}"/>
              </a:ext>
            </a:extLst>
          </p:cNvPr>
          <p:cNvSpPr txBox="1"/>
          <p:nvPr/>
        </p:nvSpPr>
        <p:spPr>
          <a:xfrm>
            <a:off x="5980896" y="24561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5333D-080D-EAB4-3B3F-37D7567C84E5}"/>
              </a:ext>
            </a:extLst>
          </p:cNvPr>
          <p:cNvSpPr txBox="1"/>
          <p:nvPr/>
        </p:nvSpPr>
        <p:spPr>
          <a:xfrm>
            <a:off x="2903949" y="2346300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EDAD35-FE77-2D96-8C8A-9E397D5F2727}"/>
              </a:ext>
            </a:extLst>
          </p:cNvPr>
          <p:cNvSpPr txBox="1"/>
          <p:nvPr/>
        </p:nvSpPr>
        <p:spPr>
          <a:xfrm>
            <a:off x="1549625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79CE89-7CBB-6FF7-7ADB-76DBD4BC2F2A}"/>
              </a:ext>
            </a:extLst>
          </p:cNvPr>
          <p:cNvSpPr txBox="1"/>
          <p:nvPr/>
        </p:nvSpPr>
        <p:spPr>
          <a:xfrm>
            <a:off x="333651" y="318691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12C6EC-0399-1A59-1DBE-C010F319507D}"/>
              </a:ext>
            </a:extLst>
          </p:cNvPr>
          <p:cNvSpPr txBox="1"/>
          <p:nvPr/>
        </p:nvSpPr>
        <p:spPr>
          <a:xfrm>
            <a:off x="686421" y="302855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+3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0E4CBD4-E777-A44F-694C-98E09569B9D8}"/>
              </a:ext>
            </a:extLst>
          </p:cNvPr>
          <p:cNvSpPr/>
          <p:nvPr/>
        </p:nvSpPr>
        <p:spPr>
          <a:xfrm>
            <a:off x="4552706" y="3838339"/>
            <a:ext cx="4458191" cy="2500679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EAC850-6B58-86E4-93AE-ECAE36A1D11C}"/>
              </a:ext>
            </a:extLst>
          </p:cNvPr>
          <p:cNvSpPr txBox="1">
            <a:spLocks/>
          </p:cNvSpPr>
          <p:nvPr/>
        </p:nvSpPr>
        <p:spPr bwMode="auto">
          <a:xfrm>
            <a:off x="4513733" y="4053493"/>
            <a:ext cx="4672333" cy="2386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min-value(stare</a:t>
            </a:r>
            <a:r>
              <a:rPr lang="en-US" sz="2400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sz="2400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sz="2400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Calibri" pitchFamily="34" charset="0"/>
              </a:rPr>
              <a:t>pentru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fiecare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succesor</a:t>
            </a:r>
            <a:r>
              <a:rPr lang="en-US" sz="2000" kern="0" dirty="0">
                <a:latin typeface="Calibri" pitchFamily="34" charset="0"/>
              </a:rPr>
              <a:t> al </a:t>
            </a:r>
            <a:r>
              <a:rPr lang="en-US" sz="2000" kern="0" dirty="0" err="1">
                <a:latin typeface="Calibri" pitchFamily="34" charset="0"/>
              </a:rPr>
              <a:t>stării</a:t>
            </a:r>
            <a:r>
              <a:rPr lang="en-US" sz="2000" kern="0" dirty="0">
                <a:latin typeface="Calibri" pitchFamily="34" charset="0"/>
              </a:rPr>
              <a:t>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Calibri" pitchFamily="34" charset="0"/>
              </a:rPr>
              <a:t>v = min(v,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000" kern="0" dirty="0">
                <a:latin typeface="Calibri" pitchFamily="34" charset="0"/>
              </a:rPr>
              <a:t>if v ≤ </a:t>
            </a: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returneaza</a:t>
            </a:r>
            <a:r>
              <a:rPr lang="en-US" sz="2000" kern="0" dirty="0">
                <a:latin typeface="Calibri" pitchFamily="34" charset="0"/>
              </a:rPr>
              <a:t> v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Calibri" pitchFamily="34" charset="0"/>
              </a:rPr>
              <a:t>β </a:t>
            </a:r>
            <a:r>
              <a:rPr lang="en-US" sz="2000" kern="0" dirty="0">
                <a:latin typeface="Calibri" pitchFamily="34" charset="0"/>
              </a:rPr>
              <a:t>= min(</a:t>
            </a:r>
            <a:r>
              <a:rPr lang="el-GR" sz="2000" kern="0" dirty="0">
                <a:latin typeface="Calibri" pitchFamily="34" charset="0"/>
              </a:rPr>
              <a:t>β</a:t>
            </a:r>
            <a:r>
              <a:rPr lang="en-US" sz="2000" kern="0" dirty="0">
                <a:latin typeface="Calibri" pitchFamily="34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240478483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2700" y="4603373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4967551" y="2363095"/>
            <a:ext cx="4114799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416A46-8ABA-884B-CD6C-E74FDA6FF554}"/>
              </a:ext>
            </a:extLst>
          </p:cNvPr>
          <p:cNvSpPr txBox="1"/>
          <p:nvPr/>
        </p:nvSpPr>
        <p:spPr>
          <a:xfrm>
            <a:off x="1533374" y="2337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4B3D2D-3D25-CD06-0403-5E0C0FB82A54}"/>
              </a:ext>
            </a:extLst>
          </p:cNvPr>
          <p:cNvSpPr txBox="1"/>
          <p:nvPr/>
        </p:nvSpPr>
        <p:spPr>
          <a:xfrm>
            <a:off x="268369" y="95550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8A9D15-3E22-5643-21A9-A6E1F0AA8596}"/>
              </a:ext>
            </a:extLst>
          </p:cNvPr>
          <p:cNvSpPr txBox="1"/>
          <p:nvPr/>
        </p:nvSpPr>
        <p:spPr>
          <a:xfrm>
            <a:off x="5980896" y="24561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D9CE5-2988-7BF1-FDBB-E8B3FF3F2D83}"/>
              </a:ext>
            </a:extLst>
          </p:cNvPr>
          <p:cNvSpPr txBox="1"/>
          <p:nvPr/>
        </p:nvSpPr>
        <p:spPr>
          <a:xfrm>
            <a:off x="4732002" y="89612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7E4B30-5965-60FE-0472-3FBA8D9075B3}"/>
              </a:ext>
            </a:extLst>
          </p:cNvPr>
          <p:cNvSpPr txBox="1"/>
          <p:nvPr/>
        </p:nvSpPr>
        <p:spPr>
          <a:xfrm>
            <a:off x="5980896" y="24561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5333D-080D-EAB4-3B3F-37D7567C84E5}"/>
              </a:ext>
            </a:extLst>
          </p:cNvPr>
          <p:cNvSpPr txBox="1"/>
          <p:nvPr/>
        </p:nvSpPr>
        <p:spPr>
          <a:xfrm>
            <a:off x="2903949" y="2346300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-∞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EDAD35-FE77-2D96-8C8A-9E397D5F2727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79CE89-7CBB-6FF7-7ADB-76DBD4BC2F2A}"/>
              </a:ext>
            </a:extLst>
          </p:cNvPr>
          <p:cNvSpPr txBox="1"/>
          <p:nvPr/>
        </p:nvSpPr>
        <p:spPr>
          <a:xfrm>
            <a:off x="333651" y="318691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1C4056-C4A0-D712-6966-D5869619BB7A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6C6EF03-1227-B65D-B1CF-0DE93234991F}"/>
              </a:ext>
            </a:extLst>
          </p:cNvPr>
          <p:cNvSpPr/>
          <p:nvPr/>
        </p:nvSpPr>
        <p:spPr>
          <a:xfrm>
            <a:off x="4485470" y="4168476"/>
            <a:ext cx="4571594" cy="2548179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03943F-8A21-E246-5678-05BC345E7DDC}"/>
              </a:ext>
            </a:extLst>
          </p:cNvPr>
          <p:cNvSpPr txBox="1">
            <a:spLocks/>
          </p:cNvSpPr>
          <p:nvPr/>
        </p:nvSpPr>
        <p:spPr bwMode="auto">
          <a:xfrm>
            <a:off x="4485470" y="4021135"/>
            <a:ext cx="4552315" cy="1659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max-value(stare, </a:t>
            </a:r>
            <a:r>
              <a:rPr lang="el-GR" sz="2200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sz="2200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sz="2200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dirty="0" err="1">
                <a:latin typeface="Calibri" pitchFamily="34" charset="0"/>
              </a:rPr>
              <a:t>p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entru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succesor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al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stării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sz="2000" kern="0" noProof="0" dirty="0">
                <a:latin typeface="Calibri" pitchFamily="34" charset="0"/>
              </a:rPr>
              <a:t>max(v,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sz="2000" kern="0" dirty="0">
                <a:latin typeface="Calibri" pitchFamily="34" charset="0"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baseline="0" dirty="0">
                <a:latin typeface="Calibri" pitchFamily="34" charset="0"/>
              </a:rPr>
              <a:t>if</a:t>
            </a:r>
            <a:r>
              <a:rPr lang="en-US" sz="2000" kern="0" dirty="0">
                <a:latin typeface="Calibri" pitchFamily="34" charset="0"/>
              </a:rPr>
              <a:t> v ≥ </a:t>
            </a:r>
            <a:r>
              <a:rPr lang="el-GR" sz="2000" kern="0" dirty="0">
                <a:latin typeface="Calibri" pitchFamily="34" charset="0"/>
              </a:rPr>
              <a:t>β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returneaza</a:t>
            </a:r>
            <a:r>
              <a:rPr lang="en-US" sz="2000" kern="0" dirty="0">
                <a:latin typeface="Calibri" pitchFamily="34" charset="0"/>
              </a:rPr>
              <a:t>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 = max(</a:t>
            </a: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102703978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08E3-2C96-B414-42BA-A07118C3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>
            <a:extLst>
              <a:ext uri="{FF2B5EF4-FFF2-40B4-BE49-F238E27FC236}">
                <a16:creationId xmlns:a16="http://schemas.microsoft.com/office/drawing/2014/main" id="{F4EA246B-FB6B-1263-5D4B-BAC44C300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96C0A7-5AE3-78EE-95A3-1F0FD9D94135}"/>
              </a:ext>
            </a:extLst>
          </p:cNvPr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526A42-22F0-9434-87C9-7D92834C225B}"/>
              </a:ext>
            </a:extLst>
          </p:cNvPr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>
              <a:extLst>
                <a:ext uri="{FF2B5EF4-FFF2-40B4-BE49-F238E27FC236}">
                  <a16:creationId xmlns:a16="http://schemas.microsoft.com/office/drawing/2014/main" id="{F1B563DF-BEFE-0035-F4E1-808B68062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>
              <a:extLst>
                <a:ext uri="{FF2B5EF4-FFF2-40B4-BE49-F238E27FC236}">
                  <a16:creationId xmlns:a16="http://schemas.microsoft.com/office/drawing/2014/main" id="{4CBB02A9-D10D-7573-0243-2D13E38D8D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>
                <a:extLst>
                  <a:ext uri="{FF2B5EF4-FFF2-40B4-BE49-F238E27FC236}">
                    <a16:creationId xmlns:a16="http://schemas.microsoft.com/office/drawing/2014/main" id="{6574BDB5-147E-9801-FE5A-891B6DA261B0}"/>
                  </a:ext>
                </a:extLst>
              </p:cNvPr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>
                <a:extLst>
                  <a:ext uri="{FF2B5EF4-FFF2-40B4-BE49-F238E27FC236}">
                    <a16:creationId xmlns:a16="http://schemas.microsoft.com/office/drawing/2014/main" id="{25BFEA0F-7491-527F-77C0-D00AA1BA7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>
              <a:extLst>
                <a:ext uri="{FF2B5EF4-FFF2-40B4-BE49-F238E27FC236}">
                  <a16:creationId xmlns:a16="http://schemas.microsoft.com/office/drawing/2014/main" id="{2EB73D8B-99E7-3B4D-E0AD-C44801CFA3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>
                <a:extLst>
                  <a:ext uri="{FF2B5EF4-FFF2-40B4-BE49-F238E27FC236}">
                    <a16:creationId xmlns:a16="http://schemas.microsoft.com/office/drawing/2014/main" id="{D4C49740-C33A-5910-899E-2533349F88E2}"/>
                  </a:ext>
                </a:extLst>
              </p:cNvPr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>
                <a:extLst>
                  <a:ext uri="{FF2B5EF4-FFF2-40B4-BE49-F238E27FC236}">
                    <a16:creationId xmlns:a16="http://schemas.microsoft.com/office/drawing/2014/main" id="{EA37C4A6-4E90-3456-7F31-BA5393F66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>
              <a:extLst>
                <a:ext uri="{FF2B5EF4-FFF2-40B4-BE49-F238E27FC236}">
                  <a16:creationId xmlns:a16="http://schemas.microsoft.com/office/drawing/2014/main" id="{7B811200-CF2E-977C-6847-46857EB96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>
                <a:extLst>
                  <a:ext uri="{FF2B5EF4-FFF2-40B4-BE49-F238E27FC236}">
                    <a16:creationId xmlns:a16="http://schemas.microsoft.com/office/drawing/2014/main" id="{65128A83-F7AA-96CA-4B57-D983A4F5005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>
                <a:extLst>
                  <a:ext uri="{FF2B5EF4-FFF2-40B4-BE49-F238E27FC236}">
                    <a16:creationId xmlns:a16="http://schemas.microsoft.com/office/drawing/2014/main" id="{EFDB0CBB-14AE-196F-09E5-55DF4E6C9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>
              <a:extLst>
                <a:ext uri="{FF2B5EF4-FFF2-40B4-BE49-F238E27FC236}">
                  <a16:creationId xmlns:a16="http://schemas.microsoft.com/office/drawing/2014/main" id="{0F2A1EF3-F485-709B-17E3-02784ACAA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>
                <a:extLst>
                  <a:ext uri="{FF2B5EF4-FFF2-40B4-BE49-F238E27FC236}">
                    <a16:creationId xmlns:a16="http://schemas.microsoft.com/office/drawing/2014/main" id="{CE75961B-BBB8-4FB7-4AD3-13F85FCF57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>
                <a:extLst>
                  <a:ext uri="{FF2B5EF4-FFF2-40B4-BE49-F238E27FC236}">
                    <a16:creationId xmlns:a16="http://schemas.microsoft.com/office/drawing/2014/main" id="{F96443CC-963E-AB45-246D-C811DD231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>
              <a:extLst>
                <a:ext uri="{FF2B5EF4-FFF2-40B4-BE49-F238E27FC236}">
                  <a16:creationId xmlns:a16="http://schemas.microsoft.com/office/drawing/2014/main" id="{3FC11288-83AF-36CE-819E-AFDDC1263B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>
                <a:extLst>
                  <a:ext uri="{FF2B5EF4-FFF2-40B4-BE49-F238E27FC236}">
                    <a16:creationId xmlns:a16="http://schemas.microsoft.com/office/drawing/2014/main" id="{0D399804-804D-30D3-8C8F-BF4516BD7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>
                <a:extLst>
                  <a:ext uri="{FF2B5EF4-FFF2-40B4-BE49-F238E27FC236}">
                    <a16:creationId xmlns:a16="http://schemas.microsoft.com/office/drawing/2014/main" id="{8AF590A2-F489-7434-1884-4A714C84EFE7}"/>
                  </a:ext>
                </a:extLst>
              </p:cNvPr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>
              <a:extLst>
                <a:ext uri="{FF2B5EF4-FFF2-40B4-BE49-F238E27FC236}">
                  <a16:creationId xmlns:a16="http://schemas.microsoft.com/office/drawing/2014/main" id="{D1BD3CFA-0137-C319-AFE5-372AF9BE05CC}"/>
                </a:ext>
              </a:extLst>
            </p:cNvPr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>
              <a:extLst>
                <a:ext uri="{FF2B5EF4-FFF2-40B4-BE49-F238E27FC236}">
                  <a16:creationId xmlns:a16="http://schemas.microsoft.com/office/drawing/2014/main" id="{30491F7A-EFE7-750A-C50E-3ECD1ECA9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>
              <a:extLst>
                <a:ext uri="{FF2B5EF4-FFF2-40B4-BE49-F238E27FC236}">
                  <a16:creationId xmlns:a16="http://schemas.microsoft.com/office/drawing/2014/main" id="{606DAB1E-20F5-23C3-4471-0FCDD7F072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>
              <a:extLst>
                <a:ext uri="{FF2B5EF4-FFF2-40B4-BE49-F238E27FC236}">
                  <a16:creationId xmlns:a16="http://schemas.microsoft.com/office/drawing/2014/main" id="{88E8CDFE-036D-1A44-46CF-7F2F3E08295A}"/>
                </a:ext>
              </a:extLst>
            </p:cNvPr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>
              <a:extLst>
                <a:ext uri="{FF2B5EF4-FFF2-40B4-BE49-F238E27FC236}">
                  <a16:creationId xmlns:a16="http://schemas.microsoft.com/office/drawing/2014/main" id="{E50DFC43-BEE1-25FF-512E-AADE753C71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>
              <a:extLst>
                <a:ext uri="{FF2B5EF4-FFF2-40B4-BE49-F238E27FC236}">
                  <a16:creationId xmlns:a16="http://schemas.microsoft.com/office/drawing/2014/main" id="{699D6FFE-2C2A-A83D-7691-5629C2A08ADC}"/>
                </a:ext>
              </a:extLst>
            </p:cNvPr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>
              <a:extLst>
                <a:ext uri="{FF2B5EF4-FFF2-40B4-BE49-F238E27FC236}">
                  <a16:creationId xmlns:a16="http://schemas.microsoft.com/office/drawing/2014/main" id="{077DFAC2-8FD3-4D77-A849-A33630A76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>
                <a:extLst>
                  <a:ext uri="{FF2B5EF4-FFF2-40B4-BE49-F238E27FC236}">
                    <a16:creationId xmlns:a16="http://schemas.microsoft.com/office/drawing/2014/main" id="{8AB812F1-19C0-B840-DA9B-B212E0D76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>
                <a:extLst>
                  <a:ext uri="{FF2B5EF4-FFF2-40B4-BE49-F238E27FC236}">
                    <a16:creationId xmlns:a16="http://schemas.microsoft.com/office/drawing/2014/main" id="{77897199-8E26-3935-093C-9C19E4A96178}"/>
                  </a:ext>
                </a:extLst>
              </p:cNvPr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>
              <a:extLst>
                <a:ext uri="{FF2B5EF4-FFF2-40B4-BE49-F238E27FC236}">
                  <a16:creationId xmlns:a16="http://schemas.microsoft.com/office/drawing/2014/main" id="{4BECA92C-34EF-80CA-DA5D-4BCF98F2C1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>
                <a:extLst>
                  <a:ext uri="{FF2B5EF4-FFF2-40B4-BE49-F238E27FC236}">
                    <a16:creationId xmlns:a16="http://schemas.microsoft.com/office/drawing/2014/main" id="{248E10BC-BB30-52AC-E3D0-10913272ACD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>
                <a:extLst>
                  <a:ext uri="{FF2B5EF4-FFF2-40B4-BE49-F238E27FC236}">
                    <a16:creationId xmlns:a16="http://schemas.microsoft.com/office/drawing/2014/main" id="{08864471-E391-8A39-E76A-CEFC10F6BE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>
                <a:extLst>
                  <a:ext uri="{FF2B5EF4-FFF2-40B4-BE49-F238E27FC236}">
                    <a16:creationId xmlns:a16="http://schemas.microsoft.com/office/drawing/2014/main" id="{3D897F48-DF6E-7CE7-27D4-33B6F4FFA00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>
                <a:extLst>
                  <a:ext uri="{FF2B5EF4-FFF2-40B4-BE49-F238E27FC236}">
                    <a16:creationId xmlns:a16="http://schemas.microsoft.com/office/drawing/2014/main" id="{292243C5-12EE-90DD-6EE0-D471C231B70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>
              <a:extLst>
                <a:ext uri="{FF2B5EF4-FFF2-40B4-BE49-F238E27FC236}">
                  <a16:creationId xmlns:a16="http://schemas.microsoft.com/office/drawing/2014/main" id="{FCC9047B-64F6-D217-D786-97061A0BE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>
                <a:extLst>
                  <a:ext uri="{FF2B5EF4-FFF2-40B4-BE49-F238E27FC236}">
                    <a16:creationId xmlns:a16="http://schemas.microsoft.com/office/drawing/2014/main" id="{D6C3DE4B-39EE-0126-D061-9782E61AD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>
                <a:extLst>
                  <a:ext uri="{FF2B5EF4-FFF2-40B4-BE49-F238E27FC236}">
                    <a16:creationId xmlns:a16="http://schemas.microsoft.com/office/drawing/2014/main" id="{82B64BB3-CEEF-52EE-B100-AB0B2469C32A}"/>
                  </a:ext>
                </a:extLst>
              </p:cNvPr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>
              <a:extLst>
                <a:ext uri="{FF2B5EF4-FFF2-40B4-BE49-F238E27FC236}">
                  <a16:creationId xmlns:a16="http://schemas.microsoft.com/office/drawing/2014/main" id="{8EF0F525-6DAA-DFCC-74D0-F8FFB93644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>
                <a:extLst>
                  <a:ext uri="{FF2B5EF4-FFF2-40B4-BE49-F238E27FC236}">
                    <a16:creationId xmlns:a16="http://schemas.microsoft.com/office/drawing/2014/main" id="{CCF3FF64-849C-4958-1285-DE3C12AD70D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>
                <a:extLst>
                  <a:ext uri="{FF2B5EF4-FFF2-40B4-BE49-F238E27FC236}">
                    <a16:creationId xmlns:a16="http://schemas.microsoft.com/office/drawing/2014/main" id="{704F7197-DEFA-1562-9144-0DB7F86C8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>
                <a:extLst>
                  <a:ext uri="{FF2B5EF4-FFF2-40B4-BE49-F238E27FC236}">
                    <a16:creationId xmlns:a16="http://schemas.microsoft.com/office/drawing/2014/main" id="{B53FE964-9334-5373-CEF8-5A2B970AE5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>
                <a:extLst>
                  <a:ext uri="{FF2B5EF4-FFF2-40B4-BE49-F238E27FC236}">
                    <a16:creationId xmlns:a16="http://schemas.microsoft.com/office/drawing/2014/main" id="{544EB43E-F6A0-F576-3932-FB5CFCF429C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1406FF1-CE3E-DFEA-C02A-5E9BB902EE9D}"/>
                </a:ext>
              </a:extLst>
            </p:cNvPr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1AB87AE-0CCB-F154-316D-29BEF6F5A336}"/>
                </a:ext>
              </a:extLst>
            </p:cNvPr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0A5E938-2D37-1D07-B28B-134CCF632ED9}"/>
                </a:ext>
              </a:extLst>
            </p:cNvPr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C240799-D191-BE39-35EE-98C81D887329}"/>
                </a:ext>
              </a:extLst>
            </p:cNvPr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7405614-0368-9BE0-79BD-AC0B75ACD74C}"/>
                </a:ext>
              </a:extLst>
            </p:cNvPr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DB4A18-6584-F4B9-8165-B3BA4F585DD5}"/>
                </a:ext>
              </a:extLst>
            </p:cNvPr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AB84E8D-EBFE-7DE2-BC87-E647D1B9A6BB}"/>
                </a:ext>
              </a:extLst>
            </p:cNvPr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884D61C4-26C5-38B4-5530-E12A2C59308A}"/>
              </a:ext>
            </a:extLst>
          </p:cNvPr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E2A5BB5-63BC-17BE-DC99-C62ED02554BB}"/>
              </a:ext>
            </a:extLst>
          </p:cNvPr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>
            <a:extLst>
              <a:ext uri="{FF2B5EF4-FFF2-40B4-BE49-F238E27FC236}">
                <a16:creationId xmlns:a16="http://schemas.microsoft.com/office/drawing/2014/main" id="{5FDF3813-A76C-8D00-04F1-079BD99AA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249E4888-0E31-E1F2-1A5A-927896BD8273}"/>
              </a:ext>
            </a:extLst>
          </p:cNvPr>
          <p:cNvSpPr txBox="1"/>
          <p:nvPr/>
        </p:nvSpPr>
        <p:spPr>
          <a:xfrm>
            <a:off x="12700" y="4603373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CC056C-3542-D472-3FB0-BBFBD6F5782E}"/>
              </a:ext>
            </a:extLst>
          </p:cNvPr>
          <p:cNvSpPr txBox="1"/>
          <p:nvPr/>
        </p:nvSpPr>
        <p:spPr>
          <a:xfrm>
            <a:off x="4967551" y="2363095"/>
            <a:ext cx="4114799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D2B657-95E7-0D6A-3700-67AF95CDDA56}"/>
              </a:ext>
            </a:extLst>
          </p:cNvPr>
          <p:cNvSpPr txBox="1"/>
          <p:nvPr/>
        </p:nvSpPr>
        <p:spPr>
          <a:xfrm>
            <a:off x="1533374" y="2337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7EC9E8-CE7D-884A-3DFA-BBD0A4C81C9E}"/>
              </a:ext>
            </a:extLst>
          </p:cNvPr>
          <p:cNvSpPr txBox="1"/>
          <p:nvPr/>
        </p:nvSpPr>
        <p:spPr>
          <a:xfrm>
            <a:off x="268369" y="95550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7C8B3F-9530-E6CC-5631-3234A11220B8}"/>
              </a:ext>
            </a:extLst>
          </p:cNvPr>
          <p:cNvSpPr txBox="1"/>
          <p:nvPr/>
        </p:nvSpPr>
        <p:spPr>
          <a:xfrm>
            <a:off x="5980896" y="24561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862DE2-1DBB-2AEE-3A32-B24FC9492E2C}"/>
              </a:ext>
            </a:extLst>
          </p:cNvPr>
          <p:cNvSpPr txBox="1"/>
          <p:nvPr/>
        </p:nvSpPr>
        <p:spPr>
          <a:xfrm>
            <a:off x="4732002" y="89612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0686B8-BED8-1E1E-9996-CC96932B4EE3}"/>
              </a:ext>
            </a:extLst>
          </p:cNvPr>
          <p:cNvSpPr txBox="1"/>
          <p:nvPr/>
        </p:nvSpPr>
        <p:spPr>
          <a:xfrm>
            <a:off x="5980896" y="24561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7BDE81-D1A0-6B8F-7329-BB1AD7E50943}"/>
              </a:ext>
            </a:extLst>
          </p:cNvPr>
          <p:cNvSpPr txBox="1"/>
          <p:nvPr/>
        </p:nvSpPr>
        <p:spPr>
          <a:xfrm>
            <a:off x="2903949" y="2346300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4C062F-372E-A318-B2EB-A055D58DFACC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46943E-83D5-1A6D-F3C8-FD88E575C9A9}"/>
              </a:ext>
            </a:extLst>
          </p:cNvPr>
          <p:cNvSpPr txBox="1"/>
          <p:nvPr/>
        </p:nvSpPr>
        <p:spPr>
          <a:xfrm>
            <a:off x="333651" y="318691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510721-F40D-7F1A-58FD-19F101CDFC8A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F42F68-6D36-4ECF-09CF-C117B1856696}"/>
              </a:ext>
            </a:extLst>
          </p:cNvPr>
          <p:cNvSpPr/>
          <p:nvPr/>
        </p:nvSpPr>
        <p:spPr>
          <a:xfrm>
            <a:off x="4485470" y="4168476"/>
            <a:ext cx="4571594" cy="2548179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6F783A-2B17-4827-B0AF-ADA7F32B87D4}"/>
              </a:ext>
            </a:extLst>
          </p:cNvPr>
          <p:cNvSpPr txBox="1">
            <a:spLocks/>
          </p:cNvSpPr>
          <p:nvPr/>
        </p:nvSpPr>
        <p:spPr bwMode="auto">
          <a:xfrm>
            <a:off x="4485470" y="4021135"/>
            <a:ext cx="4552315" cy="1659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max-value(stare, </a:t>
            </a:r>
            <a:r>
              <a:rPr lang="el-GR" sz="2200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sz="2200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sz="2200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dirty="0" err="1">
                <a:latin typeface="Calibri" pitchFamily="34" charset="0"/>
              </a:rPr>
              <a:t>p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entru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succesor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al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stării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sz="2000" kern="0" noProof="0" dirty="0">
                <a:latin typeface="Calibri" pitchFamily="34" charset="0"/>
              </a:rPr>
              <a:t>max(v,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sz="20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0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sz="2000" kern="0" dirty="0">
                <a:latin typeface="Calibri" pitchFamily="34" charset="0"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000" kern="0" baseline="0" dirty="0">
                <a:latin typeface="Calibri" pitchFamily="34" charset="0"/>
              </a:rPr>
              <a:t>if</a:t>
            </a:r>
            <a:r>
              <a:rPr lang="en-US" sz="2000" kern="0" dirty="0">
                <a:latin typeface="Calibri" pitchFamily="34" charset="0"/>
              </a:rPr>
              <a:t> v ≥ </a:t>
            </a:r>
            <a:r>
              <a:rPr lang="el-GR" sz="2000" kern="0" dirty="0">
                <a:latin typeface="Calibri" pitchFamily="34" charset="0"/>
              </a:rPr>
              <a:t>β</a:t>
            </a:r>
            <a:r>
              <a:rPr lang="en-US" sz="2000" kern="0" dirty="0">
                <a:latin typeface="Calibri" pitchFamily="34" charset="0"/>
              </a:rPr>
              <a:t> </a:t>
            </a:r>
            <a:r>
              <a:rPr lang="en-US" sz="2000" kern="0" dirty="0" err="1">
                <a:latin typeface="Calibri" pitchFamily="34" charset="0"/>
              </a:rPr>
              <a:t>returneaza</a:t>
            </a:r>
            <a:r>
              <a:rPr lang="en-US" sz="2000" kern="0" dirty="0">
                <a:latin typeface="Calibri" pitchFamily="34" charset="0"/>
              </a:rPr>
              <a:t>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 = max(</a:t>
            </a:r>
            <a:r>
              <a:rPr lang="el-GR" sz="2000" kern="0" dirty="0">
                <a:latin typeface="Calibri" pitchFamily="34" charset="0"/>
              </a:rPr>
              <a:t>α</a:t>
            </a:r>
            <a:r>
              <a:rPr lang="en-US" sz="2000" kern="0" dirty="0">
                <a:latin typeface="Calibri" pitchFamily="34" charset="0"/>
              </a:rPr>
              <a:t>, v)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40624256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2700" y="4603373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AF4E2-D86D-6078-E520-A77F44B0FE81}"/>
              </a:ext>
            </a:extLst>
          </p:cNvPr>
          <p:cNvSpPr txBox="1"/>
          <p:nvPr/>
        </p:nvSpPr>
        <p:spPr>
          <a:xfrm>
            <a:off x="6301019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98AF5-4B98-2563-281C-CFD956620B03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014AA2-4DAB-0351-B7FB-FE5B184AE000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816D12B-E222-9942-A12D-75825BDD72B8}"/>
              </a:ext>
            </a:extLst>
          </p:cNvPr>
          <p:cNvSpPr/>
          <p:nvPr/>
        </p:nvSpPr>
        <p:spPr>
          <a:xfrm>
            <a:off x="4552707" y="4455169"/>
            <a:ext cx="4307514" cy="2189506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A51411F-22BB-1E49-6C8E-18D7B84B8CA4}"/>
              </a:ext>
            </a:extLst>
          </p:cNvPr>
          <p:cNvSpPr txBox="1">
            <a:spLocks/>
          </p:cNvSpPr>
          <p:nvPr/>
        </p:nvSpPr>
        <p:spPr bwMode="auto">
          <a:xfrm>
            <a:off x="4513733" y="4642055"/>
            <a:ext cx="4543409" cy="205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min-value(stare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kern="0" dirty="0" err="1">
                <a:latin typeface="Calibri" pitchFamily="34" charset="0"/>
              </a:rPr>
              <a:t>pentru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fiecare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succesor</a:t>
            </a:r>
            <a:r>
              <a:rPr lang="en-US" kern="0" dirty="0">
                <a:latin typeface="Calibri" pitchFamily="34" charset="0"/>
              </a:rPr>
              <a:t> al </a:t>
            </a:r>
            <a:r>
              <a:rPr lang="en-US" kern="0" dirty="0" err="1">
                <a:latin typeface="Calibri" pitchFamily="34" charset="0"/>
              </a:rPr>
              <a:t>stării</a:t>
            </a:r>
            <a:r>
              <a:rPr lang="en-US" kern="0" dirty="0">
                <a:latin typeface="Calibri" pitchFamily="34" charset="0"/>
              </a:rPr>
              <a:t>: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returneaza</a:t>
            </a:r>
            <a:r>
              <a:rPr lang="en-US" kern="0" dirty="0">
                <a:latin typeface="Calibri" pitchFamily="34" charset="0"/>
              </a:rPr>
              <a:t>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62806589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2700" y="4603373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AF4E2-D86D-6078-E520-A77F44B0FE81}"/>
              </a:ext>
            </a:extLst>
          </p:cNvPr>
          <p:cNvSpPr txBox="1"/>
          <p:nvPr/>
        </p:nvSpPr>
        <p:spPr>
          <a:xfrm>
            <a:off x="7335983" y="3046454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5FF8A1-C78A-CC1B-4181-A098C2650833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9FB16-78B5-9E75-774B-FE707747163A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30B3DD-833F-CC60-FCC4-97892D06B2F3}"/>
              </a:ext>
            </a:extLst>
          </p:cNvPr>
          <p:cNvSpPr txBox="1"/>
          <p:nvPr/>
        </p:nvSpPr>
        <p:spPr>
          <a:xfrm>
            <a:off x="6301019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A29D9D4-CBE1-A1A7-89E6-8552CEB52904}"/>
              </a:ext>
            </a:extLst>
          </p:cNvPr>
          <p:cNvSpPr/>
          <p:nvPr/>
        </p:nvSpPr>
        <p:spPr>
          <a:xfrm>
            <a:off x="4552707" y="4455169"/>
            <a:ext cx="4307514" cy="2189506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42A4352-30EC-F592-C839-F97015D154F4}"/>
              </a:ext>
            </a:extLst>
          </p:cNvPr>
          <p:cNvSpPr txBox="1">
            <a:spLocks/>
          </p:cNvSpPr>
          <p:nvPr/>
        </p:nvSpPr>
        <p:spPr bwMode="auto">
          <a:xfrm>
            <a:off x="4513733" y="4642055"/>
            <a:ext cx="4543409" cy="205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min-value(stare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kern="0" dirty="0" err="1">
                <a:latin typeface="Calibri" pitchFamily="34" charset="0"/>
              </a:rPr>
              <a:t>pentru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fiecare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succesor</a:t>
            </a:r>
            <a:r>
              <a:rPr lang="en-US" kern="0" dirty="0">
                <a:latin typeface="Calibri" pitchFamily="34" charset="0"/>
              </a:rPr>
              <a:t> al </a:t>
            </a:r>
            <a:r>
              <a:rPr lang="en-US" kern="0" dirty="0" err="1">
                <a:latin typeface="Calibri" pitchFamily="34" charset="0"/>
              </a:rPr>
              <a:t>stării</a:t>
            </a:r>
            <a:r>
              <a:rPr lang="en-US" kern="0" dirty="0">
                <a:latin typeface="Calibri" pitchFamily="34" charset="0"/>
              </a:rPr>
              <a:t>: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returneaza</a:t>
            </a:r>
            <a:r>
              <a:rPr lang="en-US" kern="0" dirty="0">
                <a:latin typeface="Calibri" pitchFamily="34" charset="0"/>
              </a:rPr>
              <a:t>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27471233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2700" y="4603373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2633-2C3F-79AB-DCE6-4A161CDF992E}"/>
              </a:ext>
            </a:extLst>
          </p:cNvPr>
          <p:cNvSpPr txBox="1"/>
          <p:nvPr/>
        </p:nvSpPr>
        <p:spPr>
          <a:xfrm>
            <a:off x="6322344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CAFAF6-70D9-C229-A712-1EAD8D6E0601}"/>
              </a:ext>
            </a:extLst>
          </p:cNvPr>
          <p:cNvSpPr txBox="1"/>
          <p:nvPr/>
        </p:nvSpPr>
        <p:spPr>
          <a:xfrm>
            <a:off x="6486904" y="4433256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390960-D1A7-35C8-61FF-93734EFDC8B5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99B921-E24C-F0F5-7D77-D06BC4AC9370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A52B346-14BE-519E-0C6E-20EFE2C320A6}"/>
              </a:ext>
            </a:extLst>
          </p:cNvPr>
          <p:cNvSpPr/>
          <p:nvPr/>
        </p:nvSpPr>
        <p:spPr>
          <a:xfrm>
            <a:off x="1918822" y="4506560"/>
            <a:ext cx="4307514" cy="2189506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32C4CD4-2A7A-E7A4-9F84-B7287D837F9C}"/>
              </a:ext>
            </a:extLst>
          </p:cNvPr>
          <p:cNvSpPr txBox="1">
            <a:spLocks/>
          </p:cNvSpPr>
          <p:nvPr/>
        </p:nvSpPr>
        <p:spPr bwMode="auto">
          <a:xfrm>
            <a:off x="1879848" y="4693446"/>
            <a:ext cx="4543409" cy="205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min-value(stare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kern="0" dirty="0" err="1">
                <a:latin typeface="Calibri" pitchFamily="34" charset="0"/>
              </a:rPr>
              <a:t>pentru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fiecare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succesor</a:t>
            </a:r>
            <a:r>
              <a:rPr lang="en-US" kern="0" dirty="0">
                <a:latin typeface="Calibri" pitchFamily="34" charset="0"/>
              </a:rPr>
              <a:t> al </a:t>
            </a:r>
            <a:r>
              <a:rPr lang="en-US" kern="0" dirty="0" err="1">
                <a:latin typeface="Calibri" pitchFamily="34" charset="0"/>
              </a:rPr>
              <a:t>stării</a:t>
            </a:r>
            <a:r>
              <a:rPr lang="en-US" kern="0" dirty="0">
                <a:latin typeface="Calibri" pitchFamily="34" charset="0"/>
              </a:rPr>
              <a:t>: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returneaza</a:t>
            </a:r>
            <a:r>
              <a:rPr lang="en-US" kern="0" dirty="0">
                <a:latin typeface="Calibri" pitchFamily="34" charset="0"/>
              </a:rPr>
              <a:t>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44122438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2700" y="4603373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2633-2C3F-79AB-DCE6-4A161CDF992E}"/>
              </a:ext>
            </a:extLst>
          </p:cNvPr>
          <p:cNvSpPr txBox="1"/>
          <p:nvPr/>
        </p:nvSpPr>
        <p:spPr>
          <a:xfrm>
            <a:off x="6322344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CAFAF6-70D9-C229-A712-1EAD8D6E0601}"/>
              </a:ext>
            </a:extLst>
          </p:cNvPr>
          <p:cNvSpPr txBox="1"/>
          <p:nvPr/>
        </p:nvSpPr>
        <p:spPr>
          <a:xfrm>
            <a:off x="6486904" y="4433256"/>
            <a:ext cx="93517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RO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  <a:p>
            <a:r>
              <a:rPr lang="en-RO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prunning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FFBDB-6868-6193-5AC4-3C4B39A3BE2D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FFDFB-853B-31BA-E598-5869A5543784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3C59A57-71F8-87A3-FC2D-BAB3AE4B4A3A}"/>
              </a:ext>
            </a:extLst>
          </p:cNvPr>
          <p:cNvSpPr/>
          <p:nvPr/>
        </p:nvSpPr>
        <p:spPr>
          <a:xfrm>
            <a:off x="1918822" y="4506560"/>
            <a:ext cx="4307514" cy="2189506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77A46FD-3DA7-37FA-6864-EC20ABACB7B6}"/>
              </a:ext>
            </a:extLst>
          </p:cNvPr>
          <p:cNvSpPr txBox="1">
            <a:spLocks/>
          </p:cNvSpPr>
          <p:nvPr/>
        </p:nvSpPr>
        <p:spPr bwMode="auto">
          <a:xfrm>
            <a:off x="1879848" y="4693446"/>
            <a:ext cx="4543409" cy="205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min-value(stare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kern="0" dirty="0" err="1">
                <a:latin typeface="Calibri" pitchFamily="34" charset="0"/>
              </a:rPr>
              <a:t>pentru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fiecare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succesor</a:t>
            </a:r>
            <a:r>
              <a:rPr lang="en-US" kern="0" dirty="0">
                <a:latin typeface="Calibri" pitchFamily="34" charset="0"/>
              </a:rPr>
              <a:t> al </a:t>
            </a:r>
            <a:r>
              <a:rPr lang="en-US" kern="0" dirty="0" err="1">
                <a:latin typeface="Calibri" pitchFamily="34" charset="0"/>
              </a:rPr>
              <a:t>stării</a:t>
            </a:r>
            <a:r>
              <a:rPr lang="en-US" kern="0" dirty="0">
                <a:latin typeface="Calibri" pitchFamily="34" charset="0"/>
              </a:rPr>
              <a:t>: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returneaza</a:t>
            </a:r>
            <a:r>
              <a:rPr lang="en-US" kern="0" dirty="0">
                <a:latin typeface="Calibri" pitchFamily="34" charset="0"/>
              </a:rPr>
              <a:t>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259916876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2700" y="4603373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2633-2C3F-79AB-DCE6-4A161CDF992E}"/>
              </a:ext>
            </a:extLst>
          </p:cNvPr>
          <p:cNvSpPr txBox="1"/>
          <p:nvPr/>
        </p:nvSpPr>
        <p:spPr>
          <a:xfrm>
            <a:off x="6322344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CAFAF6-70D9-C229-A712-1EAD8D6E0601}"/>
              </a:ext>
            </a:extLst>
          </p:cNvPr>
          <p:cNvSpPr txBox="1"/>
          <p:nvPr/>
        </p:nvSpPr>
        <p:spPr>
          <a:xfrm>
            <a:off x="6486904" y="4433256"/>
            <a:ext cx="93517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RO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  <a:p>
            <a:r>
              <a:rPr lang="en-RO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prunning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FFBDB-6868-6193-5AC4-3C4B39A3BE2D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FFDFB-853B-31BA-E598-5869A5543784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88FD0-C07A-BABA-0664-AA5BAF63DB07}"/>
              </a:ext>
            </a:extLst>
          </p:cNvPr>
          <p:cNvSpPr txBox="1"/>
          <p:nvPr/>
        </p:nvSpPr>
        <p:spPr>
          <a:xfrm>
            <a:off x="7324815" y="3147767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8B47715-BA72-9EA4-4BC8-5AADF134064F}"/>
              </a:ext>
            </a:extLst>
          </p:cNvPr>
          <p:cNvSpPr/>
          <p:nvPr/>
        </p:nvSpPr>
        <p:spPr>
          <a:xfrm>
            <a:off x="1918822" y="4506560"/>
            <a:ext cx="4307514" cy="2189506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8FA9B13-7932-4440-E4BF-C5EB4F40F3E6}"/>
              </a:ext>
            </a:extLst>
          </p:cNvPr>
          <p:cNvSpPr txBox="1">
            <a:spLocks/>
          </p:cNvSpPr>
          <p:nvPr/>
        </p:nvSpPr>
        <p:spPr bwMode="auto">
          <a:xfrm>
            <a:off x="1879848" y="4693446"/>
            <a:ext cx="4543409" cy="205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min-value(stare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initializeaza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kern="0" dirty="0" err="1">
                <a:latin typeface="Calibri" pitchFamily="34" charset="0"/>
              </a:rPr>
              <a:t>pentru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fiecare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succesor</a:t>
            </a:r>
            <a:r>
              <a:rPr lang="en-US" kern="0" dirty="0">
                <a:latin typeface="Calibri" pitchFamily="34" charset="0"/>
              </a:rPr>
              <a:t> al </a:t>
            </a:r>
            <a:r>
              <a:rPr lang="en-US" kern="0" dirty="0" err="1">
                <a:latin typeface="Calibri" pitchFamily="34" charset="0"/>
              </a:rPr>
              <a:t>stării</a:t>
            </a:r>
            <a:r>
              <a:rPr lang="en-US" kern="0" dirty="0">
                <a:latin typeface="Calibri" pitchFamily="34" charset="0"/>
              </a:rPr>
              <a:t>: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  <a:r>
              <a:rPr lang="en-US" kern="0" dirty="0" err="1">
                <a:latin typeface="Calibri" pitchFamily="34" charset="0"/>
              </a:rPr>
              <a:t>returneaza</a:t>
            </a:r>
            <a:r>
              <a:rPr lang="en-US" kern="0" dirty="0">
                <a:latin typeface="Calibri" pitchFamily="34" charset="0"/>
              </a:rPr>
              <a:t>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returneaza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195507820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4800600" y="4534325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2633-2C3F-79AB-DCE6-4A161CDF992E}"/>
              </a:ext>
            </a:extLst>
          </p:cNvPr>
          <p:cNvSpPr txBox="1"/>
          <p:nvPr/>
        </p:nvSpPr>
        <p:spPr>
          <a:xfrm>
            <a:off x="6322344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FFBDB-6868-6193-5AC4-3C4B39A3BE2D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FFDFB-853B-31BA-E598-5869A5543784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88FD0-C07A-BABA-0664-AA5BAF63DB07}"/>
              </a:ext>
            </a:extLst>
          </p:cNvPr>
          <p:cNvSpPr txBox="1"/>
          <p:nvPr/>
        </p:nvSpPr>
        <p:spPr>
          <a:xfrm>
            <a:off x="7324815" y="3147767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6C4132-E404-1D2B-3C04-3121B819E96B}"/>
              </a:ext>
            </a:extLst>
          </p:cNvPr>
          <p:cNvSpPr txBox="1"/>
          <p:nvPr/>
        </p:nvSpPr>
        <p:spPr>
          <a:xfrm>
            <a:off x="1547051" y="470473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8341E-6013-933C-1DCB-60266CF249B3}"/>
              </a:ext>
            </a:extLst>
          </p:cNvPr>
          <p:cNvSpPr txBox="1"/>
          <p:nvPr/>
        </p:nvSpPr>
        <p:spPr>
          <a:xfrm>
            <a:off x="307095" y="535271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66C7AD-E681-A31C-FECC-50311E48A236}"/>
              </a:ext>
            </a:extLst>
          </p:cNvPr>
          <p:cNvSpPr txBox="1"/>
          <p:nvPr/>
        </p:nvSpPr>
        <p:spPr>
          <a:xfrm>
            <a:off x="1776330" y="5417983"/>
            <a:ext cx="799045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C95D3-CB3F-160B-F6DB-C6421F3E65CC}"/>
              </a:ext>
            </a:extLst>
          </p:cNvPr>
          <p:cNvSpPr txBox="1"/>
          <p:nvPr/>
        </p:nvSpPr>
        <p:spPr>
          <a:xfrm>
            <a:off x="1600200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6A89CC-5B78-668C-8849-1DB4489DC913}"/>
              </a:ext>
            </a:extLst>
          </p:cNvPr>
          <p:cNvSpPr txBox="1"/>
          <p:nvPr/>
        </p:nvSpPr>
        <p:spPr>
          <a:xfrm>
            <a:off x="2828939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D87EB-D053-9483-D2B7-075619639499}"/>
              </a:ext>
            </a:extLst>
          </p:cNvPr>
          <p:cNvSpPr txBox="1"/>
          <p:nvPr/>
        </p:nvSpPr>
        <p:spPr>
          <a:xfrm>
            <a:off x="3382179" y="5425182"/>
            <a:ext cx="471019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DE96E9-FFDE-2998-C86F-A180E44785DB}"/>
              </a:ext>
            </a:extLst>
          </p:cNvPr>
          <p:cNvSpPr txBox="1"/>
          <p:nvPr/>
        </p:nvSpPr>
        <p:spPr>
          <a:xfrm>
            <a:off x="2864623" y="4531768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D84A5-7686-680F-AD66-8A740084A055}"/>
              </a:ext>
            </a:extLst>
          </p:cNvPr>
          <p:cNvSpPr txBox="1"/>
          <p:nvPr/>
        </p:nvSpPr>
        <p:spPr>
          <a:xfrm>
            <a:off x="4122284" y="5243619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</p:spTree>
    <p:extLst>
      <p:ext uri="{BB962C8B-B14F-4D97-AF65-F5344CB8AC3E}">
        <p14:creationId xmlns:p14="http://schemas.microsoft.com/office/powerpoint/2010/main" val="20843560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4800600" y="4534325"/>
            <a:ext cx="9044443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2633-2C3F-79AB-DCE6-4A161CDF992E}"/>
              </a:ext>
            </a:extLst>
          </p:cNvPr>
          <p:cNvSpPr txBox="1"/>
          <p:nvPr/>
        </p:nvSpPr>
        <p:spPr>
          <a:xfrm>
            <a:off x="6322344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FFBDB-6868-6193-5AC4-3C4B39A3BE2D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FFDFB-853B-31BA-E598-5869A5543784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88FD0-C07A-BABA-0664-AA5BAF63DB07}"/>
              </a:ext>
            </a:extLst>
          </p:cNvPr>
          <p:cNvSpPr txBox="1"/>
          <p:nvPr/>
        </p:nvSpPr>
        <p:spPr>
          <a:xfrm>
            <a:off x="7324815" y="3147767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6C4132-E404-1D2B-3C04-3121B819E96B}"/>
              </a:ext>
            </a:extLst>
          </p:cNvPr>
          <p:cNvSpPr txBox="1"/>
          <p:nvPr/>
        </p:nvSpPr>
        <p:spPr>
          <a:xfrm>
            <a:off x="1547051" y="470473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8341E-6013-933C-1DCB-60266CF249B3}"/>
              </a:ext>
            </a:extLst>
          </p:cNvPr>
          <p:cNvSpPr txBox="1"/>
          <p:nvPr/>
        </p:nvSpPr>
        <p:spPr>
          <a:xfrm>
            <a:off x="307095" y="535271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66C7AD-E681-A31C-FECC-50311E48A236}"/>
              </a:ext>
            </a:extLst>
          </p:cNvPr>
          <p:cNvSpPr txBox="1"/>
          <p:nvPr/>
        </p:nvSpPr>
        <p:spPr>
          <a:xfrm>
            <a:off x="1776330" y="5417983"/>
            <a:ext cx="799045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C95D3-CB3F-160B-F6DB-C6421F3E65CC}"/>
              </a:ext>
            </a:extLst>
          </p:cNvPr>
          <p:cNvSpPr txBox="1"/>
          <p:nvPr/>
        </p:nvSpPr>
        <p:spPr>
          <a:xfrm>
            <a:off x="1600200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6A89CC-5B78-668C-8849-1DB4489DC913}"/>
              </a:ext>
            </a:extLst>
          </p:cNvPr>
          <p:cNvSpPr txBox="1"/>
          <p:nvPr/>
        </p:nvSpPr>
        <p:spPr>
          <a:xfrm>
            <a:off x="2828939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D87EB-D053-9483-D2B7-075619639499}"/>
              </a:ext>
            </a:extLst>
          </p:cNvPr>
          <p:cNvSpPr txBox="1"/>
          <p:nvPr/>
        </p:nvSpPr>
        <p:spPr>
          <a:xfrm>
            <a:off x="3382179" y="5425182"/>
            <a:ext cx="471019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DE96E9-FFDE-2998-C86F-A180E44785DB}"/>
              </a:ext>
            </a:extLst>
          </p:cNvPr>
          <p:cNvSpPr txBox="1"/>
          <p:nvPr/>
        </p:nvSpPr>
        <p:spPr>
          <a:xfrm>
            <a:off x="2864623" y="4531768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D84A5-7686-680F-AD66-8A740084A055}"/>
              </a:ext>
            </a:extLst>
          </p:cNvPr>
          <p:cNvSpPr txBox="1"/>
          <p:nvPr/>
        </p:nvSpPr>
        <p:spPr>
          <a:xfrm>
            <a:off x="3708074" y="6367906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+14</a:t>
            </a:r>
          </a:p>
        </p:txBody>
      </p:sp>
    </p:spTree>
    <p:extLst>
      <p:ext uri="{BB962C8B-B14F-4D97-AF65-F5344CB8AC3E}">
        <p14:creationId xmlns:p14="http://schemas.microsoft.com/office/powerpoint/2010/main" val="115917428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2633-2C3F-79AB-DCE6-4A161CDF992E}"/>
              </a:ext>
            </a:extLst>
          </p:cNvPr>
          <p:cNvSpPr txBox="1"/>
          <p:nvPr/>
        </p:nvSpPr>
        <p:spPr>
          <a:xfrm>
            <a:off x="6322344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FFBDB-6868-6193-5AC4-3C4B39A3BE2D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FFDFB-853B-31BA-E598-5869A5543784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88FD0-C07A-BABA-0664-AA5BAF63DB07}"/>
              </a:ext>
            </a:extLst>
          </p:cNvPr>
          <p:cNvSpPr txBox="1"/>
          <p:nvPr/>
        </p:nvSpPr>
        <p:spPr>
          <a:xfrm>
            <a:off x="7324815" y="3147767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6C4132-E404-1D2B-3C04-3121B819E96B}"/>
              </a:ext>
            </a:extLst>
          </p:cNvPr>
          <p:cNvSpPr txBox="1"/>
          <p:nvPr/>
        </p:nvSpPr>
        <p:spPr>
          <a:xfrm>
            <a:off x="1547051" y="470473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8341E-6013-933C-1DCB-60266CF249B3}"/>
              </a:ext>
            </a:extLst>
          </p:cNvPr>
          <p:cNvSpPr txBox="1"/>
          <p:nvPr/>
        </p:nvSpPr>
        <p:spPr>
          <a:xfrm>
            <a:off x="307095" y="535271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66C7AD-E681-A31C-FECC-50311E48A236}"/>
              </a:ext>
            </a:extLst>
          </p:cNvPr>
          <p:cNvSpPr txBox="1"/>
          <p:nvPr/>
        </p:nvSpPr>
        <p:spPr>
          <a:xfrm>
            <a:off x="1776330" y="5417983"/>
            <a:ext cx="799045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C95D3-CB3F-160B-F6DB-C6421F3E65CC}"/>
              </a:ext>
            </a:extLst>
          </p:cNvPr>
          <p:cNvSpPr txBox="1"/>
          <p:nvPr/>
        </p:nvSpPr>
        <p:spPr>
          <a:xfrm>
            <a:off x="1600200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6A89CC-5B78-668C-8849-1DB4489DC913}"/>
              </a:ext>
            </a:extLst>
          </p:cNvPr>
          <p:cNvSpPr txBox="1"/>
          <p:nvPr/>
        </p:nvSpPr>
        <p:spPr>
          <a:xfrm>
            <a:off x="2828939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D87EB-D053-9483-D2B7-075619639499}"/>
              </a:ext>
            </a:extLst>
          </p:cNvPr>
          <p:cNvSpPr txBox="1"/>
          <p:nvPr/>
        </p:nvSpPr>
        <p:spPr>
          <a:xfrm>
            <a:off x="3382179" y="5425182"/>
            <a:ext cx="471019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DE96E9-FFDE-2998-C86F-A180E44785DB}"/>
              </a:ext>
            </a:extLst>
          </p:cNvPr>
          <p:cNvSpPr txBox="1"/>
          <p:nvPr/>
        </p:nvSpPr>
        <p:spPr>
          <a:xfrm>
            <a:off x="2864623" y="4531768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D84A5-7686-680F-AD66-8A740084A055}"/>
              </a:ext>
            </a:extLst>
          </p:cNvPr>
          <p:cNvSpPr txBox="1"/>
          <p:nvPr/>
        </p:nvSpPr>
        <p:spPr>
          <a:xfrm>
            <a:off x="3708074" y="6367906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95BF0A-78C3-23CB-6EB9-6DBA395B0698}"/>
              </a:ext>
            </a:extLst>
          </p:cNvPr>
          <p:cNvSpPr txBox="1"/>
          <p:nvPr/>
        </p:nvSpPr>
        <p:spPr>
          <a:xfrm>
            <a:off x="6539886" y="4685591"/>
            <a:ext cx="471019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EA27F9-4C0B-92FA-A7C6-0FAB2BCA3D52}"/>
              </a:ext>
            </a:extLst>
          </p:cNvPr>
          <p:cNvSpPr txBox="1"/>
          <p:nvPr/>
        </p:nvSpPr>
        <p:spPr>
          <a:xfrm>
            <a:off x="6449742" y="5421645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47FF36-BB12-3B68-40FF-054F1E250C48}"/>
              </a:ext>
            </a:extLst>
          </p:cNvPr>
          <p:cNvSpPr txBox="1"/>
          <p:nvPr/>
        </p:nvSpPr>
        <p:spPr>
          <a:xfrm>
            <a:off x="5198593" y="5412001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2B9A22-7A2B-B733-16ED-EF5DD66FE599}"/>
              </a:ext>
            </a:extLst>
          </p:cNvPr>
          <p:cNvSpPr txBox="1"/>
          <p:nvPr/>
        </p:nvSpPr>
        <p:spPr>
          <a:xfrm>
            <a:off x="7656932" y="5443948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FB5571-DC50-2118-34F2-D56E6CB51486}"/>
              </a:ext>
            </a:extLst>
          </p:cNvPr>
          <p:cNvSpPr txBox="1"/>
          <p:nvPr/>
        </p:nvSpPr>
        <p:spPr>
          <a:xfrm>
            <a:off x="6067075" y="538314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E0C9B1-F772-BF3A-4EBD-ED6A6E8CAA37}"/>
              </a:ext>
            </a:extLst>
          </p:cNvPr>
          <p:cNvSpPr txBox="1"/>
          <p:nvPr/>
        </p:nvSpPr>
        <p:spPr>
          <a:xfrm>
            <a:off x="7306662" y="536439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5C5CF-A0F7-D651-7ACA-45938ABD921C}"/>
              </a:ext>
            </a:extLst>
          </p:cNvPr>
          <p:cNvSpPr txBox="1"/>
          <p:nvPr/>
        </p:nvSpPr>
        <p:spPr>
          <a:xfrm>
            <a:off x="8591214" y="6098838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C38FDE-3E75-8FD7-FFB4-B3F190556FD2}"/>
              </a:ext>
            </a:extLst>
          </p:cNvPr>
          <p:cNvSpPr txBox="1"/>
          <p:nvPr/>
        </p:nvSpPr>
        <p:spPr>
          <a:xfrm>
            <a:off x="7315200" y="4516668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</p:spTree>
    <p:extLst>
      <p:ext uri="{BB962C8B-B14F-4D97-AF65-F5344CB8AC3E}">
        <p14:creationId xmlns:p14="http://schemas.microsoft.com/office/powerpoint/2010/main" val="129961766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2633-2C3F-79AB-DCE6-4A161CDF992E}"/>
              </a:ext>
            </a:extLst>
          </p:cNvPr>
          <p:cNvSpPr txBox="1"/>
          <p:nvPr/>
        </p:nvSpPr>
        <p:spPr>
          <a:xfrm>
            <a:off x="6322344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FFBDB-6868-6193-5AC4-3C4B39A3BE2D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FFDFB-853B-31BA-E598-5869A5543784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88FD0-C07A-BABA-0664-AA5BAF63DB07}"/>
              </a:ext>
            </a:extLst>
          </p:cNvPr>
          <p:cNvSpPr txBox="1"/>
          <p:nvPr/>
        </p:nvSpPr>
        <p:spPr>
          <a:xfrm>
            <a:off x="7324815" y="3147767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6C4132-E404-1D2B-3C04-3121B819E96B}"/>
              </a:ext>
            </a:extLst>
          </p:cNvPr>
          <p:cNvSpPr txBox="1"/>
          <p:nvPr/>
        </p:nvSpPr>
        <p:spPr>
          <a:xfrm>
            <a:off x="1547051" y="470473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8341E-6013-933C-1DCB-60266CF249B3}"/>
              </a:ext>
            </a:extLst>
          </p:cNvPr>
          <p:cNvSpPr txBox="1"/>
          <p:nvPr/>
        </p:nvSpPr>
        <p:spPr>
          <a:xfrm>
            <a:off x="307095" y="535271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66C7AD-E681-A31C-FECC-50311E48A236}"/>
              </a:ext>
            </a:extLst>
          </p:cNvPr>
          <p:cNvSpPr txBox="1"/>
          <p:nvPr/>
        </p:nvSpPr>
        <p:spPr>
          <a:xfrm>
            <a:off x="1776330" y="5417983"/>
            <a:ext cx="799045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C95D3-CB3F-160B-F6DB-C6421F3E65CC}"/>
              </a:ext>
            </a:extLst>
          </p:cNvPr>
          <p:cNvSpPr txBox="1"/>
          <p:nvPr/>
        </p:nvSpPr>
        <p:spPr>
          <a:xfrm>
            <a:off x="1600200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6A89CC-5B78-668C-8849-1DB4489DC913}"/>
              </a:ext>
            </a:extLst>
          </p:cNvPr>
          <p:cNvSpPr txBox="1"/>
          <p:nvPr/>
        </p:nvSpPr>
        <p:spPr>
          <a:xfrm>
            <a:off x="2828939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D87EB-D053-9483-D2B7-075619639499}"/>
              </a:ext>
            </a:extLst>
          </p:cNvPr>
          <p:cNvSpPr txBox="1"/>
          <p:nvPr/>
        </p:nvSpPr>
        <p:spPr>
          <a:xfrm>
            <a:off x="3382179" y="5425182"/>
            <a:ext cx="471019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DE96E9-FFDE-2998-C86F-A180E44785DB}"/>
              </a:ext>
            </a:extLst>
          </p:cNvPr>
          <p:cNvSpPr txBox="1"/>
          <p:nvPr/>
        </p:nvSpPr>
        <p:spPr>
          <a:xfrm>
            <a:off x="2864623" y="4531768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D84A5-7686-680F-AD66-8A740084A055}"/>
              </a:ext>
            </a:extLst>
          </p:cNvPr>
          <p:cNvSpPr txBox="1"/>
          <p:nvPr/>
        </p:nvSpPr>
        <p:spPr>
          <a:xfrm>
            <a:off x="3708074" y="6367906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95BF0A-78C3-23CB-6EB9-6DBA395B0698}"/>
              </a:ext>
            </a:extLst>
          </p:cNvPr>
          <p:cNvSpPr txBox="1"/>
          <p:nvPr/>
        </p:nvSpPr>
        <p:spPr>
          <a:xfrm>
            <a:off x="6539886" y="4685591"/>
            <a:ext cx="471019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EA27F9-4C0B-92FA-A7C6-0FAB2BCA3D52}"/>
              </a:ext>
            </a:extLst>
          </p:cNvPr>
          <p:cNvSpPr txBox="1"/>
          <p:nvPr/>
        </p:nvSpPr>
        <p:spPr>
          <a:xfrm>
            <a:off x="6449742" y="5421645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47FF36-BB12-3B68-40FF-054F1E250C48}"/>
              </a:ext>
            </a:extLst>
          </p:cNvPr>
          <p:cNvSpPr txBox="1"/>
          <p:nvPr/>
        </p:nvSpPr>
        <p:spPr>
          <a:xfrm>
            <a:off x="5198593" y="5412001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2B9A22-7A2B-B733-16ED-EF5DD66FE599}"/>
              </a:ext>
            </a:extLst>
          </p:cNvPr>
          <p:cNvSpPr txBox="1"/>
          <p:nvPr/>
        </p:nvSpPr>
        <p:spPr>
          <a:xfrm>
            <a:off x="7656932" y="5443948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FB5571-DC50-2118-34F2-D56E6CB51486}"/>
              </a:ext>
            </a:extLst>
          </p:cNvPr>
          <p:cNvSpPr txBox="1"/>
          <p:nvPr/>
        </p:nvSpPr>
        <p:spPr>
          <a:xfrm>
            <a:off x="6067075" y="538314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E0C9B1-F772-BF3A-4EBD-ED6A6E8CAA37}"/>
              </a:ext>
            </a:extLst>
          </p:cNvPr>
          <p:cNvSpPr txBox="1"/>
          <p:nvPr/>
        </p:nvSpPr>
        <p:spPr>
          <a:xfrm>
            <a:off x="7306662" y="536439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5C5CF-A0F7-D651-7ACA-45938ABD921C}"/>
              </a:ext>
            </a:extLst>
          </p:cNvPr>
          <p:cNvSpPr txBox="1"/>
          <p:nvPr/>
        </p:nvSpPr>
        <p:spPr>
          <a:xfrm>
            <a:off x="8567898" y="5558372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C38FDE-3E75-8FD7-FFB4-B3F190556FD2}"/>
              </a:ext>
            </a:extLst>
          </p:cNvPr>
          <p:cNvSpPr txBox="1"/>
          <p:nvPr/>
        </p:nvSpPr>
        <p:spPr>
          <a:xfrm>
            <a:off x="7315200" y="4516668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</p:spTree>
    <p:extLst>
      <p:ext uri="{BB962C8B-B14F-4D97-AF65-F5344CB8AC3E}">
        <p14:creationId xmlns:p14="http://schemas.microsoft.com/office/powerpoint/2010/main" val="91747428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2633-2C3F-79AB-DCE6-4A161CDF992E}"/>
              </a:ext>
            </a:extLst>
          </p:cNvPr>
          <p:cNvSpPr txBox="1"/>
          <p:nvPr/>
        </p:nvSpPr>
        <p:spPr>
          <a:xfrm>
            <a:off x="6322344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FFBDB-6868-6193-5AC4-3C4B39A3BE2D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FFDFB-853B-31BA-E598-5869A5543784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88FD0-C07A-BABA-0664-AA5BAF63DB07}"/>
              </a:ext>
            </a:extLst>
          </p:cNvPr>
          <p:cNvSpPr txBox="1"/>
          <p:nvPr/>
        </p:nvSpPr>
        <p:spPr>
          <a:xfrm>
            <a:off x="7324815" y="3147767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6C4132-E404-1D2B-3C04-3121B819E96B}"/>
              </a:ext>
            </a:extLst>
          </p:cNvPr>
          <p:cNvSpPr txBox="1"/>
          <p:nvPr/>
        </p:nvSpPr>
        <p:spPr>
          <a:xfrm>
            <a:off x="1547051" y="470473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8341E-6013-933C-1DCB-60266CF249B3}"/>
              </a:ext>
            </a:extLst>
          </p:cNvPr>
          <p:cNvSpPr txBox="1"/>
          <p:nvPr/>
        </p:nvSpPr>
        <p:spPr>
          <a:xfrm>
            <a:off x="307095" y="535271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66C7AD-E681-A31C-FECC-50311E48A236}"/>
              </a:ext>
            </a:extLst>
          </p:cNvPr>
          <p:cNvSpPr txBox="1"/>
          <p:nvPr/>
        </p:nvSpPr>
        <p:spPr>
          <a:xfrm>
            <a:off x="1776330" y="5417983"/>
            <a:ext cx="799045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C95D3-CB3F-160B-F6DB-C6421F3E65CC}"/>
              </a:ext>
            </a:extLst>
          </p:cNvPr>
          <p:cNvSpPr txBox="1"/>
          <p:nvPr/>
        </p:nvSpPr>
        <p:spPr>
          <a:xfrm>
            <a:off x="1600200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6A89CC-5B78-668C-8849-1DB4489DC913}"/>
              </a:ext>
            </a:extLst>
          </p:cNvPr>
          <p:cNvSpPr txBox="1"/>
          <p:nvPr/>
        </p:nvSpPr>
        <p:spPr>
          <a:xfrm>
            <a:off x="2828939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D87EB-D053-9483-D2B7-075619639499}"/>
              </a:ext>
            </a:extLst>
          </p:cNvPr>
          <p:cNvSpPr txBox="1"/>
          <p:nvPr/>
        </p:nvSpPr>
        <p:spPr>
          <a:xfrm>
            <a:off x="3382179" y="5425182"/>
            <a:ext cx="471019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DE96E9-FFDE-2998-C86F-A180E44785DB}"/>
              </a:ext>
            </a:extLst>
          </p:cNvPr>
          <p:cNvSpPr txBox="1"/>
          <p:nvPr/>
        </p:nvSpPr>
        <p:spPr>
          <a:xfrm>
            <a:off x="2864623" y="4531768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D84A5-7686-680F-AD66-8A740084A055}"/>
              </a:ext>
            </a:extLst>
          </p:cNvPr>
          <p:cNvSpPr txBox="1"/>
          <p:nvPr/>
        </p:nvSpPr>
        <p:spPr>
          <a:xfrm>
            <a:off x="3708074" y="6367906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95BF0A-78C3-23CB-6EB9-6DBA395B0698}"/>
              </a:ext>
            </a:extLst>
          </p:cNvPr>
          <p:cNvSpPr txBox="1"/>
          <p:nvPr/>
        </p:nvSpPr>
        <p:spPr>
          <a:xfrm>
            <a:off x="6539886" y="4685591"/>
            <a:ext cx="471019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EA27F9-4C0B-92FA-A7C6-0FAB2BCA3D52}"/>
              </a:ext>
            </a:extLst>
          </p:cNvPr>
          <p:cNvSpPr txBox="1"/>
          <p:nvPr/>
        </p:nvSpPr>
        <p:spPr>
          <a:xfrm>
            <a:off x="6449742" y="5421645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47FF36-BB12-3B68-40FF-054F1E250C48}"/>
              </a:ext>
            </a:extLst>
          </p:cNvPr>
          <p:cNvSpPr txBox="1"/>
          <p:nvPr/>
        </p:nvSpPr>
        <p:spPr>
          <a:xfrm>
            <a:off x="5198593" y="5412001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2B9A22-7A2B-B733-16ED-EF5DD66FE599}"/>
              </a:ext>
            </a:extLst>
          </p:cNvPr>
          <p:cNvSpPr txBox="1"/>
          <p:nvPr/>
        </p:nvSpPr>
        <p:spPr>
          <a:xfrm>
            <a:off x="7656932" y="5443948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FB5571-DC50-2118-34F2-D56E6CB51486}"/>
              </a:ext>
            </a:extLst>
          </p:cNvPr>
          <p:cNvSpPr txBox="1"/>
          <p:nvPr/>
        </p:nvSpPr>
        <p:spPr>
          <a:xfrm>
            <a:off x="6067075" y="538314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E0C9B1-F772-BF3A-4EBD-ED6A6E8CAA37}"/>
              </a:ext>
            </a:extLst>
          </p:cNvPr>
          <p:cNvSpPr txBox="1"/>
          <p:nvPr/>
        </p:nvSpPr>
        <p:spPr>
          <a:xfrm>
            <a:off x="7306662" y="536439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732022-B34C-8AD8-074B-6194C8B70D21}"/>
              </a:ext>
            </a:extLst>
          </p:cNvPr>
          <p:cNvSpPr txBox="1"/>
          <p:nvPr/>
        </p:nvSpPr>
        <p:spPr>
          <a:xfrm>
            <a:off x="7315200" y="4516668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B62F43-AF5A-5553-4069-8AB95F0088DB}"/>
              </a:ext>
            </a:extLst>
          </p:cNvPr>
          <p:cNvSpPr txBox="1"/>
          <p:nvPr/>
        </p:nvSpPr>
        <p:spPr>
          <a:xfrm>
            <a:off x="8573425" y="5443948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D=2</a:t>
            </a:r>
          </a:p>
        </p:txBody>
      </p:sp>
    </p:spTree>
    <p:extLst>
      <p:ext uri="{BB962C8B-B14F-4D97-AF65-F5344CB8AC3E}">
        <p14:creationId xmlns:p14="http://schemas.microsoft.com/office/powerpoint/2010/main" val="173796004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Intuiție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65286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Introducerea</a:t>
            </a:r>
            <a:r>
              <a:rPr lang="en-US" dirty="0">
                <a:latin typeface="Times New Roman"/>
                <a:cs typeface="Times New Roman"/>
              </a:rPr>
              <a:t>  a </a:t>
            </a:r>
            <a:r>
              <a:rPr lang="en-US" dirty="0" err="1">
                <a:latin typeface="Times New Roman"/>
                <a:cs typeface="Times New Roman"/>
              </a:rPr>
              <a:t>două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beta, </a:t>
            </a:r>
            <a:r>
              <a:rPr lang="en-US" dirty="0" err="1">
                <a:latin typeface="Times New Roman"/>
                <a:cs typeface="Times New Roman"/>
              </a:rPr>
              <a:t>reprezentând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valorii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corespunzătoare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nod intern. </a:t>
            </a:r>
            <a:r>
              <a:rPr lang="en-US" dirty="0" err="1">
                <a:latin typeface="Times New Roman"/>
                <a:cs typeface="Times New Roman"/>
              </a:rPr>
              <a:t>Semnificația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acestor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limite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următoarea</a:t>
            </a:r>
            <a:r>
              <a:rPr lang="en-US" dirty="0">
                <a:latin typeface="Times New Roman"/>
                <a:cs typeface="Times New Roman"/>
              </a:rPr>
              <a:t>:</a:t>
            </a:r>
          </a:p>
          <a:p>
            <a:r>
              <a:rPr lang="en-US" dirty="0">
                <a:latin typeface="Times New Roman"/>
                <a:cs typeface="Times New Roman"/>
              </a:rPr>
              <a:t>-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MAX,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deja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garantat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obține</a:t>
            </a:r>
            <a:r>
              <a:rPr lang="en-US" dirty="0">
                <a:latin typeface="Times New Roman"/>
                <a:cs typeface="Times New Roman"/>
              </a:rPr>
              <a:t> MAX;</a:t>
            </a:r>
          </a:p>
          <a:p>
            <a:r>
              <a:rPr lang="en-US" dirty="0">
                <a:latin typeface="Times New Roman"/>
                <a:cs typeface="Times New Roman"/>
              </a:rPr>
              <a:t>-beta: </a:t>
            </a:r>
            <a:r>
              <a:rPr lang="en-US" dirty="0" err="1">
                <a:latin typeface="Times New Roman"/>
                <a:cs typeface="Times New Roman"/>
              </a:rPr>
              <a:t>caracterizează</a:t>
            </a:r>
            <a:r>
              <a:rPr lang="en-US" dirty="0">
                <a:latin typeface="Times New Roman"/>
                <a:cs typeface="Times New Roman"/>
              </a:rPr>
              <a:t> un nod de tip MIN,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nefavorabilă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acesta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atinge</a:t>
            </a:r>
            <a:r>
              <a:rPr lang="en-US" dirty="0">
                <a:latin typeface="Times New Roman"/>
                <a:cs typeface="Times New Roman"/>
              </a:rPr>
              <a:t>. In </a:t>
            </a:r>
            <a:r>
              <a:rPr lang="en-US" dirty="0" err="1">
                <a:latin typeface="Times New Roman"/>
                <a:cs typeface="Times New Roman"/>
              </a:rPr>
              <a:t>acelasi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maximă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care MAX </a:t>
            </a:r>
            <a:r>
              <a:rPr lang="en-US" dirty="0" err="1">
                <a:latin typeface="Times New Roman"/>
                <a:cs typeface="Times New Roman"/>
              </a:rPr>
              <a:t>poate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spera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atingă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nodului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va</a:t>
            </a:r>
            <a:r>
              <a:rPr lang="en-US" dirty="0">
                <a:latin typeface="Times New Roman"/>
                <a:cs typeface="Times New Roman"/>
              </a:rPr>
              <a:t> fi </a:t>
            </a:r>
            <a:r>
              <a:rPr lang="en-US" dirty="0" err="1">
                <a:latin typeface="Times New Roman"/>
                <a:cs typeface="Times New Roman"/>
              </a:rPr>
              <a:t>găsită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află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beta.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52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99" name="AutoShape 13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00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54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97" name="AutoShape 17"/>
              <p:cNvCxnSpPr>
                <a:cxnSpLocks noChangeShapeType="1"/>
                <a:stCxn id="91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55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95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6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6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93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4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57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91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2" name="AutoShape 7"/>
              <p:cNvCxnSpPr>
                <a:cxnSpLocks noChangeShapeType="1"/>
                <a:stCxn id="52" idx="3"/>
                <a:endCxn id="91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58" name="AutoShape 9"/>
            <p:cNvCxnSpPr>
              <a:cxnSpLocks noChangeShapeType="1"/>
              <a:stCxn id="91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0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AutoShape 21"/>
            <p:cNvCxnSpPr>
              <a:cxnSpLocks noChangeShapeType="1"/>
              <a:stCxn id="52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21"/>
            <p:cNvCxnSpPr>
              <a:cxnSpLocks noChangeShapeType="1"/>
              <a:stCxn id="91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4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89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90" name="AutoShape 21"/>
              <p:cNvCxnSpPr>
                <a:cxnSpLocks noChangeShapeType="1"/>
                <a:stCxn id="52" idx="3"/>
                <a:endCxn id="89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85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6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87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8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83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4" name="AutoShape 27"/>
              <p:cNvCxnSpPr>
                <a:cxnSpLocks noChangeShapeType="1"/>
                <a:stCxn id="52" idx="3"/>
                <a:endCxn id="83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68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79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80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81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2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69" name="TextBox 68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pic>
        <p:nvPicPr>
          <p:cNvPr id="13" name="Picture 12" descr="Screen Shot 2020-01-09 at 10.31.1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39700"/>
            <a:ext cx="9118600" cy="6565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698F29-209A-CCA4-1BF9-CBF39FFE195E}"/>
              </a:ext>
            </a:extLst>
          </p:cNvPr>
          <p:cNvSpPr txBox="1"/>
          <p:nvPr/>
        </p:nvSpPr>
        <p:spPr>
          <a:xfrm>
            <a:off x="1537750" y="246584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98FD-2F39-377F-B8BF-3D467572F7D7}"/>
              </a:ext>
            </a:extLst>
          </p:cNvPr>
          <p:cNvSpPr txBox="1"/>
          <p:nvPr/>
        </p:nvSpPr>
        <p:spPr>
          <a:xfrm>
            <a:off x="1600200" y="24536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79EC-2E4E-821A-6B80-93ADB8154258}"/>
              </a:ext>
            </a:extLst>
          </p:cNvPr>
          <p:cNvSpPr txBox="1"/>
          <p:nvPr/>
        </p:nvSpPr>
        <p:spPr>
          <a:xfrm>
            <a:off x="306341" y="966253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10A08-0B25-7C79-B4E9-5D3E685A1E43}"/>
              </a:ext>
            </a:extLst>
          </p:cNvPr>
          <p:cNvSpPr txBox="1"/>
          <p:nvPr/>
        </p:nvSpPr>
        <p:spPr>
          <a:xfrm>
            <a:off x="5991354" y="2412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AE112-3A2C-7726-C9BD-33E75882B2D0}"/>
              </a:ext>
            </a:extLst>
          </p:cNvPr>
          <p:cNvSpPr txBox="1"/>
          <p:nvPr/>
        </p:nvSpPr>
        <p:spPr>
          <a:xfrm>
            <a:off x="4766464" y="926312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64A6-BA45-9F4F-7D9F-12B173F4887B}"/>
              </a:ext>
            </a:extLst>
          </p:cNvPr>
          <p:cNvSpPr txBox="1"/>
          <p:nvPr/>
        </p:nvSpPr>
        <p:spPr>
          <a:xfrm>
            <a:off x="323753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4125D-F68C-4063-010C-DCBDFFA4E6F9}"/>
              </a:ext>
            </a:extLst>
          </p:cNvPr>
          <p:cNvSpPr txBox="1"/>
          <p:nvPr/>
        </p:nvSpPr>
        <p:spPr>
          <a:xfrm>
            <a:off x="4745038" y="3182536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AB7B1-81F7-62A5-6ACB-F574E78FE3F4}"/>
              </a:ext>
            </a:extLst>
          </p:cNvPr>
          <p:cNvSpPr txBox="1"/>
          <p:nvPr/>
        </p:nvSpPr>
        <p:spPr>
          <a:xfrm>
            <a:off x="5978121" y="2443560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32BAB-AD7A-3358-AE6D-9525A55BC95E}"/>
              </a:ext>
            </a:extLst>
          </p:cNvPr>
          <p:cNvSpPr txBox="1"/>
          <p:nvPr/>
        </p:nvSpPr>
        <p:spPr>
          <a:xfrm>
            <a:off x="6172199" y="3199961"/>
            <a:ext cx="87193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2633-2C3F-79AB-DCE6-4A161CDF992E}"/>
              </a:ext>
            </a:extLst>
          </p:cNvPr>
          <p:cNvSpPr txBox="1"/>
          <p:nvPr/>
        </p:nvSpPr>
        <p:spPr>
          <a:xfrm>
            <a:off x="6322344" y="2299593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FFBDB-6868-6193-5AC4-3C4B39A3BE2D}"/>
              </a:ext>
            </a:extLst>
          </p:cNvPr>
          <p:cNvSpPr txBox="1"/>
          <p:nvPr/>
        </p:nvSpPr>
        <p:spPr>
          <a:xfrm>
            <a:off x="1612549" y="3139862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FFDFB-853B-31BA-E598-5869A5543784}"/>
              </a:ext>
            </a:extLst>
          </p:cNvPr>
          <p:cNvSpPr txBox="1"/>
          <p:nvPr/>
        </p:nvSpPr>
        <p:spPr>
          <a:xfrm>
            <a:off x="6093678" y="313718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88FD0-C07A-BABA-0664-AA5BAF63DB07}"/>
              </a:ext>
            </a:extLst>
          </p:cNvPr>
          <p:cNvSpPr txBox="1"/>
          <p:nvPr/>
        </p:nvSpPr>
        <p:spPr>
          <a:xfrm>
            <a:off x="7324815" y="3147767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6C4132-E404-1D2B-3C04-3121B819E96B}"/>
              </a:ext>
            </a:extLst>
          </p:cNvPr>
          <p:cNvSpPr txBox="1"/>
          <p:nvPr/>
        </p:nvSpPr>
        <p:spPr>
          <a:xfrm>
            <a:off x="1547051" y="4704738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8341E-6013-933C-1DCB-60266CF249B3}"/>
              </a:ext>
            </a:extLst>
          </p:cNvPr>
          <p:cNvSpPr txBox="1"/>
          <p:nvPr/>
        </p:nvSpPr>
        <p:spPr>
          <a:xfrm>
            <a:off x="307095" y="5352714"/>
            <a:ext cx="1024736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66C7AD-E681-A31C-FECC-50311E48A236}"/>
              </a:ext>
            </a:extLst>
          </p:cNvPr>
          <p:cNvSpPr txBox="1"/>
          <p:nvPr/>
        </p:nvSpPr>
        <p:spPr>
          <a:xfrm>
            <a:off x="1776330" y="5417983"/>
            <a:ext cx="799045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C95D3-CB3F-160B-F6DB-C6421F3E65CC}"/>
              </a:ext>
            </a:extLst>
          </p:cNvPr>
          <p:cNvSpPr txBox="1"/>
          <p:nvPr/>
        </p:nvSpPr>
        <p:spPr>
          <a:xfrm>
            <a:off x="1600200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6A89CC-5B78-668C-8849-1DB4489DC913}"/>
              </a:ext>
            </a:extLst>
          </p:cNvPr>
          <p:cNvSpPr txBox="1"/>
          <p:nvPr/>
        </p:nvSpPr>
        <p:spPr>
          <a:xfrm>
            <a:off x="2828939" y="534139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D87EB-D053-9483-D2B7-075619639499}"/>
              </a:ext>
            </a:extLst>
          </p:cNvPr>
          <p:cNvSpPr txBox="1"/>
          <p:nvPr/>
        </p:nvSpPr>
        <p:spPr>
          <a:xfrm>
            <a:off x="3382179" y="5425182"/>
            <a:ext cx="471019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DE96E9-FFDE-2998-C86F-A180E44785DB}"/>
              </a:ext>
            </a:extLst>
          </p:cNvPr>
          <p:cNvSpPr txBox="1"/>
          <p:nvPr/>
        </p:nvSpPr>
        <p:spPr>
          <a:xfrm>
            <a:off x="2864623" y="4531768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D84A5-7686-680F-AD66-8A740084A055}"/>
              </a:ext>
            </a:extLst>
          </p:cNvPr>
          <p:cNvSpPr txBox="1"/>
          <p:nvPr/>
        </p:nvSpPr>
        <p:spPr>
          <a:xfrm>
            <a:off x="3708074" y="6367906"/>
            <a:ext cx="6783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95BF0A-78C3-23CB-6EB9-6DBA395B0698}"/>
              </a:ext>
            </a:extLst>
          </p:cNvPr>
          <p:cNvSpPr txBox="1"/>
          <p:nvPr/>
        </p:nvSpPr>
        <p:spPr>
          <a:xfrm>
            <a:off x="6539886" y="4685591"/>
            <a:ext cx="471019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EA27F9-4C0B-92FA-A7C6-0FAB2BCA3D52}"/>
              </a:ext>
            </a:extLst>
          </p:cNvPr>
          <p:cNvSpPr txBox="1"/>
          <p:nvPr/>
        </p:nvSpPr>
        <p:spPr>
          <a:xfrm>
            <a:off x="6449742" y="5421645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47FF36-BB12-3B68-40FF-054F1E250C48}"/>
              </a:ext>
            </a:extLst>
          </p:cNvPr>
          <p:cNvSpPr txBox="1"/>
          <p:nvPr/>
        </p:nvSpPr>
        <p:spPr>
          <a:xfrm>
            <a:off x="5198593" y="5412001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2B9A22-7A2B-B733-16ED-EF5DD66FE599}"/>
              </a:ext>
            </a:extLst>
          </p:cNvPr>
          <p:cNvSpPr txBox="1"/>
          <p:nvPr/>
        </p:nvSpPr>
        <p:spPr>
          <a:xfrm>
            <a:off x="7656932" y="5443948"/>
            <a:ext cx="566223" cy="2927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RO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FB5571-DC50-2118-34F2-D56E6CB51486}"/>
              </a:ext>
            </a:extLst>
          </p:cNvPr>
          <p:cNvSpPr txBox="1"/>
          <p:nvPr/>
        </p:nvSpPr>
        <p:spPr>
          <a:xfrm>
            <a:off x="6067075" y="538314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B=3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E0C9B1-F772-BF3A-4EBD-ED6A6E8CAA37}"/>
              </a:ext>
            </a:extLst>
          </p:cNvPr>
          <p:cNvSpPr txBox="1"/>
          <p:nvPr/>
        </p:nvSpPr>
        <p:spPr>
          <a:xfrm>
            <a:off x="7306662" y="5364399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C=2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B62F43-AF5A-5553-4069-8AB95F0088DB}"/>
              </a:ext>
            </a:extLst>
          </p:cNvPr>
          <p:cNvSpPr txBox="1"/>
          <p:nvPr/>
        </p:nvSpPr>
        <p:spPr>
          <a:xfrm>
            <a:off x="8573425" y="5443948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D=2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C93055-2BA3-929E-60FD-A10EE4C675D1}"/>
              </a:ext>
            </a:extLst>
          </p:cNvPr>
          <p:cNvSpPr txBox="1"/>
          <p:nvPr/>
        </p:nvSpPr>
        <p:spPr>
          <a:xfrm>
            <a:off x="7349317" y="4601653"/>
            <a:ext cx="6152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RO" dirty="0">
                <a:solidFill>
                  <a:srgbClr val="FF0000"/>
                </a:solidFill>
                <a:latin typeface="Times" pitchFamily="2" charset="0"/>
              </a:rPr>
              <a:t>A=3</a:t>
            </a:r>
          </a:p>
        </p:txBody>
      </p:sp>
    </p:spTree>
    <p:extLst>
      <p:ext uri="{BB962C8B-B14F-4D97-AF65-F5344CB8AC3E}">
        <p14:creationId xmlns:p14="http://schemas.microsoft.com/office/powerpoint/2010/main" val="296328042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97001" y="161380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7076" y="282278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814982" y="1692238"/>
            <a:ext cx="508385" cy="537897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 rot="10800000">
            <a:off x="1508582" y="2759193"/>
            <a:ext cx="508385" cy="537897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AutoShape 7"/>
          <p:cNvSpPr>
            <a:spLocks noChangeArrowheads="1"/>
          </p:cNvSpPr>
          <p:nvPr/>
        </p:nvSpPr>
        <p:spPr bwMode="auto">
          <a:xfrm rot="10800000">
            <a:off x="4255529" y="2746555"/>
            <a:ext cx="508385" cy="537897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009969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766235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804173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AutoShape 12"/>
          <p:cNvCxnSpPr>
            <a:cxnSpLocks noChangeShapeType="1"/>
            <a:stCxn id="13" idx="3"/>
          </p:cNvCxnSpPr>
          <p:nvPr/>
        </p:nvCxnSpPr>
        <p:spPr bwMode="auto">
          <a:xfrm flipH="1">
            <a:off x="1762775" y="2230135"/>
            <a:ext cx="1306400" cy="5164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" name="AutoShape 13"/>
          <p:cNvCxnSpPr>
            <a:cxnSpLocks noChangeShapeType="1"/>
            <a:stCxn id="13" idx="3"/>
            <a:endCxn id="15" idx="3"/>
          </p:cNvCxnSpPr>
          <p:nvPr/>
        </p:nvCxnSpPr>
        <p:spPr bwMode="auto">
          <a:xfrm>
            <a:off x="3069175" y="2230135"/>
            <a:ext cx="1440546" cy="5164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" name="AutoShape 16"/>
          <p:cNvCxnSpPr>
            <a:cxnSpLocks noChangeShapeType="1"/>
            <a:stCxn id="15" idx="0"/>
            <a:endCxn id="18" idx="0"/>
          </p:cNvCxnSpPr>
          <p:nvPr/>
        </p:nvCxnSpPr>
        <p:spPr bwMode="auto">
          <a:xfrm flipH="1">
            <a:off x="4058366" y="3284452"/>
            <a:ext cx="451355" cy="65386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" name="AutoShape 17"/>
          <p:cNvCxnSpPr>
            <a:cxnSpLocks noChangeShapeType="1"/>
            <a:stCxn id="15" idx="0"/>
            <a:endCxn id="17" idx="0"/>
          </p:cNvCxnSpPr>
          <p:nvPr/>
        </p:nvCxnSpPr>
        <p:spPr bwMode="auto">
          <a:xfrm>
            <a:off x="4509721" y="3284452"/>
            <a:ext cx="510707" cy="65386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6" name="AutoShape 16"/>
          <p:cNvCxnSpPr>
            <a:cxnSpLocks noChangeShapeType="1"/>
            <a:stCxn id="14" idx="0"/>
          </p:cNvCxnSpPr>
          <p:nvPr/>
        </p:nvCxnSpPr>
        <p:spPr bwMode="auto">
          <a:xfrm flipH="1">
            <a:off x="1343010" y="3297090"/>
            <a:ext cx="419764" cy="6349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" name="AutoShape 17"/>
          <p:cNvCxnSpPr>
            <a:cxnSpLocks noChangeShapeType="1"/>
          </p:cNvCxnSpPr>
          <p:nvPr/>
        </p:nvCxnSpPr>
        <p:spPr bwMode="auto">
          <a:xfrm>
            <a:off x="1762774" y="3303410"/>
            <a:ext cx="481648" cy="63490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1939505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9277" y="2708641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7855" y="2750858"/>
            <a:ext cx="776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6555" y="1720669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9128" y="273850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97116" y="179374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13198" y="2671654"/>
            <a:ext cx="173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Valoare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</a:p>
          <a:p>
            <a:pPr algn="ctr"/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aproximativă</a:t>
            </a:r>
            <a:endParaRPr lang="en-US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095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97001" y="161380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814982" y="1692238"/>
            <a:ext cx="508385" cy="537897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 rot="10800000">
            <a:off x="1508582" y="2759193"/>
            <a:ext cx="508385" cy="537897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AutoShape 7"/>
          <p:cNvSpPr>
            <a:spLocks noChangeArrowheads="1"/>
          </p:cNvSpPr>
          <p:nvPr/>
        </p:nvSpPr>
        <p:spPr bwMode="auto">
          <a:xfrm rot="10800000">
            <a:off x="4255529" y="2746555"/>
            <a:ext cx="508385" cy="537897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009969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766235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804173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AutoShape 12"/>
          <p:cNvCxnSpPr>
            <a:cxnSpLocks noChangeShapeType="1"/>
            <a:stCxn id="13" idx="3"/>
          </p:cNvCxnSpPr>
          <p:nvPr/>
        </p:nvCxnSpPr>
        <p:spPr bwMode="auto">
          <a:xfrm flipH="1">
            <a:off x="1762775" y="2230135"/>
            <a:ext cx="1306400" cy="5164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" name="AutoShape 13"/>
          <p:cNvCxnSpPr>
            <a:cxnSpLocks noChangeShapeType="1"/>
            <a:stCxn id="13" idx="3"/>
            <a:endCxn id="15" idx="3"/>
          </p:cNvCxnSpPr>
          <p:nvPr/>
        </p:nvCxnSpPr>
        <p:spPr bwMode="auto">
          <a:xfrm>
            <a:off x="3069175" y="2230135"/>
            <a:ext cx="1440546" cy="5164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" name="AutoShape 16"/>
          <p:cNvCxnSpPr>
            <a:cxnSpLocks noChangeShapeType="1"/>
            <a:stCxn id="15" idx="0"/>
            <a:endCxn id="18" idx="0"/>
          </p:cNvCxnSpPr>
          <p:nvPr/>
        </p:nvCxnSpPr>
        <p:spPr bwMode="auto">
          <a:xfrm flipH="1">
            <a:off x="4058366" y="3284452"/>
            <a:ext cx="451355" cy="65386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" name="AutoShape 17"/>
          <p:cNvCxnSpPr>
            <a:cxnSpLocks noChangeShapeType="1"/>
            <a:stCxn id="15" idx="0"/>
            <a:endCxn id="17" idx="0"/>
          </p:cNvCxnSpPr>
          <p:nvPr/>
        </p:nvCxnSpPr>
        <p:spPr bwMode="auto">
          <a:xfrm>
            <a:off x="4509721" y="3284452"/>
            <a:ext cx="510707" cy="65386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36" name="AutoShape 16"/>
          <p:cNvCxnSpPr>
            <a:cxnSpLocks noChangeShapeType="1"/>
            <a:stCxn id="14" idx="0"/>
          </p:cNvCxnSpPr>
          <p:nvPr/>
        </p:nvCxnSpPr>
        <p:spPr bwMode="auto">
          <a:xfrm flipH="1">
            <a:off x="1343010" y="3297090"/>
            <a:ext cx="419764" cy="6349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" name="AutoShape 17"/>
          <p:cNvCxnSpPr>
            <a:cxnSpLocks noChangeShapeType="1"/>
          </p:cNvCxnSpPr>
          <p:nvPr/>
        </p:nvCxnSpPr>
        <p:spPr bwMode="auto">
          <a:xfrm>
            <a:off x="1762774" y="3303410"/>
            <a:ext cx="481648" cy="63490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1939505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9277" y="2708641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7855" y="2750858"/>
            <a:ext cx="776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26821" y="1716749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9128" y="273850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97116" y="179374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7076" y="282278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3804050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97001" y="161380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814982" y="1692238"/>
            <a:ext cx="508385" cy="537897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 rot="10800000">
            <a:off x="1508582" y="2759193"/>
            <a:ext cx="508385" cy="537897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AutoShape 7"/>
          <p:cNvSpPr>
            <a:spLocks noChangeArrowheads="1"/>
          </p:cNvSpPr>
          <p:nvPr/>
        </p:nvSpPr>
        <p:spPr bwMode="auto">
          <a:xfrm rot="10800000">
            <a:off x="4255529" y="2746555"/>
            <a:ext cx="508385" cy="537897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009969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766235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804173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AutoShape 12"/>
          <p:cNvCxnSpPr>
            <a:cxnSpLocks noChangeShapeType="1"/>
            <a:stCxn id="13" idx="3"/>
          </p:cNvCxnSpPr>
          <p:nvPr/>
        </p:nvCxnSpPr>
        <p:spPr bwMode="auto">
          <a:xfrm flipH="1">
            <a:off x="1762775" y="2230135"/>
            <a:ext cx="1306400" cy="5164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" name="AutoShape 13"/>
          <p:cNvCxnSpPr>
            <a:cxnSpLocks noChangeShapeType="1"/>
            <a:stCxn id="13" idx="3"/>
            <a:endCxn id="15" idx="3"/>
          </p:cNvCxnSpPr>
          <p:nvPr/>
        </p:nvCxnSpPr>
        <p:spPr bwMode="auto">
          <a:xfrm>
            <a:off x="3069175" y="2230135"/>
            <a:ext cx="1440546" cy="5164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" name="AutoShape 16"/>
          <p:cNvCxnSpPr>
            <a:cxnSpLocks noChangeShapeType="1"/>
            <a:stCxn id="15" idx="0"/>
            <a:endCxn id="18" idx="0"/>
          </p:cNvCxnSpPr>
          <p:nvPr/>
        </p:nvCxnSpPr>
        <p:spPr bwMode="auto">
          <a:xfrm flipH="1">
            <a:off x="4058366" y="3284452"/>
            <a:ext cx="451355" cy="65386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" name="AutoShape 17"/>
          <p:cNvCxnSpPr>
            <a:cxnSpLocks noChangeShapeType="1"/>
            <a:stCxn id="15" idx="0"/>
            <a:endCxn id="17" idx="0"/>
          </p:cNvCxnSpPr>
          <p:nvPr/>
        </p:nvCxnSpPr>
        <p:spPr bwMode="auto">
          <a:xfrm>
            <a:off x="4509721" y="3284452"/>
            <a:ext cx="510707" cy="65386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36" name="AutoShape 16"/>
          <p:cNvCxnSpPr>
            <a:cxnSpLocks noChangeShapeType="1"/>
            <a:stCxn id="14" idx="0"/>
          </p:cNvCxnSpPr>
          <p:nvPr/>
        </p:nvCxnSpPr>
        <p:spPr bwMode="auto">
          <a:xfrm flipH="1">
            <a:off x="1343010" y="3297090"/>
            <a:ext cx="419764" cy="6349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" name="AutoShape 17"/>
          <p:cNvCxnSpPr>
            <a:cxnSpLocks noChangeShapeType="1"/>
          </p:cNvCxnSpPr>
          <p:nvPr/>
        </p:nvCxnSpPr>
        <p:spPr bwMode="auto">
          <a:xfrm>
            <a:off x="1762774" y="3303410"/>
            <a:ext cx="481648" cy="63490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1939505" y="3938313"/>
            <a:ext cx="508385" cy="53789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9277" y="2708641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7855" y="2750858"/>
            <a:ext cx="776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26821" y="1716749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9128" y="273850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97116" y="179374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7076" y="282278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D60B2F-358C-9354-F4BF-F2ED6941CB9C}"/>
              </a:ext>
            </a:extLst>
          </p:cNvPr>
          <p:cNvGrpSpPr/>
          <p:nvPr/>
        </p:nvGrpSpPr>
        <p:grpSpPr>
          <a:xfrm rot="19664442">
            <a:off x="4556993" y="3335853"/>
            <a:ext cx="392412" cy="451262"/>
            <a:chOff x="6412149" y="3823855"/>
            <a:chExt cx="392412" cy="45126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AE84D53-30A3-946E-A1D3-7C85C70FC931}"/>
                </a:ext>
              </a:extLst>
            </p:cNvPr>
            <p:cNvCxnSpPr/>
            <p:nvPr/>
          </p:nvCxnSpPr>
          <p:spPr>
            <a:xfrm>
              <a:off x="6412675" y="3823855"/>
              <a:ext cx="391886" cy="4512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2433416-683E-2FFC-38D6-13646E3550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2149" y="3823855"/>
              <a:ext cx="392001" cy="44928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9285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43020" y="1257093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4840" y="4732275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3095" y="2829086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8994" y="489653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5046" y="4853484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4055" y="1520773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7194" y="2702845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36" name="AutoShape 5"/>
          <p:cNvSpPr>
            <a:spLocks noChangeArrowheads="1"/>
          </p:cNvSpPr>
          <p:nvPr/>
        </p:nvSpPr>
        <p:spPr bwMode="auto">
          <a:xfrm>
            <a:off x="4502099" y="1341975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1747038" y="4706487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AutoShape 5"/>
          <p:cNvSpPr>
            <a:spLocks noChangeArrowheads="1"/>
          </p:cNvSpPr>
          <p:nvPr/>
        </p:nvSpPr>
        <p:spPr bwMode="auto">
          <a:xfrm>
            <a:off x="3494515" y="4674686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auto">
          <a:xfrm>
            <a:off x="5298450" y="4697010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AutoShape 5"/>
          <p:cNvSpPr>
            <a:spLocks noChangeArrowheads="1"/>
          </p:cNvSpPr>
          <p:nvPr/>
        </p:nvSpPr>
        <p:spPr bwMode="auto">
          <a:xfrm>
            <a:off x="7005259" y="4687210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auto">
          <a:xfrm rot="10800000">
            <a:off x="2769173" y="2759192"/>
            <a:ext cx="541528" cy="537898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auto">
          <a:xfrm rot="10800000">
            <a:off x="6105226" y="2762185"/>
            <a:ext cx="541528" cy="537898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1379615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2157589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3104827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90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3920694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4881553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5732367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646754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7426962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35752" y="62667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51" name="AutoShape 12"/>
          <p:cNvCxnSpPr>
            <a:cxnSpLocks noChangeShapeType="1"/>
            <a:endCxn id="41" idx="3"/>
          </p:cNvCxnSpPr>
          <p:nvPr/>
        </p:nvCxnSpPr>
        <p:spPr bwMode="auto">
          <a:xfrm flipH="1">
            <a:off x="3039937" y="1991037"/>
            <a:ext cx="1772437" cy="7681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2" name="AutoShape 12"/>
          <p:cNvCxnSpPr>
            <a:cxnSpLocks noChangeShapeType="1"/>
            <a:stCxn id="41" idx="0"/>
            <a:endCxn id="37" idx="0"/>
          </p:cNvCxnSpPr>
          <p:nvPr/>
        </p:nvCxnSpPr>
        <p:spPr bwMode="auto">
          <a:xfrm flipH="1">
            <a:off x="2056436" y="3297090"/>
            <a:ext cx="983501" cy="140939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5" name="AutoShape 12"/>
          <p:cNvCxnSpPr>
            <a:cxnSpLocks noChangeShapeType="1"/>
            <a:stCxn id="25" idx="2"/>
            <a:endCxn id="43" idx="0"/>
          </p:cNvCxnSpPr>
          <p:nvPr/>
        </p:nvCxnSpPr>
        <p:spPr bwMode="auto">
          <a:xfrm flipH="1">
            <a:off x="1670792" y="5358197"/>
            <a:ext cx="407144" cy="8289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12"/>
          <p:cNvCxnSpPr>
            <a:cxnSpLocks noChangeShapeType="1"/>
            <a:stCxn id="25" idx="2"/>
            <a:endCxn id="44" idx="0"/>
          </p:cNvCxnSpPr>
          <p:nvPr/>
        </p:nvCxnSpPr>
        <p:spPr bwMode="auto">
          <a:xfrm>
            <a:off x="2077936" y="5358197"/>
            <a:ext cx="370830" cy="8289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2" name="AutoShape 12"/>
          <p:cNvCxnSpPr>
            <a:cxnSpLocks noChangeShapeType="1"/>
            <a:endCxn id="45" idx="0"/>
          </p:cNvCxnSpPr>
          <p:nvPr/>
        </p:nvCxnSpPr>
        <p:spPr bwMode="auto">
          <a:xfrm flipH="1">
            <a:off x="3396004" y="5315149"/>
            <a:ext cx="392340" cy="8719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AutoShape 12"/>
          <p:cNvCxnSpPr>
            <a:cxnSpLocks noChangeShapeType="1"/>
            <a:endCxn id="46" idx="0"/>
          </p:cNvCxnSpPr>
          <p:nvPr/>
        </p:nvCxnSpPr>
        <p:spPr bwMode="auto">
          <a:xfrm>
            <a:off x="3788344" y="5315149"/>
            <a:ext cx="423527" cy="8719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6" name="AutoShape 12"/>
          <p:cNvCxnSpPr>
            <a:cxnSpLocks noChangeShapeType="1"/>
            <a:endCxn id="47" idx="0"/>
          </p:cNvCxnSpPr>
          <p:nvPr/>
        </p:nvCxnSpPr>
        <p:spPr bwMode="auto">
          <a:xfrm flipH="1">
            <a:off x="5172730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7" name="AutoShape 12"/>
          <p:cNvCxnSpPr>
            <a:cxnSpLocks noChangeShapeType="1"/>
            <a:endCxn id="47" idx="0"/>
          </p:cNvCxnSpPr>
          <p:nvPr/>
        </p:nvCxnSpPr>
        <p:spPr bwMode="auto">
          <a:xfrm flipH="1">
            <a:off x="5172730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0" name="AutoShape 12"/>
          <p:cNvCxnSpPr>
            <a:cxnSpLocks noChangeShapeType="1"/>
            <a:stCxn id="39" idx="3"/>
            <a:endCxn id="48" idx="0"/>
          </p:cNvCxnSpPr>
          <p:nvPr/>
        </p:nvCxnSpPr>
        <p:spPr bwMode="auto">
          <a:xfrm>
            <a:off x="5607848" y="5337473"/>
            <a:ext cx="415696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6" name="AutoShape 12"/>
          <p:cNvCxnSpPr>
            <a:cxnSpLocks noChangeShapeType="1"/>
          </p:cNvCxnSpPr>
          <p:nvPr/>
        </p:nvCxnSpPr>
        <p:spPr bwMode="auto">
          <a:xfrm flipH="1">
            <a:off x="6879585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7" name="AutoShape 12"/>
          <p:cNvCxnSpPr>
            <a:cxnSpLocks noChangeShapeType="1"/>
          </p:cNvCxnSpPr>
          <p:nvPr/>
        </p:nvCxnSpPr>
        <p:spPr bwMode="auto">
          <a:xfrm>
            <a:off x="7317585" y="5337473"/>
            <a:ext cx="415696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8" name="AutoShape 12"/>
          <p:cNvCxnSpPr>
            <a:cxnSpLocks noChangeShapeType="1"/>
            <a:stCxn id="30" idx="2"/>
            <a:endCxn id="42" idx="3"/>
          </p:cNvCxnSpPr>
          <p:nvPr/>
        </p:nvCxnSpPr>
        <p:spPr bwMode="auto">
          <a:xfrm>
            <a:off x="4832997" y="1982438"/>
            <a:ext cx="1542993" cy="7797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1" name="AutoShape 12"/>
          <p:cNvCxnSpPr>
            <a:cxnSpLocks noChangeShapeType="1"/>
            <a:stCxn id="41" idx="0"/>
            <a:endCxn id="38" idx="0"/>
          </p:cNvCxnSpPr>
          <p:nvPr/>
        </p:nvCxnSpPr>
        <p:spPr bwMode="auto">
          <a:xfrm>
            <a:off x="3039937" y="3297090"/>
            <a:ext cx="763976" cy="13775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4" name="AutoShape 12"/>
          <p:cNvCxnSpPr>
            <a:cxnSpLocks noChangeShapeType="1"/>
            <a:endCxn id="39" idx="0"/>
          </p:cNvCxnSpPr>
          <p:nvPr/>
        </p:nvCxnSpPr>
        <p:spPr bwMode="auto">
          <a:xfrm flipH="1">
            <a:off x="5607848" y="3290751"/>
            <a:ext cx="768143" cy="140625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6" name="AutoShape 12"/>
          <p:cNvCxnSpPr>
            <a:cxnSpLocks noChangeShapeType="1"/>
            <a:stCxn id="42" idx="0"/>
            <a:endCxn id="40" idx="0"/>
          </p:cNvCxnSpPr>
          <p:nvPr/>
        </p:nvCxnSpPr>
        <p:spPr bwMode="auto">
          <a:xfrm>
            <a:off x="6375990" y="3300083"/>
            <a:ext cx="938667" cy="138712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57619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43020" y="1257093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4840" y="4732275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3095" y="2829086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8994" y="489653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5046" y="4853484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4055" y="1520773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7194" y="2702845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36" name="AutoShape 5"/>
          <p:cNvSpPr>
            <a:spLocks noChangeArrowheads="1"/>
          </p:cNvSpPr>
          <p:nvPr/>
        </p:nvSpPr>
        <p:spPr bwMode="auto">
          <a:xfrm>
            <a:off x="4502099" y="1341975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1747038" y="4706487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AutoShape 5"/>
          <p:cNvSpPr>
            <a:spLocks noChangeArrowheads="1"/>
          </p:cNvSpPr>
          <p:nvPr/>
        </p:nvSpPr>
        <p:spPr bwMode="auto">
          <a:xfrm>
            <a:off x="3494515" y="4674686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auto">
          <a:xfrm>
            <a:off x="5298450" y="4697010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AutoShape 5"/>
          <p:cNvSpPr>
            <a:spLocks noChangeArrowheads="1"/>
          </p:cNvSpPr>
          <p:nvPr/>
        </p:nvSpPr>
        <p:spPr bwMode="auto">
          <a:xfrm>
            <a:off x="7005259" y="4687210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auto">
          <a:xfrm rot="10800000">
            <a:off x="2769173" y="2759192"/>
            <a:ext cx="541528" cy="537898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auto">
          <a:xfrm rot="10800000">
            <a:off x="6105226" y="2762185"/>
            <a:ext cx="541528" cy="537898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1379615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2157589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3104827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90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3920694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4881553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5732367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646754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7426962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35752" y="62667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51" name="AutoShape 12"/>
          <p:cNvCxnSpPr>
            <a:cxnSpLocks noChangeShapeType="1"/>
            <a:endCxn id="41" idx="3"/>
          </p:cNvCxnSpPr>
          <p:nvPr/>
        </p:nvCxnSpPr>
        <p:spPr bwMode="auto">
          <a:xfrm flipH="1">
            <a:off x="3039937" y="1991037"/>
            <a:ext cx="1772437" cy="7681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2" name="AutoShape 12"/>
          <p:cNvCxnSpPr>
            <a:cxnSpLocks noChangeShapeType="1"/>
            <a:stCxn id="41" idx="0"/>
            <a:endCxn id="37" idx="0"/>
          </p:cNvCxnSpPr>
          <p:nvPr/>
        </p:nvCxnSpPr>
        <p:spPr bwMode="auto">
          <a:xfrm flipH="1">
            <a:off x="2056436" y="3297090"/>
            <a:ext cx="983501" cy="140939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5" name="AutoShape 12"/>
          <p:cNvCxnSpPr>
            <a:cxnSpLocks noChangeShapeType="1"/>
            <a:stCxn id="25" idx="2"/>
            <a:endCxn id="43" idx="0"/>
          </p:cNvCxnSpPr>
          <p:nvPr/>
        </p:nvCxnSpPr>
        <p:spPr bwMode="auto">
          <a:xfrm flipH="1">
            <a:off x="1670792" y="5358197"/>
            <a:ext cx="407144" cy="8289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12"/>
          <p:cNvCxnSpPr>
            <a:cxnSpLocks noChangeShapeType="1"/>
            <a:stCxn id="25" idx="2"/>
            <a:endCxn id="44" idx="0"/>
          </p:cNvCxnSpPr>
          <p:nvPr/>
        </p:nvCxnSpPr>
        <p:spPr bwMode="auto">
          <a:xfrm>
            <a:off x="2077936" y="5358197"/>
            <a:ext cx="370830" cy="8289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2" name="AutoShape 12"/>
          <p:cNvCxnSpPr>
            <a:cxnSpLocks noChangeShapeType="1"/>
            <a:endCxn id="45" idx="0"/>
          </p:cNvCxnSpPr>
          <p:nvPr/>
        </p:nvCxnSpPr>
        <p:spPr bwMode="auto">
          <a:xfrm flipH="1">
            <a:off x="3396004" y="5315149"/>
            <a:ext cx="392340" cy="8719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AutoShape 12"/>
          <p:cNvCxnSpPr>
            <a:cxnSpLocks noChangeShapeType="1"/>
            <a:endCxn id="46" idx="0"/>
          </p:cNvCxnSpPr>
          <p:nvPr/>
        </p:nvCxnSpPr>
        <p:spPr bwMode="auto">
          <a:xfrm>
            <a:off x="3788344" y="5315149"/>
            <a:ext cx="423527" cy="8719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6" name="AutoShape 12"/>
          <p:cNvCxnSpPr>
            <a:cxnSpLocks noChangeShapeType="1"/>
            <a:endCxn id="47" idx="0"/>
          </p:cNvCxnSpPr>
          <p:nvPr/>
        </p:nvCxnSpPr>
        <p:spPr bwMode="auto">
          <a:xfrm flipH="1">
            <a:off x="5172730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7" name="AutoShape 12"/>
          <p:cNvCxnSpPr>
            <a:cxnSpLocks noChangeShapeType="1"/>
            <a:endCxn id="47" idx="0"/>
          </p:cNvCxnSpPr>
          <p:nvPr/>
        </p:nvCxnSpPr>
        <p:spPr bwMode="auto">
          <a:xfrm flipH="1">
            <a:off x="5172730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0" name="AutoShape 12"/>
          <p:cNvCxnSpPr>
            <a:cxnSpLocks noChangeShapeType="1"/>
            <a:stCxn id="39" idx="3"/>
            <a:endCxn id="48" idx="0"/>
          </p:cNvCxnSpPr>
          <p:nvPr/>
        </p:nvCxnSpPr>
        <p:spPr bwMode="auto">
          <a:xfrm>
            <a:off x="5607848" y="5337473"/>
            <a:ext cx="415696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6" name="AutoShape 12"/>
          <p:cNvCxnSpPr>
            <a:cxnSpLocks noChangeShapeType="1"/>
          </p:cNvCxnSpPr>
          <p:nvPr/>
        </p:nvCxnSpPr>
        <p:spPr bwMode="auto">
          <a:xfrm flipH="1">
            <a:off x="6879585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7" name="AutoShape 12"/>
          <p:cNvCxnSpPr>
            <a:cxnSpLocks noChangeShapeType="1"/>
          </p:cNvCxnSpPr>
          <p:nvPr/>
        </p:nvCxnSpPr>
        <p:spPr bwMode="auto">
          <a:xfrm>
            <a:off x="7317585" y="5337473"/>
            <a:ext cx="415696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8" name="AutoShape 12"/>
          <p:cNvCxnSpPr>
            <a:cxnSpLocks noChangeShapeType="1"/>
            <a:stCxn id="30" idx="2"/>
            <a:endCxn id="42" idx="3"/>
          </p:cNvCxnSpPr>
          <p:nvPr/>
        </p:nvCxnSpPr>
        <p:spPr bwMode="auto">
          <a:xfrm>
            <a:off x="4832997" y="1982438"/>
            <a:ext cx="1542993" cy="7797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1" name="AutoShape 12"/>
          <p:cNvCxnSpPr>
            <a:cxnSpLocks noChangeShapeType="1"/>
            <a:stCxn id="41" idx="0"/>
            <a:endCxn id="38" idx="0"/>
          </p:cNvCxnSpPr>
          <p:nvPr/>
        </p:nvCxnSpPr>
        <p:spPr bwMode="auto">
          <a:xfrm>
            <a:off x="3039937" y="3297090"/>
            <a:ext cx="763976" cy="13775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4" name="AutoShape 12"/>
          <p:cNvCxnSpPr>
            <a:cxnSpLocks noChangeShapeType="1"/>
            <a:endCxn id="39" idx="0"/>
          </p:cNvCxnSpPr>
          <p:nvPr/>
        </p:nvCxnSpPr>
        <p:spPr bwMode="auto">
          <a:xfrm flipH="1">
            <a:off x="5607848" y="3290751"/>
            <a:ext cx="768143" cy="140625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6" name="AutoShape 12"/>
          <p:cNvCxnSpPr>
            <a:cxnSpLocks noChangeShapeType="1"/>
            <a:stCxn id="42" idx="0"/>
            <a:endCxn id="40" idx="0"/>
          </p:cNvCxnSpPr>
          <p:nvPr/>
        </p:nvCxnSpPr>
        <p:spPr bwMode="auto">
          <a:xfrm>
            <a:off x="6375990" y="3300083"/>
            <a:ext cx="938667" cy="138712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89" name="TextBox 88"/>
          <p:cNvSpPr txBox="1"/>
          <p:nvPr/>
        </p:nvSpPr>
        <p:spPr>
          <a:xfrm>
            <a:off x="1801104" y="487632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31797" y="2722205"/>
            <a:ext cx="81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17032" y="4768132"/>
            <a:ext cx="1241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90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75427" y="4851983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01938" y="1413951"/>
            <a:ext cx="1241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41816" y="4820949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85148" y="2709395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2257" y="2774317"/>
            <a:ext cx="81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23722" y="2773328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69090" y="147559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791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43020" y="1257093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4840" y="4732275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3095" y="2829086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8994" y="489653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5046" y="4853484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4055" y="1520773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7194" y="2702845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36" name="AutoShape 5"/>
          <p:cNvSpPr>
            <a:spLocks noChangeArrowheads="1"/>
          </p:cNvSpPr>
          <p:nvPr/>
        </p:nvSpPr>
        <p:spPr bwMode="auto">
          <a:xfrm>
            <a:off x="4502099" y="1341975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1747038" y="4706487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AutoShape 5"/>
          <p:cNvSpPr>
            <a:spLocks noChangeArrowheads="1"/>
          </p:cNvSpPr>
          <p:nvPr/>
        </p:nvSpPr>
        <p:spPr bwMode="auto">
          <a:xfrm>
            <a:off x="3494515" y="4674686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auto">
          <a:xfrm>
            <a:off x="5298450" y="4697010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AutoShape 5"/>
          <p:cNvSpPr>
            <a:spLocks noChangeArrowheads="1"/>
          </p:cNvSpPr>
          <p:nvPr/>
        </p:nvSpPr>
        <p:spPr bwMode="auto">
          <a:xfrm>
            <a:off x="7005259" y="4687210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auto">
          <a:xfrm rot="10800000">
            <a:off x="2769173" y="2759192"/>
            <a:ext cx="541528" cy="537898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auto">
          <a:xfrm rot="10800000">
            <a:off x="6105226" y="2762185"/>
            <a:ext cx="541528" cy="537898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1379615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2157589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3104827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90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3920694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4881553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5732367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646754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7426962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35752" y="62667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51" name="AutoShape 12"/>
          <p:cNvCxnSpPr>
            <a:cxnSpLocks noChangeShapeType="1"/>
            <a:endCxn id="41" idx="3"/>
          </p:cNvCxnSpPr>
          <p:nvPr/>
        </p:nvCxnSpPr>
        <p:spPr bwMode="auto">
          <a:xfrm flipH="1">
            <a:off x="3039937" y="1991037"/>
            <a:ext cx="1772437" cy="7681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2" name="AutoShape 12"/>
          <p:cNvCxnSpPr>
            <a:cxnSpLocks noChangeShapeType="1"/>
            <a:stCxn id="41" idx="0"/>
            <a:endCxn id="37" idx="0"/>
          </p:cNvCxnSpPr>
          <p:nvPr/>
        </p:nvCxnSpPr>
        <p:spPr bwMode="auto">
          <a:xfrm flipH="1">
            <a:off x="2056436" y="3297090"/>
            <a:ext cx="983501" cy="140939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5" name="AutoShape 12"/>
          <p:cNvCxnSpPr>
            <a:cxnSpLocks noChangeShapeType="1"/>
            <a:stCxn id="25" idx="2"/>
            <a:endCxn id="43" idx="0"/>
          </p:cNvCxnSpPr>
          <p:nvPr/>
        </p:nvCxnSpPr>
        <p:spPr bwMode="auto">
          <a:xfrm flipH="1">
            <a:off x="1670792" y="5358197"/>
            <a:ext cx="407144" cy="8289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12"/>
          <p:cNvCxnSpPr>
            <a:cxnSpLocks noChangeShapeType="1"/>
            <a:stCxn id="25" idx="2"/>
            <a:endCxn id="44" idx="0"/>
          </p:cNvCxnSpPr>
          <p:nvPr/>
        </p:nvCxnSpPr>
        <p:spPr bwMode="auto">
          <a:xfrm>
            <a:off x="2077936" y="5358197"/>
            <a:ext cx="370830" cy="8289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2" name="AutoShape 12"/>
          <p:cNvCxnSpPr>
            <a:cxnSpLocks noChangeShapeType="1"/>
            <a:endCxn id="45" idx="0"/>
          </p:cNvCxnSpPr>
          <p:nvPr/>
        </p:nvCxnSpPr>
        <p:spPr bwMode="auto">
          <a:xfrm flipH="1">
            <a:off x="3396004" y="5315149"/>
            <a:ext cx="392340" cy="8719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AutoShape 12"/>
          <p:cNvCxnSpPr>
            <a:cxnSpLocks noChangeShapeType="1"/>
            <a:endCxn id="46" idx="0"/>
          </p:cNvCxnSpPr>
          <p:nvPr/>
        </p:nvCxnSpPr>
        <p:spPr bwMode="auto">
          <a:xfrm>
            <a:off x="3788344" y="5315149"/>
            <a:ext cx="423527" cy="87199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66" name="AutoShape 12"/>
          <p:cNvCxnSpPr>
            <a:cxnSpLocks noChangeShapeType="1"/>
            <a:endCxn id="47" idx="0"/>
          </p:cNvCxnSpPr>
          <p:nvPr/>
        </p:nvCxnSpPr>
        <p:spPr bwMode="auto">
          <a:xfrm flipH="1">
            <a:off x="5172730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7" name="AutoShape 12"/>
          <p:cNvCxnSpPr>
            <a:cxnSpLocks noChangeShapeType="1"/>
            <a:endCxn id="47" idx="0"/>
          </p:cNvCxnSpPr>
          <p:nvPr/>
        </p:nvCxnSpPr>
        <p:spPr bwMode="auto">
          <a:xfrm flipH="1">
            <a:off x="5172730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0" name="AutoShape 12"/>
          <p:cNvCxnSpPr>
            <a:cxnSpLocks noChangeShapeType="1"/>
            <a:stCxn id="39" idx="3"/>
            <a:endCxn id="48" idx="0"/>
          </p:cNvCxnSpPr>
          <p:nvPr/>
        </p:nvCxnSpPr>
        <p:spPr bwMode="auto">
          <a:xfrm>
            <a:off x="5607848" y="5337473"/>
            <a:ext cx="415696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6" name="AutoShape 12"/>
          <p:cNvCxnSpPr>
            <a:cxnSpLocks noChangeShapeType="1"/>
          </p:cNvCxnSpPr>
          <p:nvPr/>
        </p:nvCxnSpPr>
        <p:spPr bwMode="auto">
          <a:xfrm flipH="1">
            <a:off x="6879585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77" name="AutoShape 12"/>
          <p:cNvCxnSpPr>
            <a:cxnSpLocks noChangeShapeType="1"/>
          </p:cNvCxnSpPr>
          <p:nvPr/>
        </p:nvCxnSpPr>
        <p:spPr bwMode="auto">
          <a:xfrm>
            <a:off x="7317585" y="5337473"/>
            <a:ext cx="415696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78" name="AutoShape 12"/>
          <p:cNvCxnSpPr>
            <a:cxnSpLocks noChangeShapeType="1"/>
            <a:stCxn id="30" idx="2"/>
            <a:endCxn id="42" idx="3"/>
          </p:cNvCxnSpPr>
          <p:nvPr/>
        </p:nvCxnSpPr>
        <p:spPr bwMode="auto">
          <a:xfrm>
            <a:off x="4832997" y="1982438"/>
            <a:ext cx="1542993" cy="7797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1" name="AutoShape 12"/>
          <p:cNvCxnSpPr>
            <a:cxnSpLocks noChangeShapeType="1"/>
            <a:stCxn id="41" idx="0"/>
            <a:endCxn id="38" idx="0"/>
          </p:cNvCxnSpPr>
          <p:nvPr/>
        </p:nvCxnSpPr>
        <p:spPr bwMode="auto">
          <a:xfrm>
            <a:off x="3039937" y="3297090"/>
            <a:ext cx="763976" cy="13775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4" name="AutoShape 12"/>
          <p:cNvCxnSpPr>
            <a:cxnSpLocks noChangeShapeType="1"/>
            <a:endCxn id="39" idx="0"/>
          </p:cNvCxnSpPr>
          <p:nvPr/>
        </p:nvCxnSpPr>
        <p:spPr bwMode="auto">
          <a:xfrm flipH="1">
            <a:off x="5607848" y="3290751"/>
            <a:ext cx="768143" cy="140625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6" name="AutoShape 12"/>
          <p:cNvCxnSpPr>
            <a:cxnSpLocks noChangeShapeType="1"/>
            <a:stCxn id="42" idx="0"/>
            <a:endCxn id="40" idx="0"/>
          </p:cNvCxnSpPr>
          <p:nvPr/>
        </p:nvCxnSpPr>
        <p:spPr bwMode="auto">
          <a:xfrm>
            <a:off x="6375990" y="3300083"/>
            <a:ext cx="938667" cy="138712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sp>
        <p:nvSpPr>
          <p:cNvPr id="89" name="TextBox 88"/>
          <p:cNvSpPr txBox="1"/>
          <p:nvPr/>
        </p:nvSpPr>
        <p:spPr>
          <a:xfrm>
            <a:off x="1801104" y="487632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31797" y="2722205"/>
            <a:ext cx="81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17032" y="4768132"/>
            <a:ext cx="1241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90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75427" y="4851983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01938" y="1413951"/>
            <a:ext cx="1241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41816" y="4820949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85148" y="2709395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2257" y="2774317"/>
            <a:ext cx="81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23722" y="2773328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69090" y="147559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73528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43020" y="1257093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4840" y="4732275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3095" y="2829086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8994" y="489653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5046" y="4853484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4055" y="1520773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7194" y="2702845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36" name="AutoShape 5"/>
          <p:cNvSpPr>
            <a:spLocks noChangeArrowheads="1"/>
          </p:cNvSpPr>
          <p:nvPr/>
        </p:nvSpPr>
        <p:spPr bwMode="auto">
          <a:xfrm>
            <a:off x="4502099" y="1341975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1747038" y="4706487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AutoShape 5"/>
          <p:cNvSpPr>
            <a:spLocks noChangeArrowheads="1"/>
          </p:cNvSpPr>
          <p:nvPr/>
        </p:nvSpPr>
        <p:spPr bwMode="auto">
          <a:xfrm>
            <a:off x="3494515" y="4674686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auto">
          <a:xfrm>
            <a:off x="5298450" y="4697010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AutoShape 5"/>
          <p:cNvSpPr>
            <a:spLocks noChangeArrowheads="1"/>
          </p:cNvSpPr>
          <p:nvPr/>
        </p:nvSpPr>
        <p:spPr bwMode="auto">
          <a:xfrm>
            <a:off x="7005259" y="4687210"/>
            <a:ext cx="618795" cy="640463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auto">
          <a:xfrm rot="10800000">
            <a:off x="2769173" y="2759192"/>
            <a:ext cx="541528" cy="537898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auto">
          <a:xfrm rot="10800000">
            <a:off x="6105226" y="2762185"/>
            <a:ext cx="541528" cy="537898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1379615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2157589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3104827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90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3920694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4881553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5732367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646754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7426962" y="6187144"/>
            <a:ext cx="582353" cy="528462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35752" y="62667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51" name="AutoShape 12"/>
          <p:cNvCxnSpPr>
            <a:cxnSpLocks noChangeShapeType="1"/>
            <a:endCxn id="41" idx="3"/>
          </p:cNvCxnSpPr>
          <p:nvPr/>
        </p:nvCxnSpPr>
        <p:spPr bwMode="auto">
          <a:xfrm flipH="1">
            <a:off x="3039937" y="1991037"/>
            <a:ext cx="1772437" cy="7681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2" name="AutoShape 12"/>
          <p:cNvCxnSpPr>
            <a:cxnSpLocks noChangeShapeType="1"/>
            <a:stCxn id="41" idx="0"/>
            <a:endCxn id="37" idx="0"/>
          </p:cNvCxnSpPr>
          <p:nvPr/>
        </p:nvCxnSpPr>
        <p:spPr bwMode="auto">
          <a:xfrm flipH="1">
            <a:off x="2056436" y="3297090"/>
            <a:ext cx="983501" cy="140939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5" name="AutoShape 12"/>
          <p:cNvCxnSpPr>
            <a:cxnSpLocks noChangeShapeType="1"/>
            <a:stCxn id="25" idx="2"/>
            <a:endCxn id="43" idx="0"/>
          </p:cNvCxnSpPr>
          <p:nvPr/>
        </p:nvCxnSpPr>
        <p:spPr bwMode="auto">
          <a:xfrm flipH="1">
            <a:off x="1670792" y="5358197"/>
            <a:ext cx="407144" cy="8289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12"/>
          <p:cNvCxnSpPr>
            <a:cxnSpLocks noChangeShapeType="1"/>
            <a:stCxn id="25" idx="2"/>
            <a:endCxn id="44" idx="0"/>
          </p:cNvCxnSpPr>
          <p:nvPr/>
        </p:nvCxnSpPr>
        <p:spPr bwMode="auto">
          <a:xfrm>
            <a:off x="2077936" y="5358197"/>
            <a:ext cx="370830" cy="8289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2" name="AutoShape 12"/>
          <p:cNvCxnSpPr>
            <a:cxnSpLocks noChangeShapeType="1"/>
            <a:endCxn id="45" idx="0"/>
          </p:cNvCxnSpPr>
          <p:nvPr/>
        </p:nvCxnSpPr>
        <p:spPr bwMode="auto">
          <a:xfrm flipH="1">
            <a:off x="3396004" y="5315149"/>
            <a:ext cx="392340" cy="8719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AutoShape 12"/>
          <p:cNvCxnSpPr>
            <a:cxnSpLocks noChangeShapeType="1"/>
            <a:endCxn id="46" idx="0"/>
          </p:cNvCxnSpPr>
          <p:nvPr/>
        </p:nvCxnSpPr>
        <p:spPr bwMode="auto">
          <a:xfrm>
            <a:off x="3788344" y="5315149"/>
            <a:ext cx="423527" cy="87199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66" name="AutoShape 12"/>
          <p:cNvCxnSpPr>
            <a:cxnSpLocks noChangeShapeType="1"/>
            <a:endCxn id="47" idx="0"/>
          </p:cNvCxnSpPr>
          <p:nvPr/>
        </p:nvCxnSpPr>
        <p:spPr bwMode="auto">
          <a:xfrm flipH="1">
            <a:off x="5172730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7" name="AutoShape 12"/>
          <p:cNvCxnSpPr>
            <a:cxnSpLocks noChangeShapeType="1"/>
            <a:endCxn id="47" idx="0"/>
          </p:cNvCxnSpPr>
          <p:nvPr/>
        </p:nvCxnSpPr>
        <p:spPr bwMode="auto">
          <a:xfrm flipH="1">
            <a:off x="5172730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0" name="AutoShape 12"/>
          <p:cNvCxnSpPr>
            <a:cxnSpLocks noChangeShapeType="1"/>
            <a:stCxn id="39" idx="3"/>
            <a:endCxn id="48" idx="0"/>
          </p:cNvCxnSpPr>
          <p:nvPr/>
        </p:nvCxnSpPr>
        <p:spPr bwMode="auto">
          <a:xfrm>
            <a:off x="5607848" y="5337473"/>
            <a:ext cx="415696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6" name="AutoShape 12"/>
          <p:cNvCxnSpPr>
            <a:cxnSpLocks noChangeShapeType="1"/>
          </p:cNvCxnSpPr>
          <p:nvPr/>
        </p:nvCxnSpPr>
        <p:spPr bwMode="auto">
          <a:xfrm flipH="1">
            <a:off x="6879585" y="5337473"/>
            <a:ext cx="428304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77" name="AutoShape 12"/>
          <p:cNvCxnSpPr>
            <a:cxnSpLocks noChangeShapeType="1"/>
          </p:cNvCxnSpPr>
          <p:nvPr/>
        </p:nvCxnSpPr>
        <p:spPr bwMode="auto">
          <a:xfrm>
            <a:off x="7317585" y="5337473"/>
            <a:ext cx="415696" cy="84967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78" name="AutoShape 12"/>
          <p:cNvCxnSpPr>
            <a:cxnSpLocks noChangeShapeType="1"/>
            <a:stCxn id="30" idx="2"/>
            <a:endCxn id="42" idx="3"/>
          </p:cNvCxnSpPr>
          <p:nvPr/>
        </p:nvCxnSpPr>
        <p:spPr bwMode="auto">
          <a:xfrm>
            <a:off x="4832997" y="1982438"/>
            <a:ext cx="1542993" cy="7797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1" name="AutoShape 12"/>
          <p:cNvCxnSpPr>
            <a:cxnSpLocks noChangeShapeType="1"/>
            <a:stCxn id="41" idx="0"/>
            <a:endCxn id="38" idx="0"/>
          </p:cNvCxnSpPr>
          <p:nvPr/>
        </p:nvCxnSpPr>
        <p:spPr bwMode="auto">
          <a:xfrm>
            <a:off x="3039937" y="3297090"/>
            <a:ext cx="763976" cy="13775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4" name="AutoShape 12"/>
          <p:cNvCxnSpPr>
            <a:cxnSpLocks noChangeShapeType="1"/>
            <a:endCxn id="39" idx="0"/>
          </p:cNvCxnSpPr>
          <p:nvPr/>
        </p:nvCxnSpPr>
        <p:spPr bwMode="auto">
          <a:xfrm flipH="1">
            <a:off x="5607848" y="3290751"/>
            <a:ext cx="768143" cy="140625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6" name="AutoShape 12"/>
          <p:cNvCxnSpPr>
            <a:cxnSpLocks noChangeShapeType="1"/>
            <a:stCxn id="42" idx="0"/>
            <a:endCxn id="40" idx="0"/>
          </p:cNvCxnSpPr>
          <p:nvPr/>
        </p:nvCxnSpPr>
        <p:spPr bwMode="auto">
          <a:xfrm>
            <a:off x="6375990" y="3300083"/>
            <a:ext cx="938667" cy="138712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sp>
        <p:nvSpPr>
          <p:cNvPr id="89" name="TextBox 88"/>
          <p:cNvSpPr txBox="1"/>
          <p:nvPr/>
        </p:nvSpPr>
        <p:spPr>
          <a:xfrm>
            <a:off x="1801104" y="487632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31797" y="2722205"/>
            <a:ext cx="81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17032" y="4768132"/>
            <a:ext cx="1241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90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75427" y="4851983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01938" y="1413951"/>
            <a:ext cx="1241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41816" y="4820949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85148" y="2709395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2257" y="2774317"/>
            <a:ext cx="81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23722" y="2773328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69090" y="147559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5F39012-4FE6-6DFC-B4B5-05B7938C0F16}"/>
              </a:ext>
            </a:extLst>
          </p:cNvPr>
          <p:cNvGrpSpPr/>
          <p:nvPr/>
        </p:nvGrpSpPr>
        <p:grpSpPr>
          <a:xfrm rot="19664442">
            <a:off x="3777324" y="5522623"/>
            <a:ext cx="392412" cy="451262"/>
            <a:chOff x="6412149" y="3823855"/>
            <a:chExt cx="392412" cy="45126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B7D707-759D-2220-D1B0-0EE54A949F64}"/>
                </a:ext>
              </a:extLst>
            </p:cNvPr>
            <p:cNvCxnSpPr/>
            <p:nvPr/>
          </p:nvCxnSpPr>
          <p:spPr>
            <a:xfrm>
              <a:off x="6412675" y="3823855"/>
              <a:ext cx="391886" cy="4512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AF63FCD-54D6-8B20-1B08-D88833573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2149" y="3823855"/>
              <a:ext cx="392001" cy="44928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BE98405-A5F9-7797-1128-6BC97420D9BA}"/>
              </a:ext>
            </a:extLst>
          </p:cNvPr>
          <p:cNvGrpSpPr/>
          <p:nvPr/>
        </p:nvGrpSpPr>
        <p:grpSpPr>
          <a:xfrm rot="19664442">
            <a:off x="6615471" y="3734975"/>
            <a:ext cx="392412" cy="451262"/>
            <a:chOff x="6412149" y="3823855"/>
            <a:chExt cx="392412" cy="45126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622818D-6132-F8EE-A564-3232A424BE22}"/>
                </a:ext>
              </a:extLst>
            </p:cNvPr>
            <p:cNvCxnSpPr/>
            <p:nvPr/>
          </p:nvCxnSpPr>
          <p:spPr>
            <a:xfrm>
              <a:off x="6412675" y="3823855"/>
              <a:ext cx="391886" cy="4512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84720C-6DCC-8A2A-0236-A1E7710F3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2149" y="3823855"/>
              <a:ext cx="392001" cy="44928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5716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 rot="10800000">
            <a:off x="289077" y="5028912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7384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539227" y="6334015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51" name="AutoShape 12"/>
          <p:cNvCxnSpPr>
            <a:cxnSpLocks noChangeShapeType="1"/>
            <a:stCxn id="193" idx="0"/>
          </p:cNvCxnSpPr>
          <p:nvPr/>
        </p:nvCxnSpPr>
        <p:spPr bwMode="auto">
          <a:xfrm flipH="1">
            <a:off x="1096212" y="2859466"/>
            <a:ext cx="1044653" cy="8322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5" name="AutoShape 12"/>
          <p:cNvCxnSpPr>
            <a:cxnSpLocks noChangeShapeType="1"/>
            <a:endCxn id="43" idx="0"/>
          </p:cNvCxnSpPr>
          <p:nvPr/>
        </p:nvCxnSpPr>
        <p:spPr bwMode="auto">
          <a:xfrm flipH="1">
            <a:off x="252809" y="5593051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12"/>
          <p:cNvCxnSpPr>
            <a:cxnSpLocks noChangeShapeType="1"/>
            <a:endCxn id="44" idx="0"/>
          </p:cNvCxnSpPr>
          <p:nvPr/>
        </p:nvCxnSpPr>
        <p:spPr bwMode="auto">
          <a:xfrm>
            <a:off x="539227" y="5593051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1131734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1642276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73" name="AutoShape 12"/>
          <p:cNvCxnSpPr>
            <a:cxnSpLocks noChangeShapeType="1"/>
            <a:endCxn id="71" idx="0"/>
          </p:cNvCxnSpPr>
          <p:nvPr/>
        </p:nvCxnSpPr>
        <p:spPr bwMode="auto">
          <a:xfrm flipH="1">
            <a:off x="1317159" y="5593051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4" name="AutoShape 12"/>
          <p:cNvCxnSpPr>
            <a:cxnSpLocks noChangeShapeType="1"/>
          </p:cNvCxnSpPr>
          <p:nvPr/>
        </p:nvCxnSpPr>
        <p:spPr bwMode="auto">
          <a:xfrm>
            <a:off x="1642276" y="5593051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2" name="AutoShape 5"/>
          <p:cNvSpPr>
            <a:spLocks noChangeArrowheads="1"/>
          </p:cNvSpPr>
          <p:nvPr/>
        </p:nvSpPr>
        <p:spPr bwMode="auto">
          <a:xfrm rot="10800000">
            <a:off x="1392126" y="5028912"/>
            <a:ext cx="500299" cy="564139"/>
          </a:xfrm>
          <a:prstGeom prst="triangle">
            <a:avLst>
              <a:gd name="adj" fmla="val 50000"/>
            </a:avLst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" name="AutoShape 5"/>
          <p:cNvSpPr>
            <a:spLocks noChangeArrowheads="1"/>
          </p:cNvSpPr>
          <p:nvPr/>
        </p:nvSpPr>
        <p:spPr bwMode="auto">
          <a:xfrm>
            <a:off x="856756" y="3715777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4" name="AutoShape 12"/>
          <p:cNvCxnSpPr>
            <a:cxnSpLocks noChangeShapeType="1"/>
            <a:endCxn id="142" idx="3"/>
          </p:cNvCxnSpPr>
          <p:nvPr/>
        </p:nvCxnSpPr>
        <p:spPr bwMode="auto">
          <a:xfrm>
            <a:off x="1116385" y="4279916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6" name="AutoShape 12"/>
          <p:cNvCxnSpPr>
            <a:cxnSpLocks noChangeShapeType="1"/>
            <a:endCxn id="37" idx="3"/>
          </p:cNvCxnSpPr>
          <p:nvPr/>
        </p:nvCxnSpPr>
        <p:spPr bwMode="auto">
          <a:xfrm flipH="1">
            <a:off x="539226" y="4279916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3" name="AutoShape 5"/>
          <p:cNvSpPr>
            <a:spLocks noChangeArrowheads="1"/>
          </p:cNvSpPr>
          <p:nvPr/>
        </p:nvSpPr>
        <p:spPr bwMode="auto">
          <a:xfrm rot="10800000">
            <a:off x="2370393" y="5029513"/>
            <a:ext cx="500299" cy="564139"/>
          </a:xfrm>
          <a:prstGeom prst="triangle">
            <a:avLst>
              <a:gd name="adj" fmla="val 50000"/>
            </a:avLst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" name="Rectangle 153"/>
          <p:cNvSpPr>
            <a:spLocks noChangeArrowheads="1"/>
          </p:cNvSpPr>
          <p:nvPr/>
        </p:nvSpPr>
        <p:spPr bwMode="auto">
          <a:xfrm>
            <a:off x="214870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55" name="Rectangle 154"/>
          <p:cNvSpPr>
            <a:spLocks noChangeArrowheads="1"/>
          </p:cNvSpPr>
          <p:nvPr/>
        </p:nvSpPr>
        <p:spPr bwMode="auto">
          <a:xfrm>
            <a:off x="2620543" y="6334616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56" name="AutoShape 12"/>
          <p:cNvCxnSpPr>
            <a:cxnSpLocks noChangeShapeType="1"/>
            <a:endCxn id="154" idx="0"/>
          </p:cNvCxnSpPr>
          <p:nvPr/>
        </p:nvCxnSpPr>
        <p:spPr bwMode="auto">
          <a:xfrm flipH="1">
            <a:off x="2334125" y="5593652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7" name="AutoShape 12"/>
          <p:cNvCxnSpPr>
            <a:cxnSpLocks noChangeShapeType="1"/>
            <a:endCxn id="155" idx="0"/>
          </p:cNvCxnSpPr>
          <p:nvPr/>
        </p:nvCxnSpPr>
        <p:spPr bwMode="auto">
          <a:xfrm>
            <a:off x="2620543" y="5593652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8" name="Rectangle 157"/>
          <p:cNvSpPr>
            <a:spLocks noChangeArrowheads="1"/>
          </p:cNvSpPr>
          <p:nvPr/>
        </p:nvSpPr>
        <p:spPr bwMode="auto">
          <a:xfrm>
            <a:off x="321305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9" name="Rectangle 158"/>
          <p:cNvSpPr>
            <a:spLocks noChangeArrowheads="1"/>
          </p:cNvSpPr>
          <p:nvPr/>
        </p:nvSpPr>
        <p:spPr bwMode="auto">
          <a:xfrm>
            <a:off x="3723592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60" name="AutoShape 12"/>
          <p:cNvCxnSpPr>
            <a:cxnSpLocks noChangeShapeType="1"/>
            <a:endCxn id="158" idx="0"/>
          </p:cNvCxnSpPr>
          <p:nvPr/>
        </p:nvCxnSpPr>
        <p:spPr bwMode="auto">
          <a:xfrm flipH="1">
            <a:off x="3398475" y="5593652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1" name="AutoShape 12"/>
          <p:cNvCxnSpPr>
            <a:cxnSpLocks noChangeShapeType="1"/>
          </p:cNvCxnSpPr>
          <p:nvPr/>
        </p:nvCxnSpPr>
        <p:spPr bwMode="auto">
          <a:xfrm>
            <a:off x="3723592" y="5593652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2" name="AutoShape 5"/>
          <p:cNvSpPr>
            <a:spLocks noChangeArrowheads="1"/>
          </p:cNvSpPr>
          <p:nvPr/>
        </p:nvSpPr>
        <p:spPr bwMode="auto">
          <a:xfrm rot="10800000">
            <a:off x="3473442" y="5029513"/>
            <a:ext cx="500299" cy="564139"/>
          </a:xfrm>
          <a:prstGeom prst="triangle">
            <a:avLst>
              <a:gd name="adj" fmla="val 50000"/>
            </a:avLst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" name="AutoShape 5"/>
          <p:cNvSpPr>
            <a:spLocks noChangeArrowheads="1"/>
          </p:cNvSpPr>
          <p:nvPr/>
        </p:nvSpPr>
        <p:spPr bwMode="auto">
          <a:xfrm>
            <a:off x="2938072" y="3716378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64" name="AutoShape 12"/>
          <p:cNvCxnSpPr>
            <a:cxnSpLocks noChangeShapeType="1"/>
            <a:endCxn id="162" idx="3"/>
          </p:cNvCxnSpPr>
          <p:nvPr/>
        </p:nvCxnSpPr>
        <p:spPr bwMode="auto">
          <a:xfrm>
            <a:off x="3197701" y="4280517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5" name="AutoShape 12"/>
          <p:cNvCxnSpPr>
            <a:cxnSpLocks noChangeShapeType="1"/>
            <a:endCxn id="153" idx="3"/>
          </p:cNvCxnSpPr>
          <p:nvPr/>
        </p:nvCxnSpPr>
        <p:spPr bwMode="auto">
          <a:xfrm flipH="1">
            <a:off x="2620542" y="4280517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6" name="AutoShape 5"/>
          <p:cNvSpPr>
            <a:spLocks noChangeArrowheads="1"/>
          </p:cNvSpPr>
          <p:nvPr/>
        </p:nvSpPr>
        <p:spPr bwMode="auto">
          <a:xfrm rot="10800000">
            <a:off x="4779619" y="5023359"/>
            <a:ext cx="500299" cy="564139"/>
          </a:xfrm>
          <a:prstGeom prst="triangle">
            <a:avLst>
              <a:gd name="adj" fmla="val 50000"/>
            </a:avLst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7" name="Rectangle 166"/>
          <p:cNvSpPr>
            <a:spLocks noChangeArrowheads="1"/>
          </p:cNvSpPr>
          <p:nvPr/>
        </p:nvSpPr>
        <p:spPr bwMode="auto">
          <a:xfrm>
            <a:off x="4557926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8" name="Rectangle 167"/>
          <p:cNvSpPr>
            <a:spLocks noChangeArrowheads="1"/>
          </p:cNvSpPr>
          <p:nvPr/>
        </p:nvSpPr>
        <p:spPr bwMode="auto">
          <a:xfrm>
            <a:off x="5029769" y="6328462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9" name="AutoShape 12"/>
          <p:cNvCxnSpPr>
            <a:cxnSpLocks noChangeShapeType="1"/>
            <a:endCxn id="167" idx="0"/>
          </p:cNvCxnSpPr>
          <p:nvPr/>
        </p:nvCxnSpPr>
        <p:spPr bwMode="auto">
          <a:xfrm flipH="1">
            <a:off x="4743351" y="5587498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0" name="AutoShape 12"/>
          <p:cNvCxnSpPr>
            <a:cxnSpLocks noChangeShapeType="1"/>
            <a:endCxn id="168" idx="0"/>
          </p:cNvCxnSpPr>
          <p:nvPr/>
        </p:nvCxnSpPr>
        <p:spPr bwMode="auto">
          <a:xfrm>
            <a:off x="5029769" y="5587498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1" name="Rectangle 170"/>
          <p:cNvSpPr>
            <a:spLocks noChangeArrowheads="1"/>
          </p:cNvSpPr>
          <p:nvPr/>
        </p:nvSpPr>
        <p:spPr bwMode="auto">
          <a:xfrm>
            <a:off x="5622276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72" name="Rectangle 171"/>
          <p:cNvSpPr>
            <a:spLocks noChangeArrowheads="1"/>
          </p:cNvSpPr>
          <p:nvPr/>
        </p:nvSpPr>
        <p:spPr bwMode="auto">
          <a:xfrm>
            <a:off x="6132818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73" name="AutoShape 12"/>
          <p:cNvCxnSpPr>
            <a:cxnSpLocks noChangeShapeType="1"/>
            <a:endCxn id="171" idx="0"/>
          </p:cNvCxnSpPr>
          <p:nvPr/>
        </p:nvCxnSpPr>
        <p:spPr bwMode="auto">
          <a:xfrm flipH="1">
            <a:off x="5807701" y="5587498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" name="AutoShape 12"/>
          <p:cNvCxnSpPr>
            <a:cxnSpLocks noChangeShapeType="1"/>
          </p:cNvCxnSpPr>
          <p:nvPr/>
        </p:nvCxnSpPr>
        <p:spPr bwMode="auto">
          <a:xfrm>
            <a:off x="6132818" y="5587498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5" name="AutoShape 5"/>
          <p:cNvSpPr>
            <a:spLocks noChangeArrowheads="1"/>
          </p:cNvSpPr>
          <p:nvPr/>
        </p:nvSpPr>
        <p:spPr bwMode="auto">
          <a:xfrm rot="10800000">
            <a:off x="5882668" y="5023359"/>
            <a:ext cx="500299" cy="564139"/>
          </a:xfrm>
          <a:prstGeom prst="triangle">
            <a:avLst>
              <a:gd name="adj" fmla="val 50000"/>
            </a:avLst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6" name="AutoShape 5"/>
          <p:cNvSpPr>
            <a:spLocks noChangeArrowheads="1"/>
          </p:cNvSpPr>
          <p:nvPr/>
        </p:nvSpPr>
        <p:spPr bwMode="auto">
          <a:xfrm>
            <a:off x="5347298" y="3710224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7" name="AutoShape 12"/>
          <p:cNvCxnSpPr>
            <a:cxnSpLocks noChangeShapeType="1"/>
            <a:endCxn id="175" idx="3"/>
          </p:cNvCxnSpPr>
          <p:nvPr/>
        </p:nvCxnSpPr>
        <p:spPr bwMode="auto">
          <a:xfrm>
            <a:off x="5606927" y="4274363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8" name="AutoShape 12"/>
          <p:cNvCxnSpPr>
            <a:cxnSpLocks noChangeShapeType="1"/>
            <a:endCxn id="166" idx="3"/>
          </p:cNvCxnSpPr>
          <p:nvPr/>
        </p:nvCxnSpPr>
        <p:spPr bwMode="auto">
          <a:xfrm flipH="1">
            <a:off x="5029768" y="4274363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9" name="AutoShape 5"/>
          <p:cNvSpPr>
            <a:spLocks noChangeArrowheads="1"/>
          </p:cNvSpPr>
          <p:nvPr/>
        </p:nvSpPr>
        <p:spPr bwMode="auto">
          <a:xfrm rot="10800000">
            <a:off x="7040391" y="5029513"/>
            <a:ext cx="500299" cy="564139"/>
          </a:xfrm>
          <a:prstGeom prst="triangle">
            <a:avLst>
              <a:gd name="adj" fmla="val 50000"/>
            </a:avLst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0" name="Rectangle 179"/>
          <p:cNvSpPr>
            <a:spLocks noChangeArrowheads="1"/>
          </p:cNvSpPr>
          <p:nvPr/>
        </p:nvSpPr>
        <p:spPr bwMode="auto">
          <a:xfrm>
            <a:off x="6818698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81" name="Rectangle 180"/>
          <p:cNvSpPr>
            <a:spLocks noChangeArrowheads="1"/>
          </p:cNvSpPr>
          <p:nvPr/>
        </p:nvSpPr>
        <p:spPr bwMode="auto">
          <a:xfrm>
            <a:off x="7290541" y="6334616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2" name="AutoShape 12"/>
          <p:cNvCxnSpPr>
            <a:cxnSpLocks noChangeShapeType="1"/>
            <a:endCxn id="180" idx="0"/>
          </p:cNvCxnSpPr>
          <p:nvPr/>
        </p:nvCxnSpPr>
        <p:spPr bwMode="auto">
          <a:xfrm flipH="1">
            <a:off x="7004123" y="5593652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3" name="AutoShape 12"/>
          <p:cNvCxnSpPr>
            <a:cxnSpLocks noChangeShapeType="1"/>
            <a:endCxn id="181" idx="0"/>
          </p:cNvCxnSpPr>
          <p:nvPr/>
        </p:nvCxnSpPr>
        <p:spPr bwMode="auto">
          <a:xfrm>
            <a:off x="7290541" y="5593652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" name="Rectangle 183"/>
          <p:cNvSpPr>
            <a:spLocks noChangeArrowheads="1"/>
          </p:cNvSpPr>
          <p:nvPr/>
        </p:nvSpPr>
        <p:spPr bwMode="auto">
          <a:xfrm>
            <a:off x="7883048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5" name="Rectangle 184"/>
          <p:cNvSpPr>
            <a:spLocks noChangeArrowheads="1"/>
          </p:cNvSpPr>
          <p:nvPr/>
        </p:nvSpPr>
        <p:spPr bwMode="auto">
          <a:xfrm>
            <a:off x="839359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86" name="AutoShape 12"/>
          <p:cNvCxnSpPr>
            <a:cxnSpLocks noChangeShapeType="1"/>
            <a:endCxn id="184" idx="0"/>
          </p:cNvCxnSpPr>
          <p:nvPr/>
        </p:nvCxnSpPr>
        <p:spPr bwMode="auto">
          <a:xfrm flipH="1">
            <a:off x="8068473" y="5593652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7" name="AutoShape 12"/>
          <p:cNvCxnSpPr>
            <a:cxnSpLocks noChangeShapeType="1"/>
          </p:cNvCxnSpPr>
          <p:nvPr/>
        </p:nvCxnSpPr>
        <p:spPr bwMode="auto">
          <a:xfrm>
            <a:off x="8393590" y="5593652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8" name="AutoShape 5"/>
          <p:cNvSpPr>
            <a:spLocks noChangeArrowheads="1"/>
          </p:cNvSpPr>
          <p:nvPr/>
        </p:nvSpPr>
        <p:spPr bwMode="auto">
          <a:xfrm rot="10800000">
            <a:off x="8143440" y="5029513"/>
            <a:ext cx="500299" cy="564139"/>
          </a:xfrm>
          <a:prstGeom prst="triangle">
            <a:avLst>
              <a:gd name="adj" fmla="val 50000"/>
            </a:avLst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9" name="AutoShape 5"/>
          <p:cNvSpPr>
            <a:spLocks noChangeArrowheads="1"/>
          </p:cNvSpPr>
          <p:nvPr/>
        </p:nvSpPr>
        <p:spPr bwMode="auto">
          <a:xfrm>
            <a:off x="7608070" y="3716378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0" name="AutoShape 12"/>
          <p:cNvCxnSpPr>
            <a:cxnSpLocks noChangeShapeType="1"/>
            <a:endCxn id="188" idx="3"/>
          </p:cNvCxnSpPr>
          <p:nvPr/>
        </p:nvCxnSpPr>
        <p:spPr bwMode="auto">
          <a:xfrm>
            <a:off x="7867699" y="4280517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1" name="AutoShape 12"/>
          <p:cNvCxnSpPr>
            <a:cxnSpLocks noChangeShapeType="1"/>
            <a:endCxn id="179" idx="3"/>
          </p:cNvCxnSpPr>
          <p:nvPr/>
        </p:nvCxnSpPr>
        <p:spPr bwMode="auto">
          <a:xfrm flipH="1">
            <a:off x="7290540" y="4280517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3" name="AutoShape 5"/>
          <p:cNvSpPr>
            <a:spLocks noChangeArrowheads="1"/>
          </p:cNvSpPr>
          <p:nvPr/>
        </p:nvSpPr>
        <p:spPr bwMode="auto">
          <a:xfrm rot="10800000">
            <a:off x="1890716" y="2295327"/>
            <a:ext cx="500299" cy="564139"/>
          </a:xfrm>
          <a:prstGeom prst="triangle">
            <a:avLst>
              <a:gd name="adj" fmla="val 50000"/>
            </a:avLst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" name="AutoShape 12"/>
          <p:cNvCxnSpPr>
            <a:cxnSpLocks noChangeShapeType="1"/>
            <a:endCxn id="163" idx="0"/>
          </p:cNvCxnSpPr>
          <p:nvPr/>
        </p:nvCxnSpPr>
        <p:spPr bwMode="auto">
          <a:xfrm>
            <a:off x="2165526" y="2859465"/>
            <a:ext cx="1022696" cy="856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8" name="AutoShape 12"/>
          <p:cNvCxnSpPr>
            <a:cxnSpLocks noChangeShapeType="1"/>
            <a:endCxn id="176" idx="0"/>
          </p:cNvCxnSpPr>
          <p:nvPr/>
        </p:nvCxnSpPr>
        <p:spPr bwMode="auto">
          <a:xfrm flipH="1">
            <a:off x="5597448" y="2877970"/>
            <a:ext cx="1086107" cy="8322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9" name="AutoShape 5"/>
          <p:cNvSpPr>
            <a:spLocks noChangeArrowheads="1"/>
          </p:cNvSpPr>
          <p:nvPr/>
        </p:nvSpPr>
        <p:spPr bwMode="auto">
          <a:xfrm rot="10800000">
            <a:off x="6445735" y="2313831"/>
            <a:ext cx="500299" cy="564139"/>
          </a:xfrm>
          <a:prstGeom prst="triangle">
            <a:avLst>
              <a:gd name="adj" fmla="val 50000"/>
            </a:avLst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0" name="AutoShape 12"/>
          <p:cNvCxnSpPr>
            <a:cxnSpLocks noChangeShapeType="1"/>
            <a:endCxn id="189" idx="0"/>
          </p:cNvCxnSpPr>
          <p:nvPr/>
        </p:nvCxnSpPr>
        <p:spPr bwMode="auto">
          <a:xfrm>
            <a:off x="6695885" y="2859466"/>
            <a:ext cx="1162335" cy="856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3" name="AutoShape 5"/>
          <p:cNvSpPr>
            <a:spLocks noChangeArrowheads="1"/>
          </p:cNvSpPr>
          <p:nvPr/>
        </p:nvSpPr>
        <p:spPr bwMode="auto">
          <a:xfrm>
            <a:off x="4222108" y="896509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4" name="AutoShape 12"/>
          <p:cNvCxnSpPr>
            <a:cxnSpLocks noChangeShapeType="1"/>
            <a:stCxn id="203" idx="3"/>
            <a:endCxn id="193" idx="3"/>
          </p:cNvCxnSpPr>
          <p:nvPr/>
        </p:nvCxnSpPr>
        <p:spPr bwMode="auto">
          <a:xfrm flipH="1">
            <a:off x="2140865" y="1460648"/>
            <a:ext cx="2331393" cy="83467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6" name="AutoShape 12"/>
          <p:cNvCxnSpPr>
            <a:cxnSpLocks noChangeShapeType="1"/>
            <a:stCxn id="203" idx="3"/>
            <a:endCxn id="199" idx="3"/>
          </p:cNvCxnSpPr>
          <p:nvPr/>
        </p:nvCxnSpPr>
        <p:spPr bwMode="auto">
          <a:xfrm>
            <a:off x="4472258" y="1460648"/>
            <a:ext cx="2223626" cy="8531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1" name="TextBox 210"/>
          <p:cNvSpPr txBox="1"/>
          <p:nvPr/>
        </p:nvSpPr>
        <p:spPr>
          <a:xfrm>
            <a:off x="8340720" y="997062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439360" y="229532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318057" y="3716378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458730" y="5147285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4830645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 rot="10800000">
            <a:off x="289077" y="5028912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7384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539227" y="6334015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51" name="AutoShape 12"/>
          <p:cNvCxnSpPr>
            <a:cxnSpLocks noChangeShapeType="1"/>
            <a:stCxn id="193" idx="0"/>
          </p:cNvCxnSpPr>
          <p:nvPr/>
        </p:nvCxnSpPr>
        <p:spPr bwMode="auto">
          <a:xfrm flipH="1">
            <a:off x="1096212" y="2859466"/>
            <a:ext cx="1044653" cy="8322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5" name="AutoShape 12"/>
          <p:cNvCxnSpPr>
            <a:cxnSpLocks noChangeShapeType="1"/>
            <a:endCxn id="43" idx="0"/>
          </p:cNvCxnSpPr>
          <p:nvPr/>
        </p:nvCxnSpPr>
        <p:spPr bwMode="auto">
          <a:xfrm flipH="1">
            <a:off x="252809" y="5593051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12"/>
          <p:cNvCxnSpPr>
            <a:cxnSpLocks noChangeShapeType="1"/>
            <a:endCxn id="44" idx="0"/>
          </p:cNvCxnSpPr>
          <p:nvPr/>
        </p:nvCxnSpPr>
        <p:spPr bwMode="auto">
          <a:xfrm>
            <a:off x="539227" y="5593051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1131734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1642276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73" name="AutoShape 12"/>
          <p:cNvCxnSpPr>
            <a:cxnSpLocks noChangeShapeType="1"/>
            <a:endCxn id="71" idx="0"/>
          </p:cNvCxnSpPr>
          <p:nvPr/>
        </p:nvCxnSpPr>
        <p:spPr bwMode="auto">
          <a:xfrm flipH="1">
            <a:off x="1317159" y="5593051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4" name="AutoShape 12"/>
          <p:cNvCxnSpPr>
            <a:cxnSpLocks noChangeShapeType="1"/>
          </p:cNvCxnSpPr>
          <p:nvPr/>
        </p:nvCxnSpPr>
        <p:spPr bwMode="auto">
          <a:xfrm>
            <a:off x="1642276" y="5593051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2" name="AutoShape 5"/>
          <p:cNvSpPr>
            <a:spLocks noChangeArrowheads="1"/>
          </p:cNvSpPr>
          <p:nvPr/>
        </p:nvSpPr>
        <p:spPr bwMode="auto">
          <a:xfrm rot="10800000">
            <a:off x="1392126" y="5028912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" name="AutoShape 5"/>
          <p:cNvSpPr>
            <a:spLocks noChangeArrowheads="1"/>
          </p:cNvSpPr>
          <p:nvPr/>
        </p:nvSpPr>
        <p:spPr bwMode="auto">
          <a:xfrm>
            <a:off x="856756" y="3715777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4" name="AutoShape 12"/>
          <p:cNvCxnSpPr>
            <a:cxnSpLocks noChangeShapeType="1"/>
            <a:endCxn id="142" idx="3"/>
          </p:cNvCxnSpPr>
          <p:nvPr/>
        </p:nvCxnSpPr>
        <p:spPr bwMode="auto">
          <a:xfrm>
            <a:off x="1116385" y="4279916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6" name="AutoShape 12"/>
          <p:cNvCxnSpPr>
            <a:cxnSpLocks noChangeShapeType="1"/>
            <a:endCxn id="37" idx="3"/>
          </p:cNvCxnSpPr>
          <p:nvPr/>
        </p:nvCxnSpPr>
        <p:spPr bwMode="auto">
          <a:xfrm flipH="1">
            <a:off x="539226" y="4279916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3" name="AutoShape 5"/>
          <p:cNvSpPr>
            <a:spLocks noChangeArrowheads="1"/>
          </p:cNvSpPr>
          <p:nvPr/>
        </p:nvSpPr>
        <p:spPr bwMode="auto">
          <a:xfrm rot="10800000">
            <a:off x="2370393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" name="Rectangle 153"/>
          <p:cNvSpPr>
            <a:spLocks noChangeArrowheads="1"/>
          </p:cNvSpPr>
          <p:nvPr/>
        </p:nvSpPr>
        <p:spPr bwMode="auto">
          <a:xfrm>
            <a:off x="214870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55" name="Rectangle 154"/>
          <p:cNvSpPr>
            <a:spLocks noChangeArrowheads="1"/>
          </p:cNvSpPr>
          <p:nvPr/>
        </p:nvSpPr>
        <p:spPr bwMode="auto">
          <a:xfrm>
            <a:off x="2620543" y="6334616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56" name="AutoShape 12"/>
          <p:cNvCxnSpPr>
            <a:cxnSpLocks noChangeShapeType="1"/>
            <a:endCxn id="154" idx="0"/>
          </p:cNvCxnSpPr>
          <p:nvPr/>
        </p:nvCxnSpPr>
        <p:spPr bwMode="auto">
          <a:xfrm flipH="1">
            <a:off x="2334125" y="5593652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7" name="AutoShape 12"/>
          <p:cNvCxnSpPr>
            <a:cxnSpLocks noChangeShapeType="1"/>
            <a:endCxn id="155" idx="0"/>
          </p:cNvCxnSpPr>
          <p:nvPr/>
        </p:nvCxnSpPr>
        <p:spPr bwMode="auto">
          <a:xfrm>
            <a:off x="2620543" y="5593652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8" name="Rectangle 157"/>
          <p:cNvSpPr>
            <a:spLocks noChangeArrowheads="1"/>
          </p:cNvSpPr>
          <p:nvPr/>
        </p:nvSpPr>
        <p:spPr bwMode="auto">
          <a:xfrm>
            <a:off x="321305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9" name="Rectangle 158"/>
          <p:cNvSpPr>
            <a:spLocks noChangeArrowheads="1"/>
          </p:cNvSpPr>
          <p:nvPr/>
        </p:nvSpPr>
        <p:spPr bwMode="auto">
          <a:xfrm>
            <a:off x="3723592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60" name="AutoShape 12"/>
          <p:cNvCxnSpPr>
            <a:cxnSpLocks noChangeShapeType="1"/>
            <a:endCxn id="158" idx="0"/>
          </p:cNvCxnSpPr>
          <p:nvPr/>
        </p:nvCxnSpPr>
        <p:spPr bwMode="auto">
          <a:xfrm flipH="1">
            <a:off x="3398475" y="5593652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1" name="AutoShape 12"/>
          <p:cNvCxnSpPr>
            <a:cxnSpLocks noChangeShapeType="1"/>
          </p:cNvCxnSpPr>
          <p:nvPr/>
        </p:nvCxnSpPr>
        <p:spPr bwMode="auto">
          <a:xfrm>
            <a:off x="3723592" y="5593652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2" name="AutoShape 5"/>
          <p:cNvSpPr>
            <a:spLocks noChangeArrowheads="1"/>
          </p:cNvSpPr>
          <p:nvPr/>
        </p:nvSpPr>
        <p:spPr bwMode="auto">
          <a:xfrm rot="10800000">
            <a:off x="3473442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" name="AutoShape 5"/>
          <p:cNvSpPr>
            <a:spLocks noChangeArrowheads="1"/>
          </p:cNvSpPr>
          <p:nvPr/>
        </p:nvSpPr>
        <p:spPr bwMode="auto">
          <a:xfrm>
            <a:off x="2938072" y="3716378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64" name="AutoShape 12"/>
          <p:cNvCxnSpPr>
            <a:cxnSpLocks noChangeShapeType="1"/>
            <a:endCxn id="162" idx="3"/>
          </p:cNvCxnSpPr>
          <p:nvPr/>
        </p:nvCxnSpPr>
        <p:spPr bwMode="auto">
          <a:xfrm>
            <a:off x="3197701" y="4280517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5" name="AutoShape 12"/>
          <p:cNvCxnSpPr>
            <a:cxnSpLocks noChangeShapeType="1"/>
            <a:endCxn id="153" idx="3"/>
          </p:cNvCxnSpPr>
          <p:nvPr/>
        </p:nvCxnSpPr>
        <p:spPr bwMode="auto">
          <a:xfrm flipH="1">
            <a:off x="2620542" y="4280517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6" name="AutoShape 5"/>
          <p:cNvSpPr>
            <a:spLocks noChangeArrowheads="1"/>
          </p:cNvSpPr>
          <p:nvPr/>
        </p:nvSpPr>
        <p:spPr bwMode="auto">
          <a:xfrm rot="10800000">
            <a:off x="4779619" y="5023359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7" name="Rectangle 166"/>
          <p:cNvSpPr>
            <a:spLocks noChangeArrowheads="1"/>
          </p:cNvSpPr>
          <p:nvPr/>
        </p:nvSpPr>
        <p:spPr bwMode="auto">
          <a:xfrm>
            <a:off x="4557926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8" name="Rectangle 167"/>
          <p:cNvSpPr>
            <a:spLocks noChangeArrowheads="1"/>
          </p:cNvSpPr>
          <p:nvPr/>
        </p:nvSpPr>
        <p:spPr bwMode="auto">
          <a:xfrm>
            <a:off x="5029769" y="6328462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9" name="AutoShape 12"/>
          <p:cNvCxnSpPr>
            <a:cxnSpLocks noChangeShapeType="1"/>
            <a:endCxn id="167" idx="0"/>
          </p:cNvCxnSpPr>
          <p:nvPr/>
        </p:nvCxnSpPr>
        <p:spPr bwMode="auto">
          <a:xfrm flipH="1">
            <a:off x="4743351" y="5587498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0" name="AutoShape 12"/>
          <p:cNvCxnSpPr>
            <a:cxnSpLocks noChangeShapeType="1"/>
            <a:endCxn id="168" idx="0"/>
          </p:cNvCxnSpPr>
          <p:nvPr/>
        </p:nvCxnSpPr>
        <p:spPr bwMode="auto">
          <a:xfrm>
            <a:off x="5029769" y="5587498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1" name="Rectangle 170"/>
          <p:cNvSpPr>
            <a:spLocks noChangeArrowheads="1"/>
          </p:cNvSpPr>
          <p:nvPr/>
        </p:nvSpPr>
        <p:spPr bwMode="auto">
          <a:xfrm>
            <a:off x="5622276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72" name="Rectangle 171"/>
          <p:cNvSpPr>
            <a:spLocks noChangeArrowheads="1"/>
          </p:cNvSpPr>
          <p:nvPr/>
        </p:nvSpPr>
        <p:spPr bwMode="auto">
          <a:xfrm>
            <a:off x="6132818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73" name="AutoShape 12"/>
          <p:cNvCxnSpPr>
            <a:cxnSpLocks noChangeShapeType="1"/>
            <a:endCxn id="171" idx="0"/>
          </p:cNvCxnSpPr>
          <p:nvPr/>
        </p:nvCxnSpPr>
        <p:spPr bwMode="auto">
          <a:xfrm flipH="1">
            <a:off x="5807701" y="5587498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" name="AutoShape 12"/>
          <p:cNvCxnSpPr>
            <a:cxnSpLocks noChangeShapeType="1"/>
          </p:cNvCxnSpPr>
          <p:nvPr/>
        </p:nvCxnSpPr>
        <p:spPr bwMode="auto">
          <a:xfrm>
            <a:off x="6132818" y="5587498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5" name="AutoShape 5"/>
          <p:cNvSpPr>
            <a:spLocks noChangeArrowheads="1"/>
          </p:cNvSpPr>
          <p:nvPr/>
        </p:nvSpPr>
        <p:spPr bwMode="auto">
          <a:xfrm rot="10800000">
            <a:off x="5882668" y="5023359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6" name="AutoShape 5"/>
          <p:cNvSpPr>
            <a:spLocks noChangeArrowheads="1"/>
          </p:cNvSpPr>
          <p:nvPr/>
        </p:nvSpPr>
        <p:spPr bwMode="auto">
          <a:xfrm>
            <a:off x="5347298" y="3710224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7" name="AutoShape 12"/>
          <p:cNvCxnSpPr>
            <a:cxnSpLocks noChangeShapeType="1"/>
            <a:endCxn id="175" idx="3"/>
          </p:cNvCxnSpPr>
          <p:nvPr/>
        </p:nvCxnSpPr>
        <p:spPr bwMode="auto">
          <a:xfrm>
            <a:off x="5606927" y="4274363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8" name="AutoShape 12"/>
          <p:cNvCxnSpPr>
            <a:cxnSpLocks noChangeShapeType="1"/>
            <a:endCxn id="166" idx="3"/>
          </p:cNvCxnSpPr>
          <p:nvPr/>
        </p:nvCxnSpPr>
        <p:spPr bwMode="auto">
          <a:xfrm flipH="1">
            <a:off x="5029768" y="4274363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9" name="AutoShape 5"/>
          <p:cNvSpPr>
            <a:spLocks noChangeArrowheads="1"/>
          </p:cNvSpPr>
          <p:nvPr/>
        </p:nvSpPr>
        <p:spPr bwMode="auto">
          <a:xfrm rot="10800000">
            <a:off x="7040391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0" name="Rectangle 179"/>
          <p:cNvSpPr>
            <a:spLocks noChangeArrowheads="1"/>
          </p:cNvSpPr>
          <p:nvPr/>
        </p:nvSpPr>
        <p:spPr bwMode="auto">
          <a:xfrm>
            <a:off x="6818698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81" name="Rectangle 180"/>
          <p:cNvSpPr>
            <a:spLocks noChangeArrowheads="1"/>
          </p:cNvSpPr>
          <p:nvPr/>
        </p:nvSpPr>
        <p:spPr bwMode="auto">
          <a:xfrm>
            <a:off x="7290541" y="6334616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2" name="AutoShape 12"/>
          <p:cNvCxnSpPr>
            <a:cxnSpLocks noChangeShapeType="1"/>
            <a:endCxn id="180" idx="0"/>
          </p:cNvCxnSpPr>
          <p:nvPr/>
        </p:nvCxnSpPr>
        <p:spPr bwMode="auto">
          <a:xfrm flipH="1">
            <a:off x="7004123" y="5593652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3" name="AutoShape 12"/>
          <p:cNvCxnSpPr>
            <a:cxnSpLocks noChangeShapeType="1"/>
            <a:endCxn id="181" idx="0"/>
          </p:cNvCxnSpPr>
          <p:nvPr/>
        </p:nvCxnSpPr>
        <p:spPr bwMode="auto">
          <a:xfrm>
            <a:off x="7290541" y="5593652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" name="Rectangle 183"/>
          <p:cNvSpPr>
            <a:spLocks noChangeArrowheads="1"/>
          </p:cNvSpPr>
          <p:nvPr/>
        </p:nvSpPr>
        <p:spPr bwMode="auto">
          <a:xfrm>
            <a:off x="7883048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5" name="Rectangle 184"/>
          <p:cNvSpPr>
            <a:spLocks noChangeArrowheads="1"/>
          </p:cNvSpPr>
          <p:nvPr/>
        </p:nvSpPr>
        <p:spPr bwMode="auto">
          <a:xfrm>
            <a:off x="839359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86" name="AutoShape 12"/>
          <p:cNvCxnSpPr>
            <a:cxnSpLocks noChangeShapeType="1"/>
            <a:endCxn id="184" idx="0"/>
          </p:cNvCxnSpPr>
          <p:nvPr/>
        </p:nvCxnSpPr>
        <p:spPr bwMode="auto">
          <a:xfrm flipH="1">
            <a:off x="8068473" y="5593652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7" name="AutoShape 12"/>
          <p:cNvCxnSpPr>
            <a:cxnSpLocks noChangeShapeType="1"/>
          </p:cNvCxnSpPr>
          <p:nvPr/>
        </p:nvCxnSpPr>
        <p:spPr bwMode="auto">
          <a:xfrm>
            <a:off x="8393590" y="5593652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8" name="AutoShape 5"/>
          <p:cNvSpPr>
            <a:spLocks noChangeArrowheads="1"/>
          </p:cNvSpPr>
          <p:nvPr/>
        </p:nvSpPr>
        <p:spPr bwMode="auto">
          <a:xfrm rot="10800000">
            <a:off x="8143440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9" name="AutoShape 5"/>
          <p:cNvSpPr>
            <a:spLocks noChangeArrowheads="1"/>
          </p:cNvSpPr>
          <p:nvPr/>
        </p:nvSpPr>
        <p:spPr bwMode="auto">
          <a:xfrm>
            <a:off x="7608070" y="3716378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0" name="AutoShape 12"/>
          <p:cNvCxnSpPr>
            <a:cxnSpLocks noChangeShapeType="1"/>
            <a:endCxn id="188" idx="3"/>
          </p:cNvCxnSpPr>
          <p:nvPr/>
        </p:nvCxnSpPr>
        <p:spPr bwMode="auto">
          <a:xfrm>
            <a:off x="7867699" y="4280517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1" name="AutoShape 12"/>
          <p:cNvCxnSpPr>
            <a:cxnSpLocks noChangeShapeType="1"/>
            <a:endCxn id="179" idx="3"/>
          </p:cNvCxnSpPr>
          <p:nvPr/>
        </p:nvCxnSpPr>
        <p:spPr bwMode="auto">
          <a:xfrm flipH="1">
            <a:off x="7290540" y="4280517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3" name="AutoShape 5"/>
          <p:cNvSpPr>
            <a:spLocks noChangeArrowheads="1"/>
          </p:cNvSpPr>
          <p:nvPr/>
        </p:nvSpPr>
        <p:spPr bwMode="auto">
          <a:xfrm rot="10800000">
            <a:off x="1890716" y="2295327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" name="AutoShape 12"/>
          <p:cNvCxnSpPr>
            <a:cxnSpLocks noChangeShapeType="1"/>
            <a:endCxn id="163" idx="0"/>
          </p:cNvCxnSpPr>
          <p:nvPr/>
        </p:nvCxnSpPr>
        <p:spPr bwMode="auto">
          <a:xfrm>
            <a:off x="2165526" y="2859465"/>
            <a:ext cx="1022696" cy="856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8" name="AutoShape 12"/>
          <p:cNvCxnSpPr>
            <a:cxnSpLocks noChangeShapeType="1"/>
            <a:endCxn id="176" idx="0"/>
          </p:cNvCxnSpPr>
          <p:nvPr/>
        </p:nvCxnSpPr>
        <p:spPr bwMode="auto">
          <a:xfrm flipH="1">
            <a:off x="5597448" y="2877970"/>
            <a:ext cx="1086107" cy="8322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9" name="AutoShape 5"/>
          <p:cNvSpPr>
            <a:spLocks noChangeArrowheads="1"/>
          </p:cNvSpPr>
          <p:nvPr/>
        </p:nvSpPr>
        <p:spPr bwMode="auto">
          <a:xfrm rot="10800000">
            <a:off x="6445735" y="2313831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0" name="AutoShape 12"/>
          <p:cNvCxnSpPr>
            <a:cxnSpLocks noChangeShapeType="1"/>
            <a:endCxn id="189" idx="0"/>
          </p:cNvCxnSpPr>
          <p:nvPr/>
        </p:nvCxnSpPr>
        <p:spPr bwMode="auto">
          <a:xfrm>
            <a:off x="6695885" y="2859466"/>
            <a:ext cx="1162335" cy="856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3" name="AutoShape 5"/>
          <p:cNvSpPr>
            <a:spLocks noChangeArrowheads="1"/>
          </p:cNvSpPr>
          <p:nvPr/>
        </p:nvSpPr>
        <p:spPr bwMode="auto">
          <a:xfrm>
            <a:off x="4222108" y="896509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4" name="AutoShape 12"/>
          <p:cNvCxnSpPr>
            <a:cxnSpLocks noChangeShapeType="1"/>
            <a:stCxn id="203" idx="3"/>
            <a:endCxn id="193" idx="3"/>
          </p:cNvCxnSpPr>
          <p:nvPr/>
        </p:nvCxnSpPr>
        <p:spPr bwMode="auto">
          <a:xfrm flipH="1">
            <a:off x="2140865" y="1460648"/>
            <a:ext cx="2331393" cy="83467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6" name="AutoShape 12"/>
          <p:cNvCxnSpPr>
            <a:cxnSpLocks noChangeShapeType="1"/>
            <a:stCxn id="203" idx="3"/>
            <a:endCxn id="199" idx="3"/>
          </p:cNvCxnSpPr>
          <p:nvPr/>
        </p:nvCxnSpPr>
        <p:spPr bwMode="auto">
          <a:xfrm>
            <a:off x="4472258" y="1460648"/>
            <a:ext cx="2223626" cy="8531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1" name="TextBox 210"/>
          <p:cNvSpPr txBox="1"/>
          <p:nvPr/>
        </p:nvSpPr>
        <p:spPr>
          <a:xfrm>
            <a:off x="8340720" y="997062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439360" y="229532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318057" y="3716378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458730" y="5147285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8193" y="4968089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9421" y="3691720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8670" y="5045352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84303" y="5017405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0595" y="3812698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34125" y="2321079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65199" y="501012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19051" y="3744076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29700" y="381885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68488" y="2313831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76004" y="947746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38997" y="5110298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65928" y="5011030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62516" y="499603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37208" y="3808657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7066" y="2373144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1837" y="4989804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31837" y="3794194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98381" y="381885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43781" y="2295327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3385" y="992361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8509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4" grpId="0"/>
      <p:bldP spid="95" grpId="0"/>
      <p:bldP spid="9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 rot="10800000">
            <a:off x="289077" y="5028912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7384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539227" y="6334015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51" name="AutoShape 12"/>
          <p:cNvCxnSpPr>
            <a:cxnSpLocks noChangeShapeType="1"/>
            <a:stCxn id="193" idx="0"/>
          </p:cNvCxnSpPr>
          <p:nvPr/>
        </p:nvCxnSpPr>
        <p:spPr bwMode="auto">
          <a:xfrm flipH="1">
            <a:off x="1096212" y="2859466"/>
            <a:ext cx="1044653" cy="8322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5" name="AutoShape 12"/>
          <p:cNvCxnSpPr>
            <a:cxnSpLocks noChangeShapeType="1"/>
            <a:endCxn id="43" idx="0"/>
          </p:cNvCxnSpPr>
          <p:nvPr/>
        </p:nvCxnSpPr>
        <p:spPr bwMode="auto">
          <a:xfrm flipH="1">
            <a:off x="252809" y="5593051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12"/>
          <p:cNvCxnSpPr>
            <a:cxnSpLocks noChangeShapeType="1"/>
            <a:endCxn id="44" idx="0"/>
          </p:cNvCxnSpPr>
          <p:nvPr/>
        </p:nvCxnSpPr>
        <p:spPr bwMode="auto">
          <a:xfrm>
            <a:off x="539227" y="5593051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1131734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1642276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73" name="AutoShape 12"/>
          <p:cNvCxnSpPr>
            <a:cxnSpLocks noChangeShapeType="1"/>
            <a:endCxn id="71" idx="0"/>
          </p:cNvCxnSpPr>
          <p:nvPr/>
        </p:nvCxnSpPr>
        <p:spPr bwMode="auto">
          <a:xfrm flipH="1">
            <a:off x="1317159" y="5593051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4" name="AutoShape 12"/>
          <p:cNvCxnSpPr>
            <a:cxnSpLocks noChangeShapeType="1"/>
          </p:cNvCxnSpPr>
          <p:nvPr/>
        </p:nvCxnSpPr>
        <p:spPr bwMode="auto">
          <a:xfrm>
            <a:off x="1642276" y="5593051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sp>
        <p:nvSpPr>
          <p:cNvPr id="142" name="AutoShape 5"/>
          <p:cNvSpPr>
            <a:spLocks noChangeArrowheads="1"/>
          </p:cNvSpPr>
          <p:nvPr/>
        </p:nvSpPr>
        <p:spPr bwMode="auto">
          <a:xfrm rot="10800000">
            <a:off x="1392126" y="5028912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" name="AutoShape 5"/>
          <p:cNvSpPr>
            <a:spLocks noChangeArrowheads="1"/>
          </p:cNvSpPr>
          <p:nvPr/>
        </p:nvSpPr>
        <p:spPr bwMode="auto">
          <a:xfrm>
            <a:off x="856756" y="3715777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4" name="AutoShape 12"/>
          <p:cNvCxnSpPr>
            <a:cxnSpLocks noChangeShapeType="1"/>
            <a:endCxn id="142" idx="3"/>
          </p:cNvCxnSpPr>
          <p:nvPr/>
        </p:nvCxnSpPr>
        <p:spPr bwMode="auto">
          <a:xfrm>
            <a:off x="1116385" y="4279916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6" name="AutoShape 12"/>
          <p:cNvCxnSpPr>
            <a:cxnSpLocks noChangeShapeType="1"/>
            <a:endCxn id="37" idx="3"/>
          </p:cNvCxnSpPr>
          <p:nvPr/>
        </p:nvCxnSpPr>
        <p:spPr bwMode="auto">
          <a:xfrm flipH="1">
            <a:off x="539226" y="4279916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3" name="AutoShape 5"/>
          <p:cNvSpPr>
            <a:spLocks noChangeArrowheads="1"/>
          </p:cNvSpPr>
          <p:nvPr/>
        </p:nvSpPr>
        <p:spPr bwMode="auto">
          <a:xfrm rot="10800000">
            <a:off x="2370393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" name="Rectangle 153"/>
          <p:cNvSpPr>
            <a:spLocks noChangeArrowheads="1"/>
          </p:cNvSpPr>
          <p:nvPr/>
        </p:nvSpPr>
        <p:spPr bwMode="auto">
          <a:xfrm>
            <a:off x="214870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55" name="Rectangle 154"/>
          <p:cNvSpPr>
            <a:spLocks noChangeArrowheads="1"/>
          </p:cNvSpPr>
          <p:nvPr/>
        </p:nvSpPr>
        <p:spPr bwMode="auto">
          <a:xfrm>
            <a:off x="2620543" y="6334616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56" name="AutoShape 12"/>
          <p:cNvCxnSpPr>
            <a:cxnSpLocks noChangeShapeType="1"/>
            <a:endCxn id="154" idx="0"/>
          </p:cNvCxnSpPr>
          <p:nvPr/>
        </p:nvCxnSpPr>
        <p:spPr bwMode="auto">
          <a:xfrm flipH="1">
            <a:off x="2334125" y="5593652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7" name="AutoShape 12"/>
          <p:cNvCxnSpPr>
            <a:cxnSpLocks noChangeShapeType="1"/>
            <a:endCxn id="155" idx="0"/>
          </p:cNvCxnSpPr>
          <p:nvPr/>
        </p:nvCxnSpPr>
        <p:spPr bwMode="auto">
          <a:xfrm>
            <a:off x="2620543" y="5593652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8" name="Rectangle 157"/>
          <p:cNvSpPr>
            <a:spLocks noChangeArrowheads="1"/>
          </p:cNvSpPr>
          <p:nvPr/>
        </p:nvSpPr>
        <p:spPr bwMode="auto">
          <a:xfrm>
            <a:off x="321305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9" name="Rectangle 158"/>
          <p:cNvSpPr>
            <a:spLocks noChangeArrowheads="1"/>
          </p:cNvSpPr>
          <p:nvPr/>
        </p:nvSpPr>
        <p:spPr bwMode="auto">
          <a:xfrm>
            <a:off x="3723592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60" name="AutoShape 12"/>
          <p:cNvCxnSpPr>
            <a:cxnSpLocks noChangeShapeType="1"/>
            <a:endCxn id="158" idx="0"/>
          </p:cNvCxnSpPr>
          <p:nvPr/>
        </p:nvCxnSpPr>
        <p:spPr bwMode="auto">
          <a:xfrm flipH="1">
            <a:off x="3398475" y="5593652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161" name="AutoShape 12"/>
          <p:cNvCxnSpPr>
            <a:cxnSpLocks noChangeShapeType="1"/>
          </p:cNvCxnSpPr>
          <p:nvPr/>
        </p:nvCxnSpPr>
        <p:spPr bwMode="auto">
          <a:xfrm>
            <a:off x="3723592" y="5593652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sp>
        <p:nvSpPr>
          <p:cNvPr id="162" name="AutoShape 5"/>
          <p:cNvSpPr>
            <a:spLocks noChangeArrowheads="1"/>
          </p:cNvSpPr>
          <p:nvPr/>
        </p:nvSpPr>
        <p:spPr bwMode="auto">
          <a:xfrm rot="10800000">
            <a:off x="3473442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" name="AutoShape 5"/>
          <p:cNvSpPr>
            <a:spLocks noChangeArrowheads="1"/>
          </p:cNvSpPr>
          <p:nvPr/>
        </p:nvSpPr>
        <p:spPr bwMode="auto">
          <a:xfrm>
            <a:off x="2938072" y="3716378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64" name="AutoShape 12"/>
          <p:cNvCxnSpPr>
            <a:cxnSpLocks noChangeShapeType="1"/>
            <a:endCxn id="162" idx="3"/>
          </p:cNvCxnSpPr>
          <p:nvPr/>
        </p:nvCxnSpPr>
        <p:spPr bwMode="auto">
          <a:xfrm>
            <a:off x="3197701" y="4280517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165" name="AutoShape 12"/>
          <p:cNvCxnSpPr>
            <a:cxnSpLocks noChangeShapeType="1"/>
            <a:endCxn id="153" idx="3"/>
          </p:cNvCxnSpPr>
          <p:nvPr/>
        </p:nvCxnSpPr>
        <p:spPr bwMode="auto">
          <a:xfrm flipH="1">
            <a:off x="2620542" y="4280517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6" name="AutoShape 5"/>
          <p:cNvSpPr>
            <a:spLocks noChangeArrowheads="1"/>
          </p:cNvSpPr>
          <p:nvPr/>
        </p:nvSpPr>
        <p:spPr bwMode="auto">
          <a:xfrm rot="10800000">
            <a:off x="4779619" y="5023359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7" name="Rectangle 166"/>
          <p:cNvSpPr>
            <a:spLocks noChangeArrowheads="1"/>
          </p:cNvSpPr>
          <p:nvPr/>
        </p:nvSpPr>
        <p:spPr bwMode="auto">
          <a:xfrm>
            <a:off x="4557926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8" name="Rectangle 167"/>
          <p:cNvSpPr>
            <a:spLocks noChangeArrowheads="1"/>
          </p:cNvSpPr>
          <p:nvPr/>
        </p:nvSpPr>
        <p:spPr bwMode="auto">
          <a:xfrm>
            <a:off x="5029769" y="6328462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9" name="AutoShape 12"/>
          <p:cNvCxnSpPr>
            <a:cxnSpLocks noChangeShapeType="1"/>
            <a:endCxn id="167" idx="0"/>
          </p:cNvCxnSpPr>
          <p:nvPr/>
        </p:nvCxnSpPr>
        <p:spPr bwMode="auto">
          <a:xfrm flipH="1">
            <a:off x="4743351" y="5587498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0" name="AutoShape 12"/>
          <p:cNvCxnSpPr>
            <a:cxnSpLocks noChangeShapeType="1"/>
            <a:endCxn id="168" idx="0"/>
          </p:cNvCxnSpPr>
          <p:nvPr/>
        </p:nvCxnSpPr>
        <p:spPr bwMode="auto">
          <a:xfrm>
            <a:off x="5029769" y="5587498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sp>
        <p:nvSpPr>
          <p:cNvPr id="171" name="Rectangle 170"/>
          <p:cNvSpPr>
            <a:spLocks noChangeArrowheads="1"/>
          </p:cNvSpPr>
          <p:nvPr/>
        </p:nvSpPr>
        <p:spPr bwMode="auto">
          <a:xfrm>
            <a:off x="5622276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72" name="Rectangle 171"/>
          <p:cNvSpPr>
            <a:spLocks noChangeArrowheads="1"/>
          </p:cNvSpPr>
          <p:nvPr/>
        </p:nvSpPr>
        <p:spPr bwMode="auto">
          <a:xfrm>
            <a:off x="6132818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73" name="AutoShape 12"/>
          <p:cNvCxnSpPr>
            <a:cxnSpLocks noChangeShapeType="1"/>
            <a:endCxn id="171" idx="0"/>
          </p:cNvCxnSpPr>
          <p:nvPr/>
        </p:nvCxnSpPr>
        <p:spPr bwMode="auto">
          <a:xfrm flipH="1">
            <a:off x="5807701" y="5587498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" name="AutoShape 12"/>
          <p:cNvCxnSpPr>
            <a:cxnSpLocks noChangeShapeType="1"/>
          </p:cNvCxnSpPr>
          <p:nvPr/>
        </p:nvCxnSpPr>
        <p:spPr bwMode="auto">
          <a:xfrm>
            <a:off x="6132818" y="5587498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5" name="AutoShape 5"/>
          <p:cNvSpPr>
            <a:spLocks noChangeArrowheads="1"/>
          </p:cNvSpPr>
          <p:nvPr/>
        </p:nvSpPr>
        <p:spPr bwMode="auto">
          <a:xfrm rot="10800000">
            <a:off x="5882668" y="5023359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6" name="AutoShape 5"/>
          <p:cNvSpPr>
            <a:spLocks noChangeArrowheads="1"/>
          </p:cNvSpPr>
          <p:nvPr/>
        </p:nvSpPr>
        <p:spPr bwMode="auto">
          <a:xfrm>
            <a:off x="5347298" y="3710224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7" name="AutoShape 12"/>
          <p:cNvCxnSpPr>
            <a:cxnSpLocks noChangeShapeType="1"/>
            <a:endCxn id="175" idx="3"/>
          </p:cNvCxnSpPr>
          <p:nvPr/>
        </p:nvCxnSpPr>
        <p:spPr bwMode="auto">
          <a:xfrm>
            <a:off x="5606927" y="4274363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8" name="AutoShape 12"/>
          <p:cNvCxnSpPr>
            <a:cxnSpLocks noChangeShapeType="1"/>
            <a:endCxn id="166" idx="3"/>
          </p:cNvCxnSpPr>
          <p:nvPr/>
        </p:nvCxnSpPr>
        <p:spPr bwMode="auto">
          <a:xfrm flipH="1">
            <a:off x="5029768" y="4274363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9" name="AutoShape 5"/>
          <p:cNvSpPr>
            <a:spLocks noChangeArrowheads="1"/>
          </p:cNvSpPr>
          <p:nvPr/>
        </p:nvSpPr>
        <p:spPr bwMode="auto">
          <a:xfrm rot="10800000">
            <a:off x="7040391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0" name="Rectangle 179"/>
          <p:cNvSpPr>
            <a:spLocks noChangeArrowheads="1"/>
          </p:cNvSpPr>
          <p:nvPr/>
        </p:nvSpPr>
        <p:spPr bwMode="auto">
          <a:xfrm>
            <a:off x="6818698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81" name="Rectangle 180"/>
          <p:cNvSpPr>
            <a:spLocks noChangeArrowheads="1"/>
          </p:cNvSpPr>
          <p:nvPr/>
        </p:nvSpPr>
        <p:spPr bwMode="auto">
          <a:xfrm>
            <a:off x="7290541" y="6334616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2" name="AutoShape 12"/>
          <p:cNvCxnSpPr>
            <a:cxnSpLocks noChangeShapeType="1"/>
            <a:endCxn id="180" idx="0"/>
          </p:cNvCxnSpPr>
          <p:nvPr/>
        </p:nvCxnSpPr>
        <p:spPr bwMode="auto">
          <a:xfrm flipH="1">
            <a:off x="7004123" y="5593652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3" name="AutoShape 12"/>
          <p:cNvCxnSpPr>
            <a:cxnSpLocks noChangeShapeType="1"/>
            <a:endCxn id="181" idx="0"/>
          </p:cNvCxnSpPr>
          <p:nvPr/>
        </p:nvCxnSpPr>
        <p:spPr bwMode="auto">
          <a:xfrm>
            <a:off x="7290541" y="5593652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" name="Rectangle 183"/>
          <p:cNvSpPr>
            <a:spLocks noChangeArrowheads="1"/>
          </p:cNvSpPr>
          <p:nvPr/>
        </p:nvSpPr>
        <p:spPr bwMode="auto">
          <a:xfrm>
            <a:off x="7883048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5" name="Rectangle 184"/>
          <p:cNvSpPr>
            <a:spLocks noChangeArrowheads="1"/>
          </p:cNvSpPr>
          <p:nvPr/>
        </p:nvSpPr>
        <p:spPr bwMode="auto">
          <a:xfrm>
            <a:off x="839359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86" name="AutoShape 12"/>
          <p:cNvCxnSpPr>
            <a:cxnSpLocks noChangeShapeType="1"/>
            <a:endCxn id="184" idx="0"/>
          </p:cNvCxnSpPr>
          <p:nvPr/>
        </p:nvCxnSpPr>
        <p:spPr bwMode="auto">
          <a:xfrm flipH="1">
            <a:off x="8068473" y="5593652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187" name="AutoShape 12"/>
          <p:cNvCxnSpPr>
            <a:cxnSpLocks noChangeShapeType="1"/>
          </p:cNvCxnSpPr>
          <p:nvPr/>
        </p:nvCxnSpPr>
        <p:spPr bwMode="auto">
          <a:xfrm>
            <a:off x="8393590" y="5593652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sp>
        <p:nvSpPr>
          <p:cNvPr id="188" name="AutoShape 5"/>
          <p:cNvSpPr>
            <a:spLocks noChangeArrowheads="1"/>
          </p:cNvSpPr>
          <p:nvPr/>
        </p:nvSpPr>
        <p:spPr bwMode="auto">
          <a:xfrm rot="10800000">
            <a:off x="8143440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9" name="AutoShape 5"/>
          <p:cNvSpPr>
            <a:spLocks noChangeArrowheads="1"/>
          </p:cNvSpPr>
          <p:nvPr/>
        </p:nvSpPr>
        <p:spPr bwMode="auto">
          <a:xfrm>
            <a:off x="7608070" y="3716378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0" name="AutoShape 12"/>
          <p:cNvCxnSpPr>
            <a:cxnSpLocks noChangeShapeType="1"/>
            <a:endCxn id="188" idx="3"/>
          </p:cNvCxnSpPr>
          <p:nvPr/>
        </p:nvCxnSpPr>
        <p:spPr bwMode="auto">
          <a:xfrm>
            <a:off x="7867699" y="4280517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191" name="AutoShape 12"/>
          <p:cNvCxnSpPr>
            <a:cxnSpLocks noChangeShapeType="1"/>
            <a:endCxn id="179" idx="3"/>
          </p:cNvCxnSpPr>
          <p:nvPr/>
        </p:nvCxnSpPr>
        <p:spPr bwMode="auto">
          <a:xfrm flipH="1">
            <a:off x="7290540" y="4280517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3" name="AutoShape 5"/>
          <p:cNvSpPr>
            <a:spLocks noChangeArrowheads="1"/>
          </p:cNvSpPr>
          <p:nvPr/>
        </p:nvSpPr>
        <p:spPr bwMode="auto">
          <a:xfrm rot="10800000">
            <a:off x="1890716" y="2295327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" name="AutoShape 12"/>
          <p:cNvCxnSpPr>
            <a:cxnSpLocks noChangeShapeType="1"/>
            <a:endCxn id="163" idx="0"/>
          </p:cNvCxnSpPr>
          <p:nvPr/>
        </p:nvCxnSpPr>
        <p:spPr bwMode="auto">
          <a:xfrm>
            <a:off x="2165526" y="2859465"/>
            <a:ext cx="1022696" cy="856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8" name="AutoShape 12"/>
          <p:cNvCxnSpPr>
            <a:cxnSpLocks noChangeShapeType="1"/>
            <a:endCxn id="176" idx="0"/>
          </p:cNvCxnSpPr>
          <p:nvPr/>
        </p:nvCxnSpPr>
        <p:spPr bwMode="auto">
          <a:xfrm flipH="1">
            <a:off x="5597448" y="2877970"/>
            <a:ext cx="1086107" cy="8322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9" name="AutoShape 5"/>
          <p:cNvSpPr>
            <a:spLocks noChangeArrowheads="1"/>
          </p:cNvSpPr>
          <p:nvPr/>
        </p:nvSpPr>
        <p:spPr bwMode="auto">
          <a:xfrm rot="10800000">
            <a:off x="6445735" y="2313831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0" name="AutoShape 12"/>
          <p:cNvCxnSpPr>
            <a:cxnSpLocks noChangeShapeType="1"/>
            <a:endCxn id="189" idx="0"/>
          </p:cNvCxnSpPr>
          <p:nvPr/>
        </p:nvCxnSpPr>
        <p:spPr bwMode="auto">
          <a:xfrm>
            <a:off x="6695885" y="2859466"/>
            <a:ext cx="1162335" cy="856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3" name="AutoShape 5"/>
          <p:cNvSpPr>
            <a:spLocks noChangeArrowheads="1"/>
          </p:cNvSpPr>
          <p:nvPr/>
        </p:nvSpPr>
        <p:spPr bwMode="auto">
          <a:xfrm>
            <a:off x="4222108" y="896509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4" name="AutoShape 12"/>
          <p:cNvCxnSpPr>
            <a:cxnSpLocks noChangeShapeType="1"/>
            <a:stCxn id="203" idx="3"/>
            <a:endCxn id="193" idx="3"/>
          </p:cNvCxnSpPr>
          <p:nvPr/>
        </p:nvCxnSpPr>
        <p:spPr bwMode="auto">
          <a:xfrm flipH="1">
            <a:off x="2140865" y="1460648"/>
            <a:ext cx="2331393" cy="83467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6" name="AutoShape 12"/>
          <p:cNvCxnSpPr>
            <a:cxnSpLocks noChangeShapeType="1"/>
            <a:stCxn id="203" idx="3"/>
            <a:endCxn id="199" idx="3"/>
          </p:cNvCxnSpPr>
          <p:nvPr/>
        </p:nvCxnSpPr>
        <p:spPr bwMode="auto">
          <a:xfrm>
            <a:off x="4472258" y="1460648"/>
            <a:ext cx="2223626" cy="8531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1" name="TextBox 210"/>
          <p:cNvSpPr txBox="1"/>
          <p:nvPr/>
        </p:nvSpPr>
        <p:spPr>
          <a:xfrm>
            <a:off x="8340720" y="997062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439360" y="229532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318057" y="3716378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458730" y="5147285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8193" y="4968089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9421" y="3691720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8670" y="5045352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84303" y="5017405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0595" y="3812698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34125" y="2321079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65199" y="501012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19051" y="3744076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29700" y="381885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68488" y="2313831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76004" y="947746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38997" y="5110298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65928" y="5011030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62516" y="499603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37208" y="3808657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7066" y="2373144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1837" y="4989804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31837" y="3794194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98381" y="381885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43781" y="2295327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3385" y="992361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0485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557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 rot="10800000">
            <a:off x="289077" y="5028912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7384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539227" y="6334015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51" name="AutoShape 12"/>
          <p:cNvCxnSpPr>
            <a:cxnSpLocks noChangeShapeType="1"/>
            <a:stCxn id="193" idx="0"/>
          </p:cNvCxnSpPr>
          <p:nvPr/>
        </p:nvCxnSpPr>
        <p:spPr bwMode="auto">
          <a:xfrm flipH="1">
            <a:off x="1096212" y="2859466"/>
            <a:ext cx="1044653" cy="8322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5" name="AutoShape 12"/>
          <p:cNvCxnSpPr>
            <a:cxnSpLocks noChangeShapeType="1"/>
            <a:endCxn id="43" idx="0"/>
          </p:cNvCxnSpPr>
          <p:nvPr/>
        </p:nvCxnSpPr>
        <p:spPr bwMode="auto">
          <a:xfrm flipH="1">
            <a:off x="252809" y="5593051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12"/>
          <p:cNvCxnSpPr>
            <a:cxnSpLocks noChangeShapeType="1"/>
            <a:endCxn id="44" idx="0"/>
          </p:cNvCxnSpPr>
          <p:nvPr/>
        </p:nvCxnSpPr>
        <p:spPr bwMode="auto">
          <a:xfrm>
            <a:off x="539227" y="5593051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1131734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1642276" y="6342047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73" name="AutoShape 12"/>
          <p:cNvCxnSpPr>
            <a:cxnSpLocks noChangeShapeType="1"/>
            <a:endCxn id="71" idx="0"/>
          </p:cNvCxnSpPr>
          <p:nvPr/>
        </p:nvCxnSpPr>
        <p:spPr bwMode="auto">
          <a:xfrm flipH="1">
            <a:off x="1317159" y="5593051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4" name="AutoShape 12"/>
          <p:cNvCxnSpPr>
            <a:cxnSpLocks noChangeShapeType="1"/>
          </p:cNvCxnSpPr>
          <p:nvPr/>
        </p:nvCxnSpPr>
        <p:spPr bwMode="auto">
          <a:xfrm>
            <a:off x="1642276" y="5593051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sp>
        <p:nvSpPr>
          <p:cNvPr id="142" name="AutoShape 5"/>
          <p:cNvSpPr>
            <a:spLocks noChangeArrowheads="1"/>
          </p:cNvSpPr>
          <p:nvPr/>
        </p:nvSpPr>
        <p:spPr bwMode="auto">
          <a:xfrm rot="10800000">
            <a:off x="1392126" y="5028912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" name="AutoShape 5"/>
          <p:cNvSpPr>
            <a:spLocks noChangeArrowheads="1"/>
          </p:cNvSpPr>
          <p:nvPr/>
        </p:nvSpPr>
        <p:spPr bwMode="auto">
          <a:xfrm>
            <a:off x="856756" y="3715777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4" name="AutoShape 12"/>
          <p:cNvCxnSpPr>
            <a:cxnSpLocks noChangeShapeType="1"/>
            <a:endCxn id="142" idx="3"/>
          </p:cNvCxnSpPr>
          <p:nvPr/>
        </p:nvCxnSpPr>
        <p:spPr bwMode="auto">
          <a:xfrm>
            <a:off x="1116385" y="4279916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6" name="AutoShape 12"/>
          <p:cNvCxnSpPr>
            <a:cxnSpLocks noChangeShapeType="1"/>
            <a:endCxn id="37" idx="3"/>
          </p:cNvCxnSpPr>
          <p:nvPr/>
        </p:nvCxnSpPr>
        <p:spPr bwMode="auto">
          <a:xfrm flipH="1">
            <a:off x="539226" y="4279916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3" name="AutoShape 5"/>
          <p:cNvSpPr>
            <a:spLocks noChangeArrowheads="1"/>
          </p:cNvSpPr>
          <p:nvPr/>
        </p:nvSpPr>
        <p:spPr bwMode="auto">
          <a:xfrm rot="10800000">
            <a:off x="2370393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" name="Rectangle 153"/>
          <p:cNvSpPr>
            <a:spLocks noChangeArrowheads="1"/>
          </p:cNvSpPr>
          <p:nvPr/>
        </p:nvSpPr>
        <p:spPr bwMode="auto">
          <a:xfrm>
            <a:off x="214870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55" name="Rectangle 154"/>
          <p:cNvSpPr>
            <a:spLocks noChangeArrowheads="1"/>
          </p:cNvSpPr>
          <p:nvPr/>
        </p:nvSpPr>
        <p:spPr bwMode="auto">
          <a:xfrm>
            <a:off x="2620543" y="6334616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56" name="AutoShape 12"/>
          <p:cNvCxnSpPr>
            <a:cxnSpLocks noChangeShapeType="1"/>
            <a:endCxn id="154" idx="0"/>
          </p:cNvCxnSpPr>
          <p:nvPr/>
        </p:nvCxnSpPr>
        <p:spPr bwMode="auto">
          <a:xfrm flipH="1">
            <a:off x="2334125" y="5593652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7" name="AutoShape 12"/>
          <p:cNvCxnSpPr>
            <a:cxnSpLocks noChangeShapeType="1"/>
            <a:endCxn id="155" idx="0"/>
          </p:cNvCxnSpPr>
          <p:nvPr/>
        </p:nvCxnSpPr>
        <p:spPr bwMode="auto">
          <a:xfrm>
            <a:off x="2620543" y="5593652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8" name="Rectangle 157"/>
          <p:cNvSpPr>
            <a:spLocks noChangeArrowheads="1"/>
          </p:cNvSpPr>
          <p:nvPr/>
        </p:nvSpPr>
        <p:spPr bwMode="auto">
          <a:xfrm>
            <a:off x="321305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9" name="Rectangle 158"/>
          <p:cNvSpPr>
            <a:spLocks noChangeArrowheads="1"/>
          </p:cNvSpPr>
          <p:nvPr/>
        </p:nvSpPr>
        <p:spPr bwMode="auto">
          <a:xfrm>
            <a:off x="3723592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60" name="AutoShape 12"/>
          <p:cNvCxnSpPr>
            <a:cxnSpLocks noChangeShapeType="1"/>
            <a:endCxn id="158" idx="0"/>
          </p:cNvCxnSpPr>
          <p:nvPr/>
        </p:nvCxnSpPr>
        <p:spPr bwMode="auto">
          <a:xfrm flipH="1">
            <a:off x="3398475" y="5593652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161" name="AutoShape 12"/>
          <p:cNvCxnSpPr>
            <a:cxnSpLocks noChangeShapeType="1"/>
          </p:cNvCxnSpPr>
          <p:nvPr/>
        </p:nvCxnSpPr>
        <p:spPr bwMode="auto">
          <a:xfrm>
            <a:off x="3723592" y="5593652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sp>
        <p:nvSpPr>
          <p:cNvPr id="162" name="AutoShape 5"/>
          <p:cNvSpPr>
            <a:spLocks noChangeArrowheads="1"/>
          </p:cNvSpPr>
          <p:nvPr/>
        </p:nvSpPr>
        <p:spPr bwMode="auto">
          <a:xfrm rot="10800000">
            <a:off x="3473442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" name="AutoShape 5"/>
          <p:cNvSpPr>
            <a:spLocks noChangeArrowheads="1"/>
          </p:cNvSpPr>
          <p:nvPr/>
        </p:nvSpPr>
        <p:spPr bwMode="auto">
          <a:xfrm>
            <a:off x="2938072" y="3716378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64" name="AutoShape 12"/>
          <p:cNvCxnSpPr>
            <a:cxnSpLocks noChangeShapeType="1"/>
            <a:endCxn id="162" idx="3"/>
          </p:cNvCxnSpPr>
          <p:nvPr/>
        </p:nvCxnSpPr>
        <p:spPr bwMode="auto">
          <a:xfrm>
            <a:off x="3197701" y="4280517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165" name="AutoShape 12"/>
          <p:cNvCxnSpPr>
            <a:cxnSpLocks noChangeShapeType="1"/>
            <a:endCxn id="153" idx="3"/>
          </p:cNvCxnSpPr>
          <p:nvPr/>
        </p:nvCxnSpPr>
        <p:spPr bwMode="auto">
          <a:xfrm flipH="1">
            <a:off x="2620542" y="4280517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6" name="AutoShape 5"/>
          <p:cNvSpPr>
            <a:spLocks noChangeArrowheads="1"/>
          </p:cNvSpPr>
          <p:nvPr/>
        </p:nvSpPr>
        <p:spPr bwMode="auto">
          <a:xfrm rot="10800000">
            <a:off x="4779619" y="5023359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7" name="Rectangle 166"/>
          <p:cNvSpPr>
            <a:spLocks noChangeArrowheads="1"/>
          </p:cNvSpPr>
          <p:nvPr/>
        </p:nvSpPr>
        <p:spPr bwMode="auto">
          <a:xfrm>
            <a:off x="4557926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8" name="Rectangle 167"/>
          <p:cNvSpPr>
            <a:spLocks noChangeArrowheads="1"/>
          </p:cNvSpPr>
          <p:nvPr/>
        </p:nvSpPr>
        <p:spPr bwMode="auto">
          <a:xfrm>
            <a:off x="5029769" y="6328462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9" name="AutoShape 12"/>
          <p:cNvCxnSpPr>
            <a:cxnSpLocks noChangeShapeType="1"/>
            <a:endCxn id="167" idx="0"/>
          </p:cNvCxnSpPr>
          <p:nvPr/>
        </p:nvCxnSpPr>
        <p:spPr bwMode="auto">
          <a:xfrm flipH="1">
            <a:off x="4743351" y="5587498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0" name="AutoShape 12"/>
          <p:cNvCxnSpPr>
            <a:cxnSpLocks noChangeShapeType="1"/>
            <a:endCxn id="168" idx="0"/>
          </p:cNvCxnSpPr>
          <p:nvPr/>
        </p:nvCxnSpPr>
        <p:spPr bwMode="auto">
          <a:xfrm>
            <a:off x="5029769" y="5587498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sp>
        <p:nvSpPr>
          <p:cNvPr id="171" name="Rectangle 170"/>
          <p:cNvSpPr>
            <a:spLocks noChangeArrowheads="1"/>
          </p:cNvSpPr>
          <p:nvPr/>
        </p:nvSpPr>
        <p:spPr bwMode="auto">
          <a:xfrm>
            <a:off x="5622276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72" name="Rectangle 171"/>
          <p:cNvSpPr>
            <a:spLocks noChangeArrowheads="1"/>
          </p:cNvSpPr>
          <p:nvPr/>
        </p:nvSpPr>
        <p:spPr bwMode="auto">
          <a:xfrm>
            <a:off x="6132818" y="6336494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73" name="AutoShape 12"/>
          <p:cNvCxnSpPr>
            <a:cxnSpLocks noChangeShapeType="1"/>
            <a:endCxn id="171" idx="0"/>
          </p:cNvCxnSpPr>
          <p:nvPr/>
        </p:nvCxnSpPr>
        <p:spPr bwMode="auto">
          <a:xfrm flipH="1">
            <a:off x="5807701" y="5587498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" name="AutoShape 12"/>
          <p:cNvCxnSpPr>
            <a:cxnSpLocks noChangeShapeType="1"/>
          </p:cNvCxnSpPr>
          <p:nvPr/>
        </p:nvCxnSpPr>
        <p:spPr bwMode="auto">
          <a:xfrm>
            <a:off x="6132818" y="5587498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5" name="AutoShape 5"/>
          <p:cNvSpPr>
            <a:spLocks noChangeArrowheads="1"/>
          </p:cNvSpPr>
          <p:nvPr/>
        </p:nvSpPr>
        <p:spPr bwMode="auto">
          <a:xfrm rot="10800000">
            <a:off x="5882668" y="5023359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6" name="AutoShape 5"/>
          <p:cNvSpPr>
            <a:spLocks noChangeArrowheads="1"/>
          </p:cNvSpPr>
          <p:nvPr/>
        </p:nvSpPr>
        <p:spPr bwMode="auto">
          <a:xfrm>
            <a:off x="5347298" y="3710224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7" name="AutoShape 12"/>
          <p:cNvCxnSpPr>
            <a:cxnSpLocks noChangeShapeType="1"/>
            <a:endCxn id="175" idx="3"/>
          </p:cNvCxnSpPr>
          <p:nvPr/>
        </p:nvCxnSpPr>
        <p:spPr bwMode="auto">
          <a:xfrm>
            <a:off x="5606927" y="4274363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8" name="AutoShape 12"/>
          <p:cNvCxnSpPr>
            <a:cxnSpLocks noChangeShapeType="1"/>
            <a:endCxn id="166" idx="3"/>
          </p:cNvCxnSpPr>
          <p:nvPr/>
        </p:nvCxnSpPr>
        <p:spPr bwMode="auto">
          <a:xfrm flipH="1">
            <a:off x="5029768" y="4274363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9" name="AutoShape 5"/>
          <p:cNvSpPr>
            <a:spLocks noChangeArrowheads="1"/>
          </p:cNvSpPr>
          <p:nvPr/>
        </p:nvSpPr>
        <p:spPr bwMode="auto">
          <a:xfrm rot="10800000">
            <a:off x="7040391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0" name="Rectangle 179"/>
          <p:cNvSpPr>
            <a:spLocks noChangeArrowheads="1"/>
          </p:cNvSpPr>
          <p:nvPr/>
        </p:nvSpPr>
        <p:spPr bwMode="auto">
          <a:xfrm>
            <a:off x="6818698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81" name="Rectangle 180"/>
          <p:cNvSpPr>
            <a:spLocks noChangeArrowheads="1"/>
          </p:cNvSpPr>
          <p:nvPr/>
        </p:nvSpPr>
        <p:spPr bwMode="auto">
          <a:xfrm>
            <a:off x="7290541" y="6334616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2" name="AutoShape 12"/>
          <p:cNvCxnSpPr>
            <a:cxnSpLocks noChangeShapeType="1"/>
            <a:endCxn id="180" idx="0"/>
          </p:cNvCxnSpPr>
          <p:nvPr/>
        </p:nvCxnSpPr>
        <p:spPr bwMode="auto">
          <a:xfrm flipH="1">
            <a:off x="7004123" y="5593652"/>
            <a:ext cx="286419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3" name="AutoShape 12"/>
          <p:cNvCxnSpPr>
            <a:cxnSpLocks noChangeShapeType="1"/>
            <a:endCxn id="181" idx="0"/>
          </p:cNvCxnSpPr>
          <p:nvPr/>
        </p:nvCxnSpPr>
        <p:spPr bwMode="auto">
          <a:xfrm>
            <a:off x="7290541" y="5593652"/>
            <a:ext cx="185425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" name="Rectangle 183"/>
          <p:cNvSpPr>
            <a:spLocks noChangeArrowheads="1"/>
          </p:cNvSpPr>
          <p:nvPr/>
        </p:nvSpPr>
        <p:spPr bwMode="auto">
          <a:xfrm>
            <a:off x="7883048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5" name="Rectangle 184"/>
          <p:cNvSpPr>
            <a:spLocks noChangeArrowheads="1"/>
          </p:cNvSpPr>
          <p:nvPr/>
        </p:nvSpPr>
        <p:spPr bwMode="auto">
          <a:xfrm>
            <a:off x="8393590" y="6342648"/>
            <a:ext cx="370850" cy="385887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86" name="AutoShape 12"/>
          <p:cNvCxnSpPr>
            <a:cxnSpLocks noChangeShapeType="1"/>
            <a:endCxn id="184" idx="0"/>
          </p:cNvCxnSpPr>
          <p:nvPr/>
        </p:nvCxnSpPr>
        <p:spPr bwMode="auto">
          <a:xfrm flipH="1">
            <a:off x="8068473" y="5593652"/>
            <a:ext cx="325117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187" name="AutoShape 12"/>
          <p:cNvCxnSpPr>
            <a:cxnSpLocks noChangeShapeType="1"/>
          </p:cNvCxnSpPr>
          <p:nvPr/>
        </p:nvCxnSpPr>
        <p:spPr bwMode="auto">
          <a:xfrm>
            <a:off x="8393590" y="5593652"/>
            <a:ext cx="250150" cy="740964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sp>
        <p:nvSpPr>
          <p:cNvPr id="188" name="AutoShape 5"/>
          <p:cNvSpPr>
            <a:spLocks noChangeArrowheads="1"/>
          </p:cNvSpPr>
          <p:nvPr/>
        </p:nvSpPr>
        <p:spPr bwMode="auto">
          <a:xfrm rot="10800000">
            <a:off x="8143440" y="5029513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9" name="AutoShape 5"/>
          <p:cNvSpPr>
            <a:spLocks noChangeArrowheads="1"/>
          </p:cNvSpPr>
          <p:nvPr/>
        </p:nvSpPr>
        <p:spPr bwMode="auto">
          <a:xfrm>
            <a:off x="7608070" y="3716378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0" name="AutoShape 12"/>
          <p:cNvCxnSpPr>
            <a:cxnSpLocks noChangeShapeType="1"/>
            <a:endCxn id="188" idx="3"/>
          </p:cNvCxnSpPr>
          <p:nvPr/>
        </p:nvCxnSpPr>
        <p:spPr bwMode="auto">
          <a:xfrm>
            <a:off x="7867699" y="4280517"/>
            <a:ext cx="525890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cxnSp>
        <p:nvCxnSpPr>
          <p:cNvPr id="191" name="AutoShape 12"/>
          <p:cNvCxnSpPr>
            <a:cxnSpLocks noChangeShapeType="1"/>
            <a:endCxn id="179" idx="3"/>
          </p:cNvCxnSpPr>
          <p:nvPr/>
        </p:nvCxnSpPr>
        <p:spPr bwMode="auto">
          <a:xfrm flipH="1">
            <a:off x="7290540" y="4280517"/>
            <a:ext cx="556986" cy="7489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3" name="AutoShape 5"/>
          <p:cNvSpPr>
            <a:spLocks noChangeArrowheads="1"/>
          </p:cNvSpPr>
          <p:nvPr/>
        </p:nvSpPr>
        <p:spPr bwMode="auto">
          <a:xfrm rot="10800000">
            <a:off x="1890716" y="2295327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" name="AutoShape 12"/>
          <p:cNvCxnSpPr>
            <a:cxnSpLocks noChangeShapeType="1"/>
            <a:endCxn id="163" idx="0"/>
          </p:cNvCxnSpPr>
          <p:nvPr/>
        </p:nvCxnSpPr>
        <p:spPr bwMode="auto">
          <a:xfrm>
            <a:off x="2165526" y="2859465"/>
            <a:ext cx="1022696" cy="856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8" name="AutoShape 12"/>
          <p:cNvCxnSpPr>
            <a:cxnSpLocks noChangeShapeType="1"/>
            <a:endCxn id="176" idx="0"/>
          </p:cNvCxnSpPr>
          <p:nvPr/>
        </p:nvCxnSpPr>
        <p:spPr bwMode="auto">
          <a:xfrm flipH="1">
            <a:off x="5597448" y="2877970"/>
            <a:ext cx="1086107" cy="8322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9" name="AutoShape 5"/>
          <p:cNvSpPr>
            <a:spLocks noChangeArrowheads="1"/>
          </p:cNvSpPr>
          <p:nvPr/>
        </p:nvSpPr>
        <p:spPr bwMode="auto">
          <a:xfrm rot="10800000">
            <a:off x="6445735" y="2313831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0" name="AutoShape 12"/>
          <p:cNvCxnSpPr>
            <a:cxnSpLocks noChangeShapeType="1"/>
            <a:endCxn id="189" idx="0"/>
          </p:cNvCxnSpPr>
          <p:nvPr/>
        </p:nvCxnSpPr>
        <p:spPr bwMode="auto">
          <a:xfrm>
            <a:off x="6695885" y="2859466"/>
            <a:ext cx="1162335" cy="856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3" name="AutoShape 5"/>
          <p:cNvSpPr>
            <a:spLocks noChangeArrowheads="1"/>
          </p:cNvSpPr>
          <p:nvPr/>
        </p:nvSpPr>
        <p:spPr bwMode="auto">
          <a:xfrm>
            <a:off x="4222108" y="896509"/>
            <a:ext cx="500299" cy="564139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4" name="AutoShape 12"/>
          <p:cNvCxnSpPr>
            <a:cxnSpLocks noChangeShapeType="1"/>
            <a:stCxn id="203" idx="3"/>
            <a:endCxn id="193" idx="3"/>
          </p:cNvCxnSpPr>
          <p:nvPr/>
        </p:nvCxnSpPr>
        <p:spPr bwMode="auto">
          <a:xfrm flipH="1">
            <a:off x="2140865" y="1460648"/>
            <a:ext cx="2331393" cy="83467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6" name="AutoShape 12"/>
          <p:cNvCxnSpPr>
            <a:cxnSpLocks noChangeShapeType="1"/>
            <a:stCxn id="203" idx="3"/>
            <a:endCxn id="199" idx="3"/>
          </p:cNvCxnSpPr>
          <p:nvPr/>
        </p:nvCxnSpPr>
        <p:spPr bwMode="auto">
          <a:xfrm>
            <a:off x="4472258" y="1460648"/>
            <a:ext cx="2223626" cy="8531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1" name="TextBox 210"/>
          <p:cNvSpPr txBox="1"/>
          <p:nvPr/>
        </p:nvSpPr>
        <p:spPr>
          <a:xfrm>
            <a:off x="8340720" y="997062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439360" y="229532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318057" y="3716378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458730" y="5147285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8193" y="4968089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9421" y="3691720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8670" y="5045352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84303" y="5017405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0595" y="3812698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34125" y="2321079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65199" y="501012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19051" y="3744076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29700" y="381885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68488" y="2313831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76004" y="947746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38997" y="5110298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65928" y="5011030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62516" y="4996036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37208" y="3808657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7066" y="2373144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≤ 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1837" y="4989804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31837" y="3794194"/>
            <a:ext cx="67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≥ 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98381" y="3818852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43781" y="2295327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3385" y="992361"/>
            <a:ext cx="537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E30B6B-324D-F6E0-2E44-2CB7E9AF3818}"/>
              </a:ext>
            </a:extLst>
          </p:cNvPr>
          <p:cNvGrpSpPr/>
          <p:nvPr/>
        </p:nvGrpSpPr>
        <p:grpSpPr>
          <a:xfrm rot="19664442">
            <a:off x="1563758" y="5698902"/>
            <a:ext cx="392412" cy="451262"/>
            <a:chOff x="6412149" y="3823855"/>
            <a:chExt cx="392412" cy="451262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498D21C-9728-C075-6C19-89B2F9315110}"/>
                </a:ext>
              </a:extLst>
            </p:cNvPr>
            <p:cNvCxnSpPr/>
            <p:nvPr/>
          </p:nvCxnSpPr>
          <p:spPr>
            <a:xfrm>
              <a:off x="6412675" y="3823855"/>
              <a:ext cx="391886" cy="4512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B655B5A-E7CE-CA62-4DBF-F8F7B69B75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2149" y="3823855"/>
              <a:ext cx="392001" cy="44928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CB029C5-B055-2DB5-36D7-CFE67E2D4CB3}"/>
              </a:ext>
            </a:extLst>
          </p:cNvPr>
          <p:cNvGrpSpPr/>
          <p:nvPr/>
        </p:nvGrpSpPr>
        <p:grpSpPr>
          <a:xfrm rot="19664442">
            <a:off x="3249414" y="4429383"/>
            <a:ext cx="392412" cy="451262"/>
            <a:chOff x="6412149" y="3823855"/>
            <a:chExt cx="392412" cy="45126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D67F231-1E0B-D82E-E17D-272217E13E27}"/>
                </a:ext>
              </a:extLst>
            </p:cNvPr>
            <p:cNvCxnSpPr/>
            <p:nvPr/>
          </p:nvCxnSpPr>
          <p:spPr>
            <a:xfrm>
              <a:off x="6412675" y="3823855"/>
              <a:ext cx="391886" cy="4512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F160642-8AD4-27D9-9860-A72E06C30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2149" y="3823855"/>
              <a:ext cx="392001" cy="44928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E27A82A-671C-826B-399E-24E157805133}"/>
              </a:ext>
            </a:extLst>
          </p:cNvPr>
          <p:cNvGrpSpPr/>
          <p:nvPr/>
        </p:nvGrpSpPr>
        <p:grpSpPr>
          <a:xfrm rot="19664442">
            <a:off x="4912843" y="5736365"/>
            <a:ext cx="392412" cy="451262"/>
            <a:chOff x="6412149" y="3823855"/>
            <a:chExt cx="392412" cy="451262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218EE4-8A98-2536-6907-3E7E108BF6A9}"/>
                </a:ext>
              </a:extLst>
            </p:cNvPr>
            <p:cNvCxnSpPr/>
            <p:nvPr/>
          </p:nvCxnSpPr>
          <p:spPr>
            <a:xfrm>
              <a:off x="6412675" y="3823855"/>
              <a:ext cx="391886" cy="4512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4D70874-86E9-7749-236B-2D75BDD45E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2149" y="3823855"/>
              <a:ext cx="392001" cy="44928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6123D2-B11A-75ED-59E3-6EC6C9701A50}"/>
              </a:ext>
            </a:extLst>
          </p:cNvPr>
          <p:cNvGrpSpPr/>
          <p:nvPr/>
        </p:nvGrpSpPr>
        <p:grpSpPr>
          <a:xfrm rot="19664442">
            <a:off x="7934438" y="4381926"/>
            <a:ext cx="392412" cy="451262"/>
            <a:chOff x="6412149" y="3823855"/>
            <a:chExt cx="392412" cy="45126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C2A98CE-9AE4-EF10-0A2E-E4C6810F5CF7}"/>
                </a:ext>
              </a:extLst>
            </p:cNvPr>
            <p:cNvCxnSpPr/>
            <p:nvPr/>
          </p:nvCxnSpPr>
          <p:spPr>
            <a:xfrm>
              <a:off x="6412675" y="3823855"/>
              <a:ext cx="391886" cy="4512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434BA0-6DE0-43BA-DFBE-2359FA45C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2149" y="3823855"/>
              <a:ext cx="392001" cy="44928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18887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Proprietățile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algoritmului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Alpha-Beta Pruning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procesul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retezare</a:t>
            </a:r>
            <a:r>
              <a:rPr lang="en-US" sz="2400" dirty="0">
                <a:latin typeface="Times New Roman"/>
                <a:cs typeface="Times New Roman"/>
              </a:rPr>
              <a:t> nu are </a:t>
            </a:r>
            <a:r>
              <a:rPr lang="en-US" sz="2400" dirty="0" err="1">
                <a:latin typeface="Times New Roman"/>
                <a:cs typeface="Times New Roman"/>
              </a:rPr>
              <a:t>niciun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efect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asupra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valorii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minimax</a:t>
            </a:r>
            <a:r>
              <a:rPr lang="en-US" sz="2400" dirty="0">
                <a:latin typeface="Times New Roman"/>
                <a:cs typeface="Times New Roman"/>
              </a:rPr>
              <a:t> calculate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rădăcină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aceasta</a:t>
            </a:r>
            <a:r>
              <a:rPr lang="en-US" sz="2400" dirty="0">
                <a:latin typeface="Times New Roman"/>
                <a:cs typeface="Times New Roman"/>
              </a:rPr>
              <a:t> nu se </a:t>
            </a:r>
            <a:r>
              <a:rPr lang="en-US" sz="2400" dirty="0" err="1">
                <a:latin typeface="Times New Roman"/>
                <a:cs typeface="Times New Roman"/>
              </a:rPr>
              <a:t>schimbă</a:t>
            </a:r>
            <a:r>
              <a:rPr lang="en-US" sz="2400" dirty="0">
                <a:latin typeface="Times New Roman"/>
                <a:cs typeface="Times New Roman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valorile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nodurilor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intermediare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aproximate</a:t>
            </a:r>
            <a:r>
              <a:rPr lang="en-US" sz="2400" dirty="0">
                <a:latin typeface="Times New Roman"/>
                <a:cs typeface="Times New Roman"/>
              </a:rPr>
              <a:t>) pot fi </a:t>
            </a:r>
            <a:r>
              <a:rPr lang="en-US" sz="2400" dirty="0" err="1">
                <a:latin typeface="Times New Roman"/>
                <a:cs typeface="Times New Roman"/>
              </a:rPr>
              <a:t>greșite</a:t>
            </a:r>
            <a:r>
              <a:rPr lang="en-US" sz="2400" dirty="0">
                <a:latin typeface="Times New Roman"/>
                <a:cs typeface="Times New Roman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Times New Roman"/>
                <a:cs typeface="Times New Roman"/>
              </a:rPr>
              <a:t>important: </a:t>
            </a:r>
            <a:r>
              <a:rPr lang="en-US" sz="2000" dirty="0" err="1">
                <a:latin typeface="Times New Roman"/>
                <a:cs typeface="Times New Roman"/>
              </a:rPr>
              <a:t>nodurile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fii</a:t>
            </a:r>
            <a:r>
              <a:rPr lang="en-US" sz="2000" dirty="0">
                <a:latin typeface="Times New Roman"/>
                <a:cs typeface="Times New Roman"/>
              </a:rPr>
              <a:t> ale </a:t>
            </a:r>
            <a:r>
              <a:rPr lang="en-US" sz="2000" dirty="0" err="1">
                <a:latin typeface="Times New Roman"/>
                <a:cs typeface="Times New Roman"/>
              </a:rPr>
              <a:t>rădăcinii</a:t>
            </a:r>
            <a:r>
              <a:rPr lang="en-US" sz="2000" dirty="0">
                <a:latin typeface="Times New Roman"/>
                <a:cs typeface="Times New Roman"/>
              </a:rPr>
              <a:t> pot </a:t>
            </a:r>
            <a:r>
              <a:rPr lang="en-US" sz="2000" dirty="0" err="1">
                <a:latin typeface="Times New Roman"/>
                <a:cs typeface="Times New Roman"/>
              </a:rPr>
              <a:t>avea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valori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greșite</a:t>
            </a:r>
            <a:endParaRPr lang="en-US" sz="2000" dirty="0">
              <a:latin typeface="Times New Roman"/>
              <a:cs typeface="Times New Roman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000" dirty="0" err="1">
                <a:latin typeface="Times New Roman"/>
                <a:cs typeface="Times New Roman"/>
              </a:rPr>
              <a:t>Implementarea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naivă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poate</a:t>
            </a:r>
            <a:r>
              <a:rPr lang="en-US" sz="2000" dirty="0">
                <a:latin typeface="Times New Roman"/>
                <a:cs typeface="Times New Roman"/>
              </a:rPr>
              <a:t> conduce la </a:t>
            </a:r>
            <a:r>
              <a:rPr lang="en-US" sz="2000" dirty="0" err="1">
                <a:latin typeface="Times New Roman"/>
                <a:cs typeface="Times New Roman"/>
              </a:rPr>
              <a:t>erori</a:t>
            </a:r>
            <a:endParaRPr lang="en-US" sz="2000" dirty="0">
              <a:latin typeface="Times New Roman"/>
              <a:cs typeface="Times New Roman"/>
            </a:endParaRP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vizitarea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ordinea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bună</a:t>
            </a:r>
            <a:r>
              <a:rPr lang="en-US" sz="2400" dirty="0">
                <a:latin typeface="Times New Roman"/>
                <a:cs typeface="Times New Roman"/>
              </a:rPr>
              <a:t> a </a:t>
            </a:r>
            <a:r>
              <a:rPr lang="en-US" sz="2400" dirty="0" err="1">
                <a:latin typeface="Times New Roman"/>
                <a:cs typeface="Times New Roman"/>
              </a:rPr>
              <a:t>nodurilor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fii</a:t>
            </a:r>
            <a:r>
              <a:rPr lang="en-US" sz="2400" dirty="0">
                <a:latin typeface="Times New Roman"/>
                <a:cs typeface="Times New Roman"/>
              </a:rPr>
              <a:t> conduce la </a:t>
            </a:r>
            <a:r>
              <a:rPr lang="en-US" sz="2400" dirty="0" err="1">
                <a:latin typeface="Times New Roman"/>
                <a:cs typeface="Times New Roman"/>
              </a:rPr>
              <a:t>retezări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rapide</a:t>
            </a:r>
            <a:endParaRPr lang="en-US" sz="2400" dirty="0">
              <a:latin typeface="Times New Roman"/>
              <a:cs typeface="Times New Roman"/>
            </a:endParaRP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/>
                <a:cs typeface="Times New Roman"/>
              </a:rPr>
              <a:t>cu “</a:t>
            </a:r>
            <a:r>
              <a:rPr lang="en-US" sz="2400" dirty="0" err="1">
                <a:latin typeface="Times New Roman"/>
                <a:cs typeface="Times New Roman"/>
              </a:rPr>
              <a:t>ordonare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perfectă</a:t>
            </a:r>
            <a:r>
              <a:rPr lang="en-US" sz="2400" dirty="0">
                <a:latin typeface="Times New Roman"/>
                <a:cs typeface="Times New Roman"/>
              </a:rPr>
              <a:t>”: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>
                <a:latin typeface="Times New Roman"/>
                <a:cs typeface="Times New Roman"/>
              </a:rPr>
              <a:t>complexitatea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timp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poate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scădea</a:t>
            </a:r>
            <a:r>
              <a:rPr lang="en-US" sz="2000" dirty="0">
                <a:latin typeface="Times New Roman"/>
                <a:cs typeface="Times New Roman"/>
              </a:rPr>
              <a:t> la O(</a:t>
            </a:r>
            <a:r>
              <a:rPr lang="en-US" sz="2000" dirty="0" err="1">
                <a:latin typeface="Times New Roman"/>
                <a:cs typeface="Times New Roman"/>
              </a:rPr>
              <a:t>b</a:t>
            </a:r>
            <a:r>
              <a:rPr lang="en-US" sz="2000" baseline="30000" dirty="0" err="1">
                <a:latin typeface="Times New Roman"/>
                <a:cs typeface="Times New Roman"/>
              </a:rPr>
              <a:t>m</a:t>
            </a:r>
            <a:r>
              <a:rPr lang="en-US" sz="2000" baseline="30000" dirty="0">
                <a:latin typeface="Times New Roman"/>
                <a:cs typeface="Times New Roman"/>
              </a:rPr>
              <a:t>/2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>
                <a:latin typeface="Times New Roman"/>
                <a:cs typeface="Times New Roman"/>
              </a:rPr>
              <a:t>algoritmul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poate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rula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pe</a:t>
            </a:r>
            <a:r>
              <a:rPr lang="en-US" sz="2000" dirty="0">
                <a:latin typeface="Times New Roman"/>
                <a:cs typeface="Times New Roman"/>
              </a:rPr>
              <a:t> o </a:t>
            </a:r>
            <a:r>
              <a:rPr lang="en-US" sz="2000" dirty="0" err="1">
                <a:latin typeface="Times New Roman"/>
                <a:cs typeface="Times New Roman"/>
              </a:rPr>
              <a:t>adâncime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dublă</a:t>
            </a:r>
            <a:endParaRPr lang="en-US" sz="2000" dirty="0">
              <a:latin typeface="Times New Roman"/>
              <a:cs typeface="Times New Roman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>
                <a:latin typeface="Times New Roman"/>
                <a:cs typeface="Times New Roman"/>
              </a:rPr>
              <a:t>căutarea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exhaustivă</a:t>
            </a:r>
            <a:r>
              <a:rPr lang="en-US" sz="2000" dirty="0">
                <a:latin typeface="Times New Roman"/>
                <a:cs typeface="Times New Roman"/>
              </a:rPr>
              <a:t> nu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totuși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posibilă</a:t>
            </a:r>
            <a:r>
              <a:rPr lang="en-US" sz="2000" dirty="0">
                <a:latin typeface="Times New Roman"/>
                <a:cs typeface="Times New Roman"/>
              </a:rPr>
              <a:t>…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7630632" y="4129273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 rot="10800000">
            <a:off x="7059131" y="5119872"/>
            <a:ext cx="345353" cy="391157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 rot="10800000">
            <a:off x="8202131" y="5119872"/>
            <a:ext cx="342901" cy="391157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113010" y="6415273"/>
            <a:ext cx="28575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916382" y="6415273"/>
            <a:ext cx="28575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8487882" y="6415273"/>
            <a:ext cx="28575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3" name="AutoShape 12"/>
          <p:cNvCxnSpPr>
            <a:cxnSpLocks noChangeShapeType="1"/>
            <a:stCxn id="6" idx="3"/>
            <a:endCxn id="7" idx="3"/>
          </p:cNvCxnSpPr>
          <p:nvPr/>
        </p:nvCxnSpPr>
        <p:spPr bwMode="auto">
          <a:xfrm flipH="1">
            <a:off x="7231807" y="4434073"/>
            <a:ext cx="541700" cy="68579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" name="AutoShape 13"/>
          <p:cNvCxnSpPr>
            <a:cxnSpLocks noChangeShapeType="1"/>
            <a:stCxn id="6" idx="3"/>
            <a:endCxn id="8" idx="3"/>
          </p:cNvCxnSpPr>
          <p:nvPr/>
        </p:nvCxnSpPr>
        <p:spPr bwMode="auto">
          <a:xfrm>
            <a:off x="7773507" y="4434073"/>
            <a:ext cx="600074" cy="68579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" name="AutoShape 14"/>
          <p:cNvCxnSpPr>
            <a:cxnSpLocks noChangeShapeType="1"/>
            <a:stCxn id="7" idx="0"/>
            <a:endCxn id="9" idx="0"/>
          </p:cNvCxnSpPr>
          <p:nvPr/>
        </p:nvCxnSpPr>
        <p:spPr bwMode="auto">
          <a:xfrm>
            <a:off x="7231807" y="5511029"/>
            <a:ext cx="24078" cy="90424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" name="AutoShape 16"/>
          <p:cNvCxnSpPr>
            <a:cxnSpLocks noChangeShapeType="1"/>
            <a:stCxn id="8" idx="0"/>
            <a:endCxn id="11" idx="0"/>
          </p:cNvCxnSpPr>
          <p:nvPr/>
        </p:nvCxnSpPr>
        <p:spPr bwMode="auto">
          <a:xfrm flipH="1">
            <a:off x="8059257" y="5511029"/>
            <a:ext cx="314324" cy="90424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" name="AutoShape 17"/>
          <p:cNvCxnSpPr>
            <a:cxnSpLocks noChangeShapeType="1"/>
            <a:stCxn id="8" idx="0"/>
            <a:endCxn id="12" idx="0"/>
          </p:cNvCxnSpPr>
          <p:nvPr/>
        </p:nvCxnSpPr>
        <p:spPr bwMode="auto">
          <a:xfrm>
            <a:off x="8373581" y="5511029"/>
            <a:ext cx="257176" cy="90424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7933051" y="4127964"/>
            <a:ext cx="84058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Max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8545033" y="5042364"/>
            <a:ext cx="62864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/>
              <a:t>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6765" y="5038924"/>
            <a:ext cx="49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449" y="5042374"/>
            <a:ext cx="49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9302" y="5065465"/>
            <a:ext cx="971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≤ 10</a:t>
            </a:r>
          </a:p>
        </p:txBody>
      </p:sp>
    </p:spTree>
    <p:extLst>
      <p:ext uri="{BB962C8B-B14F-4D97-AF65-F5344CB8AC3E}">
        <p14:creationId xmlns:p14="http://schemas.microsoft.com/office/powerpoint/2010/main" val="2322679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0297" y="2233191"/>
            <a:ext cx="2754283" cy="107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7130" y="1959767"/>
            <a:ext cx="2719670" cy="192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7904" y="1952980"/>
            <a:ext cx="2756040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4998"/>
            <a:ext cx="9143999" cy="1143000"/>
          </a:xfrm>
        </p:spPr>
        <p:txBody>
          <a:bodyPr>
            <a:noAutofit/>
          </a:bodyPr>
          <a:lstStyle/>
          <a:p>
            <a:pPr eaLnBrk="1" hangingPunct="1"/>
            <a:r>
              <a:rPr lang="ro-RO" dirty="0">
                <a:latin typeface="Times New Roman"/>
                <a:cs typeface="Times New Roman"/>
              </a:rPr>
              <a:t>Cazul cel mai defavorabil </a:t>
            </a:r>
            <a:r>
              <a:rPr lang="ro-RO" dirty="0" err="1">
                <a:latin typeface="Times New Roman"/>
                <a:cs typeface="Times New Roman"/>
              </a:rPr>
              <a:t>vs</a:t>
            </a:r>
            <a:r>
              <a:rPr lang="ro-RO" dirty="0">
                <a:latin typeface="Times New Roman"/>
                <a:cs typeface="Times New Roman"/>
              </a:rPr>
              <a:t> cazul mediu</a:t>
            </a:r>
            <a:endParaRPr lang="en-US" dirty="0"/>
          </a:p>
        </p:txBody>
      </p:sp>
      <p:sp>
        <p:nvSpPr>
          <p:cNvPr id="16388" name="AutoShape 5"/>
          <p:cNvSpPr>
            <a:spLocks noChangeArrowheads="1"/>
          </p:cNvSpPr>
          <p:nvPr/>
        </p:nvSpPr>
        <p:spPr bwMode="auto">
          <a:xfrm>
            <a:off x="4343400" y="2400300"/>
            <a:ext cx="285750" cy="2286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16389" name="AutoShape 6"/>
          <p:cNvSpPr>
            <a:spLocks noChangeArrowheads="1"/>
          </p:cNvSpPr>
          <p:nvPr/>
        </p:nvSpPr>
        <p:spPr bwMode="auto">
          <a:xfrm rot="10800000">
            <a:off x="3771900" y="3143250"/>
            <a:ext cx="285750" cy="2286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16390" name="AutoShape 7"/>
          <p:cNvSpPr>
            <a:spLocks noChangeArrowheads="1"/>
          </p:cNvSpPr>
          <p:nvPr/>
        </p:nvSpPr>
        <p:spPr bwMode="auto">
          <a:xfrm rot="10800000">
            <a:off x="4914900" y="3143250"/>
            <a:ext cx="285750" cy="2286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34861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10</a:t>
            </a: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400050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10</a:t>
            </a: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46291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9</a:t>
            </a:r>
          </a:p>
        </p:txBody>
      </p:sp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52006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100</a:t>
            </a:r>
          </a:p>
        </p:txBody>
      </p:sp>
      <p:cxnSp>
        <p:nvCxnSpPr>
          <p:cNvPr id="16395" name="AutoShape 12"/>
          <p:cNvCxnSpPr>
            <a:cxnSpLocks noChangeShapeType="1"/>
            <a:stCxn id="16388" idx="3"/>
            <a:endCxn id="16389" idx="3"/>
          </p:cNvCxnSpPr>
          <p:nvPr/>
        </p:nvCxnSpPr>
        <p:spPr bwMode="auto">
          <a:xfrm flipH="1">
            <a:off x="3914775" y="2628900"/>
            <a:ext cx="571500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6" name="AutoShape 13"/>
          <p:cNvCxnSpPr>
            <a:cxnSpLocks noChangeShapeType="1"/>
            <a:stCxn id="16388" idx="3"/>
            <a:endCxn id="16390" idx="3"/>
          </p:cNvCxnSpPr>
          <p:nvPr/>
        </p:nvCxnSpPr>
        <p:spPr bwMode="auto">
          <a:xfrm>
            <a:off x="4486275" y="2628900"/>
            <a:ext cx="571500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7" name="AutoShape 14"/>
          <p:cNvCxnSpPr>
            <a:cxnSpLocks noChangeShapeType="1"/>
            <a:stCxn id="16389" idx="0"/>
            <a:endCxn id="16391" idx="0"/>
          </p:cNvCxnSpPr>
          <p:nvPr/>
        </p:nvCxnSpPr>
        <p:spPr bwMode="auto">
          <a:xfrm flipH="1">
            <a:off x="362902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8" name="AutoShape 15"/>
          <p:cNvCxnSpPr>
            <a:cxnSpLocks noChangeShapeType="1"/>
            <a:stCxn id="16389" idx="0"/>
            <a:endCxn id="16392" idx="0"/>
          </p:cNvCxnSpPr>
          <p:nvPr/>
        </p:nvCxnSpPr>
        <p:spPr bwMode="auto">
          <a:xfrm>
            <a:off x="3914775" y="3371850"/>
            <a:ext cx="22860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9" name="AutoShape 16"/>
          <p:cNvCxnSpPr>
            <a:cxnSpLocks noChangeShapeType="1"/>
            <a:stCxn id="16390" idx="0"/>
            <a:endCxn id="16393" idx="0"/>
          </p:cNvCxnSpPr>
          <p:nvPr/>
        </p:nvCxnSpPr>
        <p:spPr bwMode="auto">
          <a:xfrm flipH="1">
            <a:off x="477202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400" name="AutoShape 17"/>
          <p:cNvCxnSpPr>
            <a:cxnSpLocks noChangeShapeType="1"/>
            <a:stCxn id="16390" idx="0"/>
            <a:endCxn id="16394" idx="0"/>
          </p:cNvCxnSpPr>
          <p:nvPr/>
        </p:nvCxnSpPr>
        <p:spPr bwMode="auto">
          <a:xfrm>
            <a:off x="505777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401" name="Text Box 18"/>
          <p:cNvSpPr txBox="1">
            <a:spLocks noChangeArrowheads="1"/>
          </p:cNvSpPr>
          <p:nvPr/>
        </p:nvSpPr>
        <p:spPr bwMode="auto">
          <a:xfrm>
            <a:off x="4645819" y="2387776"/>
            <a:ext cx="497681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b="1">
                <a:latin typeface="Calibri" pitchFamily="34" charset="0"/>
              </a:rPr>
              <a:t>max</a:t>
            </a:r>
          </a:p>
        </p:txBody>
      </p:sp>
      <p:sp>
        <p:nvSpPr>
          <p:cNvPr id="16402" name="Text Box 19"/>
          <p:cNvSpPr txBox="1">
            <a:spLocks noChangeArrowheads="1"/>
          </p:cNvSpPr>
          <p:nvPr/>
        </p:nvSpPr>
        <p:spPr bwMode="auto">
          <a:xfrm>
            <a:off x="5257801" y="3073576"/>
            <a:ext cx="497681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b="1">
                <a:latin typeface="Calibri" pitchFamily="34" charset="0"/>
              </a:rPr>
              <a:t>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4800600"/>
            <a:ext cx="914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Idee: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controlate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incertitudine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neapărat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un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adversar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0297" y="2233191"/>
            <a:ext cx="2754283" cy="10738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7130" y="1959767"/>
            <a:ext cx="2719670" cy="1926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7904" y="1952980"/>
            <a:ext cx="2756040" cy="14811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4998"/>
            <a:ext cx="9143999" cy="1143000"/>
          </a:xfrm>
        </p:spPr>
        <p:txBody>
          <a:bodyPr>
            <a:noAutofit/>
          </a:bodyPr>
          <a:lstStyle/>
          <a:p>
            <a:pPr eaLnBrk="1" hangingPunct="1"/>
            <a:r>
              <a:rPr lang="ro-RO" dirty="0">
                <a:latin typeface="Times New Roman"/>
                <a:cs typeface="Times New Roman"/>
              </a:rPr>
              <a:t>Cazul cel mai defavorabil </a:t>
            </a:r>
            <a:r>
              <a:rPr lang="ro-RO" dirty="0" err="1">
                <a:latin typeface="Times New Roman"/>
                <a:cs typeface="Times New Roman"/>
              </a:rPr>
              <a:t>vs</a:t>
            </a:r>
            <a:r>
              <a:rPr lang="ro-RO" dirty="0">
                <a:latin typeface="Times New Roman"/>
                <a:cs typeface="Times New Roman"/>
              </a:rPr>
              <a:t> cazul mediu</a:t>
            </a:r>
            <a:endParaRPr lang="en-US" dirty="0"/>
          </a:p>
        </p:txBody>
      </p:sp>
      <p:sp>
        <p:nvSpPr>
          <p:cNvPr id="16388" name="AutoShape 5"/>
          <p:cNvSpPr>
            <a:spLocks noChangeArrowheads="1"/>
          </p:cNvSpPr>
          <p:nvPr/>
        </p:nvSpPr>
        <p:spPr bwMode="auto">
          <a:xfrm>
            <a:off x="4343400" y="2400300"/>
            <a:ext cx="285750" cy="2286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16389" name="AutoShape 6"/>
          <p:cNvSpPr>
            <a:spLocks noChangeArrowheads="1"/>
          </p:cNvSpPr>
          <p:nvPr/>
        </p:nvSpPr>
        <p:spPr bwMode="auto">
          <a:xfrm rot="10800000">
            <a:off x="3771900" y="3143250"/>
            <a:ext cx="285750" cy="2286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16390" name="AutoShape 7"/>
          <p:cNvSpPr>
            <a:spLocks noChangeArrowheads="1"/>
          </p:cNvSpPr>
          <p:nvPr/>
        </p:nvSpPr>
        <p:spPr bwMode="auto">
          <a:xfrm rot="10800000">
            <a:off x="4914900" y="3143250"/>
            <a:ext cx="285750" cy="2286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34861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10</a:t>
            </a: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400050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10</a:t>
            </a: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46291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9</a:t>
            </a:r>
          </a:p>
        </p:txBody>
      </p:sp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52006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100</a:t>
            </a:r>
          </a:p>
        </p:txBody>
      </p:sp>
      <p:cxnSp>
        <p:nvCxnSpPr>
          <p:cNvPr id="16395" name="AutoShape 12"/>
          <p:cNvCxnSpPr>
            <a:cxnSpLocks noChangeShapeType="1"/>
            <a:stCxn id="16388" idx="3"/>
            <a:endCxn id="16389" idx="3"/>
          </p:cNvCxnSpPr>
          <p:nvPr/>
        </p:nvCxnSpPr>
        <p:spPr bwMode="auto">
          <a:xfrm flipH="1">
            <a:off x="3914775" y="2628900"/>
            <a:ext cx="571500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6" name="AutoShape 13"/>
          <p:cNvCxnSpPr>
            <a:cxnSpLocks noChangeShapeType="1"/>
            <a:stCxn id="16388" idx="3"/>
            <a:endCxn id="16390" idx="3"/>
          </p:cNvCxnSpPr>
          <p:nvPr/>
        </p:nvCxnSpPr>
        <p:spPr bwMode="auto">
          <a:xfrm>
            <a:off x="4486275" y="2628900"/>
            <a:ext cx="571500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7" name="AutoShape 14"/>
          <p:cNvCxnSpPr>
            <a:cxnSpLocks noChangeShapeType="1"/>
            <a:stCxn id="16389" idx="0"/>
            <a:endCxn id="16391" idx="0"/>
          </p:cNvCxnSpPr>
          <p:nvPr/>
        </p:nvCxnSpPr>
        <p:spPr bwMode="auto">
          <a:xfrm flipH="1">
            <a:off x="362902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8" name="AutoShape 15"/>
          <p:cNvCxnSpPr>
            <a:cxnSpLocks noChangeShapeType="1"/>
            <a:stCxn id="16389" idx="0"/>
            <a:endCxn id="16392" idx="0"/>
          </p:cNvCxnSpPr>
          <p:nvPr/>
        </p:nvCxnSpPr>
        <p:spPr bwMode="auto">
          <a:xfrm>
            <a:off x="3914775" y="3371850"/>
            <a:ext cx="22860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9" name="AutoShape 16"/>
          <p:cNvCxnSpPr>
            <a:cxnSpLocks noChangeShapeType="1"/>
            <a:stCxn id="16390" idx="0"/>
            <a:endCxn id="16393" idx="0"/>
          </p:cNvCxnSpPr>
          <p:nvPr/>
        </p:nvCxnSpPr>
        <p:spPr bwMode="auto">
          <a:xfrm flipH="1">
            <a:off x="477202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400" name="AutoShape 17"/>
          <p:cNvCxnSpPr>
            <a:cxnSpLocks noChangeShapeType="1"/>
            <a:stCxn id="16390" idx="0"/>
            <a:endCxn id="16394" idx="0"/>
          </p:cNvCxnSpPr>
          <p:nvPr/>
        </p:nvCxnSpPr>
        <p:spPr bwMode="auto">
          <a:xfrm>
            <a:off x="505777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401" name="Text Box 18"/>
          <p:cNvSpPr txBox="1">
            <a:spLocks noChangeArrowheads="1"/>
          </p:cNvSpPr>
          <p:nvPr/>
        </p:nvSpPr>
        <p:spPr bwMode="auto">
          <a:xfrm>
            <a:off x="4645819" y="2387776"/>
            <a:ext cx="497681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b="1">
                <a:latin typeface="Calibri" pitchFamily="34" charset="0"/>
              </a:rPr>
              <a:t>max</a:t>
            </a:r>
          </a:p>
        </p:txBody>
      </p:sp>
      <p:sp>
        <p:nvSpPr>
          <p:cNvPr id="16402" name="Text Box 19"/>
          <p:cNvSpPr txBox="1">
            <a:spLocks noChangeArrowheads="1"/>
          </p:cNvSpPr>
          <p:nvPr/>
        </p:nvSpPr>
        <p:spPr bwMode="auto">
          <a:xfrm>
            <a:off x="5257801" y="3073576"/>
            <a:ext cx="497681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b="1">
                <a:latin typeface="Calibri" pitchFamily="34" charset="0"/>
              </a:rPr>
              <a:t>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4800600"/>
            <a:ext cx="914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Idee: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controlate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incertitudine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neapărat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un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adversar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5E2C88-FD8B-05CF-35F3-2E07339FA1A8}"/>
              </a:ext>
            </a:extLst>
          </p:cNvPr>
          <p:cNvSpPr txBox="1"/>
          <p:nvPr/>
        </p:nvSpPr>
        <p:spPr>
          <a:xfrm>
            <a:off x="3723473" y="3072357"/>
            <a:ext cx="385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7E97A-5AD0-1419-38DC-86EC97C4531C}"/>
              </a:ext>
            </a:extLst>
          </p:cNvPr>
          <p:cNvSpPr txBox="1"/>
          <p:nvPr/>
        </p:nvSpPr>
        <p:spPr>
          <a:xfrm>
            <a:off x="4860958" y="3091433"/>
            <a:ext cx="385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548CA-DA4C-6B70-7B4B-C3882C80A717}"/>
              </a:ext>
            </a:extLst>
          </p:cNvPr>
          <p:cNvSpPr txBox="1"/>
          <p:nvPr/>
        </p:nvSpPr>
        <p:spPr>
          <a:xfrm>
            <a:off x="4292184" y="2420907"/>
            <a:ext cx="385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714150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0297" y="2233191"/>
            <a:ext cx="2754283" cy="10738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7130" y="1959767"/>
            <a:ext cx="2719670" cy="1926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7904" y="1952980"/>
            <a:ext cx="2756040" cy="14811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4998"/>
            <a:ext cx="9143999" cy="1143000"/>
          </a:xfrm>
        </p:spPr>
        <p:txBody>
          <a:bodyPr>
            <a:noAutofit/>
          </a:bodyPr>
          <a:lstStyle/>
          <a:p>
            <a:pPr eaLnBrk="1" hangingPunct="1"/>
            <a:r>
              <a:rPr lang="ro-RO" dirty="0">
                <a:latin typeface="Times New Roman"/>
                <a:cs typeface="Times New Roman"/>
              </a:rPr>
              <a:t>Cazul cel mai defavorabil </a:t>
            </a:r>
            <a:r>
              <a:rPr lang="ro-RO" dirty="0" err="1">
                <a:latin typeface="Times New Roman"/>
                <a:cs typeface="Times New Roman"/>
              </a:rPr>
              <a:t>vs</a:t>
            </a:r>
            <a:r>
              <a:rPr lang="ro-RO" dirty="0">
                <a:latin typeface="Times New Roman"/>
                <a:cs typeface="Times New Roman"/>
              </a:rPr>
              <a:t> cazul mediu</a:t>
            </a:r>
            <a:endParaRPr lang="en-US" dirty="0"/>
          </a:p>
        </p:txBody>
      </p:sp>
      <p:sp>
        <p:nvSpPr>
          <p:cNvPr id="16388" name="AutoShape 5"/>
          <p:cNvSpPr>
            <a:spLocks noChangeArrowheads="1"/>
          </p:cNvSpPr>
          <p:nvPr/>
        </p:nvSpPr>
        <p:spPr bwMode="auto">
          <a:xfrm>
            <a:off x="4343400" y="2400300"/>
            <a:ext cx="285750" cy="2286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16389" name="AutoShape 6"/>
          <p:cNvSpPr>
            <a:spLocks noChangeArrowheads="1"/>
          </p:cNvSpPr>
          <p:nvPr/>
        </p:nvSpPr>
        <p:spPr bwMode="auto">
          <a:xfrm rot="10800000">
            <a:off x="3771900" y="3143250"/>
            <a:ext cx="285750" cy="2286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16390" name="AutoShape 7"/>
          <p:cNvSpPr>
            <a:spLocks noChangeArrowheads="1"/>
          </p:cNvSpPr>
          <p:nvPr/>
        </p:nvSpPr>
        <p:spPr bwMode="auto">
          <a:xfrm rot="10800000">
            <a:off x="4914900" y="3143250"/>
            <a:ext cx="285750" cy="2286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34861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10</a:t>
            </a: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400050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10</a:t>
            </a: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46291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9</a:t>
            </a:r>
          </a:p>
        </p:txBody>
      </p:sp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52006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100</a:t>
            </a:r>
          </a:p>
        </p:txBody>
      </p:sp>
      <p:cxnSp>
        <p:nvCxnSpPr>
          <p:cNvPr id="16395" name="AutoShape 12"/>
          <p:cNvCxnSpPr>
            <a:cxnSpLocks noChangeShapeType="1"/>
            <a:stCxn id="16388" idx="3"/>
            <a:endCxn id="16389" idx="3"/>
          </p:cNvCxnSpPr>
          <p:nvPr/>
        </p:nvCxnSpPr>
        <p:spPr bwMode="auto">
          <a:xfrm flipH="1">
            <a:off x="3914775" y="2628900"/>
            <a:ext cx="571500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6" name="AutoShape 13"/>
          <p:cNvCxnSpPr>
            <a:cxnSpLocks noChangeShapeType="1"/>
            <a:stCxn id="16388" idx="3"/>
            <a:endCxn id="16390" idx="3"/>
          </p:cNvCxnSpPr>
          <p:nvPr/>
        </p:nvCxnSpPr>
        <p:spPr bwMode="auto">
          <a:xfrm>
            <a:off x="4486275" y="2628900"/>
            <a:ext cx="571500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7" name="AutoShape 14"/>
          <p:cNvCxnSpPr>
            <a:cxnSpLocks noChangeShapeType="1"/>
            <a:stCxn id="16389" idx="0"/>
            <a:endCxn id="16391" idx="0"/>
          </p:cNvCxnSpPr>
          <p:nvPr/>
        </p:nvCxnSpPr>
        <p:spPr bwMode="auto">
          <a:xfrm flipH="1">
            <a:off x="362902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8" name="AutoShape 15"/>
          <p:cNvCxnSpPr>
            <a:cxnSpLocks noChangeShapeType="1"/>
            <a:stCxn id="16389" idx="0"/>
            <a:endCxn id="16392" idx="0"/>
          </p:cNvCxnSpPr>
          <p:nvPr/>
        </p:nvCxnSpPr>
        <p:spPr bwMode="auto">
          <a:xfrm>
            <a:off x="3914775" y="3371850"/>
            <a:ext cx="22860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9" name="AutoShape 16"/>
          <p:cNvCxnSpPr>
            <a:cxnSpLocks noChangeShapeType="1"/>
            <a:stCxn id="16390" idx="0"/>
            <a:endCxn id="16393" idx="0"/>
          </p:cNvCxnSpPr>
          <p:nvPr/>
        </p:nvCxnSpPr>
        <p:spPr bwMode="auto">
          <a:xfrm flipH="1">
            <a:off x="477202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400" name="AutoShape 17"/>
          <p:cNvCxnSpPr>
            <a:cxnSpLocks noChangeShapeType="1"/>
            <a:stCxn id="16390" idx="0"/>
            <a:endCxn id="16394" idx="0"/>
          </p:cNvCxnSpPr>
          <p:nvPr/>
        </p:nvCxnSpPr>
        <p:spPr bwMode="auto">
          <a:xfrm>
            <a:off x="505777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401" name="Text Box 18"/>
          <p:cNvSpPr txBox="1">
            <a:spLocks noChangeArrowheads="1"/>
          </p:cNvSpPr>
          <p:nvPr/>
        </p:nvSpPr>
        <p:spPr bwMode="auto">
          <a:xfrm>
            <a:off x="4645819" y="2387776"/>
            <a:ext cx="497681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b="1">
                <a:latin typeface="Calibri" pitchFamily="34" charset="0"/>
              </a:rPr>
              <a:t>max</a:t>
            </a:r>
          </a:p>
        </p:txBody>
      </p:sp>
      <p:sp>
        <p:nvSpPr>
          <p:cNvPr id="16402" name="Text Box 19"/>
          <p:cNvSpPr txBox="1">
            <a:spLocks noChangeArrowheads="1"/>
          </p:cNvSpPr>
          <p:nvPr/>
        </p:nvSpPr>
        <p:spPr bwMode="auto">
          <a:xfrm>
            <a:off x="5257801" y="3073576"/>
            <a:ext cx="497681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b="1">
                <a:latin typeface="Calibri" pitchFamily="34" charset="0"/>
              </a:rPr>
              <a:t>min</a:t>
            </a:r>
          </a:p>
        </p:txBody>
      </p:sp>
      <p:sp>
        <p:nvSpPr>
          <p:cNvPr id="24" name="Oval 15"/>
          <p:cNvSpPr>
            <a:spLocks noChangeArrowheads="1"/>
          </p:cNvSpPr>
          <p:nvPr/>
        </p:nvSpPr>
        <p:spPr bwMode="auto">
          <a:xfrm>
            <a:off x="3771900" y="3143250"/>
            <a:ext cx="285750" cy="285750"/>
          </a:xfrm>
          <a:prstGeom prst="ellipse">
            <a:avLst/>
          </a:prstGeom>
          <a:solidFill>
            <a:srgbClr val="B5ED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25" name="Oval 16"/>
          <p:cNvSpPr>
            <a:spLocks noChangeArrowheads="1"/>
          </p:cNvSpPr>
          <p:nvPr/>
        </p:nvSpPr>
        <p:spPr bwMode="auto">
          <a:xfrm>
            <a:off x="4914900" y="3143250"/>
            <a:ext cx="285750" cy="285750"/>
          </a:xfrm>
          <a:prstGeom prst="ellipse">
            <a:avLst/>
          </a:prstGeom>
          <a:solidFill>
            <a:srgbClr val="B5ED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4800600"/>
            <a:ext cx="914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Idee: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controlate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incertitudine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neapărat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un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adversar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0725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0297" y="2233191"/>
            <a:ext cx="2754283" cy="107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7130" y="1959767"/>
            <a:ext cx="2719670" cy="192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7904" y="1952980"/>
            <a:ext cx="2756040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4998"/>
            <a:ext cx="9143999" cy="1143000"/>
          </a:xfrm>
        </p:spPr>
        <p:txBody>
          <a:bodyPr>
            <a:noAutofit/>
          </a:bodyPr>
          <a:lstStyle/>
          <a:p>
            <a:pPr eaLnBrk="1" hangingPunct="1"/>
            <a:r>
              <a:rPr lang="ro-RO" dirty="0">
                <a:latin typeface="Times New Roman"/>
                <a:cs typeface="Times New Roman"/>
              </a:rPr>
              <a:t>Cazul cel mai defavorabil </a:t>
            </a:r>
            <a:r>
              <a:rPr lang="ro-RO" dirty="0" err="1">
                <a:latin typeface="Times New Roman"/>
                <a:cs typeface="Times New Roman"/>
              </a:rPr>
              <a:t>vs</a:t>
            </a:r>
            <a:r>
              <a:rPr lang="ro-RO" dirty="0">
                <a:latin typeface="Times New Roman"/>
                <a:cs typeface="Times New Roman"/>
              </a:rPr>
              <a:t> cazul mediu</a:t>
            </a:r>
            <a:endParaRPr lang="en-US" dirty="0"/>
          </a:p>
        </p:txBody>
      </p:sp>
      <p:sp>
        <p:nvSpPr>
          <p:cNvPr id="16388" name="AutoShape 5"/>
          <p:cNvSpPr>
            <a:spLocks noChangeArrowheads="1"/>
          </p:cNvSpPr>
          <p:nvPr/>
        </p:nvSpPr>
        <p:spPr bwMode="auto">
          <a:xfrm>
            <a:off x="4343399" y="2382679"/>
            <a:ext cx="302419" cy="246221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34861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10</a:t>
            </a: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400050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10</a:t>
            </a: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46291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9</a:t>
            </a:r>
          </a:p>
        </p:txBody>
      </p:sp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5200650" y="4114800"/>
            <a:ext cx="285750" cy="2286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100</a:t>
            </a:r>
          </a:p>
        </p:txBody>
      </p:sp>
      <p:cxnSp>
        <p:nvCxnSpPr>
          <p:cNvPr id="16395" name="AutoShape 12"/>
          <p:cNvCxnSpPr>
            <a:cxnSpLocks noChangeShapeType="1"/>
            <a:stCxn id="16388" idx="3"/>
          </p:cNvCxnSpPr>
          <p:nvPr/>
        </p:nvCxnSpPr>
        <p:spPr bwMode="auto">
          <a:xfrm flipH="1">
            <a:off x="3914775" y="2628900"/>
            <a:ext cx="579834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6" name="AutoShape 13"/>
          <p:cNvCxnSpPr>
            <a:cxnSpLocks noChangeShapeType="1"/>
            <a:stCxn id="16388" idx="3"/>
          </p:cNvCxnSpPr>
          <p:nvPr/>
        </p:nvCxnSpPr>
        <p:spPr bwMode="auto">
          <a:xfrm>
            <a:off x="4494609" y="2628900"/>
            <a:ext cx="563166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7" name="AutoShape 14"/>
          <p:cNvCxnSpPr>
            <a:cxnSpLocks noChangeShapeType="1"/>
            <a:endCxn id="16391" idx="0"/>
          </p:cNvCxnSpPr>
          <p:nvPr/>
        </p:nvCxnSpPr>
        <p:spPr bwMode="auto">
          <a:xfrm flipH="1">
            <a:off x="362902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8" name="AutoShape 15"/>
          <p:cNvCxnSpPr>
            <a:cxnSpLocks noChangeShapeType="1"/>
            <a:endCxn id="16392" idx="0"/>
          </p:cNvCxnSpPr>
          <p:nvPr/>
        </p:nvCxnSpPr>
        <p:spPr bwMode="auto">
          <a:xfrm>
            <a:off x="3914775" y="3371850"/>
            <a:ext cx="22860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9" name="AutoShape 16"/>
          <p:cNvCxnSpPr>
            <a:cxnSpLocks noChangeShapeType="1"/>
            <a:endCxn id="16393" idx="0"/>
          </p:cNvCxnSpPr>
          <p:nvPr/>
        </p:nvCxnSpPr>
        <p:spPr bwMode="auto">
          <a:xfrm flipH="1">
            <a:off x="477202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400" name="AutoShape 17"/>
          <p:cNvCxnSpPr>
            <a:cxnSpLocks noChangeShapeType="1"/>
            <a:endCxn id="16394" idx="0"/>
          </p:cNvCxnSpPr>
          <p:nvPr/>
        </p:nvCxnSpPr>
        <p:spPr bwMode="auto">
          <a:xfrm>
            <a:off x="5057775" y="337185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401" name="Text Box 18"/>
          <p:cNvSpPr txBox="1">
            <a:spLocks noChangeArrowheads="1"/>
          </p:cNvSpPr>
          <p:nvPr/>
        </p:nvSpPr>
        <p:spPr bwMode="auto">
          <a:xfrm>
            <a:off x="4645819" y="2387776"/>
            <a:ext cx="497681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b="1">
                <a:latin typeface="Calibri" pitchFamily="34" charset="0"/>
              </a:rPr>
              <a:t>max</a:t>
            </a:r>
          </a:p>
        </p:txBody>
      </p:sp>
      <p:sp>
        <p:nvSpPr>
          <p:cNvPr id="16402" name="Text Box 19"/>
          <p:cNvSpPr txBox="1">
            <a:spLocks noChangeArrowheads="1"/>
          </p:cNvSpPr>
          <p:nvPr/>
        </p:nvSpPr>
        <p:spPr bwMode="auto">
          <a:xfrm>
            <a:off x="5257801" y="3073576"/>
            <a:ext cx="497681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b="1">
                <a:latin typeface="Calibri" pitchFamily="34" charset="0"/>
              </a:rPr>
              <a:t>min</a:t>
            </a:r>
          </a:p>
        </p:txBody>
      </p:sp>
      <p:sp>
        <p:nvSpPr>
          <p:cNvPr id="24" name="Oval 15"/>
          <p:cNvSpPr>
            <a:spLocks noChangeArrowheads="1"/>
          </p:cNvSpPr>
          <p:nvPr/>
        </p:nvSpPr>
        <p:spPr bwMode="auto">
          <a:xfrm>
            <a:off x="3763484" y="3143250"/>
            <a:ext cx="285750" cy="285750"/>
          </a:xfrm>
          <a:prstGeom prst="ellipse">
            <a:avLst/>
          </a:prstGeom>
          <a:solidFill>
            <a:srgbClr val="B5ED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4800600"/>
            <a:ext cx="914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Idee: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controlate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incertitudine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neapărat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un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adversar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" name="Oval 16">
            <a:extLst>
              <a:ext uri="{FF2B5EF4-FFF2-40B4-BE49-F238E27FC236}">
                <a16:creationId xmlns:a16="http://schemas.microsoft.com/office/drawing/2014/main" id="{2FDF11C3-E3CA-B839-3DE9-9A2F6DA49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3143250"/>
            <a:ext cx="285750" cy="285750"/>
          </a:xfrm>
          <a:prstGeom prst="ellipse">
            <a:avLst/>
          </a:prstGeom>
          <a:solidFill>
            <a:srgbClr val="B5ED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C643F-4592-4EED-5618-924995A1B6E7}"/>
              </a:ext>
            </a:extLst>
          </p:cNvPr>
          <p:cNvSpPr txBox="1"/>
          <p:nvPr/>
        </p:nvSpPr>
        <p:spPr>
          <a:xfrm>
            <a:off x="3724197" y="3142874"/>
            <a:ext cx="385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0FF91E-33FA-AF1D-4953-39264CEFBB32}"/>
              </a:ext>
            </a:extLst>
          </p:cNvPr>
          <p:cNvSpPr txBox="1"/>
          <p:nvPr/>
        </p:nvSpPr>
        <p:spPr>
          <a:xfrm>
            <a:off x="4816172" y="3128941"/>
            <a:ext cx="47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E51A0-496D-C08E-9BC0-F6E0258E6764}"/>
              </a:ext>
            </a:extLst>
          </p:cNvPr>
          <p:cNvSpPr txBox="1"/>
          <p:nvPr/>
        </p:nvSpPr>
        <p:spPr>
          <a:xfrm>
            <a:off x="4256053" y="2441637"/>
            <a:ext cx="47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54.5</a:t>
            </a:r>
          </a:p>
        </p:txBody>
      </p:sp>
    </p:spTree>
    <p:extLst>
      <p:ext uri="{BB962C8B-B14F-4D97-AF65-F5344CB8AC3E}">
        <p14:creationId xmlns:p14="http://schemas.microsoft.com/office/powerpoint/2010/main" val="14485952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947" name="Rectangle 3"/>
          <p:cNvSpPr>
            <a:spLocks noGrp="1" noChangeArrowheads="1"/>
          </p:cNvSpPr>
          <p:nvPr>
            <p:ph idx="1"/>
          </p:nvPr>
        </p:nvSpPr>
        <p:spPr>
          <a:xfrm>
            <a:off x="177758" y="1157997"/>
            <a:ext cx="6165891" cy="5527811"/>
          </a:xfrm>
        </p:spPr>
        <p:txBody>
          <a:bodyPr>
            <a:no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imprevizibil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incertitudine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explicită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aruncarea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adversari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impredictibili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comportament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aleator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acțuni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eșua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 robot care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roțile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alunecă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5000"/>
              </a:lnSpc>
              <a:spcBef>
                <a:spcPct val="0"/>
              </a:spcBef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Valorile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stărilor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reflecte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situații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rezultatele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utilitățile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scorul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cazul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(Expectation), nu pe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cazul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defavorabil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(Min)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ExpectiMax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calculează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optime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jucătorului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tip max la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tip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șansă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un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tip Min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utilitatea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guvernat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distribuție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calculează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utilitățile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medii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(media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ponderată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nodurilor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expectation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lipsa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distribuții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asociate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nodurilor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AutoShape 4"/>
          <p:cNvSpPr>
            <a:spLocks noChangeArrowheads="1"/>
          </p:cNvSpPr>
          <p:nvPr/>
        </p:nvSpPr>
        <p:spPr bwMode="auto">
          <a:xfrm>
            <a:off x="7048069" y="2017969"/>
            <a:ext cx="477111" cy="439481"/>
          </a:xfrm>
          <a:prstGeom prst="triangle">
            <a:avLst>
              <a:gd name="adj" fmla="val 50000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5127" name="Rectangle 5"/>
          <p:cNvSpPr>
            <a:spLocks noChangeArrowheads="1"/>
          </p:cNvSpPr>
          <p:nvPr/>
        </p:nvSpPr>
        <p:spPr bwMode="auto">
          <a:xfrm>
            <a:off x="6286500" y="3943350"/>
            <a:ext cx="285750" cy="228600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10</a:t>
            </a:r>
          </a:p>
        </p:txBody>
      </p:sp>
      <p:sp>
        <p:nvSpPr>
          <p:cNvPr id="5128" name="Rectangle 6"/>
          <p:cNvSpPr>
            <a:spLocks noChangeArrowheads="1"/>
          </p:cNvSpPr>
          <p:nvPr/>
        </p:nvSpPr>
        <p:spPr bwMode="auto">
          <a:xfrm>
            <a:off x="6800850" y="3943350"/>
            <a:ext cx="285750" cy="228600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4</a:t>
            </a:r>
          </a:p>
        </p:txBody>
      </p:sp>
      <p:sp>
        <p:nvSpPr>
          <p:cNvPr id="5129" name="Rectangle 7"/>
          <p:cNvSpPr>
            <a:spLocks noChangeArrowheads="1"/>
          </p:cNvSpPr>
          <p:nvPr/>
        </p:nvSpPr>
        <p:spPr bwMode="auto">
          <a:xfrm>
            <a:off x="7429500" y="3943350"/>
            <a:ext cx="285750" cy="228600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5</a:t>
            </a:r>
          </a:p>
        </p:txBody>
      </p:sp>
      <p:sp>
        <p:nvSpPr>
          <p:cNvPr id="5130" name="Rectangle 8"/>
          <p:cNvSpPr>
            <a:spLocks noChangeArrowheads="1"/>
          </p:cNvSpPr>
          <p:nvPr/>
        </p:nvSpPr>
        <p:spPr bwMode="auto">
          <a:xfrm>
            <a:off x="8001000" y="3943350"/>
            <a:ext cx="285750" cy="228600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7</a:t>
            </a:r>
          </a:p>
        </p:txBody>
      </p:sp>
      <p:cxnSp>
        <p:nvCxnSpPr>
          <p:cNvPr id="5131" name="AutoShape 9"/>
          <p:cNvCxnSpPr>
            <a:cxnSpLocks noChangeShapeType="1"/>
            <a:stCxn id="5126" idx="3"/>
            <a:endCxn id="5137" idx="0"/>
          </p:cNvCxnSpPr>
          <p:nvPr/>
        </p:nvCxnSpPr>
        <p:spPr bwMode="auto">
          <a:xfrm flipH="1">
            <a:off x="6715125" y="2457450"/>
            <a:ext cx="5715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132" name="AutoShape 10"/>
          <p:cNvCxnSpPr>
            <a:cxnSpLocks noChangeShapeType="1"/>
            <a:stCxn id="5126" idx="3"/>
            <a:endCxn id="5138" idx="0"/>
          </p:cNvCxnSpPr>
          <p:nvPr/>
        </p:nvCxnSpPr>
        <p:spPr bwMode="auto">
          <a:xfrm>
            <a:off x="7286625" y="2457450"/>
            <a:ext cx="5715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133" name="AutoShape 11"/>
          <p:cNvCxnSpPr>
            <a:cxnSpLocks noChangeShapeType="1"/>
            <a:endCxn id="5127" idx="0"/>
          </p:cNvCxnSpPr>
          <p:nvPr/>
        </p:nvCxnSpPr>
        <p:spPr bwMode="auto">
          <a:xfrm flipH="1">
            <a:off x="6429375" y="320040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134" name="AutoShape 12"/>
          <p:cNvCxnSpPr>
            <a:cxnSpLocks noChangeShapeType="1"/>
            <a:endCxn id="5128" idx="0"/>
          </p:cNvCxnSpPr>
          <p:nvPr/>
        </p:nvCxnSpPr>
        <p:spPr bwMode="auto">
          <a:xfrm>
            <a:off x="6715125" y="3200400"/>
            <a:ext cx="22860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135" name="AutoShape 13"/>
          <p:cNvCxnSpPr>
            <a:cxnSpLocks noChangeShapeType="1"/>
            <a:endCxn id="5129" idx="0"/>
          </p:cNvCxnSpPr>
          <p:nvPr/>
        </p:nvCxnSpPr>
        <p:spPr bwMode="auto">
          <a:xfrm flipH="1">
            <a:off x="7572375" y="320040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136" name="AutoShape 14"/>
          <p:cNvCxnSpPr>
            <a:cxnSpLocks noChangeShapeType="1"/>
            <a:endCxn id="5130" idx="0"/>
          </p:cNvCxnSpPr>
          <p:nvPr/>
        </p:nvCxnSpPr>
        <p:spPr bwMode="auto">
          <a:xfrm>
            <a:off x="7858125" y="3200400"/>
            <a:ext cx="285750" cy="742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37" name="Oval 15"/>
          <p:cNvSpPr>
            <a:spLocks noChangeArrowheads="1"/>
          </p:cNvSpPr>
          <p:nvPr/>
        </p:nvSpPr>
        <p:spPr bwMode="auto">
          <a:xfrm>
            <a:off x="6572250" y="2914650"/>
            <a:ext cx="285750" cy="285750"/>
          </a:xfrm>
          <a:prstGeom prst="ellipse">
            <a:avLst/>
          </a:prstGeom>
          <a:solidFill>
            <a:srgbClr val="B5ED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5138" name="Oval 16"/>
          <p:cNvSpPr>
            <a:spLocks noChangeArrowheads="1"/>
          </p:cNvSpPr>
          <p:nvPr/>
        </p:nvSpPr>
        <p:spPr bwMode="auto">
          <a:xfrm>
            <a:off x="7715250" y="2914650"/>
            <a:ext cx="285750" cy="285750"/>
          </a:xfrm>
          <a:prstGeom prst="ellipse">
            <a:avLst/>
          </a:prstGeom>
          <a:solidFill>
            <a:srgbClr val="B5ED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>
              <a:latin typeface="Calibri" pitchFamily="34" charset="0"/>
            </a:endParaRPr>
          </a:p>
        </p:txBody>
      </p:sp>
      <p:sp>
        <p:nvSpPr>
          <p:cNvPr id="5139" name="Text Box 17"/>
          <p:cNvSpPr txBox="1">
            <a:spLocks noChangeArrowheads="1"/>
          </p:cNvSpPr>
          <p:nvPr/>
        </p:nvSpPr>
        <p:spPr bwMode="auto">
          <a:xfrm>
            <a:off x="7446169" y="2169892"/>
            <a:ext cx="497681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b="1">
                <a:latin typeface="Calibri" pitchFamily="34" charset="0"/>
              </a:rPr>
              <a:t>max</a:t>
            </a:r>
          </a:p>
        </p:txBody>
      </p:sp>
      <p:sp>
        <p:nvSpPr>
          <p:cNvPr id="5140" name="Text Box 18"/>
          <p:cNvSpPr txBox="1">
            <a:spLocks noChangeArrowheads="1"/>
          </p:cNvSpPr>
          <p:nvPr/>
        </p:nvSpPr>
        <p:spPr bwMode="auto">
          <a:xfrm>
            <a:off x="8001000" y="2903317"/>
            <a:ext cx="800100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b="1" dirty="0" err="1">
                <a:latin typeface="Calibri" pitchFamily="34" charset="0"/>
              </a:rPr>
              <a:t>șansă</a:t>
            </a:r>
            <a:endParaRPr lang="en-US" sz="1350" b="1" dirty="0">
              <a:latin typeface="Calibri" pitchFamily="34" charset="0"/>
            </a:endParaRPr>
          </a:p>
        </p:txBody>
      </p:sp>
      <p:sp>
        <p:nvSpPr>
          <p:cNvPr id="5141" name="Rectangle 8"/>
          <p:cNvSpPr>
            <a:spLocks noChangeArrowheads="1"/>
          </p:cNvSpPr>
          <p:nvPr/>
        </p:nvSpPr>
        <p:spPr bwMode="auto">
          <a:xfrm>
            <a:off x="6286500" y="3943350"/>
            <a:ext cx="285750" cy="2286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10</a:t>
            </a:r>
          </a:p>
        </p:txBody>
      </p:sp>
      <p:sp>
        <p:nvSpPr>
          <p:cNvPr id="5142" name="Rectangle 9"/>
          <p:cNvSpPr>
            <a:spLocks noChangeArrowheads="1"/>
          </p:cNvSpPr>
          <p:nvPr/>
        </p:nvSpPr>
        <p:spPr bwMode="auto">
          <a:xfrm>
            <a:off x="6800850" y="3943350"/>
            <a:ext cx="285750" cy="2286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10</a:t>
            </a:r>
          </a:p>
        </p:txBody>
      </p:sp>
      <p:sp>
        <p:nvSpPr>
          <p:cNvPr id="5143" name="Rectangle 10"/>
          <p:cNvSpPr>
            <a:spLocks noChangeArrowheads="1"/>
          </p:cNvSpPr>
          <p:nvPr/>
        </p:nvSpPr>
        <p:spPr bwMode="auto">
          <a:xfrm>
            <a:off x="7429500" y="3943350"/>
            <a:ext cx="285750" cy="2286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>
                <a:latin typeface="Calibri" pitchFamily="34" charset="0"/>
              </a:rPr>
              <a:t>9</a:t>
            </a:r>
          </a:p>
        </p:txBody>
      </p:sp>
      <p:sp>
        <p:nvSpPr>
          <p:cNvPr id="5144" name="Rectangle 11"/>
          <p:cNvSpPr>
            <a:spLocks noChangeArrowheads="1"/>
          </p:cNvSpPr>
          <p:nvPr/>
        </p:nvSpPr>
        <p:spPr bwMode="auto">
          <a:xfrm>
            <a:off x="8001000" y="3943350"/>
            <a:ext cx="285750" cy="2286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>
                <a:latin typeface="Calibri" pitchFamily="34" charset="0"/>
              </a:rPr>
              <a:t>100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BD1A5A-A0EC-B6C0-E483-35C1E1E82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14998"/>
            <a:ext cx="9143999" cy="1143000"/>
          </a:xfrm>
        </p:spPr>
        <p:txBody>
          <a:bodyPr>
            <a:noAutofit/>
          </a:bodyPr>
          <a:lstStyle/>
          <a:p>
            <a:pPr eaLnBrk="1" hangingPunct="1"/>
            <a:r>
              <a:rPr lang="ro-RO" dirty="0">
                <a:latin typeface="Times New Roman"/>
                <a:cs typeface="Times New Roman"/>
              </a:rPr>
              <a:t>Căutare </a:t>
            </a:r>
            <a:r>
              <a:rPr lang="ro-RO" dirty="0" err="1">
                <a:latin typeface="Times New Roman"/>
                <a:cs typeface="Times New Roman"/>
              </a:rPr>
              <a:t>ExpectiMax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EC208-03A9-A9D4-A9AB-30BB4F1D2639}"/>
              </a:ext>
            </a:extLst>
          </p:cNvPr>
          <p:cNvSpPr txBox="1"/>
          <p:nvPr/>
        </p:nvSpPr>
        <p:spPr>
          <a:xfrm>
            <a:off x="6511341" y="2913477"/>
            <a:ext cx="385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456AC-079C-588E-CB9D-079881D3A83B}"/>
              </a:ext>
            </a:extLst>
          </p:cNvPr>
          <p:cNvSpPr txBox="1"/>
          <p:nvPr/>
        </p:nvSpPr>
        <p:spPr>
          <a:xfrm>
            <a:off x="7619570" y="2913477"/>
            <a:ext cx="47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DB962-321C-02F1-DEF7-C46D44562508}"/>
              </a:ext>
            </a:extLst>
          </p:cNvPr>
          <p:cNvSpPr txBox="1"/>
          <p:nvPr/>
        </p:nvSpPr>
        <p:spPr>
          <a:xfrm>
            <a:off x="7048069" y="2182241"/>
            <a:ext cx="47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54.5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ft-Right-Up Arrow 8"/>
          <p:cNvSpPr/>
          <p:nvPr/>
        </p:nvSpPr>
        <p:spPr>
          <a:xfrm>
            <a:off x="3771900" y="2895600"/>
            <a:ext cx="1600200" cy="2590800"/>
          </a:xfrm>
          <a:prstGeom prst="leftRightUpArrow">
            <a:avLst>
              <a:gd name="adj1" fmla="val 18522"/>
              <a:gd name="adj2" fmla="val 19062"/>
              <a:gd name="adj3" fmla="val 19062"/>
            </a:avLst>
          </a:prstGeom>
          <a:solidFill>
            <a:srgbClr val="BD92DE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0" y="3962400"/>
            <a:ext cx="3714750" cy="2209800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876044" y="1086556"/>
            <a:ext cx="6173611" cy="2325511"/>
          </a:xfrm>
          <a:prstGeom prst="roundRect">
            <a:avLst/>
          </a:prstGeom>
          <a:solidFill>
            <a:srgbClr val="C39BE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045379" y="990600"/>
            <a:ext cx="6059311" cy="3810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endParaRPr lang="en-US" sz="200" dirty="0">
              <a:latin typeface="Times New Roman"/>
              <a:cs typeface="Times New Roman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7030A0"/>
                </a:solidFill>
                <a:latin typeface="Times New Roman"/>
                <a:cs typeface="Times New Roman"/>
              </a:rPr>
              <a:t>def value(stare):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stare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o stare </a:t>
            </a:r>
            <a:r>
              <a:rPr lang="en-US" sz="2000" dirty="0" err="1">
                <a:latin typeface="Times New Roman"/>
                <a:cs typeface="Times New Roman"/>
              </a:rPr>
              <a:t>terminală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utilitatea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stării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următorul</a:t>
            </a:r>
            <a:r>
              <a:rPr lang="en-US" sz="2000" dirty="0">
                <a:latin typeface="Times New Roman"/>
                <a:cs typeface="Times New Roman"/>
              </a:rPr>
              <a:t> agent care </a:t>
            </a:r>
            <a:r>
              <a:rPr lang="en-US" sz="2000" dirty="0" err="1">
                <a:latin typeface="Times New Roman"/>
                <a:cs typeface="Times New Roman"/>
              </a:rPr>
              <a:t>mută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MAX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max-value(stare)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următorul</a:t>
            </a:r>
            <a:r>
              <a:rPr lang="en-US" sz="2000" dirty="0">
                <a:latin typeface="Times New Roman"/>
                <a:cs typeface="Times New Roman"/>
              </a:rPr>
              <a:t> agent care </a:t>
            </a:r>
            <a:r>
              <a:rPr lang="en-US" sz="2000" dirty="0" err="1">
                <a:latin typeface="Times New Roman"/>
                <a:cs typeface="Times New Roman"/>
              </a:rPr>
              <a:t>mută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Times New Roman"/>
                <a:cs typeface="Times New Roman"/>
              </a:rPr>
              <a:t>EXP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Times New Roman"/>
                <a:cs typeface="Times New Roman"/>
              </a:rPr>
              <a:t>exp-value(stare)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-72697" y="4016023"/>
            <a:ext cx="4122587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 defTabSz="914400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sz="2400" kern="0" dirty="0" err="1">
                <a:solidFill>
                  <a:srgbClr val="0070C0"/>
                </a:solidFill>
                <a:latin typeface="Times New Roman"/>
                <a:cs typeface="Times New Roman"/>
              </a:rPr>
              <a:t>def</a:t>
            </a:r>
            <a:r>
              <a:rPr lang="en-US" sz="2400" kern="0" dirty="0">
                <a:solidFill>
                  <a:srgbClr val="0070C0"/>
                </a:solidFill>
                <a:latin typeface="Times New Roman"/>
                <a:cs typeface="Times New Roman"/>
              </a:rPr>
              <a:t> max-value(stare):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initializează</a:t>
            </a:r>
            <a:r>
              <a:rPr lang="en-US" sz="2000" kern="0" dirty="0">
                <a:latin typeface="Times New Roman"/>
                <a:cs typeface="Times New Roman"/>
              </a:rPr>
              <a:t> v = -∞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pentru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fiecare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succesor</a:t>
            </a:r>
            <a:r>
              <a:rPr lang="en-US" sz="2000" kern="0" dirty="0">
                <a:latin typeface="Times New Roman"/>
                <a:cs typeface="Times New Roman"/>
              </a:rPr>
              <a:t> al </a:t>
            </a:r>
            <a:r>
              <a:rPr lang="en-US" sz="2000" kern="0" dirty="0" err="1">
                <a:latin typeface="Times New Roman"/>
                <a:cs typeface="Times New Roman"/>
              </a:rPr>
              <a:t>starii</a:t>
            </a:r>
            <a:r>
              <a:rPr lang="en-US" sz="2000" kern="0" dirty="0">
                <a:latin typeface="Times New Roman"/>
                <a:cs typeface="Times New Roman"/>
              </a:rPr>
              <a:t>:</a:t>
            </a:r>
          </a:p>
          <a:p>
            <a:pPr marL="1142942" lvl="2" indent="-228589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kern="0" dirty="0">
                <a:latin typeface="Times New Roman"/>
                <a:cs typeface="Times New Roman"/>
              </a:rPr>
              <a:t>v = max(v, </a:t>
            </a:r>
            <a:r>
              <a:rPr lang="en-US" kern="0" dirty="0">
                <a:solidFill>
                  <a:srgbClr val="7030A0"/>
                </a:solidFill>
                <a:latin typeface="Times New Roman"/>
                <a:cs typeface="Times New Roman"/>
              </a:rPr>
              <a:t>value(</a:t>
            </a:r>
            <a:r>
              <a:rPr lang="en-US" kern="0" dirty="0" err="1">
                <a:solidFill>
                  <a:srgbClr val="7030A0"/>
                </a:solidFill>
                <a:latin typeface="Times New Roman"/>
                <a:cs typeface="Times New Roman"/>
              </a:rPr>
              <a:t>succesor</a:t>
            </a:r>
            <a:r>
              <a:rPr lang="en-US" kern="0" dirty="0">
                <a:solidFill>
                  <a:srgbClr val="7030A0"/>
                </a:solidFill>
                <a:latin typeface="Times New Roman"/>
                <a:cs typeface="Times New Roman"/>
              </a:rPr>
              <a:t>)</a:t>
            </a:r>
            <a:r>
              <a:rPr lang="en-US" kern="0" dirty="0">
                <a:latin typeface="Times New Roman"/>
                <a:cs typeface="Times New Roman"/>
              </a:rPr>
              <a:t>)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returnează</a:t>
            </a:r>
            <a:r>
              <a:rPr lang="en-US" sz="2000" kern="0" dirty="0">
                <a:latin typeface="Times New Roman"/>
                <a:cs typeface="Times New Roman"/>
              </a:rPr>
              <a:t> v</a:t>
            </a: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Implementare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ExpectiMax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317037-61EB-A8F9-CA8E-77FDC915F8ED}"/>
              </a:ext>
            </a:extLst>
          </p:cNvPr>
          <p:cNvSpPr/>
          <p:nvPr/>
        </p:nvSpPr>
        <p:spPr>
          <a:xfrm>
            <a:off x="5326971" y="3960778"/>
            <a:ext cx="3817029" cy="2209799"/>
          </a:xfrm>
          <a:prstGeom prst="roundRect">
            <a:avLst/>
          </a:prstGeom>
          <a:solidFill>
            <a:srgbClr val="00B05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7522-F4C3-0C95-51AC-8EE9CC1667D6}"/>
              </a:ext>
            </a:extLst>
          </p:cNvPr>
          <p:cNvSpPr txBox="1">
            <a:spLocks/>
          </p:cNvSpPr>
          <p:nvPr/>
        </p:nvSpPr>
        <p:spPr bwMode="auto">
          <a:xfrm>
            <a:off x="5414433" y="4027312"/>
            <a:ext cx="388834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 defTabSz="914400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sz="2400" kern="0" dirty="0">
                <a:solidFill>
                  <a:srgbClr val="00B050"/>
                </a:solidFill>
                <a:latin typeface="Times New Roman"/>
                <a:cs typeface="Times New Roman"/>
              </a:rPr>
              <a:t>def exp-value(state):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initializează</a:t>
            </a:r>
            <a:r>
              <a:rPr lang="en-US" sz="2000" kern="0" dirty="0">
                <a:latin typeface="Times New Roman"/>
                <a:cs typeface="Times New Roman"/>
              </a:rPr>
              <a:t> v = 0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pentru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fiecare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succesor</a:t>
            </a:r>
            <a:r>
              <a:rPr lang="en-US" sz="2000" kern="0" dirty="0">
                <a:latin typeface="Times New Roman"/>
                <a:cs typeface="Times New Roman"/>
              </a:rPr>
              <a:t> al </a:t>
            </a:r>
            <a:r>
              <a:rPr lang="en-US" sz="2000" kern="0" dirty="0" err="1">
                <a:latin typeface="Times New Roman"/>
                <a:cs typeface="Times New Roman"/>
              </a:rPr>
              <a:t>stării</a:t>
            </a:r>
            <a:r>
              <a:rPr lang="en-US" sz="2000" kern="0" dirty="0">
                <a:latin typeface="Times New Roman"/>
                <a:cs typeface="Times New Roman"/>
              </a:rPr>
              <a:t>:</a:t>
            </a:r>
          </a:p>
          <a:p>
            <a:pPr marL="1142942" lvl="2" indent="-228589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kern="0" dirty="0">
                <a:latin typeface="Times New Roman"/>
                <a:cs typeface="Times New Roman"/>
              </a:rPr>
              <a:t>v = v + p(</a:t>
            </a:r>
            <a:r>
              <a:rPr lang="en-US" kern="0" dirty="0" err="1">
                <a:latin typeface="Times New Roman"/>
                <a:cs typeface="Times New Roman"/>
              </a:rPr>
              <a:t>succesor</a:t>
            </a:r>
            <a:r>
              <a:rPr lang="en-US" kern="0" dirty="0">
                <a:latin typeface="Times New Roman"/>
                <a:cs typeface="Times New Roman"/>
              </a:rPr>
              <a:t>) * </a:t>
            </a:r>
            <a:r>
              <a:rPr lang="en-US" kern="0" dirty="0">
                <a:solidFill>
                  <a:srgbClr val="7030A0"/>
                </a:solidFill>
                <a:latin typeface="Times New Roman"/>
                <a:cs typeface="Times New Roman"/>
              </a:rPr>
              <a:t>value(</a:t>
            </a:r>
            <a:r>
              <a:rPr lang="en-US" kern="0" dirty="0" err="1">
                <a:solidFill>
                  <a:srgbClr val="7030A0"/>
                </a:solidFill>
                <a:latin typeface="Times New Roman"/>
                <a:cs typeface="Times New Roman"/>
              </a:rPr>
              <a:t>succesor</a:t>
            </a:r>
            <a:r>
              <a:rPr lang="en-US" kern="0" dirty="0">
                <a:solidFill>
                  <a:srgbClr val="7030A0"/>
                </a:solidFill>
                <a:latin typeface="Times New Roman"/>
                <a:cs typeface="Times New Roman"/>
              </a:rPr>
              <a:t>)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returnează</a:t>
            </a:r>
            <a:r>
              <a:rPr lang="en-US" sz="2000" kern="0" dirty="0">
                <a:latin typeface="Times New Roman"/>
                <a:cs typeface="Times New Roman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3134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8" grpId="0"/>
      <p:bldP spid="2" grpId="0" animBg="1"/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5372100" y="3543300"/>
            <a:ext cx="491490" cy="393192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5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6355080" y="3543300"/>
            <a:ext cx="491490" cy="393192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7</a:t>
            </a:r>
          </a:p>
        </p:txBody>
      </p:sp>
      <p:cxnSp>
        <p:nvCxnSpPr>
          <p:cNvPr id="8" name="AutoShape 13"/>
          <p:cNvCxnSpPr>
            <a:cxnSpLocks noChangeShapeType="1"/>
            <a:stCxn id="10" idx="4"/>
            <a:endCxn id="11" idx="0"/>
          </p:cNvCxnSpPr>
          <p:nvPr/>
        </p:nvCxnSpPr>
        <p:spPr bwMode="auto">
          <a:xfrm flipH="1">
            <a:off x="5617845" y="2663190"/>
            <a:ext cx="982980" cy="8801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9" name="AutoShape 14"/>
          <p:cNvCxnSpPr>
            <a:cxnSpLocks noChangeShapeType="1"/>
            <a:stCxn id="10" idx="4"/>
            <a:endCxn id="12" idx="0"/>
          </p:cNvCxnSpPr>
          <p:nvPr/>
        </p:nvCxnSpPr>
        <p:spPr bwMode="auto">
          <a:xfrm>
            <a:off x="6600825" y="2663190"/>
            <a:ext cx="0" cy="8801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0" name="Oval 16"/>
          <p:cNvSpPr>
            <a:spLocks noChangeArrowheads="1"/>
          </p:cNvSpPr>
          <p:nvPr/>
        </p:nvSpPr>
        <p:spPr bwMode="auto">
          <a:xfrm>
            <a:off x="6355080" y="2171700"/>
            <a:ext cx="491490" cy="491490"/>
          </a:xfrm>
          <a:prstGeom prst="ellipse">
            <a:avLst/>
          </a:prstGeom>
          <a:solidFill>
            <a:srgbClr val="B5ED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372100" y="3543300"/>
            <a:ext cx="491490" cy="393192"/>
          </a:xfrm>
          <a:prstGeom prst="rect">
            <a:avLst/>
          </a:prstGeom>
          <a:solidFill>
            <a:srgbClr val="E8D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/>
                <a:cs typeface="Calibri"/>
              </a:rPr>
              <a:t>8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355080" y="3543300"/>
            <a:ext cx="491490" cy="393192"/>
          </a:xfrm>
          <a:prstGeom prst="rect">
            <a:avLst/>
          </a:prstGeom>
          <a:solidFill>
            <a:srgbClr val="E8D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/>
                <a:cs typeface="Calibri"/>
              </a:rPr>
              <a:t>24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338060" y="3543300"/>
            <a:ext cx="491490" cy="393192"/>
          </a:xfrm>
          <a:prstGeom prst="rect">
            <a:avLst/>
          </a:prstGeom>
          <a:solidFill>
            <a:srgbClr val="E8D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/>
                <a:cs typeface="Calibri"/>
              </a:rPr>
              <a:t>-12</a:t>
            </a:r>
          </a:p>
        </p:txBody>
      </p:sp>
      <p:cxnSp>
        <p:nvCxnSpPr>
          <p:cNvPr id="14" name="AutoShape 14"/>
          <p:cNvCxnSpPr>
            <a:cxnSpLocks noChangeShapeType="1"/>
            <a:stCxn id="10" idx="4"/>
            <a:endCxn id="13" idx="0"/>
          </p:cNvCxnSpPr>
          <p:nvPr/>
        </p:nvCxnSpPr>
        <p:spPr bwMode="auto">
          <a:xfrm>
            <a:off x="6600825" y="2663190"/>
            <a:ext cx="982980" cy="8801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9" name="TextBox 18"/>
          <p:cNvSpPr txBox="1"/>
          <p:nvPr/>
        </p:nvSpPr>
        <p:spPr>
          <a:xfrm>
            <a:off x="5657850" y="2857500"/>
            <a:ext cx="6286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/>
                <a:cs typeface="Calibri"/>
              </a:rPr>
              <a:t>1/2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028950"/>
            <a:ext cx="6286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/>
                <a:cs typeface="Calibri"/>
              </a:rPr>
              <a:t>1/3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0" y="2857500"/>
            <a:ext cx="6286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/>
                <a:cs typeface="Calibri"/>
              </a:rPr>
              <a:t>1/6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572000"/>
            <a:ext cx="582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(1/2) (8) + (1/3) (24) + (1/6) (-12) = 10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131A498-CC00-30B2-536F-D9D6646D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Implementare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ExpectiMax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16A5FFE-1320-2EC9-488E-939804BA9715}"/>
              </a:ext>
            </a:extLst>
          </p:cNvPr>
          <p:cNvSpPr/>
          <p:nvPr/>
        </p:nvSpPr>
        <p:spPr>
          <a:xfrm>
            <a:off x="145628" y="1924050"/>
            <a:ext cx="3817029" cy="2209799"/>
          </a:xfrm>
          <a:prstGeom prst="roundRect">
            <a:avLst/>
          </a:prstGeom>
          <a:solidFill>
            <a:srgbClr val="00B05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4E936B-A74E-4044-8332-2102649E0D0D}"/>
              </a:ext>
            </a:extLst>
          </p:cNvPr>
          <p:cNvSpPr txBox="1">
            <a:spLocks/>
          </p:cNvSpPr>
          <p:nvPr/>
        </p:nvSpPr>
        <p:spPr bwMode="auto">
          <a:xfrm>
            <a:off x="233090" y="1990584"/>
            <a:ext cx="388834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 defTabSz="914400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sz="2400" kern="0" dirty="0">
                <a:solidFill>
                  <a:srgbClr val="00B050"/>
                </a:solidFill>
                <a:latin typeface="Times New Roman"/>
                <a:cs typeface="Times New Roman"/>
              </a:rPr>
              <a:t>def exp-value(state):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initializează</a:t>
            </a:r>
            <a:r>
              <a:rPr lang="en-US" sz="2000" kern="0" dirty="0">
                <a:latin typeface="Times New Roman"/>
                <a:cs typeface="Times New Roman"/>
              </a:rPr>
              <a:t> v = 0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pentru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fiecare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succesor</a:t>
            </a:r>
            <a:r>
              <a:rPr lang="en-US" sz="2000" kern="0" dirty="0">
                <a:latin typeface="Times New Roman"/>
                <a:cs typeface="Times New Roman"/>
              </a:rPr>
              <a:t> al </a:t>
            </a:r>
            <a:r>
              <a:rPr lang="en-US" sz="2000" kern="0" dirty="0" err="1">
                <a:latin typeface="Times New Roman"/>
                <a:cs typeface="Times New Roman"/>
              </a:rPr>
              <a:t>stării</a:t>
            </a:r>
            <a:r>
              <a:rPr lang="en-US" sz="2000" kern="0" dirty="0">
                <a:latin typeface="Times New Roman"/>
                <a:cs typeface="Times New Roman"/>
              </a:rPr>
              <a:t>:</a:t>
            </a:r>
          </a:p>
          <a:p>
            <a:pPr marL="1142942" lvl="2" indent="-228589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kern="0" dirty="0">
                <a:latin typeface="Times New Roman"/>
                <a:cs typeface="Times New Roman"/>
              </a:rPr>
              <a:t>v = v + p(</a:t>
            </a:r>
            <a:r>
              <a:rPr lang="en-US" kern="0" dirty="0" err="1">
                <a:latin typeface="Times New Roman"/>
                <a:cs typeface="Times New Roman"/>
              </a:rPr>
              <a:t>succesor</a:t>
            </a:r>
            <a:r>
              <a:rPr lang="en-US" kern="0" dirty="0">
                <a:latin typeface="Times New Roman"/>
                <a:cs typeface="Times New Roman"/>
              </a:rPr>
              <a:t>) * </a:t>
            </a:r>
            <a:r>
              <a:rPr lang="en-US" kern="0" dirty="0">
                <a:solidFill>
                  <a:srgbClr val="7030A0"/>
                </a:solidFill>
                <a:latin typeface="Times New Roman"/>
                <a:cs typeface="Times New Roman"/>
              </a:rPr>
              <a:t>value(</a:t>
            </a:r>
            <a:r>
              <a:rPr lang="en-US" kern="0" dirty="0" err="1">
                <a:solidFill>
                  <a:srgbClr val="7030A0"/>
                </a:solidFill>
                <a:latin typeface="Times New Roman"/>
                <a:cs typeface="Times New Roman"/>
              </a:rPr>
              <a:t>succesor</a:t>
            </a:r>
            <a:r>
              <a:rPr lang="en-US" kern="0" dirty="0">
                <a:solidFill>
                  <a:srgbClr val="7030A0"/>
                </a:solidFill>
                <a:latin typeface="Times New Roman"/>
                <a:cs typeface="Times New Roman"/>
              </a:rPr>
              <a:t>)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returnează</a:t>
            </a:r>
            <a:r>
              <a:rPr lang="en-US" sz="2000" kern="0" dirty="0">
                <a:latin typeface="Times New Roman"/>
                <a:cs typeface="Times New Roman"/>
              </a:rPr>
              <a:t> 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  <p:bldP spid="19" grpId="0"/>
      <p:bldP spid="20" grpId="0"/>
      <p:bldP spid="21" grpId="0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5372100" y="3543300"/>
            <a:ext cx="491490" cy="393192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5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6355080" y="3543300"/>
            <a:ext cx="491490" cy="393192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7</a:t>
            </a:r>
          </a:p>
        </p:txBody>
      </p:sp>
      <p:cxnSp>
        <p:nvCxnSpPr>
          <p:cNvPr id="8" name="AutoShape 13"/>
          <p:cNvCxnSpPr>
            <a:cxnSpLocks noChangeShapeType="1"/>
            <a:stCxn id="10" idx="4"/>
            <a:endCxn id="11" idx="0"/>
          </p:cNvCxnSpPr>
          <p:nvPr/>
        </p:nvCxnSpPr>
        <p:spPr bwMode="auto">
          <a:xfrm flipH="1">
            <a:off x="5617845" y="2663190"/>
            <a:ext cx="982980" cy="8801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9" name="AutoShape 14"/>
          <p:cNvCxnSpPr>
            <a:cxnSpLocks noChangeShapeType="1"/>
            <a:stCxn id="10" idx="4"/>
            <a:endCxn id="12" idx="0"/>
          </p:cNvCxnSpPr>
          <p:nvPr/>
        </p:nvCxnSpPr>
        <p:spPr bwMode="auto">
          <a:xfrm>
            <a:off x="6600825" y="2663190"/>
            <a:ext cx="0" cy="8801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0" name="Oval 16"/>
          <p:cNvSpPr>
            <a:spLocks noChangeArrowheads="1"/>
          </p:cNvSpPr>
          <p:nvPr/>
        </p:nvSpPr>
        <p:spPr bwMode="auto">
          <a:xfrm>
            <a:off x="6355080" y="2171700"/>
            <a:ext cx="491490" cy="491490"/>
          </a:xfrm>
          <a:prstGeom prst="ellipse">
            <a:avLst/>
          </a:prstGeom>
          <a:solidFill>
            <a:srgbClr val="B5ED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372100" y="3543300"/>
            <a:ext cx="491490" cy="393192"/>
          </a:xfrm>
          <a:prstGeom prst="rect">
            <a:avLst/>
          </a:prstGeom>
          <a:solidFill>
            <a:srgbClr val="E8D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/>
                <a:cs typeface="Calibri"/>
              </a:rPr>
              <a:t>8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355080" y="3543300"/>
            <a:ext cx="491490" cy="393192"/>
          </a:xfrm>
          <a:prstGeom prst="rect">
            <a:avLst/>
          </a:prstGeom>
          <a:solidFill>
            <a:srgbClr val="E8D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/>
                <a:cs typeface="Calibri"/>
              </a:rPr>
              <a:t>24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338060" y="3543300"/>
            <a:ext cx="491490" cy="393192"/>
          </a:xfrm>
          <a:prstGeom prst="rect">
            <a:avLst/>
          </a:prstGeom>
          <a:solidFill>
            <a:srgbClr val="E8D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/>
                <a:cs typeface="Calibri"/>
              </a:rPr>
              <a:t>-12</a:t>
            </a:r>
          </a:p>
        </p:txBody>
      </p:sp>
      <p:cxnSp>
        <p:nvCxnSpPr>
          <p:cNvPr id="14" name="AutoShape 14"/>
          <p:cNvCxnSpPr>
            <a:cxnSpLocks noChangeShapeType="1"/>
            <a:stCxn id="10" idx="4"/>
            <a:endCxn id="13" idx="0"/>
          </p:cNvCxnSpPr>
          <p:nvPr/>
        </p:nvCxnSpPr>
        <p:spPr bwMode="auto">
          <a:xfrm>
            <a:off x="6600825" y="2663190"/>
            <a:ext cx="982980" cy="8801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9" name="TextBox 18"/>
          <p:cNvSpPr txBox="1"/>
          <p:nvPr/>
        </p:nvSpPr>
        <p:spPr>
          <a:xfrm>
            <a:off x="5657850" y="2857500"/>
            <a:ext cx="6286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/>
                <a:cs typeface="Calibri"/>
              </a:rPr>
              <a:t>1/2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028950"/>
            <a:ext cx="6286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/>
                <a:cs typeface="Calibri"/>
              </a:rPr>
              <a:t>1/3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0" y="2857500"/>
            <a:ext cx="6286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/>
                <a:cs typeface="Calibri"/>
              </a:rPr>
              <a:t>1/6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572000"/>
            <a:ext cx="582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(1/2) (8) + (1/3) (24) + (1/6) (-12) = 10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131A498-CC00-30B2-536F-D9D6646D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Implementare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ExpectiMax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16A5FFE-1320-2EC9-488E-939804BA9715}"/>
              </a:ext>
            </a:extLst>
          </p:cNvPr>
          <p:cNvSpPr/>
          <p:nvPr/>
        </p:nvSpPr>
        <p:spPr>
          <a:xfrm>
            <a:off x="145628" y="1924050"/>
            <a:ext cx="3817029" cy="2209799"/>
          </a:xfrm>
          <a:prstGeom prst="roundRect">
            <a:avLst/>
          </a:prstGeom>
          <a:solidFill>
            <a:srgbClr val="00B05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4E936B-A74E-4044-8332-2102649E0D0D}"/>
              </a:ext>
            </a:extLst>
          </p:cNvPr>
          <p:cNvSpPr txBox="1">
            <a:spLocks/>
          </p:cNvSpPr>
          <p:nvPr/>
        </p:nvSpPr>
        <p:spPr bwMode="auto">
          <a:xfrm>
            <a:off x="233090" y="1990584"/>
            <a:ext cx="388834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 defTabSz="914400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sz="2400" kern="0" dirty="0">
                <a:solidFill>
                  <a:srgbClr val="00B050"/>
                </a:solidFill>
                <a:latin typeface="Times New Roman"/>
                <a:cs typeface="Times New Roman"/>
              </a:rPr>
              <a:t>def exp-value(state):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initializează</a:t>
            </a:r>
            <a:r>
              <a:rPr lang="en-US" sz="2000" kern="0" dirty="0">
                <a:latin typeface="Times New Roman"/>
                <a:cs typeface="Times New Roman"/>
              </a:rPr>
              <a:t> v = 0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pentru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fiecare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succesor</a:t>
            </a:r>
            <a:r>
              <a:rPr lang="en-US" sz="2000" kern="0" dirty="0">
                <a:latin typeface="Times New Roman"/>
                <a:cs typeface="Times New Roman"/>
              </a:rPr>
              <a:t> al </a:t>
            </a:r>
            <a:r>
              <a:rPr lang="en-US" sz="2000" kern="0" dirty="0" err="1">
                <a:latin typeface="Times New Roman"/>
                <a:cs typeface="Times New Roman"/>
              </a:rPr>
              <a:t>stării</a:t>
            </a:r>
            <a:r>
              <a:rPr lang="en-US" sz="2000" kern="0" dirty="0">
                <a:latin typeface="Times New Roman"/>
                <a:cs typeface="Times New Roman"/>
              </a:rPr>
              <a:t>:</a:t>
            </a:r>
          </a:p>
          <a:p>
            <a:pPr marL="1142942" lvl="2" indent="-228589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kern="0" dirty="0">
                <a:latin typeface="Times New Roman"/>
                <a:cs typeface="Times New Roman"/>
              </a:rPr>
              <a:t>v = v + p(</a:t>
            </a:r>
            <a:r>
              <a:rPr lang="en-US" kern="0" dirty="0" err="1">
                <a:latin typeface="Times New Roman"/>
                <a:cs typeface="Times New Roman"/>
              </a:rPr>
              <a:t>succesor</a:t>
            </a:r>
            <a:r>
              <a:rPr lang="en-US" kern="0" dirty="0">
                <a:latin typeface="Times New Roman"/>
                <a:cs typeface="Times New Roman"/>
              </a:rPr>
              <a:t>) * </a:t>
            </a:r>
            <a:r>
              <a:rPr lang="en-US" kern="0" dirty="0">
                <a:solidFill>
                  <a:srgbClr val="7030A0"/>
                </a:solidFill>
                <a:latin typeface="Times New Roman"/>
                <a:cs typeface="Times New Roman"/>
              </a:rPr>
              <a:t>value(</a:t>
            </a:r>
            <a:r>
              <a:rPr lang="en-US" kern="0" dirty="0" err="1">
                <a:solidFill>
                  <a:srgbClr val="7030A0"/>
                </a:solidFill>
                <a:latin typeface="Times New Roman"/>
                <a:cs typeface="Times New Roman"/>
              </a:rPr>
              <a:t>succesor</a:t>
            </a:r>
            <a:r>
              <a:rPr lang="en-US" kern="0" dirty="0">
                <a:solidFill>
                  <a:srgbClr val="7030A0"/>
                </a:solidFill>
                <a:latin typeface="Times New Roman"/>
                <a:cs typeface="Times New Roman"/>
              </a:rPr>
              <a:t>)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returnează</a:t>
            </a:r>
            <a:r>
              <a:rPr lang="en-US" sz="2000" kern="0" dirty="0">
                <a:latin typeface="Times New Roman"/>
                <a:cs typeface="Times New Roman"/>
              </a:rPr>
              <a:t> 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776DD2-27DA-69B0-9E81-3C15A2036E2C}"/>
              </a:ext>
            </a:extLst>
          </p:cNvPr>
          <p:cNvSpPr txBox="1"/>
          <p:nvPr/>
        </p:nvSpPr>
        <p:spPr>
          <a:xfrm>
            <a:off x="6390798" y="2242889"/>
            <a:ext cx="42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84085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>
            <a:off x="1314450" y="2011680"/>
            <a:ext cx="6477000" cy="2960370"/>
            <a:chOff x="1219200" y="1992630"/>
            <a:chExt cx="6477000" cy="2960370"/>
          </a:xfrm>
        </p:grpSpPr>
        <p:sp>
          <p:nvSpPr>
            <p:cNvPr id="6149" name="AutoShape 4"/>
            <p:cNvSpPr>
              <a:spLocks noChangeArrowheads="1"/>
            </p:cNvSpPr>
            <p:nvPr/>
          </p:nvSpPr>
          <p:spPr bwMode="auto">
            <a:xfrm>
              <a:off x="4133850" y="1992630"/>
              <a:ext cx="652463" cy="521970"/>
            </a:xfrm>
            <a:prstGeom prst="triangle">
              <a:avLst>
                <a:gd name="adj" fmla="val 50000"/>
              </a:avLst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grpSp>
          <p:nvGrpSpPr>
            <p:cNvPr id="6150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6190" name="AutoShape 13"/>
              <p:cNvCxnSpPr>
                <a:cxnSpLocks noChangeShapeType="1"/>
                <a:stCxn id="6182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91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12</a:t>
                </a:r>
              </a:p>
            </p:txBody>
          </p:sp>
        </p:grpSp>
        <p:grpSp>
          <p:nvGrpSpPr>
            <p:cNvPr id="6151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6188" name="AutoShape 17"/>
              <p:cNvCxnSpPr>
                <a:cxnSpLocks noChangeShapeType="1"/>
                <a:stCxn id="6182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9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9</a:t>
                </a:r>
              </a:p>
            </p:txBody>
          </p:sp>
        </p:grpSp>
        <p:grpSp>
          <p:nvGrpSpPr>
            <p:cNvPr id="6152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6186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7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6</a:t>
                </a:r>
              </a:p>
            </p:txBody>
          </p:sp>
        </p:grpSp>
        <p:grpSp>
          <p:nvGrpSpPr>
            <p:cNvPr id="6153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6184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5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0</a:t>
                </a:r>
              </a:p>
            </p:txBody>
          </p:sp>
        </p:grpSp>
        <p:grpSp>
          <p:nvGrpSpPr>
            <p:cNvPr id="6154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5707" cy="1250950"/>
              <a:chOff x="1984375" y="2514601"/>
              <a:chExt cx="2475709" cy="1250949"/>
            </a:xfrm>
          </p:grpSpPr>
          <p:sp>
            <p:nvSpPr>
              <p:cNvPr id="6182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cxnSp>
            <p:nvCxnSpPr>
              <p:cNvPr id="6183" name="AutoShape 7"/>
              <p:cNvCxnSpPr>
                <a:cxnSpLocks noChangeShapeType="1"/>
                <a:stCxn id="6149" idx="3"/>
                <a:endCxn id="6167" idx="0"/>
              </p:cNvCxnSpPr>
              <p:nvPr/>
            </p:nvCxnSpPr>
            <p:spPr bwMode="auto">
              <a:xfrm flipH="1">
                <a:off x="2171700" y="2514601"/>
                <a:ext cx="2288384" cy="838199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cxnSp>
          <p:nvCxnSpPr>
            <p:cNvPr id="6155" name="AutoShape 9"/>
            <p:cNvCxnSpPr>
              <a:cxnSpLocks noChangeShapeType="1"/>
              <a:stCxn id="6182" idx="0"/>
            </p:cNvCxnSpPr>
            <p:nvPr/>
          </p:nvCxnSpPr>
          <p:spPr bwMode="auto">
            <a:xfrm flipH="1">
              <a:off x="1412875" y="3765550"/>
              <a:ext cx="760413" cy="822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6156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rgbClr val="E8D1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dirty="0"/>
                <a:t>3</a:t>
              </a:r>
            </a:p>
          </p:txBody>
        </p:sp>
        <p:cxnSp>
          <p:nvCxnSpPr>
            <p:cNvPr id="6157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6"/>
              <a:ext cx="304800" cy="15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58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1"/>
              <a:ext cx="304800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159" name="Group 59"/>
            <p:cNvGrpSpPr>
              <a:grpSpLocks/>
            </p:cNvGrpSpPr>
            <p:nvPr/>
          </p:nvGrpSpPr>
          <p:grpSpPr bwMode="auto">
            <a:xfrm>
              <a:off x="4270375" y="2514600"/>
              <a:ext cx="381000" cy="1235075"/>
              <a:chOff x="4270375" y="2514601"/>
              <a:chExt cx="381000" cy="1235074"/>
            </a:xfrm>
          </p:grpSpPr>
          <p:sp>
            <p:nvSpPr>
              <p:cNvPr id="6180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cxnSp>
            <p:nvCxnSpPr>
              <p:cNvPr id="6181" name="AutoShape 21"/>
              <p:cNvCxnSpPr>
                <a:cxnSpLocks noChangeShapeType="1"/>
                <a:stCxn id="6149" idx="3"/>
                <a:endCxn id="6165" idx="0"/>
              </p:cNvCxnSpPr>
              <p:nvPr/>
            </p:nvCxnSpPr>
            <p:spPr bwMode="auto">
              <a:xfrm flipH="1">
                <a:off x="4457700" y="2514601"/>
                <a:ext cx="2382" cy="761999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grpSp>
          <p:nvGrpSpPr>
            <p:cNvPr id="6160" name="Group 58"/>
            <p:cNvGrpSpPr>
              <a:grpSpLocks/>
            </p:cNvGrpSpPr>
            <p:nvPr/>
          </p:nvGrpSpPr>
          <p:grpSpPr bwMode="auto">
            <a:xfrm>
              <a:off x="3505200" y="3762375"/>
              <a:ext cx="954088" cy="1190625"/>
              <a:chOff x="3505200" y="3762375"/>
              <a:chExt cx="954088" cy="1190625"/>
            </a:xfrm>
          </p:grpSpPr>
          <p:cxnSp>
            <p:nvCxnSpPr>
              <p:cNvPr id="6177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8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2</a:t>
                </a:r>
              </a:p>
            </p:txBody>
          </p:sp>
          <p:cxnSp>
            <p:nvCxnSpPr>
              <p:cNvPr id="6179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161" name="Group 61"/>
            <p:cNvGrpSpPr>
              <a:grpSpLocks/>
            </p:cNvGrpSpPr>
            <p:nvPr/>
          </p:nvGrpSpPr>
          <p:grpSpPr bwMode="auto">
            <a:xfrm>
              <a:off x="4460082" y="2514600"/>
              <a:ext cx="2477296" cy="1250950"/>
              <a:chOff x="4460079" y="2514600"/>
              <a:chExt cx="2477296" cy="1250950"/>
            </a:xfrm>
          </p:grpSpPr>
          <p:sp>
            <p:nvSpPr>
              <p:cNvPr id="6175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cxnSp>
            <p:nvCxnSpPr>
              <p:cNvPr id="6176" name="AutoShape 27"/>
              <p:cNvCxnSpPr>
                <a:cxnSpLocks noChangeShapeType="1"/>
                <a:stCxn id="6149" idx="3"/>
                <a:endCxn id="6166" idx="0"/>
              </p:cNvCxnSpPr>
              <p:nvPr/>
            </p:nvCxnSpPr>
            <p:spPr bwMode="auto">
              <a:xfrm>
                <a:off x="4460079" y="2514600"/>
                <a:ext cx="2283618" cy="83820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grpSp>
          <p:nvGrpSpPr>
            <p:cNvPr id="6162" name="Group 60"/>
            <p:cNvGrpSpPr>
              <a:grpSpLocks/>
            </p:cNvGrpSpPr>
            <p:nvPr/>
          </p:nvGrpSpPr>
          <p:grpSpPr bwMode="auto">
            <a:xfrm>
              <a:off x="5791200" y="3762375"/>
              <a:ext cx="954088" cy="1190625"/>
              <a:chOff x="5791200" y="3762375"/>
              <a:chExt cx="954088" cy="1190625"/>
            </a:xfrm>
          </p:grpSpPr>
          <p:cxnSp>
            <p:nvCxnSpPr>
              <p:cNvPr id="6172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3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15</a:t>
                </a:r>
              </a:p>
            </p:txBody>
          </p:sp>
          <p:cxnSp>
            <p:nvCxnSpPr>
              <p:cNvPr id="6174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163" name="Group 64"/>
            <p:cNvGrpSpPr>
              <a:grpSpLocks/>
            </p:cNvGrpSpPr>
            <p:nvPr/>
          </p:nvGrpSpPr>
          <p:grpSpPr bwMode="auto">
            <a:xfrm>
              <a:off x="4267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6170" name="AutoShape 33"/>
              <p:cNvCxnSpPr>
                <a:cxnSpLocks noChangeShapeType="1"/>
              </p:cNvCxnSpPr>
              <p:nvPr/>
            </p:nvCxnSpPr>
            <p:spPr bwMode="auto">
              <a:xfrm flipH="1">
                <a:off x="6745288" y="3765550"/>
                <a:ext cx="1" cy="818173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1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4</a:t>
                </a:r>
              </a:p>
            </p:txBody>
          </p:sp>
        </p:grpSp>
        <p:grpSp>
          <p:nvGrpSpPr>
            <p:cNvPr id="6164" name="Group 65"/>
            <p:cNvGrpSpPr>
              <a:grpSpLocks/>
            </p:cNvGrpSpPr>
            <p:nvPr/>
          </p:nvGrpSpPr>
          <p:grpSpPr bwMode="auto">
            <a:xfrm>
              <a:off x="4459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6168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69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6</a:t>
                </a:r>
              </a:p>
            </p:txBody>
          </p:sp>
        </p:grpSp>
        <p:sp>
          <p:nvSpPr>
            <p:cNvPr id="6165" name="Oval 11"/>
            <p:cNvSpPr>
              <a:spLocks noChangeArrowheads="1"/>
            </p:cNvSpPr>
            <p:nvPr/>
          </p:nvSpPr>
          <p:spPr bwMode="auto">
            <a:xfrm>
              <a:off x="4191000" y="32766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166" name="Oval 11"/>
            <p:cNvSpPr>
              <a:spLocks noChangeArrowheads="1"/>
            </p:cNvSpPr>
            <p:nvPr/>
          </p:nvSpPr>
          <p:spPr bwMode="auto">
            <a:xfrm>
              <a:off x="6477000" y="33528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167" name="Oval 11"/>
            <p:cNvSpPr>
              <a:spLocks noChangeArrowheads="1"/>
            </p:cNvSpPr>
            <p:nvPr/>
          </p:nvSpPr>
          <p:spPr bwMode="auto">
            <a:xfrm>
              <a:off x="1905000" y="33528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08B9E4E-BE13-7BDF-197B-79B07ACE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ExpectiMax</a:t>
            </a:r>
            <a:endParaRPr 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>
            <a:off x="1314450" y="2011680"/>
            <a:ext cx="6477000" cy="2960370"/>
            <a:chOff x="1219200" y="1992630"/>
            <a:chExt cx="6477000" cy="2960370"/>
          </a:xfrm>
        </p:grpSpPr>
        <p:sp>
          <p:nvSpPr>
            <p:cNvPr id="6149" name="AutoShape 4"/>
            <p:cNvSpPr>
              <a:spLocks noChangeArrowheads="1"/>
            </p:cNvSpPr>
            <p:nvPr/>
          </p:nvSpPr>
          <p:spPr bwMode="auto">
            <a:xfrm>
              <a:off x="4133850" y="1992630"/>
              <a:ext cx="652463" cy="521970"/>
            </a:xfrm>
            <a:prstGeom prst="triangle">
              <a:avLst>
                <a:gd name="adj" fmla="val 50000"/>
              </a:avLst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grpSp>
          <p:nvGrpSpPr>
            <p:cNvPr id="6150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6190" name="AutoShape 13"/>
              <p:cNvCxnSpPr>
                <a:cxnSpLocks noChangeShapeType="1"/>
                <a:stCxn id="6182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91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12</a:t>
                </a:r>
              </a:p>
            </p:txBody>
          </p:sp>
        </p:grpSp>
        <p:grpSp>
          <p:nvGrpSpPr>
            <p:cNvPr id="6151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6188" name="AutoShape 17"/>
              <p:cNvCxnSpPr>
                <a:cxnSpLocks noChangeShapeType="1"/>
                <a:stCxn id="6182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9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9</a:t>
                </a:r>
              </a:p>
            </p:txBody>
          </p:sp>
        </p:grpSp>
        <p:grpSp>
          <p:nvGrpSpPr>
            <p:cNvPr id="6152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6186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7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6</a:t>
                </a:r>
              </a:p>
            </p:txBody>
          </p:sp>
        </p:grpSp>
        <p:grpSp>
          <p:nvGrpSpPr>
            <p:cNvPr id="6153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6184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5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0</a:t>
                </a:r>
              </a:p>
            </p:txBody>
          </p:sp>
        </p:grpSp>
        <p:grpSp>
          <p:nvGrpSpPr>
            <p:cNvPr id="6154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5707" cy="1250950"/>
              <a:chOff x="1984375" y="2514601"/>
              <a:chExt cx="2475709" cy="1250949"/>
            </a:xfrm>
          </p:grpSpPr>
          <p:sp>
            <p:nvSpPr>
              <p:cNvPr id="6182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cxnSp>
            <p:nvCxnSpPr>
              <p:cNvPr id="6183" name="AutoShape 7"/>
              <p:cNvCxnSpPr>
                <a:cxnSpLocks noChangeShapeType="1"/>
                <a:stCxn id="6149" idx="3"/>
                <a:endCxn id="6167" idx="0"/>
              </p:cNvCxnSpPr>
              <p:nvPr/>
            </p:nvCxnSpPr>
            <p:spPr bwMode="auto">
              <a:xfrm flipH="1">
                <a:off x="2171700" y="2514601"/>
                <a:ext cx="2288384" cy="838199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cxnSp>
          <p:nvCxnSpPr>
            <p:cNvPr id="6155" name="AutoShape 9"/>
            <p:cNvCxnSpPr>
              <a:cxnSpLocks noChangeShapeType="1"/>
              <a:stCxn id="6182" idx="0"/>
            </p:cNvCxnSpPr>
            <p:nvPr/>
          </p:nvCxnSpPr>
          <p:spPr bwMode="auto">
            <a:xfrm flipH="1">
              <a:off x="1412875" y="3765550"/>
              <a:ext cx="760413" cy="822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6156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rgbClr val="E8D1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dirty="0"/>
                <a:t>3</a:t>
              </a:r>
            </a:p>
          </p:txBody>
        </p:sp>
        <p:cxnSp>
          <p:nvCxnSpPr>
            <p:cNvPr id="6157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6"/>
              <a:ext cx="304800" cy="15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58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1"/>
              <a:ext cx="304800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159" name="Group 59"/>
            <p:cNvGrpSpPr>
              <a:grpSpLocks/>
            </p:cNvGrpSpPr>
            <p:nvPr/>
          </p:nvGrpSpPr>
          <p:grpSpPr bwMode="auto">
            <a:xfrm>
              <a:off x="4270375" y="2514600"/>
              <a:ext cx="381000" cy="1235075"/>
              <a:chOff x="4270375" y="2514601"/>
              <a:chExt cx="381000" cy="1235074"/>
            </a:xfrm>
          </p:grpSpPr>
          <p:sp>
            <p:nvSpPr>
              <p:cNvPr id="6180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cxnSp>
            <p:nvCxnSpPr>
              <p:cNvPr id="6181" name="AutoShape 21"/>
              <p:cNvCxnSpPr>
                <a:cxnSpLocks noChangeShapeType="1"/>
                <a:stCxn id="6149" idx="3"/>
                <a:endCxn id="6165" idx="0"/>
              </p:cNvCxnSpPr>
              <p:nvPr/>
            </p:nvCxnSpPr>
            <p:spPr bwMode="auto">
              <a:xfrm flipH="1">
                <a:off x="4457700" y="2514601"/>
                <a:ext cx="2382" cy="761999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grpSp>
          <p:nvGrpSpPr>
            <p:cNvPr id="6160" name="Group 58"/>
            <p:cNvGrpSpPr>
              <a:grpSpLocks/>
            </p:cNvGrpSpPr>
            <p:nvPr/>
          </p:nvGrpSpPr>
          <p:grpSpPr bwMode="auto">
            <a:xfrm>
              <a:off x="3505200" y="3762375"/>
              <a:ext cx="954088" cy="1190625"/>
              <a:chOff x="3505200" y="3762375"/>
              <a:chExt cx="954088" cy="1190625"/>
            </a:xfrm>
          </p:grpSpPr>
          <p:cxnSp>
            <p:nvCxnSpPr>
              <p:cNvPr id="6177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8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2</a:t>
                </a:r>
              </a:p>
            </p:txBody>
          </p:sp>
          <p:cxnSp>
            <p:nvCxnSpPr>
              <p:cNvPr id="6179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161" name="Group 61"/>
            <p:cNvGrpSpPr>
              <a:grpSpLocks/>
            </p:cNvGrpSpPr>
            <p:nvPr/>
          </p:nvGrpSpPr>
          <p:grpSpPr bwMode="auto">
            <a:xfrm>
              <a:off x="4460082" y="2514600"/>
              <a:ext cx="2477296" cy="1250950"/>
              <a:chOff x="4460079" y="2514600"/>
              <a:chExt cx="2477296" cy="1250950"/>
            </a:xfrm>
          </p:grpSpPr>
          <p:sp>
            <p:nvSpPr>
              <p:cNvPr id="6175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cxnSp>
            <p:nvCxnSpPr>
              <p:cNvPr id="6176" name="AutoShape 27"/>
              <p:cNvCxnSpPr>
                <a:cxnSpLocks noChangeShapeType="1"/>
                <a:stCxn id="6149" idx="3"/>
                <a:endCxn id="6166" idx="0"/>
              </p:cNvCxnSpPr>
              <p:nvPr/>
            </p:nvCxnSpPr>
            <p:spPr bwMode="auto">
              <a:xfrm>
                <a:off x="4460079" y="2514600"/>
                <a:ext cx="2283618" cy="83820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grpSp>
          <p:nvGrpSpPr>
            <p:cNvPr id="6162" name="Group 60"/>
            <p:cNvGrpSpPr>
              <a:grpSpLocks/>
            </p:cNvGrpSpPr>
            <p:nvPr/>
          </p:nvGrpSpPr>
          <p:grpSpPr bwMode="auto">
            <a:xfrm>
              <a:off x="5791200" y="3762375"/>
              <a:ext cx="954088" cy="1190625"/>
              <a:chOff x="5791200" y="3762375"/>
              <a:chExt cx="954088" cy="1190625"/>
            </a:xfrm>
          </p:grpSpPr>
          <p:cxnSp>
            <p:nvCxnSpPr>
              <p:cNvPr id="6172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3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15</a:t>
                </a:r>
              </a:p>
            </p:txBody>
          </p:sp>
          <p:cxnSp>
            <p:nvCxnSpPr>
              <p:cNvPr id="6174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163" name="Group 64"/>
            <p:cNvGrpSpPr>
              <a:grpSpLocks/>
            </p:cNvGrpSpPr>
            <p:nvPr/>
          </p:nvGrpSpPr>
          <p:grpSpPr bwMode="auto">
            <a:xfrm>
              <a:off x="4267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6170" name="AutoShape 33"/>
              <p:cNvCxnSpPr>
                <a:cxnSpLocks noChangeShapeType="1"/>
              </p:cNvCxnSpPr>
              <p:nvPr/>
            </p:nvCxnSpPr>
            <p:spPr bwMode="auto">
              <a:xfrm flipH="1">
                <a:off x="6745288" y="3765550"/>
                <a:ext cx="1" cy="818173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1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4</a:t>
                </a:r>
              </a:p>
            </p:txBody>
          </p:sp>
        </p:grpSp>
        <p:grpSp>
          <p:nvGrpSpPr>
            <p:cNvPr id="6164" name="Group 65"/>
            <p:cNvGrpSpPr>
              <a:grpSpLocks/>
            </p:cNvGrpSpPr>
            <p:nvPr/>
          </p:nvGrpSpPr>
          <p:grpSpPr bwMode="auto">
            <a:xfrm>
              <a:off x="4459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6168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69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6</a:t>
                </a:r>
              </a:p>
            </p:txBody>
          </p:sp>
        </p:grpSp>
        <p:sp>
          <p:nvSpPr>
            <p:cNvPr id="6165" name="Oval 11"/>
            <p:cNvSpPr>
              <a:spLocks noChangeArrowheads="1"/>
            </p:cNvSpPr>
            <p:nvPr/>
          </p:nvSpPr>
          <p:spPr bwMode="auto">
            <a:xfrm>
              <a:off x="4191000" y="32766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b="1" dirty="0"/>
                <a:t>4</a:t>
              </a:r>
            </a:p>
          </p:txBody>
        </p:sp>
        <p:sp>
          <p:nvSpPr>
            <p:cNvPr id="6166" name="Oval 11"/>
            <p:cNvSpPr>
              <a:spLocks noChangeArrowheads="1"/>
            </p:cNvSpPr>
            <p:nvPr/>
          </p:nvSpPr>
          <p:spPr bwMode="auto">
            <a:xfrm>
              <a:off x="6477000" y="33528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b="1" dirty="0"/>
                <a:t>7</a:t>
              </a:r>
            </a:p>
          </p:txBody>
        </p:sp>
        <p:sp>
          <p:nvSpPr>
            <p:cNvPr id="6167" name="Oval 11"/>
            <p:cNvSpPr>
              <a:spLocks noChangeArrowheads="1"/>
            </p:cNvSpPr>
            <p:nvPr/>
          </p:nvSpPr>
          <p:spPr bwMode="auto">
            <a:xfrm>
              <a:off x="1905000" y="33528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b="1" dirty="0"/>
                <a:t>8</a:t>
              </a: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08B9E4E-BE13-7BDF-197B-79B07ACE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ExpectiMax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DE6B8-D3F7-8E9D-C675-19F71410AB10}"/>
              </a:ext>
            </a:extLst>
          </p:cNvPr>
          <p:cNvSpPr txBox="1"/>
          <p:nvPr/>
        </p:nvSpPr>
        <p:spPr>
          <a:xfrm>
            <a:off x="569343" y="5486400"/>
            <a:ext cx="8126083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calculează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utilitățile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medii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(media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ponderată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nodurilor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expectation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lipsa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distribuții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asociate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nodurilor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5957696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>
            <a:off x="1314450" y="2011680"/>
            <a:ext cx="6477000" cy="2960370"/>
            <a:chOff x="1219200" y="1992630"/>
            <a:chExt cx="6477000" cy="2960370"/>
          </a:xfrm>
        </p:grpSpPr>
        <p:sp>
          <p:nvSpPr>
            <p:cNvPr id="6149" name="AutoShape 4"/>
            <p:cNvSpPr>
              <a:spLocks noChangeArrowheads="1"/>
            </p:cNvSpPr>
            <p:nvPr/>
          </p:nvSpPr>
          <p:spPr bwMode="auto">
            <a:xfrm>
              <a:off x="4133850" y="1992630"/>
              <a:ext cx="652463" cy="521970"/>
            </a:xfrm>
            <a:prstGeom prst="triangle">
              <a:avLst>
                <a:gd name="adj" fmla="val 50000"/>
              </a:avLst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 dirty="0"/>
                <a:t>8</a:t>
              </a:r>
            </a:p>
          </p:txBody>
        </p:sp>
        <p:grpSp>
          <p:nvGrpSpPr>
            <p:cNvPr id="6150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6190" name="AutoShape 13"/>
              <p:cNvCxnSpPr>
                <a:cxnSpLocks noChangeShapeType="1"/>
                <a:stCxn id="6182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91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12</a:t>
                </a:r>
              </a:p>
            </p:txBody>
          </p:sp>
        </p:grpSp>
        <p:grpSp>
          <p:nvGrpSpPr>
            <p:cNvPr id="6151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6188" name="AutoShape 17"/>
              <p:cNvCxnSpPr>
                <a:cxnSpLocks noChangeShapeType="1"/>
                <a:stCxn id="6182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9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9</a:t>
                </a:r>
              </a:p>
            </p:txBody>
          </p:sp>
        </p:grpSp>
        <p:grpSp>
          <p:nvGrpSpPr>
            <p:cNvPr id="6152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6186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7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6</a:t>
                </a:r>
              </a:p>
            </p:txBody>
          </p:sp>
        </p:grpSp>
        <p:grpSp>
          <p:nvGrpSpPr>
            <p:cNvPr id="6153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6184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5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0</a:t>
                </a:r>
              </a:p>
            </p:txBody>
          </p:sp>
        </p:grpSp>
        <p:grpSp>
          <p:nvGrpSpPr>
            <p:cNvPr id="6154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5707" cy="1250950"/>
              <a:chOff x="1984375" y="2514601"/>
              <a:chExt cx="2475709" cy="1250949"/>
            </a:xfrm>
          </p:grpSpPr>
          <p:sp>
            <p:nvSpPr>
              <p:cNvPr id="6182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cxnSp>
            <p:nvCxnSpPr>
              <p:cNvPr id="6183" name="AutoShape 7"/>
              <p:cNvCxnSpPr>
                <a:cxnSpLocks noChangeShapeType="1"/>
                <a:stCxn id="6149" idx="3"/>
                <a:endCxn id="6167" idx="0"/>
              </p:cNvCxnSpPr>
              <p:nvPr/>
            </p:nvCxnSpPr>
            <p:spPr bwMode="auto">
              <a:xfrm flipH="1">
                <a:off x="2171700" y="2514601"/>
                <a:ext cx="2288384" cy="838199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cxnSp>
          <p:nvCxnSpPr>
            <p:cNvPr id="6155" name="AutoShape 9"/>
            <p:cNvCxnSpPr>
              <a:cxnSpLocks noChangeShapeType="1"/>
              <a:stCxn id="6182" idx="0"/>
            </p:cNvCxnSpPr>
            <p:nvPr/>
          </p:nvCxnSpPr>
          <p:spPr bwMode="auto">
            <a:xfrm flipH="1">
              <a:off x="1412875" y="3765550"/>
              <a:ext cx="760413" cy="822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6156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rgbClr val="E8D1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dirty="0"/>
                <a:t>3</a:t>
              </a:r>
            </a:p>
          </p:txBody>
        </p:sp>
        <p:cxnSp>
          <p:nvCxnSpPr>
            <p:cNvPr id="6157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6"/>
              <a:ext cx="304800" cy="15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58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1"/>
              <a:ext cx="304800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159" name="Group 59"/>
            <p:cNvGrpSpPr>
              <a:grpSpLocks/>
            </p:cNvGrpSpPr>
            <p:nvPr/>
          </p:nvGrpSpPr>
          <p:grpSpPr bwMode="auto">
            <a:xfrm>
              <a:off x="4270375" y="2514600"/>
              <a:ext cx="381000" cy="1235075"/>
              <a:chOff x="4270375" y="2514601"/>
              <a:chExt cx="381000" cy="1235074"/>
            </a:xfrm>
          </p:grpSpPr>
          <p:sp>
            <p:nvSpPr>
              <p:cNvPr id="6180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cxnSp>
            <p:nvCxnSpPr>
              <p:cNvPr id="6181" name="AutoShape 21"/>
              <p:cNvCxnSpPr>
                <a:cxnSpLocks noChangeShapeType="1"/>
                <a:stCxn id="6149" idx="3"/>
                <a:endCxn id="6165" idx="0"/>
              </p:cNvCxnSpPr>
              <p:nvPr/>
            </p:nvCxnSpPr>
            <p:spPr bwMode="auto">
              <a:xfrm flipH="1">
                <a:off x="4457700" y="2514601"/>
                <a:ext cx="2382" cy="761999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grpSp>
          <p:nvGrpSpPr>
            <p:cNvPr id="6160" name="Group 58"/>
            <p:cNvGrpSpPr>
              <a:grpSpLocks/>
            </p:cNvGrpSpPr>
            <p:nvPr/>
          </p:nvGrpSpPr>
          <p:grpSpPr bwMode="auto">
            <a:xfrm>
              <a:off x="3505200" y="3762375"/>
              <a:ext cx="954088" cy="1190625"/>
              <a:chOff x="3505200" y="3762375"/>
              <a:chExt cx="954088" cy="1190625"/>
            </a:xfrm>
          </p:grpSpPr>
          <p:cxnSp>
            <p:nvCxnSpPr>
              <p:cNvPr id="6177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8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2</a:t>
                </a:r>
              </a:p>
            </p:txBody>
          </p:sp>
          <p:cxnSp>
            <p:nvCxnSpPr>
              <p:cNvPr id="6179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161" name="Group 61"/>
            <p:cNvGrpSpPr>
              <a:grpSpLocks/>
            </p:cNvGrpSpPr>
            <p:nvPr/>
          </p:nvGrpSpPr>
          <p:grpSpPr bwMode="auto">
            <a:xfrm>
              <a:off x="4460082" y="2514600"/>
              <a:ext cx="2477296" cy="1250950"/>
              <a:chOff x="4460079" y="2514600"/>
              <a:chExt cx="2477296" cy="1250950"/>
            </a:xfrm>
          </p:grpSpPr>
          <p:sp>
            <p:nvSpPr>
              <p:cNvPr id="6175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cxnSp>
            <p:nvCxnSpPr>
              <p:cNvPr id="6176" name="AutoShape 27"/>
              <p:cNvCxnSpPr>
                <a:cxnSpLocks noChangeShapeType="1"/>
                <a:stCxn id="6149" idx="3"/>
                <a:endCxn id="6166" idx="0"/>
              </p:cNvCxnSpPr>
              <p:nvPr/>
            </p:nvCxnSpPr>
            <p:spPr bwMode="auto">
              <a:xfrm>
                <a:off x="4460079" y="2514600"/>
                <a:ext cx="2283618" cy="83820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grpSp>
          <p:nvGrpSpPr>
            <p:cNvPr id="6162" name="Group 60"/>
            <p:cNvGrpSpPr>
              <a:grpSpLocks/>
            </p:cNvGrpSpPr>
            <p:nvPr/>
          </p:nvGrpSpPr>
          <p:grpSpPr bwMode="auto">
            <a:xfrm>
              <a:off x="5791200" y="3762375"/>
              <a:ext cx="954088" cy="1190625"/>
              <a:chOff x="5791200" y="3762375"/>
              <a:chExt cx="954088" cy="1190625"/>
            </a:xfrm>
          </p:grpSpPr>
          <p:cxnSp>
            <p:nvCxnSpPr>
              <p:cNvPr id="6172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3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15</a:t>
                </a:r>
              </a:p>
            </p:txBody>
          </p:sp>
          <p:cxnSp>
            <p:nvCxnSpPr>
              <p:cNvPr id="6174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163" name="Group 64"/>
            <p:cNvGrpSpPr>
              <a:grpSpLocks/>
            </p:cNvGrpSpPr>
            <p:nvPr/>
          </p:nvGrpSpPr>
          <p:grpSpPr bwMode="auto">
            <a:xfrm>
              <a:off x="4267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6170" name="AutoShape 33"/>
              <p:cNvCxnSpPr>
                <a:cxnSpLocks noChangeShapeType="1"/>
              </p:cNvCxnSpPr>
              <p:nvPr/>
            </p:nvCxnSpPr>
            <p:spPr bwMode="auto">
              <a:xfrm flipH="1">
                <a:off x="6745288" y="3765550"/>
                <a:ext cx="1" cy="818173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1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4</a:t>
                </a:r>
              </a:p>
            </p:txBody>
          </p:sp>
        </p:grpSp>
        <p:grpSp>
          <p:nvGrpSpPr>
            <p:cNvPr id="6164" name="Group 65"/>
            <p:cNvGrpSpPr>
              <a:grpSpLocks/>
            </p:cNvGrpSpPr>
            <p:nvPr/>
          </p:nvGrpSpPr>
          <p:grpSpPr bwMode="auto">
            <a:xfrm>
              <a:off x="4459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6168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69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E8D1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350"/>
                  <a:t>6</a:t>
                </a:r>
              </a:p>
            </p:txBody>
          </p:sp>
        </p:grpSp>
        <p:sp>
          <p:nvSpPr>
            <p:cNvPr id="6165" name="Oval 11"/>
            <p:cNvSpPr>
              <a:spLocks noChangeArrowheads="1"/>
            </p:cNvSpPr>
            <p:nvPr/>
          </p:nvSpPr>
          <p:spPr bwMode="auto">
            <a:xfrm>
              <a:off x="4191000" y="32766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b="1" dirty="0"/>
                <a:t>4</a:t>
              </a:r>
            </a:p>
          </p:txBody>
        </p:sp>
        <p:sp>
          <p:nvSpPr>
            <p:cNvPr id="6166" name="Oval 11"/>
            <p:cNvSpPr>
              <a:spLocks noChangeArrowheads="1"/>
            </p:cNvSpPr>
            <p:nvPr/>
          </p:nvSpPr>
          <p:spPr bwMode="auto">
            <a:xfrm>
              <a:off x="6477000" y="33528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b="1" dirty="0"/>
                <a:t>7</a:t>
              </a:r>
            </a:p>
          </p:txBody>
        </p:sp>
        <p:sp>
          <p:nvSpPr>
            <p:cNvPr id="6167" name="Oval 11"/>
            <p:cNvSpPr>
              <a:spLocks noChangeArrowheads="1"/>
            </p:cNvSpPr>
            <p:nvPr/>
          </p:nvSpPr>
          <p:spPr bwMode="auto">
            <a:xfrm>
              <a:off x="1905000" y="33528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b="1" dirty="0"/>
                <a:t>8</a:t>
              </a: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08B9E4E-BE13-7BDF-197B-79B07ACE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ExpectiMax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DE6B8-D3F7-8E9D-C675-19F71410AB10}"/>
              </a:ext>
            </a:extLst>
          </p:cNvPr>
          <p:cNvSpPr txBox="1"/>
          <p:nvPr/>
        </p:nvSpPr>
        <p:spPr>
          <a:xfrm>
            <a:off x="569343" y="5486400"/>
            <a:ext cx="8126083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calculează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utilitățile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medii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(media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ponderată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nodurilor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expectation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lipsa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distribuții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asociate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nodurilor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604157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22602" y="2371214"/>
            <a:ext cx="3206353" cy="207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AutoShape 4"/>
          <p:cNvSpPr>
            <a:spLocks noChangeArrowheads="1"/>
          </p:cNvSpPr>
          <p:nvPr/>
        </p:nvSpPr>
        <p:spPr bwMode="auto">
          <a:xfrm>
            <a:off x="4229101" y="2011680"/>
            <a:ext cx="652463" cy="521970"/>
          </a:xfrm>
          <a:prstGeom prst="triangle">
            <a:avLst>
              <a:gd name="adj" fmla="val 50000"/>
            </a:avLst>
          </a:prstGeom>
          <a:solidFill>
            <a:srgbClr val="99C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grpSp>
        <p:nvGrpSpPr>
          <p:cNvPr id="78" name="Group 60"/>
          <p:cNvGrpSpPr>
            <a:grpSpLocks/>
          </p:cNvGrpSpPr>
          <p:nvPr/>
        </p:nvGrpSpPr>
        <p:grpSpPr bwMode="auto">
          <a:xfrm>
            <a:off x="2076450" y="3784600"/>
            <a:ext cx="381000" cy="1187450"/>
            <a:chOff x="1981200" y="3765550"/>
            <a:chExt cx="381000" cy="1187450"/>
          </a:xfrm>
        </p:grpSpPr>
        <p:cxnSp>
          <p:nvCxnSpPr>
            <p:cNvPr id="118" name="AutoShape 13"/>
            <p:cNvCxnSpPr>
              <a:cxnSpLocks noChangeShapeType="1"/>
              <a:stCxn id="110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119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E8D1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/>
                <a:t>12</a:t>
              </a:r>
            </a:p>
          </p:txBody>
        </p:sp>
      </p:grpSp>
      <p:grpSp>
        <p:nvGrpSpPr>
          <p:cNvPr id="79" name="Group 61"/>
          <p:cNvGrpSpPr>
            <a:grpSpLocks/>
          </p:cNvGrpSpPr>
          <p:nvPr/>
        </p:nvGrpSpPr>
        <p:grpSpPr bwMode="auto">
          <a:xfrm>
            <a:off x="2268538" y="3784600"/>
            <a:ext cx="950912" cy="1187450"/>
            <a:chOff x="2173288" y="3765550"/>
            <a:chExt cx="950912" cy="1187450"/>
          </a:xfrm>
        </p:grpSpPr>
        <p:cxnSp>
          <p:nvCxnSpPr>
            <p:cNvPr id="116" name="AutoShape 17"/>
            <p:cNvCxnSpPr>
              <a:cxnSpLocks noChangeShapeType="1"/>
              <a:stCxn id="110" idx="0"/>
            </p:cNvCxnSpPr>
            <p:nvPr/>
          </p:nvCxnSpPr>
          <p:spPr bwMode="auto">
            <a:xfrm>
              <a:off x="2173288" y="3765550"/>
              <a:ext cx="763587" cy="822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117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E8D1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dirty="0"/>
                <a:t>9</a:t>
              </a:r>
            </a:p>
          </p:txBody>
        </p:sp>
      </p:grpSp>
      <p:grpSp>
        <p:nvGrpSpPr>
          <p:cNvPr id="82" name="Group 51"/>
          <p:cNvGrpSpPr>
            <a:grpSpLocks/>
          </p:cNvGrpSpPr>
          <p:nvPr/>
        </p:nvGrpSpPr>
        <p:grpSpPr bwMode="auto">
          <a:xfrm>
            <a:off x="2079625" y="2533650"/>
            <a:ext cx="2475707" cy="1250950"/>
            <a:chOff x="1984375" y="2514601"/>
            <a:chExt cx="2475709" cy="1250949"/>
          </a:xfrm>
        </p:grpSpPr>
        <p:sp>
          <p:nvSpPr>
            <p:cNvPr id="110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cxnSp>
          <p:nvCxnSpPr>
            <p:cNvPr id="111" name="AutoShape 7"/>
            <p:cNvCxnSpPr>
              <a:cxnSpLocks noChangeShapeType="1"/>
              <a:stCxn id="77" idx="3"/>
              <a:endCxn id="95" idx="0"/>
            </p:cNvCxnSpPr>
            <p:nvPr/>
          </p:nvCxnSpPr>
          <p:spPr bwMode="auto">
            <a:xfrm flipH="1">
              <a:off x="2171700" y="2514601"/>
              <a:ext cx="2288384" cy="83819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  <p:cxnSp>
        <p:nvCxnSpPr>
          <p:cNvPr id="83" name="AutoShape 9"/>
          <p:cNvCxnSpPr>
            <a:cxnSpLocks noChangeShapeType="1"/>
            <a:stCxn id="110" idx="0"/>
          </p:cNvCxnSpPr>
          <p:nvPr/>
        </p:nvCxnSpPr>
        <p:spPr bwMode="auto">
          <a:xfrm flipH="1">
            <a:off x="1508125" y="3784600"/>
            <a:ext cx="760413" cy="822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84" name="Rectangle 7"/>
          <p:cNvSpPr>
            <a:spLocks noChangeArrowheads="1"/>
          </p:cNvSpPr>
          <p:nvPr/>
        </p:nvSpPr>
        <p:spPr bwMode="auto">
          <a:xfrm>
            <a:off x="1314450" y="4667250"/>
            <a:ext cx="381000" cy="304800"/>
          </a:xfrm>
          <a:prstGeom prst="rect">
            <a:avLst/>
          </a:prstGeom>
          <a:solidFill>
            <a:srgbClr val="E8D1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/>
              <a:t>3</a:t>
            </a:r>
          </a:p>
        </p:txBody>
      </p:sp>
      <p:cxnSp>
        <p:nvCxnSpPr>
          <p:cNvPr id="85" name="AutoShape 21"/>
          <p:cNvCxnSpPr>
            <a:cxnSpLocks noChangeShapeType="1"/>
          </p:cNvCxnSpPr>
          <p:nvPr/>
        </p:nvCxnSpPr>
        <p:spPr bwMode="auto">
          <a:xfrm rot="5400000">
            <a:off x="4399757" y="2685256"/>
            <a:ext cx="304800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6" name="AutoShape 21"/>
          <p:cNvCxnSpPr>
            <a:cxnSpLocks noChangeShapeType="1"/>
          </p:cNvCxnSpPr>
          <p:nvPr/>
        </p:nvCxnSpPr>
        <p:spPr bwMode="auto">
          <a:xfrm rot="5400000">
            <a:off x="2115344" y="3933031"/>
            <a:ext cx="304800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87" name="Group 59"/>
          <p:cNvGrpSpPr>
            <a:grpSpLocks/>
          </p:cNvGrpSpPr>
          <p:nvPr/>
        </p:nvGrpSpPr>
        <p:grpSpPr bwMode="auto">
          <a:xfrm>
            <a:off x="4365625" y="2533651"/>
            <a:ext cx="381000" cy="1235075"/>
            <a:chOff x="4270375" y="2514601"/>
            <a:chExt cx="381000" cy="1235074"/>
          </a:xfrm>
        </p:grpSpPr>
        <p:sp>
          <p:nvSpPr>
            <p:cNvPr id="108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cxnSp>
          <p:nvCxnSpPr>
            <p:cNvPr id="109" name="AutoShape 21"/>
            <p:cNvCxnSpPr>
              <a:cxnSpLocks noChangeShapeType="1"/>
              <a:stCxn id="77" idx="3"/>
              <a:endCxn id="93" idx="0"/>
            </p:cNvCxnSpPr>
            <p:nvPr/>
          </p:nvCxnSpPr>
          <p:spPr bwMode="auto">
            <a:xfrm flipH="1">
              <a:off x="4457700" y="2514601"/>
              <a:ext cx="2382" cy="76199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  <p:grpSp>
        <p:nvGrpSpPr>
          <p:cNvPr id="88" name="Group 58"/>
          <p:cNvGrpSpPr>
            <a:grpSpLocks/>
          </p:cNvGrpSpPr>
          <p:nvPr/>
        </p:nvGrpSpPr>
        <p:grpSpPr bwMode="auto">
          <a:xfrm>
            <a:off x="3600450" y="3781425"/>
            <a:ext cx="954088" cy="1190625"/>
            <a:chOff x="3505200" y="3762375"/>
            <a:chExt cx="954088" cy="1190625"/>
          </a:xfrm>
        </p:grpSpPr>
        <p:cxnSp>
          <p:nvCxnSpPr>
            <p:cNvPr id="105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106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E8D1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/>
                <a:t>2</a:t>
              </a:r>
            </a:p>
          </p:txBody>
        </p:sp>
        <p:cxnSp>
          <p:nvCxnSpPr>
            <p:cNvPr id="107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23" name="Rectangle 122"/>
          <p:cNvSpPr/>
          <p:nvPr/>
        </p:nvSpPr>
        <p:spPr>
          <a:xfrm>
            <a:off x="4514850" y="3886200"/>
            <a:ext cx="1543050" cy="85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98" name="AutoShape 33"/>
          <p:cNvCxnSpPr>
            <a:cxnSpLocks noChangeShapeType="1"/>
          </p:cNvCxnSpPr>
          <p:nvPr/>
        </p:nvCxnSpPr>
        <p:spPr bwMode="auto">
          <a:xfrm flipH="1">
            <a:off x="4542974" y="3784600"/>
            <a:ext cx="11567" cy="84455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sp>
        <p:nvSpPr>
          <p:cNvPr id="95" name="Oval 11"/>
          <p:cNvSpPr>
            <a:spLocks noChangeArrowheads="1"/>
          </p:cNvSpPr>
          <p:nvPr/>
        </p:nvSpPr>
        <p:spPr bwMode="auto">
          <a:xfrm>
            <a:off x="2000250" y="3371850"/>
            <a:ext cx="533400" cy="533400"/>
          </a:xfrm>
          <a:prstGeom prst="ellipse">
            <a:avLst/>
          </a:prstGeom>
          <a:solidFill>
            <a:srgbClr val="B5EDC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cxnSp>
        <p:nvCxnSpPr>
          <p:cNvPr id="96" name="AutoShape 37"/>
          <p:cNvCxnSpPr>
            <a:cxnSpLocks noChangeShapeType="1"/>
          </p:cNvCxnSpPr>
          <p:nvPr/>
        </p:nvCxnSpPr>
        <p:spPr bwMode="auto">
          <a:xfrm>
            <a:off x="4554538" y="3784600"/>
            <a:ext cx="763587" cy="822326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sp>
        <p:nvSpPr>
          <p:cNvPr id="93" name="Oval 11"/>
          <p:cNvSpPr>
            <a:spLocks noChangeArrowheads="1"/>
          </p:cNvSpPr>
          <p:nvPr/>
        </p:nvSpPr>
        <p:spPr bwMode="auto">
          <a:xfrm>
            <a:off x="4286250" y="3295650"/>
            <a:ext cx="533400" cy="533400"/>
          </a:xfrm>
          <a:prstGeom prst="ellipse">
            <a:avLst/>
          </a:prstGeom>
          <a:solidFill>
            <a:srgbClr val="B5EDC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632359-0C83-439E-CD54-4CD6134D5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Accelerarea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algoritmului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ExpectiMax</a:t>
            </a:r>
            <a:r>
              <a:rPr lang="en-US" dirty="0">
                <a:latin typeface="Times New Roman"/>
                <a:cs typeface="Times New Roman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AutoShape 4"/>
          <p:cNvSpPr>
            <a:spLocks noChangeArrowheads="1"/>
          </p:cNvSpPr>
          <p:nvPr/>
        </p:nvSpPr>
        <p:spPr bwMode="auto">
          <a:xfrm>
            <a:off x="4229101" y="2011680"/>
            <a:ext cx="652463" cy="521970"/>
          </a:xfrm>
          <a:prstGeom prst="triangle">
            <a:avLst>
              <a:gd name="adj" fmla="val 50000"/>
            </a:avLst>
          </a:prstGeom>
          <a:solidFill>
            <a:srgbClr val="99C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grpSp>
        <p:nvGrpSpPr>
          <p:cNvPr id="78" name="Group 60"/>
          <p:cNvGrpSpPr>
            <a:grpSpLocks/>
          </p:cNvGrpSpPr>
          <p:nvPr/>
        </p:nvGrpSpPr>
        <p:grpSpPr bwMode="auto">
          <a:xfrm>
            <a:off x="2076450" y="3784600"/>
            <a:ext cx="381000" cy="1187450"/>
            <a:chOff x="1981200" y="3765550"/>
            <a:chExt cx="381000" cy="1187450"/>
          </a:xfrm>
        </p:grpSpPr>
        <p:cxnSp>
          <p:nvCxnSpPr>
            <p:cNvPr id="118" name="AutoShape 13"/>
            <p:cNvCxnSpPr>
              <a:cxnSpLocks noChangeShapeType="1"/>
              <a:stCxn id="110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119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E8D1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/>
                <a:t>12</a:t>
              </a:r>
            </a:p>
          </p:txBody>
        </p:sp>
      </p:grpSp>
      <p:grpSp>
        <p:nvGrpSpPr>
          <p:cNvPr id="79" name="Group 61"/>
          <p:cNvGrpSpPr>
            <a:grpSpLocks/>
          </p:cNvGrpSpPr>
          <p:nvPr/>
        </p:nvGrpSpPr>
        <p:grpSpPr bwMode="auto">
          <a:xfrm>
            <a:off x="2268538" y="3784600"/>
            <a:ext cx="950912" cy="1187450"/>
            <a:chOff x="2173288" y="3765550"/>
            <a:chExt cx="950912" cy="1187450"/>
          </a:xfrm>
        </p:grpSpPr>
        <p:cxnSp>
          <p:nvCxnSpPr>
            <p:cNvPr id="116" name="AutoShape 17"/>
            <p:cNvCxnSpPr>
              <a:cxnSpLocks noChangeShapeType="1"/>
              <a:stCxn id="110" idx="0"/>
            </p:cNvCxnSpPr>
            <p:nvPr/>
          </p:nvCxnSpPr>
          <p:spPr bwMode="auto">
            <a:xfrm>
              <a:off x="2173288" y="3765550"/>
              <a:ext cx="763587" cy="822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117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E8D1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 dirty="0"/>
                <a:t>9</a:t>
              </a:r>
            </a:p>
          </p:txBody>
        </p:sp>
      </p:grpSp>
      <p:grpSp>
        <p:nvGrpSpPr>
          <p:cNvPr id="82" name="Group 51"/>
          <p:cNvGrpSpPr>
            <a:grpSpLocks/>
          </p:cNvGrpSpPr>
          <p:nvPr/>
        </p:nvGrpSpPr>
        <p:grpSpPr bwMode="auto">
          <a:xfrm>
            <a:off x="2079625" y="2533650"/>
            <a:ext cx="2475707" cy="1250950"/>
            <a:chOff x="1984375" y="2514601"/>
            <a:chExt cx="2475709" cy="1250949"/>
          </a:xfrm>
        </p:grpSpPr>
        <p:sp>
          <p:nvSpPr>
            <p:cNvPr id="110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cxnSp>
          <p:nvCxnSpPr>
            <p:cNvPr id="111" name="AutoShape 7"/>
            <p:cNvCxnSpPr>
              <a:cxnSpLocks noChangeShapeType="1"/>
              <a:stCxn id="77" idx="3"/>
              <a:endCxn id="95" idx="0"/>
            </p:cNvCxnSpPr>
            <p:nvPr/>
          </p:nvCxnSpPr>
          <p:spPr bwMode="auto">
            <a:xfrm flipH="1">
              <a:off x="2171700" y="2514601"/>
              <a:ext cx="2288384" cy="83819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  <p:cxnSp>
        <p:nvCxnSpPr>
          <p:cNvPr id="83" name="AutoShape 9"/>
          <p:cNvCxnSpPr>
            <a:cxnSpLocks noChangeShapeType="1"/>
            <a:stCxn id="110" idx="0"/>
          </p:cNvCxnSpPr>
          <p:nvPr/>
        </p:nvCxnSpPr>
        <p:spPr bwMode="auto">
          <a:xfrm flipH="1">
            <a:off x="1508125" y="3784600"/>
            <a:ext cx="760413" cy="822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84" name="Rectangle 7"/>
          <p:cNvSpPr>
            <a:spLocks noChangeArrowheads="1"/>
          </p:cNvSpPr>
          <p:nvPr/>
        </p:nvSpPr>
        <p:spPr bwMode="auto">
          <a:xfrm>
            <a:off x="1314450" y="4667250"/>
            <a:ext cx="381000" cy="304800"/>
          </a:xfrm>
          <a:prstGeom prst="rect">
            <a:avLst/>
          </a:prstGeom>
          <a:solidFill>
            <a:srgbClr val="E8D1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350" dirty="0"/>
              <a:t>3</a:t>
            </a:r>
          </a:p>
        </p:txBody>
      </p:sp>
      <p:cxnSp>
        <p:nvCxnSpPr>
          <p:cNvPr id="85" name="AutoShape 21"/>
          <p:cNvCxnSpPr>
            <a:cxnSpLocks noChangeShapeType="1"/>
          </p:cNvCxnSpPr>
          <p:nvPr/>
        </p:nvCxnSpPr>
        <p:spPr bwMode="auto">
          <a:xfrm rot="5400000">
            <a:off x="4399757" y="2685256"/>
            <a:ext cx="304800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6" name="AutoShape 21"/>
          <p:cNvCxnSpPr>
            <a:cxnSpLocks noChangeShapeType="1"/>
          </p:cNvCxnSpPr>
          <p:nvPr/>
        </p:nvCxnSpPr>
        <p:spPr bwMode="auto">
          <a:xfrm rot="5400000">
            <a:off x="2115344" y="3933031"/>
            <a:ext cx="304800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87" name="Group 59"/>
          <p:cNvGrpSpPr>
            <a:grpSpLocks/>
          </p:cNvGrpSpPr>
          <p:nvPr/>
        </p:nvGrpSpPr>
        <p:grpSpPr bwMode="auto">
          <a:xfrm>
            <a:off x="4365625" y="2533651"/>
            <a:ext cx="381000" cy="1235075"/>
            <a:chOff x="4270375" y="2514601"/>
            <a:chExt cx="381000" cy="1235074"/>
          </a:xfrm>
        </p:grpSpPr>
        <p:sp>
          <p:nvSpPr>
            <p:cNvPr id="108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cxnSp>
          <p:nvCxnSpPr>
            <p:cNvPr id="109" name="AutoShape 21"/>
            <p:cNvCxnSpPr>
              <a:cxnSpLocks noChangeShapeType="1"/>
              <a:stCxn id="77" idx="3"/>
              <a:endCxn id="93" idx="0"/>
            </p:cNvCxnSpPr>
            <p:nvPr/>
          </p:nvCxnSpPr>
          <p:spPr bwMode="auto">
            <a:xfrm flipH="1">
              <a:off x="4457700" y="2514601"/>
              <a:ext cx="2382" cy="76199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  <p:grpSp>
        <p:nvGrpSpPr>
          <p:cNvPr id="88" name="Group 58"/>
          <p:cNvGrpSpPr>
            <a:grpSpLocks/>
          </p:cNvGrpSpPr>
          <p:nvPr/>
        </p:nvGrpSpPr>
        <p:grpSpPr bwMode="auto">
          <a:xfrm>
            <a:off x="3600450" y="3781425"/>
            <a:ext cx="954088" cy="1190625"/>
            <a:chOff x="3505200" y="3762375"/>
            <a:chExt cx="954088" cy="1190625"/>
          </a:xfrm>
        </p:grpSpPr>
        <p:cxnSp>
          <p:nvCxnSpPr>
            <p:cNvPr id="105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106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E8D1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350"/>
                <a:t>2</a:t>
              </a:r>
            </a:p>
          </p:txBody>
        </p:sp>
        <p:cxnSp>
          <p:nvCxnSpPr>
            <p:cNvPr id="107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23" name="Rectangle 122"/>
          <p:cNvSpPr/>
          <p:nvPr/>
        </p:nvSpPr>
        <p:spPr>
          <a:xfrm>
            <a:off x="4514850" y="3886200"/>
            <a:ext cx="1543050" cy="85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98" name="AutoShape 33"/>
          <p:cNvCxnSpPr>
            <a:cxnSpLocks noChangeShapeType="1"/>
          </p:cNvCxnSpPr>
          <p:nvPr/>
        </p:nvCxnSpPr>
        <p:spPr bwMode="auto">
          <a:xfrm flipH="1">
            <a:off x="4542974" y="3784600"/>
            <a:ext cx="11567" cy="84455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sp>
        <p:nvSpPr>
          <p:cNvPr id="95" name="Oval 11"/>
          <p:cNvSpPr>
            <a:spLocks noChangeArrowheads="1"/>
          </p:cNvSpPr>
          <p:nvPr/>
        </p:nvSpPr>
        <p:spPr bwMode="auto">
          <a:xfrm>
            <a:off x="2000250" y="3371850"/>
            <a:ext cx="533400" cy="533400"/>
          </a:xfrm>
          <a:prstGeom prst="ellipse">
            <a:avLst/>
          </a:prstGeom>
          <a:solidFill>
            <a:srgbClr val="B5EDC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cxnSp>
        <p:nvCxnSpPr>
          <p:cNvPr id="96" name="AutoShape 37"/>
          <p:cNvCxnSpPr>
            <a:cxnSpLocks noChangeShapeType="1"/>
          </p:cNvCxnSpPr>
          <p:nvPr/>
        </p:nvCxnSpPr>
        <p:spPr bwMode="auto">
          <a:xfrm>
            <a:off x="4554538" y="3784600"/>
            <a:ext cx="763587" cy="822326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sp>
        <p:nvSpPr>
          <p:cNvPr id="93" name="Oval 11"/>
          <p:cNvSpPr>
            <a:spLocks noChangeArrowheads="1"/>
          </p:cNvSpPr>
          <p:nvPr/>
        </p:nvSpPr>
        <p:spPr bwMode="auto">
          <a:xfrm>
            <a:off x="4286250" y="3295650"/>
            <a:ext cx="533400" cy="533400"/>
          </a:xfrm>
          <a:prstGeom prst="ellipse">
            <a:avLst/>
          </a:prstGeom>
          <a:solidFill>
            <a:srgbClr val="B5EDC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632359-0C83-439E-CD54-4CD6134D5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Accelerarea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algoritmului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ExpectiMax</a:t>
            </a:r>
            <a:r>
              <a:rPr lang="en-US" dirty="0">
                <a:latin typeface="Times New Roman"/>
                <a:cs typeface="Times New Roman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AF0747-4868-FFAB-7FED-5FB4FF232781}"/>
              </a:ext>
            </a:extLst>
          </p:cNvPr>
          <p:cNvSpPr txBox="1"/>
          <p:nvPr/>
        </p:nvSpPr>
        <p:spPr>
          <a:xfrm>
            <a:off x="187816" y="5454649"/>
            <a:ext cx="86411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iferit de algoritmul MiniMax care poate fi accelerat folosind alpha-beta retezare, nu putem accelera algoritmul ExpectiMax întrucât pot exista noduri la dreapta cu o valoarea foarte mare care pot influența utilitatea medie.</a:t>
            </a:r>
          </a:p>
        </p:txBody>
      </p:sp>
    </p:spTree>
    <p:extLst>
      <p:ext uri="{BB962C8B-B14F-4D97-AF65-F5344CB8AC3E}">
        <p14:creationId xmlns:p14="http://schemas.microsoft.com/office/powerpoint/2010/main" val="263681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28900" y="1930004"/>
            <a:ext cx="3871913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jocuri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83548" y="2118521"/>
            <a:ext cx="1824415" cy="2088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293" y="18032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1885950"/>
            <a:ext cx="2914650" cy="3771900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Backgammon (table)</a:t>
            </a:r>
          </a:p>
          <a:p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ExpectiMiniMax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(environment)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 “agent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aleator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după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 Min/Max</a:t>
            </a:r>
          </a:p>
          <a:p>
            <a:pPr lvl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calculează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utilitatea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fiilor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44649" y="1771650"/>
            <a:ext cx="784215" cy="775097"/>
          </a:xfrm>
          <a:prstGeom prst="rect">
            <a:avLst/>
          </a:prstGeom>
          <a:noFill/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58150" y="3340217"/>
            <a:ext cx="696663" cy="774070"/>
          </a:xfrm>
          <a:prstGeom prst="rect">
            <a:avLst/>
          </a:prstGeom>
          <a:noFill/>
        </p:spPr>
      </p:pic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2907" y="2550876"/>
            <a:ext cx="681986" cy="763825"/>
          </a:xfrm>
          <a:prstGeom prst="rect">
            <a:avLst/>
          </a:prstGeom>
          <a:noFill/>
        </p:spPr>
      </p:pic>
      <p:grpSp>
        <p:nvGrpSpPr>
          <p:cNvPr id="60" name="Group 59"/>
          <p:cNvGrpSpPr/>
          <p:nvPr/>
        </p:nvGrpSpPr>
        <p:grpSpPr>
          <a:xfrm>
            <a:off x="5314950" y="2057400"/>
            <a:ext cx="2286000" cy="2514600"/>
            <a:chOff x="7315200" y="1539240"/>
            <a:chExt cx="2133600" cy="2346960"/>
          </a:xfrm>
        </p:grpSpPr>
        <p:sp>
          <p:nvSpPr>
            <p:cNvPr id="15" name="AutoShape 27"/>
            <p:cNvSpPr>
              <a:spLocks noChangeArrowheads="1"/>
            </p:cNvSpPr>
            <p:nvPr/>
          </p:nvSpPr>
          <p:spPr bwMode="auto">
            <a:xfrm>
              <a:off x="8229600" y="1539240"/>
              <a:ext cx="285750" cy="228600"/>
            </a:xfrm>
            <a:prstGeom prst="triangle">
              <a:avLst>
                <a:gd name="adj" fmla="val 50000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cxnSp>
          <p:nvCxnSpPr>
            <p:cNvPr id="16" name="AutoShape 28"/>
            <p:cNvCxnSpPr>
              <a:cxnSpLocks noChangeShapeType="1"/>
              <a:stCxn id="15" idx="3"/>
              <a:endCxn id="22" idx="0"/>
            </p:cNvCxnSpPr>
            <p:nvPr/>
          </p:nvCxnSpPr>
          <p:spPr bwMode="auto">
            <a:xfrm flipH="1">
              <a:off x="7720807" y="1767840"/>
              <a:ext cx="651669" cy="51974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" name="AutoShape 29"/>
            <p:cNvCxnSpPr>
              <a:cxnSpLocks noChangeShapeType="1"/>
              <a:stCxn id="15" idx="3"/>
              <a:endCxn id="23" idx="0"/>
            </p:cNvCxnSpPr>
            <p:nvPr/>
          </p:nvCxnSpPr>
          <p:spPr bwMode="auto">
            <a:xfrm>
              <a:off x="8372475" y="1767840"/>
              <a:ext cx="646112" cy="51974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8" name="AutoShape 30"/>
            <p:cNvCxnSpPr>
              <a:cxnSpLocks noChangeShapeType="1"/>
              <a:stCxn id="22" idx="4"/>
              <a:endCxn id="30" idx="3"/>
            </p:cNvCxnSpPr>
            <p:nvPr/>
          </p:nvCxnSpPr>
          <p:spPr bwMode="auto">
            <a:xfrm flipH="1">
              <a:off x="7458075" y="2573338"/>
              <a:ext cx="262731" cy="5508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9" name="AutoShape 31"/>
            <p:cNvCxnSpPr>
              <a:cxnSpLocks noChangeShapeType="1"/>
              <a:stCxn id="22" idx="4"/>
              <a:endCxn id="31" idx="3"/>
            </p:cNvCxnSpPr>
            <p:nvPr/>
          </p:nvCxnSpPr>
          <p:spPr bwMode="auto">
            <a:xfrm>
              <a:off x="7720806" y="2573338"/>
              <a:ext cx="289719" cy="5508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" name="AutoShape 32"/>
            <p:cNvCxnSpPr>
              <a:cxnSpLocks noChangeShapeType="1"/>
              <a:stCxn id="23" idx="4"/>
              <a:endCxn id="32" idx="3"/>
            </p:cNvCxnSpPr>
            <p:nvPr/>
          </p:nvCxnSpPr>
          <p:spPr bwMode="auto">
            <a:xfrm flipH="1">
              <a:off x="8753475" y="2573338"/>
              <a:ext cx="265112" cy="5508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1" name="AutoShape 33"/>
            <p:cNvCxnSpPr>
              <a:cxnSpLocks noChangeShapeType="1"/>
              <a:stCxn id="23" idx="4"/>
              <a:endCxn id="33" idx="3"/>
            </p:cNvCxnSpPr>
            <p:nvPr/>
          </p:nvCxnSpPr>
          <p:spPr bwMode="auto">
            <a:xfrm>
              <a:off x="9018587" y="2573338"/>
              <a:ext cx="287338" cy="5508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" name="Oval 34"/>
            <p:cNvSpPr>
              <a:spLocks noChangeArrowheads="1"/>
            </p:cNvSpPr>
            <p:nvPr/>
          </p:nvSpPr>
          <p:spPr bwMode="auto">
            <a:xfrm>
              <a:off x="7577137" y="2287588"/>
              <a:ext cx="287338" cy="285750"/>
            </a:xfrm>
            <a:prstGeom prst="ellipse">
              <a:avLst/>
            </a:prstGeom>
            <a:solidFill>
              <a:srgbClr val="B5EDC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23" name="Oval 35"/>
            <p:cNvSpPr>
              <a:spLocks noChangeArrowheads="1"/>
            </p:cNvSpPr>
            <p:nvPr/>
          </p:nvSpPr>
          <p:spPr bwMode="auto">
            <a:xfrm>
              <a:off x="8875712" y="2287588"/>
              <a:ext cx="285750" cy="285750"/>
            </a:xfrm>
            <a:prstGeom prst="ellipse">
              <a:avLst/>
            </a:prstGeom>
            <a:solidFill>
              <a:srgbClr val="B5EDC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0" name="AutoShape 27"/>
            <p:cNvSpPr>
              <a:spLocks noChangeArrowheads="1"/>
            </p:cNvSpPr>
            <p:nvPr/>
          </p:nvSpPr>
          <p:spPr bwMode="auto">
            <a:xfrm rot="10800000">
              <a:off x="7315200" y="3124200"/>
              <a:ext cx="285750" cy="228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1" name="AutoShape 27"/>
            <p:cNvSpPr>
              <a:spLocks noChangeArrowheads="1"/>
            </p:cNvSpPr>
            <p:nvPr/>
          </p:nvSpPr>
          <p:spPr bwMode="auto">
            <a:xfrm rot="10800000">
              <a:off x="7867650" y="3124200"/>
              <a:ext cx="285750" cy="228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2" name="AutoShape 27"/>
            <p:cNvSpPr>
              <a:spLocks noChangeArrowheads="1"/>
            </p:cNvSpPr>
            <p:nvPr/>
          </p:nvSpPr>
          <p:spPr bwMode="auto">
            <a:xfrm rot="10800000">
              <a:off x="8610600" y="3124200"/>
              <a:ext cx="285750" cy="228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3" name="AutoShape 27"/>
            <p:cNvSpPr>
              <a:spLocks noChangeArrowheads="1"/>
            </p:cNvSpPr>
            <p:nvPr/>
          </p:nvSpPr>
          <p:spPr bwMode="auto">
            <a:xfrm rot="10800000">
              <a:off x="9163050" y="3124200"/>
              <a:ext cx="285750" cy="228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cxnSp>
          <p:nvCxnSpPr>
            <p:cNvPr id="42" name="AutoShape 32"/>
            <p:cNvCxnSpPr>
              <a:cxnSpLocks noChangeShapeType="1"/>
              <a:stCxn id="30" idx="0"/>
            </p:cNvCxnSpPr>
            <p:nvPr/>
          </p:nvCxnSpPr>
          <p:spPr bwMode="auto">
            <a:xfrm flipH="1">
              <a:off x="7315200" y="3352800"/>
              <a:ext cx="142875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" name="AutoShape 33"/>
            <p:cNvCxnSpPr>
              <a:cxnSpLocks noChangeShapeType="1"/>
              <a:stCxn id="30" idx="0"/>
            </p:cNvCxnSpPr>
            <p:nvPr/>
          </p:nvCxnSpPr>
          <p:spPr bwMode="auto">
            <a:xfrm>
              <a:off x="7458075" y="3352800"/>
              <a:ext cx="161925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8" name="AutoShape 32"/>
            <p:cNvCxnSpPr>
              <a:cxnSpLocks noChangeShapeType="1"/>
              <a:stCxn id="31" idx="0"/>
            </p:cNvCxnSpPr>
            <p:nvPr/>
          </p:nvCxnSpPr>
          <p:spPr bwMode="auto">
            <a:xfrm flipH="1">
              <a:off x="7848601" y="3352800"/>
              <a:ext cx="161924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9" name="AutoShape 33"/>
            <p:cNvCxnSpPr>
              <a:cxnSpLocks noChangeShapeType="1"/>
              <a:stCxn id="31" idx="0"/>
            </p:cNvCxnSpPr>
            <p:nvPr/>
          </p:nvCxnSpPr>
          <p:spPr bwMode="auto">
            <a:xfrm>
              <a:off x="8010525" y="3352800"/>
              <a:ext cx="142875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2" name="AutoShape 32"/>
            <p:cNvCxnSpPr>
              <a:cxnSpLocks noChangeShapeType="1"/>
              <a:stCxn id="32" idx="0"/>
            </p:cNvCxnSpPr>
            <p:nvPr/>
          </p:nvCxnSpPr>
          <p:spPr bwMode="auto">
            <a:xfrm flipH="1">
              <a:off x="8610601" y="3352800"/>
              <a:ext cx="142874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3" name="AutoShape 33"/>
            <p:cNvCxnSpPr>
              <a:cxnSpLocks noChangeShapeType="1"/>
              <a:stCxn id="32" idx="0"/>
            </p:cNvCxnSpPr>
            <p:nvPr/>
          </p:nvCxnSpPr>
          <p:spPr bwMode="auto">
            <a:xfrm>
              <a:off x="8753475" y="3352800"/>
              <a:ext cx="161925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6" name="AutoShape 32"/>
            <p:cNvCxnSpPr>
              <a:cxnSpLocks noChangeShapeType="1"/>
              <a:stCxn id="33" idx="0"/>
            </p:cNvCxnSpPr>
            <p:nvPr/>
          </p:nvCxnSpPr>
          <p:spPr bwMode="auto">
            <a:xfrm flipH="1">
              <a:off x="9144000" y="3352800"/>
              <a:ext cx="161925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7" name="AutoShape 33"/>
            <p:cNvCxnSpPr>
              <a:cxnSpLocks noChangeShapeType="1"/>
              <a:stCxn id="33" idx="0"/>
            </p:cNvCxnSpPr>
            <p:nvPr/>
          </p:nvCxnSpPr>
          <p:spPr bwMode="auto">
            <a:xfrm>
              <a:off x="9305925" y="3352800"/>
              <a:ext cx="142874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692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Backgammon (table)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42899" y="1277957"/>
            <a:ext cx="6829081" cy="5431315"/>
          </a:xfrm>
        </p:spPr>
        <p:txBody>
          <a:bodyPr>
            <a:normAutofit/>
          </a:bodyPr>
          <a:lstStyle/>
          <a:p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Aruncările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zarul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cresc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factorul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ramificare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21 de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posibilități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2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zaruri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(1-1, 1-2, …, 6-6)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Backgammon/Table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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mutări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total de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ramificare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 ≈ 21×20 ≈ 400</a:t>
            </a:r>
          </a:p>
          <a:p>
            <a:pPr lvl="1"/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mutări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(21×20)</a:t>
            </a:r>
            <a:r>
              <a:rPr lang="en-US" sz="15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/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măsură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adîncimea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crește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probabilitatea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ajunge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 se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micșorează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utilitatea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căutări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diminuează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limitată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pare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așa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rea</a:t>
            </a:r>
          </a:p>
          <a:p>
            <a:pPr lvl="1"/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accelerarea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asemenea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abordări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greu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realizat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practică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(TD-Gammon)</a:t>
            </a:r>
          </a:p>
          <a:p>
            <a:pPr lvl="1"/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superficială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mică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puternică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</a:p>
          <a:p>
            <a:pPr lvl="1"/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performanță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campion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mondial</a:t>
            </a:r>
            <a:endParaRPr lang="en-US" sz="1500" dirty="0">
              <a:solidFill>
                <a:srgbClr val="FF0000"/>
              </a:solidFill>
            </a:endParaRPr>
          </a:p>
        </p:txBody>
      </p:sp>
      <p:pic>
        <p:nvPicPr>
          <p:cNvPr id="9218" name="Picture 2" descr="http://upload.wikimedia.org/wikipedia/commons/3/30/Backgammon_l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84040" y="4434289"/>
            <a:ext cx="3171825" cy="2114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5732" y="4678033"/>
            <a:ext cx="2743200" cy="17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2834" y="1028700"/>
            <a:ext cx="2591166" cy="153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Utilități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multi-agent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85951"/>
            <a:ext cx="4304834" cy="3394472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jucători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2" algn="just">
              <a:lnSpc>
                <a:spcPct val="8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Generalizare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80000"/>
              </a:lnSpc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utilitatea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exprimată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tuplu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nodurilor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 sunt de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asemenea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tupluri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utilitate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jucător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maximizează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utilitatea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proprie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apărea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anumită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cooperare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competiție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jucători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3808142" y="2559844"/>
            <a:ext cx="5200650" cy="2830129"/>
            <a:chOff x="3200400" y="2057400"/>
            <a:chExt cx="5638800" cy="3068564"/>
          </a:xfrm>
        </p:grpSpPr>
        <p:sp>
          <p:nvSpPr>
            <p:cNvPr id="18436" name="Text Box 25"/>
            <p:cNvSpPr txBox="1">
              <a:spLocks noChangeArrowheads="1"/>
            </p:cNvSpPr>
            <p:nvPr/>
          </p:nvSpPr>
          <p:spPr bwMode="auto">
            <a:xfrm>
              <a:off x="32004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1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6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18437" name="Text Box 26"/>
            <p:cNvSpPr txBox="1">
              <a:spLocks noChangeArrowheads="1"/>
            </p:cNvSpPr>
            <p:nvPr/>
          </p:nvSpPr>
          <p:spPr bwMode="auto">
            <a:xfrm>
              <a:off x="3886199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7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1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8438" name="Text Box 27"/>
            <p:cNvSpPr txBox="1">
              <a:spLocks noChangeArrowheads="1"/>
            </p:cNvSpPr>
            <p:nvPr/>
          </p:nvSpPr>
          <p:spPr bwMode="auto">
            <a:xfrm>
              <a:off x="46482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 dirty="0">
                  <a:solidFill>
                    <a:srgbClr val="CC0000"/>
                  </a:solidFill>
                  <a:latin typeface="Calibri"/>
                  <a:cs typeface="Calibri"/>
                </a:rPr>
                <a:t>6</a:t>
              </a:r>
              <a:r>
                <a:rPr lang="en-US" sz="1350" dirty="0">
                  <a:latin typeface="Calibri"/>
                  <a:cs typeface="Calibri"/>
                </a:rPr>
                <a:t>,</a:t>
              </a:r>
              <a:r>
                <a:rPr lang="en-US" sz="1350" dirty="0">
                  <a:solidFill>
                    <a:srgbClr val="3333FF"/>
                  </a:solidFill>
                  <a:latin typeface="Calibri"/>
                  <a:cs typeface="Calibri"/>
                </a:rPr>
                <a:t>1</a:t>
              </a:r>
              <a:r>
                <a:rPr lang="en-US" sz="1350" dirty="0">
                  <a:latin typeface="Calibri"/>
                  <a:cs typeface="Calibri"/>
                </a:rPr>
                <a:t>,</a:t>
              </a:r>
              <a:r>
                <a:rPr lang="en-US" sz="1350" dirty="0">
                  <a:solidFill>
                    <a:srgbClr val="008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8439" name="Text Box 28"/>
            <p:cNvSpPr txBox="1">
              <a:spLocks noChangeArrowheads="1"/>
            </p:cNvSpPr>
            <p:nvPr/>
          </p:nvSpPr>
          <p:spPr bwMode="auto">
            <a:xfrm>
              <a:off x="5334001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7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2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8440" name="Text Box 29"/>
            <p:cNvSpPr txBox="1">
              <a:spLocks noChangeArrowheads="1"/>
            </p:cNvSpPr>
            <p:nvPr/>
          </p:nvSpPr>
          <p:spPr bwMode="auto">
            <a:xfrm>
              <a:off x="60960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5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1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7</a:t>
              </a:r>
            </a:p>
          </p:txBody>
        </p:sp>
        <p:sp>
          <p:nvSpPr>
            <p:cNvPr id="18441" name="Text Box 30"/>
            <p:cNvSpPr txBox="1">
              <a:spLocks noChangeArrowheads="1"/>
            </p:cNvSpPr>
            <p:nvPr/>
          </p:nvSpPr>
          <p:spPr bwMode="auto">
            <a:xfrm>
              <a:off x="67818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1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5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8442" name="Text Box 31"/>
            <p:cNvSpPr txBox="1">
              <a:spLocks noChangeArrowheads="1"/>
            </p:cNvSpPr>
            <p:nvPr/>
          </p:nvSpPr>
          <p:spPr bwMode="auto">
            <a:xfrm>
              <a:off x="75438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7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7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8443" name="Text Box 32"/>
            <p:cNvSpPr txBox="1">
              <a:spLocks noChangeArrowheads="1"/>
            </p:cNvSpPr>
            <p:nvPr/>
          </p:nvSpPr>
          <p:spPr bwMode="auto">
            <a:xfrm>
              <a:off x="82296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5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2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5</a:t>
              </a:r>
            </a:p>
          </p:txBody>
        </p:sp>
        <p:cxnSp>
          <p:nvCxnSpPr>
            <p:cNvPr id="18445" name="AutoShape 11"/>
            <p:cNvCxnSpPr>
              <a:cxnSpLocks noChangeShapeType="1"/>
            </p:cNvCxnSpPr>
            <p:nvPr/>
          </p:nvCxnSpPr>
          <p:spPr bwMode="auto">
            <a:xfrm flipH="1">
              <a:off x="4686300" y="2362200"/>
              <a:ext cx="1295400" cy="4572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6" name="AutoShape 12"/>
            <p:cNvCxnSpPr>
              <a:cxnSpLocks noChangeShapeType="1"/>
            </p:cNvCxnSpPr>
            <p:nvPr/>
          </p:nvCxnSpPr>
          <p:spPr bwMode="auto">
            <a:xfrm>
              <a:off x="5981700" y="2362200"/>
              <a:ext cx="1447800" cy="4572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7" name="AutoShape 13"/>
            <p:cNvCxnSpPr>
              <a:cxnSpLocks noChangeShapeType="1"/>
            </p:cNvCxnSpPr>
            <p:nvPr/>
          </p:nvCxnSpPr>
          <p:spPr bwMode="auto">
            <a:xfrm flipH="1">
              <a:off x="4000500" y="3124200"/>
              <a:ext cx="6858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8" name="AutoShape 14"/>
            <p:cNvCxnSpPr>
              <a:cxnSpLocks noChangeShapeType="1"/>
            </p:cNvCxnSpPr>
            <p:nvPr/>
          </p:nvCxnSpPr>
          <p:spPr bwMode="auto">
            <a:xfrm>
              <a:off x="46863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9" name="AutoShape 15"/>
            <p:cNvCxnSpPr>
              <a:cxnSpLocks noChangeShapeType="1"/>
            </p:cNvCxnSpPr>
            <p:nvPr/>
          </p:nvCxnSpPr>
          <p:spPr bwMode="auto">
            <a:xfrm flipH="1">
              <a:off x="68199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0" name="AutoShape 16"/>
            <p:cNvCxnSpPr>
              <a:cxnSpLocks noChangeShapeType="1"/>
            </p:cNvCxnSpPr>
            <p:nvPr/>
          </p:nvCxnSpPr>
          <p:spPr bwMode="auto">
            <a:xfrm>
              <a:off x="74295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1" name="AutoShape 17"/>
            <p:cNvCxnSpPr>
              <a:cxnSpLocks noChangeShapeType="1"/>
            </p:cNvCxnSpPr>
            <p:nvPr/>
          </p:nvCxnSpPr>
          <p:spPr bwMode="auto">
            <a:xfrm flipH="1">
              <a:off x="37338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2" name="AutoShape 18"/>
            <p:cNvCxnSpPr>
              <a:cxnSpLocks noChangeShapeType="1"/>
            </p:cNvCxnSpPr>
            <p:nvPr/>
          </p:nvCxnSpPr>
          <p:spPr bwMode="auto">
            <a:xfrm>
              <a:off x="4000500" y="4038600"/>
              <a:ext cx="1905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3" name="AutoShape 19"/>
            <p:cNvCxnSpPr>
              <a:cxnSpLocks noChangeShapeType="1"/>
            </p:cNvCxnSpPr>
            <p:nvPr/>
          </p:nvCxnSpPr>
          <p:spPr bwMode="auto">
            <a:xfrm flipH="1">
              <a:off x="50292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4" name="AutoShape 20"/>
            <p:cNvCxnSpPr>
              <a:cxnSpLocks noChangeShapeType="1"/>
            </p:cNvCxnSpPr>
            <p:nvPr/>
          </p:nvCxnSpPr>
          <p:spPr bwMode="auto">
            <a:xfrm>
              <a:off x="52959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5" name="AutoShape 21"/>
            <p:cNvCxnSpPr>
              <a:cxnSpLocks noChangeShapeType="1"/>
            </p:cNvCxnSpPr>
            <p:nvPr/>
          </p:nvCxnSpPr>
          <p:spPr bwMode="auto">
            <a:xfrm flipH="1">
              <a:off x="65532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6" name="AutoShape 22"/>
            <p:cNvCxnSpPr>
              <a:cxnSpLocks noChangeShapeType="1"/>
            </p:cNvCxnSpPr>
            <p:nvPr/>
          </p:nvCxnSpPr>
          <p:spPr bwMode="auto">
            <a:xfrm>
              <a:off x="6819900" y="4038600"/>
              <a:ext cx="1905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7" name="AutoShape 23"/>
            <p:cNvCxnSpPr>
              <a:cxnSpLocks noChangeShapeType="1"/>
            </p:cNvCxnSpPr>
            <p:nvPr/>
          </p:nvCxnSpPr>
          <p:spPr bwMode="auto">
            <a:xfrm flipH="1">
              <a:off x="77724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8" name="AutoShape 24"/>
            <p:cNvCxnSpPr>
              <a:cxnSpLocks noChangeShapeType="1"/>
            </p:cNvCxnSpPr>
            <p:nvPr/>
          </p:nvCxnSpPr>
          <p:spPr bwMode="auto">
            <a:xfrm>
              <a:off x="80391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18459" name="AutoShape 27"/>
            <p:cNvSpPr>
              <a:spLocks noChangeArrowheads="1"/>
            </p:cNvSpPr>
            <p:nvPr/>
          </p:nvSpPr>
          <p:spPr bwMode="auto">
            <a:xfrm>
              <a:off x="5762625" y="2057400"/>
              <a:ext cx="436563" cy="304800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0" name="AutoShape 27"/>
            <p:cNvSpPr>
              <a:spLocks noChangeArrowheads="1"/>
            </p:cNvSpPr>
            <p:nvPr/>
          </p:nvSpPr>
          <p:spPr bwMode="auto">
            <a:xfrm>
              <a:off x="4481513" y="28194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3333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1" name="AutoShape 27"/>
            <p:cNvSpPr>
              <a:spLocks noChangeArrowheads="1"/>
            </p:cNvSpPr>
            <p:nvPr/>
          </p:nvSpPr>
          <p:spPr bwMode="auto">
            <a:xfrm>
              <a:off x="7799388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2" name="AutoShape 27"/>
            <p:cNvSpPr>
              <a:spLocks noChangeArrowheads="1"/>
            </p:cNvSpPr>
            <p:nvPr/>
          </p:nvSpPr>
          <p:spPr bwMode="auto">
            <a:xfrm>
              <a:off x="7210425" y="2819400"/>
              <a:ext cx="436563" cy="304800"/>
            </a:xfrm>
            <a:prstGeom prst="triangle">
              <a:avLst>
                <a:gd name="adj" fmla="val 50000"/>
              </a:avLst>
            </a:prstGeom>
            <a:solidFill>
              <a:srgbClr val="3333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3" name="AutoShape 27"/>
            <p:cNvSpPr>
              <a:spLocks noChangeArrowheads="1"/>
            </p:cNvSpPr>
            <p:nvPr/>
          </p:nvSpPr>
          <p:spPr bwMode="auto">
            <a:xfrm>
              <a:off x="66024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4" name="AutoShape 27"/>
            <p:cNvSpPr>
              <a:spLocks noChangeArrowheads="1"/>
            </p:cNvSpPr>
            <p:nvPr/>
          </p:nvSpPr>
          <p:spPr bwMode="auto">
            <a:xfrm>
              <a:off x="50911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5" name="AutoShape 27"/>
            <p:cNvSpPr>
              <a:spLocks noChangeArrowheads="1"/>
            </p:cNvSpPr>
            <p:nvPr/>
          </p:nvSpPr>
          <p:spPr bwMode="auto">
            <a:xfrm>
              <a:off x="37957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5732" y="4678033"/>
            <a:ext cx="2743200" cy="175729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2834" y="1028700"/>
            <a:ext cx="2591166" cy="153114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Utilități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multi-agent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85951"/>
            <a:ext cx="4304834" cy="3394472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jucători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2" algn="just">
              <a:lnSpc>
                <a:spcPct val="8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Generalizare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80000"/>
              </a:lnSpc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utilitatea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exprimată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tuplu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nodurilor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 sunt de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asemenea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tupluri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utilitate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jucător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maximizează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utilitatea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proprie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apărea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anumită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cooperare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competiție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jucători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3808142" y="2559844"/>
            <a:ext cx="5200650" cy="2830129"/>
            <a:chOff x="3200400" y="2057400"/>
            <a:chExt cx="5638800" cy="3068564"/>
          </a:xfrm>
        </p:grpSpPr>
        <p:sp>
          <p:nvSpPr>
            <p:cNvPr id="18436" name="Text Box 25"/>
            <p:cNvSpPr txBox="1">
              <a:spLocks noChangeArrowheads="1"/>
            </p:cNvSpPr>
            <p:nvPr/>
          </p:nvSpPr>
          <p:spPr bwMode="auto">
            <a:xfrm>
              <a:off x="32004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1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6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18437" name="Text Box 26"/>
            <p:cNvSpPr txBox="1">
              <a:spLocks noChangeArrowheads="1"/>
            </p:cNvSpPr>
            <p:nvPr/>
          </p:nvSpPr>
          <p:spPr bwMode="auto">
            <a:xfrm>
              <a:off x="3886199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7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1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8438" name="Text Box 27"/>
            <p:cNvSpPr txBox="1">
              <a:spLocks noChangeArrowheads="1"/>
            </p:cNvSpPr>
            <p:nvPr/>
          </p:nvSpPr>
          <p:spPr bwMode="auto">
            <a:xfrm>
              <a:off x="46482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 dirty="0">
                  <a:solidFill>
                    <a:srgbClr val="CC0000"/>
                  </a:solidFill>
                  <a:latin typeface="Calibri"/>
                  <a:cs typeface="Calibri"/>
                </a:rPr>
                <a:t>6</a:t>
              </a:r>
              <a:r>
                <a:rPr lang="en-US" sz="1350" dirty="0">
                  <a:latin typeface="Calibri"/>
                  <a:cs typeface="Calibri"/>
                </a:rPr>
                <a:t>,</a:t>
              </a:r>
              <a:r>
                <a:rPr lang="en-US" sz="1350" dirty="0">
                  <a:solidFill>
                    <a:srgbClr val="3333FF"/>
                  </a:solidFill>
                  <a:latin typeface="Calibri"/>
                  <a:cs typeface="Calibri"/>
                </a:rPr>
                <a:t>1</a:t>
              </a:r>
              <a:r>
                <a:rPr lang="en-US" sz="1350" dirty="0">
                  <a:latin typeface="Calibri"/>
                  <a:cs typeface="Calibri"/>
                </a:rPr>
                <a:t>,</a:t>
              </a:r>
              <a:r>
                <a:rPr lang="en-US" sz="1350" dirty="0">
                  <a:solidFill>
                    <a:srgbClr val="008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8439" name="Text Box 28"/>
            <p:cNvSpPr txBox="1">
              <a:spLocks noChangeArrowheads="1"/>
            </p:cNvSpPr>
            <p:nvPr/>
          </p:nvSpPr>
          <p:spPr bwMode="auto">
            <a:xfrm>
              <a:off x="5334001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7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2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8440" name="Text Box 29"/>
            <p:cNvSpPr txBox="1">
              <a:spLocks noChangeArrowheads="1"/>
            </p:cNvSpPr>
            <p:nvPr/>
          </p:nvSpPr>
          <p:spPr bwMode="auto">
            <a:xfrm>
              <a:off x="60960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5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1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7</a:t>
              </a:r>
            </a:p>
          </p:txBody>
        </p:sp>
        <p:sp>
          <p:nvSpPr>
            <p:cNvPr id="18441" name="Text Box 30"/>
            <p:cNvSpPr txBox="1">
              <a:spLocks noChangeArrowheads="1"/>
            </p:cNvSpPr>
            <p:nvPr/>
          </p:nvSpPr>
          <p:spPr bwMode="auto">
            <a:xfrm>
              <a:off x="67818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1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5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8442" name="Text Box 31"/>
            <p:cNvSpPr txBox="1">
              <a:spLocks noChangeArrowheads="1"/>
            </p:cNvSpPr>
            <p:nvPr/>
          </p:nvSpPr>
          <p:spPr bwMode="auto">
            <a:xfrm>
              <a:off x="75438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7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7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8443" name="Text Box 32"/>
            <p:cNvSpPr txBox="1">
              <a:spLocks noChangeArrowheads="1"/>
            </p:cNvSpPr>
            <p:nvPr/>
          </p:nvSpPr>
          <p:spPr bwMode="auto">
            <a:xfrm>
              <a:off x="8229600" y="4800600"/>
              <a:ext cx="609600" cy="3253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350">
                  <a:solidFill>
                    <a:srgbClr val="CC0000"/>
                  </a:solidFill>
                  <a:latin typeface="Calibri"/>
                  <a:cs typeface="Calibri"/>
                </a:rPr>
                <a:t>5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3333FF"/>
                  </a:solidFill>
                  <a:latin typeface="Calibri"/>
                  <a:cs typeface="Calibri"/>
                </a:rPr>
                <a:t>2</a:t>
              </a:r>
              <a:r>
                <a:rPr lang="en-US" sz="1350">
                  <a:latin typeface="Calibri"/>
                  <a:cs typeface="Calibri"/>
                </a:rPr>
                <a:t>,</a:t>
              </a:r>
              <a:r>
                <a:rPr lang="en-US" sz="1350">
                  <a:solidFill>
                    <a:srgbClr val="008000"/>
                  </a:solidFill>
                  <a:latin typeface="Calibri"/>
                  <a:cs typeface="Calibri"/>
                </a:rPr>
                <a:t>5</a:t>
              </a:r>
            </a:p>
          </p:txBody>
        </p:sp>
        <p:cxnSp>
          <p:nvCxnSpPr>
            <p:cNvPr id="18445" name="AutoShape 11"/>
            <p:cNvCxnSpPr>
              <a:cxnSpLocks noChangeShapeType="1"/>
            </p:cNvCxnSpPr>
            <p:nvPr/>
          </p:nvCxnSpPr>
          <p:spPr bwMode="auto">
            <a:xfrm flipH="1">
              <a:off x="4686300" y="2362200"/>
              <a:ext cx="1295400" cy="4572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6" name="AutoShape 12"/>
            <p:cNvCxnSpPr>
              <a:cxnSpLocks noChangeShapeType="1"/>
            </p:cNvCxnSpPr>
            <p:nvPr/>
          </p:nvCxnSpPr>
          <p:spPr bwMode="auto">
            <a:xfrm>
              <a:off x="5981700" y="2362200"/>
              <a:ext cx="1447800" cy="4572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7" name="AutoShape 13"/>
            <p:cNvCxnSpPr>
              <a:cxnSpLocks noChangeShapeType="1"/>
            </p:cNvCxnSpPr>
            <p:nvPr/>
          </p:nvCxnSpPr>
          <p:spPr bwMode="auto">
            <a:xfrm flipH="1">
              <a:off x="4000500" y="3124200"/>
              <a:ext cx="6858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8" name="AutoShape 14"/>
            <p:cNvCxnSpPr>
              <a:cxnSpLocks noChangeShapeType="1"/>
            </p:cNvCxnSpPr>
            <p:nvPr/>
          </p:nvCxnSpPr>
          <p:spPr bwMode="auto">
            <a:xfrm>
              <a:off x="46863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9" name="AutoShape 15"/>
            <p:cNvCxnSpPr>
              <a:cxnSpLocks noChangeShapeType="1"/>
            </p:cNvCxnSpPr>
            <p:nvPr/>
          </p:nvCxnSpPr>
          <p:spPr bwMode="auto">
            <a:xfrm flipH="1">
              <a:off x="68199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0" name="AutoShape 16"/>
            <p:cNvCxnSpPr>
              <a:cxnSpLocks noChangeShapeType="1"/>
            </p:cNvCxnSpPr>
            <p:nvPr/>
          </p:nvCxnSpPr>
          <p:spPr bwMode="auto">
            <a:xfrm>
              <a:off x="74295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1" name="AutoShape 17"/>
            <p:cNvCxnSpPr>
              <a:cxnSpLocks noChangeShapeType="1"/>
            </p:cNvCxnSpPr>
            <p:nvPr/>
          </p:nvCxnSpPr>
          <p:spPr bwMode="auto">
            <a:xfrm flipH="1">
              <a:off x="37338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2" name="AutoShape 18"/>
            <p:cNvCxnSpPr>
              <a:cxnSpLocks noChangeShapeType="1"/>
            </p:cNvCxnSpPr>
            <p:nvPr/>
          </p:nvCxnSpPr>
          <p:spPr bwMode="auto">
            <a:xfrm>
              <a:off x="4000500" y="4038600"/>
              <a:ext cx="1905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3" name="AutoShape 19"/>
            <p:cNvCxnSpPr>
              <a:cxnSpLocks noChangeShapeType="1"/>
            </p:cNvCxnSpPr>
            <p:nvPr/>
          </p:nvCxnSpPr>
          <p:spPr bwMode="auto">
            <a:xfrm flipH="1">
              <a:off x="50292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4" name="AutoShape 20"/>
            <p:cNvCxnSpPr>
              <a:cxnSpLocks noChangeShapeType="1"/>
            </p:cNvCxnSpPr>
            <p:nvPr/>
          </p:nvCxnSpPr>
          <p:spPr bwMode="auto">
            <a:xfrm>
              <a:off x="52959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5" name="AutoShape 21"/>
            <p:cNvCxnSpPr>
              <a:cxnSpLocks noChangeShapeType="1"/>
            </p:cNvCxnSpPr>
            <p:nvPr/>
          </p:nvCxnSpPr>
          <p:spPr bwMode="auto">
            <a:xfrm flipH="1">
              <a:off x="65532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6" name="AutoShape 22"/>
            <p:cNvCxnSpPr>
              <a:cxnSpLocks noChangeShapeType="1"/>
            </p:cNvCxnSpPr>
            <p:nvPr/>
          </p:nvCxnSpPr>
          <p:spPr bwMode="auto">
            <a:xfrm>
              <a:off x="6819900" y="4038600"/>
              <a:ext cx="1905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7" name="AutoShape 23"/>
            <p:cNvCxnSpPr>
              <a:cxnSpLocks noChangeShapeType="1"/>
            </p:cNvCxnSpPr>
            <p:nvPr/>
          </p:nvCxnSpPr>
          <p:spPr bwMode="auto">
            <a:xfrm flipH="1">
              <a:off x="77724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8" name="AutoShape 24"/>
            <p:cNvCxnSpPr>
              <a:cxnSpLocks noChangeShapeType="1"/>
            </p:cNvCxnSpPr>
            <p:nvPr/>
          </p:nvCxnSpPr>
          <p:spPr bwMode="auto">
            <a:xfrm>
              <a:off x="80391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18459" name="AutoShape 27"/>
            <p:cNvSpPr>
              <a:spLocks noChangeArrowheads="1"/>
            </p:cNvSpPr>
            <p:nvPr/>
          </p:nvSpPr>
          <p:spPr bwMode="auto">
            <a:xfrm>
              <a:off x="5762625" y="2057400"/>
              <a:ext cx="436563" cy="304800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0" name="AutoShape 27"/>
            <p:cNvSpPr>
              <a:spLocks noChangeArrowheads="1"/>
            </p:cNvSpPr>
            <p:nvPr/>
          </p:nvSpPr>
          <p:spPr bwMode="auto">
            <a:xfrm>
              <a:off x="4481513" y="28194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3333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1" name="AutoShape 27"/>
            <p:cNvSpPr>
              <a:spLocks noChangeArrowheads="1"/>
            </p:cNvSpPr>
            <p:nvPr/>
          </p:nvSpPr>
          <p:spPr bwMode="auto">
            <a:xfrm>
              <a:off x="7799388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2" name="AutoShape 27"/>
            <p:cNvSpPr>
              <a:spLocks noChangeArrowheads="1"/>
            </p:cNvSpPr>
            <p:nvPr/>
          </p:nvSpPr>
          <p:spPr bwMode="auto">
            <a:xfrm>
              <a:off x="7210425" y="2819400"/>
              <a:ext cx="436563" cy="304800"/>
            </a:xfrm>
            <a:prstGeom prst="triangle">
              <a:avLst>
                <a:gd name="adj" fmla="val 50000"/>
              </a:avLst>
            </a:prstGeom>
            <a:solidFill>
              <a:srgbClr val="3333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3" name="AutoShape 27"/>
            <p:cNvSpPr>
              <a:spLocks noChangeArrowheads="1"/>
            </p:cNvSpPr>
            <p:nvPr/>
          </p:nvSpPr>
          <p:spPr bwMode="auto">
            <a:xfrm>
              <a:off x="66024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4" name="AutoShape 27"/>
            <p:cNvSpPr>
              <a:spLocks noChangeArrowheads="1"/>
            </p:cNvSpPr>
            <p:nvPr/>
          </p:nvSpPr>
          <p:spPr bwMode="auto">
            <a:xfrm>
              <a:off x="50911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8465" name="AutoShape 27"/>
            <p:cNvSpPr>
              <a:spLocks noChangeArrowheads="1"/>
            </p:cNvSpPr>
            <p:nvPr/>
          </p:nvSpPr>
          <p:spPr bwMode="auto">
            <a:xfrm>
              <a:off x="37957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2" name="Text Box 25">
            <a:extLst>
              <a:ext uri="{FF2B5EF4-FFF2-40B4-BE49-F238E27FC236}">
                <a16:creationId xmlns:a16="http://schemas.microsoft.com/office/drawing/2014/main" id="{383C2F44-D37D-834A-CB13-0A4CBA7A5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148" y="4051879"/>
            <a:ext cx="562232" cy="3000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>
                <a:solidFill>
                  <a:srgbClr val="CC0000"/>
                </a:solidFill>
                <a:latin typeface="Calibri"/>
                <a:cs typeface="Calibri"/>
              </a:rPr>
              <a:t>1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3333FF"/>
                </a:solidFill>
                <a:latin typeface="Calibri"/>
                <a:cs typeface="Calibri"/>
              </a:rPr>
              <a:t>6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008000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3" name="Text Box 27">
            <a:extLst>
              <a:ext uri="{FF2B5EF4-FFF2-40B4-BE49-F238E27FC236}">
                <a16:creationId xmlns:a16="http://schemas.microsoft.com/office/drawing/2014/main" id="{83A43651-17DA-3EC4-A444-00CC19883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1785" y="4054307"/>
            <a:ext cx="562232" cy="3000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 dirty="0">
                <a:solidFill>
                  <a:srgbClr val="CC0000"/>
                </a:solidFill>
                <a:latin typeface="Calibri"/>
                <a:cs typeface="Calibri"/>
              </a:rPr>
              <a:t>6</a:t>
            </a:r>
            <a:r>
              <a:rPr lang="en-US" sz="1350" dirty="0">
                <a:latin typeface="Calibri"/>
                <a:cs typeface="Calibri"/>
              </a:rPr>
              <a:t>,</a:t>
            </a:r>
            <a:r>
              <a:rPr lang="en-US" sz="1350" dirty="0">
                <a:solidFill>
                  <a:srgbClr val="3333FF"/>
                </a:solidFill>
                <a:latin typeface="Calibri"/>
                <a:cs typeface="Calibri"/>
              </a:rPr>
              <a:t>1</a:t>
            </a:r>
            <a:r>
              <a:rPr lang="en-US" sz="1350" dirty="0">
                <a:latin typeface="Calibri"/>
                <a:cs typeface="Calibri"/>
              </a:rPr>
              <a:t>,</a:t>
            </a:r>
            <a:r>
              <a:rPr lang="en-US" sz="1350" dirty="0">
                <a:solidFill>
                  <a:srgbClr val="008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" name="Text Box 25">
            <a:extLst>
              <a:ext uri="{FF2B5EF4-FFF2-40B4-BE49-F238E27FC236}">
                <a16:creationId xmlns:a16="http://schemas.microsoft.com/office/drawing/2014/main" id="{41238979-A9FB-A328-8191-ED04D9AA5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5567" y="3182872"/>
            <a:ext cx="562232" cy="3000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>
                <a:solidFill>
                  <a:srgbClr val="CC0000"/>
                </a:solidFill>
                <a:latin typeface="Calibri"/>
                <a:cs typeface="Calibri"/>
              </a:rPr>
              <a:t>1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3333FF"/>
                </a:solidFill>
                <a:latin typeface="Calibri"/>
                <a:cs typeface="Calibri"/>
              </a:rPr>
              <a:t>6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008000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5" name="Text Box 29">
            <a:extLst>
              <a:ext uri="{FF2B5EF4-FFF2-40B4-BE49-F238E27FC236}">
                <a16:creationId xmlns:a16="http://schemas.microsoft.com/office/drawing/2014/main" id="{94C72E24-F536-8520-92CF-A4960262E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185" y="4051879"/>
            <a:ext cx="562232" cy="3000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>
                <a:solidFill>
                  <a:srgbClr val="CC0000"/>
                </a:solidFill>
                <a:latin typeface="Calibri"/>
                <a:cs typeface="Calibri"/>
              </a:rPr>
              <a:t>5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3333FF"/>
                </a:solidFill>
                <a:latin typeface="Calibri"/>
                <a:cs typeface="Calibri"/>
              </a:rPr>
              <a:t>1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008000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6" name="Text Box 32">
            <a:extLst>
              <a:ext uri="{FF2B5EF4-FFF2-40B4-BE49-F238E27FC236}">
                <a16:creationId xmlns:a16="http://schemas.microsoft.com/office/drawing/2014/main" id="{34360699-A291-6D02-6386-1D2ED6BFF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6560" y="4042917"/>
            <a:ext cx="562232" cy="3000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>
                <a:solidFill>
                  <a:srgbClr val="CC0000"/>
                </a:solidFill>
                <a:latin typeface="Calibri"/>
                <a:cs typeface="Calibri"/>
              </a:rPr>
              <a:t>5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3333FF"/>
                </a:solidFill>
                <a:latin typeface="Calibri"/>
                <a:cs typeface="Calibri"/>
              </a:rPr>
              <a:t>2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008000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7" name="Text Box 32">
            <a:extLst>
              <a:ext uri="{FF2B5EF4-FFF2-40B4-BE49-F238E27FC236}">
                <a16:creationId xmlns:a16="http://schemas.microsoft.com/office/drawing/2014/main" id="{7FCC59CB-141C-3458-E9B6-1EB92C9D7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4328" y="3137313"/>
            <a:ext cx="562232" cy="3000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>
                <a:solidFill>
                  <a:srgbClr val="CC0000"/>
                </a:solidFill>
                <a:latin typeface="Calibri"/>
                <a:cs typeface="Calibri"/>
              </a:rPr>
              <a:t>5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3333FF"/>
                </a:solidFill>
                <a:latin typeface="Calibri"/>
                <a:cs typeface="Calibri"/>
              </a:rPr>
              <a:t>2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008000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8" name="Text Box 32">
            <a:extLst>
              <a:ext uri="{FF2B5EF4-FFF2-40B4-BE49-F238E27FC236}">
                <a16:creationId xmlns:a16="http://schemas.microsoft.com/office/drawing/2014/main" id="{FAC4D9FB-F409-515F-F3B6-047BA765B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165" y="2515321"/>
            <a:ext cx="562232" cy="3000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350">
                <a:solidFill>
                  <a:srgbClr val="CC0000"/>
                </a:solidFill>
                <a:latin typeface="Calibri"/>
                <a:cs typeface="Calibri"/>
              </a:rPr>
              <a:t>5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3333FF"/>
                </a:solidFill>
                <a:latin typeface="Calibri"/>
                <a:cs typeface="Calibri"/>
              </a:rPr>
              <a:t>2</a:t>
            </a:r>
            <a:r>
              <a:rPr lang="en-US" sz="1350">
                <a:latin typeface="Calibri"/>
                <a:cs typeface="Calibri"/>
              </a:rPr>
              <a:t>,</a:t>
            </a:r>
            <a:r>
              <a:rPr lang="en-US" sz="1350">
                <a:solidFill>
                  <a:srgbClr val="008000"/>
                </a:solidFill>
                <a:latin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85997505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-1" y="1062842"/>
            <a:ext cx="9144000" cy="5202437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8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spațiul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stărilor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inițială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stare-scop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secvență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drumul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scop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</a:t>
            </a:r>
          </a:p>
          <a:p>
            <a:pPr lvl="1" algn="just" eaLnBrk="1" hangingPunct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drumurile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costuri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problemelor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găsirea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 sub forma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luând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obține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respectă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drumurile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aceeași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același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obținem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satisfacere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constrângerilor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(PSC)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14F3144-630E-ED8E-C2C5-5431EE123D0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satisfacere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29144" y="1346551"/>
            <a:ext cx="9014856" cy="4650488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satisfacere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constrângerilor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(PSC) are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 = o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mulțime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 = {X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o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mulțime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domenii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 = {D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domeniu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					 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corespunde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posibile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mulțime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 = {C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definește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relație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care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îndeplinească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 algn="just">
              <a:lnSpc>
                <a:spcPct val="11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fi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exprimate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implicit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explicit </a:t>
            </a:r>
          </a:p>
          <a:p>
            <a:pPr lvl="1" algn="just" eaLnBrk="1" hangingPunct="1">
              <a:lnSpc>
                <a:spcPct val="11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529BC2-FCEC-5584-B069-BE80D13C419A}"/>
              </a:ext>
            </a:extLst>
          </p:cNvPr>
          <p:cNvSpPr txBox="1">
            <a:spLocks noChangeArrowheads="1"/>
          </p:cNvSpPr>
          <p:nvPr/>
        </p:nvSpPr>
        <p:spPr>
          <a:xfrm>
            <a:off x="43611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satisfacere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constrângerilor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20B41E-03C2-6300-F742-696EF19A2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473" y="3068624"/>
            <a:ext cx="2435554" cy="33253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 cstate="print"/>
          <a:srcRect l="1140" t="1105"/>
          <a:stretch>
            <a:fillRect/>
          </a:stretch>
        </p:blipFill>
        <p:spPr bwMode="auto">
          <a:xfrm>
            <a:off x="2343150" y="1856188"/>
            <a:ext cx="4514850" cy="374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B9FB160C-AC37-6B55-C1FD-BF10638D705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colorării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hărți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map of australia with white text&#10;&#10;Description automatically generated">
            <a:extLst>
              <a:ext uri="{FF2B5EF4-FFF2-40B4-BE49-F238E27FC236}">
                <a16:creationId xmlns:a16="http://schemas.microsoft.com/office/drawing/2014/main" id="{E938D9C6-BDEA-1340-0A86-A0E414BCB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150" y="1511720"/>
            <a:ext cx="4744192" cy="41967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3FC9B6-9A06-3CCA-5EF5-76BA9462F5C9}"/>
              </a:ext>
            </a:extLst>
          </p:cNvPr>
          <p:cNvSpPr txBox="1"/>
          <p:nvPr/>
        </p:nvSpPr>
        <p:spPr>
          <a:xfrm>
            <a:off x="0" y="978942"/>
            <a:ext cx="8942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de a colora o harta cu un număr de 3 culori (</a:t>
            </a:r>
            <a:r>
              <a:rPr lang="en-RO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roșu</a:t>
            </a:r>
            <a:r>
              <a:rPr lang="en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RO" sz="2200" b="1" dirty="0">
                <a:solidFill>
                  <a:srgbClr val="20A2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verde</a:t>
            </a:r>
            <a:r>
              <a:rPr lang="en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RO" sz="22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albastru</a:t>
            </a:r>
            <a:r>
              <a:rPr lang="en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astfel încât regiunile adiacente să aibă culori diferite </a:t>
            </a:r>
          </a:p>
        </p:txBody>
      </p:sp>
    </p:spTree>
    <p:extLst>
      <p:ext uri="{BB962C8B-B14F-4D97-AF65-F5344CB8AC3E}">
        <p14:creationId xmlns:p14="http://schemas.microsoft.com/office/powerpoint/2010/main" val="11358642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 cstate="print"/>
          <a:srcRect l="1140" t="1105"/>
          <a:stretch>
            <a:fillRect/>
          </a:stretch>
        </p:blipFill>
        <p:spPr bwMode="auto">
          <a:xfrm>
            <a:off x="2343150" y="1856188"/>
            <a:ext cx="4514850" cy="374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B9FB160C-AC37-6B55-C1FD-BF10638D705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colorării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hărți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3FA44F-33F4-6CD8-47FB-FD564CF44574}"/>
              </a:ext>
            </a:extLst>
          </p:cNvPr>
          <p:cNvSpPr txBox="1"/>
          <p:nvPr/>
        </p:nvSpPr>
        <p:spPr>
          <a:xfrm>
            <a:off x="0" y="1425301"/>
            <a:ext cx="89421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posibilă soluție (există mai multe)</a:t>
            </a:r>
          </a:p>
        </p:txBody>
      </p:sp>
    </p:spTree>
    <p:extLst>
      <p:ext uri="{BB962C8B-B14F-4D97-AF65-F5344CB8AC3E}">
        <p14:creationId xmlns:p14="http://schemas.microsoft.com/office/powerpoint/2010/main" val="18150468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55799" y="1321234"/>
            <a:ext cx="8876012" cy="4799858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X = {WA, NT, Q, NSW, V, SA, T}</a:t>
            </a:r>
          </a:p>
          <a:p>
            <a:pPr algn="just" eaLnBrk="1" hangingPunct="1">
              <a:lnSpc>
                <a:spcPct val="8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Domenii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 = D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RO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roșu</a:t>
            </a:r>
            <a:r>
              <a:rPr lang="en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RO" sz="1800" b="1" dirty="0">
                <a:solidFill>
                  <a:srgbClr val="20A2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verde</a:t>
            </a:r>
            <a:r>
              <a:rPr lang="en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RO" sz="18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albastru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regiuni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adiacente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aibă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culori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1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{C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457200" lvl="1" indent="0" algn="just">
              <a:lnSpc>
                <a:spcPct val="11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implicită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WA ≠ NT </a:t>
            </a:r>
          </a:p>
          <a:p>
            <a:pPr marL="457200" lvl="1" indent="0" algn="just">
              <a:lnSpc>
                <a:spcPct val="11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explicită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(WA, NT) ∈ {(</a:t>
            </a:r>
            <a:r>
              <a:rPr lang="en-RO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roșu</a:t>
            </a:r>
            <a:r>
              <a:rPr lang="en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RO" sz="1800" b="1" dirty="0">
                <a:solidFill>
                  <a:srgbClr val="20A2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RO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roșu</a:t>
            </a:r>
            <a:r>
              <a:rPr lang="en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RO" sz="18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albastru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RO" sz="1800" b="1" dirty="0">
                <a:solidFill>
                  <a:srgbClr val="20A2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verde</a:t>
            </a:r>
            <a:r>
              <a:rPr lang="en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RO" sz="18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albastru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RO" sz="1800" b="1" dirty="0">
                <a:solidFill>
                  <a:srgbClr val="20A2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verde</a:t>
            </a:r>
            <a:r>
              <a:rPr lang="en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RO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roșu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RO" sz="18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albastru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RO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roșu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RO" sz="18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albastru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RO" sz="1800" b="1" dirty="0">
                <a:solidFill>
                  <a:srgbClr val="20A2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marL="457200" lvl="1" indent="0" algn="just">
              <a:lnSpc>
                <a:spcPct val="8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asignarea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varibilelor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satisfac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{WA = </a:t>
            </a:r>
            <a:r>
              <a:rPr lang="en-RO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roșu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NT = </a:t>
            </a:r>
            <a:r>
              <a:rPr lang="en-RO" sz="1800" b="1" dirty="0">
                <a:solidFill>
                  <a:srgbClr val="20A2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 = </a:t>
            </a:r>
            <a:r>
              <a:rPr lang="en-RO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roșu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NSW = </a:t>
            </a:r>
            <a:r>
              <a:rPr lang="en-RO" sz="1800" b="1" dirty="0">
                <a:solidFill>
                  <a:srgbClr val="20A2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 = </a:t>
            </a:r>
            <a:r>
              <a:rPr lang="en-RO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roșu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 = </a:t>
            </a:r>
            <a:r>
              <a:rPr lang="en-RO" sz="18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albastru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 = </a:t>
            </a:r>
            <a:r>
              <a:rPr lang="en-RO" sz="1800" b="1" dirty="0">
                <a:solidFill>
                  <a:srgbClr val="20A2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 l="1140" t="1105"/>
          <a:stretch>
            <a:fillRect/>
          </a:stretch>
        </p:blipFill>
        <p:spPr bwMode="auto">
          <a:xfrm>
            <a:off x="6765981" y="1321234"/>
            <a:ext cx="2265830" cy="1879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8" name="Picture 2" descr="C:\Users\Dan\Dropbox\Office\CS 188\Ketrina Art\CSPs\MapColorin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6663" y="5305425"/>
            <a:ext cx="2947337" cy="1552575"/>
          </a:xfrm>
          <a:prstGeom prst="rect">
            <a:avLst/>
          </a:prstGeom>
          <a:noFill/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2D07DCC-F71F-75E7-647D-0762BD5ED0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colorării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hărți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71655" y="1733747"/>
            <a:ext cx="3885458" cy="3390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E081455-CAC9-1E0C-D6E3-A96D2CCBE88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Vizualizarea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PSC sub forma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map of australia with white text&#10;&#10;Description automatically generated">
            <a:extLst>
              <a:ext uri="{FF2B5EF4-FFF2-40B4-BE49-F238E27FC236}">
                <a16:creationId xmlns:a16="http://schemas.microsoft.com/office/drawing/2014/main" id="{D4A38B00-8213-AEEE-FFF7-EE55C8AE5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43" y="1769794"/>
            <a:ext cx="3751247" cy="33184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486FDE-0669-1605-ACC8-CA80552298A1}"/>
              </a:ext>
            </a:extLst>
          </p:cNvPr>
          <p:cNvSpPr txBox="1"/>
          <p:nvPr/>
        </p:nvSpPr>
        <p:spPr>
          <a:xfrm>
            <a:off x="1425039" y="5288065"/>
            <a:ext cx="1793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roblemă inițială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74239-7B12-228C-AFC7-05008E486C98}"/>
              </a:ext>
            </a:extLst>
          </p:cNvPr>
          <p:cNvSpPr txBox="1"/>
          <p:nvPr/>
        </p:nvSpPr>
        <p:spPr>
          <a:xfrm>
            <a:off x="5257800" y="5124253"/>
            <a:ext cx="3627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roblemă inițială reprezentată sub forma unui graf de constrângeri</a:t>
            </a:r>
          </a:p>
        </p:txBody>
      </p:sp>
    </p:spTree>
    <p:extLst>
      <p:ext uri="{BB962C8B-B14F-4D97-AF65-F5344CB8AC3E}">
        <p14:creationId xmlns:p14="http://schemas.microsoft.com/office/powerpoint/2010/main" val="6179741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7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600200"/>
            <a:ext cx="8730411" cy="489560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</a:p>
          <a:p>
            <a:pPr lvl="1"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domenii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puteți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găsiți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 cstate="print"/>
          <a:srcRect l="75101" b="14342"/>
          <a:stretch>
            <a:fillRect/>
          </a:stretch>
        </p:blipFill>
        <p:spPr bwMode="auto">
          <a:xfrm>
            <a:off x="3943350" y="2000250"/>
            <a:ext cx="1534716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3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673124" y="2801060"/>
            <a:ext cx="888259" cy="345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4" name="Picture 10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773200" y="2343860"/>
            <a:ext cx="486877" cy="345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1020366" y="3956667"/>
            <a:ext cx="4611439" cy="272433"/>
          </a:xfrm>
          <a:prstGeom prst="rect">
            <a:avLst/>
          </a:prstGeom>
          <a:noFill/>
          <a:ln/>
          <a:effectLst/>
        </p:spPr>
      </p:pic>
      <p:pic>
        <p:nvPicPr>
          <p:cNvPr id="2050" name="Picture 2" descr="C:\Users\Dan\Dropbox\Office\CS 188\Ketrina Art\CSPs\NQueens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860033" y="1771650"/>
            <a:ext cx="3283967" cy="1771650"/>
          </a:xfrm>
          <a:prstGeom prst="rect">
            <a:avLst/>
          </a:prstGeom>
          <a:noFill/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1020366" y="4286251"/>
            <a:ext cx="5251620" cy="948179"/>
          </a:xfrm>
          <a:prstGeom prst="rect">
            <a:avLst/>
          </a:prstGeom>
          <a:noFill/>
          <a:ln/>
          <a:effectLst/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AB6A009-EA41-652C-1300-56955EE6727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D04AFD-CFF7-C557-7D6A-4CBFAD153639}"/>
              </a:ext>
            </a:extLst>
          </p:cNvPr>
          <p:cNvSpPr txBox="1"/>
          <p:nvPr/>
        </p:nvSpPr>
        <p:spPr>
          <a:xfrm>
            <a:off x="6271986" y="3884261"/>
            <a:ext cx="255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iese de pe aceeași linie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F3BBF6-6EAD-1B3F-9419-0B37CE80DBEC}"/>
              </a:ext>
            </a:extLst>
          </p:cNvPr>
          <p:cNvSpPr txBox="1"/>
          <p:nvPr/>
        </p:nvSpPr>
        <p:spPr>
          <a:xfrm>
            <a:off x="6282872" y="4192564"/>
            <a:ext cx="278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iese de pe aceeași coloană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CE98DF-4401-93AD-63E2-C70EA01B9A5F}"/>
              </a:ext>
            </a:extLst>
          </p:cNvPr>
          <p:cNvSpPr txBox="1"/>
          <p:nvPr/>
        </p:nvSpPr>
        <p:spPr>
          <a:xfrm>
            <a:off x="6271986" y="4717480"/>
            <a:ext cx="291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iese de pe aceeași diagonală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</a:p>
          <a:p>
            <a:pPr lvl="1"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domenii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7" cstate="print"/>
          <a:srcRect l="75101" b="14342"/>
          <a:stretch>
            <a:fillRect/>
          </a:stretch>
        </p:blipFill>
        <p:spPr bwMode="auto">
          <a:xfrm>
            <a:off x="3943350" y="2000250"/>
            <a:ext cx="1534716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3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673124" y="2801060"/>
            <a:ext cx="888259" cy="345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4" name="Picture 10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73200" y="2343860"/>
            <a:ext cx="486877" cy="345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7" name="Picture 1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963966" y="4286251"/>
            <a:ext cx="1322784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1020366" y="3956667"/>
            <a:ext cx="4611439" cy="272433"/>
          </a:xfrm>
          <a:prstGeom prst="rect">
            <a:avLst/>
          </a:prstGeom>
          <a:noFill/>
          <a:ln/>
          <a:effectLst/>
        </p:spPr>
      </p:pic>
      <p:pic>
        <p:nvPicPr>
          <p:cNvPr id="2050" name="Picture 2" descr="C:\Users\Dan\Dropbox\Office\CS 188\Ketrina Art\CSPs\NQueens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860033" y="1771650"/>
            <a:ext cx="3283967" cy="1771650"/>
          </a:xfrm>
          <a:prstGeom prst="rect">
            <a:avLst/>
          </a:prstGeom>
          <a:noFill/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/>
          <a:stretch>
            <a:fillRect/>
          </a:stretch>
        </p:blipFill>
        <p:spPr bwMode="auto">
          <a:xfrm>
            <a:off x="1020366" y="4286251"/>
            <a:ext cx="5251620" cy="948179"/>
          </a:xfrm>
          <a:prstGeom prst="rect">
            <a:avLst/>
          </a:prstGeom>
          <a:noFill/>
          <a:ln/>
          <a:effectLst/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AB6A009-EA41-652C-1300-56955EE6727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348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0" y="1520429"/>
            <a:ext cx="9144000" cy="339447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</a:p>
          <a:p>
            <a:pPr lvl="1"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domenii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coloane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{1, 2, 3…, N}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 j)</a:t>
            </a:r>
          </a:p>
          <a:p>
            <a:pPr lvl="2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explicite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(Q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∈ {(1,3), (1,4), (2,4), (3,1), (4,1), (4,2)}</a:t>
            </a:r>
          </a:p>
          <a:p>
            <a:pPr marL="2286000" lvl="5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24" name="Picture 22"/>
          <p:cNvPicPr>
            <a:picLocks noChangeAspect="1" noChangeArrowheads="1"/>
          </p:cNvPicPr>
          <p:nvPr/>
        </p:nvPicPr>
        <p:blipFill>
          <a:blip r:embed="rId6" cstate="print"/>
          <a:srcRect l="75101" b="14342"/>
          <a:stretch>
            <a:fillRect/>
          </a:stretch>
        </p:blipFill>
        <p:spPr bwMode="auto">
          <a:xfrm>
            <a:off x="7152084" y="1705965"/>
            <a:ext cx="1534716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5" name="Picture 1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726057" y="1791690"/>
            <a:ext cx="296466" cy="225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6" name="Picture 13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20105" y="2134590"/>
            <a:ext cx="308372" cy="226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15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726058" y="2477490"/>
            <a:ext cx="308372" cy="225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17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726058" y="2823962"/>
            <a:ext cx="308372" cy="225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CFF3D66F-5D7A-FFB5-1B4D-7A9F3ECEDDB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 cstate="print"/>
          <a:srcRect l="2014" t="2845"/>
          <a:stretch>
            <a:fillRect/>
          </a:stretch>
        </p:blipFill>
        <p:spPr bwMode="auto">
          <a:xfrm>
            <a:off x="4551829" y="2255745"/>
            <a:ext cx="1277471" cy="91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CC54541-768A-B99F-F1A3-17C62404BB7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Criptaritmetica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1666799"/>
            <a:ext cx="4208929" cy="4711534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Domenii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6" cstate="print"/>
          <a:srcRect l="1343" t="1076"/>
          <a:stretch>
            <a:fillRect/>
          </a:stretch>
        </p:blipFill>
        <p:spPr bwMode="auto">
          <a:xfrm>
            <a:off x="4948518" y="3620621"/>
            <a:ext cx="2995332" cy="1855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7" cstate="print"/>
          <a:srcRect l="2014" t="2845"/>
          <a:stretch>
            <a:fillRect/>
          </a:stretch>
        </p:blipFill>
        <p:spPr bwMode="auto">
          <a:xfrm>
            <a:off x="4551829" y="2255745"/>
            <a:ext cx="1277471" cy="91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6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22791" y="2289527"/>
            <a:ext cx="3086100" cy="232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3192" y="3765391"/>
            <a:ext cx="279201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0" name="Picture 1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63192" y="5353051"/>
            <a:ext cx="2608659" cy="245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CC54541-768A-B99F-F1A3-17C62404BB7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Criptaritmetica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1E7D4-6FAD-3EFA-47F9-2AA91D34A1BC}"/>
              </a:ext>
            </a:extLst>
          </p:cNvPr>
          <p:cNvSpPr txBox="1"/>
          <p:nvPr/>
        </p:nvSpPr>
        <p:spPr>
          <a:xfrm>
            <a:off x="5173189" y="5598320"/>
            <a:ext cx="3875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roblemă inițială reprezentată sub forma unui hiper-graf de constrângeri</a:t>
            </a:r>
          </a:p>
          <a:p>
            <a:pPr algn="just"/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 constrângeri de aritate 2, 3, 4, 6.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8A6A4-DDC7-6462-F065-813F5970ED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" y="5636185"/>
            <a:ext cx="2792015" cy="12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3288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2" descr="C:\Documents and Settings\Administrator\My Documents\My Pictures\Sudoku_Board_Fig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2026" y="2528144"/>
            <a:ext cx="30384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14849" y="1498349"/>
            <a:ext cx="428625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79" tIns="34289" rIns="68579" bIns="34289"/>
          <a:lstStyle/>
          <a:p>
            <a:pPr marL="257168" indent="-25716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00060" lvl="1" indent="-25716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pătrat</a:t>
            </a:r>
            <a:r>
              <a:rPr 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</a:t>
            </a:r>
            <a:endParaRPr lang="en-US" sz="2400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68" indent="-25716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Domenii</a:t>
            </a:r>
            <a:r>
              <a:rPr 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00060" lvl="1" indent="-25716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{1,2,…,9}</a:t>
            </a:r>
          </a:p>
          <a:p>
            <a:pPr marL="257168" indent="-25716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</a:t>
            </a:r>
            <a:r>
              <a:rPr 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00060" lvl="1" indent="-25716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kern="0" dirty="0">
              <a:solidFill>
                <a:schemeClr val="accent2"/>
              </a:solidFill>
              <a:latin typeface="Calibri" pitchFamily="34" charset="0"/>
            </a:endParaRPr>
          </a:p>
          <a:p>
            <a:pPr marL="257168" indent="-25716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kern="0" dirty="0">
              <a:solidFill>
                <a:schemeClr val="accent2"/>
              </a:solidFill>
              <a:latin typeface="Calibri" pitchFamily="34" charset="0"/>
            </a:endParaRP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1314450" y="1985219"/>
            <a:ext cx="2057400" cy="858441"/>
            <a:chOff x="838200" y="1600200"/>
            <a:chExt cx="2743200" cy="1143794"/>
          </a:xfrm>
        </p:grpSpPr>
        <p:sp>
          <p:nvSpPr>
            <p:cNvPr id="6" name="Rectangle 5"/>
            <p:cNvSpPr/>
            <p:nvPr/>
          </p:nvSpPr>
          <p:spPr>
            <a:xfrm>
              <a:off x="2209800" y="1600200"/>
              <a:ext cx="457200" cy="3807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8" name="Straight Connector 7"/>
            <p:cNvCxnSpPr>
              <a:stCxn id="6" idx="2"/>
            </p:cNvCxnSpPr>
            <p:nvPr/>
          </p:nvCxnSpPr>
          <p:spPr>
            <a:xfrm rot="5400000">
              <a:off x="1257564" y="1561571"/>
              <a:ext cx="761471" cy="1600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6" idx="2"/>
            </p:cNvCxnSpPr>
            <p:nvPr/>
          </p:nvCxnSpPr>
          <p:spPr>
            <a:xfrm rot="5400000">
              <a:off x="1448064" y="1752071"/>
              <a:ext cx="761471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6" idx="2"/>
            </p:cNvCxnSpPr>
            <p:nvPr/>
          </p:nvCxnSpPr>
          <p:spPr>
            <a:xfrm rot="5400000">
              <a:off x="1638564" y="1942571"/>
              <a:ext cx="761471" cy="838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6" idx="2"/>
            </p:cNvCxnSpPr>
            <p:nvPr/>
          </p:nvCxnSpPr>
          <p:spPr>
            <a:xfrm rot="5400000">
              <a:off x="1829064" y="2133071"/>
              <a:ext cx="761471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6" idx="2"/>
            </p:cNvCxnSpPr>
            <p:nvPr/>
          </p:nvCxnSpPr>
          <p:spPr>
            <a:xfrm rot="5400000">
              <a:off x="2057665" y="2361670"/>
              <a:ext cx="761471" cy="31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6" idx="2"/>
            </p:cNvCxnSpPr>
            <p:nvPr/>
          </p:nvCxnSpPr>
          <p:spPr>
            <a:xfrm rot="16200000" flipH="1">
              <a:off x="2438664" y="1980671"/>
              <a:ext cx="761471" cy="76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6" idx="2"/>
            </p:cNvCxnSpPr>
            <p:nvPr/>
          </p:nvCxnSpPr>
          <p:spPr>
            <a:xfrm rot="16200000" flipH="1">
              <a:off x="2629164" y="1790171"/>
              <a:ext cx="761471" cy="1143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3713560" y="3185369"/>
            <a:ext cx="686990" cy="2114550"/>
            <a:chOff x="4037806" y="3200400"/>
            <a:chExt cx="915194" cy="2819400"/>
          </a:xfrm>
        </p:grpSpPr>
        <p:sp>
          <p:nvSpPr>
            <p:cNvPr id="21" name="Rectangle 20"/>
            <p:cNvSpPr/>
            <p:nvPr/>
          </p:nvSpPr>
          <p:spPr>
            <a:xfrm rot="5400000">
              <a:off x="4534065" y="4229265"/>
              <a:ext cx="457200" cy="3806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23" name="Straight Connector 22"/>
            <p:cNvCxnSpPr>
              <a:stCxn id="21" idx="2"/>
            </p:cNvCxnSpPr>
            <p:nvPr/>
          </p:nvCxnSpPr>
          <p:spPr>
            <a:xfrm rot="10800000">
              <a:off x="4037806" y="3200400"/>
              <a:ext cx="534524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21" idx="2"/>
            </p:cNvCxnSpPr>
            <p:nvPr/>
          </p:nvCxnSpPr>
          <p:spPr>
            <a:xfrm rot="10800000">
              <a:off x="4037806" y="3581400"/>
              <a:ext cx="534524" cy="838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21" idx="2"/>
            </p:cNvCxnSpPr>
            <p:nvPr/>
          </p:nvCxnSpPr>
          <p:spPr>
            <a:xfrm rot="10800000">
              <a:off x="4037806" y="3962400"/>
              <a:ext cx="534524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21" idx="2"/>
            </p:cNvCxnSpPr>
            <p:nvPr/>
          </p:nvCxnSpPr>
          <p:spPr>
            <a:xfrm rot="10800000" flipV="1">
              <a:off x="4037806" y="4419600"/>
              <a:ext cx="534524" cy="1600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1" idx="2"/>
            </p:cNvCxnSpPr>
            <p:nvPr/>
          </p:nvCxnSpPr>
          <p:spPr>
            <a:xfrm flipH="1">
              <a:off x="4037806" y="4419600"/>
              <a:ext cx="534524" cy="76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21" idx="2"/>
            </p:cNvCxnSpPr>
            <p:nvPr/>
          </p:nvCxnSpPr>
          <p:spPr>
            <a:xfrm rot="10800000" flipV="1">
              <a:off x="4037806" y="4419600"/>
              <a:ext cx="534524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3143250" y="2042369"/>
            <a:ext cx="1143000" cy="1371600"/>
            <a:chOff x="3276600" y="1676400"/>
            <a:chExt cx="1524000" cy="1828800"/>
          </a:xfrm>
        </p:grpSpPr>
        <p:sp>
          <p:nvSpPr>
            <p:cNvPr id="33" name="Rectangle 32"/>
            <p:cNvSpPr/>
            <p:nvPr/>
          </p:nvSpPr>
          <p:spPr>
            <a:xfrm rot="5400000">
              <a:off x="4419600" y="1676400"/>
              <a:ext cx="381000" cy="381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34" name="Straight Connector 33"/>
            <p:cNvCxnSpPr>
              <a:stCxn id="33" idx="3"/>
            </p:cNvCxnSpPr>
            <p:nvPr/>
          </p:nvCxnSpPr>
          <p:spPr>
            <a:xfrm rot="5400000">
              <a:off x="3600450" y="1733550"/>
              <a:ext cx="685800" cy="1333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0800000" flipV="1">
              <a:off x="3581400" y="2057400"/>
              <a:ext cx="1028700" cy="685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0800000" flipV="1">
              <a:off x="3276600" y="2057400"/>
              <a:ext cx="1333500" cy="1066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3600450" y="2114550"/>
              <a:ext cx="1066800" cy="952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3829050" y="2266950"/>
              <a:ext cx="990600" cy="571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3429000" y="2362200"/>
              <a:ext cx="1371600" cy="9144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3600450" y="2495550"/>
              <a:ext cx="1447800" cy="571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5093190" y="4051634"/>
            <a:ext cx="3344503" cy="34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79" tIns="34289" rIns="68579" bIns="34289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9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5093190" y="3693703"/>
            <a:ext cx="3652280" cy="34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79" tIns="34289" rIns="68579" bIns="34289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coloană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9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5093191" y="4394534"/>
            <a:ext cx="4070664" cy="34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79" tIns="34289" rIns="68579" bIns="34289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pătrat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× 3 sunt 9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distincte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5093190" y="4737434"/>
            <a:ext cx="3686002" cy="623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adăuga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inegalități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A1 ≠ A2, A1 ≠ A3, etc.)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3D1538D-DBB5-3C1E-FC91-599CB3DD7DD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Sudoku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3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68931-5436-60A7-8E21-9C26D13D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4E7F418D-B734-CE5E-C677-F0B75AA63C0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8761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Zebra puzzle</a:t>
            </a:r>
          </a:p>
        </p:txBody>
      </p:sp>
      <p:pic>
        <p:nvPicPr>
          <p:cNvPr id="9" name="Picture 8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6EC531C8-AC82-FD5B-F63C-586AE8497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68" y="1000048"/>
            <a:ext cx="8685463" cy="1274801"/>
          </a:xfrm>
          <a:prstGeom prst="rect">
            <a:avLst/>
          </a:prstGeom>
        </p:spPr>
      </p:pic>
      <p:pic>
        <p:nvPicPr>
          <p:cNvPr id="15" name="Picture 1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CAD968C-E35E-CAAE-1268-9F8C83285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68" y="2356159"/>
            <a:ext cx="7950173" cy="422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754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57149" y="1574964"/>
            <a:ext cx="5690508" cy="4695207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endParaRPr lang="en-US" sz="2100" dirty="0"/>
          </a:p>
          <a:p>
            <a:pPr algn="just" eaLnBrk="1" hangingPunct="1">
              <a:lnSpc>
                <a:spcPct val="8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stările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definite de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valorile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momentul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(fac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asignări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parțiale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inițială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asignarea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{}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asignez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neasignate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stare-scop: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asignarea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satisface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constrângerile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8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pornim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o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naivă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care o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</a:t>
            </a:r>
            <a:endParaRPr lang="en-US" sz="2100" dirty="0"/>
          </a:p>
        </p:txBody>
      </p:sp>
      <p:pic>
        <p:nvPicPr>
          <p:cNvPr id="13316" name="Picture 4" descr="C:\Users\Dan\Dropbox\Office\CS 188\Ketrina Art\CSPs\ConstraintChecking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24317" y="2241360"/>
            <a:ext cx="4019683" cy="3127772"/>
          </a:xfrm>
          <a:prstGeom prst="rect">
            <a:avLst/>
          </a:prstGeom>
          <a:noFill/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E878696-8DE3-37D4-20D2-0028D3842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Formularea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a </a:t>
            </a:r>
            <a:r>
              <a:rPr lang="en-US" sz="3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PSC </a:t>
            </a:r>
            <a:r>
              <a:rPr lang="en-US" sz="3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5" name="Rectangle 3"/>
          <p:cNvSpPr>
            <a:spLocks noGrp="1" noChangeArrowheads="1"/>
          </p:cNvSpPr>
          <p:nvPr>
            <p:ph idx="1"/>
          </p:nvPr>
        </p:nvSpPr>
        <p:spPr>
          <a:xfrm>
            <a:off x="302821" y="1281929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căutării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lățime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90000"/>
              </a:lnSpc>
            </a:pPr>
            <a:endParaRPr lang="en-US" sz="2100" dirty="0"/>
          </a:p>
          <a:p>
            <a:pPr eaLnBrk="1" hangingPunct="1">
              <a:lnSpc>
                <a:spcPct val="90000"/>
              </a:lnSpc>
            </a:pPr>
            <a:endParaRPr lang="en-US" sz="2100" dirty="0"/>
          </a:p>
          <a:p>
            <a:pPr eaLnBrk="1" hangingPunct="1">
              <a:lnSpc>
                <a:spcPct val="90000"/>
              </a:lnSpc>
            </a:pPr>
            <a:endParaRPr lang="en-US" sz="2100" dirty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01" t="1517"/>
          <a:stretch>
            <a:fillRect/>
          </a:stretch>
        </p:blipFill>
        <p:spPr bwMode="auto">
          <a:xfrm>
            <a:off x="4708282" y="1943100"/>
            <a:ext cx="3635619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B0FAA4C-7AF7-B1F4-9A0C-4BEE200D2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0117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14600" y="2457450"/>
            <a:ext cx="4000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i="1" dirty="0">
                <a:solidFill>
                  <a:srgbClr val="DB4210"/>
                </a:solidFill>
                <a:latin typeface="Palatino"/>
                <a:cs typeface="Palatino"/>
              </a:rPr>
              <a:t>{}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2914650"/>
            <a:ext cx="14287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i="1" dirty="0">
                <a:solidFill>
                  <a:srgbClr val="DB4210"/>
                </a:solidFill>
                <a:latin typeface="Palatino"/>
                <a:cs typeface="Palatino"/>
              </a:rPr>
              <a:t>{WA=g}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450" y="2914650"/>
            <a:ext cx="14287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i="1" dirty="0">
                <a:solidFill>
                  <a:srgbClr val="DB4210"/>
                </a:solidFill>
                <a:latin typeface="Palatino"/>
                <a:cs typeface="Palatino"/>
              </a:rPr>
              <a:t>{WA=r}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8950" y="2914650"/>
            <a:ext cx="14287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i="1" dirty="0">
                <a:solidFill>
                  <a:srgbClr val="DB4210"/>
                </a:solidFill>
                <a:latin typeface="Palatino"/>
                <a:cs typeface="Palatino"/>
              </a:rPr>
              <a:t>{NT=g}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4550" y="2914650"/>
            <a:ext cx="14287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s-IS" sz="2100" i="1" dirty="0">
                <a:solidFill>
                  <a:srgbClr val="DB4210"/>
                </a:solidFill>
                <a:latin typeface="Palatino"/>
                <a:cs typeface="Palatino"/>
              </a:rPr>
              <a:t>…</a:t>
            </a:r>
            <a:endParaRPr lang="en-US" sz="2100" i="1" dirty="0">
              <a:solidFill>
                <a:srgbClr val="DB4210"/>
              </a:solidFill>
              <a:latin typeface="Palatino"/>
              <a:cs typeface="Palati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29050" y="2914650"/>
            <a:ext cx="14287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s-IS" sz="2100" i="1" dirty="0">
                <a:solidFill>
                  <a:srgbClr val="DB4210"/>
                </a:solidFill>
                <a:latin typeface="Palatino"/>
                <a:cs typeface="Palatino"/>
              </a:rPr>
              <a:t>…</a:t>
            </a:r>
            <a:endParaRPr lang="en-US" sz="2100" i="1" dirty="0">
              <a:solidFill>
                <a:srgbClr val="DB4210"/>
              </a:solidFill>
              <a:latin typeface="Palatino"/>
              <a:cs typeface="Palatino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85750" y="2914650"/>
            <a:ext cx="4629150" cy="514350"/>
          </a:xfrm>
          <a:prstGeom prst="roundRect">
            <a:avLst/>
          </a:prstGeom>
          <a:noFill/>
          <a:ln w="28575" cmpd="sng">
            <a:solidFill>
              <a:srgbClr val="DB4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Rounded Rectangle 16"/>
          <p:cNvSpPr/>
          <p:nvPr/>
        </p:nvSpPr>
        <p:spPr>
          <a:xfrm>
            <a:off x="171450" y="3829050"/>
            <a:ext cx="5257800" cy="514350"/>
          </a:xfrm>
          <a:prstGeom prst="roundRect">
            <a:avLst/>
          </a:prstGeom>
          <a:noFill/>
          <a:ln w="28575" cmpd="sng">
            <a:solidFill>
              <a:srgbClr val="DB4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ounded Rectangle 17"/>
          <p:cNvSpPr/>
          <p:nvPr/>
        </p:nvSpPr>
        <p:spPr>
          <a:xfrm>
            <a:off x="-1623" y="5486400"/>
            <a:ext cx="7259672" cy="514350"/>
          </a:xfrm>
          <a:prstGeom prst="roundRect">
            <a:avLst/>
          </a:prstGeom>
          <a:noFill/>
          <a:ln w="28575" cmpd="sng">
            <a:solidFill>
              <a:srgbClr val="DB4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" t="1105"/>
          <a:stretch>
            <a:fillRect/>
          </a:stretch>
        </p:blipFill>
        <p:spPr bwMode="auto">
          <a:xfrm>
            <a:off x="6286501" y="2286001"/>
            <a:ext cx="2265830" cy="1879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39062CC-EB4B-4526-564D-9F568A135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B0B589F-BD13-C8AA-E465-0710B4F93A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2821" y="1281929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căutării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lățime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90000"/>
              </a:lnSpc>
            </a:pPr>
            <a:endParaRPr lang="en-US" sz="2100" dirty="0"/>
          </a:p>
          <a:p>
            <a:pPr eaLnBrk="1" hangingPunct="1">
              <a:lnSpc>
                <a:spcPct val="90000"/>
              </a:lnSpc>
            </a:pPr>
            <a:endParaRPr lang="en-US" sz="2100" dirty="0"/>
          </a:p>
          <a:p>
            <a:pPr eaLnBrk="1" hangingPunct="1">
              <a:lnSpc>
                <a:spcPct val="90000"/>
              </a:lnSpc>
            </a:pP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/>
      <p:bldP spid="13" grpId="0"/>
      <p:bldP spid="16" grpId="0" animBg="1"/>
      <p:bldP spid="17" grpId="0" animBg="1"/>
      <p:bldP spid="1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4"/>
          <p:cNvSpPr>
            <a:spLocks/>
          </p:cNvSpPr>
          <p:nvPr/>
        </p:nvSpPr>
        <p:spPr bwMode="auto">
          <a:xfrm>
            <a:off x="6394846" y="2038351"/>
            <a:ext cx="406004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02818" name="Freeform 2"/>
          <p:cNvSpPr>
            <a:spLocks/>
          </p:cNvSpPr>
          <p:nvPr/>
        </p:nvSpPr>
        <p:spPr bwMode="auto">
          <a:xfrm>
            <a:off x="5954316" y="2020891"/>
            <a:ext cx="1294210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5" name="Freeform 4"/>
          <p:cNvSpPr>
            <a:spLocks/>
          </p:cNvSpPr>
          <p:nvPr/>
        </p:nvSpPr>
        <p:spPr bwMode="auto">
          <a:xfrm>
            <a:off x="6057900" y="2038350"/>
            <a:ext cx="1085850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7" name="Freeform 4"/>
          <p:cNvSpPr>
            <a:spLocks/>
          </p:cNvSpPr>
          <p:nvPr/>
        </p:nvSpPr>
        <p:spPr bwMode="auto">
          <a:xfrm>
            <a:off x="6229353" y="2038350"/>
            <a:ext cx="742949" cy="781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12329" y="24462"/>
            <a:ext cx="9119342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Cursul</a:t>
            </a:r>
            <a:r>
              <a:rPr lang="en-US" dirty="0">
                <a:latin typeface="Times New Roman"/>
                <a:cs typeface="Times New Roman"/>
              </a:rPr>
              <a:t> 2: </a:t>
            </a:r>
            <a:r>
              <a:rPr lang="en-US" dirty="0" err="1">
                <a:latin typeface="Times New Roman"/>
                <a:cs typeface="Times New Roman"/>
              </a:rPr>
              <a:t>Proprietățile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căutării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lățime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12329" y="1058246"/>
            <a:ext cx="4729003" cy="5799753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 err="1">
                <a:solidFill>
                  <a:srgbClr val="008000"/>
                </a:solidFill>
                <a:latin typeface="Times New Roman"/>
                <a:cs typeface="Times New Roman"/>
              </a:rPr>
              <a:t>Ce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Times New Roman"/>
                <a:cs typeface="Times New Roman"/>
              </a:rPr>
              <a:t>fel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008000"/>
                </a:solidFill>
                <a:latin typeface="Times New Roman"/>
                <a:cs typeface="Times New Roman"/>
              </a:rPr>
              <a:t>noduri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Times New Roman"/>
                <a:cs typeface="Times New Roman"/>
              </a:rPr>
              <a:t>expandează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 BF?</a:t>
            </a: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procesează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toate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nodurile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deasupra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soluției</a:t>
            </a:r>
            <a:r>
              <a:rPr lang="en-US" sz="2000" dirty="0">
                <a:latin typeface="Times New Roman"/>
                <a:cs typeface="Times New Roman"/>
              </a:rPr>
              <a:t> de </a:t>
            </a:r>
            <a:r>
              <a:rPr lang="en-US" sz="2000" dirty="0" err="1">
                <a:latin typeface="Times New Roman"/>
                <a:cs typeface="Times New Roman"/>
              </a:rPr>
              <a:t>adâncime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minimă</a:t>
            </a:r>
            <a:endParaRPr lang="en-US" sz="2000" dirty="0">
              <a:latin typeface="Times New Roman"/>
              <a:cs typeface="Times New Roman"/>
            </a:endParaRPr>
          </a:p>
          <a:p>
            <a:pPr lvl="1"/>
            <a:r>
              <a:rPr lang="en-US" sz="2000" dirty="0">
                <a:latin typeface="Times New Roman"/>
                <a:cs typeface="Times New Roman"/>
              </a:rPr>
              <a:t>fie s = </a:t>
            </a:r>
            <a:r>
              <a:rPr lang="en-US" sz="2000" dirty="0" err="1">
                <a:latin typeface="Times New Roman"/>
                <a:cs typeface="Times New Roman"/>
              </a:rPr>
              <a:t>adâncimea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minimă</a:t>
            </a:r>
            <a:r>
              <a:rPr lang="en-US" sz="2000" dirty="0">
                <a:latin typeface="Times New Roman"/>
                <a:cs typeface="Times New Roman"/>
              </a:rPr>
              <a:t> a </a:t>
            </a:r>
            <a:r>
              <a:rPr lang="en-US" sz="2000" dirty="0" err="1">
                <a:latin typeface="Times New Roman"/>
                <a:cs typeface="Times New Roman"/>
              </a:rPr>
              <a:t>unui</a:t>
            </a:r>
            <a:r>
              <a:rPr lang="en-US" sz="2000" dirty="0">
                <a:latin typeface="Times New Roman"/>
                <a:cs typeface="Times New Roman"/>
              </a:rPr>
              <a:t> nod </a:t>
            </a:r>
            <a:r>
              <a:rPr lang="en-US" sz="2000" dirty="0" err="1">
                <a:latin typeface="Times New Roman"/>
                <a:cs typeface="Times New Roman"/>
              </a:rPr>
              <a:t>scop</a:t>
            </a:r>
            <a:endParaRPr lang="en-US" sz="2000" dirty="0">
              <a:latin typeface="Times New Roman"/>
              <a:cs typeface="Times New Roman"/>
            </a:endParaRP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complexitate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timp</a:t>
            </a:r>
            <a:r>
              <a:rPr lang="en-US" sz="2000" dirty="0">
                <a:latin typeface="Times New Roman"/>
                <a:cs typeface="Times New Roman"/>
              </a:rPr>
              <a:t> O(b</a:t>
            </a:r>
            <a:r>
              <a:rPr lang="en-US" sz="2000" baseline="30000" dirty="0">
                <a:latin typeface="Times New Roman"/>
                <a:cs typeface="Times New Roman"/>
              </a:rPr>
              <a:t>s</a:t>
            </a:r>
            <a:r>
              <a:rPr lang="en-US" sz="2000" dirty="0">
                <a:latin typeface="Times New Roman"/>
                <a:cs typeface="Times New Roman"/>
              </a:rPr>
              <a:t>) 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nod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 scop - reduce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complexitatea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O(b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s+1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la O(b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/>
              <a:cs typeface="Times New Roman"/>
            </a:endParaRPr>
          </a:p>
          <a:p>
            <a:pPr lvl="3"/>
            <a:endParaRPr lang="en-US" sz="1200" dirty="0">
              <a:latin typeface="Times New Roman"/>
              <a:cs typeface="Times New Roman"/>
            </a:endParaRPr>
          </a:p>
          <a:p>
            <a:r>
              <a:rPr lang="en-US" sz="2400" dirty="0" err="1">
                <a:solidFill>
                  <a:srgbClr val="008000"/>
                </a:solidFill>
                <a:latin typeface="Times New Roman"/>
                <a:cs typeface="Times New Roman"/>
              </a:rPr>
              <a:t>Cât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008000"/>
                </a:solidFill>
                <a:latin typeface="Times New Roman"/>
                <a:cs typeface="Times New Roman"/>
              </a:rPr>
              <a:t>mult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Times New Roman"/>
                <a:cs typeface="Times New Roman"/>
              </a:rPr>
              <a:t>spațiu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Times New Roman"/>
                <a:cs typeface="Times New Roman"/>
              </a:rPr>
              <a:t>necesită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 BF?</a:t>
            </a: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spațiul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pentru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memorarea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frontierei</a:t>
            </a:r>
            <a:r>
              <a:rPr lang="en-US" sz="2000" dirty="0">
                <a:latin typeface="Times New Roman"/>
                <a:cs typeface="Times New Roman"/>
              </a:rPr>
              <a:t> O(</a:t>
            </a:r>
            <a:r>
              <a:rPr lang="en-US" sz="2000" dirty="0" err="1">
                <a:latin typeface="Times New Roman"/>
                <a:cs typeface="Times New Roman"/>
              </a:rPr>
              <a:t>b</a:t>
            </a:r>
            <a:r>
              <a:rPr lang="en-US" sz="2000" baseline="30000" dirty="0" err="1">
                <a:latin typeface="Times New Roman"/>
                <a:cs typeface="Times New Roman"/>
              </a:rPr>
              <a:t>s</a:t>
            </a:r>
            <a:r>
              <a:rPr lang="en-US" sz="2000" dirty="0">
                <a:latin typeface="Times New Roman"/>
                <a:cs typeface="Times New Roman"/>
              </a:rPr>
              <a:t>) + </a:t>
            </a:r>
            <a:r>
              <a:rPr lang="en-US" sz="2000" dirty="0" err="1">
                <a:latin typeface="Times New Roman"/>
                <a:cs typeface="Times New Roman"/>
              </a:rPr>
              <a:t>memorarea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nodurilor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explorate</a:t>
            </a:r>
            <a:r>
              <a:rPr lang="en-US" sz="2000" dirty="0">
                <a:latin typeface="Times New Roman"/>
                <a:cs typeface="Times New Roman"/>
              </a:rPr>
              <a:t> O(b</a:t>
            </a:r>
            <a:r>
              <a:rPr lang="en-US" sz="2000" baseline="30000" dirty="0">
                <a:latin typeface="Times New Roman"/>
                <a:cs typeface="Times New Roman"/>
              </a:rPr>
              <a:t>s-1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limită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superioară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dată</a:t>
            </a:r>
            <a:r>
              <a:rPr lang="en-US" sz="2000" dirty="0">
                <a:latin typeface="Times New Roman"/>
                <a:cs typeface="Times New Roman"/>
              </a:rPr>
              <a:t> de  </a:t>
            </a:r>
            <a:r>
              <a:rPr lang="en-US" sz="2000" dirty="0" err="1">
                <a:latin typeface="Times New Roman"/>
                <a:cs typeface="Times New Roman"/>
              </a:rPr>
              <a:t>ultimul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nivel</a:t>
            </a:r>
            <a:endParaRPr lang="en-US" sz="2000" dirty="0">
              <a:latin typeface="Times New Roman"/>
              <a:cs typeface="Times New Roman"/>
            </a:endParaRP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complexitate</a:t>
            </a:r>
            <a:r>
              <a:rPr lang="en-US" sz="2000" dirty="0">
                <a:latin typeface="Times New Roman"/>
                <a:cs typeface="Times New Roman"/>
              </a:rPr>
              <a:t> O(</a:t>
            </a:r>
            <a:r>
              <a:rPr lang="en-US" sz="2000" dirty="0" err="1">
                <a:latin typeface="Times New Roman"/>
                <a:cs typeface="Times New Roman"/>
              </a:rPr>
              <a:t>b</a:t>
            </a:r>
            <a:r>
              <a:rPr lang="en-US" sz="2000" baseline="30000" dirty="0" err="1">
                <a:latin typeface="Times New Roman"/>
                <a:cs typeface="Times New Roman"/>
              </a:rPr>
              <a:t>s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</a:p>
          <a:p>
            <a:pPr lvl="3"/>
            <a:endParaRPr lang="en-US" sz="1200" dirty="0">
              <a:latin typeface="Times New Roman"/>
              <a:cs typeface="Times New Roman"/>
            </a:endParaRPr>
          </a:p>
          <a:p>
            <a:r>
              <a:rPr lang="en-US" sz="2400" dirty="0" err="1">
                <a:solidFill>
                  <a:srgbClr val="008000"/>
                </a:solidFill>
                <a:latin typeface="Times New Roman"/>
                <a:cs typeface="Times New Roman"/>
              </a:rPr>
              <a:t>Completitudine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?</a:t>
            </a: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o </a:t>
            </a:r>
            <a:r>
              <a:rPr lang="en-US" sz="2000" dirty="0" err="1">
                <a:latin typeface="Times New Roman"/>
                <a:cs typeface="Times New Roman"/>
              </a:rPr>
              <a:t>soluție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există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atunci</a:t>
            </a:r>
            <a:r>
              <a:rPr lang="en-US" sz="2000" dirty="0">
                <a:latin typeface="Times New Roman"/>
                <a:cs typeface="Times New Roman"/>
              </a:rPr>
              <a:t> s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finit</a:t>
            </a:r>
            <a:r>
              <a:rPr lang="en-US" sz="2000" dirty="0">
                <a:latin typeface="Times New Roman"/>
                <a:cs typeface="Times New Roman"/>
              </a:rPr>
              <a:t>, </a:t>
            </a:r>
            <a:r>
              <a:rPr lang="en-US" sz="2000" dirty="0" err="1">
                <a:latin typeface="Times New Roman"/>
                <a:cs typeface="Times New Roman"/>
              </a:rPr>
              <a:t>deci</a:t>
            </a:r>
            <a:r>
              <a:rPr lang="en-US" sz="2000" dirty="0">
                <a:latin typeface="Times New Roman"/>
                <a:cs typeface="Times New Roman"/>
              </a:rPr>
              <a:t> DA!</a:t>
            </a:r>
          </a:p>
          <a:p>
            <a:pPr lvl="2"/>
            <a:endParaRPr lang="en-US" sz="800" dirty="0">
              <a:latin typeface="Times New Roman"/>
              <a:cs typeface="Times New Roman"/>
            </a:endParaRPr>
          </a:p>
          <a:p>
            <a:r>
              <a:rPr lang="en-US" sz="2400" dirty="0" err="1">
                <a:solidFill>
                  <a:srgbClr val="008000"/>
                </a:solidFill>
                <a:latin typeface="Times New Roman"/>
                <a:cs typeface="Times New Roman"/>
              </a:rPr>
              <a:t>Optimalitate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?</a:t>
            </a: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în</a:t>
            </a:r>
            <a:r>
              <a:rPr lang="en-US" sz="2000" dirty="0">
                <a:latin typeface="Times New Roman"/>
                <a:cs typeface="Times New Roman"/>
              </a:rPr>
              <a:t> general NU!</a:t>
            </a: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uneori</a:t>
            </a:r>
            <a:r>
              <a:rPr lang="en-US" sz="2000" dirty="0">
                <a:latin typeface="Times New Roman"/>
                <a:cs typeface="Times New Roman"/>
              </a:rPr>
              <a:t> DA (</a:t>
            </a:r>
            <a:r>
              <a:rPr lang="en-US" sz="2000" dirty="0" err="1">
                <a:latin typeface="Times New Roman"/>
                <a:cs typeface="Times New Roman"/>
              </a:rPr>
              <a:t>spre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exemplu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costurile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fiecărei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muchii</a:t>
            </a:r>
            <a:r>
              <a:rPr lang="en-US" sz="2000" dirty="0">
                <a:latin typeface="Times New Roman"/>
                <a:cs typeface="Times New Roman"/>
              </a:rPr>
              <a:t> sunt </a:t>
            </a:r>
            <a:r>
              <a:rPr lang="en-US" sz="2000" dirty="0" err="1">
                <a:latin typeface="Times New Roman"/>
                <a:cs typeface="Times New Roman"/>
              </a:rPr>
              <a:t>egale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5510216" y="2001835"/>
            <a:ext cx="2195513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6525818" y="1931987"/>
            <a:ext cx="134541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6351986" y="2357438"/>
            <a:ext cx="134541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6709172" y="2347911"/>
            <a:ext cx="134541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6449619" y="2208214"/>
            <a:ext cx="20597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6436520" y="2162175"/>
            <a:ext cx="333375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6737749" y="1960562"/>
            <a:ext cx="22383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24621" name="Text Box 45"/>
          <p:cNvSpPr txBox="1">
            <a:spLocks noChangeArrowheads="1"/>
          </p:cNvSpPr>
          <p:nvPr/>
        </p:nvSpPr>
        <p:spPr bwMode="auto">
          <a:xfrm>
            <a:off x="7808122" y="1812926"/>
            <a:ext cx="1029164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1 nod</a:t>
            </a:r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7809311" y="2166935"/>
            <a:ext cx="1029165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b </a:t>
            </a:r>
            <a:r>
              <a:rPr lang="en-US" dirty="0" err="1"/>
              <a:t>noduri</a:t>
            </a:r>
            <a:endParaRPr lang="en-US" dirty="0"/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7809311" y="2578097"/>
            <a:ext cx="133468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err="1"/>
              <a:t>noduri</a:t>
            </a:r>
            <a:endParaRPr lang="en-US" dirty="0"/>
          </a:p>
        </p:txBody>
      </p:sp>
      <p:sp>
        <p:nvSpPr>
          <p:cNvPr id="24624" name="Text Box 48"/>
          <p:cNvSpPr txBox="1">
            <a:spLocks noChangeArrowheads="1"/>
          </p:cNvSpPr>
          <p:nvPr/>
        </p:nvSpPr>
        <p:spPr bwMode="auto">
          <a:xfrm>
            <a:off x="7820027" y="4203699"/>
            <a:ext cx="134302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b</a:t>
            </a:r>
            <a:r>
              <a:rPr lang="en-US" baseline="30000" dirty="0" err="1"/>
              <a:t>m</a:t>
            </a:r>
            <a:r>
              <a:rPr lang="en-US" dirty="0"/>
              <a:t> </a:t>
            </a:r>
            <a:r>
              <a:rPr lang="en-US" dirty="0" err="1"/>
              <a:t>noduri</a:t>
            </a:r>
            <a:endParaRPr lang="en-US" dirty="0"/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6105526" y="4473577"/>
            <a:ext cx="134540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6894911" y="3397250"/>
            <a:ext cx="134541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6535340" y="3952876"/>
            <a:ext cx="134541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5676245" y="1777206"/>
            <a:ext cx="198834" cy="1684337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4623677" y="2457451"/>
            <a:ext cx="127884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s+1 </a:t>
            </a:r>
            <a:r>
              <a:rPr lang="en-US" dirty="0" err="1"/>
              <a:t>nivele</a:t>
            </a:r>
            <a:endParaRPr lang="en-US" dirty="0"/>
          </a:p>
        </p:txBody>
      </p:sp>
      <p:sp>
        <p:nvSpPr>
          <p:cNvPr id="24637" name="Text Box 61"/>
          <p:cNvSpPr txBox="1">
            <a:spLocks noChangeArrowheads="1"/>
          </p:cNvSpPr>
          <p:nvPr/>
        </p:nvSpPr>
        <p:spPr bwMode="auto">
          <a:xfrm>
            <a:off x="7800977" y="3179762"/>
            <a:ext cx="134302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b</a:t>
            </a:r>
            <a:r>
              <a:rPr lang="en-US" baseline="30000" dirty="0" err="1"/>
              <a:t>s</a:t>
            </a:r>
            <a:r>
              <a:rPr lang="en-US" dirty="0"/>
              <a:t> </a:t>
            </a:r>
            <a:r>
              <a:rPr lang="en-US" dirty="0" err="1"/>
              <a:t>noduri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7865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5" name="Rectangle 3"/>
          <p:cNvSpPr>
            <a:spLocks noGrp="1" noChangeArrowheads="1"/>
          </p:cNvSpPr>
          <p:nvPr>
            <p:ph idx="1"/>
          </p:nvPr>
        </p:nvSpPr>
        <p:spPr>
          <a:xfrm>
            <a:off x="302820" y="1281929"/>
            <a:ext cx="8841179" cy="536825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căutării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lățime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arborele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pe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ultimul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 factor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ramificare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factor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ramificare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(n-1)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9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frunze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n! ×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1700" dirty="0"/>
          </a:p>
          <a:p>
            <a:pPr eaLnBrk="1" hangingPunct="1">
              <a:lnSpc>
                <a:spcPct val="90000"/>
              </a:lnSpc>
            </a:pPr>
            <a:endParaRPr lang="en-US" sz="2100" dirty="0"/>
          </a:p>
          <a:p>
            <a:pPr eaLnBrk="1" hangingPunct="1">
              <a:lnSpc>
                <a:spcPct val="90000"/>
              </a:lnSpc>
            </a:pPr>
            <a:endParaRPr lang="en-US" sz="21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B0FAA4C-7AF7-B1F4-9A0C-4BEE200D2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5398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5489" y="1858024"/>
            <a:ext cx="6627325" cy="4142078"/>
          </a:xfrm>
          <a:prstGeom prst="rect">
            <a:avLst/>
          </a:prstGeom>
          <a:noFill/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1206912-0E7E-2FB7-BCF7-67010C795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72191"/>
            <a:ext cx="8229600" cy="4525963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contează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drumul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către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colorării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hărților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arborii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păstrează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frontieră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altenative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neexplorate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completitudinea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îmbunătățește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stare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frontieră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!)</a:t>
            </a:r>
          </a:p>
          <a:p>
            <a:pPr algn="just" eaLnBrk="1" hangingPunct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schimbări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locale</a:t>
            </a:r>
          </a:p>
          <a:p>
            <a:pPr algn="just" eaLnBrk="1" hangingPunct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general, 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asemenea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abordare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vedere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memoriei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incompletă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suboptimală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4629150" y="3362074"/>
            <a:ext cx="2914650" cy="1495676"/>
            <a:chOff x="1981200" y="2209800"/>
            <a:chExt cx="5791200" cy="2971800"/>
          </a:xfrm>
        </p:grpSpPr>
        <p:sp>
          <p:nvSpPr>
            <p:cNvPr id="6" name="Oval 5"/>
            <p:cNvSpPr/>
            <p:nvPr/>
          </p:nvSpPr>
          <p:spPr>
            <a:xfrm>
              <a:off x="1981200" y="3429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" name="Oval 6"/>
            <p:cNvSpPr/>
            <p:nvPr/>
          </p:nvSpPr>
          <p:spPr>
            <a:xfrm>
              <a:off x="3200400" y="3429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9" name="Straight Connector 8"/>
            <p:cNvCxnSpPr>
              <a:stCxn id="6" idx="6"/>
              <a:endCxn id="7" idx="2"/>
            </p:cNvCxnSpPr>
            <p:nvPr/>
          </p:nvCxnSpPr>
          <p:spPr>
            <a:xfrm>
              <a:off x="2590800" y="3733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TP_tmp.png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2819400" y="3352800"/>
              <a:ext cx="178307" cy="254507"/>
            </a:xfrm>
            <a:prstGeom prst="rect">
              <a:avLst/>
            </a:prstGeom>
          </p:spPr>
        </p:pic>
        <p:sp>
          <p:nvSpPr>
            <p:cNvPr id="13" name="Oval 12"/>
            <p:cNvSpPr/>
            <p:nvPr/>
          </p:nvSpPr>
          <p:spPr>
            <a:xfrm>
              <a:off x="5943600" y="3048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Oval 13"/>
            <p:cNvSpPr/>
            <p:nvPr/>
          </p:nvSpPr>
          <p:spPr>
            <a:xfrm>
              <a:off x="7162800" y="3048000"/>
              <a:ext cx="609600" cy="609600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5" name="Straight Connector 14"/>
            <p:cNvCxnSpPr>
              <a:stCxn id="13" idx="6"/>
              <a:endCxn id="14" idx="2"/>
            </p:cNvCxnSpPr>
            <p:nvPr/>
          </p:nvCxnSpPr>
          <p:spPr>
            <a:xfrm>
              <a:off x="6553200" y="3352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 descr="TP_tmp.png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2971800"/>
              <a:ext cx="178307" cy="254507"/>
            </a:xfrm>
            <a:prstGeom prst="rect">
              <a:avLst/>
            </a:prstGeom>
          </p:spPr>
        </p:pic>
        <p:sp>
          <p:nvSpPr>
            <p:cNvPr id="17" name="Oval 16"/>
            <p:cNvSpPr/>
            <p:nvPr/>
          </p:nvSpPr>
          <p:spPr>
            <a:xfrm>
              <a:off x="5943600" y="3810000"/>
              <a:ext cx="609600" cy="609600"/>
            </a:xfrm>
            <a:prstGeom prst="ellipse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Oval 17"/>
            <p:cNvSpPr/>
            <p:nvPr/>
          </p:nvSpPr>
          <p:spPr>
            <a:xfrm>
              <a:off x="7162800" y="3810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9" name="Straight Connector 18"/>
            <p:cNvCxnSpPr>
              <a:stCxn id="17" idx="6"/>
              <a:endCxn id="18" idx="2"/>
            </p:cNvCxnSpPr>
            <p:nvPr/>
          </p:nvCxnSpPr>
          <p:spPr>
            <a:xfrm>
              <a:off x="6553200" y="4114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19" descr="TP_tmp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3733800"/>
              <a:ext cx="178307" cy="254507"/>
            </a:xfrm>
            <a:prstGeom prst="rect">
              <a:avLst/>
            </a:prstGeom>
          </p:spPr>
        </p:pic>
        <p:sp>
          <p:nvSpPr>
            <p:cNvPr id="21" name="Oval 20"/>
            <p:cNvSpPr/>
            <p:nvPr/>
          </p:nvSpPr>
          <p:spPr>
            <a:xfrm>
              <a:off x="5943600" y="4572000"/>
              <a:ext cx="609600" cy="609600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Oval 21"/>
            <p:cNvSpPr/>
            <p:nvPr/>
          </p:nvSpPr>
          <p:spPr>
            <a:xfrm>
              <a:off x="7162800" y="4572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23" name="Straight Connector 22"/>
            <p:cNvCxnSpPr>
              <a:stCxn id="21" idx="6"/>
              <a:endCxn id="22" idx="2"/>
            </p:cNvCxnSpPr>
            <p:nvPr/>
          </p:nvCxnSpPr>
          <p:spPr>
            <a:xfrm>
              <a:off x="6553200" y="4876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 descr="TP_tmp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4495800"/>
              <a:ext cx="178307" cy="254507"/>
            </a:xfrm>
            <a:prstGeom prst="rect">
              <a:avLst/>
            </a:prstGeom>
          </p:spPr>
        </p:pic>
        <p:cxnSp>
          <p:nvCxnSpPr>
            <p:cNvPr id="27" name="Straight Arrow Connector 26"/>
            <p:cNvCxnSpPr/>
            <p:nvPr/>
          </p:nvCxnSpPr>
          <p:spPr>
            <a:xfrm flipV="1">
              <a:off x="4114800" y="3352800"/>
              <a:ext cx="1524000" cy="381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4114800" y="2590800"/>
              <a:ext cx="1524000" cy="1143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4114800" y="3733800"/>
              <a:ext cx="1524000" cy="1143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5943600" y="2286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4" name="Oval 33"/>
            <p:cNvSpPr/>
            <p:nvPr/>
          </p:nvSpPr>
          <p:spPr>
            <a:xfrm>
              <a:off x="7162800" y="2286000"/>
              <a:ext cx="609600" cy="609600"/>
            </a:xfrm>
            <a:prstGeom prst="ellipse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35" name="Straight Connector 34"/>
            <p:cNvCxnSpPr>
              <a:stCxn id="33" idx="6"/>
              <a:endCxn id="34" idx="2"/>
            </p:cNvCxnSpPr>
            <p:nvPr/>
          </p:nvCxnSpPr>
          <p:spPr>
            <a:xfrm>
              <a:off x="6553200" y="2590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 descr="TP_tmp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2209800"/>
              <a:ext cx="178307" cy="254507"/>
            </a:xfrm>
            <a:prstGeom prst="rect">
              <a:avLst/>
            </a:prstGeom>
          </p:spPr>
        </p:pic>
        <p:cxnSp>
          <p:nvCxnSpPr>
            <p:cNvPr id="42" name="Straight Arrow Connector 41"/>
            <p:cNvCxnSpPr/>
            <p:nvPr/>
          </p:nvCxnSpPr>
          <p:spPr>
            <a:xfrm>
              <a:off x="4114800" y="3733800"/>
              <a:ext cx="1524000" cy="381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2">
            <a:extLst>
              <a:ext uri="{FF2B5EF4-FFF2-40B4-BE49-F238E27FC236}">
                <a16:creationId xmlns:a16="http://schemas.microsoft.com/office/drawing/2014/main" id="{72E091E1-17BF-F719-CC61-158946489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3482" y="3114564"/>
            <a:ext cx="5656991" cy="3535619"/>
          </a:xfrm>
          <a:prstGeom prst="rect">
            <a:avLst/>
          </a:prstGeom>
          <a:noFill/>
        </p:spPr>
      </p:pic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99596" y="956929"/>
            <a:ext cx="7004767" cy="494414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pornește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oriunde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aleatoare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îmbunătățește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căutând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vecinătate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vecini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oprești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Dezavantaje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asemenea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abordări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garanția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completitudine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garanția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optimalitate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Avantaje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putem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orice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problemă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dpdv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memoriei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numește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ascensiune</a:t>
            </a:r>
            <a:endParaRPr lang="en-US" sz="1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CD378D-3140-AC48-7F80-81EF2E0A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climbing</a:t>
            </a:r>
          </a:p>
        </p:txBody>
      </p:sp>
    </p:spTree>
    <p:extLst>
      <p:ext uri="{BB962C8B-B14F-4D97-AF65-F5344CB8AC3E}">
        <p14:creationId xmlns:p14="http://schemas.microsoft.com/office/powerpoint/2010/main" val="9221215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E517C-8B87-26EE-E22F-F02DB66B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375912B9-1443-EF5A-C51F-B3D6A9966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87009" y="3322381"/>
            <a:ext cx="5656991" cy="3535619"/>
          </a:xfrm>
          <a:prstGeom prst="rect">
            <a:avLst/>
          </a:prstGeom>
          <a:noFill/>
        </p:spPr>
      </p:pic>
      <p:sp>
        <p:nvSpPr>
          <p:cNvPr id="27651" name="Rectangle 3">
            <a:extLst>
              <a:ext uri="{FF2B5EF4-FFF2-40B4-BE49-F238E27FC236}">
                <a16:creationId xmlns:a16="http://schemas.microsoft.com/office/drawing/2014/main" id="{B62B0B7D-262D-6078-F686-DA131C19EC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596" y="1207276"/>
            <a:ext cx="7004767" cy="3657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pornește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oriunde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aleatoare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îmbunătățește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căutând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vecinătate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vecini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oprești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Îmbunătățirea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care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cuantifică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curentă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minimizăm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costul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1800" b="1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sz="18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obiectiv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maximizăm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obiectivul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2ECD01-531D-272F-0F3F-A11044FF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climbing</a:t>
            </a:r>
          </a:p>
        </p:txBody>
      </p:sp>
    </p:spTree>
    <p:extLst>
      <p:ext uri="{BB962C8B-B14F-4D97-AF65-F5344CB8AC3E}">
        <p14:creationId xmlns:p14="http://schemas.microsoft.com/office/powerpoint/2010/main" val="4935311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527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800" dirty="0">
                <a:latin typeface="Times New Roman"/>
                <a:cs typeface="Times New Roman"/>
              </a:rPr>
              <a:t>Hill climbing </a:t>
            </a:r>
            <a:r>
              <a:rPr lang="en-US" sz="3800" dirty="0" err="1">
                <a:latin typeface="Times New Roman"/>
                <a:cs typeface="Times New Roman"/>
              </a:rPr>
              <a:t>pentru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problema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celor</a:t>
            </a:r>
            <a:r>
              <a:rPr lang="en-US" sz="3800" dirty="0">
                <a:latin typeface="Times New Roman"/>
                <a:cs typeface="Times New Roman"/>
              </a:rPr>
              <a:t> 8 </a:t>
            </a:r>
            <a:r>
              <a:rPr lang="en-US" sz="3800" dirty="0" err="1">
                <a:latin typeface="Times New Roman"/>
                <a:cs typeface="Times New Roman"/>
              </a:rPr>
              <a:t>regine</a:t>
            </a:r>
            <a:endParaRPr lang="en-US" sz="3800" dirty="0">
              <a:latin typeface="Times New Roman"/>
              <a:cs typeface="Times New Roman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6FB0CB8-7033-654C-04B4-AD415B224B8F}"/>
              </a:ext>
            </a:extLst>
          </p:cNvPr>
          <p:cNvGrpSpPr/>
          <p:nvPr/>
        </p:nvGrpSpPr>
        <p:grpSpPr>
          <a:xfrm>
            <a:off x="5250532" y="1450136"/>
            <a:ext cx="3851903" cy="4013145"/>
            <a:chOff x="511442" y="1604900"/>
            <a:chExt cx="3851903" cy="4013145"/>
          </a:xfrm>
        </p:grpSpPr>
        <p:pic>
          <p:nvPicPr>
            <p:cNvPr id="6" name="Picture 5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0B8CFBCA-6A77-4F97-CEBF-A5D4B3EF9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442" y="1604900"/>
              <a:ext cx="3851903" cy="4013145"/>
            </a:xfrm>
            <a:prstGeom prst="rect">
              <a:avLst/>
            </a:prstGeom>
          </p:spPr>
        </p:pic>
        <p:pic>
          <p:nvPicPr>
            <p:cNvPr id="2" name="Picture 1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CBA642C5-3750-ABE4-0B25-ED0299766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0989" t="15142" r="37710" b="74284"/>
            <a:stretch/>
          </p:blipFill>
          <p:spPr>
            <a:xfrm>
              <a:off x="3425296" y="4091359"/>
              <a:ext cx="435301" cy="424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DCD663C-3408-5960-3B56-284C9ABBDEEA}"/>
              </a:ext>
            </a:extLst>
          </p:cNvPr>
          <p:cNvSpPr txBox="1"/>
          <p:nvPr/>
        </p:nvSpPr>
        <p:spPr>
          <a:xfrm>
            <a:off x="0" y="1168121"/>
            <a:ext cx="53755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îmbunătățește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poți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Tx/>
              <a:buChar char="-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coloane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uncția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vecinătatea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ajunge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mutând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coloană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sunt 56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</a:t>
            </a: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uncție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minimizăm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= 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corespunde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finale)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8966454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DCA0-84B4-A081-5572-1E6C96E1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373D099-C728-B9D5-35E3-62F4AB6E3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527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800" dirty="0">
                <a:latin typeface="Times New Roman"/>
                <a:cs typeface="Times New Roman"/>
              </a:rPr>
              <a:t>Hill climbing </a:t>
            </a:r>
            <a:r>
              <a:rPr lang="en-US" sz="3800" dirty="0" err="1">
                <a:latin typeface="Times New Roman"/>
                <a:cs typeface="Times New Roman"/>
              </a:rPr>
              <a:t>pentru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problema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celor</a:t>
            </a:r>
            <a:r>
              <a:rPr lang="en-US" sz="3800" dirty="0">
                <a:latin typeface="Times New Roman"/>
                <a:cs typeface="Times New Roman"/>
              </a:rPr>
              <a:t> 8 </a:t>
            </a:r>
            <a:r>
              <a:rPr lang="en-US" sz="3800" dirty="0" err="1">
                <a:latin typeface="Times New Roman"/>
                <a:cs typeface="Times New Roman"/>
              </a:rPr>
              <a:t>regine</a:t>
            </a:r>
            <a:endParaRPr lang="en-US" sz="3800" dirty="0">
              <a:latin typeface="Times New Roman"/>
              <a:cs typeface="Times New Roman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B247F7-902D-F139-641D-5EC95387D35C}"/>
              </a:ext>
            </a:extLst>
          </p:cNvPr>
          <p:cNvGrpSpPr/>
          <p:nvPr/>
        </p:nvGrpSpPr>
        <p:grpSpPr>
          <a:xfrm>
            <a:off x="5250532" y="1450136"/>
            <a:ext cx="3851903" cy="4013145"/>
            <a:chOff x="511442" y="1604900"/>
            <a:chExt cx="3851903" cy="4013145"/>
          </a:xfrm>
        </p:grpSpPr>
        <p:pic>
          <p:nvPicPr>
            <p:cNvPr id="6" name="Picture 5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9CDEAAFD-F143-BBE9-25A9-F095E1323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442" y="1604900"/>
              <a:ext cx="3851903" cy="4013145"/>
            </a:xfrm>
            <a:prstGeom prst="rect">
              <a:avLst/>
            </a:prstGeom>
          </p:spPr>
        </p:pic>
        <p:pic>
          <p:nvPicPr>
            <p:cNvPr id="2" name="Picture 1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51689AC7-85E3-8C76-D3BE-ECEB31F36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0989" t="15142" r="37710" b="74284"/>
            <a:stretch/>
          </p:blipFill>
          <p:spPr>
            <a:xfrm>
              <a:off x="3425296" y="4091359"/>
              <a:ext cx="435301" cy="424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F4D242A-6760-8614-0987-C58688D86F21}"/>
              </a:ext>
            </a:extLst>
          </p:cNvPr>
          <p:cNvSpPr txBox="1"/>
          <p:nvPr/>
        </p:nvSpPr>
        <p:spPr>
          <a:xfrm>
            <a:off x="0" y="1168121"/>
            <a:ext cx="53755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îmbunătățește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poți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Tx/>
              <a:buChar char="-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stare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coloane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uncția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vecinătatea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ajunge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mutând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coloană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sunt 56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</a:t>
            </a: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800" b="1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uncție</a:t>
            </a:r>
            <a:r>
              <a:rPr lang="en-US" sz="18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obiectiv</a:t>
            </a:r>
            <a:r>
              <a:rPr lang="en-US" sz="18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NU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maximizăm</a:t>
            </a:r>
            <a:r>
              <a:rPr lang="en-US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obiectiv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 = 28,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corespunde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finale)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4820263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67B50-966E-2AD7-03D0-4266B8DAC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75D3F1F-8DEE-0863-7D52-1BDF90AE5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527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800" dirty="0">
                <a:latin typeface="Times New Roman"/>
                <a:cs typeface="Times New Roman"/>
              </a:rPr>
              <a:t>Hill climbing </a:t>
            </a:r>
            <a:r>
              <a:rPr lang="en-US" sz="3800" dirty="0" err="1">
                <a:latin typeface="Times New Roman"/>
                <a:cs typeface="Times New Roman"/>
              </a:rPr>
              <a:t>pentru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problema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celor</a:t>
            </a:r>
            <a:r>
              <a:rPr lang="en-US" sz="3800" dirty="0">
                <a:latin typeface="Times New Roman"/>
                <a:cs typeface="Times New Roman"/>
              </a:rPr>
              <a:t> 8 </a:t>
            </a:r>
            <a:r>
              <a:rPr lang="en-US" sz="3800" dirty="0" err="1">
                <a:latin typeface="Times New Roman"/>
                <a:cs typeface="Times New Roman"/>
              </a:rPr>
              <a:t>regine</a:t>
            </a:r>
            <a:endParaRPr lang="en-US" sz="3800" dirty="0">
              <a:latin typeface="Times New Roman"/>
              <a:cs typeface="Times New Roman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8451CB-8126-3384-5847-E227E475EEEB}"/>
              </a:ext>
            </a:extLst>
          </p:cNvPr>
          <p:cNvGrpSpPr/>
          <p:nvPr/>
        </p:nvGrpSpPr>
        <p:grpSpPr>
          <a:xfrm>
            <a:off x="5152292" y="1746871"/>
            <a:ext cx="3851903" cy="4013145"/>
            <a:chOff x="3726533" y="1422427"/>
            <a:chExt cx="3851903" cy="4013145"/>
          </a:xfrm>
        </p:grpSpPr>
        <p:pic>
          <p:nvPicPr>
            <p:cNvPr id="6" name="Picture 5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020C1E00-D151-8178-1731-4F100DE97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6533" y="1422427"/>
              <a:ext cx="3851903" cy="4013145"/>
            </a:xfrm>
            <a:prstGeom prst="rect">
              <a:avLst/>
            </a:prstGeom>
          </p:spPr>
        </p:pic>
        <p:pic>
          <p:nvPicPr>
            <p:cNvPr id="11" name="Picture 10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13DA157D-FC78-44A5-C8D1-DE1E73D09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3803121" y="1538931"/>
              <a:ext cx="433137" cy="461211"/>
            </a:xfrm>
            <a:prstGeom prst="rect">
              <a:avLst/>
            </a:prstGeom>
          </p:spPr>
        </p:pic>
        <p:pic>
          <p:nvPicPr>
            <p:cNvPr id="12" name="Picture 11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F2697D94-1492-0FAD-042E-4A156DC9B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3817011" y="3474262"/>
              <a:ext cx="419247" cy="407363"/>
            </a:xfrm>
            <a:prstGeom prst="rect">
              <a:avLst/>
            </a:prstGeom>
          </p:spPr>
        </p:pic>
        <p:pic>
          <p:nvPicPr>
            <p:cNvPr id="13" name="Picture 12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84161B93-3A8C-E044-BBBC-5659D5063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4292405" y="3926780"/>
              <a:ext cx="419247" cy="407363"/>
            </a:xfrm>
            <a:prstGeom prst="rect">
              <a:avLst/>
            </a:prstGeom>
          </p:spPr>
        </p:pic>
        <p:pic>
          <p:nvPicPr>
            <p:cNvPr id="14" name="Picture 13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CC9D3084-9F36-9A9D-18C8-10FD94C6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4751757" y="4404704"/>
              <a:ext cx="419247" cy="407363"/>
            </a:xfrm>
            <a:prstGeom prst="rect">
              <a:avLst/>
            </a:prstGeom>
          </p:spPr>
        </p:pic>
        <p:pic>
          <p:nvPicPr>
            <p:cNvPr id="15" name="Picture 14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6CB920DC-5F87-7FEA-1BA9-E29BC6B1A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4284384" y="2498083"/>
              <a:ext cx="449179" cy="425116"/>
            </a:xfrm>
            <a:prstGeom prst="rect">
              <a:avLst/>
            </a:prstGeom>
          </p:spPr>
        </p:pic>
        <p:pic>
          <p:nvPicPr>
            <p:cNvPr id="16" name="Picture 15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A417B840-CEA2-DCD8-B53B-E88C4D39A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4751757" y="3420414"/>
              <a:ext cx="433137" cy="461211"/>
            </a:xfrm>
            <a:prstGeom prst="rect">
              <a:avLst/>
            </a:prstGeom>
          </p:spPr>
        </p:pic>
        <p:pic>
          <p:nvPicPr>
            <p:cNvPr id="17" name="Picture 16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5E55DFE7-84D2-1219-9FE7-36E5235CC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5211326" y="4379785"/>
              <a:ext cx="449179" cy="425116"/>
            </a:xfrm>
            <a:prstGeom prst="rect">
              <a:avLst/>
            </a:prstGeom>
          </p:spPr>
        </p:pic>
        <p:pic>
          <p:nvPicPr>
            <p:cNvPr id="18" name="Picture 17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96C9DC97-FBBE-D66F-5990-F3B81CE7B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5226291" y="2980679"/>
              <a:ext cx="419247" cy="407363"/>
            </a:xfrm>
            <a:prstGeom prst="rect">
              <a:avLst/>
            </a:prstGeom>
          </p:spPr>
        </p:pic>
        <p:pic>
          <p:nvPicPr>
            <p:cNvPr id="19" name="Picture 18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28A3DA08-3B03-7179-F7B7-388B73E4F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5700393" y="3436551"/>
              <a:ext cx="419247" cy="407363"/>
            </a:xfrm>
            <a:prstGeom prst="rect">
              <a:avLst/>
            </a:prstGeom>
          </p:spPr>
        </p:pic>
        <p:pic>
          <p:nvPicPr>
            <p:cNvPr id="20" name="Picture 19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F2B22119-76A3-EC9B-9960-73868DE0B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5700187" y="2020415"/>
              <a:ext cx="449179" cy="425116"/>
            </a:xfrm>
            <a:prstGeom prst="rect">
              <a:avLst/>
            </a:prstGeom>
          </p:spPr>
        </p:pic>
        <p:pic>
          <p:nvPicPr>
            <p:cNvPr id="21" name="Picture 20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9583909B-D0BE-7017-D582-676EB3178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6173429" y="3909481"/>
              <a:ext cx="419247" cy="407363"/>
            </a:xfrm>
            <a:prstGeom prst="rect">
              <a:avLst/>
            </a:prstGeom>
          </p:spPr>
        </p:pic>
        <p:pic>
          <p:nvPicPr>
            <p:cNvPr id="22" name="Picture 21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8AE5C1DB-D603-E3C6-8808-C5E454052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6170828" y="2959203"/>
              <a:ext cx="433137" cy="461211"/>
            </a:xfrm>
            <a:prstGeom prst="rect">
              <a:avLst/>
            </a:prstGeom>
          </p:spPr>
        </p:pic>
        <p:pic>
          <p:nvPicPr>
            <p:cNvPr id="23" name="Picture 22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4AC33EF5-46B9-5336-3597-65F835053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6655797" y="4388661"/>
              <a:ext cx="419247" cy="407363"/>
            </a:xfrm>
            <a:prstGeom prst="rect">
              <a:avLst/>
            </a:prstGeom>
          </p:spPr>
        </p:pic>
        <p:pic>
          <p:nvPicPr>
            <p:cNvPr id="24" name="Picture 23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DDD41CAC-2DFD-CCDF-3884-495400C8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7115625" y="3909480"/>
              <a:ext cx="419247" cy="407363"/>
            </a:xfrm>
            <a:prstGeom prst="rect">
              <a:avLst/>
            </a:prstGeom>
          </p:spPr>
        </p:pic>
        <p:pic>
          <p:nvPicPr>
            <p:cNvPr id="25" name="Picture 24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4264AFBA-4588-56CE-3A7D-AA66B2F93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7107604" y="4828109"/>
              <a:ext cx="433137" cy="461211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8394AB2-A513-F5B2-973F-22EE5574CE9F}"/>
              </a:ext>
            </a:extLst>
          </p:cNvPr>
          <p:cNvSpPr txBox="1"/>
          <p:nvPr/>
        </p:nvSpPr>
        <p:spPr>
          <a:xfrm>
            <a:off x="0" y="1168121"/>
            <a:ext cx="4976446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 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atacă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minimizăm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al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= 0,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corespunde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finale)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valoarea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#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aceeași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coloană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#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aceeași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#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aceeași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diagonală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0 + 5 +  12 = 17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5727138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0720-773F-EB8B-0446-7B509201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05FB201-9B2D-EC81-EC64-823A7F87F6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527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800" dirty="0">
                <a:latin typeface="Times New Roman"/>
                <a:cs typeface="Times New Roman"/>
              </a:rPr>
              <a:t>Hill climbing </a:t>
            </a:r>
            <a:r>
              <a:rPr lang="en-US" sz="3800" dirty="0" err="1">
                <a:latin typeface="Times New Roman"/>
                <a:cs typeface="Times New Roman"/>
              </a:rPr>
              <a:t>pentru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problema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celor</a:t>
            </a:r>
            <a:r>
              <a:rPr lang="en-US" sz="3800" dirty="0">
                <a:latin typeface="Times New Roman"/>
                <a:cs typeface="Times New Roman"/>
              </a:rPr>
              <a:t> 8 </a:t>
            </a:r>
            <a:r>
              <a:rPr lang="en-US" sz="3800" dirty="0" err="1">
                <a:latin typeface="Times New Roman"/>
                <a:cs typeface="Times New Roman"/>
              </a:rPr>
              <a:t>regine</a:t>
            </a:r>
            <a:endParaRPr lang="en-US" sz="3800" dirty="0">
              <a:latin typeface="Times New Roman"/>
              <a:cs typeface="Times New Roman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B4979F-0DCC-B819-2F09-3430CDE704D6}"/>
              </a:ext>
            </a:extLst>
          </p:cNvPr>
          <p:cNvGrpSpPr/>
          <p:nvPr/>
        </p:nvGrpSpPr>
        <p:grpSpPr>
          <a:xfrm>
            <a:off x="5152292" y="1746871"/>
            <a:ext cx="3851903" cy="4013145"/>
            <a:chOff x="3726533" y="1422427"/>
            <a:chExt cx="3851903" cy="4013145"/>
          </a:xfrm>
        </p:grpSpPr>
        <p:pic>
          <p:nvPicPr>
            <p:cNvPr id="6" name="Picture 5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13112D1B-BD71-98EF-5687-D3DB20530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6533" y="1422427"/>
              <a:ext cx="3851903" cy="4013145"/>
            </a:xfrm>
            <a:prstGeom prst="rect">
              <a:avLst/>
            </a:prstGeom>
          </p:spPr>
        </p:pic>
        <p:pic>
          <p:nvPicPr>
            <p:cNvPr id="11" name="Picture 10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BE8F6668-B78E-B4CE-3F2F-35346957D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3803121" y="1538931"/>
              <a:ext cx="433137" cy="461211"/>
            </a:xfrm>
            <a:prstGeom prst="rect">
              <a:avLst/>
            </a:prstGeom>
          </p:spPr>
        </p:pic>
        <p:pic>
          <p:nvPicPr>
            <p:cNvPr id="12" name="Picture 11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6567146A-DEFE-2763-A68F-FCAD91FEA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3817011" y="3474262"/>
              <a:ext cx="419247" cy="407363"/>
            </a:xfrm>
            <a:prstGeom prst="rect">
              <a:avLst/>
            </a:prstGeom>
          </p:spPr>
        </p:pic>
        <p:pic>
          <p:nvPicPr>
            <p:cNvPr id="13" name="Picture 12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E6175705-0E97-75B2-128A-91E9B9DA4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4292405" y="3926780"/>
              <a:ext cx="419247" cy="407363"/>
            </a:xfrm>
            <a:prstGeom prst="rect">
              <a:avLst/>
            </a:prstGeom>
          </p:spPr>
        </p:pic>
        <p:pic>
          <p:nvPicPr>
            <p:cNvPr id="14" name="Picture 13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06696503-813C-54C3-58C6-F48C83FA6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4751757" y="4404704"/>
              <a:ext cx="419247" cy="407363"/>
            </a:xfrm>
            <a:prstGeom prst="rect">
              <a:avLst/>
            </a:prstGeom>
          </p:spPr>
        </p:pic>
        <p:pic>
          <p:nvPicPr>
            <p:cNvPr id="15" name="Picture 14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5DF6108C-252D-EEA5-03EA-7C5B0E7BB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4284384" y="2498083"/>
              <a:ext cx="449179" cy="425116"/>
            </a:xfrm>
            <a:prstGeom prst="rect">
              <a:avLst/>
            </a:prstGeom>
          </p:spPr>
        </p:pic>
        <p:pic>
          <p:nvPicPr>
            <p:cNvPr id="16" name="Picture 15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3C747F8A-E003-98E5-CC3F-E56C1A47D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4751757" y="3420414"/>
              <a:ext cx="433137" cy="461211"/>
            </a:xfrm>
            <a:prstGeom prst="rect">
              <a:avLst/>
            </a:prstGeom>
          </p:spPr>
        </p:pic>
        <p:pic>
          <p:nvPicPr>
            <p:cNvPr id="17" name="Picture 16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F464D63C-873B-9B6C-A363-9870756DF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5211326" y="4379785"/>
              <a:ext cx="449179" cy="425116"/>
            </a:xfrm>
            <a:prstGeom prst="rect">
              <a:avLst/>
            </a:prstGeom>
          </p:spPr>
        </p:pic>
        <p:pic>
          <p:nvPicPr>
            <p:cNvPr id="18" name="Picture 17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34C304D2-181E-E02F-6F80-FE23D4987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5226291" y="2980679"/>
              <a:ext cx="419247" cy="407363"/>
            </a:xfrm>
            <a:prstGeom prst="rect">
              <a:avLst/>
            </a:prstGeom>
          </p:spPr>
        </p:pic>
        <p:pic>
          <p:nvPicPr>
            <p:cNvPr id="19" name="Picture 18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40C0D7F9-5EDE-2007-DA94-047037623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5700393" y="3436551"/>
              <a:ext cx="419247" cy="407363"/>
            </a:xfrm>
            <a:prstGeom prst="rect">
              <a:avLst/>
            </a:prstGeom>
          </p:spPr>
        </p:pic>
        <p:pic>
          <p:nvPicPr>
            <p:cNvPr id="20" name="Picture 19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8341EF13-8C1C-F457-42C6-71C07997F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5700187" y="2020415"/>
              <a:ext cx="449179" cy="425116"/>
            </a:xfrm>
            <a:prstGeom prst="rect">
              <a:avLst/>
            </a:prstGeom>
          </p:spPr>
        </p:pic>
        <p:pic>
          <p:nvPicPr>
            <p:cNvPr id="21" name="Picture 20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AE9745BE-5209-49F5-9270-5AAF81815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6173429" y="3909481"/>
              <a:ext cx="419247" cy="407363"/>
            </a:xfrm>
            <a:prstGeom prst="rect">
              <a:avLst/>
            </a:prstGeom>
          </p:spPr>
        </p:pic>
        <p:pic>
          <p:nvPicPr>
            <p:cNvPr id="22" name="Picture 21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B7D09DC5-8E61-E0F0-68FE-DF0B03973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6170828" y="2959203"/>
              <a:ext cx="433137" cy="461211"/>
            </a:xfrm>
            <a:prstGeom prst="rect">
              <a:avLst/>
            </a:prstGeom>
          </p:spPr>
        </p:pic>
        <p:pic>
          <p:nvPicPr>
            <p:cNvPr id="23" name="Picture 22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0473D405-6E43-56EA-D608-92D91930B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6655797" y="4388661"/>
              <a:ext cx="419247" cy="407363"/>
            </a:xfrm>
            <a:prstGeom prst="rect">
              <a:avLst/>
            </a:prstGeom>
          </p:spPr>
        </p:pic>
        <p:pic>
          <p:nvPicPr>
            <p:cNvPr id="24" name="Picture 23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EC19521F-46D6-D958-04E4-BF19623C7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7115625" y="3909480"/>
              <a:ext cx="419247" cy="407363"/>
            </a:xfrm>
            <a:prstGeom prst="rect">
              <a:avLst/>
            </a:prstGeom>
          </p:spPr>
        </p:pic>
        <p:pic>
          <p:nvPicPr>
            <p:cNvPr id="25" name="Picture 24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87F9DBCD-9773-20EE-9FEB-10BD14573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7107604" y="4828109"/>
              <a:ext cx="433137" cy="461211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899A2B4-74B8-72C0-6466-DD870AE8B945}"/>
              </a:ext>
            </a:extLst>
          </p:cNvPr>
          <p:cNvSpPr txBox="1"/>
          <p:nvPr/>
        </p:nvSpPr>
        <p:spPr>
          <a:xfrm>
            <a:off x="-1" y="1168121"/>
            <a:ext cx="518485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 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atacă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minimizăm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al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= 0,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corespunde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finale)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sunt 56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4806143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1FB2-B20C-2116-10B7-2820950D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2140FEE-3197-8D9F-964D-58F6B4523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527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800" dirty="0">
                <a:latin typeface="Times New Roman"/>
                <a:cs typeface="Times New Roman"/>
              </a:rPr>
              <a:t>Hill climbing </a:t>
            </a:r>
            <a:r>
              <a:rPr lang="en-US" sz="3800" dirty="0" err="1">
                <a:latin typeface="Times New Roman"/>
                <a:cs typeface="Times New Roman"/>
              </a:rPr>
              <a:t>pentru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problema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celor</a:t>
            </a:r>
            <a:r>
              <a:rPr lang="en-US" sz="3800" dirty="0">
                <a:latin typeface="Times New Roman"/>
                <a:cs typeface="Times New Roman"/>
              </a:rPr>
              <a:t> 8 </a:t>
            </a:r>
            <a:r>
              <a:rPr lang="en-US" sz="3800" dirty="0" err="1">
                <a:latin typeface="Times New Roman"/>
                <a:cs typeface="Times New Roman"/>
              </a:rPr>
              <a:t>regine</a:t>
            </a:r>
            <a:endParaRPr lang="en-US" sz="3800" dirty="0">
              <a:latin typeface="Times New Roman"/>
              <a:cs typeface="Times New Roman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136D3-70D3-DF36-E203-47949EBC05BA}"/>
              </a:ext>
            </a:extLst>
          </p:cNvPr>
          <p:cNvGrpSpPr/>
          <p:nvPr/>
        </p:nvGrpSpPr>
        <p:grpSpPr>
          <a:xfrm>
            <a:off x="175845" y="1852380"/>
            <a:ext cx="3851903" cy="4013145"/>
            <a:chOff x="3726533" y="1422427"/>
            <a:chExt cx="3851903" cy="4013145"/>
          </a:xfrm>
        </p:grpSpPr>
        <p:pic>
          <p:nvPicPr>
            <p:cNvPr id="6" name="Picture 5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1A16B60C-CAAE-9CCB-5EEB-6D206AC84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6533" y="1422427"/>
              <a:ext cx="3851903" cy="4013145"/>
            </a:xfrm>
            <a:prstGeom prst="rect">
              <a:avLst/>
            </a:prstGeom>
          </p:spPr>
        </p:pic>
        <p:pic>
          <p:nvPicPr>
            <p:cNvPr id="11" name="Picture 10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F5EC0720-7C59-4D6A-EC63-253026A78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3803121" y="1538931"/>
              <a:ext cx="433137" cy="461211"/>
            </a:xfrm>
            <a:prstGeom prst="rect">
              <a:avLst/>
            </a:prstGeom>
          </p:spPr>
        </p:pic>
        <p:pic>
          <p:nvPicPr>
            <p:cNvPr id="12" name="Picture 11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BE817935-DA4F-198E-4CC1-7CC8407EF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3817011" y="3474262"/>
              <a:ext cx="419247" cy="407363"/>
            </a:xfrm>
            <a:prstGeom prst="rect">
              <a:avLst/>
            </a:prstGeom>
          </p:spPr>
        </p:pic>
        <p:pic>
          <p:nvPicPr>
            <p:cNvPr id="13" name="Picture 12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88500B5C-3FF9-A31C-6A39-015BA40A3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4292405" y="3926780"/>
              <a:ext cx="419247" cy="407363"/>
            </a:xfrm>
            <a:prstGeom prst="rect">
              <a:avLst/>
            </a:prstGeom>
          </p:spPr>
        </p:pic>
        <p:pic>
          <p:nvPicPr>
            <p:cNvPr id="14" name="Picture 13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A54228E2-E123-D212-7989-148A1EF30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4751757" y="4404704"/>
              <a:ext cx="419247" cy="407363"/>
            </a:xfrm>
            <a:prstGeom prst="rect">
              <a:avLst/>
            </a:prstGeom>
          </p:spPr>
        </p:pic>
        <p:pic>
          <p:nvPicPr>
            <p:cNvPr id="15" name="Picture 14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C74033E6-8476-8ABD-5429-4B2046E33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4284384" y="2498083"/>
              <a:ext cx="449179" cy="425116"/>
            </a:xfrm>
            <a:prstGeom prst="rect">
              <a:avLst/>
            </a:prstGeom>
          </p:spPr>
        </p:pic>
        <p:pic>
          <p:nvPicPr>
            <p:cNvPr id="16" name="Picture 15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D1919CD8-0F38-A7DF-746C-22FC464BC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4751757" y="3420414"/>
              <a:ext cx="433137" cy="461211"/>
            </a:xfrm>
            <a:prstGeom prst="rect">
              <a:avLst/>
            </a:prstGeom>
          </p:spPr>
        </p:pic>
        <p:pic>
          <p:nvPicPr>
            <p:cNvPr id="17" name="Picture 16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873BED26-F96D-21BD-CF50-37DDFD374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5211326" y="4379785"/>
              <a:ext cx="449179" cy="425116"/>
            </a:xfrm>
            <a:prstGeom prst="rect">
              <a:avLst/>
            </a:prstGeom>
          </p:spPr>
        </p:pic>
        <p:pic>
          <p:nvPicPr>
            <p:cNvPr id="18" name="Picture 17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C06B7C41-9FA5-6722-4E24-6A9AC730C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5226291" y="2980679"/>
              <a:ext cx="419247" cy="407363"/>
            </a:xfrm>
            <a:prstGeom prst="rect">
              <a:avLst/>
            </a:prstGeom>
          </p:spPr>
        </p:pic>
        <p:pic>
          <p:nvPicPr>
            <p:cNvPr id="19" name="Picture 18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42506748-DE28-339A-D163-5C6980FF6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5700393" y="3436551"/>
              <a:ext cx="419247" cy="407363"/>
            </a:xfrm>
            <a:prstGeom prst="rect">
              <a:avLst/>
            </a:prstGeom>
          </p:spPr>
        </p:pic>
        <p:pic>
          <p:nvPicPr>
            <p:cNvPr id="20" name="Picture 19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73E98ABB-FDD7-B58A-9C13-CDDE47BB9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5700187" y="2020415"/>
              <a:ext cx="449179" cy="425116"/>
            </a:xfrm>
            <a:prstGeom prst="rect">
              <a:avLst/>
            </a:prstGeom>
          </p:spPr>
        </p:pic>
        <p:pic>
          <p:nvPicPr>
            <p:cNvPr id="21" name="Picture 20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B195F075-D598-F348-BEFA-485DC58F1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6173429" y="3909481"/>
              <a:ext cx="419247" cy="407363"/>
            </a:xfrm>
            <a:prstGeom prst="rect">
              <a:avLst/>
            </a:prstGeom>
          </p:spPr>
        </p:pic>
        <p:pic>
          <p:nvPicPr>
            <p:cNvPr id="22" name="Picture 21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8E0BBC37-5586-8108-8519-B2A127AEC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6170828" y="2959203"/>
              <a:ext cx="433137" cy="461211"/>
            </a:xfrm>
            <a:prstGeom prst="rect">
              <a:avLst/>
            </a:prstGeom>
          </p:spPr>
        </p:pic>
        <p:pic>
          <p:nvPicPr>
            <p:cNvPr id="23" name="Picture 22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D960DA11-5800-6DC7-6F8E-EB85F6510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6655797" y="4388661"/>
              <a:ext cx="419247" cy="407363"/>
            </a:xfrm>
            <a:prstGeom prst="rect">
              <a:avLst/>
            </a:prstGeom>
          </p:spPr>
        </p:pic>
        <p:pic>
          <p:nvPicPr>
            <p:cNvPr id="24" name="Picture 23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ABD8076F-26BB-6E5A-7454-8389E4729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7115625" y="3909480"/>
              <a:ext cx="419247" cy="407363"/>
            </a:xfrm>
            <a:prstGeom prst="rect">
              <a:avLst/>
            </a:prstGeom>
          </p:spPr>
        </p:pic>
        <p:pic>
          <p:nvPicPr>
            <p:cNvPr id="25" name="Picture 24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E8CBD1C4-7180-49D3-7078-6B19B959A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7107604" y="4828109"/>
              <a:ext cx="433137" cy="461211"/>
            </a:xfrm>
            <a:prstGeom prst="rect">
              <a:avLst/>
            </a:prstGeom>
          </p:spPr>
        </p:pic>
      </p:grpSp>
      <p:pic>
        <p:nvPicPr>
          <p:cNvPr id="3" name="Picture 2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676AEDC5-C8C4-8729-EECF-D83C4CB48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731" y="1859931"/>
            <a:ext cx="3851903" cy="4013145"/>
          </a:xfrm>
          <a:prstGeom prst="rect">
            <a:avLst/>
          </a:prstGeom>
        </p:spPr>
      </p:pic>
      <p:pic>
        <p:nvPicPr>
          <p:cNvPr id="4" name="Picture 3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D4506030-44E4-C36A-38A6-9ABD642026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05" t="26059" r="37151" b="62449"/>
          <a:stretch/>
        </p:blipFill>
        <p:spPr>
          <a:xfrm>
            <a:off x="5283319" y="1976435"/>
            <a:ext cx="433137" cy="461211"/>
          </a:xfrm>
          <a:prstGeom prst="rect">
            <a:avLst/>
          </a:prstGeom>
        </p:spPr>
      </p:pic>
      <p:pic>
        <p:nvPicPr>
          <p:cNvPr id="5" name="Picture 4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2D158C7F-BD6E-99A1-B1B8-67792366E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18" t="38638" r="25897" b="51212"/>
          <a:stretch/>
        </p:blipFill>
        <p:spPr>
          <a:xfrm>
            <a:off x="5297209" y="3911766"/>
            <a:ext cx="419247" cy="407363"/>
          </a:xfrm>
          <a:prstGeom prst="rect">
            <a:avLst/>
          </a:prstGeom>
        </p:spPr>
      </p:pic>
      <p:pic>
        <p:nvPicPr>
          <p:cNvPr id="7" name="Picture 6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00E032E1-6ED2-3A63-C3A1-C0BCCC27F9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18" t="38638" r="25897" b="51212"/>
          <a:stretch/>
        </p:blipFill>
        <p:spPr>
          <a:xfrm>
            <a:off x="5772603" y="4364284"/>
            <a:ext cx="419247" cy="407363"/>
          </a:xfrm>
          <a:prstGeom prst="rect">
            <a:avLst/>
          </a:prstGeom>
        </p:spPr>
      </p:pic>
      <p:pic>
        <p:nvPicPr>
          <p:cNvPr id="8" name="Picture 7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A34B9B96-F0DB-4381-122C-7EA0347793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18" t="38638" r="25897" b="51212"/>
          <a:stretch/>
        </p:blipFill>
        <p:spPr>
          <a:xfrm>
            <a:off x="6231955" y="4842208"/>
            <a:ext cx="419247" cy="407363"/>
          </a:xfrm>
          <a:prstGeom prst="rect">
            <a:avLst/>
          </a:prstGeom>
        </p:spPr>
      </p:pic>
      <p:pic>
        <p:nvPicPr>
          <p:cNvPr id="9" name="Picture 8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39A1687F-4823-4C32-8DBB-DE917259A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97" t="50298" r="25042" b="39109"/>
          <a:stretch/>
        </p:blipFill>
        <p:spPr>
          <a:xfrm>
            <a:off x="5764582" y="2935587"/>
            <a:ext cx="449179" cy="425116"/>
          </a:xfrm>
          <a:prstGeom prst="rect">
            <a:avLst/>
          </a:prstGeom>
        </p:spPr>
      </p:pic>
      <p:pic>
        <p:nvPicPr>
          <p:cNvPr id="10" name="Picture 9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50A65838-61B6-A31E-BC99-5D4954E6F7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05" t="26059" r="37151" b="62449"/>
          <a:stretch/>
        </p:blipFill>
        <p:spPr>
          <a:xfrm>
            <a:off x="6231955" y="3857918"/>
            <a:ext cx="433137" cy="461211"/>
          </a:xfrm>
          <a:prstGeom prst="rect">
            <a:avLst/>
          </a:prstGeom>
        </p:spPr>
      </p:pic>
      <p:pic>
        <p:nvPicPr>
          <p:cNvPr id="28" name="Picture 27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22E2D494-3FF2-532A-7E14-61B563A24A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97" t="50298" r="25042" b="39109"/>
          <a:stretch/>
        </p:blipFill>
        <p:spPr>
          <a:xfrm>
            <a:off x="6691524" y="4817289"/>
            <a:ext cx="449179" cy="425116"/>
          </a:xfrm>
          <a:prstGeom prst="rect">
            <a:avLst/>
          </a:prstGeom>
        </p:spPr>
      </p:pic>
      <p:pic>
        <p:nvPicPr>
          <p:cNvPr id="29" name="Picture 28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7E2CAD4A-A143-BE53-C366-0A7ACEE143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18" t="38638" r="25897" b="51212"/>
          <a:stretch/>
        </p:blipFill>
        <p:spPr>
          <a:xfrm>
            <a:off x="6706489" y="3418183"/>
            <a:ext cx="419247" cy="407363"/>
          </a:xfrm>
          <a:prstGeom prst="rect">
            <a:avLst/>
          </a:prstGeom>
        </p:spPr>
      </p:pic>
      <p:pic>
        <p:nvPicPr>
          <p:cNvPr id="30" name="Picture 29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6514CAF5-5EA8-6744-4CE4-5349674AE5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18" t="38638" r="25897" b="51212"/>
          <a:stretch/>
        </p:blipFill>
        <p:spPr>
          <a:xfrm>
            <a:off x="7180591" y="3874055"/>
            <a:ext cx="419247" cy="407363"/>
          </a:xfrm>
          <a:prstGeom prst="rect">
            <a:avLst/>
          </a:prstGeom>
        </p:spPr>
      </p:pic>
      <p:pic>
        <p:nvPicPr>
          <p:cNvPr id="31" name="Picture 30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69CFE2DE-ED09-0785-6C37-0D809BB38F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97" t="50298" r="25042" b="39109"/>
          <a:stretch/>
        </p:blipFill>
        <p:spPr>
          <a:xfrm>
            <a:off x="7180385" y="2457919"/>
            <a:ext cx="449179" cy="425116"/>
          </a:xfrm>
          <a:prstGeom prst="rect">
            <a:avLst/>
          </a:prstGeom>
        </p:spPr>
      </p:pic>
      <p:pic>
        <p:nvPicPr>
          <p:cNvPr id="32" name="Picture 31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7626D920-4AD7-9BC5-C8F9-312C51830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18" t="38638" r="25897" b="51212"/>
          <a:stretch/>
        </p:blipFill>
        <p:spPr>
          <a:xfrm>
            <a:off x="7653627" y="4346985"/>
            <a:ext cx="419247" cy="407363"/>
          </a:xfrm>
          <a:prstGeom prst="rect">
            <a:avLst/>
          </a:prstGeom>
        </p:spPr>
      </p:pic>
      <p:pic>
        <p:nvPicPr>
          <p:cNvPr id="33" name="Picture 32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3E95A897-0FDC-F83C-2602-29AEA736D0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05" t="26059" r="37151" b="62449"/>
          <a:stretch/>
        </p:blipFill>
        <p:spPr>
          <a:xfrm>
            <a:off x="7651026" y="3396707"/>
            <a:ext cx="433137" cy="461211"/>
          </a:xfrm>
          <a:prstGeom prst="rect">
            <a:avLst/>
          </a:prstGeom>
        </p:spPr>
      </p:pic>
      <p:pic>
        <p:nvPicPr>
          <p:cNvPr id="34" name="Picture 33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E9F88B6F-04E9-77DE-DD44-5B782471E8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18" t="38638" r="25897" b="51212"/>
          <a:stretch/>
        </p:blipFill>
        <p:spPr>
          <a:xfrm>
            <a:off x="8135995" y="4826165"/>
            <a:ext cx="419247" cy="407363"/>
          </a:xfrm>
          <a:prstGeom prst="rect">
            <a:avLst/>
          </a:prstGeom>
        </p:spPr>
      </p:pic>
      <p:pic>
        <p:nvPicPr>
          <p:cNvPr id="35" name="Picture 34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80CD347C-B574-42B9-CD27-0824C84CFF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18" t="38638" r="25897" b="51212"/>
          <a:stretch/>
        </p:blipFill>
        <p:spPr>
          <a:xfrm>
            <a:off x="8595823" y="4346984"/>
            <a:ext cx="419247" cy="407363"/>
          </a:xfrm>
          <a:prstGeom prst="rect">
            <a:avLst/>
          </a:prstGeom>
        </p:spPr>
      </p:pic>
      <p:pic>
        <p:nvPicPr>
          <p:cNvPr id="36" name="Picture 35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36EC492B-4C1E-CDBC-8D37-2450F658FB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05" t="26059" r="37151" b="62449"/>
          <a:stretch/>
        </p:blipFill>
        <p:spPr>
          <a:xfrm>
            <a:off x="8587802" y="5265613"/>
            <a:ext cx="433137" cy="461211"/>
          </a:xfrm>
          <a:prstGeom prst="rect">
            <a:avLst/>
          </a:prstGeom>
        </p:spPr>
      </p:pic>
      <p:pic>
        <p:nvPicPr>
          <p:cNvPr id="37" name="Picture 36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5BF39E5D-2592-4895-CA33-BE1C263CF9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89" t="15142" r="37710" b="74284"/>
          <a:stretch/>
        </p:blipFill>
        <p:spPr>
          <a:xfrm>
            <a:off x="5766300" y="2946742"/>
            <a:ext cx="435301" cy="424334"/>
          </a:xfrm>
          <a:prstGeom prst="rect">
            <a:avLst/>
          </a:prstGeom>
        </p:spPr>
      </p:pic>
      <p:pic>
        <p:nvPicPr>
          <p:cNvPr id="38" name="Picture 37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09C8F683-CE64-39C9-D5E1-C6FA29C3FC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05" t="26059" r="37151" b="62449"/>
          <a:stretch/>
        </p:blipFill>
        <p:spPr>
          <a:xfrm>
            <a:off x="8121813" y="4804514"/>
            <a:ext cx="433137" cy="46121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D7B51F0-D25C-481F-2200-2AB6BF5BFCDC}"/>
              </a:ext>
            </a:extLst>
          </p:cNvPr>
          <p:cNvSpPr txBox="1"/>
          <p:nvPr/>
        </p:nvSpPr>
        <p:spPr>
          <a:xfrm>
            <a:off x="483362" y="1401190"/>
            <a:ext cx="309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Stare actuală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3339B6-08AD-5A71-490F-CB6536D98DD7}"/>
              </a:ext>
            </a:extLst>
          </p:cNvPr>
          <p:cNvSpPr txBox="1"/>
          <p:nvPr/>
        </p:nvSpPr>
        <p:spPr>
          <a:xfrm>
            <a:off x="5592735" y="1441058"/>
            <a:ext cx="309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Posibil succesor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92169B2-ED70-3143-BF94-DFCC5D5E3D3D}"/>
              </a:ext>
            </a:extLst>
          </p:cNvPr>
          <p:cNvSpPr/>
          <p:nvPr/>
        </p:nvSpPr>
        <p:spPr>
          <a:xfrm>
            <a:off x="698851" y="4314124"/>
            <a:ext cx="509074" cy="52053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3972371-6AC5-6508-CFA1-B924E17EF8BB}"/>
              </a:ext>
            </a:extLst>
          </p:cNvPr>
          <p:cNvSpPr/>
          <p:nvPr/>
        </p:nvSpPr>
        <p:spPr>
          <a:xfrm>
            <a:off x="5716456" y="2894629"/>
            <a:ext cx="509074" cy="52053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004407E2-D5CF-33D4-3061-91165A12A7E1}"/>
              </a:ext>
            </a:extLst>
          </p:cNvPr>
          <p:cNvSpPr/>
          <p:nvPr/>
        </p:nvSpPr>
        <p:spPr>
          <a:xfrm>
            <a:off x="4063598" y="3648952"/>
            <a:ext cx="1132683" cy="46121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FC160C-4E9B-7D00-32F9-EAF9EE1B3A9F}"/>
              </a:ext>
            </a:extLst>
          </p:cNvPr>
          <p:cNvSpPr txBox="1"/>
          <p:nvPr/>
        </p:nvSpPr>
        <p:spPr>
          <a:xfrm>
            <a:off x="381000" y="5994400"/>
            <a:ext cx="894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#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aceeași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coloană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#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aceeași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#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aceeași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diagonală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+ 3 + 9 = 12</a:t>
            </a:r>
          </a:p>
        </p:txBody>
      </p:sp>
      <p:pic>
        <p:nvPicPr>
          <p:cNvPr id="45" name="Picture 44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39669590-6833-0E86-F0E3-08B35E8DB5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18" t="38638" r="25897" b="51212"/>
          <a:stretch/>
        </p:blipFill>
        <p:spPr>
          <a:xfrm>
            <a:off x="8135995" y="4817289"/>
            <a:ext cx="419247" cy="407363"/>
          </a:xfrm>
          <a:prstGeom prst="rect">
            <a:avLst/>
          </a:prstGeom>
        </p:spPr>
      </p:pic>
      <p:pic>
        <p:nvPicPr>
          <p:cNvPr id="46" name="Picture 45" descr="A chess board with black crowns&#10;&#10;Description automatically generated">
            <a:extLst>
              <a:ext uri="{FF2B5EF4-FFF2-40B4-BE49-F238E27FC236}">
                <a16:creationId xmlns:a16="http://schemas.microsoft.com/office/drawing/2014/main" id="{B548CBF7-4F96-4933-D471-A714272949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05" t="26059" r="37151" b="62449"/>
          <a:stretch/>
        </p:blipFill>
        <p:spPr>
          <a:xfrm>
            <a:off x="5777562" y="4346984"/>
            <a:ext cx="433137" cy="46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3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290F9-057A-DC0D-EAD3-95EB76FB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D7AE35C-1026-4967-2D05-AC97002ADF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527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800" dirty="0">
                <a:latin typeface="Times New Roman"/>
                <a:cs typeface="Times New Roman"/>
              </a:rPr>
              <a:t>Hill climbing </a:t>
            </a:r>
            <a:r>
              <a:rPr lang="en-US" sz="3800" dirty="0" err="1">
                <a:latin typeface="Times New Roman"/>
                <a:cs typeface="Times New Roman"/>
              </a:rPr>
              <a:t>pentru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problema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celor</a:t>
            </a:r>
            <a:r>
              <a:rPr lang="en-US" sz="3800" dirty="0">
                <a:latin typeface="Times New Roman"/>
                <a:cs typeface="Times New Roman"/>
              </a:rPr>
              <a:t> 8 </a:t>
            </a:r>
            <a:r>
              <a:rPr lang="en-US" sz="3800" dirty="0" err="1">
                <a:latin typeface="Times New Roman"/>
                <a:cs typeface="Times New Roman"/>
              </a:rPr>
              <a:t>regine</a:t>
            </a:r>
            <a:endParaRPr lang="en-US" sz="3800" dirty="0">
              <a:latin typeface="Times New Roman"/>
              <a:cs typeface="Times New Roman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88E28B-1DF8-F27F-9D43-C6B1C300B5A2}"/>
              </a:ext>
            </a:extLst>
          </p:cNvPr>
          <p:cNvGrpSpPr/>
          <p:nvPr/>
        </p:nvGrpSpPr>
        <p:grpSpPr>
          <a:xfrm>
            <a:off x="5152292" y="1746871"/>
            <a:ext cx="3851903" cy="4013145"/>
            <a:chOff x="3726533" y="1422427"/>
            <a:chExt cx="3851903" cy="4013145"/>
          </a:xfrm>
        </p:grpSpPr>
        <p:pic>
          <p:nvPicPr>
            <p:cNvPr id="6" name="Picture 5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A2968940-6402-B610-5692-BA6EAC389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6533" y="1422427"/>
              <a:ext cx="3851903" cy="4013145"/>
            </a:xfrm>
            <a:prstGeom prst="rect">
              <a:avLst/>
            </a:prstGeom>
          </p:spPr>
        </p:pic>
        <p:pic>
          <p:nvPicPr>
            <p:cNvPr id="11" name="Picture 10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C7F6CE79-C59E-F176-88A2-223498318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3803121" y="1538931"/>
              <a:ext cx="433137" cy="461211"/>
            </a:xfrm>
            <a:prstGeom prst="rect">
              <a:avLst/>
            </a:prstGeom>
          </p:spPr>
        </p:pic>
        <p:pic>
          <p:nvPicPr>
            <p:cNvPr id="12" name="Picture 11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137ACA76-FBBE-4061-43E0-3F9471387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3817011" y="3474262"/>
              <a:ext cx="419247" cy="407363"/>
            </a:xfrm>
            <a:prstGeom prst="rect">
              <a:avLst/>
            </a:prstGeom>
          </p:spPr>
        </p:pic>
        <p:pic>
          <p:nvPicPr>
            <p:cNvPr id="13" name="Picture 12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CB9E7090-A21E-1D07-F626-0E26F6397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4292405" y="3926780"/>
              <a:ext cx="419247" cy="407363"/>
            </a:xfrm>
            <a:prstGeom prst="rect">
              <a:avLst/>
            </a:prstGeom>
          </p:spPr>
        </p:pic>
        <p:pic>
          <p:nvPicPr>
            <p:cNvPr id="14" name="Picture 13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FA1B2E04-7B90-20A2-021D-24A9946B8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4751757" y="4404704"/>
              <a:ext cx="419247" cy="407363"/>
            </a:xfrm>
            <a:prstGeom prst="rect">
              <a:avLst/>
            </a:prstGeom>
          </p:spPr>
        </p:pic>
        <p:pic>
          <p:nvPicPr>
            <p:cNvPr id="15" name="Picture 14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556654B2-3B3B-5FFB-9AE2-3536BDE88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4284384" y="2498083"/>
              <a:ext cx="449179" cy="425116"/>
            </a:xfrm>
            <a:prstGeom prst="rect">
              <a:avLst/>
            </a:prstGeom>
          </p:spPr>
        </p:pic>
        <p:pic>
          <p:nvPicPr>
            <p:cNvPr id="16" name="Picture 15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E758C6B6-077B-90EC-595C-CD2116B03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4751757" y="3420414"/>
              <a:ext cx="433137" cy="461211"/>
            </a:xfrm>
            <a:prstGeom prst="rect">
              <a:avLst/>
            </a:prstGeom>
          </p:spPr>
        </p:pic>
        <p:pic>
          <p:nvPicPr>
            <p:cNvPr id="17" name="Picture 16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5F7C9F04-853D-5A06-C4F9-C70BFFAC2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5211326" y="4379785"/>
              <a:ext cx="449179" cy="425116"/>
            </a:xfrm>
            <a:prstGeom prst="rect">
              <a:avLst/>
            </a:prstGeom>
          </p:spPr>
        </p:pic>
        <p:pic>
          <p:nvPicPr>
            <p:cNvPr id="18" name="Picture 17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C54E9D40-1CCF-81B8-511B-0BE1E7F4C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5226291" y="2980679"/>
              <a:ext cx="419247" cy="407363"/>
            </a:xfrm>
            <a:prstGeom prst="rect">
              <a:avLst/>
            </a:prstGeom>
          </p:spPr>
        </p:pic>
        <p:pic>
          <p:nvPicPr>
            <p:cNvPr id="19" name="Picture 18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19751889-C74D-463F-FF25-1EBDB1975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5700393" y="3436551"/>
              <a:ext cx="419247" cy="407363"/>
            </a:xfrm>
            <a:prstGeom prst="rect">
              <a:avLst/>
            </a:prstGeom>
          </p:spPr>
        </p:pic>
        <p:pic>
          <p:nvPicPr>
            <p:cNvPr id="20" name="Picture 19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C57E44EE-68B4-AF49-CD76-CD3833C73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97" t="50298" r="25042" b="39109"/>
            <a:stretch/>
          </p:blipFill>
          <p:spPr>
            <a:xfrm>
              <a:off x="5700187" y="2020415"/>
              <a:ext cx="449179" cy="425116"/>
            </a:xfrm>
            <a:prstGeom prst="rect">
              <a:avLst/>
            </a:prstGeom>
          </p:spPr>
        </p:pic>
        <p:pic>
          <p:nvPicPr>
            <p:cNvPr id="21" name="Picture 20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4BE170A7-EB73-93B4-2903-CD3F0D0F0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6173429" y="3909481"/>
              <a:ext cx="419247" cy="407363"/>
            </a:xfrm>
            <a:prstGeom prst="rect">
              <a:avLst/>
            </a:prstGeom>
          </p:spPr>
        </p:pic>
        <p:pic>
          <p:nvPicPr>
            <p:cNvPr id="22" name="Picture 21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841E818C-2B20-9243-1782-1C663B54B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6170828" y="2959203"/>
              <a:ext cx="433137" cy="461211"/>
            </a:xfrm>
            <a:prstGeom prst="rect">
              <a:avLst/>
            </a:prstGeom>
          </p:spPr>
        </p:pic>
        <p:pic>
          <p:nvPicPr>
            <p:cNvPr id="23" name="Picture 22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280F760E-A3D2-A4D9-8A5C-AAA7FECE9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6655797" y="4388661"/>
              <a:ext cx="419247" cy="407363"/>
            </a:xfrm>
            <a:prstGeom prst="rect">
              <a:avLst/>
            </a:prstGeom>
          </p:spPr>
        </p:pic>
        <p:pic>
          <p:nvPicPr>
            <p:cNvPr id="24" name="Picture 23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34985A41-4D7C-2BF5-A1C7-53EECEE35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18" t="38638" r="25897" b="51212"/>
            <a:stretch/>
          </p:blipFill>
          <p:spPr>
            <a:xfrm>
              <a:off x="7115625" y="3909480"/>
              <a:ext cx="419247" cy="407363"/>
            </a:xfrm>
            <a:prstGeom prst="rect">
              <a:avLst/>
            </a:prstGeom>
          </p:spPr>
        </p:pic>
        <p:pic>
          <p:nvPicPr>
            <p:cNvPr id="25" name="Picture 24" descr="A chess board with black crowns&#10;&#10;Description automatically generated">
              <a:extLst>
                <a:ext uri="{FF2B5EF4-FFF2-40B4-BE49-F238E27FC236}">
                  <a16:creationId xmlns:a16="http://schemas.microsoft.com/office/drawing/2014/main" id="{CCE6A2F3-0B78-7F6F-7235-2A9FDC63D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605" t="26059" r="37151" b="62449"/>
            <a:stretch/>
          </p:blipFill>
          <p:spPr>
            <a:xfrm>
              <a:off x="7107604" y="4828109"/>
              <a:ext cx="433137" cy="461211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4CDFDFC-B039-1764-3D8E-FAC6561BB8AF}"/>
              </a:ext>
            </a:extLst>
          </p:cNvPr>
          <p:cNvSpPr txBox="1"/>
          <p:nvPr/>
        </p:nvSpPr>
        <p:spPr>
          <a:xfrm>
            <a:off x="-1" y="1168121"/>
            <a:ext cx="518485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sunt 56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h = 12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climbing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aleator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succesori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climbing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greedy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fără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aibă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privire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ansamblu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1" descr="A board game with numbers and crowns&#10;&#10;Description automatically generated">
            <a:extLst>
              <a:ext uri="{FF2B5EF4-FFF2-40B4-BE49-F238E27FC236}">
                <a16:creationId xmlns:a16="http://schemas.microsoft.com/office/drawing/2014/main" id="{3C2536CE-5536-1B00-2DD5-81DC7127B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355" y="1660792"/>
            <a:ext cx="4059808" cy="409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2087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4269E-BC1B-9A54-D436-41009FF4C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52533C8-928A-04F0-C160-31F5FEA4C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527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800" dirty="0">
                <a:latin typeface="Times New Roman"/>
                <a:cs typeface="Times New Roman"/>
              </a:rPr>
              <a:t>Hill climbing </a:t>
            </a:r>
            <a:r>
              <a:rPr lang="en-US" sz="3800" dirty="0" err="1">
                <a:latin typeface="Times New Roman"/>
                <a:cs typeface="Times New Roman"/>
              </a:rPr>
              <a:t>pentru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problema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celor</a:t>
            </a:r>
            <a:r>
              <a:rPr lang="en-US" sz="3800" dirty="0">
                <a:latin typeface="Times New Roman"/>
                <a:cs typeface="Times New Roman"/>
              </a:rPr>
              <a:t> 8 </a:t>
            </a:r>
            <a:r>
              <a:rPr lang="en-US" sz="3800" dirty="0" err="1">
                <a:latin typeface="Times New Roman"/>
                <a:cs typeface="Times New Roman"/>
              </a:rPr>
              <a:t>regine</a:t>
            </a:r>
            <a:endParaRPr lang="en-US" sz="38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close-up of a board game&#10;&#10;Description automatically generated">
            <a:extLst>
              <a:ext uri="{FF2B5EF4-FFF2-40B4-BE49-F238E27FC236}">
                <a16:creationId xmlns:a16="http://schemas.microsoft.com/office/drawing/2014/main" id="{E5A813C6-1D9D-B5ED-80A1-5FE742F0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37" y="1282700"/>
            <a:ext cx="8179526" cy="36703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5C71C34A-C834-B859-1688-0E6C40FE6E3D}"/>
              </a:ext>
            </a:extLst>
          </p:cNvPr>
          <p:cNvSpPr/>
          <p:nvPr/>
        </p:nvSpPr>
        <p:spPr>
          <a:xfrm>
            <a:off x="4085629" y="2694739"/>
            <a:ext cx="972742" cy="45486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mutări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D654AF2-E725-7296-B216-C10B32A06DF1}"/>
              </a:ext>
            </a:extLst>
          </p:cNvPr>
          <p:cNvSpPr/>
          <p:nvPr/>
        </p:nvSpPr>
        <p:spPr>
          <a:xfrm>
            <a:off x="1041751" y="3514025"/>
            <a:ext cx="431449" cy="44837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82CC5C2-06EF-6356-AD1C-D271D8E1C62F}"/>
              </a:ext>
            </a:extLst>
          </p:cNvPr>
          <p:cNvSpPr/>
          <p:nvPr/>
        </p:nvSpPr>
        <p:spPr>
          <a:xfrm>
            <a:off x="5499451" y="2271763"/>
            <a:ext cx="431449" cy="44837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C4DEB30-451D-5E71-470B-A80ECB541F50}"/>
              </a:ext>
            </a:extLst>
          </p:cNvPr>
          <p:cNvSpPr/>
          <p:nvPr/>
        </p:nvSpPr>
        <p:spPr>
          <a:xfrm>
            <a:off x="600671" y="3065649"/>
            <a:ext cx="431449" cy="448376"/>
          </a:xfrm>
          <a:prstGeom prst="roundRect">
            <a:avLst/>
          </a:prstGeom>
          <a:noFill/>
          <a:ln w="57150">
            <a:solidFill>
              <a:srgbClr val="2FC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360E613-4EC0-D3EC-3D72-84ED3A93A4E6}"/>
              </a:ext>
            </a:extLst>
          </p:cNvPr>
          <p:cNvSpPr/>
          <p:nvPr/>
        </p:nvSpPr>
        <p:spPr>
          <a:xfrm>
            <a:off x="5068002" y="4322949"/>
            <a:ext cx="431449" cy="448376"/>
          </a:xfrm>
          <a:prstGeom prst="roundRect">
            <a:avLst/>
          </a:prstGeom>
          <a:noFill/>
          <a:ln w="57150">
            <a:solidFill>
              <a:srgbClr val="2FC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2BA20FE-C5E1-5807-B127-8C32B22929C4}"/>
              </a:ext>
            </a:extLst>
          </p:cNvPr>
          <p:cNvSpPr/>
          <p:nvPr/>
        </p:nvSpPr>
        <p:spPr>
          <a:xfrm>
            <a:off x="2275542" y="3071463"/>
            <a:ext cx="431449" cy="448376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975CC79-CA7D-CC52-9954-029CC9CD55D3}"/>
              </a:ext>
            </a:extLst>
          </p:cNvPr>
          <p:cNvSpPr/>
          <p:nvPr/>
        </p:nvSpPr>
        <p:spPr>
          <a:xfrm>
            <a:off x="6745942" y="1849324"/>
            <a:ext cx="431449" cy="448376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EF9F07D-15CB-4DB7-8987-F08966FC0B3A}"/>
              </a:ext>
            </a:extLst>
          </p:cNvPr>
          <p:cNvSpPr/>
          <p:nvPr/>
        </p:nvSpPr>
        <p:spPr>
          <a:xfrm>
            <a:off x="2706991" y="3513592"/>
            <a:ext cx="431449" cy="448376"/>
          </a:xfrm>
          <a:prstGeom prst="roundRect">
            <a:avLst/>
          </a:prstGeom>
          <a:noFill/>
          <a:ln w="571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3BD286A-369E-03D8-20C1-30E290DFD438}"/>
              </a:ext>
            </a:extLst>
          </p:cNvPr>
          <p:cNvSpPr/>
          <p:nvPr/>
        </p:nvSpPr>
        <p:spPr>
          <a:xfrm>
            <a:off x="7164691" y="3078349"/>
            <a:ext cx="431449" cy="448376"/>
          </a:xfrm>
          <a:prstGeom prst="roundRect">
            <a:avLst/>
          </a:prstGeom>
          <a:noFill/>
          <a:ln w="571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D46E87B-B15B-71EB-D169-74D490D3B5C3}"/>
              </a:ext>
            </a:extLst>
          </p:cNvPr>
          <p:cNvSpPr/>
          <p:nvPr/>
        </p:nvSpPr>
        <p:spPr>
          <a:xfrm>
            <a:off x="3100691" y="3907292"/>
            <a:ext cx="431449" cy="448376"/>
          </a:xfrm>
          <a:prstGeom prst="roundRect">
            <a:avLst/>
          </a:prstGeom>
          <a:noFill/>
          <a:ln w="57150">
            <a:solidFill>
              <a:srgbClr val="F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982B695-3528-5C0A-5D8E-7DA7D0C97803}"/>
              </a:ext>
            </a:extLst>
          </p:cNvPr>
          <p:cNvSpPr/>
          <p:nvPr/>
        </p:nvSpPr>
        <p:spPr>
          <a:xfrm>
            <a:off x="7559580" y="1455728"/>
            <a:ext cx="431449" cy="448376"/>
          </a:xfrm>
          <a:prstGeom prst="roundRect">
            <a:avLst/>
          </a:prstGeom>
          <a:noFill/>
          <a:ln w="57150">
            <a:solidFill>
              <a:srgbClr val="F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6EDBB3-387B-7BBB-64BC-1DFEB13BB5A0}"/>
              </a:ext>
            </a:extLst>
          </p:cNvPr>
          <p:cNvSpPr txBox="1"/>
          <p:nvPr/>
        </p:nvSpPr>
        <p:spPr>
          <a:xfrm>
            <a:off x="114564" y="4153437"/>
            <a:ext cx="864843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climbing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greedy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fără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aibă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privire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ansamblu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realizează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către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posibilă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 = 1)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întrucât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proastă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 = 17)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care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 = 1)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 de minim local, nu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 global. Nu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am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 = 0)</a:t>
            </a:r>
          </a:p>
        </p:txBody>
      </p:sp>
    </p:spTree>
    <p:extLst>
      <p:ext uri="{BB962C8B-B14F-4D97-AF65-F5344CB8AC3E}">
        <p14:creationId xmlns:p14="http://schemas.microsoft.com/office/powerpoint/2010/main" val="33804699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A1705-6796-BEDE-89A9-440494A0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83FD0B9-0611-3D05-784E-888C59044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527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800" dirty="0">
                <a:latin typeface="Times New Roman"/>
                <a:cs typeface="Times New Roman"/>
              </a:rPr>
              <a:t>Hill climbing </a:t>
            </a:r>
            <a:r>
              <a:rPr lang="en-US" sz="3800" dirty="0" err="1">
                <a:latin typeface="Times New Roman"/>
                <a:cs typeface="Times New Roman"/>
              </a:rPr>
              <a:t>pentru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problema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celor</a:t>
            </a:r>
            <a:r>
              <a:rPr lang="en-US" sz="3800" dirty="0">
                <a:latin typeface="Times New Roman"/>
                <a:cs typeface="Times New Roman"/>
              </a:rPr>
              <a:t> 8 </a:t>
            </a:r>
            <a:r>
              <a:rPr lang="en-US" sz="3800" dirty="0" err="1">
                <a:latin typeface="Times New Roman"/>
                <a:cs typeface="Times New Roman"/>
              </a:rPr>
              <a:t>regine</a:t>
            </a:r>
            <a:endParaRPr lang="en-US" sz="38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close-up of a board game&#10;&#10;Description automatically generated">
            <a:extLst>
              <a:ext uri="{FF2B5EF4-FFF2-40B4-BE49-F238E27FC236}">
                <a16:creationId xmlns:a16="http://schemas.microsoft.com/office/drawing/2014/main" id="{2B805922-C6D2-7BEA-BD46-9ADFCC369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37" y="1282700"/>
            <a:ext cx="8179526" cy="36703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689007DE-EAEB-A94C-D502-1A907F8B55FC}"/>
              </a:ext>
            </a:extLst>
          </p:cNvPr>
          <p:cNvSpPr/>
          <p:nvPr/>
        </p:nvSpPr>
        <p:spPr>
          <a:xfrm>
            <a:off x="4085629" y="2694739"/>
            <a:ext cx="972742" cy="45486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mutări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36243C4-F327-140E-B8D3-F4986E096FAA}"/>
              </a:ext>
            </a:extLst>
          </p:cNvPr>
          <p:cNvSpPr/>
          <p:nvPr/>
        </p:nvSpPr>
        <p:spPr>
          <a:xfrm>
            <a:off x="1041751" y="3514025"/>
            <a:ext cx="431449" cy="44837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11E34D2-1B50-E734-7FC1-3F1EFC4D4438}"/>
              </a:ext>
            </a:extLst>
          </p:cNvPr>
          <p:cNvSpPr/>
          <p:nvPr/>
        </p:nvSpPr>
        <p:spPr>
          <a:xfrm>
            <a:off x="5499451" y="2271763"/>
            <a:ext cx="431449" cy="44837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AA1D2C0-54FB-72EC-215F-9645980FE811}"/>
              </a:ext>
            </a:extLst>
          </p:cNvPr>
          <p:cNvSpPr/>
          <p:nvPr/>
        </p:nvSpPr>
        <p:spPr>
          <a:xfrm>
            <a:off x="600671" y="3065649"/>
            <a:ext cx="431449" cy="448376"/>
          </a:xfrm>
          <a:prstGeom prst="roundRect">
            <a:avLst/>
          </a:prstGeom>
          <a:noFill/>
          <a:ln w="57150">
            <a:solidFill>
              <a:srgbClr val="2FC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F701B14-7772-FE3E-FF72-B792A2681535}"/>
              </a:ext>
            </a:extLst>
          </p:cNvPr>
          <p:cNvSpPr/>
          <p:nvPr/>
        </p:nvSpPr>
        <p:spPr>
          <a:xfrm>
            <a:off x="5068002" y="4322949"/>
            <a:ext cx="431449" cy="448376"/>
          </a:xfrm>
          <a:prstGeom prst="roundRect">
            <a:avLst/>
          </a:prstGeom>
          <a:noFill/>
          <a:ln w="57150">
            <a:solidFill>
              <a:srgbClr val="2FC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C0B92B4-F5A3-4BA3-BE05-B1EA0E6C82BA}"/>
              </a:ext>
            </a:extLst>
          </p:cNvPr>
          <p:cNvSpPr/>
          <p:nvPr/>
        </p:nvSpPr>
        <p:spPr>
          <a:xfrm>
            <a:off x="2275542" y="3071463"/>
            <a:ext cx="431449" cy="448376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13C92BB-E3AE-F8BC-60D1-A251D073FE44}"/>
              </a:ext>
            </a:extLst>
          </p:cNvPr>
          <p:cNvSpPr/>
          <p:nvPr/>
        </p:nvSpPr>
        <p:spPr>
          <a:xfrm>
            <a:off x="6745942" y="1849324"/>
            <a:ext cx="431449" cy="448376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D80EE8B-17D2-294E-39E6-EE1F7449C858}"/>
              </a:ext>
            </a:extLst>
          </p:cNvPr>
          <p:cNvSpPr/>
          <p:nvPr/>
        </p:nvSpPr>
        <p:spPr>
          <a:xfrm>
            <a:off x="2706991" y="3513592"/>
            <a:ext cx="431449" cy="448376"/>
          </a:xfrm>
          <a:prstGeom prst="roundRect">
            <a:avLst/>
          </a:prstGeom>
          <a:noFill/>
          <a:ln w="571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70EAD5A-9A51-483F-61B3-C51A2D5E72FF}"/>
              </a:ext>
            </a:extLst>
          </p:cNvPr>
          <p:cNvSpPr/>
          <p:nvPr/>
        </p:nvSpPr>
        <p:spPr>
          <a:xfrm>
            <a:off x="7164691" y="3078349"/>
            <a:ext cx="431449" cy="448376"/>
          </a:xfrm>
          <a:prstGeom prst="roundRect">
            <a:avLst/>
          </a:prstGeom>
          <a:noFill/>
          <a:ln w="571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9B78397-4E45-13B7-EECE-52C97DEA906D}"/>
              </a:ext>
            </a:extLst>
          </p:cNvPr>
          <p:cNvSpPr/>
          <p:nvPr/>
        </p:nvSpPr>
        <p:spPr>
          <a:xfrm>
            <a:off x="3100691" y="3907292"/>
            <a:ext cx="431449" cy="448376"/>
          </a:xfrm>
          <a:prstGeom prst="roundRect">
            <a:avLst/>
          </a:prstGeom>
          <a:noFill/>
          <a:ln w="57150">
            <a:solidFill>
              <a:srgbClr val="F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5327AD0-C696-173D-9E8A-451D85BD96E2}"/>
              </a:ext>
            </a:extLst>
          </p:cNvPr>
          <p:cNvSpPr/>
          <p:nvPr/>
        </p:nvSpPr>
        <p:spPr>
          <a:xfrm>
            <a:off x="7559580" y="1455728"/>
            <a:ext cx="431449" cy="448376"/>
          </a:xfrm>
          <a:prstGeom prst="roundRect">
            <a:avLst/>
          </a:prstGeom>
          <a:noFill/>
          <a:ln w="57150">
            <a:solidFill>
              <a:srgbClr val="F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FEA3EF-C7B8-264D-1239-F412EEF1F98D}"/>
              </a:ext>
            </a:extLst>
          </p:cNvPr>
          <p:cNvSpPr txBox="1"/>
          <p:nvPr/>
        </p:nvSpPr>
        <p:spPr>
          <a:xfrm>
            <a:off x="114564" y="4294674"/>
            <a:ext cx="86484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pornind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o stare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aleatoare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hill climbing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găsește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 = 0)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14% din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cazuri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mutări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blochează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minim local o face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86% din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cazuri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mutări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spațiul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8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17,000,000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configurații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posibile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725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0" y="1143000"/>
            <a:ext cx="7200900" cy="3911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D592DDE-D3B4-8E92-9395-10FF0A7BF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Hill climbing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9E43F-18E2-74B7-6313-40F5D477C1C1}"/>
              </a:ext>
            </a:extLst>
          </p:cNvPr>
          <p:cNvSpPr txBox="1"/>
          <p:nvPr/>
        </p:nvSpPr>
        <p:spPr>
          <a:xfrm>
            <a:off x="562060" y="5293453"/>
            <a:ext cx="8430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de optim local: maxim global vs maxim local</a:t>
            </a:r>
          </a:p>
          <a:p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inițializări multiple în paralel + hill climbing + ia maximul după toate rulările </a:t>
            </a:r>
          </a:p>
          <a:p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evadează din punctele de maxim local cu anumite metode de a explora spațiul – </a:t>
            </a:r>
            <a:r>
              <a:rPr lang="en-RO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algoritmi genetici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simulated annealing, etc.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B8500-B4DF-2463-5AD4-BB179C31AB56}"/>
              </a:ext>
            </a:extLst>
          </p:cNvPr>
          <p:cNvSpPr txBox="1"/>
          <p:nvPr/>
        </p:nvSpPr>
        <p:spPr>
          <a:xfrm>
            <a:off x="3641451" y="1194606"/>
            <a:ext cx="200313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RO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axim global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9CD2F-6BC6-59E4-A883-085C2E219F28}"/>
              </a:ext>
            </a:extLst>
          </p:cNvPr>
          <p:cNvSpPr txBox="1"/>
          <p:nvPr/>
        </p:nvSpPr>
        <p:spPr>
          <a:xfrm>
            <a:off x="1707602" y="2101334"/>
            <a:ext cx="11048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platou</a:t>
            </a:r>
            <a:endParaRPr lang="en-RO" b="1" dirty="0">
              <a:solidFill>
                <a:srgbClr val="290AD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513C5-89E7-4546-1D3A-D4A7E3BC7C84}"/>
              </a:ext>
            </a:extLst>
          </p:cNvPr>
          <p:cNvSpPr txBox="1"/>
          <p:nvPr/>
        </p:nvSpPr>
        <p:spPr>
          <a:xfrm>
            <a:off x="4035160" y="4652951"/>
            <a:ext cx="116029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stare </a:t>
            </a:r>
          </a:p>
          <a:p>
            <a:r>
              <a:rPr lang="ro-RO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curentă</a:t>
            </a:r>
            <a:endParaRPr lang="en-RO" b="1" dirty="0">
              <a:solidFill>
                <a:srgbClr val="290AD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294E0-3FF2-BADE-91D6-D2D1A22056DF}"/>
              </a:ext>
            </a:extLst>
          </p:cNvPr>
          <p:cNvSpPr txBox="1"/>
          <p:nvPr/>
        </p:nvSpPr>
        <p:spPr>
          <a:xfrm>
            <a:off x="5644582" y="2942413"/>
            <a:ext cx="26594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RO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axim local în platou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5586A-BE25-1AA4-575D-486FFD769B8B}"/>
              </a:ext>
            </a:extLst>
          </p:cNvPr>
          <p:cNvSpPr txBox="1"/>
          <p:nvPr/>
        </p:nvSpPr>
        <p:spPr>
          <a:xfrm>
            <a:off x="5323633" y="2491391"/>
            <a:ext cx="200313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RO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axim local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35508-D388-D005-1F3F-A777CB897A0E}"/>
              </a:ext>
            </a:extLst>
          </p:cNvPr>
          <p:cNvSpPr txBox="1"/>
          <p:nvPr/>
        </p:nvSpPr>
        <p:spPr>
          <a:xfrm>
            <a:off x="6922623" y="4454745"/>
            <a:ext cx="19791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spațiul stărilor</a:t>
            </a:r>
            <a:endParaRPr lang="en-R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20503-10CB-EF05-23EB-C0054F7D6966}"/>
              </a:ext>
            </a:extLst>
          </p:cNvPr>
          <p:cNvSpPr txBox="1"/>
          <p:nvPr/>
        </p:nvSpPr>
        <p:spPr>
          <a:xfrm>
            <a:off x="818616" y="1040459"/>
            <a:ext cx="19791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funcția obiectiv</a:t>
            </a:r>
            <a:endParaRPr lang="en-R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0607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ill-climb-quiz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145" y="1061537"/>
            <a:ext cx="6636327" cy="39538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56560" y="5184758"/>
            <a:ext cx="4606067" cy="1608131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ajungem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ajungem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ajungem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E25EC7-9F63-D6AB-5B23-90AA707FF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Instanțieri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Hill climbing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E9DA1-7D1F-063B-99A1-ABB6CC76C711}"/>
              </a:ext>
            </a:extLst>
          </p:cNvPr>
          <p:cNvSpPr txBox="1"/>
          <p:nvPr/>
        </p:nvSpPr>
        <p:spPr>
          <a:xfrm>
            <a:off x="6908768" y="4080672"/>
            <a:ext cx="19791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spațiul stărilor</a:t>
            </a:r>
            <a:endParaRPr lang="en-R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29C53-838B-7802-BF95-9A2A09D4DC88}"/>
              </a:ext>
            </a:extLst>
          </p:cNvPr>
          <p:cNvSpPr txBox="1"/>
          <p:nvPr/>
        </p:nvSpPr>
        <p:spPr>
          <a:xfrm>
            <a:off x="1668750" y="1209367"/>
            <a:ext cx="19791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funcția obiectiv</a:t>
            </a:r>
            <a:endParaRPr lang="en-R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61019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0D139-8C0B-2FB2-A333-82284287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13E193-A38A-D3FF-E182-0A233FABC376}"/>
              </a:ext>
            </a:extLst>
          </p:cNvPr>
          <p:cNvSpPr txBox="1"/>
          <p:nvPr/>
        </p:nvSpPr>
        <p:spPr>
          <a:xfrm>
            <a:off x="114032" y="934675"/>
            <a:ext cx="8915936" cy="2115962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algn="just"/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optimizare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spațiul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soluțiilor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mare;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gradientul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disponibil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cost/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prezintă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locale;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clasice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(hill climbing, gradient descent) se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blochează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nevoie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o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exploreze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regiuni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spațiului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soluțiilor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paralel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3F13B-2610-CEC4-2165-F3D7583F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evolutiv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motivație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idee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generală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75ABF-7040-9211-6113-0CFD4268220F}"/>
              </a:ext>
            </a:extLst>
          </p:cNvPr>
          <p:cNvSpPr txBox="1"/>
          <p:nvPr/>
        </p:nvSpPr>
        <p:spPr>
          <a:xfrm>
            <a:off x="114032" y="3158359"/>
            <a:ext cx="8316846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Ideea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centrală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calculului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evolutiv</a:t>
            </a:r>
            <a:endParaRPr lang="en-GB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inspirat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evoluția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naturală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menținem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populație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candidat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evaluăm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printr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fitness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selectăm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generăm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variație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încrucișare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mutație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repetăm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calitatea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soluțiilor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devine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satisfăcătoare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RO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BA0482-FB20-FF19-67B4-749625B7D9B5}"/>
              </a:ext>
            </a:extLst>
          </p:cNvPr>
          <p:cNvSpPr txBox="1"/>
          <p:nvPr/>
        </p:nvSpPr>
        <p:spPr>
          <a:xfrm>
            <a:off x="0" y="5331555"/>
            <a:ext cx="9144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Calculul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evolutiv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echilibrează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explorarea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caută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zone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spațiul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soluțiilor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exploatarea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rafinează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existente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„duet”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rezolvarea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unor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determinist-greedy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eșuează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RO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71439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F36F-7849-21AA-7286-55FEFA65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CCB19E6-11D3-0A81-7050-95733A564068}"/>
              </a:ext>
            </a:extLst>
          </p:cNvPr>
          <p:cNvSpPr txBox="1"/>
          <p:nvPr/>
        </p:nvSpPr>
        <p:spPr>
          <a:xfrm>
            <a:off x="266700" y="1654937"/>
            <a:ext cx="4148455" cy="3782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</a:pP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bazează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mecanisme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55600" marR="5080" indent="-343535">
              <a:lnSpc>
                <a:spcPct val="100000"/>
              </a:lnSpc>
              <a:spcBef>
                <a:spcPts val="95"/>
              </a:spcBef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>
              <a:lnSpc>
                <a:spcPct val="100000"/>
              </a:lnSpc>
              <a:spcBef>
                <a:spcPts val="95"/>
              </a:spcBef>
            </a:pPr>
            <a:r>
              <a:rPr lang="en-GB" sz="2000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parcurgerea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diferitelor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regiuni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spațiul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colectarea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>
              <a:lnSpc>
                <a:spcPct val="100000"/>
              </a:lnSpc>
              <a:spcBef>
                <a:spcPts val="95"/>
              </a:spcBef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>
              <a:lnSpc>
                <a:spcPct val="100000"/>
              </a:lnSpc>
              <a:spcBef>
                <a:spcPts val="95"/>
              </a:spcBef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>
              <a:lnSpc>
                <a:spcPct val="100000"/>
              </a:lnSpc>
              <a:spcBef>
                <a:spcPts val="95"/>
              </a:spcBef>
            </a:pPr>
            <a:r>
              <a:rPr lang="en-GB" sz="2000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exploatare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rafinarea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exploatarea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informațiilor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colectate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explorare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55600" marR="5080" indent="-343535"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35E9918-B7A9-52DA-7825-8822ED3F0B80}"/>
              </a:ext>
            </a:extLst>
          </p:cNvPr>
          <p:cNvGrpSpPr/>
          <p:nvPr/>
        </p:nvGrpSpPr>
        <p:grpSpPr>
          <a:xfrm>
            <a:off x="4564641" y="1534921"/>
            <a:ext cx="3895090" cy="4788535"/>
            <a:chOff x="4564641" y="1534921"/>
            <a:chExt cx="3895090" cy="478853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55469EE-730E-3B0B-85D4-7F30AF23B8C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4641" y="1534921"/>
              <a:ext cx="3812707" cy="2409192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A835204-296E-F782-8EBB-45B42BB6CAE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999" y="3933837"/>
              <a:ext cx="3887737" cy="2389174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F68D2F2-C4CE-45F6-EA14-96C8AF19B0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4937" y="3136901"/>
              <a:ext cx="82550" cy="82550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2F3F52A-E6E4-8033-1705-C157ED1422C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15162" y="4432301"/>
              <a:ext cx="82550" cy="82550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B58F9D0E-3A89-7581-F0C3-66DADCBB05E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3862" y="2632076"/>
              <a:ext cx="82550" cy="82550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DC59576C-7E57-7F33-ADB0-3ABABFB7136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9625" y="1984376"/>
              <a:ext cx="82550" cy="82550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08F964CF-3C9C-B094-CF87-445F0B1A41E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7825" y="2344738"/>
              <a:ext cx="82550" cy="82550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1B77FA1F-C95D-E1E9-3E2D-84E1A8210B8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7325" y="2632076"/>
              <a:ext cx="82550" cy="82550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1CF7E68A-DC1D-FA0B-3A6D-4C37F8414EA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39126" y="2560638"/>
              <a:ext cx="82550" cy="82550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35A6A71B-A000-40CF-10ED-7F757B48F21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19987" y="2632076"/>
              <a:ext cx="82550" cy="82550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7FAC41E-9EF5-F73A-DB4D-F214C2438F77}"/>
                </a:ext>
              </a:extLst>
            </p:cNvPr>
            <p:cNvSpPr/>
            <p:nvPr/>
          </p:nvSpPr>
          <p:spPr>
            <a:xfrm>
              <a:off x="7164387" y="4221163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36512" y="0"/>
                  </a:moveTo>
                  <a:lnTo>
                    <a:pt x="22299" y="2869"/>
                  </a:lnTo>
                  <a:lnTo>
                    <a:pt x="10693" y="10693"/>
                  </a:lnTo>
                  <a:lnTo>
                    <a:pt x="2869" y="22299"/>
                  </a:lnTo>
                  <a:lnTo>
                    <a:pt x="0" y="36512"/>
                  </a:lnTo>
                  <a:lnTo>
                    <a:pt x="2869" y="50725"/>
                  </a:lnTo>
                  <a:lnTo>
                    <a:pt x="10693" y="62331"/>
                  </a:lnTo>
                  <a:lnTo>
                    <a:pt x="22299" y="70155"/>
                  </a:lnTo>
                  <a:lnTo>
                    <a:pt x="36512" y="73025"/>
                  </a:lnTo>
                  <a:lnTo>
                    <a:pt x="50725" y="70155"/>
                  </a:lnTo>
                  <a:lnTo>
                    <a:pt x="62331" y="62331"/>
                  </a:lnTo>
                  <a:lnTo>
                    <a:pt x="70155" y="50725"/>
                  </a:lnTo>
                  <a:lnTo>
                    <a:pt x="73025" y="36512"/>
                  </a:lnTo>
                  <a:lnTo>
                    <a:pt x="70155" y="22299"/>
                  </a:lnTo>
                  <a:lnTo>
                    <a:pt x="62331" y="10693"/>
                  </a:lnTo>
                  <a:lnTo>
                    <a:pt x="50725" y="2869"/>
                  </a:lnTo>
                  <a:lnTo>
                    <a:pt x="365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B7EA462-0E59-F6A2-7FE9-5D35472E3916}"/>
                </a:ext>
              </a:extLst>
            </p:cNvPr>
            <p:cNvSpPr/>
            <p:nvPr/>
          </p:nvSpPr>
          <p:spPr>
            <a:xfrm>
              <a:off x="7164387" y="4221163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0" y="36512"/>
                  </a:moveTo>
                  <a:lnTo>
                    <a:pt x="2869" y="22299"/>
                  </a:lnTo>
                  <a:lnTo>
                    <a:pt x="10693" y="10693"/>
                  </a:lnTo>
                  <a:lnTo>
                    <a:pt x="22299" y="2869"/>
                  </a:lnTo>
                  <a:lnTo>
                    <a:pt x="36512" y="0"/>
                  </a:lnTo>
                  <a:lnTo>
                    <a:pt x="50725" y="2869"/>
                  </a:lnTo>
                  <a:lnTo>
                    <a:pt x="62331" y="10693"/>
                  </a:lnTo>
                  <a:lnTo>
                    <a:pt x="70155" y="22299"/>
                  </a:lnTo>
                  <a:lnTo>
                    <a:pt x="73025" y="36512"/>
                  </a:lnTo>
                  <a:lnTo>
                    <a:pt x="70155" y="50725"/>
                  </a:lnTo>
                  <a:lnTo>
                    <a:pt x="62331" y="62331"/>
                  </a:lnTo>
                  <a:lnTo>
                    <a:pt x="50725" y="70155"/>
                  </a:lnTo>
                  <a:lnTo>
                    <a:pt x="36512" y="73025"/>
                  </a:lnTo>
                  <a:lnTo>
                    <a:pt x="22299" y="70155"/>
                  </a:lnTo>
                  <a:lnTo>
                    <a:pt x="10693" y="62331"/>
                  </a:lnTo>
                  <a:lnTo>
                    <a:pt x="2869" y="50725"/>
                  </a:lnTo>
                  <a:lnTo>
                    <a:pt x="0" y="365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90AF3E8B-91D4-0A50-9141-B3AE041C26BB}"/>
                </a:ext>
              </a:extLst>
            </p:cNvPr>
            <p:cNvSpPr/>
            <p:nvPr/>
          </p:nvSpPr>
          <p:spPr>
            <a:xfrm>
              <a:off x="7092948" y="4149726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36512" y="0"/>
                  </a:moveTo>
                  <a:lnTo>
                    <a:pt x="22299" y="2869"/>
                  </a:lnTo>
                  <a:lnTo>
                    <a:pt x="10693" y="10693"/>
                  </a:lnTo>
                  <a:lnTo>
                    <a:pt x="2869" y="22299"/>
                  </a:lnTo>
                  <a:lnTo>
                    <a:pt x="0" y="36512"/>
                  </a:lnTo>
                  <a:lnTo>
                    <a:pt x="2869" y="50725"/>
                  </a:lnTo>
                  <a:lnTo>
                    <a:pt x="10693" y="62331"/>
                  </a:lnTo>
                  <a:lnTo>
                    <a:pt x="22299" y="70155"/>
                  </a:lnTo>
                  <a:lnTo>
                    <a:pt x="36512" y="73025"/>
                  </a:lnTo>
                  <a:lnTo>
                    <a:pt x="50725" y="70155"/>
                  </a:lnTo>
                  <a:lnTo>
                    <a:pt x="62331" y="62331"/>
                  </a:lnTo>
                  <a:lnTo>
                    <a:pt x="70155" y="50725"/>
                  </a:lnTo>
                  <a:lnTo>
                    <a:pt x="73025" y="36512"/>
                  </a:lnTo>
                  <a:lnTo>
                    <a:pt x="70155" y="22299"/>
                  </a:lnTo>
                  <a:lnTo>
                    <a:pt x="62331" y="10693"/>
                  </a:lnTo>
                  <a:lnTo>
                    <a:pt x="50725" y="2869"/>
                  </a:lnTo>
                  <a:lnTo>
                    <a:pt x="365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345A9A78-2BD3-D688-98F7-5EFCC4E3DD18}"/>
                </a:ext>
              </a:extLst>
            </p:cNvPr>
            <p:cNvSpPr/>
            <p:nvPr/>
          </p:nvSpPr>
          <p:spPr>
            <a:xfrm>
              <a:off x="7092948" y="4149726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0" y="36512"/>
                  </a:moveTo>
                  <a:lnTo>
                    <a:pt x="2869" y="22299"/>
                  </a:lnTo>
                  <a:lnTo>
                    <a:pt x="10693" y="10693"/>
                  </a:lnTo>
                  <a:lnTo>
                    <a:pt x="22299" y="2869"/>
                  </a:lnTo>
                  <a:lnTo>
                    <a:pt x="36512" y="0"/>
                  </a:lnTo>
                  <a:lnTo>
                    <a:pt x="50725" y="2869"/>
                  </a:lnTo>
                  <a:lnTo>
                    <a:pt x="62331" y="10693"/>
                  </a:lnTo>
                  <a:lnTo>
                    <a:pt x="70155" y="22299"/>
                  </a:lnTo>
                  <a:lnTo>
                    <a:pt x="73025" y="36512"/>
                  </a:lnTo>
                  <a:lnTo>
                    <a:pt x="70155" y="50725"/>
                  </a:lnTo>
                  <a:lnTo>
                    <a:pt x="62331" y="62331"/>
                  </a:lnTo>
                  <a:lnTo>
                    <a:pt x="50725" y="70155"/>
                  </a:lnTo>
                  <a:lnTo>
                    <a:pt x="36512" y="73025"/>
                  </a:lnTo>
                  <a:lnTo>
                    <a:pt x="22299" y="70155"/>
                  </a:lnTo>
                  <a:lnTo>
                    <a:pt x="10693" y="62331"/>
                  </a:lnTo>
                  <a:lnTo>
                    <a:pt x="2869" y="50725"/>
                  </a:lnTo>
                  <a:lnTo>
                    <a:pt x="0" y="365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7E88A560-8947-9F58-21D1-77375902C51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9625" y="4360863"/>
              <a:ext cx="82550" cy="82550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DF5EF9F8-9850-5ED2-0304-873299B81E18}"/>
                </a:ext>
              </a:extLst>
            </p:cNvPr>
            <p:cNvSpPr/>
            <p:nvPr/>
          </p:nvSpPr>
          <p:spPr>
            <a:xfrm>
              <a:off x="7164387" y="4076701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36512" y="0"/>
                  </a:moveTo>
                  <a:lnTo>
                    <a:pt x="22299" y="2869"/>
                  </a:lnTo>
                  <a:lnTo>
                    <a:pt x="10693" y="10693"/>
                  </a:lnTo>
                  <a:lnTo>
                    <a:pt x="2869" y="22299"/>
                  </a:lnTo>
                  <a:lnTo>
                    <a:pt x="0" y="36512"/>
                  </a:lnTo>
                  <a:lnTo>
                    <a:pt x="2869" y="50725"/>
                  </a:lnTo>
                  <a:lnTo>
                    <a:pt x="10693" y="62331"/>
                  </a:lnTo>
                  <a:lnTo>
                    <a:pt x="22299" y="70155"/>
                  </a:lnTo>
                  <a:lnTo>
                    <a:pt x="36512" y="73025"/>
                  </a:lnTo>
                  <a:lnTo>
                    <a:pt x="50725" y="70155"/>
                  </a:lnTo>
                  <a:lnTo>
                    <a:pt x="62331" y="62331"/>
                  </a:lnTo>
                  <a:lnTo>
                    <a:pt x="70155" y="50725"/>
                  </a:lnTo>
                  <a:lnTo>
                    <a:pt x="73025" y="36512"/>
                  </a:lnTo>
                  <a:lnTo>
                    <a:pt x="70155" y="22299"/>
                  </a:lnTo>
                  <a:lnTo>
                    <a:pt x="62331" y="10693"/>
                  </a:lnTo>
                  <a:lnTo>
                    <a:pt x="50725" y="2869"/>
                  </a:lnTo>
                  <a:lnTo>
                    <a:pt x="365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25986F5E-4C50-3E2D-5E4C-F40A7FEFE58C}"/>
                </a:ext>
              </a:extLst>
            </p:cNvPr>
            <p:cNvSpPr/>
            <p:nvPr/>
          </p:nvSpPr>
          <p:spPr>
            <a:xfrm>
              <a:off x="7164387" y="4076701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0" y="36512"/>
                  </a:moveTo>
                  <a:lnTo>
                    <a:pt x="2869" y="22299"/>
                  </a:lnTo>
                  <a:lnTo>
                    <a:pt x="10693" y="10693"/>
                  </a:lnTo>
                  <a:lnTo>
                    <a:pt x="22299" y="2869"/>
                  </a:lnTo>
                  <a:lnTo>
                    <a:pt x="36512" y="0"/>
                  </a:lnTo>
                  <a:lnTo>
                    <a:pt x="50725" y="2869"/>
                  </a:lnTo>
                  <a:lnTo>
                    <a:pt x="62331" y="10693"/>
                  </a:lnTo>
                  <a:lnTo>
                    <a:pt x="70155" y="22299"/>
                  </a:lnTo>
                  <a:lnTo>
                    <a:pt x="73025" y="36512"/>
                  </a:lnTo>
                  <a:lnTo>
                    <a:pt x="70155" y="50725"/>
                  </a:lnTo>
                  <a:lnTo>
                    <a:pt x="62331" y="62331"/>
                  </a:lnTo>
                  <a:lnTo>
                    <a:pt x="50725" y="70155"/>
                  </a:lnTo>
                  <a:lnTo>
                    <a:pt x="36512" y="73025"/>
                  </a:lnTo>
                  <a:lnTo>
                    <a:pt x="22299" y="70155"/>
                  </a:lnTo>
                  <a:lnTo>
                    <a:pt x="10693" y="62331"/>
                  </a:lnTo>
                  <a:lnTo>
                    <a:pt x="2869" y="50725"/>
                  </a:lnTo>
                  <a:lnTo>
                    <a:pt x="0" y="365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">
            <a:extLst>
              <a:ext uri="{FF2B5EF4-FFF2-40B4-BE49-F238E27FC236}">
                <a16:creationId xmlns:a16="http://schemas.microsoft.com/office/drawing/2014/main" id="{1C24E752-5131-3616-1C68-1D83F30A4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484" y="26267"/>
            <a:ext cx="91439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Specificul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calculul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evolutiv</a:t>
            </a:r>
            <a:endParaRPr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3405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7C24D-7AC0-B956-0485-8BC4EE63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D69510-8B75-3EC3-D6CB-1DFA7827098C}"/>
              </a:ext>
            </a:extLst>
          </p:cNvPr>
          <p:cNvSpPr txBox="1"/>
          <p:nvPr/>
        </p:nvSpPr>
        <p:spPr>
          <a:xfrm>
            <a:off x="114032" y="934675"/>
            <a:ext cx="8915936" cy="3285513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algn="just"/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cadrul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calculului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evolutiv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familii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inspirați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naturale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 – Evolution Strategies/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evolutive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evolutive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optimizare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principal pe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mutație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gaussiană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adaptarea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distribuțiilor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GA – Genetic Algorithms/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Genetici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abordare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evolutivă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folosește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populații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selecție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încrucișare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mutație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GP – Genetic Programming/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Programare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genetică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evoluează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expresii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(sub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arbori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descoperirea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PSO – Particle Swarm Optimization/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Optimizare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particule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inspirat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roiurilor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(„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particulele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se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deplasează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ghidate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propria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experiență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globală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B43D26-2A25-C60E-6F33-E77F7971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Trecerea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naturală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către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Genetici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C9EC6-1427-F846-782A-192064ACA1D2}"/>
              </a:ext>
            </a:extLst>
          </p:cNvPr>
          <p:cNvSpPr txBox="1"/>
          <p:nvPr/>
        </p:nvSpPr>
        <p:spPr>
          <a:xfrm>
            <a:off x="0" y="4523060"/>
            <a:ext cx="914400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concentrăm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Algoritmii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Genetici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(AG)?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sunt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ușor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lucra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codificări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necesită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funcționează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bine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optimizare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control,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jocuri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automata.</a:t>
            </a:r>
            <a:endParaRPr lang="en-RO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3601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3594"/>
            <a:ext cx="9144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DBAE1-4C16-B7E6-61EB-C4DB81B035DA}"/>
              </a:ext>
            </a:extLst>
          </p:cNvPr>
          <p:cNvSpPr txBox="1"/>
          <p:nvPr/>
        </p:nvSpPr>
        <p:spPr>
          <a:xfrm>
            <a:off x="95250" y="1228397"/>
            <a:ext cx="9144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Inițializare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populație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aleatoare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2600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Evaluare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populație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fitness pt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element)  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REPETĂ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600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Selecție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părinți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Generarea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urmașilor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încrucișare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Modificarea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urmașilor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mutație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600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Evaluare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urmași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600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Selecție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supraviețuitori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vor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populația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noua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generație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PÂNĂ CÂND &lt;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condiție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oprire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RO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74145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3896D-6195-6864-EA9D-B8A60F592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4">
            <a:extLst>
              <a:ext uri="{FF2B5EF4-FFF2-40B4-BE49-F238E27FC236}">
                <a16:creationId xmlns:a16="http://schemas.microsoft.com/office/drawing/2014/main" id="{D4A23934-CE97-E736-FA72-DBA2EA657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2" y="2000252"/>
            <a:ext cx="5706665" cy="1678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4E607C27-5116-3A95-70E3-0B2113DB8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19731" r="82492" b="65001"/>
          <a:stretch/>
        </p:blipFill>
        <p:spPr bwMode="auto">
          <a:xfrm>
            <a:off x="1985242" y="1596492"/>
            <a:ext cx="1101906" cy="285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31750FD-CA52-CE10-7189-ED913E93BC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82492" b="83413"/>
          <a:stretch/>
        </p:blipFill>
        <p:spPr bwMode="auto">
          <a:xfrm>
            <a:off x="4016881" y="1604345"/>
            <a:ext cx="1101906" cy="309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7C5F736-5B4B-0794-B3B7-8045ECF29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58029" r="24243" b="83413"/>
          <a:stretch/>
        </p:blipFill>
        <p:spPr bwMode="auto">
          <a:xfrm>
            <a:off x="6123964" y="1604345"/>
            <a:ext cx="1115735" cy="309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82DACFB-3BAE-A7DF-CAB6-17D00E70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genetici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75A371-24F8-63A6-4075-1DEB529F8315}"/>
              </a:ext>
            </a:extLst>
          </p:cNvPr>
          <p:cNvSpPr txBox="1"/>
          <p:nvPr/>
        </p:nvSpPr>
        <p:spPr>
          <a:xfrm>
            <a:off x="221259" y="4144161"/>
            <a:ext cx="8234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Populație = mulțime de indivizi (ipoteze, stări, asignări, configurări)</a:t>
            </a:r>
          </a:p>
          <a:p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Funcție de evaluare (fitness) = evaluează calitatea unei ipoteze</a:t>
            </a:r>
          </a:p>
          <a:p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-exemplu în problema de N-regine: numărul de perechi de regine care nu se atacă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3AD1FA9B-2468-5354-79C0-3A5FD2AB33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19731" r="82492" b="65001"/>
          <a:stretch/>
        </p:blipFill>
        <p:spPr bwMode="auto">
          <a:xfrm>
            <a:off x="1349078" y="5118895"/>
            <a:ext cx="1239964" cy="285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31DA53-74D2-B902-6238-07E42872E76A}"/>
              </a:ext>
            </a:extLst>
          </p:cNvPr>
          <p:cNvSpPr txBox="1"/>
          <p:nvPr/>
        </p:nvSpPr>
        <p:spPr>
          <a:xfrm>
            <a:off x="1018214" y="5076842"/>
            <a:ext cx="46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               ) = 23 = 28 - 5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0B2D5F-B3C9-B9B8-EF40-EDA0EE71122B}"/>
              </a:ext>
            </a:extLst>
          </p:cNvPr>
          <p:cNvSpPr txBox="1"/>
          <p:nvPr/>
        </p:nvSpPr>
        <p:spPr>
          <a:xfrm>
            <a:off x="976269" y="5488227"/>
            <a:ext cx="3444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               ) = 24 = 28 - 4</a:t>
            </a: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88B36B36-E5B2-702C-412B-69A6D21C54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82492" b="83413"/>
          <a:stretch/>
        </p:blipFill>
        <p:spPr bwMode="auto">
          <a:xfrm>
            <a:off x="1339497" y="5517959"/>
            <a:ext cx="1196698" cy="309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CA1F741-65BC-1141-BC21-7719CD22FC35}"/>
              </a:ext>
            </a:extLst>
          </p:cNvPr>
          <p:cNvSpPr txBox="1"/>
          <p:nvPr/>
        </p:nvSpPr>
        <p:spPr>
          <a:xfrm>
            <a:off x="303576" y="5934670"/>
            <a:ext cx="82348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Obține o nouă populație combinând indivizi folosind un proces care se bazează pe o selecție după o anumită distribuție de probabilitate și împerechere bazată pe operațiile de încrucișare (cross-over) și mutație. </a:t>
            </a:r>
          </a:p>
        </p:txBody>
      </p:sp>
    </p:spTree>
    <p:extLst>
      <p:ext uri="{BB962C8B-B14F-4D97-AF65-F5344CB8AC3E}">
        <p14:creationId xmlns:p14="http://schemas.microsoft.com/office/powerpoint/2010/main" val="41356007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258A7-2F39-0553-BB80-7D44BEDE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4">
            <a:extLst>
              <a:ext uri="{FF2B5EF4-FFF2-40B4-BE49-F238E27FC236}">
                <a16:creationId xmlns:a16="http://schemas.microsoft.com/office/drawing/2014/main" id="{2CB2AC1F-1FC6-4C93-619F-533440483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057" y="2114551"/>
            <a:ext cx="6293644" cy="1868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A855707-6914-D163-C437-A72AFCF09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genetici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3C0D24-FAD5-0975-E786-802BB46D1E3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4660577"/>
            <a:ext cx="85725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Obține o nouă populație combinând indivizi folosind un proces care se bazează pe o selecție (</a:t>
            </a:r>
            <a:r>
              <a:rPr lang="en-RO" sz="2400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r>
              <a:rPr lang="en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după o anumită distribuție de probabilitate bazată pe funcția de evaluare (</a:t>
            </a:r>
            <a:r>
              <a:rPr lang="en-RO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fitness</a:t>
            </a:r>
            <a:r>
              <a:rPr lang="en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si împerechere (</a:t>
            </a:r>
            <a:r>
              <a:rPr lang="en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</a:t>
            </a:r>
            <a:r>
              <a:rPr lang="en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bazată pe operațiile de </a:t>
            </a:r>
            <a:r>
              <a:rPr lang="en-RO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încrucișare (cross-over)</a:t>
            </a:r>
            <a:r>
              <a:rPr lang="en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mutație  (</a:t>
            </a:r>
            <a:r>
              <a:rPr lang="en-RO" sz="24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mutation</a:t>
            </a:r>
            <a:r>
              <a:rPr lang="en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A5F53-BB02-8A67-E1FD-1EED37813F39}"/>
              </a:ext>
            </a:extLst>
          </p:cNvPr>
          <p:cNvSpPr txBox="1"/>
          <p:nvPr/>
        </p:nvSpPr>
        <p:spPr>
          <a:xfrm>
            <a:off x="1929466" y="1311081"/>
            <a:ext cx="408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RO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31% 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RO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/(</a:t>
            </a:r>
            <a:r>
              <a:rPr lang="en-RO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24+23+20+11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RO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RO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</a:t>
            </a:r>
            <a:r>
              <a:rPr lang="en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9E411D-8F36-BD8F-7F3C-D2033A5E916B}"/>
              </a:ext>
            </a:extLst>
          </p:cNvPr>
          <p:cNvCxnSpPr>
            <a:cxnSpLocks/>
          </p:cNvCxnSpPr>
          <p:nvPr/>
        </p:nvCxnSpPr>
        <p:spPr>
          <a:xfrm>
            <a:off x="2105637" y="1652923"/>
            <a:ext cx="0" cy="4616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01818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95BD1-35F0-C37F-BD06-9A7C6AF2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E3C662-194C-F579-FDDA-198972FBA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genetici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Snake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A9AC0-3F58-0C48-1CDF-CE9F2A443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27" y="1257519"/>
            <a:ext cx="8871169" cy="514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767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{0,1\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54"/>
  <p:tag name="PICTUREFILESIZE" val="23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_{ij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31"/>
  <p:tag name="PICTUREFILESIZE" val="237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forall i,j,k \;\; (X_{ij}, X_{ik}) \in \{(0,0), (0,1), (1,0)\}$\\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9"/>
  <p:tag name="PICTUREFILESIZE" val="2144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forall i,j,k \;\; (X_{ij}, X_{kj}) \in \{(0,0), (0,1), (1,0)\}$\\&#10;$\forall i,j,k \;\; (X_{ij}, X_{i+k,j+k}) \in \{(0,0), (0,1), (1,0)\}$\\&#10;$\forall i,j,k \;\; (X_{ij}, X_{i+k,j-k}) \in \{(0,0), (0,1), (1,0)\}$\\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43"/>
  <p:tag name="PICTUREFILESIZE" val="6969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{0,1\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54"/>
  <p:tag name="PICTUREFILESIZE" val="238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_{ij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31"/>
  <p:tag name="PICTUREFILESIZE" val="237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sum_{i,j} X_{ij} = N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10"/>
  <p:tag name="PICTUREFILESIZE" val="765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forall i,j,k \;\; (X_{ij}, X_{ik}) \in \{(0,0), (0,1), (1,0)\}$\\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9"/>
  <p:tag name="PICTUREFILESIZE" val="2144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forall i,j,k \;\; (X_{ij}, X_{kj}) \in \{(0,0), (0,1), (1,0)\}$\\&#10;$\forall i,j,k \;\; (X_{ij}, X_{i+k,j+k}) \in \{(0,0), (0,1), (1,0)\}$\\&#10;$\forall i,j,k \;\; (X_{ij}, X_{i+k,j-k}) \in \{(0,0), (0,1), (1,0)\}$\\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43"/>
  <p:tag name="PICTUREFILESIZE" val="6969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1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5"/>
  <p:tag name="PICTUREFILESIZE" val="174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2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215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3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218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4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190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\ T\ U\ W\ R\ O\ X_1\ X_2\ X_3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52"/>
  <p:tag name="PICTUREFILESIZE" val="1177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{0,1,2,3,4,5,6,7,8,9\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8"/>
  <p:tag name="PICTUREFILESIZE" val="1051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mbox{alldiff}(F,T,U,W,R,O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13"/>
  <p:tag name="PICTUREFILESIZE" val="1087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heme/theme1.xml><?xml version="1.0" encoding="utf-8"?>
<a:theme xmlns:a="http://schemas.openxmlformats.org/drawingml/2006/main" name="fromPrest">
  <a:themeElements>
    <a:clrScheme name="ET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335B"/>
      </a:accent1>
      <a:accent2>
        <a:srgbClr val="005091"/>
      </a:accent2>
      <a:accent3>
        <a:srgbClr val="7FA7C8"/>
      </a:accent3>
      <a:accent4>
        <a:srgbClr val="BFD3E3"/>
      </a:accent4>
      <a:accent5>
        <a:srgbClr val="F5A858"/>
      </a:accent5>
      <a:accent6>
        <a:srgbClr val="7A4A60"/>
      </a:accent6>
      <a:hlink>
        <a:srgbClr val="52ADE7"/>
      </a:hlink>
      <a:folHlink>
        <a:srgbClr val="C7E4F7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romPrest">
  <a:themeElements>
    <a:clrScheme name="ET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335B"/>
      </a:accent1>
      <a:accent2>
        <a:srgbClr val="005091"/>
      </a:accent2>
      <a:accent3>
        <a:srgbClr val="7FA7C8"/>
      </a:accent3>
      <a:accent4>
        <a:srgbClr val="BFD3E3"/>
      </a:accent4>
      <a:accent5>
        <a:srgbClr val="F5A858"/>
      </a:accent5>
      <a:accent6>
        <a:srgbClr val="7A4A60"/>
      </a:accent6>
      <a:hlink>
        <a:srgbClr val="52ADE7"/>
      </a:hlink>
      <a:folHlink>
        <a:srgbClr val="C7E4F7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fromPrest">
  <a:themeElements>
    <a:clrScheme name="ET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335B"/>
      </a:accent1>
      <a:accent2>
        <a:srgbClr val="005091"/>
      </a:accent2>
      <a:accent3>
        <a:srgbClr val="7FA7C8"/>
      </a:accent3>
      <a:accent4>
        <a:srgbClr val="BFD3E3"/>
      </a:accent4>
      <a:accent5>
        <a:srgbClr val="F5A858"/>
      </a:accent5>
      <a:accent6>
        <a:srgbClr val="7A4A60"/>
      </a:accent6>
      <a:hlink>
        <a:srgbClr val="52ADE7"/>
      </a:hlink>
      <a:folHlink>
        <a:srgbClr val="C7E4F7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fromPrest">
  <a:themeElements>
    <a:clrScheme name="ET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335B"/>
      </a:accent1>
      <a:accent2>
        <a:srgbClr val="005091"/>
      </a:accent2>
      <a:accent3>
        <a:srgbClr val="7FA7C8"/>
      </a:accent3>
      <a:accent4>
        <a:srgbClr val="BFD3E3"/>
      </a:accent4>
      <a:accent5>
        <a:srgbClr val="F5A858"/>
      </a:accent5>
      <a:accent6>
        <a:srgbClr val="7A4A60"/>
      </a:accent6>
      <a:hlink>
        <a:srgbClr val="52ADE7"/>
      </a:hlink>
      <a:folHlink>
        <a:srgbClr val="C7E4F7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A0003DC97DEF4B8F1101A4D4EA06E2" ma:contentTypeVersion="7" ma:contentTypeDescription="Create a new document." ma:contentTypeScope="" ma:versionID="bfef44f6b8d2b2f2f7150fb1160aa08e">
  <xsd:schema xmlns:xsd="http://www.w3.org/2001/XMLSchema" xmlns:xs="http://www.w3.org/2001/XMLSchema" xmlns:p="http://schemas.microsoft.com/office/2006/metadata/properties" xmlns:ns2="bc4f9371-6ecc-4f2c-abc4-90cc414ddc6e" targetNamespace="http://schemas.microsoft.com/office/2006/metadata/properties" ma:root="true" ma:fieldsID="5aed0b65cc35f1e2975c5a8cfb488eb9" ns2:_="">
    <xsd:import namespace="bc4f9371-6ecc-4f2c-abc4-90cc414dd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4f9371-6ecc-4f2c-abc4-90cc414ddc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1FA4A4-2F2C-461D-B4D3-D70FD26FEF4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D3B15-FEE6-480D-901E-1610CA84EC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359A26-6247-4B8B-903A-133F4BF51BB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11785</TotalTime>
  <Words>8695</Words>
  <Application>Microsoft Macintosh PowerPoint</Application>
  <PresentationFormat>On-screen Show (4:3)</PresentationFormat>
  <Paragraphs>1993</Paragraphs>
  <Slides>99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99</vt:i4>
      </vt:variant>
    </vt:vector>
  </HeadingPairs>
  <TitlesOfParts>
    <vt:vector size="112" baseType="lpstr">
      <vt:lpstr>Arial</vt:lpstr>
      <vt:lpstr>Arial MT</vt:lpstr>
      <vt:lpstr>Calibri</vt:lpstr>
      <vt:lpstr>Myriad Pro</vt:lpstr>
      <vt:lpstr>Palatino</vt:lpstr>
      <vt:lpstr>Times</vt:lpstr>
      <vt:lpstr>Times New Roman</vt:lpstr>
      <vt:lpstr>Wingdings</vt:lpstr>
      <vt:lpstr>fromPrest</vt:lpstr>
      <vt:lpstr>1_fromPrest</vt:lpstr>
      <vt:lpstr>2_fromPrest</vt:lpstr>
      <vt:lpstr>3_fromPrest</vt:lpstr>
      <vt:lpstr>Office Theme</vt:lpstr>
      <vt:lpstr>Inteligență Artificială</vt:lpstr>
      <vt:lpstr>Recapitulare – cursul trecut</vt:lpstr>
      <vt:lpstr>Cuprinsul cursului de azi</vt:lpstr>
      <vt:lpstr>Retezare alfa-beta</vt:lpstr>
      <vt:lpstr>Retezare alfa-beta</vt:lpstr>
      <vt:lpstr>Retezare alfa-beta (alfa-beta pruning)</vt:lpstr>
      <vt:lpstr>Retezare alfa-beta (alfa-beta pruning)</vt:lpstr>
      <vt:lpstr>Implementare Alfa-Beta retezare</vt:lpstr>
      <vt:lpstr>Implementare Alfa-Beta retezare</vt:lpstr>
      <vt:lpstr>Implementare MiniMax</vt:lpstr>
      <vt:lpstr>Implementare Alfa-Beta retezare</vt:lpstr>
      <vt:lpstr>Exemplu MiniMax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Intuiție alfa-beta retezare</vt:lpstr>
      <vt:lpstr>Exemplu</vt:lpstr>
      <vt:lpstr>Exemplu</vt:lpstr>
      <vt:lpstr>Exemplu</vt:lpstr>
      <vt:lpstr>Exemplu</vt:lpstr>
      <vt:lpstr>Exemplu</vt:lpstr>
      <vt:lpstr>Exemplu</vt:lpstr>
      <vt:lpstr>Exemplu</vt:lpstr>
      <vt:lpstr>Exemplu</vt:lpstr>
      <vt:lpstr>Exemplu</vt:lpstr>
      <vt:lpstr>Exemplu</vt:lpstr>
      <vt:lpstr>Exemplu</vt:lpstr>
      <vt:lpstr>Proprietățile algoritmului Alpha-Beta Pruning</vt:lpstr>
      <vt:lpstr>Cazul cel mai defavorabil vs cazul mediu</vt:lpstr>
      <vt:lpstr>Cazul cel mai defavorabil vs cazul mediu</vt:lpstr>
      <vt:lpstr>Cazul cel mai defavorabil vs cazul mediu</vt:lpstr>
      <vt:lpstr>Cazul cel mai defavorabil vs cazul mediu</vt:lpstr>
      <vt:lpstr>Căutare ExpectiMax</vt:lpstr>
      <vt:lpstr>Implementare ExpectiMax</vt:lpstr>
      <vt:lpstr>Implementare ExpectiMax</vt:lpstr>
      <vt:lpstr>Implementare ExpectiMax</vt:lpstr>
      <vt:lpstr>Exemplu ExpectiMax</vt:lpstr>
      <vt:lpstr>Exemplu ExpectiMax</vt:lpstr>
      <vt:lpstr>Exemplu ExpectiMax</vt:lpstr>
      <vt:lpstr>Accelerarea algoritmului ExpectiMax?</vt:lpstr>
      <vt:lpstr>Accelerarea algoritmului ExpectiMax?</vt:lpstr>
      <vt:lpstr>Alte tipuri de jocuri</vt:lpstr>
      <vt:lpstr>Jocuri cu noduri mixte</vt:lpstr>
      <vt:lpstr>Exemplu: Backgammon (table)</vt:lpstr>
      <vt:lpstr>Utilități multi-agent</vt:lpstr>
      <vt:lpstr>Utilități multi-agent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Formularea standard a unei PSC pentru căutare </vt:lpstr>
      <vt:lpstr>Strategii de căutare</vt:lpstr>
      <vt:lpstr>Strategii de căutare</vt:lpstr>
      <vt:lpstr>Cursul 2: Proprietățile căutării în lățime</vt:lpstr>
      <vt:lpstr>Strategii de căutare</vt:lpstr>
      <vt:lpstr>Căutare locală</vt:lpstr>
      <vt:lpstr>Căutare locală</vt:lpstr>
      <vt:lpstr>Hill climbing</vt:lpstr>
      <vt:lpstr>Hill climbing</vt:lpstr>
      <vt:lpstr>Hill climbing pentru problema celor 8 regine</vt:lpstr>
      <vt:lpstr>Hill climbing pentru problema celor 8 regine</vt:lpstr>
      <vt:lpstr>Hill climbing pentru problema celor 8 regine</vt:lpstr>
      <vt:lpstr>Hill climbing pentru problema celor 8 regine</vt:lpstr>
      <vt:lpstr>Hill climbing pentru problema celor 8 regine</vt:lpstr>
      <vt:lpstr>Hill climbing pentru problema celor 8 regine</vt:lpstr>
      <vt:lpstr>Hill climbing pentru problema celor 8 regine</vt:lpstr>
      <vt:lpstr>Hill climbing pentru problema celor 8 regine</vt:lpstr>
      <vt:lpstr>Diagramă pentru Hill climbing</vt:lpstr>
      <vt:lpstr>Instanțieri pentru Hill climbing</vt:lpstr>
      <vt:lpstr>Calcul evolutiv – motivație și idee generală</vt:lpstr>
      <vt:lpstr>Specificul calculului evolutiv</vt:lpstr>
      <vt:lpstr>Trecerea naturală către Algoritmi Genetici</vt:lpstr>
      <vt:lpstr>Structura unui algoritm genetic</vt:lpstr>
      <vt:lpstr>Algoritmi genetici – exemplu</vt:lpstr>
      <vt:lpstr>Algoritmi genetici – exemplu </vt:lpstr>
      <vt:lpstr>Algoritmi genetici – exemplu Snake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 Alexe</dc:creator>
  <cp:lastModifiedBy>Bogdan Alexe</cp:lastModifiedBy>
  <cp:revision>152</cp:revision>
  <dcterms:created xsi:type="dcterms:W3CDTF">2014-09-11T11:15:46Z</dcterms:created>
  <dcterms:modified xsi:type="dcterms:W3CDTF">2026-04-01T13:01:12Z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0x01010043A0003DC97DEF4B8F1101A4D4EA06E2</vt:lpwstr>
  </property>
</Properties>
</file>