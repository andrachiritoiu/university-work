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8" r:id="rId3"/>
    <p:sldId id="1683" r:id="rId4"/>
    <p:sldId id="272" r:id="rId5"/>
    <p:sldId id="259" r:id="rId6"/>
    <p:sldId id="257" r:id="rId7"/>
    <p:sldId id="260" r:id="rId8"/>
    <p:sldId id="1684" r:id="rId9"/>
    <p:sldId id="261" r:id="rId10"/>
    <p:sldId id="1618" r:id="rId11"/>
    <p:sldId id="1619" r:id="rId12"/>
    <p:sldId id="262" r:id="rId13"/>
    <p:sldId id="263" r:id="rId14"/>
    <p:sldId id="264" r:id="rId15"/>
    <p:sldId id="265" r:id="rId16"/>
    <p:sldId id="266" r:id="rId17"/>
    <p:sldId id="1630" r:id="rId18"/>
    <p:sldId id="1631" r:id="rId19"/>
    <p:sldId id="1632" r:id="rId20"/>
    <p:sldId id="1633" r:id="rId21"/>
    <p:sldId id="1634" r:id="rId22"/>
    <p:sldId id="1635" r:id="rId23"/>
    <p:sldId id="1638" r:id="rId24"/>
    <p:sldId id="269" r:id="rId25"/>
    <p:sldId id="1620" r:id="rId26"/>
    <p:sldId id="270" r:id="rId27"/>
    <p:sldId id="267" r:id="rId28"/>
    <p:sldId id="268" r:id="rId29"/>
    <p:sldId id="271" r:id="rId30"/>
    <p:sldId id="1675" r:id="rId31"/>
    <p:sldId id="1676" r:id="rId32"/>
    <p:sldId id="1677" r:id="rId33"/>
    <p:sldId id="1678" r:id="rId34"/>
    <p:sldId id="1679" r:id="rId35"/>
    <p:sldId id="1680" r:id="rId36"/>
    <p:sldId id="1681" r:id="rId37"/>
    <p:sldId id="1682" r:id="rId38"/>
  </p:sldIdLst>
  <p:sldSz cx="10080625" cy="7559675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72"/>
  </p:normalViewPr>
  <p:slideViewPr>
    <p:cSldViewPr snapToGrid="0" snapToObjects="1">
      <p:cViewPr varScale="1">
        <p:scale>
          <a:sx n="117" d="100"/>
          <a:sy n="117" d="100"/>
        </p:scale>
        <p:origin x="17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11A38-4784-834E-B34F-C22BC9224170}" type="datetimeFigureOut">
              <a:rPr lang="en-US" smtClean="0"/>
              <a:t>5/4/23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24013" y="1257300"/>
            <a:ext cx="4524375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47A58-7B26-5F4C-8671-3C5BFCD11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84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47A58-7B26-5F4C-8671-3C5BFCD11E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19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Picture 36"/>
          <p:cNvPicPr/>
          <p:nvPr/>
        </p:nvPicPr>
        <p:blipFill>
          <a:blip r:embed="rId2"/>
          <a:stretch/>
        </p:blipFill>
        <p:spPr>
          <a:xfrm>
            <a:off x="2291040" y="1768680"/>
            <a:ext cx="5497200" cy="4384440"/>
          </a:xfrm>
          <a:prstGeom prst="rect">
            <a:avLst/>
          </a:prstGeom>
          <a:ln>
            <a:noFill/>
          </a:ln>
        </p:spPr>
      </p:pic>
      <p:pic>
        <p:nvPicPr>
          <p:cNvPr id="38" name="Picture 37"/>
          <p:cNvPicPr/>
          <p:nvPr/>
        </p:nvPicPr>
        <p:blipFill>
          <a:blip r:embed="rId2"/>
          <a:stretch/>
        </p:blipFill>
        <p:spPr>
          <a:xfrm>
            <a:off x="2291040" y="1768680"/>
            <a:ext cx="5497200" cy="4384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tIns="0" rIns="0" bIns="0"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fld id="{29B3954B-387F-488B-908B-3A7AB25DE04E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7080"/>
            <a:ext cx="9071640" cy="2436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Metoda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celor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mai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apropiați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vecini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“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Blestemul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dimensionalității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”. 
</a:t>
            </a:r>
          </a:p>
        </p:txBody>
      </p:sp>
      <p:sp>
        <p:nvSpPr>
          <p:cNvPr id="40" name="TextShape 2"/>
          <p:cNvSpPr txBox="1"/>
          <p:nvPr/>
        </p:nvSpPr>
        <p:spPr>
          <a:xfrm>
            <a:off x="504360" y="3543120"/>
            <a:ext cx="9071640" cy="2122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Prof. Dr. Radu Ionescu</a:t>
            </a: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raducu.ionescu@gmail.com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Facultatea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Matematică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Informatică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Universitatea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din </a:t>
            </a:r>
            <a:r>
              <a:rPr lang="en-US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București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Clasificare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din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exemple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etichetate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72368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Presupunem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avem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un set de N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antrenare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clasificării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constă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estimarea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g(x)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a.î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.:</a:t>
            </a:r>
          </a:p>
        </p:txBody>
      </p:sp>
      <p:pic>
        <p:nvPicPr>
          <p:cNvPr id="44" name="Picture 43"/>
          <p:cNvPicPr/>
          <p:nvPr/>
        </p:nvPicPr>
        <p:blipFill>
          <a:blip r:embed="rId2"/>
          <a:stretch/>
        </p:blipFill>
        <p:spPr>
          <a:xfrm>
            <a:off x="3419280" y="1338039"/>
            <a:ext cx="3017520" cy="2770200"/>
          </a:xfrm>
          <a:prstGeom prst="rect">
            <a:avLst/>
          </a:prstGeom>
          <a:ln>
            <a:noFill/>
          </a:ln>
        </p:spPr>
      </p:pic>
      <p:pic>
        <p:nvPicPr>
          <p:cNvPr id="45" name="Picture 44"/>
          <p:cNvPicPr/>
          <p:nvPr/>
        </p:nvPicPr>
        <p:blipFill>
          <a:blip r:embed="rId3"/>
          <a:stretch/>
        </p:blipFill>
        <p:spPr>
          <a:xfrm>
            <a:off x="687240" y="5063971"/>
            <a:ext cx="8548200" cy="608040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EA3107-6F22-AF40-83DE-F09B88967A3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099140" y="6547574"/>
            <a:ext cx="1881360" cy="560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Regresie din exemple etichetate</a:t>
            </a:r>
          </a:p>
        </p:txBody>
      </p:sp>
      <p:sp>
        <p:nvSpPr>
          <p:cNvPr id="76" name="TextShape 2"/>
          <p:cNvSpPr txBox="1"/>
          <p:nvPr/>
        </p:nvSpPr>
        <p:spPr>
          <a:xfrm>
            <a:off x="502920" y="1869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Presupunem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avem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un set de N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antrenare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regresiei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constă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estimarea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g(x)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a.î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.:</a:t>
            </a:r>
          </a:p>
        </p:txBody>
      </p:sp>
      <p:pic>
        <p:nvPicPr>
          <p:cNvPr id="77" name="Picture 76"/>
          <p:cNvPicPr/>
          <p:nvPr/>
        </p:nvPicPr>
        <p:blipFill>
          <a:blip r:embed="rId2"/>
          <a:stretch/>
        </p:blipFill>
        <p:spPr>
          <a:xfrm>
            <a:off x="2926080" y="1276360"/>
            <a:ext cx="4079520" cy="3047400"/>
          </a:xfrm>
          <a:prstGeom prst="rect">
            <a:avLst/>
          </a:prstGeom>
          <a:ln>
            <a:noFill/>
          </a:ln>
        </p:spPr>
      </p:pic>
      <p:pic>
        <p:nvPicPr>
          <p:cNvPr id="78" name="Picture 77"/>
          <p:cNvPicPr/>
          <p:nvPr/>
        </p:nvPicPr>
        <p:blipFill>
          <a:blip r:embed="rId3"/>
          <a:stretch/>
        </p:blipFill>
        <p:spPr>
          <a:xfrm>
            <a:off x="756360" y="5183360"/>
            <a:ext cx="7234920" cy="630360"/>
          </a:xfrm>
          <a:prstGeom prst="rect">
            <a:avLst/>
          </a:prstGeom>
          <a:ln>
            <a:noFill/>
          </a:ln>
        </p:spPr>
      </p:pic>
      <p:pic>
        <p:nvPicPr>
          <p:cNvPr id="79" name="Picture 78"/>
          <p:cNvPicPr/>
          <p:nvPr/>
        </p:nvPicPr>
        <p:blipFill>
          <a:blip r:embed="rId4"/>
          <a:stretch/>
        </p:blipFill>
        <p:spPr>
          <a:xfrm>
            <a:off x="3879360" y="6512040"/>
            <a:ext cx="1994400" cy="5943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0254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Învățare din exemple etichetate</a:t>
            </a:r>
          </a:p>
        </p:txBody>
      </p:sp>
      <p:sp>
        <p:nvSpPr>
          <p:cNvPr id="86" name="TextShape 2"/>
          <p:cNvSpPr txBox="1"/>
          <p:nvPr/>
        </p:nvSpPr>
        <p:spPr>
          <a:xfrm>
            <a:off x="502920" y="1411920"/>
            <a:ext cx="9071640" cy="51687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Presupunem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că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avem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un set de N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exemple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antrenare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Problema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învățării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constă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estimarea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funcției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g(x)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a.î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pierdere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(de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exemplu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MSE):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Eroarea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generalizare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Eroarea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empirică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</a:t>
            </a:r>
            <a:r>
              <a:rPr lang="en-US" sz="2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estimată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): </a:t>
            </a:r>
          </a:p>
        </p:txBody>
      </p:sp>
      <p:pic>
        <p:nvPicPr>
          <p:cNvPr id="87" name="Picture 86"/>
          <p:cNvPicPr/>
          <p:nvPr/>
        </p:nvPicPr>
        <p:blipFill>
          <a:blip r:embed="rId2"/>
          <a:stretch/>
        </p:blipFill>
        <p:spPr>
          <a:xfrm>
            <a:off x="756360" y="1856660"/>
            <a:ext cx="7234920" cy="630360"/>
          </a:xfrm>
          <a:prstGeom prst="rect">
            <a:avLst/>
          </a:prstGeom>
          <a:ln>
            <a:noFill/>
          </a:ln>
        </p:spPr>
      </p:pic>
      <p:pic>
        <p:nvPicPr>
          <p:cNvPr id="88" name="Picture 87"/>
          <p:cNvPicPr/>
          <p:nvPr/>
        </p:nvPicPr>
        <p:blipFill>
          <a:blip r:embed="rId3"/>
          <a:stretch/>
        </p:blipFill>
        <p:spPr>
          <a:xfrm>
            <a:off x="4084560" y="3100580"/>
            <a:ext cx="1881360" cy="560520"/>
          </a:xfrm>
          <a:prstGeom prst="rect">
            <a:avLst/>
          </a:prstGeom>
          <a:ln>
            <a:noFill/>
          </a:ln>
        </p:spPr>
      </p:pic>
      <p:pic>
        <p:nvPicPr>
          <p:cNvPr id="89" name="Picture 88"/>
          <p:cNvPicPr/>
          <p:nvPr/>
        </p:nvPicPr>
        <p:blipFill>
          <a:blip r:embed="rId4"/>
          <a:stretch/>
        </p:blipFill>
        <p:spPr>
          <a:xfrm>
            <a:off x="4129920" y="4360700"/>
            <a:ext cx="1791000" cy="488160"/>
          </a:xfrm>
          <a:prstGeom prst="rect">
            <a:avLst/>
          </a:prstGeom>
          <a:ln>
            <a:noFill/>
          </a:ln>
        </p:spPr>
      </p:pic>
      <p:pic>
        <p:nvPicPr>
          <p:cNvPr id="90" name="Picture 89"/>
          <p:cNvPicPr/>
          <p:nvPr/>
        </p:nvPicPr>
        <p:blipFill>
          <a:blip r:embed="rId5"/>
          <a:stretch/>
        </p:blipFill>
        <p:spPr>
          <a:xfrm>
            <a:off x="1998000" y="5391920"/>
            <a:ext cx="6054480" cy="632520"/>
          </a:xfrm>
          <a:prstGeom prst="rect">
            <a:avLst/>
          </a:prstGeom>
          <a:ln>
            <a:noFill/>
          </a:ln>
        </p:spPr>
      </p:pic>
      <p:pic>
        <p:nvPicPr>
          <p:cNvPr id="91" name="Picture 90"/>
          <p:cNvPicPr/>
          <p:nvPr/>
        </p:nvPicPr>
        <p:blipFill>
          <a:blip r:embed="rId6"/>
          <a:stretch/>
        </p:blipFill>
        <p:spPr>
          <a:xfrm>
            <a:off x="3330360" y="6457320"/>
            <a:ext cx="3390120" cy="857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Care este eticheta exemplului de test x?</a:t>
            </a:r>
          </a:p>
        </p:txBody>
      </p:sp>
      <p:sp>
        <p:nvSpPr>
          <p:cNvPr id="48" name="TextShape 2"/>
          <p:cNvSpPr txBox="1"/>
          <p:nvPr/>
        </p:nvSpPr>
        <p:spPr>
          <a:xfrm>
            <a:off x="504000" y="172368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9" name="Picture 48"/>
          <p:cNvPicPr/>
          <p:nvPr/>
        </p:nvPicPr>
        <p:blipFill>
          <a:blip r:embed="rId2"/>
          <a:stretch/>
        </p:blipFill>
        <p:spPr>
          <a:xfrm>
            <a:off x="2338560" y="1831320"/>
            <a:ext cx="5664600" cy="5299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2560" y="914400"/>
            <a:ext cx="9071640" cy="585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Metoda celor mai apropiați vecini
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Metoda celor mai apropiați vecini</a:t>
            </a:r>
          </a:p>
        </p:txBody>
      </p:sp>
      <p:sp>
        <p:nvSpPr>
          <p:cNvPr id="51" name="TextShape 2"/>
          <p:cNvSpPr txBox="1"/>
          <p:nvPr/>
        </p:nvSpPr>
        <p:spPr>
          <a:xfrm>
            <a:off x="504000" y="2230582"/>
            <a:ext cx="9071640" cy="48075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Algoritmul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k-NN: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1)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fiecare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exemplu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test x,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găsim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apropiați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vecini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2)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Atribuim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eticheta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majoritară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conform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celor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vecini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2" name="Picture 51"/>
          <p:cNvPicPr/>
          <p:nvPr/>
        </p:nvPicPr>
        <p:blipFill>
          <a:blip r:embed="rId2"/>
          <a:stretch/>
        </p:blipFill>
        <p:spPr>
          <a:xfrm>
            <a:off x="3416575" y="1477023"/>
            <a:ext cx="2926080" cy="287330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-Nearest Neighbors (k-NN)</a:t>
            </a:r>
          </a:p>
        </p:txBody>
      </p:sp>
      <p:sp>
        <p:nvSpPr>
          <p:cNvPr id="51" name="TextShape 2"/>
          <p:cNvSpPr txBox="1"/>
          <p:nvPr/>
        </p:nvSpPr>
        <p:spPr>
          <a:xfrm>
            <a:off x="503999" y="2230582"/>
            <a:ext cx="9230309" cy="48075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Cum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luăm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o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decizie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caz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egalitate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?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1)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Alegem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o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etichetă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din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egale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mod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aleator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2)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Aplicăm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modelul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1-NN (nu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există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egalități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3)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Utilizăm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distanțele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până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la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exemplu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test ca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ponderi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2" name="Picture 51"/>
          <p:cNvPicPr/>
          <p:nvPr/>
        </p:nvPicPr>
        <p:blipFill>
          <a:blip r:embed="rId2"/>
          <a:stretch/>
        </p:blipFill>
        <p:spPr>
          <a:xfrm>
            <a:off x="3416575" y="1477023"/>
            <a:ext cx="2926080" cy="28733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080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 se întâmplă în cazul k = 1?</a:t>
            </a:r>
          </a:p>
        </p:txBody>
      </p:sp>
      <p:sp>
        <p:nvSpPr>
          <p:cNvPr id="54" name="TextShape 2"/>
          <p:cNvSpPr txBox="1"/>
          <p:nvPr/>
        </p:nvSpPr>
        <p:spPr>
          <a:xfrm>
            <a:off x="502560" y="1658847"/>
            <a:ext cx="9071640" cy="5900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Obținem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o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diagramă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Voronoi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80000"/>
              <a:buFont typeface="Wingdings" pitchFamily="2" charset="2"/>
              <a:buChar char="Ø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spațiul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partiționat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regiuni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80000"/>
              <a:buFont typeface="Wingdings" pitchFamily="2" charset="2"/>
              <a:buChar char="Ø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granțiele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separare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trec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prin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zonele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care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distanțele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între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exemplele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training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sunt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egale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Granița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separare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neliniară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5" name="Picture 54"/>
          <p:cNvPicPr/>
          <p:nvPr/>
        </p:nvPicPr>
        <p:blipFill>
          <a:blip r:embed="rId2"/>
          <a:stretch/>
        </p:blipFill>
        <p:spPr>
          <a:xfrm>
            <a:off x="1748160" y="1480431"/>
            <a:ext cx="6755760" cy="2965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1-NN versus k-NN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436" y="1903918"/>
            <a:ext cx="5767752" cy="37378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62391" t="14377" r="28133" b="72978"/>
          <a:stretch/>
        </p:blipFill>
        <p:spPr>
          <a:xfrm>
            <a:off x="5753730" y="2479606"/>
            <a:ext cx="546528" cy="4602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62391" t="14377" r="28133" b="72978"/>
          <a:stretch/>
        </p:blipFill>
        <p:spPr>
          <a:xfrm>
            <a:off x="6093913" y="2993173"/>
            <a:ext cx="546528" cy="46026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 bwMode="auto">
          <a:xfrm>
            <a:off x="6636243" y="3023870"/>
            <a:ext cx="419982" cy="503978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100796" tIns="50398" rIns="100796" bIns="50398" numCol="1" rtlCol="0" anchor="ctr" anchorCtr="0" compatLnSpc="1">
            <a:prstTxWarp prst="textNoShape">
              <a:avLst/>
            </a:prstTxWarp>
          </a:bodyPr>
          <a:lstStyle/>
          <a:p>
            <a:pPr algn="ctr" defTabSz="1007943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323">
              <a:solidFill>
                <a:schemeClr val="tx1"/>
              </a:solidFill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5964272" y="1847920"/>
            <a:ext cx="503978" cy="503978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100796" tIns="50398" rIns="100796" bIns="50398" numCol="1" rtlCol="0" anchor="ctr" anchorCtr="0" compatLnSpc="1">
            <a:prstTxWarp prst="textNoShape">
              <a:avLst/>
            </a:prstTxWarp>
          </a:bodyPr>
          <a:lstStyle/>
          <a:p>
            <a:pPr algn="ctr" defTabSz="1007943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323">
              <a:solidFill>
                <a:schemeClr val="tx1"/>
              </a:solidFill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62391" t="14377" r="28133" b="72978"/>
          <a:stretch/>
        </p:blipFill>
        <p:spPr>
          <a:xfrm>
            <a:off x="3912302" y="4327526"/>
            <a:ext cx="546528" cy="46026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auto">
          <a:xfrm>
            <a:off x="4200348" y="3947830"/>
            <a:ext cx="503978" cy="419982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100796" tIns="50398" rIns="100796" bIns="50398" numCol="1" rtlCol="0" anchor="ctr" anchorCtr="0" compatLnSpc="1">
            <a:prstTxWarp prst="textNoShape">
              <a:avLst/>
            </a:prstTxWarp>
          </a:bodyPr>
          <a:lstStyle/>
          <a:p>
            <a:pPr algn="ctr" defTabSz="1007943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323">
              <a:solidFill>
                <a:schemeClr val="tx1"/>
              </a:solidFill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452337" y="4199819"/>
            <a:ext cx="503978" cy="419982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100796" tIns="50398" rIns="100796" bIns="50398" numCol="1" rtlCol="0" anchor="ctr" anchorCtr="0" compatLnSpc="1">
            <a:prstTxWarp prst="textNoShape">
              <a:avLst/>
            </a:prstTxWarp>
          </a:bodyPr>
          <a:lstStyle/>
          <a:p>
            <a:pPr algn="ctr" defTabSz="1007943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323">
              <a:solidFill>
                <a:schemeClr val="tx1"/>
              </a:solidFill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8219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1-NN versus k-NN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436" y="1959915"/>
            <a:ext cx="5767752" cy="363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38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Presupunerea pe care se bazează modelul k-NN</a:t>
            </a:r>
          </a:p>
        </p:txBody>
      </p:sp>
      <p:sp>
        <p:nvSpPr>
          <p:cNvPr id="57" name="TextShape 2"/>
          <p:cNvSpPr txBox="1"/>
          <p:nvPr/>
        </p:nvSpPr>
        <p:spPr>
          <a:xfrm>
            <a:off x="502560" y="2409119"/>
            <a:ext cx="9071640" cy="497535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Datele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antrenare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testare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provin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din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aceeași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distribuție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Devine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puțin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probabil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ca un pattern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reprezentativ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setul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antrenare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fie absent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datele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test</a:t>
            </a:r>
          </a:p>
        </p:txBody>
      </p:sp>
      <p:pic>
        <p:nvPicPr>
          <p:cNvPr id="58" name="Picture 57"/>
          <p:cNvPicPr/>
          <p:nvPr/>
        </p:nvPicPr>
        <p:blipFill>
          <a:blip r:embed="rId2"/>
          <a:stretch/>
        </p:blipFill>
        <p:spPr>
          <a:xfrm>
            <a:off x="540360" y="1671120"/>
            <a:ext cx="9093240" cy="3784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 se întâmplă atunci când variem parametrul k?</a:t>
            </a:r>
          </a:p>
        </p:txBody>
      </p:sp>
      <p:sp>
        <p:nvSpPr>
          <p:cNvPr id="60" name="TextShape 2"/>
          <p:cNvSpPr txBox="1"/>
          <p:nvPr/>
        </p:nvSpPr>
        <p:spPr>
          <a:xfrm>
            <a:off x="502560" y="2625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 = 1</a:t>
            </a:r>
          </a:p>
        </p:txBody>
      </p:sp>
      <p:pic>
        <p:nvPicPr>
          <p:cNvPr id="61" name="Picture 60"/>
          <p:cNvPicPr/>
          <p:nvPr/>
        </p:nvPicPr>
        <p:blipFill>
          <a:blip r:embed="rId2"/>
          <a:stretch/>
        </p:blipFill>
        <p:spPr>
          <a:xfrm>
            <a:off x="960840" y="1616400"/>
            <a:ext cx="8158320" cy="5150160"/>
          </a:xfrm>
          <a:prstGeom prst="rect">
            <a:avLst/>
          </a:prstGeom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430215" y="79482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 se întâmplă atunci când variem parametrul k?</a:t>
            </a:r>
          </a:p>
        </p:txBody>
      </p:sp>
      <p:sp>
        <p:nvSpPr>
          <p:cNvPr id="63" name="TextShape 2"/>
          <p:cNvSpPr txBox="1"/>
          <p:nvPr/>
        </p:nvSpPr>
        <p:spPr>
          <a:xfrm>
            <a:off x="502560" y="2625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 = 3</a:t>
            </a:r>
          </a:p>
        </p:txBody>
      </p:sp>
      <p:pic>
        <p:nvPicPr>
          <p:cNvPr id="64" name="Picture 63"/>
          <p:cNvPicPr/>
          <p:nvPr/>
        </p:nvPicPr>
        <p:blipFill>
          <a:blip r:embed="rId2"/>
          <a:stretch/>
        </p:blipFill>
        <p:spPr>
          <a:xfrm>
            <a:off x="1007640" y="1675440"/>
            <a:ext cx="8061480" cy="5089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 se întâmplă atunci când variem parametrul k?</a:t>
            </a:r>
          </a:p>
        </p:txBody>
      </p:sp>
      <p:sp>
        <p:nvSpPr>
          <p:cNvPr id="66" name="TextShape 2"/>
          <p:cNvSpPr txBox="1"/>
          <p:nvPr/>
        </p:nvSpPr>
        <p:spPr>
          <a:xfrm>
            <a:off x="502560" y="2625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 = 7</a:t>
            </a:r>
          </a:p>
        </p:txBody>
      </p:sp>
      <p:pic>
        <p:nvPicPr>
          <p:cNvPr id="67" name="Picture 66"/>
          <p:cNvPicPr/>
          <p:nvPr/>
        </p:nvPicPr>
        <p:blipFill>
          <a:blip r:embed="rId2"/>
          <a:stretch/>
        </p:blipFill>
        <p:spPr>
          <a:xfrm>
            <a:off x="1024200" y="1645920"/>
            <a:ext cx="8101440" cy="5083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 se întâmplă atunci când variem parametrul k?</a:t>
            </a:r>
          </a:p>
        </p:txBody>
      </p:sp>
      <p:sp>
        <p:nvSpPr>
          <p:cNvPr id="69" name="TextShape 2"/>
          <p:cNvSpPr txBox="1"/>
          <p:nvPr/>
        </p:nvSpPr>
        <p:spPr>
          <a:xfrm>
            <a:off x="502560" y="2625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 = 21</a:t>
            </a:r>
          </a:p>
        </p:txBody>
      </p:sp>
      <p:pic>
        <p:nvPicPr>
          <p:cNvPr id="70" name="Picture 69"/>
          <p:cNvPicPr/>
          <p:nvPr/>
        </p:nvPicPr>
        <p:blipFill>
          <a:blip r:embed="rId2"/>
          <a:stretch/>
        </p:blipFill>
        <p:spPr>
          <a:xfrm>
            <a:off x="941760" y="1636920"/>
            <a:ext cx="8211240" cy="5083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/>
          </p:nvPr>
        </p:nvSpPr>
        <p:spPr>
          <a:xfrm>
            <a:off x="504000" y="1953492"/>
            <a:ext cx="9071640" cy="4876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 </a:t>
            </a:r>
            <a:r>
              <a:rPr lang="en-US" sz="2800" dirty="0" err="1"/>
              <a:t>funcție</a:t>
            </a:r>
            <a:r>
              <a:rPr lang="en-US" sz="2800" dirty="0"/>
              <a:t> de </a:t>
            </a:r>
            <a:r>
              <a:rPr lang="en-US" sz="2800" dirty="0" err="1"/>
              <a:t>distanță</a:t>
            </a:r>
            <a:r>
              <a:rPr lang="en-US" sz="2800" dirty="0"/>
              <a:t> 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en-US" sz="2800" b="1" dirty="0" err="1"/>
              <a:t>Distanța</a:t>
            </a:r>
            <a:r>
              <a:rPr lang="en-US" sz="2800" b="1" dirty="0"/>
              <a:t> </a:t>
            </a:r>
            <a:r>
              <a:rPr lang="en-US" sz="2800" b="1" dirty="0" err="1"/>
              <a:t>Euclidiană</a:t>
            </a:r>
            <a:endParaRPr lang="en-US" sz="2800" b="1" dirty="0"/>
          </a:p>
          <a:p>
            <a:pPr marL="457200" lvl="1" indent="-457200">
              <a:buFont typeface="Wingdings" pitchFamily="2" charset="2"/>
              <a:buChar char="Ø"/>
            </a:pPr>
            <a:r>
              <a:rPr lang="en-US" sz="2800" b="1" dirty="0" err="1"/>
              <a:t>Distanța</a:t>
            </a:r>
            <a:r>
              <a:rPr lang="en-US" sz="2800" b="1" dirty="0"/>
              <a:t> Edit (</a:t>
            </a:r>
            <a:r>
              <a:rPr lang="en-US" sz="2800" b="1" dirty="0" err="1"/>
              <a:t>Levenshtein</a:t>
            </a:r>
            <a:r>
              <a:rPr lang="en-US" sz="2800" b="1" dirty="0"/>
              <a:t>)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en-US" sz="2800" b="1" dirty="0" err="1"/>
              <a:t>Distanța</a:t>
            </a:r>
            <a:r>
              <a:rPr lang="en-US" sz="2800" b="1" dirty="0"/>
              <a:t> Hamming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Câți</a:t>
            </a:r>
            <a:r>
              <a:rPr lang="en-US" sz="2800" dirty="0"/>
              <a:t> </a:t>
            </a:r>
            <a:r>
              <a:rPr lang="en-US" sz="2800" dirty="0" err="1"/>
              <a:t>vecini</a:t>
            </a:r>
            <a:r>
              <a:rPr lang="en-US" sz="2800" dirty="0"/>
              <a:t> </a:t>
            </a:r>
            <a:r>
              <a:rPr lang="en-US" sz="2800" dirty="0" err="1"/>
              <a:t>să</a:t>
            </a:r>
            <a:r>
              <a:rPr lang="en-US" sz="2800" dirty="0"/>
              <a:t> </a:t>
            </a:r>
            <a:r>
              <a:rPr lang="en-US" sz="2800" dirty="0" err="1"/>
              <a:t>luăm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considerare</a:t>
            </a:r>
            <a:r>
              <a:rPr lang="en-US" sz="2800" dirty="0"/>
              <a:t>?</a:t>
            </a: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Cum </a:t>
            </a:r>
            <a:r>
              <a:rPr lang="en-US" sz="2800" dirty="0" err="1"/>
              <a:t>să</a:t>
            </a:r>
            <a:r>
              <a:rPr lang="en-US" sz="2800" dirty="0"/>
              <a:t> </a:t>
            </a:r>
            <a:r>
              <a:rPr lang="en-US" sz="2800" dirty="0" err="1"/>
              <a:t>antrenăm</a:t>
            </a:r>
            <a:r>
              <a:rPr lang="en-US" sz="2800" dirty="0"/>
              <a:t> </a:t>
            </a:r>
            <a:r>
              <a:rPr lang="en-US" sz="2800" dirty="0" err="1"/>
              <a:t>modelul</a:t>
            </a:r>
            <a:r>
              <a:rPr lang="en-US" sz="2800" dirty="0"/>
              <a:t> </a:t>
            </a:r>
            <a:r>
              <a:rPr lang="en-US" sz="2800" dirty="0" err="1"/>
              <a:t>pe</a:t>
            </a:r>
            <a:r>
              <a:rPr lang="en-US" sz="2800" dirty="0"/>
              <a:t> </a:t>
            </a:r>
            <a:r>
              <a:rPr lang="en-US" sz="2800" dirty="0" err="1"/>
              <a:t>exemplele</a:t>
            </a:r>
            <a:r>
              <a:rPr lang="en-US" sz="2800" dirty="0"/>
              <a:t> din </a:t>
            </a:r>
            <a:r>
              <a:rPr lang="en-US" sz="2800" dirty="0" err="1"/>
              <a:t>vecinătate</a:t>
            </a:r>
            <a:r>
              <a:rPr lang="en-US" sz="2800" dirty="0"/>
              <a:t>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Ce ne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un </a:t>
            </a:r>
            <a:r>
              <a:rPr lang="en-US" dirty="0" err="1"/>
              <a:t>clasificator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memorie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218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/>
          </p:nvPr>
        </p:nvSpPr>
        <p:spPr>
          <a:xfrm>
            <a:off x="504000" y="1563481"/>
            <a:ext cx="9071640" cy="566859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 </a:t>
            </a:r>
            <a:r>
              <a:rPr lang="en-US" sz="2800" dirty="0" err="1"/>
              <a:t>funcție</a:t>
            </a:r>
            <a:r>
              <a:rPr lang="en-US" sz="2800" dirty="0"/>
              <a:t> de </a:t>
            </a:r>
            <a:r>
              <a:rPr lang="en-US" sz="2800" dirty="0" err="1"/>
              <a:t>distanță</a:t>
            </a:r>
            <a:r>
              <a:rPr lang="en-US" sz="2800" dirty="0"/>
              <a:t> 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en-US" sz="2800" b="1" dirty="0"/>
              <a:t>De </a:t>
            </a:r>
            <a:r>
              <a:rPr lang="en-US" sz="2800" b="1" dirty="0" err="1"/>
              <a:t>exemplu</a:t>
            </a:r>
            <a:r>
              <a:rPr lang="en-US" sz="2800" b="1" dirty="0"/>
              <a:t> </a:t>
            </a:r>
            <a:r>
              <a:rPr lang="en-US" sz="2800" b="1" dirty="0" err="1"/>
              <a:t>distanța</a:t>
            </a:r>
            <a:r>
              <a:rPr lang="en-US" sz="2800" b="1" dirty="0"/>
              <a:t> </a:t>
            </a:r>
            <a:r>
              <a:rPr lang="en-US" sz="2800" b="1" dirty="0" err="1"/>
              <a:t>Euclidiană</a:t>
            </a:r>
            <a:endParaRPr lang="en-US" sz="2800" b="1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Câți</a:t>
            </a:r>
            <a:r>
              <a:rPr lang="en-US" sz="2800" dirty="0"/>
              <a:t> </a:t>
            </a:r>
            <a:r>
              <a:rPr lang="en-US" sz="2800" dirty="0" err="1"/>
              <a:t>vecini</a:t>
            </a:r>
            <a:r>
              <a:rPr lang="en-US" sz="2800" dirty="0"/>
              <a:t> </a:t>
            </a:r>
            <a:r>
              <a:rPr lang="en-US" sz="2800" dirty="0" err="1"/>
              <a:t>să</a:t>
            </a:r>
            <a:r>
              <a:rPr lang="en-US" sz="2800" dirty="0"/>
              <a:t> </a:t>
            </a:r>
            <a:r>
              <a:rPr lang="en-US" sz="2800" dirty="0" err="1"/>
              <a:t>luăm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considerare</a:t>
            </a:r>
            <a:r>
              <a:rPr lang="en-US" sz="2800" dirty="0"/>
              <a:t>?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en-US" sz="2800" b="1" dirty="0"/>
              <a:t>1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Cum </a:t>
            </a:r>
            <a:r>
              <a:rPr lang="en-US" sz="2800" dirty="0" err="1"/>
              <a:t>să</a:t>
            </a:r>
            <a:r>
              <a:rPr lang="en-US" sz="2800" dirty="0"/>
              <a:t> </a:t>
            </a:r>
            <a:r>
              <a:rPr lang="en-US" sz="2800" dirty="0" err="1"/>
              <a:t>antrenăm</a:t>
            </a:r>
            <a:r>
              <a:rPr lang="en-US" sz="2800" dirty="0"/>
              <a:t> </a:t>
            </a:r>
            <a:r>
              <a:rPr lang="en-US" sz="2800" dirty="0" err="1"/>
              <a:t>modelul</a:t>
            </a:r>
            <a:r>
              <a:rPr lang="en-US" sz="2800" dirty="0"/>
              <a:t> </a:t>
            </a:r>
            <a:r>
              <a:rPr lang="en-US" sz="2800" dirty="0" err="1"/>
              <a:t>pe</a:t>
            </a:r>
            <a:r>
              <a:rPr lang="en-US" sz="2800" dirty="0"/>
              <a:t> </a:t>
            </a:r>
            <a:r>
              <a:rPr lang="en-US" sz="2800" dirty="0" err="1"/>
              <a:t>exemplele</a:t>
            </a:r>
            <a:r>
              <a:rPr lang="en-US" sz="2800" dirty="0"/>
              <a:t> din </a:t>
            </a:r>
            <a:r>
              <a:rPr lang="en-US" sz="2800" dirty="0" err="1"/>
              <a:t>vecinătate</a:t>
            </a:r>
            <a:r>
              <a:rPr lang="en-US" sz="2800" dirty="0"/>
              <a:t>?</a:t>
            </a:r>
          </a:p>
          <a:p>
            <a:pPr marL="457200" lvl="1" indent="-457200">
              <a:buFont typeface="Wingdings" pitchFamily="2" charset="2"/>
              <a:buChar char="Ø"/>
            </a:pPr>
            <a:r>
              <a:rPr lang="en-US" sz="2800" b="1" dirty="0" err="1"/>
              <a:t>Prezicem</a:t>
            </a:r>
            <a:r>
              <a:rPr lang="en-US" sz="2800" b="1" dirty="0"/>
              <a:t> </a:t>
            </a:r>
            <a:r>
              <a:rPr lang="en-US" sz="2800" b="1" dirty="0" err="1"/>
              <a:t>eticheta</a:t>
            </a:r>
            <a:r>
              <a:rPr lang="en-US" sz="2800" b="1" dirty="0"/>
              <a:t> </a:t>
            </a:r>
            <a:r>
              <a:rPr lang="en-US" sz="2800" b="1" dirty="0" err="1"/>
              <a:t>celui</a:t>
            </a:r>
            <a:r>
              <a:rPr lang="en-US" sz="2800" b="1" dirty="0"/>
              <a:t> </a:t>
            </a:r>
            <a:r>
              <a:rPr lang="en-US" sz="2800" b="1" dirty="0" err="1"/>
              <a:t>mai</a:t>
            </a:r>
            <a:r>
              <a:rPr lang="en-US" sz="2800" b="1" dirty="0"/>
              <a:t> </a:t>
            </a:r>
            <a:r>
              <a:rPr lang="en-US" sz="2800" b="1" dirty="0" err="1"/>
              <a:t>apropiat</a:t>
            </a:r>
            <a:r>
              <a:rPr lang="en-US" sz="2800" b="1" dirty="0"/>
              <a:t> </a:t>
            </a:r>
            <a:r>
              <a:rPr lang="en-US" sz="2800" b="1" dirty="0" err="1"/>
              <a:t>vecin</a:t>
            </a:r>
            <a:endParaRPr lang="en-US" sz="28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1-NN</a:t>
            </a:r>
          </a:p>
        </p:txBody>
      </p:sp>
    </p:spTree>
    <p:extLst>
      <p:ext uri="{BB962C8B-B14F-4D97-AF65-F5344CB8AC3E}">
        <p14:creationId xmlns:p14="http://schemas.microsoft.com/office/powerpoint/2010/main" val="5467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Distanța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Euc</a:t>
            </a:r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lidiană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(L</a:t>
            </a:r>
            <a:r>
              <a:rPr lang="en-US" sz="4400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Shape 2"/>
              <p:cNvSpPr txBox="1"/>
              <p:nvPr/>
            </p:nvSpPr>
            <p:spPr>
              <a:xfrm>
                <a:off x="504000" y="1852544"/>
                <a:ext cx="9071640" cy="4718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Pentru </a:t>
                </a:r>
                <a:r>
                  <a:rPr lang="en-US" sz="2800" b="0" strike="noStrike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vectorii</a:t>
                </a:r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5, 1,3,0</m:t>
                        </m:r>
                      </m:e>
                    </m:d>
                  </m:oMath>
                </a14:m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</a:t>
                </a:r>
                <a:r>
                  <a:rPr lang="en-US" sz="2800" b="0" strike="noStrike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și</a:t>
                </a:r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=(2,1,4,1)</m:t>
                    </m:r>
                  </m:oMath>
                </a14:m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</a:t>
                </a:r>
                <a:r>
                  <a:rPr lang="en-US" sz="2800" b="0" strike="noStrike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avem</a:t>
                </a:r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: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o-RO" sz="2800" b="0" i="1" strike="noStrike" spc="-1" smtClean="0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o-RO" sz="2800" b="0" i="1" spc="-1" smtClean="0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o-RO" sz="2800" b="0" i="1" spc="-1" smtClean="0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ro-RO" sz="2800" b="0" i="1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mbria Math" panose="02040503050406030204" pitchFamily="18" charset="0"/>
                  </a:rPr>
                  <a:t> 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ro-RO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5−2</m:t>
                                </m:r>
                              </m:e>
                            </m:d>
                          </m:e>
                          <m:sup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−1)</m:t>
                            </m:r>
                          </m:e>
                          <m:sup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(3−4)</m:t>
                            </m:r>
                          </m:e>
                          <m:sup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(0−1)</m:t>
                            </m:r>
                          </m:e>
                          <m:sup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ro-RO" sz="2800" b="0" i="1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ro-RO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9+1+1</m:t>
                        </m:r>
                      </m:e>
                    </m:rad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endParaRPr lang="ro-RO" sz="2800" b="0" i="1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ro-RO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ea typeface="Cambria Math" panose="02040503050406030204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≅3.32</m:t>
                    </m:r>
                  </m:oMath>
                </a14:m>
                <a:endParaRPr lang="en-US" sz="28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</mc:Choice>
        <mc:Fallback xmlns="">
          <p:sp>
            <p:nvSpPr>
              <p:cNvPr id="51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1852544"/>
                <a:ext cx="9071640" cy="4718880"/>
              </a:xfrm>
              <a:prstGeom prst="rect">
                <a:avLst/>
              </a:prstGeom>
              <a:blipFill>
                <a:blip r:embed="rId2"/>
                <a:stretch>
                  <a:fillRect l="-280" t="-21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2764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Distanța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Manhattan (L</a:t>
            </a:r>
            <a:r>
              <a:rPr lang="en-US" sz="4400" b="0" strike="noStrike" spc="-1" baseline="-25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Shape 2"/>
              <p:cNvSpPr txBox="1"/>
              <p:nvPr/>
            </p:nvSpPr>
            <p:spPr>
              <a:xfrm>
                <a:off x="504000" y="4641272"/>
                <a:ext cx="9071640" cy="24938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Pentru </a:t>
                </a:r>
                <a:r>
                  <a:rPr lang="en-US" sz="2800" b="0" strike="noStrike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vectorii</a:t>
                </a:r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5, 1,3,0</m:t>
                        </m:r>
                      </m:e>
                    </m:d>
                  </m:oMath>
                </a14:m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</a:t>
                </a:r>
                <a:r>
                  <a:rPr lang="en-US" sz="2800" b="0" strike="noStrike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și</a:t>
                </a:r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=(2,1,4,1)</m:t>
                    </m:r>
                  </m:oMath>
                </a14:m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</a:t>
                </a:r>
                <a:r>
                  <a:rPr lang="en-US" sz="2800" b="0" strike="noStrike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avem</a:t>
                </a:r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: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800" b="0" i="1" strike="noStrike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|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o-RO" sz="2800" b="0" i="1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Cambria Math" panose="02040503050406030204" pitchFamily="18" charset="0"/>
                  </a:rPr>
                  <a:t> 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ro-RO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trike="noStrike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1−1</m:t>
                        </m:r>
                      </m:e>
                    </m:d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3−4</m:t>
                        </m:r>
                      </m:e>
                    </m:d>
                    <m:r>
                      <a:rPr lang="en-US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+|0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ro-RO" sz="2800" b="0" i="1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r>
                  <a:rPr lang="ro-RO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3+1+1</m:t>
                    </m:r>
                    <m:r>
                      <a:rPr lang="ro-RO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trike="noStrike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ro-RO" sz="2800" b="0" i="1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4641272"/>
                <a:ext cx="9071640" cy="2493819"/>
              </a:xfrm>
              <a:prstGeom prst="rect">
                <a:avLst/>
              </a:prstGeom>
              <a:blipFill>
                <a:blip r:embed="rId2"/>
                <a:stretch>
                  <a:fillRect l="-280" t="-40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B2E1268-A10B-3942-BE8A-0C506D3661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398" y="1419656"/>
            <a:ext cx="3043828" cy="304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087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Distanța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Minkowski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</a:t>
            </a:r>
            <a:r>
              <a:rPr lang="en-US" sz="4400" b="0" strike="noStrike" spc="-1" baseline="-25000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Shape 2"/>
              <p:cNvSpPr txBox="1"/>
              <p:nvPr/>
            </p:nvSpPr>
            <p:spPr>
              <a:xfrm>
                <a:off x="504000" y="2002972"/>
                <a:ext cx="9071640" cy="5132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Pentru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vectorii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și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avem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:</a:t>
                </a:r>
              </a:p>
              <a:p>
                <a:pPr marL="108000" algn="ctr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ro-RO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𝑝</m:t>
                        </m:r>
                      </m:deg>
                      <m:e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pc="-1" smtClean="0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b="0" i="1" spc="-1" smtClean="0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b="0" i="1" spc="-1" smtClean="0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</a:t>
                </a: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Distanța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Minkowski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este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o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generalizare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pentru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distanțele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Euclidiană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(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și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Manhattan (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</a:t>
                </a: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Dacă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14:m>
                  <m:oMath xmlns:m="http://schemas.openxmlformats.org/officeDocument/2006/math"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,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atunci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nu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mai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este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distanță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. Nu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respectă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inegalitatea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triunghiului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pentru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=(0,0) 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800" b="0" i="0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y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(1,1)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și </a:t>
                </a:r>
                <a14:m>
                  <m:oMath xmlns:m="http://schemas.openxmlformats.org/officeDocument/2006/math"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(0,1)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:</a:t>
                </a:r>
              </a:p>
              <a:p>
                <a:pPr marL="108000" algn="ctr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sz="280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ro-RO" sz="2800" b="0" i="1" spc="-1" smtClean="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&lt;1</m:t>
                            </m:r>
                          </m:sub>
                        </m:sSub>
                      </m:sub>
                    </m:sSub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)&gt;</m:t>
                    </m:r>
                    <m:sSub>
                      <m:sSubPr>
                        <m:ctrlP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&lt;1</m:t>
                            </m:r>
                          </m:sub>
                        </m:sSub>
                      </m:sub>
                    </m:sSub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b>
                          <m:sSubPr>
                            <m:ctrlPr>
                              <a:rPr lang="en-US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&lt;1</m:t>
                            </m:r>
                          </m:sub>
                        </m:sSub>
                      </m:sub>
                    </m:sSub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</p:txBody>
          </p:sp>
        </mc:Choice>
        <mc:Fallback xmlns="">
          <p:sp>
            <p:nvSpPr>
              <p:cNvPr id="51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2002972"/>
                <a:ext cx="9071640" cy="5132120"/>
              </a:xfrm>
              <a:prstGeom prst="rect">
                <a:avLst/>
              </a:prstGeom>
              <a:blipFill>
                <a:blip r:embed="rId2"/>
                <a:stretch>
                  <a:fillRect t="-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282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Distanța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Hamming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Shape 2"/>
              <p:cNvSpPr txBox="1"/>
              <p:nvPr/>
            </p:nvSpPr>
            <p:spPr>
              <a:xfrm>
                <a:off x="504000" y="2002972"/>
                <a:ext cx="9071640" cy="5132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exemplu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,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utilă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pentru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probleme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clasificare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cu date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categorice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sau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secvențe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ADN</a:t>
                </a: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Pentru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vectorii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și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14:m>
                  <m:oMath xmlns:m="http://schemas.openxmlformats.org/officeDocument/2006/math"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=(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avem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:</a:t>
                </a:r>
              </a:p>
              <a:p>
                <a:pPr marL="108000" algn="ctr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𝐻𝑎𝑚𝑚𝑖𝑛𝑔</m:t>
                        </m:r>
                      </m:sub>
                    </m:sSub>
                    <m:d>
                      <m:d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800" b="0" i="1" spc="-1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1+0+0+1=2</m:t>
                    </m:r>
                  </m:oMath>
                </a14:m>
                <a:r>
                  <a:rPr lang="en-US" sz="28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</a:t>
                </a: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Câte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trăsături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(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componente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diferă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între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cei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doi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vectori</a:t>
                </a: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</p:txBody>
          </p:sp>
        </mc:Choice>
        <mc:Fallback xmlns="">
          <p:sp>
            <p:nvSpPr>
              <p:cNvPr id="51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2002972"/>
                <a:ext cx="9071640" cy="5132120"/>
              </a:xfrm>
              <a:prstGeom prst="rect">
                <a:avLst/>
              </a:prstGeom>
              <a:blipFill>
                <a:blip r:embed="rId2"/>
                <a:stretch>
                  <a:fillRect t="-2222" r="-8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66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Distanța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Edit (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Levenshtein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</p:txBody>
      </p:sp>
      <p:sp>
        <p:nvSpPr>
          <p:cNvPr id="51" name="TextShape 2"/>
          <p:cNvSpPr txBox="1"/>
          <p:nvPr/>
        </p:nvSpPr>
        <p:spPr>
          <a:xfrm>
            <a:off x="504000" y="2002972"/>
            <a:ext cx="9071640" cy="5132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De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exemplu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utilă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pentru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probleme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de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clasificare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cu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șiruri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de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caractere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(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documente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text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sau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secvențe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ADN),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secvențe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temporale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(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imagini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video)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Distanța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este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dată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de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câte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modificări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(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inserare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ștergere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înlocuire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sunt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necesare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pentru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a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transforma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un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obiect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în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cel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de-al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doilea</a:t>
            </a: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Pentru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secvențe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video,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folosim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Dynamic Time Warping (DTW)</a:t>
            </a:r>
          </a:p>
        </p:txBody>
      </p:sp>
    </p:spTree>
    <p:extLst>
      <p:ext uri="{BB962C8B-B14F-4D97-AF65-F5344CB8AC3E}">
        <p14:creationId xmlns:p14="http://schemas.microsoft.com/office/powerpoint/2010/main" val="321744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Regresie din exemple etichetate</a:t>
            </a:r>
          </a:p>
        </p:txBody>
      </p:sp>
      <p:sp>
        <p:nvSpPr>
          <p:cNvPr id="76" name="TextShape 2"/>
          <p:cNvSpPr txBox="1"/>
          <p:nvPr/>
        </p:nvSpPr>
        <p:spPr>
          <a:xfrm>
            <a:off x="502920" y="186912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Presupunem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avem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un set de N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antrenare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regresiei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constă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estimarea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funcției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g(x)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a.î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.:</a:t>
            </a:r>
          </a:p>
        </p:txBody>
      </p:sp>
      <p:pic>
        <p:nvPicPr>
          <p:cNvPr id="77" name="Picture 76"/>
          <p:cNvPicPr/>
          <p:nvPr/>
        </p:nvPicPr>
        <p:blipFill>
          <a:blip r:embed="rId2"/>
          <a:stretch/>
        </p:blipFill>
        <p:spPr>
          <a:xfrm>
            <a:off x="2926080" y="1276360"/>
            <a:ext cx="4079520" cy="3047400"/>
          </a:xfrm>
          <a:prstGeom prst="rect">
            <a:avLst/>
          </a:prstGeom>
          <a:ln>
            <a:noFill/>
          </a:ln>
        </p:spPr>
      </p:pic>
      <p:pic>
        <p:nvPicPr>
          <p:cNvPr id="78" name="Picture 77"/>
          <p:cNvPicPr/>
          <p:nvPr/>
        </p:nvPicPr>
        <p:blipFill>
          <a:blip r:embed="rId3"/>
          <a:stretch/>
        </p:blipFill>
        <p:spPr>
          <a:xfrm>
            <a:off x="756360" y="5183360"/>
            <a:ext cx="7234920" cy="630360"/>
          </a:xfrm>
          <a:prstGeom prst="rect">
            <a:avLst/>
          </a:prstGeom>
          <a:ln>
            <a:noFill/>
          </a:ln>
        </p:spPr>
      </p:pic>
      <p:pic>
        <p:nvPicPr>
          <p:cNvPr id="79" name="Picture 78"/>
          <p:cNvPicPr/>
          <p:nvPr/>
        </p:nvPicPr>
        <p:blipFill>
          <a:blip r:embed="rId4"/>
          <a:stretch/>
        </p:blipFill>
        <p:spPr>
          <a:xfrm>
            <a:off x="3879360" y="6512040"/>
            <a:ext cx="1994400" cy="594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1-NN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de </a:t>
            </a:r>
            <a:r>
              <a:rPr lang="en-US" dirty="0" err="1"/>
              <a:t>regresie</a:t>
            </a:r>
            <a:endParaRPr lang="en-US" dirty="0"/>
          </a:p>
        </p:txBody>
      </p:sp>
      <p:grpSp>
        <p:nvGrpSpPr>
          <p:cNvPr id="84" name="Group 8"/>
          <p:cNvGrpSpPr>
            <a:grpSpLocks/>
          </p:cNvGrpSpPr>
          <p:nvPr/>
        </p:nvGrpSpPr>
        <p:grpSpPr bwMode="auto">
          <a:xfrm>
            <a:off x="474972" y="1972935"/>
            <a:ext cx="9168511" cy="5074988"/>
            <a:chOff x="1728" y="2549"/>
            <a:chExt cx="3776" cy="1710"/>
          </a:xfrm>
        </p:grpSpPr>
        <p:sp>
          <p:nvSpPr>
            <p:cNvPr id="85" name="Line 9"/>
            <p:cNvSpPr>
              <a:spLocks noChangeShapeType="1"/>
            </p:cNvSpPr>
            <p:nvPr/>
          </p:nvSpPr>
          <p:spPr bwMode="auto">
            <a:xfrm>
              <a:off x="1968" y="2592"/>
              <a:ext cx="0" cy="153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Line 10"/>
            <p:cNvSpPr>
              <a:spLocks noChangeShapeType="1"/>
            </p:cNvSpPr>
            <p:nvPr/>
          </p:nvSpPr>
          <p:spPr bwMode="auto">
            <a:xfrm>
              <a:off x="1728" y="3936"/>
              <a:ext cx="3648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Text Box 15"/>
            <p:cNvSpPr txBox="1">
              <a:spLocks noChangeArrowheads="1"/>
            </p:cNvSpPr>
            <p:nvPr/>
          </p:nvSpPr>
          <p:spPr bwMode="auto">
            <a:xfrm>
              <a:off x="5188" y="3974"/>
              <a:ext cx="288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377979" indent="-377979" defTabSz="1007943"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en-US" sz="2646" kern="0" dirty="0">
                  <a:solidFill>
                    <a:sysClr val="windowText" lastClr="000000"/>
                  </a:solidFill>
                </a:rPr>
                <a:t>x</a:t>
              </a:r>
            </a:p>
          </p:txBody>
        </p:sp>
        <p:sp>
          <p:nvSpPr>
            <p:cNvPr id="92" name="Text Box 16"/>
            <p:cNvSpPr txBox="1">
              <a:spLocks noChangeArrowheads="1"/>
            </p:cNvSpPr>
            <p:nvPr/>
          </p:nvSpPr>
          <p:spPr bwMode="auto">
            <a:xfrm>
              <a:off x="1770" y="2549"/>
              <a:ext cx="288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377979" indent="-377979" defTabSz="1007943"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en-US" sz="2646" kern="0" dirty="0">
                  <a:solidFill>
                    <a:sysClr val="windowText" lastClr="000000"/>
                  </a:solidFill>
                </a:rPr>
                <a:t>y</a:t>
              </a:r>
            </a:p>
          </p:txBody>
        </p:sp>
        <p:sp>
          <p:nvSpPr>
            <p:cNvPr id="95" name="Line 19"/>
            <p:cNvSpPr>
              <a:spLocks noChangeShapeType="1"/>
            </p:cNvSpPr>
            <p:nvPr/>
          </p:nvSpPr>
          <p:spPr bwMode="auto">
            <a:xfrm>
              <a:off x="1968" y="3552"/>
              <a:ext cx="7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6" name="Line 20"/>
            <p:cNvSpPr>
              <a:spLocks noChangeShapeType="1"/>
            </p:cNvSpPr>
            <p:nvPr/>
          </p:nvSpPr>
          <p:spPr bwMode="auto">
            <a:xfrm flipV="1">
              <a:off x="2688" y="3168"/>
              <a:ext cx="0" cy="3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7" name="Line 21"/>
            <p:cNvSpPr>
              <a:spLocks noChangeShapeType="1"/>
            </p:cNvSpPr>
            <p:nvPr/>
          </p:nvSpPr>
          <p:spPr bwMode="auto">
            <a:xfrm>
              <a:off x="2688" y="3168"/>
              <a:ext cx="4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8" name="Line 22"/>
            <p:cNvSpPr>
              <a:spLocks noChangeShapeType="1"/>
            </p:cNvSpPr>
            <p:nvPr/>
          </p:nvSpPr>
          <p:spPr bwMode="auto">
            <a:xfrm>
              <a:off x="3120" y="3168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Line 23"/>
            <p:cNvSpPr>
              <a:spLocks noChangeShapeType="1"/>
            </p:cNvSpPr>
            <p:nvPr/>
          </p:nvSpPr>
          <p:spPr bwMode="auto">
            <a:xfrm>
              <a:off x="3120" y="3360"/>
              <a:ext cx="115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0" name="Line 24"/>
            <p:cNvSpPr>
              <a:spLocks noChangeShapeType="1"/>
            </p:cNvSpPr>
            <p:nvPr/>
          </p:nvSpPr>
          <p:spPr bwMode="auto">
            <a:xfrm flipV="1">
              <a:off x="4272" y="2784"/>
              <a:ext cx="0" cy="5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1" name="Line 25"/>
            <p:cNvSpPr>
              <a:spLocks noChangeShapeType="1"/>
            </p:cNvSpPr>
            <p:nvPr/>
          </p:nvSpPr>
          <p:spPr bwMode="auto">
            <a:xfrm>
              <a:off x="4272" y="2784"/>
              <a:ext cx="110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2" name="Text Box 26"/>
            <p:cNvSpPr txBox="1">
              <a:spLocks noChangeArrowheads="1"/>
            </p:cNvSpPr>
            <p:nvPr/>
          </p:nvSpPr>
          <p:spPr bwMode="auto">
            <a:xfrm rot="19407590">
              <a:off x="1982" y="2852"/>
              <a:ext cx="901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defTabSz="1007943">
                <a:lnSpc>
                  <a:spcPct val="80000"/>
                </a:lnSpc>
                <a:buClr>
                  <a:srgbClr val="000000"/>
                </a:buClr>
                <a:defRPr/>
              </a:pPr>
              <a:r>
                <a:rPr lang="en-US" sz="2000" kern="0" dirty="0" err="1">
                  <a:solidFill>
                    <a:sysClr val="windowText" lastClr="000000"/>
                  </a:solidFill>
                </a:rPr>
                <a:t>Acesta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este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cel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mai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apropiat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punct</a:t>
              </a:r>
              <a:endParaRPr lang="en-US" sz="200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3" name="Text Box 27"/>
            <p:cNvSpPr txBox="1">
              <a:spLocks noChangeArrowheads="1"/>
            </p:cNvSpPr>
            <p:nvPr/>
          </p:nvSpPr>
          <p:spPr bwMode="auto">
            <a:xfrm>
              <a:off x="4602" y="3188"/>
              <a:ext cx="902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defTabSz="1007943">
                <a:lnSpc>
                  <a:spcPct val="80000"/>
                </a:lnSpc>
                <a:buClr>
                  <a:srgbClr val="000000"/>
                </a:buClr>
                <a:defRPr/>
              </a:pPr>
              <a:r>
                <a:rPr lang="en-US" sz="2000" kern="0" dirty="0" err="1">
                  <a:solidFill>
                    <a:sysClr val="windowText" lastClr="000000"/>
                  </a:solidFill>
                </a:rPr>
                <a:t>Acesta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este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cel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mai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apropiat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punct</a:t>
              </a:r>
              <a:endParaRPr lang="en-US" sz="200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4" name="Text Box 28"/>
            <p:cNvSpPr txBox="1">
              <a:spLocks noChangeArrowheads="1"/>
            </p:cNvSpPr>
            <p:nvPr/>
          </p:nvSpPr>
          <p:spPr bwMode="auto">
            <a:xfrm rot="19727343">
              <a:off x="2650" y="3499"/>
              <a:ext cx="769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defTabSz="1007943">
                <a:lnSpc>
                  <a:spcPct val="80000"/>
                </a:lnSpc>
                <a:buClr>
                  <a:srgbClr val="000000"/>
                </a:buClr>
                <a:defRPr/>
              </a:pPr>
              <a:r>
                <a:rPr lang="en-US" sz="2000" kern="0" dirty="0" err="1">
                  <a:solidFill>
                    <a:sysClr val="windowText" lastClr="000000"/>
                  </a:solidFill>
                </a:rPr>
                <a:t>Acesta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este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cel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mai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apropiat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punct</a:t>
              </a:r>
              <a:endParaRPr lang="en-US" sz="200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5" name="Text Box 29"/>
            <p:cNvSpPr txBox="1">
              <a:spLocks noChangeArrowheads="1"/>
            </p:cNvSpPr>
            <p:nvPr/>
          </p:nvSpPr>
          <p:spPr bwMode="auto">
            <a:xfrm rot="19659611">
              <a:off x="3384" y="2773"/>
              <a:ext cx="794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defTabSz="1007943">
                <a:lnSpc>
                  <a:spcPct val="80000"/>
                </a:lnSpc>
                <a:buClr>
                  <a:srgbClr val="000000"/>
                </a:buClr>
                <a:defRPr/>
              </a:pPr>
              <a:r>
                <a:rPr lang="en-US" sz="2000" kern="0" dirty="0" err="1">
                  <a:solidFill>
                    <a:sysClr val="windowText" lastClr="000000"/>
                  </a:solidFill>
                </a:rPr>
                <a:t>Acesta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este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cel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mai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apropiat</a:t>
              </a:r>
              <a:r>
                <a:rPr lang="en-US" sz="2000" kern="0" dirty="0">
                  <a:solidFill>
                    <a:sysClr val="windowText" lastClr="000000"/>
                  </a:solidFill>
                </a:rPr>
                <a:t> </a:t>
              </a:r>
              <a:r>
                <a:rPr lang="en-US" sz="2000" kern="0" dirty="0" err="1">
                  <a:solidFill>
                    <a:sysClr val="windowText" lastClr="000000"/>
                  </a:solidFill>
                </a:rPr>
                <a:t>punct</a:t>
              </a:r>
              <a:endParaRPr lang="en-US" sz="200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6" name="Freeform 30"/>
            <p:cNvSpPr>
              <a:spLocks/>
            </p:cNvSpPr>
            <p:nvPr/>
          </p:nvSpPr>
          <p:spPr bwMode="auto">
            <a:xfrm>
              <a:off x="5034" y="2880"/>
              <a:ext cx="54" cy="288"/>
            </a:xfrm>
            <a:custGeom>
              <a:avLst/>
              <a:gdLst/>
              <a:ahLst/>
              <a:cxnLst>
                <a:cxn ang="0">
                  <a:pos x="6" y="288"/>
                </a:cxn>
                <a:cxn ang="0">
                  <a:pos x="0" y="156"/>
                </a:cxn>
                <a:cxn ang="0">
                  <a:pos x="54" y="0"/>
                </a:cxn>
              </a:cxnLst>
              <a:rect l="0" t="0" r="r" b="b"/>
              <a:pathLst>
                <a:path w="54" h="288">
                  <a:moveTo>
                    <a:pt x="6" y="288"/>
                  </a:moveTo>
                  <a:lnTo>
                    <a:pt x="0" y="156"/>
                  </a:lnTo>
                  <a:lnTo>
                    <a:pt x="54" y="0"/>
                  </a:lnTo>
                </a:path>
              </a:pathLst>
            </a:custGeom>
            <a:noFill/>
            <a:ln w="508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Freeform 31"/>
            <p:cNvSpPr>
              <a:spLocks/>
            </p:cNvSpPr>
            <p:nvPr/>
          </p:nvSpPr>
          <p:spPr bwMode="auto">
            <a:xfrm>
              <a:off x="2814" y="3246"/>
              <a:ext cx="104" cy="245"/>
            </a:xfrm>
            <a:custGeom>
              <a:avLst/>
              <a:gdLst/>
              <a:ahLst/>
              <a:cxnLst>
                <a:cxn ang="0">
                  <a:pos x="66" y="210"/>
                </a:cxn>
                <a:cxn ang="0">
                  <a:pos x="6" y="84"/>
                </a:cxn>
                <a:cxn ang="0">
                  <a:pos x="0" y="0"/>
                </a:cxn>
              </a:cxnLst>
              <a:rect l="0" t="0" r="r" b="b"/>
              <a:pathLst>
                <a:path w="66" h="210">
                  <a:moveTo>
                    <a:pt x="66" y="210"/>
                  </a:moveTo>
                  <a:lnTo>
                    <a:pt x="6" y="84"/>
                  </a:lnTo>
                  <a:lnTo>
                    <a:pt x="0" y="0"/>
                  </a:lnTo>
                </a:path>
              </a:pathLst>
            </a:custGeom>
            <a:noFill/>
            <a:ln w="508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Freeform 32"/>
            <p:cNvSpPr>
              <a:spLocks/>
            </p:cNvSpPr>
            <p:nvPr/>
          </p:nvSpPr>
          <p:spPr bwMode="auto">
            <a:xfrm>
              <a:off x="2448" y="3168"/>
              <a:ext cx="54" cy="3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62"/>
                </a:cxn>
                <a:cxn ang="0">
                  <a:pos x="54" y="300"/>
                </a:cxn>
              </a:cxnLst>
              <a:rect l="0" t="0" r="r" b="b"/>
              <a:pathLst>
                <a:path w="54" h="300">
                  <a:moveTo>
                    <a:pt x="0" y="0"/>
                  </a:moveTo>
                  <a:lnTo>
                    <a:pt x="0" y="162"/>
                  </a:lnTo>
                  <a:lnTo>
                    <a:pt x="54" y="300"/>
                  </a:lnTo>
                </a:path>
              </a:pathLst>
            </a:custGeom>
            <a:noFill/>
            <a:ln w="508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Freeform 33"/>
            <p:cNvSpPr>
              <a:spLocks/>
            </p:cNvSpPr>
            <p:nvPr/>
          </p:nvSpPr>
          <p:spPr bwMode="auto">
            <a:xfrm>
              <a:off x="3552" y="3024"/>
              <a:ext cx="432" cy="288"/>
            </a:xfrm>
            <a:custGeom>
              <a:avLst/>
              <a:gdLst/>
              <a:ahLst/>
              <a:cxnLst>
                <a:cxn ang="0">
                  <a:pos x="336" y="0"/>
                </a:cxn>
                <a:cxn ang="0">
                  <a:pos x="432" y="90"/>
                </a:cxn>
                <a:cxn ang="0">
                  <a:pos x="0" y="288"/>
                </a:cxn>
              </a:cxnLst>
              <a:rect l="0" t="0" r="r" b="b"/>
              <a:pathLst>
                <a:path w="432" h="288">
                  <a:moveTo>
                    <a:pt x="336" y="0"/>
                  </a:moveTo>
                  <a:lnTo>
                    <a:pt x="432" y="90"/>
                  </a:lnTo>
                  <a:lnTo>
                    <a:pt x="0" y="288"/>
                  </a:lnTo>
                </a:path>
              </a:pathLst>
            </a:custGeom>
            <a:noFill/>
            <a:ln w="508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Oval 13"/>
            <p:cNvSpPr>
              <a:spLocks noChangeArrowheads="1"/>
            </p:cNvSpPr>
            <p:nvPr/>
          </p:nvSpPr>
          <p:spPr bwMode="auto">
            <a:xfrm>
              <a:off x="2742" y="3107"/>
              <a:ext cx="158" cy="129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1007943">
                <a:defRPr/>
              </a:pPr>
              <a:endParaRPr lang="en-US" sz="1984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Oval 12"/>
            <p:cNvSpPr>
              <a:spLocks noChangeArrowheads="1"/>
            </p:cNvSpPr>
            <p:nvPr/>
          </p:nvSpPr>
          <p:spPr bwMode="auto">
            <a:xfrm>
              <a:off x="2472" y="3484"/>
              <a:ext cx="158" cy="129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1007943">
                <a:defRPr/>
              </a:pPr>
              <a:endParaRPr lang="en-US" sz="1984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Oval 14"/>
            <p:cNvSpPr>
              <a:spLocks noChangeArrowheads="1"/>
            </p:cNvSpPr>
            <p:nvPr/>
          </p:nvSpPr>
          <p:spPr bwMode="auto">
            <a:xfrm>
              <a:off x="3372" y="3297"/>
              <a:ext cx="158" cy="129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1007943">
                <a:defRPr/>
              </a:pPr>
              <a:endParaRPr lang="en-US" sz="1984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Oval 11"/>
            <p:cNvSpPr>
              <a:spLocks noChangeArrowheads="1"/>
            </p:cNvSpPr>
            <p:nvPr/>
          </p:nvSpPr>
          <p:spPr bwMode="auto">
            <a:xfrm>
              <a:off x="5009" y="2721"/>
              <a:ext cx="158" cy="129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1007943">
                <a:defRPr/>
              </a:pPr>
              <a:endParaRPr lang="en-US" sz="1984" kern="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1553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k-NN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probleme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regresie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1" name="TextShape 2"/>
          <p:cNvSpPr txBox="1"/>
          <p:nvPr/>
        </p:nvSpPr>
        <p:spPr>
          <a:xfrm>
            <a:off x="504000" y="1543680"/>
            <a:ext cx="9071640" cy="4718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Algoritmul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regresie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k-NN: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1)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fiecare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exemplu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test x,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găsim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apropiați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vecini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etichetele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lor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2) Output-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ul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media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etichetelor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celor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vecini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2" name="Picture 81"/>
          <p:cNvPicPr/>
          <p:nvPr/>
        </p:nvPicPr>
        <p:blipFill>
          <a:blip r:embed="rId2"/>
          <a:stretch/>
        </p:blipFill>
        <p:spPr>
          <a:xfrm>
            <a:off x="3458160" y="6143040"/>
            <a:ext cx="2926080" cy="1163520"/>
          </a:xfrm>
          <a:prstGeom prst="rect">
            <a:avLst/>
          </a:prstGeom>
          <a:ln>
            <a:noFill/>
          </a:ln>
        </p:spPr>
      </p:pic>
      <p:pic>
        <p:nvPicPr>
          <p:cNvPr id="83" name="Picture 82"/>
          <p:cNvPicPr/>
          <p:nvPr/>
        </p:nvPicPr>
        <p:blipFill>
          <a:blip r:embed="rId3"/>
          <a:stretch/>
        </p:blipFill>
        <p:spPr>
          <a:xfrm>
            <a:off x="1630080" y="1559545"/>
            <a:ext cx="6639120" cy="2360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Avantaje și proprietăți ale modelului k-NN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1723680"/>
            <a:ext cx="9071640" cy="56469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Modelul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k-NN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un model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simplu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Poate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fi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aplicat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pentru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cu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multe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clase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Suprafața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decizie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neliniară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Calitatea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rezultatelor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crește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atunci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când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avem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multe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date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antrenare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Avem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un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singur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parametru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care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trebuie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ajustat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(k)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Eroarea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clasificare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antrenare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crește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odată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cu k,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dar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suprafața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decizie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devine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netedă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 </a:t>
            </a: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80000"/>
              <a:buFont typeface="Wingdings" pitchFamily="2" charset="2"/>
              <a:buChar char="Ø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etodă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regularizare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care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crește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capacitatea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generalizare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Dezavantaje ale modelului k-NN</a:t>
            </a:r>
          </a:p>
        </p:txBody>
      </p:sp>
      <p:sp>
        <p:nvSpPr>
          <p:cNvPr id="74" name="TextShape 2"/>
          <p:cNvSpPr txBox="1"/>
          <p:nvPr/>
        </p:nvSpPr>
        <p:spPr>
          <a:xfrm>
            <a:off x="504000" y="1723679"/>
            <a:ext cx="9071640" cy="56495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înseamnă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cel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apropiat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?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Trebuie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definim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o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distanță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distanța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uclidiană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bună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alegere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?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Costul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computațional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este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ridicat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: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trebuie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să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stocăm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și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să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parcurgem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întreg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setul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de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antrenare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în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timpul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testării</a:t>
            </a: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Soluții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alternative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pentru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evitarea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costului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ridicat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80000"/>
              <a:buFont typeface="Wingdings" charset="2"/>
              <a:buChar char="Ø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Partiționarea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spațiului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folosind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arbori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k-d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80000"/>
              <a:buFont typeface="Wingdings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Locality sensitive hashing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Suferă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de “curse of dimensionality”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502560" y="914400"/>
            <a:ext cx="9071640" cy="585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“</a:t>
            </a:r>
            <a:r>
              <a:rPr lang="en-US" sz="4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Blestemul</a:t>
            </a:r>
            <a:r>
              <a:rPr lang="en-US" sz="4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4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dimensionalității</a:t>
            </a:r>
            <a:r>
              <a:rPr lang="en-US" sz="4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”</a:t>
            </a:r>
          </a:p>
          <a:p>
            <a:pPr algn="ctr"/>
            <a:r>
              <a:rPr 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(Curse of dimensionality)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Blestemul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dimensionalității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TextShape 2"/>
          <p:cNvSpPr txBox="1"/>
          <p:nvPr/>
        </p:nvSpPr>
        <p:spPr>
          <a:xfrm>
            <a:off x="504000" y="1723679"/>
            <a:ext cx="9071640" cy="56495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În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învățarea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automată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folosim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deseori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date de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dimensiuni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mari</a:t>
            </a: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Exemplu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: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80000"/>
              <a:buFont typeface="Wingdings" pitchFamily="2" charset="2"/>
              <a:buChar char="Ø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Dacă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analizăm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imagini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cu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tonuri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de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gri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de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dimensiune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200x200 de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pixeli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atunci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lucrăm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într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-un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spațiu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cu 40.000 de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dimensiuni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. 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80000"/>
              <a:buFont typeface="Wingdings" pitchFamily="2" charset="2"/>
              <a:buChar char="Ø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Dacă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imaginile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sunt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color (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reprezentate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în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spațiul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RGB),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dimensionalitatea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spațiului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crește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la 120.000 de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dimensiuni</a:t>
            </a: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</p:spTree>
    <p:extLst>
      <p:ext uri="{BB962C8B-B14F-4D97-AF65-F5344CB8AC3E}">
        <p14:creationId xmlns:p14="http://schemas.microsoft.com/office/powerpoint/2010/main" val="316605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Blestemul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dimensionalității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Shape 2"/>
              <p:cNvSpPr txBox="1"/>
              <p:nvPr/>
            </p:nvSpPr>
            <p:spPr>
              <a:xfrm>
                <a:off x="504000" y="1563480"/>
                <a:ext cx="9071640" cy="1345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Pentru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a “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umple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” un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spațiu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1D (de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exemplu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avem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nevoie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 5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puncte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: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</p:txBody>
          </p:sp>
        </mc:Choice>
        <mc:Fallback xmlns="">
          <p:sp>
            <p:nvSpPr>
              <p:cNvPr id="74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1563480"/>
                <a:ext cx="9071640" cy="1345975"/>
              </a:xfrm>
              <a:prstGeom prst="rect">
                <a:avLst/>
              </a:prstGeom>
              <a:blipFill>
                <a:blip r:embed="rId2"/>
                <a:stretch>
                  <a:fillRect t="-74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8F03DA-27AE-4F4F-BC14-4EA4FB063FA0}"/>
              </a:ext>
            </a:extLst>
          </p:cNvPr>
          <p:cNvCxnSpPr>
            <a:cxnSpLocks/>
          </p:cNvCxnSpPr>
          <p:nvPr/>
        </p:nvCxnSpPr>
        <p:spPr>
          <a:xfrm>
            <a:off x="3172690" y="4772885"/>
            <a:ext cx="3810000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44FC62AE-066E-8443-B797-5B0E1BAC47CA}"/>
              </a:ext>
            </a:extLst>
          </p:cNvPr>
          <p:cNvSpPr/>
          <p:nvPr/>
        </p:nvSpPr>
        <p:spPr>
          <a:xfrm>
            <a:off x="3401568" y="457892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F8CC4A-0010-644E-9D2C-8B43C2241E02}"/>
              </a:ext>
            </a:extLst>
          </p:cNvPr>
          <p:cNvSpPr/>
          <p:nvPr/>
        </p:nvSpPr>
        <p:spPr>
          <a:xfrm>
            <a:off x="4128657" y="457892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8D6B8B-A5B0-824F-86ED-55176D63A190}"/>
              </a:ext>
            </a:extLst>
          </p:cNvPr>
          <p:cNvSpPr/>
          <p:nvPr/>
        </p:nvSpPr>
        <p:spPr>
          <a:xfrm>
            <a:off x="4864608" y="457892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70D3FB-B700-F349-9AA6-017009DBBD4F}"/>
              </a:ext>
            </a:extLst>
          </p:cNvPr>
          <p:cNvSpPr/>
          <p:nvPr/>
        </p:nvSpPr>
        <p:spPr>
          <a:xfrm>
            <a:off x="5596128" y="457892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97FF43-1ECF-E944-A78F-8F681ECA460A}"/>
              </a:ext>
            </a:extLst>
          </p:cNvPr>
          <p:cNvSpPr/>
          <p:nvPr/>
        </p:nvSpPr>
        <p:spPr>
          <a:xfrm>
            <a:off x="6327648" y="457892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432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Blestemul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dimensionalității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Shape 2"/>
              <p:cNvSpPr txBox="1"/>
              <p:nvPr/>
            </p:nvSpPr>
            <p:spPr>
              <a:xfrm>
                <a:off x="504000" y="1563480"/>
                <a:ext cx="9071640" cy="13875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Pentru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a “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umple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” un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spațiu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2D (de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exemplu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avem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nevoie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 25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puncte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: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</p:txBody>
          </p:sp>
        </mc:Choice>
        <mc:Fallback xmlns="">
          <p:sp>
            <p:nvSpPr>
              <p:cNvPr id="74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1563480"/>
                <a:ext cx="9071640" cy="1387518"/>
              </a:xfrm>
              <a:prstGeom prst="rect">
                <a:avLst/>
              </a:prstGeom>
              <a:blipFill>
                <a:blip r:embed="rId2"/>
                <a:stretch>
                  <a:fillRect t="-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44FC62AE-066E-8443-B797-5B0E1BAC47CA}"/>
              </a:ext>
            </a:extLst>
          </p:cNvPr>
          <p:cNvSpPr/>
          <p:nvPr/>
        </p:nvSpPr>
        <p:spPr>
          <a:xfrm>
            <a:off x="3401568" y="416327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F8CC4A-0010-644E-9D2C-8B43C2241E02}"/>
              </a:ext>
            </a:extLst>
          </p:cNvPr>
          <p:cNvSpPr/>
          <p:nvPr/>
        </p:nvSpPr>
        <p:spPr>
          <a:xfrm>
            <a:off x="4128657" y="416327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8D6B8B-A5B0-824F-86ED-55176D63A190}"/>
              </a:ext>
            </a:extLst>
          </p:cNvPr>
          <p:cNvSpPr/>
          <p:nvPr/>
        </p:nvSpPr>
        <p:spPr>
          <a:xfrm>
            <a:off x="4864608" y="416327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70D3FB-B700-F349-9AA6-017009DBBD4F}"/>
              </a:ext>
            </a:extLst>
          </p:cNvPr>
          <p:cNvSpPr/>
          <p:nvPr/>
        </p:nvSpPr>
        <p:spPr>
          <a:xfrm>
            <a:off x="5596128" y="416327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97FF43-1ECF-E944-A78F-8F681ECA460A}"/>
              </a:ext>
            </a:extLst>
          </p:cNvPr>
          <p:cNvSpPr/>
          <p:nvPr/>
        </p:nvSpPr>
        <p:spPr>
          <a:xfrm>
            <a:off x="6327648" y="416327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5FED1-76E5-FB48-B68A-5921700D0CBE}"/>
              </a:ext>
            </a:extLst>
          </p:cNvPr>
          <p:cNvSpPr/>
          <p:nvPr/>
        </p:nvSpPr>
        <p:spPr>
          <a:xfrm>
            <a:off x="3075709" y="3241956"/>
            <a:ext cx="3920836" cy="3560630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3DFE95-9279-DE41-825D-D99FA8586967}"/>
              </a:ext>
            </a:extLst>
          </p:cNvPr>
          <p:cNvSpPr/>
          <p:nvPr/>
        </p:nvSpPr>
        <p:spPr>
          <a:xfrm>
            <a:off x="3401563" y="484216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E1913B-1791-8F47-BAB6-ED3CF145038E}"/>
              </a:ext>
            </a:extLst>
          </p:cNvPr>
          <p:cNvSpPr/>
          <p:nvPr/>
        </p:nvSpPr>
        <p:spPr>
          <a:xfrm>
            <a:off x="4128652" y="484216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CBA45C-B86C-FB45-81EC-31785D175F56}"/>
              </a:ext>
            </a:extLst>
          </p:cNvPr>
          <p:cNvSpPr/>
          <p:nvPr/>
        </p:nvSpPr>
        <p:spPr>
          <a:xfrm>
            <a:off x="4864603" y="484216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86C3AC-7DA9-4C4C-BFD5-181F7884920E}"/>
              </a:ext>
            </a:extLst>
          </p:cNvPr>
          <p:cNvSpPr/>
          <p:nvPr/>
        </p:nvSpPr>
        <p:spPr>
          <a:xfrm>
            <a:off x="5596123" y="484216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71F815-35CC-7C4C-9274-2EDFA92DE20D}"/>
              </a:ext>
            </a:extLst>
          </p:cNvPr>
          <p:cNvSpPr/>
          <p:nvPr/>
        </p:nvSpPr>
        <p:spPr>
          <a:xfrm>
            <a:off x="6327643" y="484216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F2F262-2AD6-B34B-9FD6-9C01A73229FD}"/>
              </a:ext>
            </a:extLst>
          </p:cNvPr>
          <p:cNvSpPr/>
          <p:nvPr/>
        </p:nvSpPr>
        <p:spPr>
          <a:xfrm>
            <a:off x="3401563" y="554875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F49F60-FD33-9B4F-9840-17895EDCDFCA}"/>
              </a:ext>
            </a:extLst>
          </p:cNvPr>
          <p:cNvSpPr/>
          <p:nvPr/>
        </p:nvSpPr>
        <p:spPr>
          <a:xfrm>
            <a:off x="4128652" y="554875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C8BF2E-2FC2-134D-8986-6151317C4770}"/>
              </a:ext>
            </a:extLst>
          </p:cNvPr>
          <p:cNvSpPr/>
          <p:nvPr/>
        </p:nvSpPr>
        <p:spPr>
          <a:xfrm>
            <a:off x="4864603" y="554875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F85B498-E419-2549-8459-B31766A2813F}"/>
              </a:ext>
            </a:extLst>
          </p:cNvPr>
          <p:cNvSpPr/>
          <p:nvPr/>
        </p:nvSpPr>
        <p:spPr>
          <a:xfrm>
            <a:off x="5596123" y="554875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8DF858-B1F2-444D-A538-59878DE3F36E}"/>
              </a:ext>
            </a:extLst>
          </p:cNvPr>
          <p:cNvSpPr/>
          <p:nvPr/>
        </p:nvSpPr>
        <p:spPr>
          <a:xfrm>
            <a:off x="6327643" y="554875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840CDB-58D8-964E-A47C-AD84C45B35DC}"/>
              </a:ext>
            </a:extLst>
          </p:cNvPr>
          <p:cNvSpPr/>
          <p:nvPr/>
        </p:nvSpPr>
        <p:spPr>
          <a:xfrm>
            <a:off x="3401558" y="622764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072538-EC03-9841-91D9-4BB2936BAF31}"/>
              </a:ext>
            </a:extLst>
          </p:cNvPr>
          <p:cNvSpPr/>
          <p:nvPr/>
        </p:nvSpPr>
        <p:spPr>
          <a:xfrm>
            <a:off x="4128647" y="622764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9AFE23B-13DF-924A-B002-50A893A64A42}"/>
              </a:ext>
            </a:extLst>
          </p:cNvPr>
          <p:cNvSpPr/>
          <p:nvPr/>
        </p:nvSpPr>
        <p:spPr>
          <a:xfrm>
            <a:off x="4864598" y="622764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3AF63EA-1504-B445-A9C1-82D5764F3E35}"/>
              </a:ext>
            </a:extLst>
          </p:cNvPr>
          <p:cNvSpPr/>
          <p:nvPr/>
        </p:nvSpPr>
        <p:spPr>
          <a:xfrm>
            <a:off x="5596118" y="622764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2A6743-47FA-764D-8896-5A3C23DE82F1}"/>
              </a:ext>
            </a:extLst>
          </p:cNvPr>
          <p:cNvSpPr/>
          <p:nvPr/>
        </p:nvSpPr>
        <p:spPr>
          <a:xfrm>
            <a:off x="6327638" y="622764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E3F6ECF-4649-6146-B109-C0EB4ED32DF5}"/>
              </a:ext>
            </a:extLst>
          </p:cNvPr>
          <p:cNvSpPr/>
          <p:nvPr/>
        </p:nvSpPr>
        <p:spPr>
          <a:xfrm>
            <a:off x="3401564" y="345668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D081010-0489-FC47-B164-11E56E68FD38}"/>
              </a:ext>
            </a:extLst>
          </p:cNvPr>
          <p:cNvSpPr/>
          <p:nvPr/>
        </p:nvSpPr>
        <p:spPr>
          <a:xfrm>
            <a:off x="4128653" y="345668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4131541-0035-4146-AA79-872DC2F5F73E}"/>
              </a:ext>
            </a:extLst>
          </p:cNvPr>
          <p:cNvSpPr/>
          <p:nvPr/>
        </p:nvSpPr>
        <p:spPr>
          <a:xfrm>
            <a:off x="4864604" y="345668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6991598-DEAD-EB40-9159-79AF14D2ABE7}"/>
              </a:ext>
            </a:extLst>
          </p:cNvPr>
          <p:cNvSpPr/>
          <p:nvPr/>
        </p:nvSpPr>
        <p:spPr>
          <a:xfrm>
            <a:off x="5596124" y="345668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5191D7D-2091-4A47-8D21-1B6C83D2FB87}"/>
              </a:ext>
            </a:extLst>
          </p:cNvPr>
          <p:cNvSpPr/>
          <p:nvPr/>
        </p:nvSpPr>
        <p:spPr>
          <a:xfrm>
            <a:off x="6327644" y="345668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72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958D211E-F9A6-7848-AA8A-329BA96470FE}"/>
              </a:ext>
            </a:extLst>
          </p:cNvPr>
          <p:cNvSpPr/>
          <p:nvPr/>
        </p:nvSpPr>
        <p:spPr>
          <a:xfrm>
            <a:off x="5690339" y="443346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05DB9CC-02BE-B54F-8ED3-535963A0D6E7}"/>
              </a:ext>
            </a:extLst>
          </p:cNvPr>
          <p:cNvSpPr/>
          <p:nvPr/>
        </p:nvSpPr>
        <p:spPr>
          <a:xfrm>
            <a:off x="5690339" y="511235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C1736E7-198C-6046-96C8-053BC19F1E01}"/>
              </a:ext>
            </a:extLst>
          </p:cNvPr>
          <p:cNvSpPr/>
          <p:nvPr/>
        </p:nvSpPr>
        <p:spPr>
          <a:xfrm>
            <a:off x="5690339" y="584665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EF5F302-5521-7F46-8284-A4A791EABC18}"/>
              </a:ext>
            </a:extLst>
          </p:cNvPr>
          <p:cNvSpPr/>
          <p:nvPr/>
        </p:nvSpPr>
        <p:spPr>
          <a:xfrm>
            <a:off x="5690339" y="649782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7F3C86E-C586-444D-9B09-EA6202C3F9DD}"/>
              </a:ext>
            </a:extLst>
          </p:cNvPr>
          <p:cNvSpPr/>
          <p:nvPr/>
        </p:nvSpPr>
        <p:spPr>
          <a:xfrm>
            <a:off x="2694986" y="372686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67961C3-42E3-AC48-B159-B9D2C3F2D76B}"/>
              </a:ext>
            </a:extLst>
          </p:cNvPr>
          <p:cNvSpPr/>
          <p:nvPr/>
        </p:nvSpPr>
        <p:spPr>
          <a:xfrm>
            <a:off x="3435930" y="372686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BD3E497-8551-AA4A-B53D-BA01C3AC1614}"/>
              </a:ext>
            </a:extLst>
          </p:cNvPr>
          <p:cNvSpPr/>
          <p:nvPr/>
        </p:nvSpPr>
        <p:spPr>
          <a:xfrm>
            <a:off x="4199591" y="372686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D2F2AC4-66DA-604E-AC9A-0C31C7BC8DA5}"/>
              </a:ext>
            </a:extLst>
          </p:cNvPr>
          <p:cNvSpPr/>
          <p:nvPr/>
        </p:nvSpPr>
        <p:spPr>
          <a:xfrm>
            <a:off x="4931111" y="372686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24D9BA8-0ED3-E244-96DB-1FE29892E360}"/>
              </a:ext>
            </a:extLst>
          </p:cNvPr>
          <p:cNvSpPr/>
          <p:nvPr/>
        </p:nvSpPr>
        <p:spPr>
          <a:xfrm>
            <a:off x="5690339" y="372686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Blestemul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dimensionalității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Shape 2"/>
              <p:cNvSpPr txBox="1"/>
              <p:nvPr/>
            </p:nvSpPr>
            <p:spPr>
              <a:xfrm>
                <a:off x="504000" y="1563480"/>
                <a:ext cx="9071640" cy="9719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Pentru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a “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umple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” un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spațiu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3D (de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exemplu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avem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nevoie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 125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puncte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: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</p:txBody>
          </p:sp>
        </mc:Choice>
        <mc:Fallback xmlns="">
          <p:sp>
            <p:nvSpPr>
              <p:cNvPr id="74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1563480"/>
                <a:ext cx="9071640" cy="971901"/>
              </a:xfrm>
              <a:prstGeom prst="rect">
                <a:avLst/>
              </a:prstGeom>
              <a:blipFill>
                <a:blip r:embed="rId2"/>
                <a:stretch>
                  <a:fillRect t="-10256" b="-89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44FC62AE-066E-8443-B797-5B0E1BAC47CA}"/>
              </a:ext>
            </a:extLst>
          </p:cNvPr>
          <p:cNvSpPr/>
          <p:nvPr/>
        </p:nvSpPr>
        <p:spPr>
          <a:xfrm>
            <a:off x="2293203" y="486296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F8CC4A-0010-644E-9D2C-8B43C2241E02}"/>
              </a:ext>
            </a:extLst>
          </p:cNvPr>
          <p:cNvSpPr/>
          <p:nvPr/>
        </p:nvSpPr>
        <p:spPr>
          <a:xfrm>
            <a:off x="3020292" y="486296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8D6B8B-A5B0-824F-86ED-55176D63A190}"/>
              </a:ext>
            </a:extLst>
          </p:cNvPr>
          <p:cNvSpPr/>
          <p:nvPr/>
        </p:nvSpPr>
        <p:spPr>
          <a:xfrm>
            <a:off x="3756243" y="486296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70D3FB-B700-F349-9AA6-017009DBBD4F}"/>
              </a:ext>
            </a:extLst>
          </p:cNvPr>
          <p:cNvSpPr/>
          <p:nvPr/>
        </p:nvSpPr>
        <p:spPr>
          <a:xfrm>
            <a:off x="4487763" y="486296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97FF43-1ECF-E944-A78F-8F681ECA460A}"/>
              </a:ext>
            </a:extLst>
          </p:cNvPr>
          <p:cNvSpPr/>
          <p:nvPr/>
        </p:nvSpPr>
        <p:spPr>
          <a:xfrm>
            <a:off x="5219283" y="486296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3DFE95-9279-DE41-825D-D99FA8586967}"/>
              </a:ext>
            </a:extLst>
          </p:cNvPr>
          <p:cNvSpPr/>
          <p:nvPr/>
        </p:nvSpPr>
        <p:spPr>
          <a:xfrm>
            <a:off x="2293198" y="554185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E1913B-1791-8F47-BAB6-ED3CF145038E}"/>
              </a:ext>
            </a:extLst>
          </p:cNvPr>
          <p:cNvSpPr/>
          <p:nvPr/>
        </p:nvSpPr>
        <p:spPr>
          <a:xfrm>
            <a:off x="3020287" y="554185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CBA45C-B86C-FB45-81EC-31785D175F56}"/>
              </a:ext>
            </a:extLst>
          </p:cNvPr>
          <p:cNvSpPr/>
          <p:nvPr/>
        </p:nvSpPr>
        <p:spPr>
          <a:xfrm>
            <a:off x="3756238" y="554185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86C3AC-7DA9-4C4C-BFD5-181F7884920E}"/>
              </a:ext>
            </a:extLst>
          </p:cNvPr>
          <p:cNvSpPr/>
          <p:nvPr/>
        </p:nvSpPr>
        <p:spPr>
          <a:xfrm>
            <a:off x="4487758" y="554185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71F815-35CC-7C4C-9274-2EDFA92DE20D}"/>
              </a:ext>
            </a:extLst>
          </p:cNvPr>
          <p:cNvSpPr/>
          <p:nvPr/>
        </p:nvSpPr>
        <p:spPr>
          <a:xfrm>
            <a:off x="5219278" y="554185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F2F262-2AD6-B34B-9FD6-9C01A73229FD}"/>
              </a:ext>
            </a:extLst>
          </p:cNvPr>
          <p:cNvSpPr/>
          <p:nvPr/>
        </p:nvSpPr>
        <p:spPr>
          <a:xfrm>
            <a:off x="2293198" y="624844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F49F60-FD33-9B4F-9840-17895EDCDFCA}"/>
              </a:ext>
            </a:extLst>
          </p:cNvPr>
          <p:cNvSpPr/>
          <p:nvPr/>
        </p:nvSpPr>
        <p:spPr>
          <a:xfrm>
            <a:off x="3020287" y="624844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C8BF2E-2FC2-134D-8986-6151317C4770}"/>
              </a:ext>
            </a:extLst>
          </p:cNvPr>
          <p:cNvSpPr/>
          <p:nvPr/>
        </p:nvSpPr>
        <p:spPr>
          <a:xfrm>
            <a:off x="3756238" y="624844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F85B498-E419-2549-8459-B31766A2813F}"/>
              </a:ext>
            </a:extLst>
          </p:cNvPr>
          <p:cNvSpPr/>
          <p:nvPr/>
        </p:nvSpPr>
        <p:spPr>
          <a:xfrm>
            <a:off x="4487758" y="624844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8DF858-B1F2-444D-A538-59878DE3F36E}"/>
              </a:ext>
            </a:extLst>
          </p:cNvPr>
          <p:cNvSpPr/>
          <p:nvPr/>
        </p:nvSpPr>
        <p:spPr>
          <a:xfrm>
            <a:off x="5219278" y="624844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840CDB-58D8-964E-A47C-AD84C45B35DC}"/>
              </a:ext>
            </a:extLst>
          </p:cNvPr>
          <p:cNvSpPr/>
          <p:nvPr/>
        </p:nvSpPr>
        <p:spPr>
          <a:xfrm>
            <a:off x="2293193" y="692733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072538-EC03-9841-91D9-4BB2936BAF31}"/>
              </a:ext>
            </a:extLst>
          </p:cNvPr>
          <p:cNvSpPr/>
          <p:nvPr/>
        </p:nvSpPr>
        <p:spPr>
          <a:xfrm>
            <a:off x="3020282" y="692733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9AFE23B-13DF-924A-B002-50A893A64A42}"/>
              </a:ext>
            </a:extLst>
          </p:cNvPr>
          <p:cNvSpPr/>
          <p:nvPr/>
        </p:nvSpPr>
        <p:spPr>
          <a:xfrm>
            <a:off x="3756233" y="692733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3AF63EA-1504-B445-A9C1-82D5764F3E35}"/>
              </a:ext>
            </a:extLst>
          </p:cNvPr>
          <p:cNvSpPr/>
          <p:nvPr/>
        </p:nvSpPr>
        <p:spPr>
          <a:xfrm>
            <a:off x="4487753" y="692733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2A6743-47FA-764D-8896-5A3C23DE82F1}"/>
              </a:ext>
            </a:extLst>
          </p:cNvPr>
          <p:cNvSpPr/>
          <p:nvPr/>
        </p:nvSpPr>
        <p:spPr>
          <a:xfrm>
            <a:off x="5219273" y="692733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E3F6ECF-4649-6146-B109-C0EB4ED32DF5}"/>
              </a:ext>
            </a:extLst>
          </p:cNvPr>
          <p:cNvSpPr/>
          <p:nvPr/>
        </p:nvSpPr>
        <p:spPr>
          <a:xfrm>
            <a:off x="2293199" y="415637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D081010-0489-FC47-B164-11E56E68FD38}"/>
              </a:ext>
            </a:extLst>
          </p:cNvPr>
          <p:cNvSpPr/>
          <p:nvPr/>
        </p:nvSpPr>
        <p:spPr>
          <a:xfrm>
            <a:off x="3020288" y="415637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4131541-0035-4146-AA79-872DC2F5F73E}"/>
              </a:ext>
            </a:extLst>
          </p:cNvPr>
          <p:cNvSpPr/>
          <p:nvPr/>
        </p:nvSpPr>
        <p:spPr>
          <a:xfrm>
            <a:off x="3756239" y="415637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6991598-DEAD-EB40-9159-79AF14D2ABE7}"/>
              </a:ext>
            </a:extLst>
          </p:cNvPr>
          <p:cNvSpPr/>
          <p:nvPr/>
        </p:nvSpPr>
        <p:spPr>
          <a:xfrm>
            <a:off x="4487759" y="415637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5191D7D-2091-4A47-8D21-1B6C83D2FB87}"/>
              </a:ext>
            </a:extLst>
          </p:cNvPr>
          <p:cNvSpPr/>
          <p:nvPr/>
        </p:nvSpPr>
        <p:spPr>
          <a:xfrm>
            <a:off x="5219279" y="415637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CA22CB4-7D01-2846-BE50-C98541139168}"/>
              </a:ext>
            </a:extLst>
          </p:cNvPr>
          <p:cNvSpPr/>
          <p:nvPr/>
        </p:nvSpPr>
        <p:spPr>
          <a:xfrm>
            <a:off x="3027499" y="3394350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DAB09B4-F014-D94B-82E3-C60941F83A6B}"/>
              </a:ext>
            </a:extLst>
          </p:cNvPr>
          <p:cNvSpPr/>
          <p:nvPr/>
        </p:nvSpPr>
        <p:spPr>
          <a:xfrm>
            <a:off x="3768443" y="3394350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28E0B96-6689-824A-977D-920262DB05AA}"/>
              </a:ext>
            </a:extLst>
          </p:cNvPr>
          <p:cNvSpPr/>
          <p:nvPr/>
        </p:nvSpPr>
        <p:spPr>
          <a:xfrm>
            <a:off x="4532104" y="3394350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9427A3F-3556-3B4F-A262-6CA78E100C64}"/>
              </a:ext>
            </a:extLst>
          </p:cNvPr>
          <p:cNvSpPr/>
          <p:nvPr/>
        </p:nvSpPr>
        <p:spPr>
          <a:xfrm>
            <a:off x="5263624" y="3394350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030A4CA-35A8-EF43-9067-DB7773D98F67}"/>
              </a:ext>
            </a:extLst>
          </p:cNvPr>
          <p:cNvSpPr/>
          <p:nvPr/>
        </p:nvSpPr>
        <p:spPr>
          <a:xfrm>
            <a:off x="6022852" y="3394350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814BEC30-0F5B-CD46-B687-929953CA41C2}"/>
              </a:ext>
            </a:extLst>
          </p:cNvPr>
          <p:cNvSpPr/>
          <p:nvPr/>
        </p:nvSpPr>
        <p:spPr>
          <a:xfrm>
            <a:off x="3387723" y="306183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B359435-5ADB-4441-93AA-EA31AD451E3D}"/>
              </a:ext>
            </a:extLst>
          </p:cNvPr>
          <p:cNvSpPr/>
          <p:nvPr/>
        </p:nvSpPr>
        <p:spPr>
          <a:xfrm>
            <a:off x="4128667" y="306183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68F1408-74B3-6442-B6FB-F3EE71215793}"/>
              </a:ext>
            </a:extLst>
          </p:cNvPr>
          <p:cNvSpPr/>
          <p:nvPr/>
        </p:nvSpPr>
        <p:spPr>
          <a:xfrm>
            <a:off x="4892328" y="306183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A40CEDB-CCFE-9C47-B8E0-9CCADB8CF70C}"/>
              </a:ext>
            </a:extLst>
          </p:cNvPr>
          <p:cNvSpPr/>
          <p:nvPr/>
        </p:nvSpPr>
        <p:spPr>
          <a:xfrm>
            <a:off x="5623848" y="306183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02278A4-2717-1045-AADD-F5C8C5B9E5F0}"/>
              </a:ext>
            </a:extLst>
          </p:cNvPr>
          <p:cNvSpPr/>
          <p:nvPr/>
        </p:nvSpPr>
        <p:spPr>
          <a:xfrm>
            <a:off x="6383076" y="306183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36B77FC4-4430-6F41-B1FF-0B40C7AB1543}"/>
              </a:ext>
            </a:extLst>
          </p:cNvPr>
          <p:cNvSpPr/>
          <p:nvPr/>
        </p:nvSpPr>
        <p:spPr>
          <a:xfrm>
            <a:off x="3720240" y="270161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A58FE14C-8322-4E45-BF05-6E7F50D4C2F6}"/>
              </a:ext>
            </a:extLst>
          </p:cNvPr>
          <p:cNvSpPr/>
          <p:nvPr/>
        </p:nvSpPr>
        <p:spPr>
          <a:xfrm>
            <a:off x="4461184" y="270161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198DBB0-E646-9B44-AC2F-CB7EDFEAB5E6}"/>
              </a:ext>
            </a:extLst>
          </p:cNvPr>
          <p:cNvSpPr/>
          <p:nvPr/>
        </p:nvSpPr>
        <p:spPr>
          <a:xfrm>
            <a:off x="5224845" y="270161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5C13077-50C2-8447-870B-69EBFD413601}"/>
              </a:ext>
            </a:extLst>
          </p:cNvPr>
          <p:cNvSpPr/>
          <p:nvPr/>
        </p:nvSpPr>
        <p:spPr>
          <a:xfrm>
            <a:off x="5956365" y="270161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39EF89A0-38F9-6B4C-AB07-2DEB6C8468D1}"/>
              </a:ext>
            </a:extLst>
          </p:cNvPr>
          <p:cNvSpPr/>
          <p:nvPr/>
        </p:nvSpPr>
        <p:spPr>
          <a:xfrm>
            <a:off x="6715593" y="270161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4FA77E88-8216-3542-9A57-FA875A82AF8E}"/>
              </a:ext>
            </a:extLst>
          </p:cNvPr>
          <p:cNvSpPr/>
          <p:nvPr/>
        </p:nvSpPr>
        <p:spPr>
          <a:xfrm>
            <a:off x="2162961" y="2535381"/>
            <a:ext cx="5096821" cy="4890658"/>
          </a:xfrm>
          <a:prstGeom prst="cube">
            <a:avLst>
              <a:gd name="adj" fmla="val 31287"/>
            </a:avLst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2387FDB-1DE0-274F-BBE5-D42BB9FFDF43}"/>
              </a:ext>
            </a:extLst>
          </p:cNvPr>
          <p:cNvSpPr/>
          <p:nvPr/>
        </p:nvSpPr>
        <p:spPr>
          <a:xfrm>
            <a:off x="6036707" y="407323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55B3E8E-0182-B149-8FB2-5EB8226DF50A}"/>
              </a:ext>
            </a:extLst>
          </p:cNvPr>
          <p:cNvSpPr/>
          <p:nvPr/>
        </p:nvSpPr>
        <p:spPr>
          <a:xfrm>
            <a:off x="6036707" y="475212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A5FA519-61DE-7245-8130-4EEE14D2F4BE}"/>
              </a:ext>
            </a:extLst>
          </p:cNvPr>
          <p:cNvSpPr/>
          <p:nvPr/>
        </p:nvSpPr>
        <p:spPr>
          <a:xfrm>
            <a:off x="6036707" y="5486427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7468752-CCB5-F145-BA35-BEEB1CDAFF07}"/>
              </a:ext>
            </a:extLst>
          </p:cNvPr>
          <p:cNvSpPr/>
          <p:nvPr/>
        </p:nvSpPr>
        <p:spPr>
          <a:xfrm>
            <a:off x="6036707" y="613760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6599807-618C-2046-9CCF-905AE4270E3A}"/>
              </a:ext>
            </a:extLst>
          </p:cNvPr>
          <p:cNvSpPr/>
          <p:nvPr/>
        </p:nvSpPr>
        <p:spPr>
          <a:xfrm>
            <a:off x="6383074" y="3685304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31AD4BEB-FEB9-AA4F-9383-6A29746BC84E}"/>
              </a:ext>
            </a:extLst>
          </p:cNvPr>
          <p:cNvSpPr/>
          <p:nvPr/>
        </p:nvSpPr>
        <p:spPr>
          <a:xfrm>
            <a:off x="6383074" y="4364189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3506E18-55C0-2746-ABE3-D77D7D3804F2}"/>
              </a:ext>
            </a:extLst>
          </p:cNvPr>
          <p:cNvSpPr/>
          <p:nvPr/>
        </p:nvSpPr>
        <p:spPr>
          <a:xfrm>
            <a:off x="6383074" y="5098492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129FCA45-04EA-A041-883B-234B67D39F4F}"/>
              </a:ext>
            </a:extLst>
          </p:cNvPr>
          <p:cNvSpPr/>
          <p:nvPr/>
        </p:nvSpPr>
        <p:spPr>
          <a:xfrm>
            <a:off x="6383074" y="5749667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0897B09-30A2-C54F-9A4E-1AF9EC1EC160}"/>
              </a:ext>
            </a:extLst>
          </p:cNvPr>
          <p:cNvSpPr/>
          <p:nvPr/>
        </p:nvSpPr>
        <p:spPr>
          <a:xfrm>
            <a:off x="6743300" y="3311223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8D9F88BC-3182-E24A-BEDF-4CF7AD67EDA1}"/>
              </a:ext>
            </a:extLst>
          </p:cNvPr>
          <p:cNvSpPr/>
          <p:nvPr/>
        </p:nvSpPr>
        <p:spPr>
          <a:xfrm>
            <a:off x="6743300" y="3990108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0EFEEEC0-FCE3-C947-8AA1-6EB2205BC7ED}"/>
              </a:ext>
            </a:extLst>
          </p:cNvPr>
          <p:cNvSpPr/>
          <p:nvPr/>
        </p:nvSpPr>
        <p:spPr>
          <a:xfrm>
            <a:off x="6743300" y="4724411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BBEBAE0-0522-1E48-8846-1C2482A37F2F}"/>
              </a:ext>
            </a:extLst>
          </p:cNvPr>
          <p:cNvSpPr/>
          <p:nvPr/>
        </p:nvSpPr>
        <p:spPr>
          <a:xfrm>
            <a:off x="6743300" y="5375586"/>
            <a:ext cx="387927" cy="38792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274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Blestemul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dimensionalității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Shape 2"/>
              <p:cNvSpPr txBox="1"/>
              <p:nvPr/>
            </p:nvSpPr>
            <p:spPr>
              <a:xfrm>
                <a:off x="504000" y="2286000"/>
                <a:ext cx="9071640" cy="4391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Pentru a “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umple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” un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spațiu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nD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(de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exemplu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o-RO" sz="2800" b="0" i="1" spc="-1" smtClean="0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)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avem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nevoie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 un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număr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exponențial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puncte</a:t>
                </a: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Dacă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avem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un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număr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mare 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caracteristici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care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descriu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datele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,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atunci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sistemul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are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nevoie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foarte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multe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exemple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antrenare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pentru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a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învăța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un model care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să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generalizeze</a:t>
                </a: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cele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mai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multe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ori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aceste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date nu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sunt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disponibile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în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practică</a:t>
                </a: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:endParaRPr lang="en-US" sz="2800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</p:txBody>
          </p:sp>
        </mc:Choice>
        <mc:Fallback xmlns="">
          <p:sp>
            <p:nvSpPr>
              <p:cNvPr id="74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2286000"/>
                <a:ext cx="9071640" cy="4391891"/>
              </a:xfrm>
              <a:prstGeom prst="rect">
                <a:avLst/>
              </a:prstGeom>
              <a:blipFill>
                <a:blip r:embed="rId2"/>
                <a:stretch>
                  <a:fillRect t="-2601" r="-15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86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Fenomenul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Hughes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TextShape 2"/>
          <p:cNvSpPr txBox="1"/>
          <p:nvPr/>
        </p:nvSpPr>
        <p:spPr>
          <a:xfrm>
            <a:off x="504000" y="5153891"/>
            <a:ext cx="9071640" cy="20643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Fenomenul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Hughes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arată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că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pe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măsură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ce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numărul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de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caracteristici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crește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performanța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clasificatorului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crește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până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când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ajungem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la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numărul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optim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de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trăsături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Adăugarea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mai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multor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caracteristici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păstrând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dimensiunea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setului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de </a:t>
            </a:r>
            <a:r>
              <a:rPr lang="en-US" sz="24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antrenare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degradează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performanța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4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clasificatorului</a:t>
            </a:r>
            <a:endParaRPr lang="en-US" sz="2400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8CA0CB-2E4D-1946-A8EA-42A198B0E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727" y="1338920"/>
            <a:ext cx="4940837" cy="3284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31BE52-BF02-DA4F-A04E-09342A45495B}"/>
              </a:ext>
            </a:extLst>
          </p:cNvPr>
          <p:cNvSpPr txBox="1"/>
          <p:nvPr/>
        </p:nvSpPr>
        <p:spPr>
          <a:xfrm>
            <a:off x="1925783" y="4623453"/>
            <a:ext cx="3422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Numărul</a:t>
            </a:r>
            <a:r>
              <a:rPr lang="en-US" sz="2000" dirty="0"/>
              <a:t> </a:t>
            </a:r>
            <a:r>
              <a:rPr lang="en-US" sz="2000" dirty="0" err="1"/>
              <a:t>optim</a:t>
            </a:r>
            <a:r>
              <a:rPr lang="en-US" sz="2000" dirty="0"/>
              <a:t> de </a:t>
            </a:r>
            <a:r>
              <a:rPr lang="en-US" sz="2000" dirty="0" err="1"/>
              <a:t>trăsături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701ABE-FDA8-A346-987A-17776AE3819C}"/>
              </a:ext>
            </a:extLst>
          </p:cNvPr>
          <p:cNvSpPr txBox="1"/>
          <p:nvPr/>
        </p:nvSpPr>
        <p:spPr>
          <a:xfrm>
            <a:off x="3380508" y="4088453"/>
            <a:ext cx="4539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Dimensiunea</a:t>
            </a:r>
            <a:r>
              <a:rPr lang="en-US" sz="2000" dirty="0"/>
              <a:t> </a:t>
            </a:r>
            <a:r>
              <a:rPr lang="en-US" sz="2000" dirty="0" err="1"/>
              <a:t>spațiului</a:t>
            </a:r>
            <a:r>
              <a:rPr lang="en-US" sz="2000" dirty="0"/>
              <a:t> de </a:t>
            </a:r>
            <a:r>
              <a:rPr lang="en-US" sz="2000" dirty="0" err="1"/>
              <a:t>trăsăsturi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89AE90-9DCD-604B-B5E7-B8BC56FE19A3}"/>
              </a:ext>
            </a:extLst>
          </p:cNvPr>
          <p:cNvSpPr txBox="1"/>
          <p:nvPr/>
        </p:nvSpPr>
        <p:spPr>
          <a:xfrm rot="16200000">
            <a:off x="1114046" y="2758771"/>
            <a:ext cx="332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Performanța</a:t>
            </a:r>
            <a:r>
              <a:rPr lang="en-US" sz="2000" dirty="0"/>
              <a:t> </a:t>
            </a:r>
            <a:r>
              <a:rPr lang="en-US" sz="2000" dirty="0" err="1"/>
              <a:t>clasificatorului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004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Blestemul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dimensionalității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Shape 2"/>
              <p:cNvSpPr txBox="1"/>
              <p:nvPr/>
            </p:nvSpPr>
            <p:spPr>
              <a:xfrm>
                <a:off x="504000" y="2286000"/>
                <a:ext cx="9071640" cy="4391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Creșterea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numărului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dimensiuni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al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unui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spațiu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caracteristici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Euclidian,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implică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adăugarea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termeni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pozitivi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în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calculul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distanței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Euclidiene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: 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45000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o-RO" sz="2800" i="1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o-RO" sz="2800" i="1" spc="-1">
                            <a:solidFill>
                              <a:srgbClr val="000000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ro-RO" sz="2800" i="1" spc="-1">
                                    <a:solidFill>
                                      <a:srgbClr val="000000"/>
                                    </a:solidFill>
                                    <a:uFill>
                                      <a:solidFill>
                                        <a:srgbClr val="FFFFFF"/>
                                      </a:solidFill>
                                    </a:u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o-RO" sz="2800" i="1" spc="-1">
                                        <a:solidFill>
                                          <a:srgbClr val="000000"/>
                                        </a:solidFill>
                                        <a:uFill>
                                          <a:solidFill>
                                            <a:srgbClr val="FFFFFF"/>
                                          </a:solidFill>
                                        </a:u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ro-RO" sz="2800" i="1" spc="-1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FFFFFF"/>
                                  </a:solidFill>
                                </a:u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Cu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alte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cuvinte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,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deoarece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numărul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trăsături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crește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pentru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un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număr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fix 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exemple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,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spațiul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caracteristici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devine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din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în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ce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mai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rar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(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mai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</a:t>
                </a:r>
                <a:r>
                  <a:rPr lang="en-US" sz="2800" spc="-1" dirty="0" err="1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puțin</a:t>
                </a:r>
                <a:r>
                  <a:rPr lang="en-US" sz="28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</a:rPr>
                  <a:t> dens)</a:t>
                </a:r>
              </a:p>
            </p:txBody>
          </p:sp>
        </mc:Choice>
        <mc:Fallback xmlns="">
          <p:sp>
            <p:nvSpPr>
              <p:cNvPr id="74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2286000"/>
                <a:ext cx="9071640" cy="4391891"/>
              </a:xfrm>
              <a:prstGeom prst="rect">
                <a:avLst/>
              </a:prstGeom>
              <a:blipFill>
                <a:blip r:embed="rId2"/>
                <a:stretch>
                  <a:fillRect t="-26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62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Blestemul</a:t>
            </a: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dimensionalității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TextShape 2"/>
          <p:cNvSpPr txBox="1"/>
          <p:nvPr/>
        </p:nvSpPr>
        <p:spPr>
          <a:xfrm>
            <a:off x="503999" y="4599709"/>
            <a:ext cx="9071640" cy="27847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Figura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arată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că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odată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cu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creșterea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dimensiunilor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distanța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medie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crește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rapid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Prin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urmare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, cu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cât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sunt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mai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multe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dimensiuni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, cu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atât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sunt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necesare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mai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multe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date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pentru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a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depăși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blestemul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dimensionalității</a:t>
            </a: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!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Atunci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când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distanța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dintre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observații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crește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învățarea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automată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devine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mult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mai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dificilă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deoarece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scade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probabilitatea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de a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găsi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exemple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de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antrenare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cu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adevărat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similare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cu </a:t>
            </a:r>
            <a:r>
              <a:rPr lang="en-US" sz="2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cele</a:t>
            </a: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de test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8A28F1-A4C6-AD4F-B783-72128379D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24" y="1267667"/>
            <a:ext cx="9220389" cy="2581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C9D778-8DFB-D244-A18A-D73328E90086}"/>
              </a:ext>
            </a:extLst>
          </p:cNvPr>
          <p:cNvSpPr txBox="1"/>
          <p:nvPr/>
        </p:nvSpPr>
        <p:spPr>
          <a:xfrm>
            <a:off x="1906866" y="3849376"/>
            <a:ext cx="6414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Distanța</a:t>
            </a:r>
            <a:r>
              <a:rPr lang="en-US" sz="2000" dirty="0"/>
              <a:t> </a:t>
            </a:r>
            <a:r>
              <a:rPr lang="en-US" sz="2000" dirty="0" err="1"/>
              <a:t>medie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1000 de </a:t>
            </a:r>
            <a:r>
              <a:rPr lang="en-US" sz="2000" dirty="0" err="1"/>
              <a:t>puncte</a:t>
            </a:r>
            <a:r>
              <a:rPr lang="en-US" sz="2000" dirty="0"/>
              <a:t> din </a:t>
            </a:r>
            <a:r>
              <a:rPr lang="en-US" sz="2000" dirty="0" err="1"/>
              <a:t>cubul</a:t>
            </a:r>
            <a:r>
              <a:rPr lang="en-US" sz="2000" dirty="0"/>
              <a:t> </a:t>
            </a:r>
            <a:r>
              <a:rPr lang="en-US" sz="2000" dirty="0" err="1"/>
              <a:t>unitate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9849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A0003DC97DEF4B8F1101A4D4EA06E2" ma:contentTypeVersion="7" ma:contentTypeDescription="Create a new document." ma:contentTypeScope="" ma:versionID="bfef44f6b8d2b2f2f7150fb1160aa08e">
  <xsd:schema xmlns:xsd="http://www.w3.org/2001/XMLSchema" xmlns:xs="http://www.w3.org/2001/XMLSchema" xmlns:p="http://schemas.microsoft.com/office/2006/metadata/properties" xmlns:ns2="bc4f9371-6ecc-4f2c-abc4-90cc414ddc6e" targetNamespace="http://schemas.microsoft.com/office/2006/metadata/properties" ma:root="true" ma:fieldsID="5aed0b65cc35f1e2975c5a8cfb488eb9" ns2:_="">
    <xsd:import namespace="bc4f9371-6ecc-4f2c-abc4-90cc414ddc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4f9371-6ecc-4f2c-abc4-90cc414ddc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DFE47C-2608-41E1-AB8E-EDEFBDF7E870}"/>
</file>

<file path=customXml/itemProps2.xml><?xml version="1.0" encoding="utf-8"?>
<ds:datastoreItem xmlns:ds="http://schemas.openxmlformats.org/officeDocument/2006/customXml" ds:itemID="{ABE052CE-B9DB-4E0B-9B25-E2B59D486E34}"/>
</file>

<file path=customXml/itemProps3.xml><?xml version="1.0" encoding="utf-8"?>
<ds:datastoreItem xmlns:ds="http://schemas.openxmlformats.org/officeDocument/2006/customXml" ds:itemID="{34EBD269-7A9A-49B2-BE04-24127C9FB96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28439</TotalTime>
  <Words>1320</Words>
  <Application>Microsoft Macintosh PowerPoint</Application>
  <PresentationFormat>Custom</PresentationFormat>
  <Paragraphs>227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1-NN versus k-NN</vt:lpstr>
      <vt:lpstr>1-NN versus k-NN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 ne trebuie pentru un clasificator bazat pe memorie?</vt:lpstr>
      <vt:lpstr>În cazul 1-NN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1-NN pentru probleme de regresie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Radu Ionescu</cp:lastModifiedBy>
  <cp:revision>547</cp:revision>
  <dcterms:created xsi:type="dcterms:W3CDTF">2016-10-12T16:27:10Z</dcterms:created>
  <dcterms:modified xsi:type="dcterms:W3CDTF">2023-05-04T14:57:56Z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0x01010043A0003DC97DEF4B8F1101A4D4EA06E2</vt:lpwstr>
  </property>
</Properties>
</file>