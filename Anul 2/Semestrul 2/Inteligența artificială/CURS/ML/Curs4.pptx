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8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851" r:id="rId12"/>
    <p:sldId id="855" r:id="rId13"/>
    <p:sldId id="273" r:id="rId14"/>
    <p:sldId id="274" r:id="rId15"/>
    <p:sldId id="275" r:id="rId16"/>
    <p:sldId id="276" r:id="rId17"/>
    <p:sldId id="331" r:id="rId18"/>
    <p:sldId id="277" r:id="rId19"/>
    <p:sldId id="278" r:id="rId20"/>
    <p:sldId id="279" r:id="rId21"/>
    <p:sldId id="291" r:id="rId22"/>
    <p:sldId id="292" r:id="rId23"/>
    <p:sldId id="293" r:id="rId24"/>
    <p:sldId id="894" r:id="rId25"/>
    <p:sldId id="895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857" r:id="rId38"/>
    <p:sldId id="881" r:id="rId39"/>
    <p:sldId id="867" r:id="rId40"/>
    <p:sldId id="892" r:id="rId41"/>
    <p:sldId id="899" r:id="rId42"/>
    <p:sldId id="900" r:id="rId43"/>
    <p:sldId id="305" r:id="rId44"/>
    <p:sldId id="901" r:id="rId45"/>
    <p:sldId id="902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903" r:id="rId55"/>
    <p:sldId id="893" r:id="rId56"/>
    <p:sldId id="314" r:id="rId57"/>
    <p:sldId id="315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5" r:id="rId66"/>
    <p:sldId id="326" r:id="rId67"/>
    <p:sldId id="328" r:id="rId68"/>
    <p:sldId id="327" r:id="rId69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7"/>
    <p:restoredTop sz="94737"/>
  </p:normalViewPr>
  <p:slideViewPr>
    <p:cSldViewPr snapToGrid="0" snapToObjects="1">
      <p:cViewPr varScale="1">
        <p:scale>
          <a:sx n="125" d="100"/>
          <a:sy n="125" d="100"/>
        </p:scale>
        <p:origin x="1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11A38-4784-834E-B34F-C22BC9224170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47A58-7B26-5F4C-8671-3C5BFCD11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8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529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591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180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36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dirty="0"/>
              <a:t>v’ A v &gt;= 0</a:t>
            </a:r>
          </a:p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47A58-7B26-5F4C-8671-3C5BFCD11EA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50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223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507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852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Shape 13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Shape 1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783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Shape 13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Shape 1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765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Shape 13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Shape 1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008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949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F95900-7AF9-462E-9828-886671690E95}" type="slidenum">
              <a:rPr lang="en-US" smtClean="0">
                <a:solidFill>
                  <a:srgbClr val="0000CC"/>
                </a:solidFill>
                <a:latin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US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590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4213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0852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6388"/>
          </a:xfrm>
          <a:noFill/>
        </p:spPr>
        <p:txBody>
          <a:bodyPr wrap="square" lIns="92876" tIns="46437" rIns="92876" bIns="4643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56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09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29B3954B-387F-488B-908B-3A7AB25DE04E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0.png"/><Relationship Id="rId7" Type="http://schemas.openxmlformats.org/officeDocument/2006/relationships/image" Target="../media/image8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610.png"/><Relationship Id="rId10" Type="http://schemas.openxmlformats.org/officeDocument/2006/relationships/image" Target="../media/image110.png"/><Relationship Id="rId4" Type="http://schemas.openxmlformats.org/officeDocument/2006/relationships/image" Target="../media/image510.png"/><Relationship Id="rId9" Type="http://schemas.openxmlformats.org/officeDocument/2006/relationships/image" Target="../media/image10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610.png"/><Relationship Id="rId10" Type="http://schemas.openxmlformats.org/officeDocument/2006/relationships/image" Target="../media/image110.png"/><Relationship Id="rId4" Type="http://schemas.openxmlformats.org/officeDocument/2006/relationships/image" Target="../media/image51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jpeg"/><Relationship Id="rId7" Type="http://schemas.openxmlformats.org/officeDocument/2006/relationships/image" Target="../media/image81.png"/><Relationship Id="rId12" Type="http://schemas.openxmlformats.org/officeDocument/2006/relationships/image" Target="../media/image83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11" Type="http://schemas.openxmlformats.org/officeDocument/2006/relationships/image" Target="../media/image82.jpeg"/><Relationship Id="rId5" Type="http://schemas.openxmlformats.org/officeDocument/2006/relationships/image" Target="../media/image71.jpeg"/><Relationship Id="rId10" Type="http://schemas.openxmlformats.org/officeDocument/2006/relationships/image" Target="../media/image75.jpeg"/><Relationship Id="rId4" Type="http://schemas.openxmlformats.org/officeDocument/2006/relationships/image" Target="../media/image70.jpeg"/><Relationship Id="rId9" Type="http://schemas.openxmlformats.org/officeDocument/2006/relationships/image" Target="../media/image74.jpe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9.jpeg"/><Relationship Id="rId7" Type="http://schemas.openxmlformats.org/officeDocument/2006/relationships/image" Target="../media/image81.png"/><Relationship Id="rId12" Type="http://schemas.openxmlformats.org/officeDocument/2006/relationships/image" Target="../media/image83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jpeg"/><Relationship Id="rId11" Type="http://schemas.openxmlformats.org/officeDocument/2006/relationships/image" Target="../media/image82.jpeg"/><Relationship Id="rId5" Type="http://schemas.openxmlformats.org/officeDocument/2006/relationships/image" Target="../media/image71.jpeg"/><Relationship Id="rId10" Type="http://schemas.openxmlformats.org/officeDocument/2006/relationships/image" Target="../media/image75.jpeg"/><Relationship Id="rId4" Type="http://schemas.openxmlformats.org/officeDocument/2006/relationships/image" Target="../media/image70.jpeg"/><Relationship Id="rId9" Type="http://schemas.openxmlformats.org/officeDocument/2006/relationships/image" Target="../media/image74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t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471054"/>
            <a:ext cx="9071640" cy="22721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Metode</a:t>
            </a:r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kernel.</a:t>
            </a:r>
          </a:p>
          <a:p>
            <a:pPr algn="ctr"/>
            <a:r>
              <a:rPr lang="en-US" sz="4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</a:t>
            </a:r>
            <a:r>
              <a:rPr lang="en-US" sz="4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Ridge.</a:t>
            </a:r>
          </a:p>
          <a:p>
            <a:pPr algn="ctr"/>
            <a:r>
              <a:rPr lang="en-US" sz="4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Clasificatorul</a:t>
            </a:r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</a:t>
            </a:r>
            <a:r>
              <a:rPr lang="en-US" sz="4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Vectori</a:t>
            </a:r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Suport</a:t>
            </a:r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504360" y="3543120"/>
            <a:ext cx="9071640" cy="212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Prof. Dr. Radu Ionescu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raducu.ionescu@gmail.com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Facultatea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Matematică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Informatică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Universitatea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București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Evoluția metodelor de învățare automată</a:t>
            </a:r>
          </a:p>
        </p:txBody>
      </p:sp>
      <p:sp>
        <p:nvSpPr>
          <p:cNvPr id="145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1950: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introdus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perceptronul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(Rosenblatt, 1957)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1980: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introdus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backpropagare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rețele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neuronale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multistrat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(Hinton, 1986)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1990: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(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nucleu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Perceptronul</a:t>
            </a:r>
          </a:p>
        </p:txBody>
      </p:sp>
      <p:sp>
        <p:nvSpPr>
          <p:cNvPr id="147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8" name="Picture 147"/>
          <p:cNvPicPr/>
          <p:nvPr/>
        </p:nvPicPr>
        <p:blipFill>
          <a:blip r:embed="rId2"/>
          <a:stretch/>
        </p:blipFill>
        <p:spPr>
          <a:xfrm>
            <a:off x="-924599" y="1767959"/>
            <a:ext cx="10332383" cy="3894903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73169-4BD7-A446-B20F-7A99152E8A68}"/>
                  </a:ext>
                </a:extLst>
              </p:cNvPr>
              <p:cNvSpPr txBox="1"/>
              <p:nvPr/>
            </p:nvSpPr>
            <p:spPr>
              <a:xfrm>
                <a:off x="960536" y="2095017"/>
                <a:ext cx="35162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73169-4BD7-A446-B20F-7A99152E8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36" y="2095017"/>
                <a:ext cx="351628" cy="400110"/>
              </a:xfrm>
              <a:prstGeom prst="rect">
                <a:avLst/>
              </a:prstGeom>
              <a:blipFill>
                <a:blip r:embed="rId3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D5CB86-100A-C84A-81D6-B60EE02C4645}"/>
                  </a:ext>
                </a:extLst>
              </p:cNvPr>
              <p:cNvSpPr txBox="1"/>
              <p:nvPr/>
            </p:nvSpPr>
            <p:spPr>
              <a:xfrm>
                <a:off x="960536" y="2837847"/>
                <a:ext cx="35162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D5CB86-100A-C84A-81D6-B60EE02C4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36" y="2837847"/>
                <a:ext cx="351628" cy="400110"/>
              </a:xfrm>
              <a:prstGeom prst="rect">
                <a:avLst/>
              </a:prstGeom>
              <a:blipFill>
                <a:blip r:embed="rId4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64A7A-9DF0-7340-B1D4-6AF90C7FFB89}"/>
                  </a:ext>
                </a:extLst>
              </p:cNvPr>
              <p:cNvSpPr txBox="1"/>
              <p:nvPr/>
            </p:nvSpPr>
            <p:spPr>
              <a:xfrm>
                <a:off x="960536" y="3579492"/>
                <a:ext cx="35162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64A7A-9DF0-7340-B1D4-6AF90C7F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36" y="3579492"/>
                <a:ext cx="351628" cy="400110"/>
              </a:xfrm>
              <a:prstGeom prst="rect">
                <a:avLst/>
              </a:prstGeom>
              <a:blipFill>
                <a:blip r:embed="rId5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F5C4F6-AAD0-964F-A066-5A440A3D50BA}"/>
                  </a:ext>
                </a:extLst>
              </p:cNvPr>
              <p:cNvSpPr txBox="1"/>
              <p:nvPr/>
            </p:nvSpPr>
            <p:spPr>
              <a:xfrm>
                <a:off x="960536" y="4703297"/>
                <a:ext cx="35162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F5C4F6-AAD0-964F-A066-5A440A3D5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36" y="4703297"/>
                <a:ext cx="351628" cy="400110"/>
              </a:xfrm>
              <a:prstGeom prst="rect">
                <a:avLst/>
              </a:prstGeom>
              <a:blipFill>
                <a:blip r:embed="rId6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B78D0D-0D8C-C543-A6A2-FE58C110159D}"/>
                  </a:ext>
                </a:extLst>
              </p:cNvPr>
              <p:cNvSpPr txBox="1"/>
              <p:nvPr/>
            </p:nvSpPr>
            <p:spPr>
              <a:xfrm rot="1212310">
                <a:off x="2155094" y="2201561"/>
                <a:ext cx="41202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B78D0D-0D8C-C543-A6A2-FE58C1101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12310">
                <a:off x="2155094" y="2201561"/>
                <a:ext cx="41202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1CD2B4-AA8E-3B43-9DA6-D2364CBE9EE5}"/>
                  </a:ext>
                </a:extLst>
              </p:cNvPr>
              <p:cNvSpPr txBox="1"/>
              <p:nvPr/>
            </p:nvSpPr>
            <p:spPr>
              <a:xfrm rot="21380926">
                <a:off x="2111000" y="3344260"/>
                <a:ext cx="408695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1CD2B4-AA8E-3B43-9DA6-D2364CBE9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80926">
                <a:off x="2111000" y="3344260"/>
                <a:ext cx="408695" cy="400110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6C0195-71A1-164B-B5F5-EAE71EF5496F}"/>
                  </a:ext>
                </a:extLst>
              </p:cNvPr>
              <p:cNvSpPr txBox="1"/>
              <p:nvPr/>
            </p:nvSpPr>
            <p:spPr>
              <a:xfrm rot="566199">
                <a:off x="2155094" y="2794547"/>
                <a:ext cx="41202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6C0195-71A1-164B-B5F5-EAE71EF54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66199">
                <a:off x="2155094" y="2794547"/>
                <a:ext cx="41202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D87C88-7592-C548-8EA4-8184DBF0F90D}"/>
                  </a:ext>
                </a:extLst>
              </p:cNvPr>
              <p:cNvSpPr txBox="1"/>
              <p:nvPr/>
            </p:nvSpPr>
            <p:spPr>
              <a:xfrm rot="20144219">
                <a:off x="2083686" y="4114171"/>
                <a:ext cx="41202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D87C88-7592-C548-8EA4-8184DBF0F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44219">
                <a:off x="2083686" y="4114171"/>
                <a:ext cx="412027" cy="400110"/>
              </a:xfrm>
              <a:prstGeom prst="rect">
                <a:avLst/>
              </a:prstGeom>
              <a:blipFill>
                <a:blip r:embed="rId10"/>
                <a:stretch>
                  <a:fillRect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7DDEE5-3FB7-DA4F-B50B-C753937BBF36}"/>
                  </a:ext>
                </a:extLst>
              </p:cNvPr>
              <p:cNvSpPr txBox="1"/>
              <p:nvPr/>
            </p:nvSpPr>
            <p:spPr>
              <a:xfrm>
                <a:off x="4590414" y="4581267"/>
                <a:ext cx="95993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7DDEE5-3FB7-DA4F-B50B-C753937BB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414" y="4581267"/>
                <a:ext cx="95993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D9A7190-A3BF-674D-9F1A-4AE738CCDE40}"/>
              </a:ext>
            </a:extLst>
          </p:cNvPr>
          <p:cNvSpPr/>
          <p:nvPr/>
        </p:nvSpPr>
        <p:spPr>
          <a:xfrm>
            <a:off x="4738255" y="5032397"/>
            <a:ext cx="665018" cy="549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A9B050-6CEB-7048-A292-EC96500B0348}"/>
                  </a:ext>
                </a:extLst>
              </p:cNvPr>
              <p:cNvSpPr txBox="1"/>
              <p:nvPr/>
            </p:nvSpPr>
            <p:spPr>
              <a:xfrm>
                <a:off x="4386627" y="5307356"/>
                <a:ext cx="35162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A9B050-6CEB-7048-A292-EC96500B0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27" y="5307356"/>
                <a:ext cx="35162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DA5C59-C79E-B84E-BF20-65E966DCE996}"/>
                  </a:ext>
                </a:extLst>
              </p:cNvPr>
              <p:cNvSpPr txBox="1"/>
              <p:nvPr/>
            </p:nvSpPr>
            <p:spPr>
              <a:xfrm>
                <a:off x="6684298" y="4350434"/>
                <a:ext cx="3002446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DA5C59-C79E-B84E-BF20-65E966DC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298" y="4350434"/>
                <a:ext cx="3002446" cy="461665"/>
              </a:xfrm>
              <a:prstGeom prst="rect">
                <a:avLst/>
              </a:prstGeom>
              <a:blipFill>
                <a:blip r:embed="rId1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ight Triangle 55">
            <a:extLst>
              <a:ext uri="{FF2B5EF4-FFF2-40B4-BE49-F238E27FC236}">
                <a16:creationId xmlns:a16="http://schemas.microsoft.com/office/drawing/2014/main" id="{BF546A27-B9B5-3443-BB0B-452F26030ADC}"/>
              </a:ext>
            </a:extLst>
          </p:cNvPr>
          <p:cNvSpPr/>
          <p:nvPr/>
        </p:nvSpPr>
        <p:spPr>
          <a:xfrm rot="5400000">
            <a:off x="-46300" y="46301"/>
            <a:ext cx="8947231" cy="8854634"/>
          </a:xfrm>
          <a:prstGeom prst="rtTriangle">
            <a:avLst/>
          </a:prstGeom>
          <a:solidFill>
            <a:srgbClr val="FF7E7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Granița de separare liniară</a:t>
            </a:r>
          </a:p>
        </p:txBody>
      </p:sp>
      <p:sp>
        <p:nvSpPr>
          <p:cNvPr id="150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5038DA-BB7E-9D46-B643-B4AE8BD53B5A}"/>
              </a:ext>
            </a:extLst>
          </p:cNvPr>
          <p:cNvCxnSpPr>
            <a:cxnSpLocks/>
          </p:cNvCxnSpPr>
          <p:nvPr/>
        </p:nvCxnSpPr>
        <p:spPr>
          <a:xfrm>
            <a:off x="4901877" y="3321934"/>
            <a:ext cx="0" cy="613826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0E90C5-E3D0-0C44-950B-EED85E9B7D2E}"/>
              </a:ext>
            </a:extLst>
          </p:cNvPr>
          <p:cNvCxnSpPr>
            <a:cxnSpLocks/>
          </p:cNvCxnSpPr>
          <p:nvPr/>
        </p:nvCxnSpPr>
        <p:spPr>
          <a:xfrm>
            <a:off x="3194612" y="5697041"/>
            <a:ext cx="879677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9450AF-B636-194F-8760-0A38D51D9264}"/>
              </a:ext>
            </a:extLst>
          </p:cNvPr>
          <p:cNvCxnSpPr/>
          <p:nvPr/>
        </p:nvCxnSpPr>
        <p:spPr>
          <a:xfrm>
            <a:off x="3194612" y="3460830"/>
            <a:ext cx="1707265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AF77DB-B376-4D42-B724-83DADF7247F9}"/>
              </a:ext>
            </a:extLst>
          </p:cNvPr>
          <p:cNvCxnSpPr>
            <a:cxnSpLocks/>
          </p:cNvCxnSpPr>
          <p:nvPr/>
        </p:nvCxnSpPr>
        <p:spPr>
          <a:xfrm flipV="1">
            <a:off x="3862057" y="3970486"/>
            <a:ext cx="0" cy="17408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20F1D78-DC96-5E45-93DE-14E16602CF80}"/>
              </a:ext>
            </a:extLst>
          </p:cNvPr>
          <p:cNvCxnSpPr/>
          <p:nvPr/>
        </p:nvCxnSpPr>
        <p:spPr>
          <a:xfrm flipH="1">
            <a:off x="5706319" y="2048719"/>
            <a:ext cx="1585732" cy="0"/>
          </a:xfrm>
          <a:prstGeom prst="straightConnector1">
            <a:avLst/>
          </a:prstGeom>
          <a:ln w="3810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7D6B1-603D-5442-9486-84066036B237}"/>
              </a:ext>
            </a:extLst>
          </p:cNvPr>
          <p:cNvCxnSpPr/>
          <p:nvPr/>
        </p:nvCxnSpPr>
        <p:spPr>
          <a:xfrm flipH="1">
            <a:off x="5696671" y="3103946"/>
            <a:ext cx="1585732" cy="0"/>
          </a:xfrm>
          <a:prstGeom prst="straightConnector1">
            <a:avLst/>
          </a:prstGeom>
          <a:ln w="3810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48B8DC-9348-154A-B09F-38D6C2F48BB1}"/>
              </a:ext>
            </a:extLst>
          </p:cNvPr>
          <p:cNvCxnSpPr/>
          <p:nvPr/>
        </p:nvCxnSpPr>
        <p:spPr>
          <a:xfrm flipH="1">
            <a:off x="5708248" y="4944317"/>
            <a:ext cx="1585732" cy="0"/>
          </a:xfrm>
          <a:prstGeom prst="straightConnector1">
            <a:avLst/>
          </a:prstGeom>
          <a:ln w="38100"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9E8B51-2844-E145-BFC1-5385F0DFB2F0}"/>
                  </a:ext>
                </a:extLst>
              </p:cNvPr>
              <p:cNvSpPr txBox="1"/>
              <p:nvPr/>
            </p:nvSpPr>
            <p:spPr>
              <a:xfrm>
                <a:off x="1017526" y="1679282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9E8B51-2844-E145-BFC1-5385F0DFB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26" y="1679282"/>
                <a:ext cx="5440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1CFAD8-BEBB-974B-A353-B46B59BBABDF}"/>
                  </a:ext>
                </a:extLst>
              </p:cNvPr>
              <p:cNvSpPr txBox="1"/>
              <p:nvPr/>
            </p:nvSpPr>
            <p:spPr>
              <a:xfrm>
                <a:off x="5091231" y="6424997"/>
                <a:ext cx="49591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1CFAD8-BEBB-974B-A353-B46B59BBA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231" y="6424997"/>
                <a:ext cx="4959140" cy="461665"/>
              </a:xfrm>
              <a:prstGeom prst="rect">
                <a:avLst/>
              </a:prstGeom>
              <a:blipFill>
                <a:blip r:embed="rId3"/>
                <a:stretch>
                  <a:fillRect l="-1790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54EB93-AB98-4C4D-9E89-FFF553E2F38B}"/>
                  </a:ext>
                </a:extLst>
              </p:cNvPr>
              <p:cNvSpPr txBox="1"/>
              <p:nvPr/>
            </p:nvSpPr>
            <p:spPr>
              <a:xfrm>
                <a:off x="7291887" y="3685384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54EB93-AB98-4C4D-9E89-FFF553E2F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887" y="3685384"/>
                <a:ext cx="54401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D7A38D-DB9A-904E-828C-927F5915C8FB}"/>
                  </a:ext>
                </a:extLst>
              </p:cNvPr>
              <p:cNvSpPr txBox="1"/>
              <p:nvPr/>
            </p:nvSpPr>
            <p:spPr>
              <a:xfrm>
                <a:off x="7164532" y="1617492"/>
                <a:ext cx="20669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D7A38D-DB9A-904E-828C-927F5915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2" y="1617492"/>
                <a:ext cx="2066911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21FAC0-DE1E-C542-BB68-0FFBEFC84431}"/>
                  </a:ext>
                </a:extLst>
              </p:cNvPr>
              <p:cNvSpPr txBox="1"/>
              <p:nvPr/>
            </p:nvSpPr>
            <p:spPr>
              <a:xfrm>
                <a:off x="7164531" y="2637895"/>
                <a:ext cx="206691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21FAC0-DE1E-C542-BB68-0FFBEFC8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1" y="2637895"/>
                <a:ext cx="2066911" cy="830997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0B7B4B3-D7E0-9742-9A5E-26A1435A335E}"/>
                  </a:ext>
                </a:extLst>
              </p:cNvPr>
              <p:cNvSpPr txBox="1"/>
              <p:nvPr/>
            </p:nvSpPr>
            <p:spPr>
              <a:xfrm>
                <a:off x="7164531" y="4503089"/>
                <a:ext cx="206691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0B7B4B3-D7E0-9742-9A5E-26A1435A3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1" y="4503089"/>
                <a:ext cx="2066911" cy="830997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65170A2-C2AB-1041-AB8D-A02C42A8D196}"/>
              </a:ext>
            </a:extLst>
          </p:cNvPr>
          <p:cNvSpPr txBox="1"/>
          <p:nvPr/>
        </p:nvSpPr>
        <p:spPr>
          <a:xfrm>
            <a:off x="1116956" y="3997242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3FAAA2-1E70-6A4D-91DC-F03BB0A7AE59}"/>
              </a:ext>
            </a:extLst>
          </p:cNvPr>
          <p:cNvSpPr txBox="1"/>
          <p:nvPr/>
        </p:nvSpPr>
        <p:spPr>
          <a:xfrm>
            <a:off x="4751406" y="4004842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C8D475-F885-1648-B76D-E56692D4424D}"/>
              </a:ext>
            </a:extLst>
          </p:cNvPr>
          <p:cNvSpPr txBox="1"/>
          <p:nvPr/>
        </p:nvSpPr>
        <p:spPr>
          <a:xfrm>
            <a:off x="3234077" y="1991375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F1DAA1-9E66-154E-8226-5202EF4168CA}"/>
              </a:ext>
            </a:extLst>
          </p:cNvPr>
          <p:cNvSpPr txBox="1"/>
          <p:nvPr/>
        </p:nvSpPr>
        <p:spPr>
          <a:xfrm>
            <a:off x="2775114" y="5501597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531CB39-D860-6640-86D3-E24D1B85A986}"/>
                  </a:ext>
                </a:extLst>
              </p:cNvPr>
              <p:cNvSpPr txBox="1"/>
              <p:nvPr/>
            </p:nvSpPr>
            <p:spPr>
              <a:xfrm>
                <a:off x="4364855" y="2491572"/>
                <a:ext cx="726376" cy="854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531CB39-D860-6640-86D3-E24D1B85A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855" y="2491572"/>
                <a:ext cx="726376" cy="854016"/>
              </a:xfrm>
              <a:prstGeom prst="rect">
                <a:avLst/>
              </a:prstGeom>
              <a:blipFill>
                <a:blip r:embed="rId8"/>
                <a:stretch>
                  <a:fillRect r="-689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648926-91AD-354C-8C0C-2141905FD7C5}"/>
                  </a:ext>
                </a:extLst>
              </p:cNvPr>
              <p:cNvSpPr txBox="1"/>
              <p:nvPr/>
            </p:nvSpPr>
            <p:spPr>
              <a:xfrm>
                <a:off x="4044605" y="5257418"/>
                <a:ext cx="832332" cy="854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648926-91AD-354C-8C0C-2141905FD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05" y="5257418"/>
                <a:ext cx="832332" cy="854016"/>
              </a:xfrm>
              <a:prstGeom prst="rect">
                <a:avLst/>
              </a:prstGeom>
              <a:blipFill>
                <a:blip r:embed="rId9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61EA1E-F599-9245-85B7-48227359A505}"/>
              </a:ext>
            </a:extLst>
          </p:cNvPr>
          <p:cNvCxnSpPr>
            <a:cxnSpLocks/>
          </p:cNvCxnSpPr>
          <p:nvPr/>
        </p:nvCxnSpPr>
        <p:spPr>
          <a:xfrm flipH="1">
            <a:off x="1314333" y="2164466"/>
            <a:ext cx="16756" cy="177129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5FD740-D38A-B14D-BF11-D1376B7BAEFA}"/>
              </a:ext>
            </a:extLst>
          </p:cNvPr>
          <p:cNvCxnSpPr>
            <a:cxnSpLocks/>
          </p:cNvCxnSpPr>
          <p:nvPr/>
        </p:nvCxnSpPr>
        <p:spPr>
          <a:xfrm>
            <a:off x="1346247" y="2177820"/>
            <a:ext cx="1836790" cy="223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0AA5AD-8820-E045-A69D-2737DF6DB5F0}"/>
              </a:ext>
            </a:extLst>
          </p:cNvPr>
          <p:cNvCxnSpPr/>
          <p:nvPr/>
        </p:nvCxnSpPr>
        <p:spPr>
          <a:xfrm flipH="1" flipV="1">
            <a:off x="1331089" y="2164466"/>
            <a:ext cx="1851949" cy="17749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CBA2C2-3649-E241-8D57-17FA7108D2E3}"/>
              </a:ext>
            </a:extLst>
          </p:cNvPr>
          <p:cNvCxnSpPr>
            <a:cxnSpLocks/>
          </p:cNvCxnSpPr>
          <p:nvPr/>
        </p:nvCxnSpPr>
        <p:spPr>
          <a:xfrm>
            <a:off x="3183038" y="1871475"/>
            <a:ext cx="0" cy="41820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A1F74-A074-8E42-89F5-EB2E2743D925}"/>
              </a:ext>
            </a:extLst>
          </p:cNvPr>
          <p:cNvCxnSpPr>
            <a:cxnSpLocks/>
          </p:cNvCxnSpPr>
          <p:nvPr/>
        </p:nvCxnSpPr>
        <p:spPr>
          <a:xfrm>
            <a:off x="1111170" y="3946966"/>
            <a:ext cx="61808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F0D49-A216-3145-BF00-C81B58629FD9}"/>
              </a:ext>
            </a:extLst>
          </p:cNvPr>
          <p:cNvCxnSpPr>
            <a:cxnSpLocks/>
          </p:cNvCxnSpPr>
          <p:nvPr/>
        </p:nvCxnSpPr>
        <p:spPr>
          <a:xfrm flipH="1">
            <a:off x="2858946" y="1848325"/>
            <a:ext cx="4109013" cy="41820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65C2FE-7F0D-884B-9EA8-197A29351623}"/>
              </a:ext>
            </a:extLst>
          </p:cNvPr>
          <p:cNvCxnSpPr>
            <a:cxnSpLocks/>
          </p:cNvCxnSpPr>
          <p:nvPr/>
        </p:nvCxnSpPr>
        <p:spPr>
          <a:xfrm flipH="1">
            <a:off x="1140106" y="1825175"/>
            <a:ext cx="4109013" cy="418208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08DCB5-0481-7C49-8DF3-39ECB5DCFA91}"/>
                  </a:ext>
                </a:extLst>
              </p:cNvPr>
              <p:cNvSpPr txBox="1"/>
              <p:nvPr/>
            </p:nvSpPr>
            <p:spPr>
              <a:xfrm>
                <a:off x="2956613" y="1444535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08DCB5-0481-7C49-8DF3-39ECB5DCF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613" y="1444535"/>
                <a:ext cx="544011" cy="461665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XOR (Minsky și Papert, 1969)</a:t>
            </a:r>
          </a:p>
        </p:txBody>
      </p:sp>
      <p:sp>
        <p:nvSpPr>
          <p:cNvPr id="153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54" name="Imagine 3" descr="ch1fig5.jpg"/>
          <p:cNvPicPr/>
          <p:nvPr/>
        </p:nvPicPr>
        <p:blipFill>
          <a:blip r:embed="rId2"/>
          <a:stretch/>
        </p:blipFill>
        <p:spPr>
          <a:xfrm>
            <a:off x="1968120" y="3335760"/>
            <a:ext cx="5946840" cy="2772000"/>
          </a:xfrm>
          <a:prstGeom prst="rect">
            <a:avLst/>
          </a:prstGeom>
          <a:ln>
            <a:noFill/>
          </a:ln>
        </p:spPr>
      </p:pic>
      <p:sp>
        <p:nvSpPr>
          <p:cNvPr id="155" name="TextShape 3"/>
          <p:cNvSpPr txBox="1"/>
          <p:nvPr/>
        </p:nvSpPr>
        <p:spPr>
          <a:xfrm>
            <a:off x="548640" y="1737360"/>
            <a:ext cx="8778240" cy="2091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 metodă de clasificare liniară nu poate învăța funcția XOR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Soluția 1: Rețele neuronale</a:t>
            </a:r>
          </a:p>
        </p:txBody>
      </p:sp>
      <p:sp>
        <p:nvSpPr>
          <p:cNvPr id="157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TextShape 3"/>
          <p:cNvSpPr txBox="1"/>
          <p:nvPr/>
        </p:nvSpPr>
        <p:spPr>
          <a:xfrm>
            <a:off x="46620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59" name="Picture 158"/>
          <p:cNvPicPr/>
          <p:nvPr/>
        </p:nvPicPr>
        <p:blipFill>
          <a:blip r:embed="rId2"/>
          <a:stretch/>
        </p:blipFill>
        <p:spPr>
          <a:xfrm>
            <a:off x="1260720" y="1672560"/>
            <a:ext cx="7791840" cy="5055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Soluția 1: Rețele neuronale</a:t>
            </a:r>
          </a:p>
        </p:txBody>
      </p:sp>
      <p:sp>
        <p:nvSpPr>
          <p:cNvPr id="161" name="TextShape 2"/>
          <p:cNvSpPr txBox="1"/>
          <p:nvPr/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TextShape 3"/>
          <p:cNvSpPr txBox="1"/>
          <p:nvPr/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TextShape 4"/>
          <p:cNvSpPr txBox="1"/>
          <p:nvPr/>
        </p:nvSpPr>
        <p:spPr>
          <a:xfrm>
            <a:off x="365760" y="1769040"/>
            <a:ext cx="92138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Granița de decizie devine non-liniară</a:t>
            </a:r>
          </a:p>
        </p:txBody>
      </p:sp>
      <p:pic>
        <p:nvPicPr>
          <p:cNvPr id="164" name="Picture 163"/>
          <p:cNvPicPr/>
          <p:nvPr/>
        </p:nvPicPr>
        <p:blipFill>
          <a:blip r:embed="rId2"/>
          <a:stretch/>
        </p:blipFill>
        <p:spPr>
          <a:xfrm>
            <a:off x="349200" y="2591280"/>
            <a:ext cx="5810400" cy="4322160"/>
          </a:xfrm>
          <a:prstGeom prst="rect">
            <a:avLst/>
          </a:prstGeom>
          <a:ln>
            <a:noFill/>
          </a:ln>
        </p:spPr>
      </p:pic>
      <p:pic>
        <p:nvPicPr>
          <p:cNvPr id="165" name="Picture 164"/>
          <p:cNvPicPr/>
          <p:nvPr/>
        </p:nvPicPr>
        <p:blipFill>
          <a:blip r:embed="rId3"/>
          <a:stretch/>
        </p:blipFill>
        <p:spPr>
          <a:xfrm>
            <a:off x="6015600" y="2962080"/>
            <a:ext cx="3855600" cy="3158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Soluția 2: Metode kernel</a:t>
            </a:r>
          </a:p>
        </p:txBody>
      </p:sp>
      <p:sp>
        <p:nvSpPr>
          <p:cNvPr id="167" name="TextShape 2"/>
          <p:cNvSpPr txBox="1"/>
          <p:nvPr/>
        </p:nvSpPr>
        <p:spPr>
          <a:xfrm>
            <a:off x="428400" y="19432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funcționează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următorii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într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-un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spațiu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(Hilbert) cu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dimensiuni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Relațiile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liniare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căutate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acest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spațiu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datelor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realizează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implicit,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specificarea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produsului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scalar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între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Scufundarea datelor cu o funcție kernel</a:t>
            </a:r>
          </a:p>
        </p:txBody>
      </p:sp>
      <p:sp>
        <p:nvSpPr>
          <p:cNvPr id="169" name="TextShape 2"/>
          <p:cNvSpPr txBox="1"/>
          <p:nvPr/>
        </p:nvSpPr>
        <p:spPr>
          <a:xfrm>
            <a:off x="428400" y="19432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Relațiile neliniare din spațiul original sunt transformate în relații liniare prin scufundare 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0" name="Picture 169"/>
          <p:cNvPicPr/>
          <p:nvPr/>
        </p:nvPicPr>
        <p:blipFill>
          <a:blip r:embed="rId2"/>
          <a:stretch/>
        </p:blipFill>
        <p:spPr>
          <a:xfrm>
            <a:off x="360360" y="3162960"/>
            <a:ext cx="9317160" cy="397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Metode kernel</a:t>
            </a:r>
          </a:p>
        </p:txBody>
      </p:sp>
      <p:sp>
        <p:nvSpPr>
          <p:cNvPr id="172" name="TextShape 2"/>
          <p:cNvSpPr txBox="1"/>
          <p:nvPr/>
        </p:nvSpPr>
        <p:spPr>
          <a:xfrm>
            <a:off x="428400" y="19432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implementați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forma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duală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astfel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încât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coordontale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punctelor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nu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necesare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fiind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suficientă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specificarea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produsului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scalar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între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perechi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puncte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“Kernel trick”: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Produsul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scalar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fi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înlocuit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orice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similaritate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numită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(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nucleu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/>
          <a:p>
            <a:pPr algn="ctr" eaLnBrk="1" hangingPunct="1"/>
            <a:r>
              <a:rPr lang="en-US" sz="1984" b="1" dirty="0"/>
              <a:t>Forma </a:t>
            </a:r>
            <a:r>
              <a:rPr lang="en-US" sz="1984" b="1" dirty="0" err="1"/>
              <a:t>primală</a:t>
            </a:r>
            <a:endParaRPr lang="en-US" sz="1984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1A18E-48B6-0B4D-90CB-8E6A403FB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6" y="537777"/>
            <a:ext cx="8897012" cy="68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9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E10787-54C6-184A-8CDA-C3AF2308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5" y="551458"/>
            <a:ext cx="8806357" cy="683651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0327EB4-B878-9B4A-BCC4-4B7E29B24400}"/>
              </a:ext>
            </a:extLst>
          </p:cNvPr>
          <p:cNvSpPr txBox="1">
            <a:spLocks noChangeArrowheads="1"/>
          </p:cNvSpPr>
          <p:nvPr/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1984" b="1" dirty="0"/>
              <a:t>Forma </a:t>
            </a:r>
            <a:r>
              <a:rPr lang="en-US" sz="1984" b="1" dirty="0" err="1"/>
              <a:t>duală</a:t>
            </a:r>
            <a:endParaRPr lang="en-US" sz="1984" b="1" dirty="0"/>
          </a:p>
        </p:txBody>
      </p:sp>
    </p:spTree>
    <p:extLst>
      <p:ext uri="{BB962C8B-B14F-4D97-AF65-F5344CB8AC3E}">
        <p14:creationId xmlns:p14="http://schemas.microsoft.com/office/powerpoint/2010/main" val="179527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sp>
        <p:nvSpPr>
          <p:cNvPr id="93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găsirii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 de forma: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interpolează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bine o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mulțime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4" name="Picture 93"/>
          <p:cNvPicPr/>
          <p:nvPr/>
        </p:nvPicPr>
        <p:blipFill>
          <a:blip r:embed="rId2"/>
          <a:stretch/>
        </p:blipFill>
        <p:spPr>
          <a:xfrm>
            <a:off x="2510640" y="2632680"/>
            <a:ext cx="5212080" cy="1094040"/>
          </a:xfrm>
          <a:prstGeom prst="rect">
            <a:avLst/>
          </a:prstGeom>
          <a:ln>
            <a:noFill/>
          </a:ln>
        </p:spPr>
      </p:pic>
      <p:pic>
        <p:nvPicPr>
          <p:cNvPr id="95" name="Picture 94"/>
          <p:cNvPicPr/>
          <p:nvPr/>
        </p:nvPicPr>
        <p:blipFill>
          <a:blip r:embed="rId3"/>
          <a:stretch/>
        </p:blipFill>
        <p:spPr>
          <a:xfrm>
            <a:off x="2391120" y="5258160"/>
            <a:ext cx="5852160" cy="555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sp>
        <p:nvSpPr>
          <p:cNvPr id="97" name="CustomShape 2"/>
          <p:cNvSpPr/>
          <p:nvPr/>
        </p:nvSpPr>
        <p:spPr>
          <a:xfrm>
            <a:off x="1127880" y="2692800"/>
            <a:ext cx="6263280" cy="3796200"/>
          </a:xfrm>
          <a:prstGeom prst="rect">
            <a:avLst/>
          </a:prstGeom>
          <a:noFill/>
          <a:ln w="9360">
            <a:solidFill>
              <a:srgbClr val="FFFFFF"/>
            </a:solidFill>
            <a:custDash>
              <a:ds d="100000" sp="100000"/>
            </a:custDash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98" name="CustomShape 3"/>
          <p:cNvSpPr/>
          <p:nvPr/>
        </p:nvSpPr>
        <p:spPr>
          <a:xfrm>
            <a:off x="3023615" y="5392441"/>
            <a:ext cx="125640" cy="1252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9" name="CustomShape 4"/>
          <p:cNvSpPr/>
          <p:nvPr/>
        </p:nvSpPr>
        <p:spPr>
          <a:xfrm>
            <a:off x="5054760" y="3871080"/>
            <a:ext cx="126000" cy="1256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0" name="CustomShape 5"/>
          <p:cNvSpPr/>
          <p:nvPr/>
        </p:nvSpPr>
        <p:spPr>
          <a:xfrm>
            <a:off x="5448240" y="3609000"/>
            <a:ext cx="125640" cy="1256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1" name="CustomShape 6"/>
          <p:cNvSpPr/>
          <p:nvPr/>
        </p:nvSpPr>
        <p:spPr>
          <a:xfrm>
            <a:off x="4400280" y="3871080"/>
            <a:ext cx="126000" cy="1256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2" name="CustomShape 7"/>
          <p:cNvSpPr/>
          <p:nvPr/>
        </p:nvSpPr>
        <p:spPr>
          <a:xfrm>
            <a:off x="2212200" y="5478480"/>
            <a:ext cx="125640" cy="12672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4" name="CustomShape 9"/>
          <p:cNvSpPr/>
          <p:nvPr/>
        </p:nvSpPr>
        <p:spPr>
          <a:xfrm>
            <a:off x="5840640" y="3215880"/>
            <a:ext cx="1233720" cy="39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ustomShape 10"/>
              <p:cNvSpPr/>
              <p:nvPr/>
            </p:nvSpPr>
            <p:spPr>
              <a:xfrm>
                <a:off x="1863285" y="4514240"/>
                <a:ext cx="522360" cy="259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FFFFFF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6800" rIns="90000" bIns="46800"/>
              <a:lstStyle/>
              <a:p>
                <a:pPr>
                  <a:buClr>
                    <a:srgbClr val="000000"/>
                  </a:buClr>
                  <a:buSzPct val="45000"/>
                </a:pPr>
                <a:r>
                  <a:rPr lang="en-US" b="1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  <a:ea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charset="0"/>
                      </a:rPr>
                      <m:t>𝑤</m:t>
                    </m:r>
                  </m:oMath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105" name="CustomShap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285" y="4514240"/>
                <a:ext cx="522360" cy="259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2"/>
                <a:stretch>
                  <a:fillRect b="-61364"/>
                </a:stretch>
              </a:blipFill>
              <a:ln w="9360">
                <a:solidFill>
                  <a:srgbClr val="FFFFFF"/>
                </a:solidFill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Line 11"/>
          <p:cNvSpPr/>
          <p:nvPr/>
        </p:nvSpPr>
        <p:spPr>
          <a:xfrm flipV="1">
            <a:off x="3615120" y="4263120"/>
            <a:ext cx="0" cy="18327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7" name="Line 12"/>
          <p:cNvSpPr/>
          <p:nvPr/>
        </p:nvSpPr>
        <p:spPr>
          <a:xfrm flipH="1">
            <a:off x="1389600" y="4263120"/>
            <a:ext cx="22251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08" name="CustomShape 13"/>
          <p:cNvSpPr/>
          <p:nvPr/>
        </p:nvSpPr>
        <p:spPr>
          <a:xfrm>
            <a:off x="3550320" y="4202460"/>
            <a:ext cx="124920" cy="12636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109" name="CustomShape 14"/>
          <p:cNvSpPr/>
          <p:nvPr/>
        </p:nvSpPr>
        <p:spPr>
          <a:xfrm>
            <a:off x="3353040" y="5965560"/>
            <a:ext cx="515520" cy="523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0" name="CustomShape 15"/>
          <p:cNvSpPr/>
          <p:nvPr/>
        </p:nvSpPr>
        <p:spPr>
          <a:xfrm>
            <a:off x="1258560" y="4132800"/>
            <a:ext cx="581400" cy="655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1" name="Line 16"/>
          <p:cNvSpPr/>
          <p:nvPr/>
        </p:nvSpPr>
        <p:spPr>
          <a:xfrm>
            <a:off x="3086680" y="5081286"/>
            <a:ext cx="0" cy="311155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2" name="Line 17"/>
          <p:cNvSpPr/>
          <p:nvPr/>
        </p:nvSpPr>
        <p:spPr>
          <a:xfrm flipV="1">
            <a:off x="3086680" y="5007240"/>
            <a:ext cx="0" cy="3555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113" name="CustomShape 18"/>
          <p:cNvSpPr/>
          <p:nvPr/>
        </p:nvSpPr>
        <p:spPr>
          <a:xfrm>
            <a:off x="4890758" y="5010468"/>
            <a:ext cx="497160" cy="565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4" name="CustomShape 19"/>
          <p:cNvSpPr/>
          <p:nvPr/>
        </p:nvSpPr>
        <p:spPr>
          <a:xfrm>
            <a:off x="1091880" y="2693160"/>
            <a:ext cx="6048000" cy="352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5" name="Line 20"/>
          <p:cNvSpPr/>
          <p:nvPr/>
        </p:nvSpPr>
        <p:spPr>
          <a:xfrm flipV="1">
            <a:off x="1343520" y="2818440"/>
            <a:ext cx="0" cy="32763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6" name="Line 21"/>
          <p:cNvSpPr/>
          <p:nvPr/>
        </p:nvSpPr>
        <p:spPr>
          <a:xfrm>
            <a:off x="1343520" y="6095520"/>
            <a:ext cx="5418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7" name="Line 22"/>
          <p:cNvSpPr/>
          <p:nvPr/>
        </p:nvSpPr>
        <p:spPr>
          <a:xfrm flipV="1">
            <a:off x="1343520" y="2818440"/>
            <a:ext cx="5292000" cy="3276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118" name="CustomShape 23"/>
          <p:cNvSpPr/>
          <p:nvPr/>
        </p:nvSpPr>
        <p:spPr>
          <a:xfrm>
            <a:off x="2008080" y="5311080"/>
            <a:ext cx="126000" cy="1256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119" name="CustomShape 24"/>
          <p:cNvSpPr/>
          <p:nvPr/>
        </p:nvSpPr>
        <p:spPr>
          <a:xfrm>
            <a:off x="2008080" y="5834880"/>
            <a:ext cx="126000" cy="1256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Formula 25"/>
              <p:cNvSpPr txBox="1"/>
              <p:nvPr/>
            </p:nvSpPr>
            <p:spPr>
              <a:xfrm>
                <a:off x="3433680" y="5969160"/>
                <a:ext cx="351000" cy="5198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sz="240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0" name="Formula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80" y="5969160"/>
                <a:ext cx="351000" cy="519840"/>
              </a:xfrm>
              <a:prstGeom prst="rect">
                <a:avLst/>
              </a:prstGeom>
              <a:blipFill rotWithShape="0">
                <a:blip r:embed="rId3"/>
                <a:stretch>
                  <a:fillRect r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Formula 26"/>
              <p:cNvSpPr txBox="1"/>
              <p:nvPr/>
            </p:nvSpPr>
            <p:spPr>
              <a:xfrm>
                <a:off x="993140" y="3962000"/>
                <a:ext cx="404280" cy="5522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sz="240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1" name="Formula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40" y="3962000"/>
                <a:ext cx="404280" cy="552240"/>
              </a:xfrm>
              <a:prstGeom prst="rect">
                <a:avLst/>
              </a:prstGeom>
              <a:blipFill rotWithShape="0">
                <a:blip r:embed="rId4"/>
                <a:stretch>
                  <a:fillRect l="-4545"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Formula 27"/>
              <p:cNvSpPr txBox="1"/>
              <p:nvPr/>
            </p:nvSpPr>
            <p:spPr>
              <a:xfrm>
                <a:off x="2754430" y="5090748"/>
                <a:ext cx="307440" cy="4856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>
                          <a:latin typeface="Cambria Math" charset="0"/>
                        </a:rPr>
                        <m:t>𝜉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2" name="Formula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430" y="5090748"/>
                <a:ext cx="307440" cy="485640"/>
              </a:xfrm>
              <a:prstGeom prst="rect">
                <a:avLst/>
              </a:prstGeom>
              <a:blipFill rotWithShape="0">
                <a:blip r:embed="rId5"/>
                <a:stretch>
                  <a:fillRect l="-16000" r="-24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Formula 28"/>
              <p:cNvSpPr txBox="1"/>
              <p:nvPr/>
            </p:nvSpPr>
            <p:spPr>
              <a:xfrm>
                <a:off x="6131880" y="3029400"/>
                <a:ext cx="2935920" cy="5004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>
                          <a:latin typeface="Cambria Math" charset="0"/>
                        </a:rPr>
                        <m:t>𝑦</m:t>
                      </m:r>
                      <m:r>
                        <a:rPr sz="2400">
                          <a:latin typeface="Cambria Math" charset="0"/>
                        </a:rPr>
                        <m:t>=</m:t>
                      </m:r>
                      <m:r>
                        <a:rPr sz="2400">
                          <a:latin typeface="Cambria Math" charset="0"/>
                        </a:rPr>
                        <m:t>𝑔</m:t>
                      </m:r>
                      <m:r>
                        <a:rPr sz="2400">
                          <a:latin typeface="Cambria Math" charset="0"/>
                        </a:rPr>
                        <m:t>(</m:t>
                      </m:r>
                      <m:r>
                        <a:rPr sz="2400">
                          <a:latin typeface="Cambria Math" charset="0"/>
                        </a:rPr>
                        <m:t>𝑥</m:t>
                      </m:r>
                      <m:r>
                        <a:rPr sz="2400">
                          <a:latin typeface="Cambria Math" charset="0"/>
                        </a:rPr>
                        <m:t>)=</m:t>
                      </m:r>
                      <m:d>
                        <m:dPr>
                          <m:begChr m:val="⟨"/>
                          <m:endChr m:val="⟩"/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400">
                              <a:latin typeface="Cambria Math" charset="0"/>
                            </a:rPr>
                            <m:t>𝑤</m:t>
                          </m:r>
                          <m:r>
                            <a:rPr sz="2400">
                              <a:latin typeface="Cambria Math" charset="0"/>
                            </a:rPr>
                            <m:t>,</m:t>
                          </m:r>
                          <m:r>
                            <a:rPr sz="2400">
                              <a:latin typeface="Cambria Math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3" name="Formula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80" y="3029400"/>
                <a:ext cx="2935920" cy="500400"/>
              </a:xfrm>
              <a:prstGeom prst="rect">
                <a:avLst/>
              </a:prstGeom>
              <a:blipFill rotWithShape="0">
                <a:blip r:embed="rId6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17"/>
          <p:cNvSpPr/>
          <p:nvPr/>
        </p:nvSpPr>
        <p:spPr>
          <a:xfrm flipH="1" flipV="1">
            <a:off x="2201180" y="4899080"/>
            <a:ext cx="315098" cy="45817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sp>
        <p:nvSpPr>
          <p:cNvPr id="125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Eroarea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liniare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 un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particular: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pierdere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6" name="Picture 125"/>
          <p:cNvPicPr/>
          <p:nvPr/>
        </p:nvPicPr>
        <p:blipFill>
          <a:blip r:embed="rId2"/>
          <a:stretch/>
        </p:blipFill>
        <p:spPr>
          <a:xfrm>
            <a:off x="3648960" y="2988360"/>
            <a:ext cx="2640960" cy="577800"/>
          </a:xfrm>
          <a:prstGeom prst="rect">
            <a:avLst/>
          </a:prstGeom>
          <a:ln>
            <a:noFill/>
          </a:ln>
        </p:spPr>
      </p:pic>
      <p:pic>
        <p:nvPicPr>
          <p:cNvPr id="127" name="Picture 126"/>
          <p:cNvPicPr/>
          <p:nvPr/>
        </p:nvPicPr>
        <p:blipFill>
          <a:blip r:embed="rId3"/>
          <a:stretch/>
        </p:blipFill>
        <p:spPr>
          <a:xfrm>
            <a:off x="878400" y="4401720"/>
            <a:ext cx="6491520" cy="1145880"/>
          </a:xfrm>
          <a:prstGeom prst="rect">
            <a:avLst/>
          </a:prstGeom>
          <a:ln>
            <a:noFill/>
          </a:ln>
        </p:spPr>
      </p:pic>
      <p:pic>
        <p:nvPicPr>
          <p:cNvPr id="128" name="Picture 127"/>
          <p:cNvPicPr/>
          <p:nvPr/>
        </p:nvPicPr>
        <p:blipFill>
          <a:blip r:embed="rId4"/>
          <a:stretch/>
        </p:blipFill>
        <p:spPr>
          <a:xfrm>
            <a:off x="847800" y="5549760"/>
            <a:ext cx="4830120" cy="1236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sp>
        <p:nvSpPr>
          <p:cNvPr id="130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pierdere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scrisă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vectorial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w?</a:t>
            </a:r>
          </a:p>
        </p:txBody>
      </p:sp>
      <p:pic>
        <p:nvPicPr>
          <p:cNvPr id="131" name="Picture 130"/>
          <p:cNvPicPr/>
          <p:nvPr/>
        </p:nvPicPr>
        <p:blipFill>
          <a:blip r:embed="rId2"/>
          <a:stretch/>
        </p:blipFill>
        <p:spPr>
          <a:xfrm>
            <a:off x="858960" y="2655000"/>
            <a:ext cx="6766560" cy="1551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FE5E9-6E5E-2A45-90D7-C5D817104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307" y="1552570"/>
            <a:ext cx="4905026" cy="60071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91AA2F-6F33-194D-A12D-4EE7DF596A24}"/>
              </a:ext>
            </a:extLst>
          </p:cNvPr>
          <p:cNvSpPr txBox="1"/>
          <p:nvPr/>
        </p:nvSpPr>
        <p:spPr>
          <a:xfrm>
            <a:off x="3668232" y="6528390"/>
            <a:ext cx="680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3022C-28E7-0B44-9AC9-E76177EC2996}"/>
              </a:ext>
            </a:extLst>
          </p:cNvPr>
          <p:cNvSpPr txBox="1"/>
          <p:nvPr/>
        </p:nvSpPr>
        <p:spPr>
          <a:xfrm>
            <a:off x="6212958" y="5936511"/>
            <a:ext cx="680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343613-F072-4246-BC04-803D16178766}"/>
                  </a:ext>
                </a:extLst>
              </p:cNvPr>
              <p:cNvSpPr txBox="1"/>
              <p:nvPr/>
            </p:nvSpPr>
            <p:spPr>
              <a:xfrm>
                <a:off x="2247065" y="4361522"/>
                <a:ext cx="680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343613-F072-4246-BC04-803D16178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65" y="4361522"/>
                <a:ext cx="680484" cy="400110"/>
              </a:xfrm>
              <a:prstGeom prst="rect">
                <a:avLst/>
              </a:prstGeom>
              <a:blipFill>
                <a:blip r:embed="rId3"/>
                <a:stretch>
                  <a:fillRect l="-7273" r="-1818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64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liniară</a:t>
            </a:r>
          </a:p>
        </p:txBody>
      </p:sp>
      <p:sp>
        <p:nvSpPr>
          <p:cNvPr id="133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Ecuația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unde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putem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scoate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dacă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34" name="Picture 133"/>
          <p:cNvPicPr/>
          <p:nvPr/>
        </p:nvPicPr>
        <p:blipFill>
          <a:blip r:embed="rId2"/>
          <a:stretch/>
        </p:blipFill>
        <p:spPr>
          <a:xfrm>
            <a:off x="775800" y="2564280"/>
            <a:ext cx="7362360" cy="1118520"/>
          </a:xfrm>
          <a:prstGeom prst="rect">
            <a:avLst/>
          </a:prstGeom>
          <a:ln>
            <a:noFill/>
          </a:ln>
        </p:spPr>
      </p:pic>
      <p:pic>
        <p:nvPicPr>
          <p:cNvPr id="135" name="Picture 134"/>
          <p:cNvPicPr/>
          <p:nvPr/>
        </p:nvPicPr>
        <p:blipFill>
          <a:blip r:embed="rId3"/>
          <a:stretch/>
        </p:blipFill>
        <p:spPr>
          <a:xfrm>
            <a:off x="842400" y="4565880"/>
            <a:ext cx="3200400" cy="629640"/>
          </a:xfrm>
          <a:prstGeom prst="rect">
            <a:avLst/>
          </a:prstGeom>
          <a:ln>
            <a:noFill/>
          </a:ln>
        </p:spPr>
      </p:pic>
      <p:pic>
        <p:nvPicPr>
          <p:cNvPr id="136" name="Picture 135"/>
          <p:cNvPicPr/>
          <p:nvPr/>
        </p:nvPicPr>
        <p:blipFill>
          <a:blip r:embed="rId4"/>
          <a:stretch/>
        </p:blipFill>
        <p:spPr>
          <a:xfrm>
            <a:off x="914400" y="6381360"/>
            <a:ext cx="4389120" cy="789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</a:t>
            </a:r>
          </a:p>
        </p:txBody>
      </p:sp>
      <p:sp>
        <p:nvSpPr>
          <p:cNvPr id="138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Dacă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nu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“prost-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pusă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”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trebuie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utilizăm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regularizarea</a:t>
            </a:r>
            <a:endParaRPr lang="en-US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optimizare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39" name="Picture 138"/>
          <p:cNvPicPr/>
          <p:nvPr/>
        </p:nvPicPr>
        <p:blipFill>
          <a:blip r:embed="rId2"/>
          <a:stretch/>
        </p:blipFill>
        <p:spPr>
          <a:xfrm>
            <a:off x="869400" y="3582720"/>
            <a:ext cx="7360200" cy="1125360"/>
          </a:xfrm>
          <a:prstGeom prst="rect">
            <a:avLst/>
          </a:prstGeom>
          <a:ln>
            <a:noFill/>
          </a:ln>
        </p:spPr>
      </p:pic>
      <p:pic>
        <p:nvPicPr>
          <p:cNvPr id="140" name="Picture 139"/>
          <p:cNvPicPr/>
          <p:nvPr/>
        </p:nvPicPr>
        <p:blipFill>
          <a:blip r:embed="rId3"/>
          <a:stretch/>
        </p:blipFill>
        <p:spPr>
          <a:xfrm>
            <a:off x="872280" y="5593800"/>
            <a:ext cx="7124760" cy="165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</a:t>
            </a:r>
          </a:p>
        </p:txBody>
      </p:sp>
      <p:sp>
        <p:nvSpPr>
          <p:cNvPr id="142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3" name="Picture 142"/>
          <p:cNvPicPr/>
          <p:nvPr/>
        </p:nvPicPr>
        <p:blipFill>
          <a:blip r:embed="rId2"/>
          <a:stretch/>
        </p:blipFill>
        <p:spPr>
          <a:xfrm>
            <a:off x="826560" y="2513280"/>
            <a:ext cx="8250480" cy="413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 Duală</a:t>
            </a:r>
          </a:p>
        </p:txBody>
      </p:sp>
      <p:sp>
        <p:nvSpPr>
          <p:cNvPr id="181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Dar: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Astfel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82" name="Picture 181"/>
          <p:cNvPicPr/>
          <p:nvPr/>
        </p:nvPicPr>
        <p:blipFill>
          <a:blip r:embed="rId2"/>
          <a:stretch/>
        </p:blipFill>
        <p:spPr>
          <a:xfrm>
            <a:off x="779400" y="1715040"/>
            <a:ext cx="8237160" cy="2756160"/>
          </a:xfrm>
          <a:prstGeom prst="rect">
            <a:avLst/>
          </a:prstGeom>
          <a:ln>
            <a:noFill/>
          </a:ln>
        </p:spPr>
      </p:pic>
      <p:pic>
        <p:nvPicPr>
          <p:cNvPr id="183" name="Picture 182"/>
          <p:cNvPicPr/>
          <p:nvPr/>
        </p:nvPicPr>
        <p:blipFill>
          <a:blip r:embed="rId3"/>
          <a:stretch/>
        </p:blipFill>
        <p:spPr>
          <a:xfrm>
            <a:off x="902520" y="5212080"/>
            <a:ext cx="1702440" cy="548640"/>
          </a:xfrm>
          <a:prstGeom prst="rect">
            <a:avLst/>
          </a:prstGeom>
          <a:ln>
            <a:noFill/>
          </a:ln>
        </p:spPr>
      </p:pic>
      <p:pic>
        <p:nvPicPr>
          <p:cNvPr id="184" name="Picture 183"/>
          <p:cNvPicPr/>
          <p:nvPr/>
        </p:nvPicPr>
        <p:blipFill>
          <a:blip r:embed="rId4"/>
          <a:stretch/>
        </p:blipFill>
        <p:spPr>
          <a:xfrm>
            <a:off x="898200" y="6533640"/>
            <a:ext cx="3399480" cy="690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 Duală</a:t>
            </a:r>
          </a:p>
        </p:txBody>
      </p:sp>
      <p:sp>
        <p:nvSpPr>
          <p:cNvPr id="186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Unde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matricea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Gram: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87" name="Picture 186"/>
          <p:cNvPicPr/>
          <p:nvPr/>
        </p:nvPicPr>
        <p:blipFill>
          <a:blip r:embed="rId2"/>
          <a:stretch/>
        </p:blipFill>
        <p:spPr>
          <a:xfrm>
            <a:off x="858960" y="1408440"/>
            <a:ext cx="3561840" cy="3077640"/>
          </a:xfrm>
          <a:prstGeom prst="rect">
            <a:avLst/>
          </a:prstGeom>
          <a:ln>
            <a:noFill/>
          </a:ln>
        </p:spPr>
      </p:pic>
      <p:pic>
        <p:nvPicPr>
          <p:cNvPr id="188" name="Picture 187"/>
          <p:cNvPicPr/>
          <p:nvPr/>
        </p:nvPicPr>
        <p:blipFill>
          <a:blip r:embed="rId3"/>
          <a:stretch/>
        </p:blipFill>
        <p:spPr>
          <a:xfrm>
            <a:off x="847440" y="5089240"/>
            <a:ext cx="1895760" cy="645840"/>
          </a:xfrm>
          <a:prstGeom prst="rect">
            <a:avLst/>
          </a:prstGeom>
          <a:ln>
            <a:noFill/>
          </a:ln>
        </p:spPr>
      </p:pic>
      <p:pic>
        <p:nvPicPr>
          <p:cNvPr id="189" name="Picture 188"/>
          <p:cNvPicPr/>
          <p:nvPr/>
        </p:nvPicPr>
        <p:blipFill>
          <a:blip r:embed="rId4"/>
          <a:stretch/>
        </p:blipFill>
        <p:spPr>
          <a:xfrm>
            <a:off x="897840" y="6447960"/>
            <a:ext cx="2592720" cy="867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 Duală</a:t>
            </a:r>
          </a:p>
        </p:txBody>
      </p:sp>
      <p:sp>
        <p:nvSpPr>
          <p:cNvPr id="191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forma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duală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matricea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Gram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conține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produsul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scalar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între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perechi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puncte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predicție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92" name="Picture 191"/>
          <p:cNvPicPr/>
          <p:nvPr/>
        </p:nvPicPr>
        <p:blipFill>
          <a:blip r:embed="rId2"/>
          <a:stretch/>
        </p:blipFill>
        <p:spPr>
          <a:xfrm>
            <a:off x="865080" y="3566160"/>
            <a:ext cx="2975400" cy="654840"/>
          </a:xfrm>
          <a:prstGeom prst="rect">
            <a:avLst/>
          </a:prstGeom>
          <a:ln>
            <a:noFill/>
          </a:ln>
        </p:spPr>
      </p:pic>
      <p:pic>
        <p:nvPicPr>
          <p:cNvPr id="193" name="Picture 192"/>
          <p:cNvPicPr/>
          <p:nvPr/>
        </p:nvPicPr>
        <p:blipFill>
          <a:blip r:embed="rId3"/>
          <a:stretch/>
        </p:blipFill>
        <p:spPr>
          <a:xfrm>
            <a:off x="753480" y="4937760"/>
            <a:ext cx="8227080" cy="1481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/>
          <a:p>
            <a:pPr algn="ctr" eaLnBrk="1" hangingPunct="1"/>
            <a:r>
              <a:rPr lang="en-US" sz="1984" b="1" dirty="0"/>
              <a:t>Forma </a:t>
            </a:r>
            <a:r>
              <a:rPr lang="en-US" sz="1984" b="1" dirty="0" err="1"/>
              <a:t>primală</a:t>
            </a:r>
            <a:endParaRPr lang="en-US" sz="1984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1A18E-48B6-0B4D-90CB-8E6A403FB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6" y="537777"/>
            <a:ext cx="8897012" cy="68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7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E10787-54C6-184A-8CDA-C3AF2308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5" y="551458"/>
            <a:ext cx="8806357" cy="683651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0327EB4-B878-9B4A-BCC4-4B7E29B24400}"/>
              </a:ext>
            </a:extLst>
          </p:cNvPr>
          <p:cNvSpPr txBox="1">
            <a:spLocks noChangeArrowheads="1"/>
          </p:cNvSpPr>
          <p:nvPr/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1984" b="1" dirty="0"/>
              <a:t>Forma </a:t>
            </a:r>
            <a:r>
              <a:rPr lang="en-US" sz="1984" b="1" dirty="0" err="1"/>
              <a:t>duală</a:t>
            </a:r>
            <a:endParaRPr lang="en-US" sz="1984" b="1" dirty="0"/>
          </a:p>
        </p:txBody>
      </p:sp>
    </p:spTree>
    <p:extLst>
      <p:ext uri="{BB962C8B-B14F-4D97-AF65-F5344CB8AC3E}">
        <p14:creationId xmlns:p14="http://schemas.microsoft.com/office/powerpoint/2010/main" val="74413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 Kernel</a:t>
            </a:r>
          </a:p>
        </p:txBody>
      </p:sp>
      <p:sp>
        <p:nvSpPr>
          <p:cNvPr id="195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Aplicăm “kernel trick”, înlocuind produsul scalar cu o funcție kernel: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96" name="Picture 195"/>
          <p:cNvPicPr/>
          <p:nvPr/>
        </p:nvPicPr>
        <p:blipFill>
          <a:blip r:embed="rId2"/>
          <a:stretch/>
        </p:blipFill>
        <p:spPr>
          <a:xfrm>
            <a:off x="3779280" y="3149640"/>
            <a:ext cx="1540800" cy="854280"/>
          </a:xfrm>
          <a:prstGeom prst="rect">
            <a:avLst/>
          </a:prstGeom>
          <a:ln>
            <a:noFill/>
          </a:ln>
        </p:spPr>
      </p:pic>
      <p:pic>
        <p:nvPicPr>
          <p:cNvPr id="197" name="Picture 196"/>
          <p:cNvPicPr/>
          <p:nvPr/>
        </p:nvPicPr>
        <p:blipFill>
          <a:blip r:embed="rId3"/>
          <a:stretch/>
        </p:blipFill>
        <p:spPr>
          <a:xfrm>
            <a:off x="228960" y="4246920"/>
            <a:ext cx="4617360" cy="1744920"/>
          </a:xfrm>
          <a:prstGeom prst="rect">
            <a:avLst/>
          </a:prstGeom>
          <a:ln>
            <a:noFill/>
          </a:ln>
        </p:spPr>
      </p:pic>
      <p:pic>
        <p:nvPicPr>
          <p:cNvPr id="198" name="Picture 197"/>
          <p:cNvPicPr/>
          <p:nvPr/>
        </p:nvPicPr>
        <p:blipFill>
          <a:blip r:embed="rId4"/>
          <a:stretch/>
        </p:blipFill>
        <p:spPr>
          <a:xfrm>
            <a:off x="4865760" y="4258440"/>
            <a:ext cx="5029200" cy="1743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 Ridge Kernel</a:t>
            </a:r>
          </a:p>
        </p:txBody>
      </p:sp>
      <p:sp>
        <p:nvSpPr>
          <p:cNvPr id="200" name="TextShape 2"/>
          <p:cNvSpPr txBox="1"/>
          <p:nvPr/>
        </p:nvSpPr>
        <p:spPr>
          <a:xfrm>
            <a:off x="428400" y="17272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Ponderile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duale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calculează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astfel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predicție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01" name="Picture 200"/>
          <p:cNvPicPr/>
          <p:nvPr/>
        </p:nvPicPr>
        <p:blipFill>
          <a:blip r:embed="rId2"/>
          <a:stretch/>
        </p:blipFill>
        <p:spPr>
          <a:xfrm>
            <a:off x="739800" y="3663360"/>
            <a:ext cx="7507440" cy="3238920"/>
          </a:xfrm>
          <a:prstGeom prst="rect">
            <a:avLst/>
          </a:prstGeom>
          <a:ln>
            <a:noFill/>
          </a:ln>
        </p:spPr>
      </p:pic>
      <p:pic>
        <p:nvPicPr>
          <p:cNvPr id="202" name="Picture 201"/>
          <p:cNvPicPr/>
          <p:nvPr/>
        </p:nvPicPr>
        <p:blipFill>
          <a:blip r:embed="rId3"/>
          <a:stretch/>
        </p:blipFill>
        <p:spPr>
          <a:xfrm>
            <a:off x="803880" y="2288880"/>
            <a:ext cx="7079400" cy="699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Ridge Kernel (</a:t>
            </a:r>
            <a:r>
              <a:rPr lang="en-US" sz="4400" b="0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Python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204" name="TextShape 2"/>
          <p:cNvSpPr txBox="1"/>
          <p:nvPr/>
        </p:nvSpPr>
        <p:spPr>
          <a:xfrm>
            <a:off x="304800" y="1371600"/>
            <a:ext cx="9540240" cy="594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Parametrul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regularizare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lambda: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lmb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10 ** -6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-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antrenare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(un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exemplu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linie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T_train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-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clasele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datelor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antrenare</a:t>
            </a:r>
            <a:endParaRPr lang="en-US" sz="2200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X_train.shape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[0]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X_train.T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Antrenarea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metodei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: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alpha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np.linalg.inv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(K +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lmb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*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np.eye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(n)),     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Prezicerea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etichetelor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antrenare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: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(K, alpha)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np.sign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acc_train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).mean())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print(</a:t>
            </a:r>
            <a:r>
              <a:rPr lang="en-US" sz="22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'Train accuracy: %.4f'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%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acc_train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Ridge Kernel (</a:t>
            </a:r>
            <a:r>
              <a:rPr lang="en-US" sz="4400" b="0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Python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206" name="TextShape 2"/>
          <p:cNvSpPr txBox="1"/>
          <p:nvPr/>
        </p:nvSpPr>
        <p:spPr>
          <a:xfrm>
            <a:off x="264160" y="1717920"/>
            <a:ext cx="9509760" cy="46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X_test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-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testare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(un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exemplu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linie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T_test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-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clasele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datelor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testare</a:t>
            </a: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X_train.T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1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#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Prezicerea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etichetelor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datele</a:t>
            </a:r>
            <a:r>
              <a:rPr lang="en-US" sz="2200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de test: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alpha)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np.sign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acc_test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).mean()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print(</a:t>
            </a:r>
            <a:r>
              <a:rPr lang="en-US" sz="22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'Test accuracy: %.4f'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%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acc_test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 kernel</a:t>
            </a:r>
          </a:p>
        </p:txBody>
      </p:sp>
      <p:sp>
        <p:nvSpPr>
          <p:cNvPr id="208" name="TextShape 2"/>
          <p:cNvSpPr txBox="1"/>
          <p:nvPr/>
        </p:nvSpPr>
        <p:spPr>
          <a:xfrm>
            <a:off x="182880" y="1727280"/>
            <a:ext cx="907164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Definiție</a:t>
            </a:r>
            <a:r>
              <a:rPr lang="en-US" sz="2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spațiul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X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spațiul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Hilbert F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orice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Teoremă</a:t>
            </a:r>
            <a:r>
              <a:rPr lang="en-US" sz="2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doar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dacă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finit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pozitiv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semi-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definită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09" name="Picture 208"/>
          <p:cNvPicPr/>
          <p:nvPr/>
        </p:nvPicPr>
        <p:blipFill>
          <a:blip r:embed="rId3"/>
          <a:stretch/>
        </p:blipFill>
        <p:spPr>
          <a:xfrm>
            <a:off x="529200" y="2358000"/>
            <a:ext cx="3733560" cy="520200"/>
          </a:xfrm>
          <a:prstGeom prst="rect">
            <a:avLst/>
          </a:prstGeom>
          <a:ln>
            <a:noFill/>
          </a:ln>
        </p:spPr>
      </p:pic>
      <p:pic>
        <p:nvPicPr>
          <p:cNvPr id="210" name="Picture 209"/>
          <p:cNvPicPr/>
          <p:nvPr/>
        </p:nvPicPr>
        <p:blipFill>
          <a:blip r:embed="rId4"/>
          <a:stretch/>
        </p:blipFill>
        <p:spPr>
          <a:xfrm>
            <a:off x="437760" y="3893040"/>
            <a:ext cx="5689440" cy="659880"/>
          </a:xfrm>
          <a:prstGeom prst="rect">
            <a:avLst/>
          </a:prstGeom>
          <a:ln>
            <a:noFill/>
          </a:ln>
        </p:spPr>
      </p:pic>
      <p:pic>
        <p:nvPicPr>
          <p:cNvPr id="211" name="Picture 210"/>
          <p:cNvPicPr/>
          <p:nvPr/>
        </p:nvPicPr>
        <p:blipFill>
          <a:blip r:embed="rId5"/>
          <a:stretch/>
        </p:blipFill>
        <p:spPr>
          <a:xfrm>
            <a:off x="2825408" y="4484836"/>
            <a:ext cx="1955520" cy="583560"/>
          </a:xfrm>
          <a:prstGeom prst="rect">
            <a:avLst/>
          </a:prstGeom>
          <a:ln>
            <a:noFill/>
          </a:ln>
        </p:spPr>
      </p:pic>
      <p:pic>
        <p:nvPicPr>
          <p:cNvPr id="212" name="Picture 211"/>
          <p:cNvPicPr/>
          <p:nvPr/>
        </p:nvPicPr>
        <p:blipFill>
          <a:blip r:embed="rId6"/>
          <a:stretch/>
        </p:blipFill>
        <p:spPr>
          <a:xfrm>
            <a:off x="450000" y="5021640"/>
            <a:ext cx="4762080" cy="736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 de funcții kernel</a:t>
            </a:r>
          </a:p>
        </p:txBody>
      </p:sp>
      <p:sp>
        <p:nvSpPr>
          <p:cNvPr id="214" name="TextShape 2"/>
          <p:cNvSpPr txBox="1"/>
          <p:nvPr/>
        </p:nvSpPr>
        <p:spPr>
          <a:xfrm>
            <a:off x="182880" y="1727280"/>
            <a:ext cx="907164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 definirea explicită a funcției de scufundare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15" name="Picture 214"/>
          <p:cNvPicPr/>
          <p:nvPr/>
        </p:nvPicPr>
        <p:blipFill>
          <a:blip r:embed="rId2"/>
          <a:stretch/>
        </p:blipFill>
        <p:spPr>
          <a:xfrm>
            <a:off x="535680" y="2298600"/>
            <a:ext cx="8999640" cy="522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 de funcții kernel</a:t>
            </a:r>
          </a:p>
        </p:txBody>
      </p:sp>
      <p:sp>
        <p:nvSpPr>
          <p:cNvPr id="217" name="TextShape 2"/>
          <p:cNvSpPr txBox="1"/>
          <p:nvPr/>
        </p:nvSpPr>
        <p:spPr>
          <a:xfrm>
            <a:off x="182880" y="1727280"/>
            <a:ext cx="907164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din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anterior: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Aceeași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corespunde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scufundării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18" name="Picture 217"/>
          <p:cNvPicPr/>
          <p:nvPr/>
        </p:nvPicPr>
        <p:blipFill>
          <a:blip r:embed="rId2"/>
          <a:stretch/>
        </p:blipFill>
        <p:spPr>
          <a:xfrm>
            <a:off x="582120" y="2377440"/>
            <a:ext cx="7347240" cy="3424680"/>
          </a:xfrm>
          <a:prstGeom prst="rect">
            <a:avLst/>
          </a:prstGeom>
          <a:ln>
            <a:noFill/>
          </a:ln>
        </p:spPr>
      </p:pic>
      <p:pic>
        <p:nvPicPr>
          <p:cNvPr id="219" name="Picture 218"/>
          <p:cNvPicPr/>
          <p:nvPr/>
        </p:nvPicPr>
        <p:blipFill>
          <a:blip r:embed="rId3"/>
          <a:stretch/>
        </p:blipFill>
        <p:spPr>
          <a:xfrm>
            <a:off x="524520" y="6468480"/>
            <a:ext cx="7065000" cy="572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 kernel polinomială</a:t>
            </a:r>
          </a:p>
        </p:txBody>
      </p:sp>
      <p:sp>
        <p:nvSpPr>
          <p:cNvPr id="221" name="TextShape 2"/>
          <p:cNvSpPr txBox="1"/>
          <p:nvPr/>
        </p:nvSpPr>
        <p:spPr>
          <a:xfrm>
            <a:off x="182880" y="1727280"/>
            <a:ext cx="907164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constantă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pozitivă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număr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natural d: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Constanta c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permite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controlul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gradului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influență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al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polinoamelor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diverse grade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2" name="Picture 221"/>
          <p:cNvPicPr/>
          <p:nvPr/>
        </p:nvPicPr>
        <p:blipFill>
          <a:blip r:embed="rId2"/>
          <a:stretch/>
        </p:blipFill>
        <p:spPr>
          <a:xfrm>
            <a:off x="548640" y="2834640"/>
            <a:ext cx="4053600" cy="772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 kernel Gaussiană (RBF)</a:t>
            </a:r>
          </a:p>
        </p:txBody>
      </p:sp>
      <p:sp>
        <p:nvSpPr>
          <p:cNvPr id="224" name="TextShape 2"/>
          <p:cNvSpPr txBox="1"/>
          <p:nvPr/>
        </p:nvSpPr>
        <p:spPr>
          <a:xfrm>
            <a:off x="181800" y="1692720"/>
            <a:ext cx="932796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                           și                          din      :    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5" name="Picture 224"/>
          <p:cNvPicPr/>
          <p:nvPr/>
        </p:nvPicPr>
        <p:blipFill>
          <a:blip r:embed="rId2"/>
          <a:stretch/>
        </p:blipFill>
        <p:spPr>
          <a:xfrm>
            <a:off x="529200" y="2276640"/>
            <a:ext cx="9210240" cy="4819680"/>
          </a:xfrm>
          <a:prstGeom prst="rect">
            <a:avLst/>
          </a:prstGeom>
          <a:ln>
            <a:noFill/>
          </a:ln>
        </p:spPr>
      </p:pic>
      <p:pic>
        <p:nvPicPr>
          <p:cNvPr id="226" name="Picture 225"/>
          <p:cNvPicPr/>
          <p:nvPr/>
        </p:nvPicPr>
        <p:blipFill>
          <a:blip r:embed="rId3"/>
          <a:stretch/>
        </p:blipFill>
        <p:spPr>
          <a:xfrm>
            <a:off x="1936800" y="1682280"/>
            <a:ext cx="2755440" cy="558360"/>
          </a:xfrm>
          <a:prstGeom prst="rect">
            <a:avLst/>
          </a:prstGeom>
          <a:ln>
            <a:noFill/>
          </a:ln>
        </p:spPr>
      </p:pic>
      <p:pic>
        <p:nvPicPr>
          <p:cNvPr id="227" name="Picture 226"/>
          <p:cNvPicPr/>
          <p:nvPr/>
        </p:nvPicPr>
        <p:blipFill>
          <a:blip r:embed="rId4"/>
          <a:stretch/>
        </p:blipFill>
        <p:spPr>
          <a:xfrm>
            <a:off x="5212080" y="1655280"/>
            <a:ext cx="2692080" cy="621720"/>
          </a:xfrm>
          <a:prstGeom prst="rect">
            <a:avLst/>
          </a:prstGeom>
          <a:ln>
            <a:noFill/>
          </a:ln>
        </p:spPr>
      </p:pic>
      <p:pic>
        <p:nvPicPr>
          <p:cNvPr id="228" name="Picture 227"/>
          <p:cNvPicPr/>
          <p:nvPr/>
        </p:nvPicPr>
        <p:blipFill>
          <a:blip r:embed="rId5"/>
          <a:stretch/>
        </p:blipFill>
        <p:spPr>
          <a:xfrm>
            <a:off x="8693610" y="1575195"/>
            <a:ext cx="558360" cy="621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 kernel intersecție</a:t>
            </a:r>
          </a:p>
        </p:txBody>
      </p:sp>
      <p:sp>
        <p:nvSpPr>
          <p:cNvPr id="230" name="TextShape 2"/>
          <p:cNvSpPr txBox="1"/>
          <p:nvPr/>
        </p:nvSpPr>
        <p:spPr>
          <a:xfrm>
            <a:off x="181800" y="1692720"/>
            <a:ext cx="932796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                           și                          din      :    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1" name="Picture 230"/>
          <p:cNvPicPr/>
          <p:nvPr/>
        </p:nvPicPr>
        <p:blipFill>
          <a:blip r:embed="rId2"/>
          <a:stretch/>
        </p:blipFill>
        <p:spPr>
          <a:xfrm>
            <a:off x="1936800" y="1682280"/>
            <a:ext cx="2755440" cy="558360"/>
          </a:xfrm>
          <a:prstGeom prst="rect">
            <a:avLst/>
          </a:prstGeom>
          <a:ln>
            <a:noFill/>
          </a:ln>
        </p:spPr>
      </p:pic>
      <p:pic>
        <p:nvPicPr>
          <p:cNvPr id="232" name="Picture 231"/>
          <p:cNvPicPr/>
          <p:nvPr/>
        </p:nvPicPr>
        <p:blipFill>
          <a:blip r:embed="rId3"/>
          <a:stretch/>
        </p:blipFill>
        <p:spPr>
          <a:xfrm>
            <a:off x="5212080" y="1655280"/>
            <a:ext cx="2692080" cy="621720"/>
          </a:xfrm>
          <a:prstGeom prst="rect">
            <a:avLst/>
          </a:prstGeom>
          <a:ln>
            <a:noFill/>
          </a:ln>
        </p:spPr>
      </p:pic>
      <p:pic>
        <p:nvPicPr>
          <p:cNvPr id="233" name="Picture 232"/>
          <p:cNvPicPr/>
          <p:nvPr/>
        </p:nvPicPr>
        <p:blipFill>
          <a:blip r:embed="rId4"/>
          <a:stretch/>
        </p:blipFill>
        <p:spPr>
          <a:xfrm>
            <a:off x="8693610" y="1575195"/>
            <a:ext cx="558360" cy="621720"/>
          </a:xfrm>
          <a:prstGeom prst="rect">
            <a:avLst/>
          </a:prstGeom>
          <a:ln>
            <a:noFill/>
          </a:ln>
        </p:spPr>
      </p:pic>
      <p:pic>
        <p:nvPicPr>
          <p:cNvPr id="234" name="Picture 233"/>
          <p:cNvPicPr/>
          <p:nvPr/>
        </p:nvPicPr>
        <p:blipFill>
          <a:blip r:embed="rId5"/>
          <a:stretch/>
        </p:blipFill>
        <p:spPr>
          <a:xfrm>
            <a:off x="512640" y="2205000"/>
            <a:ext cx="8688960" cy="2660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Alte funcții kernel</a:t>
            </a:r>
          </a:p>
        </p:txBody>
      </p:sp>
      <p:sp>
        <p:nvSpPr>
          <p:cNvPr id="236" name="TextShape 2"/>
          <p:cNvSpPr txBox="1"/>
          <p:nvPr/>
        </p:nvSpPr>
        <p:spPr>
          <a:xfrm>
            <a:off x="181800" y="1692720"/>
            <a:ext cx="932796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Hellinger: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PQ: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7" name="Picture 236"/>
          <p:cNvPicPr/>
          <p:nvPr/>
        </p:nvPicPr>
        <p:blipFill>
          <a:blip r:embed="rId2"/>
          <a:stretch/>
        </p:blipFill>
        <p:spPr>
          <a:xfrm>
            <a:off x="584640" y="2278080"/>
            <a:ext cx="3931920" cy="564480"/>
          </a:xfrm>
          <a:prstGeom prst="rect">
            <a:avLst/>
          </a:prstGeom>
          <a:ln>
            <a:noFill/>
          </a:ln>
        </p:spPr>
      </p:pic>
      <p:pic>
        <p:nvPicPr>
          <p:cNvPr id="238" name="Picture 237"/>
          <p:cNvPicPr/>
          <p:nvPr/>
        </p:nvPicPr>
        <p:blipFill>
          <a:blip r:embed="rId3"/>
          <a:stretch/>
        </p:blipFill>
        <p:spPr>
          <a:xfrm>
            <a:off x="561600" y="4994952"/>
            <a:ext cx="4467600" cy="786960"/>
          </a:xfrm>
          <a:prstGeom prst="rect">
            <a:avLst/>
          </a:prstGeom>
          <a:ln>
            <a:noFill/>
          </a:ln>
        </p:spPr>
      </p:pic>
      <p:pic>
        <p:nvPicPr>
          <p:cNvPr id="239" name="Picture 238"/>
          <p:cNvPicPr/>
          <p:nvPr/>
        </p:nvPicPr>
        <p:blipFill>
          <a:blip r:embed="rId4"/>
          <a:stretch/>
        </p:blipFill>
        <p:spPr>
          <a:xfrm>
            <a:off x="577800" y="5795592"/>
            <a:ext cx="8491320" cy="660960"/>
          </a:xfrm>
          <a:prstGeom prst="rect">
            <a:avLst/>
          </a:prstGeom>
          <a:ln>
            <a:noFill/>
          </a:ln>
        </p:spPr>
      </p:pic>
      <p:pic>
        <p:nvPicPr>
          <p:cNvPr id="240" name="Picture 239"/>
          <p:cNvPicPr/>
          <p:nvPr/>
        </p:nvPicPr>
        <p:blipFill>
          <a:blip r:embed="rId5"/>
          <a:stretch/>
        </p:blipFill>
        <p:spPr>
          <a:xfrm>
            <a:off x="528120" y="6578232"/>
            <a:ext cx="8596440" cy="68652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DA69E5-B12A-C44A-9856-3DB378DEB4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136" y="1416910"/>
            <a:ext cx="4700424" cy="4271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26574" y="2403844"/>
            <a:ext cx="9165131" cy="3395222"/>
          </a:xfrm>
        </p:spPr>
        <p:txBody>
          <a:bodyPr lIns="75597" tIns="37798" rIns="75597" bIns="37798">
            <a:normAutofit/>
          </a:bodyPr>
          <a:lstStyle/>
          <a:p>
            <a:pPr marL="377979" indent="-377979">
              <a:spcAft>
                <a:spcPts val="496"/>
              </a:spcAft>
              <a:buFont typeface="Arial" panose="020B0604020202020204" pitchFamily="34" charset="0"/>
              <a:buChar char="•"/>
            </a:pPr>
            <a:r>
              <a:rPr lang="en-US" sz="2646" dirty="0"/>
              <a:t>String kernels </a:t>
            </a:r>
            <a:r>
              <a:rPr lang="en-US" sz="2646" dirty="0" err="1"/>
              <a:t>măsoară</a:t>
            </a:r>
            <a:r>
              <a:rPr lang="en-US" sz="2646" dirty="0"/>
              <a:t> </a:t>
            </a:r>
            <a:r>
              <a:rPr lang="en-US" sz="2646" dirty="0" err="1"/>
              <a:t>similaritatea</a:t>
            </a:r>
            <a:r>
              <a:rPr lang="en-US" sz="2646" dirty="0"/>
              <a:t> </a:t>
            </a:r>
            <a:r>
              <a:rPr lang="en-US" sz="2646" dirty="0" err="1"/>
              <a:t>între</a:t>
            </a:r>
            <a:r>
              <a:rPr lang="en-US" sz="2646" dirty="0"/>
              <a:t> </a:t>
            </a:r>
            <a:r>
              <a:rPr lang="en-US" sz="2646" dirty="0" err="1"/>
              <a:t>perechi</a:t>
            </a:r>
            <a:r>
              <a:rPr lang="en-US" sz="2646" dirty="0"/>
              <a:t> de </a:t>
            </a:r>
            <a:r>
              <a:rPr lang="en-US" sz="2646" dirty="0" err="1"/>
              <a:t>șiruri</a:t>
            </a:r>
            <a:r>
              <a:rPr lang="en-US" sz="2646" dirty="0"/>
              <a:t> de </a:t>
            </a:r>
            <a:r>
              <a:rPr lang="en-US" sz="2646" dirty="0" err="1"/>
              <a:t>caractere</a:t>
            </a:r>
            <a:r>
              <a:rPr lang="en-US" sz="2646" dirty="0"/>
              <a:t>, </a:t>
            </a:r>
            <a:r>
              <a:rPr lang="en-US" sz="2646" dirty="0" err="1"/>
              <a:t>prin</a:t>
            </a:r>
            <a:r>
              <a:rPr lang="en-US" sz="2646" dirty="0"/>
              <a:t> </a:t>
            </a:r>
            <a:r>
              <a:rPr lang="en-US" sz="2646" dirty="0" err="1"/>
              <a:t>numărarea</a:t>
            </a:r>
            <a:r>
              <a:rPr lang="en-US" sz="2646" dirty="0"/>
              <a:t> </a:t>
            </a:r>
            <a:r>
              <a:rPr lang="en-US" sz="2646" dirty="0" err="1"/>
              <a:t>subsecvențelor</a:t>
            </a:r>
            <a:r>
              <a:rPr lang="en-US" sz="2646" dirty="0"/>
              <a:t> (n-</a:t>
            </a:r>
            <a:r>
              <a:rPr lang="en-US" sz="2646" dirty="0" err="1"/>
              <a:t>grame</a:t>
            </a:r>
            <a:r>
              <a:rPr lang="en-US" sz="2646" dirty="0"/>
              <a:t>) de </a:t>
            </a:r>
            <a:r>
              <a:rPr lang="en-US" sz="2646" dirty="0" err="1"/>
              <a:t>caractere</a:t>
            </a:r>
            <a:r>
              <a:rPr lang="en-US" sz="2646" dirty="0"/>
              <a:t> </a:t>
            </a:r>
            <a:r>
              <a:rPr lang="en-US" sz="2646" dirty="0" err="1"/>
              <a:t>comune</a:t>
            </a:r>
            <a:r>
              <a:rPr lang="en-US" sz="2646" dirty="0"/>
              <a:t> </a:t>
            </a:r>
            <a:r>
              <a:rPr lang="en-US" sz="2646" dirty="0" err="1"/>
              <a:t>dintre</a:t>
            </a:r>
            <a:r>
              <a:rPr lang="en-US" sz="2646" dirty="0"/>
              <a:t> </a:t>
            </a:r>
            <a:r>
              <a:rPr lang="en-US" sz="2646" dirty="0" err="1"/>
              <a:t>cele</a:t>
            </a:r>
            <a:r>
              <a:rPr lang="en-US" sz="2646" dirty="0"/>
              <a:t> </a:t>
            </a:r>
            <a:r>
              <a:rPr lang="en-US" sz="2646" dirty="0" err="1"/>
              <a:t>două</a:t>
            </a:r>
            <a:r>
              <a:rPr lang="en-US" sz="2646" dirty="0"/>
              <a:t> </a:t>
            </a:r>
            <a:r>
              <a:rPr lang="en-US" sz="2646" dirty="0" err="1"/>
              <a:t>șiruri</a:t>
            </a:r>
            <a:endParaRPr lang="en-US" sz="2646" dirty="0"/>
          </a:p>
          <a:p>
            <a:pPr marL="377979" indent="-377979">
              <a:spcAft>
                <a:spcPts val="496"/>
              </a:spcAft>
              <a:buFont typeface="Arial" panose="020B0604020202020204" pitchFamily="34" charset="0"/>
              <a:buChar char="•"/>
            </a:pPr>
            <a:r>
              <a:rPr lang="en-US" sz="2646" dirty="0" err="1"/>
              <a:t>Textele</a:t>
            </a:r>
            <a:r>
              <a:rPr lang="en-US" sz="2646" dirty="0"/>
              <a:t> pot fi </a:t>
            </a:r>
            <a:r>
              <a:rPr lang="en-US" sz="2646" dirty="0" err="1"/>
              <a:t>interpretate</a:t>
            </a:r>
            <a:r>
              <a:rPr lang="en-US" sz="2646" dirty="0"/>
              <a:t> ca </a:t>
            </a:r>
            <a:r>
              <a:rPr lang="en-US" sz="2646" dirty="0" err="1"/>
              <a:t>șiruri</a:t>
            </a:r>
            <a:r>
              <a:rPr lang="en-US" sz="2646" dirty="0"/>
              <a:t> de </a:t>
            </a:r>
            <a:r>
              <a:rPr lang="en-US" sz="2646" dirty="0" err="1"/>
              <a:t>caractere</a:t>
            </a:r>
            <a:endParaRPr lang="en-US" sz="2646" dirty="0"/>
          </a:p>
          <a:p>
            <a:pPr marL="377979" indent="-377979">
              <a:spcAft>
                <a:spcPts val="496"/>
              </a:spcAft>
              <a:buFont typeface="Arial" panose="020B0604020202020204" pitchFamily="34" charset="0"/>
              <a:buChar char="•"/>
            </a:pPr>
            <a:r>
              <a:rPr lang="en-US" sz="2646" dirty="0" err="1"/>
              <a:t>Avantaje</a:t>
            </a:r>
            <a:r>
              <a:rPr lang="en-US" sz="2646" dirty="0"/>
              <a:t>:</a:t>
            </a:r>
          </a:p>
          <a:p>
            <a:pPr>
              <a:spcAft>
                <a:spcPts val="496"/>
              </a:spcAft>
              <a:buFont typeface="Wingdings" pitchFamily="2" charset="2"/>
              <a:buChar char="Ø"/>
            </a:pPr>
            <a:r>
              <a:rPr lang="en-US" sz="2646" dirty="0"/>
              <a:t> Nu </a:t>
            </a:r>
            <a:r>
              <a:rPr lang="en-US" sz="2646" dirty="0" err="1"/>
              <a:t>trebuie</a:t>
            </a:r>
            <a:r>
              <a:rPr lang="en-US" sz="2646" dirty="0"/>
              <a:t> </a:t>
            </a:r>
            <a:r>
              <a:rPr lang="en-US" sz="2646" dirty="0" err="1"/>
              <a:t>să</a:t>
            </a:r>
            <a:r>
              <a:rPr lang="en-US" sz="2646" dirty="0"/>
              <a:t> </a:t>
            </a:r>
            <a:r>
              <a:rPr lang="en-US" sz="2646" dirty="0" err="1"/>
              <a:t>delimităm</a:t>
            </a:r>
            <a:r>
              <a:rPr lang="en-US" sz="2646" dirty="0"/>
              <a:t> </a:t>
            </a:r>
            <a:r>
              <a:rPr lang="en-US" sz="2646" dirty="0" err="1"/>
              <a:t>cuvintele</a:t>
            </a:r>
            <a:endParaRPr lang="en-US" sz="2646" dirty="0"/>
          </a:p>
          <a:p>
            <a:pPr>
              <a:spcAft>
                <a:spcPts val="496"/>
              </a:spcAft>
              <a:buFont typeface="Wingdings" pitchFamily="2" charset="2"/>
              <a:buChar char="Ø"/>
            </a:pPr>
            <a:r>
              <a:rPr lang="en-US" sz="2646" dirty="0"/>
              <a:t> </a:t>
            </a:r>
            <a:r>
              <a:rPr lang="en-US" sz="2646" dirty="0" err="1"/>
              <a:t>Metoda</a:t>
            </a:r>
            <a:r>
              <a:rPr lang="en-US" sz="2646" dirty="0"/>
              <a:t> </a:t>
            </a:r>
            <a:r>
              <a:rPr lang="en-US" sz="2646" dirty="0" err="1"/>
              <a:t>este</a:t>
            </a:r>
            <a:r>
              <a:rPr lang="en-US" sz="2646" dirty="0"/>
              <a:t> </a:t>
            </a:r>
            <a:r>
              <a:rPr lang="en-US" sz="2646" dirty="0" err="1"/>
              <a:t>independentă</a:t>
            </a:r>
            <a:r>
              <a:rPr lang="en-US" sz="2646" dirty="0"/>
              <a:t> de </a:t>
            </a:r>
            <a:r>
              <a:rPr lang="en-US" sz="2646" dirty="0" err="1"/>
              <a:t>limbă</a:t>
            </a:r>
            <a:endParaRPr lang="en-US" sz="2646" dirty="0">
              <a:solidFill>
                <a:srgbClr val="0070C0"/>
              </a:solidFill>
            </a:endParaRPr>
          </a:p>
        </p:txBody>
      </p:sp>
      <p:sp>
        <p:nvSpPr>
          <p:cNvPr id="4" name="Shape 1310">
            <a:extLst>
              <a:ext uri="{FF2B5EF4-FFF2-40B4-BE49-F238E27FC236}">
                <a16:creationId xmlns:a16="http://schemas.microsoft.com/office/drawing/2014/main" id="{8F4D8DE2-CCED-6940-B377-F0551D048EEF}"/>
              </a:ext>
            </a:extLst>
          </p:cNvPr>
          <p:cNvSpPr txBox="1"/>
          <p:nvPr/>
        </p:nvSpPr>
        <p:spPr>
          <a:xfrm>
            <a:off x="421200" y="345556"/>
            <a:ext cx="9218065" cy="704840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lvl="0" algn="ctr"/>
            <a:r>
              <a:rPr lang="en-US" sz="3968" dirty="0"/>
              <a:t>String kernels</a:t>
            </a:r>
            <a:endParaRPr lang="en" sz="3968" dirty="0"/>
          </a:p>
        </p:txBody>
      </p:sp>
    </p:spTree>
    <p:extLst>
      <p:ext uri="{BB962C8B-B14F-4D97-AF65-F5344CB8AC3E}">
        <p14:creationId xmlns:p14="http://schemas.microsoft.com/office/powerpoint/2010/main" val="158739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5700" y="1801722"/>
            <a:ext cx="9549063" cy="4702250"/>
          </a:xfrm>
        </p:spPr>
        <p:txBody>
          <a:bodyPr lIns="75597" tIns="37798" rIns="75597" bIns="37798">
            <a:noAutofit/>
          </a:bodyPr>
          <a:lstStyle/>
          <a:p>
            <a:pPr marL="377979" indent="-377979">
              <a:spcAft>
                <a:spcPts val="496"/>
              </a:spcAft>
              <a:buFont typeface="Arial" panose="020B0604020202020204" pitchFamily="34" charset="0"/>
              <a:buChar char="•"/>
            </a:pPr>
            <a:r>
              <a:rPr lang="en-US" sz="2646" dirty="0"/>
              <a:t> </a:t>
            </a:r>
            <a:r>
              <a:rPr lang="en-US" sz="2646" dirty="0" err="1"/>
              <a:t>Exemplu</a:t>
            </a:r>
            <a:r>
              <a:rPr lang="en-US" sz="2646" dirty="0"/>
              <a:t>: </a:t>
            </a:r>
          </a:p>
          <a:p>
            <a:pPr marL="0" indent="0">
              <a:spcAft>
                <a:spcPts val="496"/>
              </a:spcAft>
              <a:buNone/>
            </a:pPr>
            <a:r>
              <a:rPr lang="en-US" sz="2646" dirty="0" err="1"/>
              <a:t>Fiind</a:t>
            </a:r>
            <a:r>
              <a:rPr lang="en-US" sz="2646" dirty="0"/>
              <a:t> date </a:t>
            </a:r>
            <a:r>
              <a:rPr lang="en-US" sz="2646" dirty="0">
                <a:solidFill>
                  <a:srgbClr val="FF0000"/>
                </a:solidFill>
              </a:rPr>
              <a:t>s = “pineapple pi” </a:t>
            </a:r>
            <a:r>
              <a:rPr lang="en-US" sz="2646" dirty="0" err="1"/>
              <a:t>și</a:t>
            </a:r>
            <a:r>
              <a:rPr lang="en-US" sz="2646" dirty="0"/>
              <a:t> </a:t>
            </a:r>
            <a:r>
              <a:rPr lang="en-US" sz="2646" dirty="0">
                <a:solidFill>
                  <a:srgbClr val="0070C0"/>
                </a:solidFill>
              </a:rPr>
              <a:t>t = “apple pie” </a:t>
            </a:r>
            <a:r>
              <a:rPr lang="en-US" sz="2646" dirty="0" err="1"/>
              <a:t>peste</a:t>
            </a:r>
            <a:r>
              <a:rPr lang="en-US" sz="2646" dirty="0"/>
              <a:t> un </a:t>
            </a:r>
            <a:r>
              <a:rPr lang="en-US" sz="2646" dirty="0" err="1"/>
              <a:t>alfabet</a:t>
            </a:r>
            <a:r>
              <a:rPr lang="en-US" sz="2646" dirty="0"/>
              <a:t> </a:t>
            </a:r>
            <a:r>
              <a:rPr lang="el-GR" sz="2646" dirty="0"/>
              <a:t>Σ, </a:t>
            </a:r>
            <a:r>
              <a:rPr lang="en-US" sz="2646" dirty="0" err="1"/>
              <a:t>și</a:t>
            </a:r>
            <a:r>
              <a:rPr lang="en-US" sz="2646" dirty="0"/>
              <a:t> </a:t>
            </a:r>
            <a:r>
              <a:rPr lang="en-US" sz="2646" dirty="0" err="1"/>
              <a:t>lungimea</a:t>
            </a:r>
            <a:r>
              <a:rPr lang="en-US" sz="2646" dirty="0"/>
              <a:t> n-</a:t>
            </a:r>
            <a:r>
              <a:rPr lang="en-US" sz="2646" dirty="0" err="1"/>
              <a:t>gramelor</a:t>
            </a:r>
            <a:r>
              <a:rPr lang="en-US" sz="2646" dirty="0"/>
              <a:t> </a:t>
            </a:r>
            <a:r>
              <a:rPr lang="en-US" sz="2646" dirty="0">
                <a:solidFill>
                  <a:srgbClr val="00B050"/>
                </a:solidFill>
              </a:rPr>
              <a:t>p = 2</a:t>
            </a:r>
            <a:r>
              <a:rPr lang="en-US" sz="2646" dirty="0"/>
              <a:t>,</a:t>
            </a:r>
          </a:p>
          <a:p>
            <a:pPr marL="0" indent="0">
              <a:spcAft>
                <a:spcPts val="496"/>
              </a:spcAft>
              <a:buNone/>
            </a:pPr>
            <a:r>
              <a:rPr lang="en-US" sz="2646" dirty="0" err="1"/>
              <a:t>construim</a:t>
            </a:r>
            <a:r>
              <a:rPr lang="en-US" sz="2646" dirty="0"/>
              <a:t> </a:t>
            </a:r>
            <a:r>
              <a:rPr lang="en-US" sz="2646" dirty="0" err="1"/>
              <a:t>tabele</a:t>
            </a:r>
            <a:r>
              <a:rPr lang="en-US" sz="2646" dirty="0"/>
              <a:t> hash </a:t>
            </a:r>
            <a:r>
              <a:rPr lang="en-US" sz="2646" dirty="0">
                <a:solidFill>
                  <a:srgbClr val="FF0000"/>
                </a:solidFill>
              </a:rPr>
              <a:t>S</a:t>
            </a:r>
            <a:r>
              <a:rPr lang="en-US" sz="2646" dirty="0"/>
              <a:t> and </a:t>
            </a:r>
            <a:r>
              <a:rPr lang="en-US" sz="2646" dirty="0">
                <a:solidFill>
                  <a:srgbClr val="0070C0"/>
                </a:solidFill>
              </a:rPr>
              <a:t>T</a:t>
            </a:r>
            <a:r>
              <a:rPr lang="en-US" sz="2646" dirty="0"/>
              <a:t> care </a:t>
            </a:r>
            <a:r>
              <a:rPr lang="en-US" sz="2646" dirty="0" err="1"/>
              <a:t>conțin</a:t>
            </a:r>
            <a:r>
              <a:rPr lang="en-US" sz="2646" dirty="0"/>
              <a:t> </a:t>
            </a:r>
            <a:r>
              <a:rPr lang="en-US" sz="2646" dirty="0" err="1"/>
              <a:t>perechi</a:t>
            </a:r>
            <a:r>
              <a:rPr lang="en-US" sz="2646" dirty="0"/>
              <a:t> &lt;key&gt;:&lt;value&gt; de </a:t>
            </a:r>
            <a:r>
              <a:rPr lang="en-US" sz="2646" dirty="0" err="1"/>
              <a:t>tipul</a:t>
            </a:r>
            <a:endParaRPr lang="en-US" sz="2646" dirty="0"/>
          </a:p>
          <a:p>
            <a:pPr marL="0" indent="0">
              <a:spcAft>
                <a:spcPts val="496"/>
              </a:spcAft>
              <a:buNone/>
            </a:pPr>
            <a:r>
              <a:rPr lang="en-US" sz="2646" dirty="0"/>
              <a:t>&lt;2-gram&gt;:&lt;</a:t>
            </a:r>
            <a:r>
              <a:rPr lang="en-US" sz="2646" dirty="0" err="1"/>
              <a:t>număr</a:t>
            </a:r>
            <a:r>
              <a:rPr lang="en-US" sz="2646" dirty="0"/>
              <a:t> de </a:t>
            </a:r>
            <a:r>
              <a:rPr lang="en-US" sz="2646" dirty="0" err="1"/>
              <a:t>apariții</a:t>
            </a:r>
            <a:r>
              <a:rPr lang="en-US" sz="2646" dirty="0"/>
              <a:t>&gt; </a:t>
            </a:r>
            <a:r>
              <a:rPr lang="en-US" sz="2646" dirty="0" err="1"/>
              <a:t>în</a:t>
            </a:r>
            <a:r>
              <a:rPr lang="en-US" sz="2646" dirty="0"/>
              <a:t> </a:t>
            </a:r>
            <a:r>
              <a:rPr lang="en-US" sz="2646" dirty="0">
                <a:solidFill>
                  <a:srgbClr val="FF0000"/>
                </a:solidFill>
              </a:rPr>
              <a:t>s</a:t>
            </a:r>
            <a:r>
              <a:rPr lang="en-US" sz="2646" dirty="0"/>
              <a:t> </a:t>
            </a:r>
            <a:r>
              <a:rPr lang="en-US" sz="2646" dirty="0" err="1"/>
              <a:t>și</a:t>
            </a:r>
            <a:r>
              <a:rPr lang="en-US" sz="2646" dirty="0"/>
              <a:t> </a:t>
            </a:r>
            <a:r>
              <a:rPr lang="en-US" sz="2646" dirty="0">
                <a:solidFill>
                  <a:srgbClr val="0070C0"/>
                </a:solidFill>
              </a:rPr>
              <a:t>t</a:t>
            </a:r>
            <a:r>
              <a:rPr lang="en-US" sz="2646" dirty="0"/>
              <a:t>:</a:t>
            </a:r>
          </a:p>
          <a:p>
            <a:pPr>
              <a:spcAft>
                <a:spcPts val="496"/>
              </a:spcAft>
            </a:pPr>
            <a:endParaRPr lang="en-US" sz="2646" dirty="0"/>
          </a:p>
          <a:p>
            <a:pPr>
              <a:spcAft>
                <a:spcPts val="496"/>
              </a:spcAft>
            </a:pPr>
            <a:r>
              <a:rPr lang="en-US" sz="2646" dirty="0">
                <a:solidFill>
                  <a:srgbClr val="FF0000"/>
                </a:solidFill>
              </a:rPr>
              <a:t>S = {pi:2, in:1, ne:1, ea:1, ap:1, pp:1, pl:1, le:1, e_:1, _p:1}, </a:t>
            </a:r>
          </a:p>
          <a:p>
            <a:pPr>
              <a:spcAft>
                <a:spcPts val="496"/>
              </a:spcAft>
            </a:pPr>
            <a:r>
              <a:rPr lang="en-US" sz="2646" dirty="0">
                <a:solidFill>
                  <a:srgbClr val="0070C0"/>
                </a:solidFill>
              </a:rPr>
              <a:t>T = {ap:1, pp:1, pl:1, le:1, e_:1, _p:1, pi:1, ie:1}</a:t>
            </a:r>
          </a:p>
        </p:txBody>
      </p:sp>
      <p:sp>
        <p:nvSpPr>
          <p:cNvPr id="4" name="Shape 1310">
            <a:extLst>
              <a:ext uri="{FF2B5EF4-FFF2-40B4-BE49-F238E27FC236}">
                <a16:creationId xmlns:a16="http://schemas.microsoft.com/office/drawing/2014/main" id="{1C97CAEA-7F97-FA41-9BD4-2F93194FD376}"/>
              </a:ext>
            </a:extLst>
          </p:cNvPr>
          <p:cNvSpPr txBox="1"/>
          <p:nvPr/>
        </p:nvSpPr>
        <p:spPr>
          <a:xfrm>
            <a:off x="421200" y="345556"/>
            <a:ext cx="9218065" cy="704840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lvl="0" algn="ctr"/>
            <a:r>
              <a:rPr lang="en-US" sz="3968" dirty="0"/>
              <a:t>String kernels</a:t>
            </a:r>
            <a:endParaRPr lang="en" sz="3968" dirty="0"/>
          </a:p>
        </p:txBody>
      </p:sp>
    </p:spTree>
    <p:extLst>
      <p:ext uri="{BB962C8B-B14F-4D97-AF65-F5344CB8AC3E}">
        <p14:creationId xmlns:p14="http://schemas.microsoft.com/office/powerpoint/2010/main" val="28987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0452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26574" y="1842177"/>
                <a:ext cx="9165131" cy="4863391"/>
              </a:xfrm>
            </p:spPr>
            <p:txBody>
              <a:bodyPr lIns="75597" tIns="37798" rIns="75597" bIns="37798">
                <a:normAutofit fontScale="92500"/>
              </a:bodyPr>
              <a:lstStyle/>
              <a:p>
                <a:pPr marL="377979" indent="-377979">
                  <a:spcAft>
                    <a:spcPts val="496"/>
                  </a:spcAft>
                  <a:buFont typeface="Arial" panose="020B0604020202020204" pitchFamily="34" charset="0"/>
                  <a:buChar char="•"/>
                </a:pPr>
                <a:r>
                  <a:rPr lang="en-US" sz="2646" dirty="0"/>
                  <a:t> </a:t>
                </a:r>
                <a:r>
                  <a:rPr lang="en-US" sz="2646" dirty="0" err="1"/>
                  <a:t>Funcția</a:t>
                </a:r>
                <a:r>
                  <a:rPr lang="en-US" sz="2646" dirty="0"/>
                  <a:t> string kernel </a:t>
                </a:r>
                <a:r>
                  <a:rPr lang="en-US" sz="2646" dirty="0" err="1"/>
                  <a:t>bazată</a:t>
                </a:r>
                <a:r>
                  <a:rPr lang="en-US" sz="2646" dirty="0"/>
                  <a:t> </a:t>
                </a:r>
                <a:r>
                  <a:rPr lang="en-US" sz="2646" dirty="0" err="1"/>
                  <a:t>pe</a:t>
                </a:r>
                <a:r>
                  <a:rPr lang="en-US" sz="2646" dirty="0"/>
                  <a:t> </a:t>
                </a:r>
                <a:r>
                  <a:rPr lang="en-US" sz="2646" dirty="0" err="1"/>
                  <a:t>biți</a:t>
                </a:r>
                <a:r>
                  <a:rPr lang="en-US" sz="2646" dirty="0"/>
                  <a:t> de </a:t>
                </a:r>
                <a:r>
                  <a:rPr lang="en-US" sz="2646" dirty="0" err="1"/>
                  <a:t>prezență</a:t>
                </a:r>
                <a:r>
                  <a:rPr lang="en-US" sz="2646" dirty="0"/>
                  <a:t> </a:t>
                </a:r>
                <a:r>
                  <a:rPr lang="en-US" sz="2646" dirty="0" err="1"/>
                  <a:t>este</a:t>
                </a:r>
                <a:r>
                  <a:rPr lang="en-US" sz="2646" dirty="0"/>
                  <a:t> </a:t>
                </a:r>
                <a:r>
                  <a:rPr lang="en-US" sz="2646" dirty="0" err="1"/>
                  <a:t>definită</a:t>
                </a:r>
                <a:r>
                  <a:rPr lang="en-US" sz="2646" dirty="0"/>
                  <a:t> </a:t>
                </a:r>
                <a:r>
                  <a:rPr lang="en-US" sz="2646" dirty="0" err="1"/>
                  <a:t>astfel</a:t>
                </a:r>
                <a:r>
                  <a:rPr lang="en-US" sz="2646" dirty="0"/>
                  <a:t>: </a:t>
                </a:r>
              </a:p>
              <a:p>
                <a:pPr marL="0" indent="0">
                  <a:spcAft>
                    <a:spcPts val="496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46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0/1</m:t>
                          </m:r>
                        </m:sup>
                      </m:sSubSup>
                      <m:d>
                        <m:dPr>
                          <m:ctrlPr>
                            <a:rPr lang="en-US" sz="2646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46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46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646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46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0/1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646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46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646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646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0/1</m:t>
                              </m:r>
                            </m:sup>
                          </m:sSup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46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en-US" sz="2646" dirty="0"/>
              </a:p>
              <a:p>
                <a:pPr marL="377979" indent="-377979">
                  <a:spcAft>
                    <a:spcPts val="496"/>
                  </a:spcAft>
                  <a:buFont typeface="Arial" panose="020B0604020202020204" pitchFamily="34" charset="0"/>
                  <a:buChar char="•"/>
                </a:pPr>
                <a:r>
                  <a:rPr lang="en-US" sz="2646" dirty="0" err="1"/>
                  <a:t>Exemplu</a:t>
                </a:r>
                <a:r>
                  <a:rPr lang="en-US" sz="2646" dirty="0"/>
                  <a:t> (</a:t>
                </a:r>
                <a:r>
                  <a:rPr lang="en-US" sz="2646" dirty="0" err="1"/>
                  <a:t>continuare</a:t>
                </a:r>
                <a:r>
                  <a:rPr lang="en-US" sz="2646" dirty="0"/>
                  <a:t>):</a:t>
                </a:r>
              </a:p>
              <a:p>
                <a:pPr marL="0" indent="0">
                  <a:spcAft>
                    <a:spcPts val="496"/>
                  </a:spcAft>
                  <a:buNone/>
                </a:pPr>
                <a:r>
                  <a:rPr lang="en-US" sz="2646" dirty="0"/>
                  <a:t>S = {</a:t>
                </a:r>
                <a:r>
                  <a:rPr lang="en-US" sz="2646" dirty="0">
                    <a:solidFill>
                      <a:srgbClr val="FF0000"/>
                    </a:solidFill>
                  </a:rPr>
                  <a:t>pi:2</a:t>
                </a:r>
                <a:r>
                  <a:rPr lang="en-US" sz="2646" dirty="0"/>
                  <a:t>, in:1, ne:1, ea:1, </a:t>
                </a:r>
                <a:r>
                  <a:rPr lang="en-US" sz="2646" dirty="0">
                    <a:solidFill>
                      <a:srgbClr val="0070C0"/>
                    </a:solidFill>
                  </a:rPr>
                  <a:t>ap:1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00B050"/>
                    </a:solidFill>
                  </a:rPr>
                  <a:t>pp:1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FFC000"/>
                    </a:solidFill>
                  </a:rPr>
                  <a:t>pl:1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7030A0"/>
                    </a:solidFill>
                  </a:rPr>
                  <a:t>le:1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C00000"/>
                    </a:solidFill>
                  </a:rPr>
                  <a:t>e_:1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00B0F0"/>
                    </a:solidFill>
                  </a:rPr>
                  <a:t>_p:1</a:t>
                </a:r>
                <a:r>
                  <a:rPr lang="en-US" sz="2646" dirty="0"/>
                  <a:t>}, </a:t>
                </a:r>
              </a:p>
              <a:p>
                <a:pPr marL="0" indent="0">
                  <a:spcAft>
                    <a:spcPts val="496"/>
                  </a:spcAft>
                  <a:buNone/>
                </a:pPr>
                <a:r>
                  <a:rPr lang="en-US" sz="2646" dirty="0"/>
                  <a:t>T = {</a:t>
                </a:r>
                <a:r>
                  <a:rPr lang="en-US" sz="2646" dirty="0">
                    <a:solidFill>
                      <a:srgbClr val="0070C0"/>
                    </a:solidFill>
                  </a:rPr>
                  <a:t>ap:1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00B050"/>
                    </a:solidFill>
                  </a:rPr>
                  <a:t>pp:1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FFC000"/>
                    </a:solidFill>
                  </a:rPr>
                  <a:t>pl:1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7030A0"/>
                    </a:solidFill>
                  </a:rPr>
                  <a:t>le:1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C00000"/>
                    </a:solidFill>
                  </a:rPr>
                  <a:t>e_:1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00B0F0"/>
                    </a:solidFill>
                  </a:rPr>
                  <a:t>_p:1</a:t>
                </a:r>
                <a:r>
                  <a:rPr lang="en-US" sz="2646" dirty="0"/>
                  <a:t>, </a:t>
                </a:r>
                <a:r>
                  <a:rPr lang="en-US" sz="2646" dirty="0">
                    <a:solidFill>
                      <a:srgbClr val="FF0000"/>
                    </a:solidFill>
                  </a:rPr>
                  <a:t>pi:1</a:t>
                </a:r>
                <a:r>
                  <a:rPr lang="en-US" sz="2646" dirty="0"/>
                  <a:t>, ie:1}</a:t>
                </a:r>
              </a:p>
              <a:p>
                <a:pPr marL="0" indent="0">
                  <a:spcAft>
                    <a:spcPts val="496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646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0/1</m:t>
                        </m:r>
                      </m:sup>
                    </m:sSubSup>
                    <m:d>
                      <m:dPr>
                        <m:ctrlPr>
                          <a:rPr lang="en-US" sz="2646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46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646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646" dirty="0"/>
                  <a:t> </a:t>
                </a:r>
                <a14:m>
                  <m:oMath xmlns:m="http://schemas.openxmlformats.org/officeDocument/2006/math">
                    <m:r>
                      <a:rPr lang="en-US" sz="2646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46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46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</m:oMath>
                </a14:m>
                <a:endParaRPr lang="en-US" sz="2646" dirty="0"/>
              </a:p>
              <a:p>
                <a:pPr marL="0" indent="0">
                  <a:spcAft>
                    <a:spcPts val="496"/>
                  </a:spcAft>
                  <a:buNone/>
                </a:pPr>
                <a:r>
                  <a:rPr lang="en-US" sz="2646" dirty="0"/>
                  <a:t> </a:t>
                </a:r>
                <a14:m>
                  <m:oMath xmlns:m="http://schemas.openxmlformats.org/officeDocument/2006/math">
                    <m:r>
                      <a:rPr lang="en-US" sz="2646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=1+1+1+1+1+1+1</m:t>
                    </m:r>
                  </m:oMath>
                </a14:m>
                <a:endParaRPr lang="en-US" sz="2646" dirty="0"/>
              </a:p>
              <a:p>
                <a:pPr marL="0" indent="0">
                  <a:spcAft>
                    <a:spcPts val="496"/>
                  </a:spcAft>
                  <a:buNone/>
                </a:pPr>
                <a:r>
                  <a:rPr lang="en-US" sz="2646" dirty="0"/>
                  <a:t> </a:t>
                </a:r>
                <a14:m>
                  <m:oMath xmlns:m="http://schemas.openxmlformats.org/officeDocument/2006/math">
                    <m:r>
                      <a:rPr lang="en-US" sz="2646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sz="2646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646" dirty="0"/>
                  <a:t> </a:t>
                </a:r>
              </a:p>
              <a:p>
                <a:pPr marL="377979" indent="-377979">
                  <a:spcAft>
                    <a:spcPts val="496"/>
                  </a:spcAft>
                </a:pPr>
                <a:endParaRPr lang="en-US" sz="2646" dirty="0"/>
              </a:p>
            </p:txBody>
          </p:sp>
        </mc:Choice>
        <mc:Fallback xmlns="">
          <p:sp>
            <p:nvSpPr>
              <p:cNvPr id="36045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26574" y="1842177"/>
                <a:ext cx="9165131" cy="4863391"/>
              </a:xfrm>
              <a:blipFill>
                <a:blip r:embed="rId3"/>
                <a:stretch>
                  <a:fillRect l="-1247" t="-13281" b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1310">
            <a:extLst>
              <a:ext uri="{FF2B5EF4-FFF2-40B4-BE49-F238E27FC236}">
                <a16:creationId xmlns:a16="http://schemas.microsoft.com/office/drawing/2014/main" id="{BB36D306-6555-F040-BFA7-45421870E36A}"/>
              </a:ext>
            </a:extLst>
          </p:cNvPr>
          <p:cNvSpPr txBox="1"/>
          <p:nvPr/>
        </p:nvSpPr>
        <p:spPr>
          <a:xfrm>
            <a:off x="421200" y="345556"/>
            <a:ext cx="9218065" cy="704840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algn="ctr"/>
            <a:r>
              <a:rPr lang="en-US" sz="3968" dirty="0"/>
              <a:t>String kernel </a:t>
            </a:r>
            <a:r>
              <a:rPr lang="en-US" sz="3968" dirty="0" err="1"/>
              <a:t>bazat</a:t>
            </a:r>
            <a:r>
              <a:rPr lang="en-US" sz="3968" dirty="0"/>
              <a:t> </a:t>
            </a:r>
            <a:r>
              <a:rPr lang="en-US" sz="3968" dirty="0" err="1"/>
              <a:t>pe</a:t>
            </a:r>
            <a:r>
              <a:rPr lang="en-US" sz="3968" dirty="0"/>
              <a:t> </a:t>
            </a:r>
            <a:r>
              <a:rPr lang="en-US" sz="3968" dirty="0" err="1"/>
              <a:t>biți</a:t>
            </a:r>
            <a:r>
              <a:rPr lang="en-US" sz="3968" dirty="0"/>
              <a:t> de </a:t>
            </a:r>
            <a:r>
              <a:rPr lang="en-US" sz="3968" dirty="0" err="1"/>
              <a:t>presență</a:t>
            </a:r>
            <a:endParaRPr lang="en-US" sz="3968" dirty="0"/>
          </a:p>
        </p:txBody>
      </p:sp>
    </p:spTree>
    <p:extLst>
      <p:ext uri="{BB962C8B-B14F-4D97-AF65-F5344CB8AC3E}">
        <p14:creationId xmlns:p14="http://schemas.microsoft.com/office/powerpoint/2010/main" val="14700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17"/>
          <p:cNvSpPr txBox="1"/>
          <p:nvPr/>
        </p:nvSpPr>
        <p:spPr>
          <a:xfrm>
            <a:off x="421199" y="1412111"/>
            <a:ext cx="9218066" cy="5611756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400" dirty="0" err="1"/>
              <a:t>Obțin</a:t>
            </a:r>
            <a:r>
              <a:rPr lang="en-US" sz="2400" dirty="0"/>
              <a:t> </a:t>
            </a:r>
            <a:r>
              <a:rPr lang="en-US" sz="2400" dirty="0" err="1"/>
              <a:t>rezultate</a:t>
            </a:r>
            <a:r>
              <a:rPr lang="en-US" sz="2400" dirty="0"/>
              <a:t> state-of-the-art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anumite</a:t>
            </a: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: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Native Language Identification [Ionescu &amp; Popescu, BEA17]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Arabic Dialect Identification [</a:t>
            </a:r>
            <a:r>
              <a:rPr lang="en-US" sz="2400" dirty="0" err="1"/>
              <a:t>Butnaru</a:t>
            </a:r>
            <a:r>
              <a:rPr lang="en-US" sz="2400" dirty="0"/>
              <a:t> &amp; Ionescu, VarDial18]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Romanian Dialect Identification [</a:t>
            </a:r>
            <a:r>
              <a:rPr lang="en-US" sz="2400" dirty="0" err="1"/>
              <a:t>Butnaru</a:t>
            </a:r>
            <a:r>
              <a:rPr lang="en-US" sz="2400" dirty="0"/>
              <a:t> &amp; Ionescu, ACL19]</a:t>
            </a:r>
          </a:p>
          <a:p>
            <a:endParaRPr lang="en-US" sz="2400" dirty="0"/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400" dirty="0"/>
              <a:t>Utile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obținerea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reprezentări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compacte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cazul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care:</a:t>
            </a:r>
          </a:p>
          <a:p>
            <a:r>
              <a:rPr lang="en-US" sz="2400" dirty="0" err="1"/>
              <a:t>numărul</a:t>
            </a:r>
            <a:r>
              <a:rPr lang="en-US" sz="2400" dirty="0"/>
              <a:t> de </a:t>
            </a:r>
            <a:r>
              <a:rPr lang="en-US" sz="2400" dirty="0" err="1"/>
              <a:t>exemple</a:t>
            </a:r>
            <a:r>
              <a:rPr lang="en-US" sz="2400" dirty="0"/>
              <a:t> &lt;&lt; </a:t>
            </a:r>
            <a:r>
              <a:rPr lang="en-US" sz="2400" dirty="0" err="1"/>
              <a:t>numărul</a:t>
            </a:r>
            <a:r>
              <a:rPr lang="en-US" sz="2400" dirty="0"/>
              <a:t> de </a:t>
            </a:r>
            <a:r>
              <a:rPr lang="en-US" sz="2400" dirty="0" err="1"/>
              <a:t>trăsături</a:t>
            </a:r>
            <a:endParaRPr lang="en-US" sz="2400" dirty="0"/>
          </a:p>
          <a:p>
            <a:endParaRPr lang="en-US" sz="2400" dirty="0"/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400" dirty="0" err="1"/>
              <a:t>Numărul</a:t>
            </a:r>
            <a:r>
              <a:rPr lang="en-US" sz="2400" dirty="0"/>
              <a:t> de n-</a:t>
            </a:r>
            <a:r>
              <a:rPr lang="en-US" sz="2400" dirty="0" err="1"/>
              <a:t>grame</a:t>
            </a:r>
            <a:r>
              <a:rPr lang="en-US" sz="2400" dirty="0"/>
              <a:t> </a:t>
            </a:r>
            <a:r>
              <a:rPr lang="en-US" sz="2400" dirty="0" err="1"/>
              <a:t>unice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setul</a:t>
            </a:r>
            <a:r>
              <a:rPr lang="en-US" sz="2400" dirty="0"/>
              <a:t> de date TOEFL11: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4,662,520</a:t>
            </a:r>
          </a:p>
          <a:p>
            <a:endParaRPr lang="en-US" sz="2400" dirty="0"/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400" dirty="0"/>
              <a:t>… versus </a:t>
            </a:r>
            <a:r>
              <a:rPr lang="en-US" sz="2400" dirty="0" err="1"/>
              <a:t>numărul</a:t>
            </a:r>
            <a:r>
              <a:rPr lang="en-US" sz="2400" dirty="0"/>
              <a:t> de </a:t>
            </a:r>
            <a:r>
              <a:rPr lang="en-US" sz="2400" dirty="0" err="1"/>
              <a:t>exemple</a:t>
            </a:r>
            <a:r>
              <a:rPr lang="en-US" sz="2400" dirty="0"/>
              <a:t> de </a:t>
            </a:r>
            <a:r>
              <a:rPr lang="en-US" sz="2400" dirty="0" err="1"/>
              <a:t>antrenare</a:t>
            </a:r>
            <a:r>
              <a:rPr lang="en-US" sz="2400" dirty="0"/>
              <a:t>: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11,000</a:t>
            </a:r>
          </a:p>
          <a:p>
            <a:pPr marL="377979" indent="-377979">
              <a:buFont typeface="Arial" panose="020B0604020202020204" pitchFamily="34" charset="0"/>
              <a:buChar char="•"/>
            </a:pPr>
            <a:endParaRPr lang="en-US" sz="2646" dirty="0">
              <a:solidFill>
                <a:schemeClr val="accent1"/>
              </a:solidFill>
            </a:endParaRPr>
          </a:p>
        </p:txBody>
      </p:sp>
      <p:sp>
        <p:nvSpPr>
          <p:cNvPr id="4" name="Shape 1310">
            <a:extLst>
              <a:ext uri="{FF2B5EF4-FFF2-40B4-BE49-F238E27FC236}">
                <a16:creationId xmlns:a16="http://schemas.microsoft.com/office/drawing/2014/main" id="{5746EAB0-7258-1046-93E9-2DCE00F92E1E}"/>
              </a:ext>
            </a:extLst>
          </p:cNvPr>
          <p:cNvSpPr txBox="1"/>
          <p:nvPr/>
        </p:nvSpPr>
        <p:spPr>
          <a:xfrm>
            <a:off x="421200" y="345557"/>
            <a:ext cx="9218065" cy="906431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lvl="0" algn="ctr"/>
            <a:r>
              <a:rPr lang="en" sz="3968" dirty="0"/>
              <a:t>De </a:t>
            </a:r>
            <a:r>
              <a:rPr lang="en" sz="3968" dirty="0" err="1"/>
              <a:t>ce</a:t>
            </a:r>
            <a:r>
              <a:rPr lang="en" sz="3968" dirty="0"/>
              <a:t> </a:t>
            </a:r>
            <a:r>
              <a:rPr lang="en" sz="3968" dirty="0" err="1"/>
              <a:t>metode</a:t>
            </a:r>
            <a:r>
              <a:rPr lang="en" sz="3968" dirty="0"/>
              <a:t> kernel?</a:t>
            </a:r>
          </a:p>
        </p:txBody>
      </p:sp>
    </p:spTree>
    <p:extLst>
      <p:ext uri="{BB962C8B-B14F-4D97-AF65-F5344CB8AC3E}">
        <p14:creationId xmlns:p14="http://schemas.microsoft.com/office/powerpoint/2010/main" val="348526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10">
            <a:extLst>
              <a:ext uri="{FF2B5EF4-FFF2-40B4-BE49-F238E27FC236}">
                <a16:creationId xmlns:a16="http://schemas.microsoft.com/office/drawing/2014/main" id="{5746EAB0-7258-1046-93E9-2DCE00F92E1E}"/>
              </a:ext>
            </a:extLst>
          </p:cNvPr>
          <p:cNvSpPr txBox="1"/>
          <p:nvPr/>
        </p:nvSpPr>
        <p:spPr>
          <a:xfrm>
            <a:off x="421201" y="1342663"/>
            <a:ext cx="9228144" cy="1751195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" sz="2800" dirty="0" err="1"/>
              <a:t>Generalizează</a:t>
            </a:r>
            <a:r>
              <a:rPr lang="en" sz="2800" dirty="0"/>
              <a:t> </a:t>
            </a:r>
            <a:r>
              <a:rPr lang="en" sz="2800" dirty="0" err="1"/>
              <a:t>mai</a:t>
            </a:r>
            <a:r>
              <a:rPr lang="en" sz="2800" dirty="0"/>
              <a:t> bine </a:t>
            </a:r>
            <a:r>
              <a:rPr lang="en" sz="2800" dirty="0" err="1"/>
              <a:t>decât</a:t>
            </a:r>
            <a:r>
              <a:rPr lang="en" sz="2800" dirty="0"/>
              <a:t> </a:t>
            </a:r>
            <a:r>
              <a:rPr lang="en" sz="2800" dirty="0" err="1"/>
              <a:t>cuvintele</a:t>
            </a:r>
            <a:endParaRPr lang="en" sz="28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" sz="2800" dirty="0" err="1"/>
              <a:t>Exemple</a:t>
            </a:r>
            <a:r>
              <a:rPr lang="en" sz="2800" dirty="0"/>
              <a:t> de transfer al </a:t>
            </a:r>
            <a:r>
              <a:rPr lang="en" sz="2800" dirty="0" err="1"/>
              <a:t>limbii</a:t>
            </a:r>
            <a:r>
              <a:rPr lang="en" sz="2800" dirty="0"/>
              <a:t> native din TOEFL11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F180B-2102-E24B-9F01-DCFB82EF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" y="3429525"/>
            <a:ext cx="10079567" cy="3640599"/>
          </a:xfrm>
          <a:prstGeom prst="rect">
            <a:avLst/>
          </a:prstGeom>
        </p:spPr>
      </p:pic>
      <p:sp>
        <p:nvSpPr>
          <p:cNvPr id="5" name="Shape 1310">
            <a:extLst>
              <a:ext uri="{FF2B5EF4-FFF2-40B4-BE49-F238E27FC236}">
                <a16:creationId xmlns:a16="http://schemas.microsoft.com/office/drawing/2014/main" id="{ECDBE8C9-CA5E-C946-8C6C-6F973E5830CC}"/>
              </a:ext>
            </a:extLst>
          </p:cNvPr>
          <p:cNvSpPr txBox="1"/>
          <p:nvPr/>
        </p:nvSpPr>
        <p:spPr>
          <a:xfrm>
            <a:off x="421200" y="345557"/>
            <a:ext cx="9218065" cy="906431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lvl="0" algn="ctr"/>
            <a:r>
              <a:rPr lang="en" sz="3968" dirty="0"/>
              <a:t>De </a:t>
            </a:r>
            <a:r>
              <a:rPr lang="en" sz="3968" dirty="0" err="1"/>
              <a:t>ce</a:t>
            </a:r>
            <a:r>
              <a:rPr lang="en" sz="3968" dirty="0"/>
              <a:t> </a:t>
            </a:r>
            <a:r>
              <a:rPr lang="en" sz="3968" dirty="0" err="1"/>
              <a:t>metode</a:t>
            </a:r>
            <a:r>
              <a:rPr lang="en" sz="3968" dirty="0"/>
              <a:t> kernel?</a:t>
            </a:r>
          </a:p>
        </p:txBody>
      </p:sp>
    </p:spTree>
    <p:extLst>
      <p:ext uri="{BB962C8B-B14F-4D97-AF65-F5344CB8AC3E}">
        <p14:creationId xmlns:p14="http://schemas.microsoft.com/office/powerpoint/2010/main" val="2386470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17"/>
          <p:cNvSpPr txBox="1"/>
          <p:nvPr/>
        </p:nvSpPr>
        <p:spPr>
          <a:xfrm>
            <a:off x="175826" y="1251988"/>
            <a:ext cx="9718017" cy="6121434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205" dirty="0"/>
              <a:t>{</a:t>
            </a:r>
            <a:r>
              <a:rPr lang="en-US" sz="2205" dirty="0" err="1"/>
              <a:t>onnal</a:t>
            </a:r>
            <a:r>
              <a:rPr lang="en-US" sz="2205" dirty="0"/>
              <a:t>}</a:t>
            </a:r>
          </a:p>
          <a:p>
            <a:r>
              <a:rPr lang="en-US" sz="2205" i="1" dirty="0"/>
              <a:t>“…many academics subjects. </a:t>
            </a:r>
            <a:r>
              <a:rPr lang="en-US" sz="2205" i="1" dirty="0" err="1"/>
              <a:t>Additi</a:t>
            </a:r>
            <a:r>
              <a:rPr lang="en-US" sz="2205" i="1" dirty="0" err="1">
                <a:solidFill>
                  <a:srgbClr val="FF0000"/>
                </a:solidFill>
              </a:rPr>
              <a:t>onnal</a:t>
            </a:r>
            <a:r>
              <a:rPr lang="en-US" sz="2205" i="1" dirty="0" err="1"/>
              <a:t>ly</a:t>
            </a:r>
            <a:r>
              <a:rPr lang="en-US" sz="2205" i="1" dirty="0"/>
              <a:t>, people always have a subject…”</a:t>
            </a:r>
          </a:p>
          <a:p>
            <a:r>
              <a:rPr lang="en-US" sz="2205" i="1" dirty="0"/>
              <a:t>“I would not be in control of my </a:t>
            </a:r>
            <a:r>
              <a:rPr lang="en-US" sz="2205" i="1" dirty="0" err="1"/>
              <a:t>pers</a:t>
            </a:r>
            <a:r>
              <a:rPr lang="en-US" sz="2205" i="1" dirty="0" err="1">
                <a:solidFill>
                  <a:srgbClr val="FF0000"/>
                </a:solidFill>
              </a:rPr>
              <a:t>onnal</a:t>
            </a:r>
            <a:r>
              <a:rPr lang="en-US" sz="2205" i="1" dirty="0"/>
              <a:t> schedule during the trip.”</a:t>
            </a:r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205" dirty="0"/>
              <a:t>{</a:t>
            </a:r>
            <a:r>
              <a:rPr lang="en-US" sz="2205" dirty="0" err="1"/>
              <a:t>evelopp</a:t>
            </a:r>
            <a:r>
              <a:rPr lang="en-US" sz="2205" dirty="0"/>
              <a:t>}</a:t>
            </a:r>
          </a:p>
          <a:p>
            <a:r>
              <a:rPr lang="en-US" sz="2205" i="1" dirty="0"/>
              <a:t>“…and who will have the curiosity to </a:t>
            </a:r>
            <a:r>
              <a:rPr lang="en-US" sz="2205" i="1" dirty="0" err="1"/>
              <a:t>d</a:t>
            </a:r>
            <a:r>
              <a:rPr lang="en-US" sz="2205" i="1" dirty="0" err="1">
                <a:solidFill>
                  <a:srgbClr val="FF0000"/>
                </a:solidFill>
              </a:rPr>
              <a:t>evelopp</a:t>
            </a:r>
            <a:r>
              <a:rPr lang="en-US" sz="2205" i="1" dirty="0"/>
              <a:t> research on the disease.”</a:t>
            </a:r>
          </a:p>
          <a:p>
            <a:r>
              <a:rPr lang="en-US" sz="2205" i="1" dirty="0"/>
              <a:t>“…be able to do so. </a:t>
            </a:r>
            <a:r>
              <a:rPr lang="en-US" sz="2205" i="1" dirty="0" err="1"/>
              <a:t>Underd</a:t>
            </a:r>
            <a:r>
              <a:rPr lang="en-US" sz="2205" i="1" dirty="0" err="1">
                <a:solidFill>
                  <a:srgbClr val="FF0000"/>
                </a:solidFill>
              </a:rPr>
              <a:t>evelopp</a:t>
            </a:r>
            <a:r>
              <a:rPr lang="en-US" sz="2205" i="1" dirty="0" err="1"/>
              <a:t>ed</a:t>
            </a:r>
            <a:r>
              <a:rPr lang="en-US" sz="2205" i="1" dirty="0"/>
              <a:t> countries are a case in point.”</a:t>
            </a:r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205" dirty="0"/>
              <a:t>{n France}</a:t>
            </a:r>
          </a:p>
          <a:p>
            <a:r>
              <a:rPr lang="en-US" sz="2205" i="1" dirty="0"/>
              <a:t>“…studied law in both England and i</a:t>
            </a:r>
            <a:r>
              <a:rPr lang="en-US" sz="2205" i="1" dirty="0">
                <a:solidFill>
                  <a:srgbClr val="FF0000"/>
                </a:solidFill>
              </a:rPr>
              <a:t>n France</a:t>
            </a:r>
            <a:r>
              <a:rPr lang="en-US" sz="2205" i="1" dirty="0"/>
              <a:t>, I have had the chance…”</a:t>
            </a:r>
          </a:p>
          <a:p>
            <a:r>
              <a:rPr lang="en-US" sz="2205" i="1" dirty="0"/>
              <a:t>“Numbers have actually shown that i</a:t>
            </a:r>
            <a:r>
              <a:rPr lang="en-US" sz="2205" i="1" dirty="0">
                <a:solidFill>
                  <a:srgbClr val="FF0000"/>
                </a:solidFill>
              </a:rPr>
              <a:t>n France</a:t>
            </a:r>
            <a:r>
              <a:rPr lang="en-US" sz="2205" i="1" dirty="0"/>
              <a:t> the number of new cars…”</a:t>
            </a:r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205" dirty="0"/>
              <a:t>{to </a:t>
            </a:r>
            <a:r>
              <a:rPr lang="en-US" sz="2205" dirty="0" err="1"/>
              <a:t>conc</a:t>
            </a:r>
            <a:r>
              <a:rPr lang="en-US" sz="2205" dirty="0"/>
              <a:t>}</a:t>
            </a:r>
          </a:p>
          <a:p>
            <a:r>
              <a:rPr lang="en-US" sz="2205" i="1" dirty="0"/>
              <a:t>“…without a tour guide. </a:t>
            </a:r>
            <a:r>
              <a:rPr lang="en-US" sz="2205" i="1" dirty="0">
                <a:solidFill>
                  <a:srgbClr val="FF0000"/>
                </a:solidFill>
              </a:rPr>
              <a:t>To conc</a:t>
            </a:r>
            <a:r>
              <a:rPr lang="en-US" sz="2205" i="1" dirty="0"/>
              <a:t>lude, there are several advantages…”</a:t>
            </a:r>
          </a:p>
          <a:p>
            <a:r>
              <a:rPr lang="en-US" sz="2205" i="1" dirty="0"/>
              <a:t>“…job they will enjoy. </a:t>
            </a:r>
            <a:r>
              <a:rPr lang="en-US" sz="2205" i="1" dirty="0">
                <a:solidFill>
                  <a:srgbClr val="FF0000"/>
                </a:solidFill>
              </a:rPr>
              <a:t>To conc</a:t>
            </a:r>
            <a:r>
              <a:rPr lang="en-US" sz="2205" i="1" dirty="0"/>
              <a:t>lude, I think that the best solution is…”</a:t>
            </a:r>
          </a:p>
          <a:p>
            <a:pPr marL="377979" indent="-377979">
              <a:buFont typeface="Arial" panose="020B0604020202020204" pitchFamily="34" charset="0"/>
              <a:buChar char="•"/>
            </a:pPr>
            <a:r>
              <a:rPr lang="en-US" sz="2205" dirty="0"/>
              <a:t>{</a:t>
            </a:r>
            <a:r>
              <a:rPr lang="en-US" sz="2205" dirty="0" err="1"/>
              <a:t>exemple</a:t>
            </a:r>
            <a:r>
              <a:rPr lang="en-US" sz="2205" dirty="0"/>
              <a:t>}</a:t>
            </a:r>
          </a:p>
          <a:p>
            <a:r>
              <a:rPr lang="en-US" sz="2205" i="1" dirty="0"/>
              <a:t>“…after using them. </a:t>
            </a:r>
            <a:r>
              <a:rPr lang="en-US" sz="2205" i="1" dirty="0" err="1"/>
              <a:t>Onother</a:t>
            </a:r>
            <a:r>
              <a:rPr lang="en-US" sz="2205" i="1" dirty="0"/>
              <a:t> </a:t>
            </a:r>
            <a:r>
              <a:rPr lang="en-US" sz="2205" i="1" dirty="0" err="1">
                <a:solidFill>
                  <a:srgbClr val="FF0000"/>
                </a:solidFill>
              </a:rPr>
              <a:t>exemple</a:t>
            </a:r>
            <a:r>
              <a:rPr lang="en-US" sz="2205" i="1" dirty="0"/>
              <a:t> is my underwear that I </a:t>
            </a:r>
            <a:r>
              <a:rPr lang="en-US" sz="2205" i="1" dirty="0" err="1"/>
              <a:t>bougth</a:t>
            </a:r>
            <a:r>
              <a:rPr lang="en-US" sz="2205" i="1" dirty="0"/>
              <a:t>…”</a:t>
            </a:r>
          </a:p>
          <a:p>
            <a:r>
              <a:rPr lang="en-US" sz="2205" i="1" dirty="0"/>
              <a:t>“Science is a great </a:t>
            </a:r>
            <a:r>
              <a:rPr lang="en-US" sz="2205" i="1" dirty="0" err="1">
                <a:solidFill>
                  <a:srgbClr val="FF0000"/>
                </a:solidFill>
              </a:rPr>
              <a:t>exemple</a:t>
            </a:r>
            <a:r>
              <a:rPr lang="en-US" sz="2205" i="1" dirty="0"/>
              <a:t> of how successful people want to improve…”</a:t>
            </a:r>
          </a:p>
        </p:txBody>
      </p:sp>
      <p:sp>
        <p:nvSpPr>
          <p:cNvPr id="4" name="Shape 1310">
            <a:extLst>
              <a:ext uri="{FF2B5EF4-FFF2-40B4-BE49-F238E27FC236}">
                <a16:creationId xmlns:a16="http://schemas.microsoft.com/office/drawing/2014/main" id="{5746EAB0-7258-1046-93E9-2DCE00F92E1E}"/>
              </a:ext>
            </a:extLst>
          </p:cNvPr>
          <p:cNvSpPr txBox="1"/>
          <p:nvPr/>
        </p:nvSpPr>
        <p:spPr>
          <a:xfrm>
            <a:off x="421200" y="345557"/>
            <a:ext cx="9218065" cy="906431"/>
          </a:xfrm>
          <a:prstGeom prst="rect">
            <a:avLst/>
          </a:prstGeom>
          <a:noFill/>
          <a:ln>
            <a:noFill/>
          </a:ln>
        </p:spPr>
        <p:txBody>
          <a:bodyPr lIns="100779" tIns="100779" rIns="100779" bIns="100779" anchor="t" anchorCtr="0">
            <a:noAutofit/>
          </a:bodyPr>
          <a:lstStyle/>
          <a:p>
            <a:pPr lvl="0" algn="ctr"/>
            <a:r>
              <a:rPr lang="en" sz="3968" dirty="0" err="1"/>
              <a:t>Exemple</a:t>
            </a:r>
            <a:r>
              <a:rPr lang="en" sz="3968" dirty="0"/>
              <a:t> pe </a:t>
            </a:r>
            <a:r>
              <a:rPr lang="en" sz="3968" dirty="0" err="1"/>
              <a:t>cazul</a:t>
            </a:r>
            <a:r>
              <a:rPr lang="en" sz="3968" dirty="0"/>
              <a:t> </a:t>
            </a:r>
            <a:r>
              <a:rPr lang="en" sz="3968" dirty="0" err="1"/>
              <a:t>French→English</a:t>
            </a:r>
            <a:endParaRPr lang="en" sz="3968" dirty="0"/>
          </a:p>
        </p:txBody>
      </p:sp>
    </p:spTree>
    <p:extLst>
      <p:ext uri="{BB962C8B-B14F-4D97-AF65-F5344CB8AC3E}">
        <p14:creationId xmlns:p14="http://schemas.microsoft.com/office/powerpoint/2010/main" val="282061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Noi funcții kernel din combinații</a:t>
            </a:r>
          </a:p>
        </p:txBody>
      </p:sp>
      <p:sp>
        <p:nvSpPr>
          <p:cNvPr id="242" name="TextShape 2"/>
          <p:cNvSpPr txBox="1"/>
          <p:nvPr/>
        </p:nvSpPr>
        <p:spPr>
          <a:xfrm>
            <a:off x="253800" y="1656720"/>
            <a:ext cx="9327960" cy="181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Fiind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date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două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 k1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k2,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constantă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pozitivă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a,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 cu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matrice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simetrică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pozitiv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semi-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B,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următoarele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43" name="Picture 242"/>
          <p:cNvPicPr/>
          <p:nvPr/>
        </p:nvPicPr>
        <p:blipFill>
          <a:blip r:embed="rId2"/>
          <a:stretch/>
        </p:blipFill>
        <p:spPr>
          <a:xfrm>
            <a:off x="1942920" y="3364920"/>
            <a:ext cx="6375240" cy="3531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/>
          <a:p>
            <a:pPr algn="ctr" eaLnBrk="1" hangingPunct="1"/>
            <a:r>
              <a:rPr lang="en-US" sz="1984" b="1" dirty="0"/>
              <a:t>Forma </a:t>
            </a:r>
            <a:r>
              <a:rPr lang="en-US" sz="1984" b="1" dirty="0" err="1"/>
              <a:t>primală</a:t>
            </a:r>
            <a:endParaRPr lang="en-US" sz="1984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1A18E-48B6-0B4D-90CB-8E6A403FB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6" y="537777"/>
            <a:ext cx="8897012" cy="68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29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E10787-54C6-184A-8CDA-C3AF2308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5" y="551458"/>
            <a:ext cx="8806357" cy="683651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0327EB4-B878-9B4A-BCC4-4B7E29B24400}"/>
              </a:ext>
            </a:extLst>
          </p:cNvPr>
          <p:cNvSpPr txBox="1">
            <a:spLocks noChangeArrowheads="1"/>
          </p:cNvSpPr>
          <p:nvPr/>
        </p:nvSpPr>
        <p:spPr>
          <a:xfrm>
            <a:off x="138461" y="137930"/>
            <a:ext cx="9803705" cy="345659"/>
          </a:xfrm>
        </p:spPr>
        <p:txBody>
          <a:bodyPr lIns="75597" tIns="37798" rIns="75597" bIns="37798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1984" b="1" dirty="0"/>
              <a:t>Forma </a:t>
            </a:r>
            <a:r>
              <a:rPr lang="en-US" sz="1984" b="1" dirty="0" err="1"/>
              <a:t>duală</a:t>
            </a:r>
            <a:endParaRPr lang="en-US" sz="1984" b="1" dirty="0"/>
          </a:p>
        </p:txBody>
      </p:sp>
    </p:spTree>
    <p:extLst>
      <p:ext uri="{BB962C8B-B14F-4D97-AF65-F5344CB8AC3E}">
        <p14:creationId xmlns:p14="http://schemas.microsoft.com/office/powerpoint/2010/main" val="496843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Normalizarea datelor</a:t>
            </a:r>
          </a:p>
        </p:txBody>
      </p:sp>
      <p:sp>
        <p:nvSpPr>
          <p:cNvPr id="245" name="TextShape 2"/>
          <p:cNvSpPr txBox="1"/>
          <p:nvPr/>
        </p:nvSpPr>
        <p:spPr>
          <a:xfrm>
            <a:off x="181800" y="1692720"/>
            <a:ext cx="9327960" cy="4250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forma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primală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forma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duală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Direct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matricea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kernel: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46" name="Picture 245"/>
          <p:cNvPicPr/>
          <p:nvPr/>
        </p:nvPicPr>
        <p:blipFill>
          <a:blip r:embed="rId2"/>
          <a:stretch/>
        </p:blipFill>
        <p:spPr>
          <a:xfrm>
            <a:off x="440640" y="2243880"/>
            <a:ext cx="4973760" cy="1261800"/>
          </a:xfrm>
          <a:prstGeom prst="rect">
            <a:avLst/>
          </a:prstGeom>
          <a:ln>
            <a:noFill/>
          </a:ln>
        </p:spPr>
      </p:pic>
      <p:pic>
        <p:nvPicPr>
          <p:cNvPr id="247" name="Picture 246"/>
          <p:cNvPicPr/>
          <p:nvPr/>
        </p:nvPicPr>
        <p:blipFill>
          <a:blip r:embed="rId3"/>
          <a:stretch/>
        </p:blipFill>
        <p:spPr>
          <a:xfrm>
            <a:off x="509760" y="4023360"/>
            <a:ext cx="5819040" cy="1267920"/>
          </a:xfrm>
          <a:prstGeom prst="rect">
            <a:avLst/>
          </a:prstGeom>
          <a:ln>
            <a:noFill/>
          </a:ln>
        </p:spPr>
      </p:pic>
      <p:pic>
        <p:nvPicPr>
          <p:cNvPr id="248" name="Picture 247"/>
          <p:cNvPicPr/>
          <p:nvPr/>
        </p:nvPicPr>
        <p:blipFill>
          <a:blip r:embed="rId4"/>
          <a:stretch/>
        </p:blipFill>
        <p:spPr>
          <a:xfrm>
            <a:off x="548640" y="5913720"/>
            <a:ext cx="2926080" cy="1248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Normalizarea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datelor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4400" b="0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Python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250" name="TextShape 2"/>
          <p:cNvSpPr txBox="1"/>
          <p:nvPr/>
        </p:nvSpPr>
        <p:spPr>
          <a:xfrm>
            <a:off x="181800" y="1679040"/>
            <a:ext cx="9327960" cy="5451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% X - </a:t>
            </a:r>
            <a:r>
              <a:rPr lang="en-US" sz="2200" b="0" strike="noStrike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datele</a:t>
            </a: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(un </a:t>
            </a:r>
            <a:r>
              <a:rPr lang="en-US" sz="2200" b="0" strike="noStrike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exemplu</a:t>
            </a: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b="0" strike="noStrike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</a:t>
            </a: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200" b="0" strike="noStrike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linie</a:t>
            </a: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2200" b="0" strike="noStrike" spc="-1" dirty="0">
              <a:solidFill>
                <a:srgbClr val="008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% Norma L2 </a:t>
            </a:r>
            <a:r>
              <a:rPr lang="en-US" sz="2200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în</a:t>
            </a:r>
            <a:r>
              <a:rPr lang="en-US" sz="2200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forma </a:t>
            </a:r>
            <a:r>
              <a:rPr lang="en-US" sz="2200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primală</a:t>
            </a:r>
            <a:r>
              <a:rPr lang="en-US" sz="2200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: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norms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np.linalg.norm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(X, axis = 1,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keepdims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True)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 = X / norms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% Norma </a:t>
            </a:r>
            <a:r>
              <a:rPr lang="en-US" sz="2200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L2 </a:t>
            </a:r>
            <a:r>
              <a:rPr lang="en-US" sz="2200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în</a:t>
            </a:r>
            <a:r>
              <a:rPr lang="en-US" sz="2200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forma </a:t>
            </a:r>
            <a:r>
              <a:rPr lang="en-US" sz="2200" spc="-1" dirty="0" err="1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duală</a:t>
            </a:r>
            <a:r>
              <a:rPr lang="en-US" sz="2200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: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 = </a:t>
            </a:r>
            <a:r>
              <a:rPr lang="en-US" sz="2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(X, X.T)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KNorm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np.sqrt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np.diag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(K))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KNorm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KNorm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np.newaxis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</a:t>
            </a:r>
          </a:p>
          <a:p>
            <a:pPr marL="108000">
              <a:spcAft>
                <a:spcPts val="214"/>
              </a:spcAft>
              <a:buClr>
                <a:srgbClr val="000000"/>
              </a:buClr>
              <a:buSzPct val="45000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 = K /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np.matmul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KNorm.T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KNorm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250"/>
          <p:cNvPicPr/>
          <p:nvPr/>
        </p:nvPicPr>
        <p:blipFill>
          <a:blip r:embed="rId2"/>
          <a:stretch/>
        </p:blipFill>
        <p:spPr>
          <a:xfrm>
            <a:off x="636840" y="5337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252" name="Picture 251"/>
          <p:cNvPicPr/>
          <p:nvPr/>
        </p:nvPicPr>
        <p:blipFill>
          <a:blip r:embed="rId3"/>
          <a:stretch/>
        </p:blipFill>
        <p:spPr>
          <a:xfrm>
            <a:off x="7680960" y="237744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253" name="Picture 252"/>
          <p:cNvPicPr/>
          <p:nvPr/>
        </p:nvPicPr>
        <p:blipFill>
          <a:blip r:embed="rId4"/>
          <a:stretch/>
        </p:blipFill>
        <p:spPr>
          <a:xfrm>
            <a:off x="7371000" y="402336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254" name="Picture 253"/>
          <p:cNvPicPr/>
          <p:nvPr/>
        </p:nvPicPr>
        <p:blipFill>
          <a:blip r:embed="rId5"/>
          <a:stretch/>
        </p:blipFill>
        <p:spPr>
          <a:xfrm>
            <a:off x="5413320" y="5303520"/>
            <a:ext cx="1173240" cy="1564560"/>
          </a:xfrm>
          <a:prstGeom prst="rect">
            <a:avLst/>
          </a:prstGeom>
          <a:ln>
            <a:noFill/>
          </a:ln>
        </p:spPr>
      </p:pic>
      <p:pic>
        <p:nvPicPr>
          <p:cNvPr id="255" name="Picture 254"/>
          <p:cNvPicPr/>
          <p:nvPr/>
        </p:nvPicPr>
        <p:blipFill>
          <a:blip r:embed="rId6"/>
          <a:stretch/>
        </p:blipFill>
        <p:spPr>
          <a:xfrm>
            <a:off x="2394000" y="267120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2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separăm optim aceste exemple?</a:t>
            </a:r>
          </a:p>
        </p:txBody>
      </p:sp>
      <p:pic>
        <p:nvPicPr>
          <p:cNvPr id="259" name="Picture 258"/>
          <p:cNvPicPr/>
          <p:nvPr/>
        </p:nvPicPr>
        <p:blipFill>
          <a:blip r:embed="rId7"/>
          <a:stretch/>
        </p:blipFill>
        <p:spPr>
          <a:xfrm>
            <a:off x="5236560" y="360144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260" name="Picture 259"/>
          <p:cNvPicPr/>
          <p:nvPr/>
        </p:nvPicPr>
        <p:blipFill>
          <a:blip r:embed="rId8"/>
          <a:stretch/>
        </p:blipFill>
        <p:spPr>
          <a:xfrm>
            <a:off x="274320" y="292608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261" name="Picture 260"/>
          <p:cNvPicPr/>
          <p:nvPr/>
        </p:nvPicPr>
        <p:blipFill>
          <a:blip r:embed="rId9"/>
          <a:stretch/>
        </p:blipFill>
        <p:spPr>
          <a:xfrm>
            <a:off x="7589520" y="5559480"/>
            <a:ext cx="1051560" cy="1572840"/>
          </a:xfrm>
          <a:prstGeom prst="rect">
            <a:avLst/>
          </a:prstGeom>
          <a:ln>
            <a:noFill/>
          </a:ln>
        </p:spPr>
      </p:pic>
      <p:sp>
        <p:nvSpPr>
          <p:cNvPr id="262" name="Line 3"/>
          <p:cNvSpPr/>
          <p:nvPr/>
        </p:nvSpPr>
        <p:spPr>
          <a:xfrm>
            <a:off x="3912480" y="2103120"/>
            <a:ext cx="1463040" cy="5120640"/>
          </a:xfrm>
          <a:prstGeom prst="line">
            <a:avLst/>
          </a:prstGeom>
          <a:ln w="91440">
            <a:solidFill>
              <a:srgbClr val="0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711E6-B684-0761-BD20-A6982A0E93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120" y="4211240"/>
            <a:ext cx="1119703" cy="12459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262"/>
          <p:cNvPicPr/>
          <p:nvPr/>
        </p:nvPicPr>
        <p:blipFill>
          <a:blip r:embed="rId2"/>
          <a:stretch/>
        </p:blipFill>
        <p:spPr>
          <a:xfrm>
            <a:off x="636840" y="5337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264" name="Picture 263"/>
          <p:cNvPicPr/>
          <p:nvPr/>
        </p:nvPicPr>
        <p:blipFill>
          <a:blip r:embed="rId3"/>
          <a:stretch/>
        </p:blipFill>
        <p:spPr>
          <a:xfrm>
            <a:off x="7680960" y="237744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265" name="Picture 264"/>
          <p:cNvPicPr/>
          <p:nvPr/>
        </p:nvPicPr>
        <p:blipFill>
          <a:blip r:embed="rId4"/>
          <a:stretch/>
        </p:blipFill>
        <p:spPr>
          <a:xfrm>
            <a:off x="7371000" y="402336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266" name="Picture 265"/>
          <p:cNvPicPr/>
          <p:nvPr/>
        </p:nvPicPr>
        <p:blipFill>
          <a:blip r:embed="rId5"/>
          <a:stretch/>
        </p:blipFill>
        <p:spPr>
          <a:xfrm>
            <a:off x="5413320" y="5303520"/>
            <a:ext cx="1173240" cy="1564560"/>
          </a:xfrm>
          <a:prstGeom prst="rect">
            <a:avLst/>
          </a:prstGeom>
          <a:ln>
            <a:noFill/>
          </a:ln>
        </p:spPr>
      </p:pic>
      <p:pic>
        <p:nvPicPr>
          <p:cNvPr id="267" name="Picture 266"/>
          <p:cNvPicPr/>
          <p:nvPr/>
        </p:nvPicPr>
        <p:blipFill>
          <a:blip r:embed="rId6"/>
          <a:stretch/>
        </p:blipFill>
        <p:spPr>
          <a:xfrm>
            <a:off x="2394000" y="267120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2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separăm optim aceste exemple?</a:t>
            </a:r>
          </a:p>
        </p:txBody>
      </p:sp>
      <p:pic>
        <p:nvPicPr>
          <p:cNvPr id="271" name="Picture 270"/>
          <p:cNvPicPr/>
          <p:nvPr/>
        </p:nvPicPr>
        <p:blipFill>
          <a:blip r:embed="rId7"/>
          <a:stretch/>
        </p:blipFill>
        <p:spPr>
          <a:xfrm>
            <a:off x="5236560" y="360144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272" name="Picture 271"/>
          <p:cNvPicPr/>
          <p:nvPr/>
        </p:nvPicPr>
        <p:blipFill>
          <a:blip r:embed="rId8"/>
          <a:stretch/>
        </p:blipFill>
        <p:spPr>
          <a:xfrm>
            <a:off x="274320" y="292608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273" name="Picture 272"/>
          <p:cNvPicPr/>
          <p:nvPr/>
        </p:nvPicPr>
        <p:blipFill>
          <a:blip r:embed="rId9"/>
          <a:stretch/>
        </p:blipFill>
        <p:spPr>
          <a:xfrm>
            <a:off x="7589520" y="5559480"/>
            <a:ext cx="1051560" cy="1572840"/>
          </a:xfrm>
          <a:prstGeom prst="rect">
            <a:avLst/>
          </a:prstGeom>
          <a:ln>
            <a:noFill/>
          </a:ln>
        </p:spPr>
      </p:pic>
      <p:sp>
        <p:nvSpPr>
          <p:cNvPr id="274" name="Line 3"/>
          <p:cNvSpPr/>
          <p:nvPr/>
        </p:nvSpPr>
        <p:spPr>
          <a:xfrm>
            <a:off x="4918320" y="2289960"/>
            <a:ext cx="182880" cy="5029200"/>
          </a:xfrm>
          <a:prstGeom prst="line">
            <a:avLst/>
          </a:prstGeom>
          <a:ln w="91440">
            <a:solidFill>
              <a:srgbClr val="0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4449A-DDC4-A9E5-3D9B-D106D37014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120" y="4211240"/>
            <a:ext cx="1119703" cy="1245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icture 274"/>
          <p:cNvPicPr/>
          <p:nvPr/>
        </p:nvPicPr>
        <p:blipFill>
          <a:blip r:embed="rId2"/>
          <a:stretch/>
        </p:blipFill>
        <p:spPr>
          <a:xfrm>
            <a:off x="636840" y="5337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276" name="Picture 275"/>
          <p:cNvPicPr/>
          <p:nvPr/>
        </p:nvPicPr>
        <p:blipFill>
          <a:blip r:embed="rId3"/>
          <a:stretch/>
        </p:blipFill>
        <p:spPr>
          <a:xfrm>
            <a:off x="7680960" y="237744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277" name="Picture 276"/>
          <p:cNvPicPr/>
          <p:nvPr/>
        </p:nvPicPr>
        <p:blipFill>
          <a:blip r:embed="rId4"/>
          <a:stretch/>
        </p:blipFill>
        <p:spPr>
          <a:xfrm>
            <a:off x="7371000" y="402336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278" name="Picture 277"/>
          <p:cNvPicPr/>
          <p:nvPr/>
        </p:nvPicPr>
        <p:blipFill>
          <a:blip r:embed="rId5"/>
          <a:stretch/>
        </p:blipFill>
        <p:spPr>
          <a:xfrm>
            <a:off x="5413320" y="5303520"/>
            <a:ext cx="1173240" cy="1564560"/>
          </a:xfrm>
          <a:prstGeom prst="rect">
            <a:avLst/>
          </a:prstGeom>
          <a:ln>
            <a:noFill/>
          </a:ln>
        </p:spPr>
      </p:pic>
      <p:pic>
        <p:nvPicPr>
          <p:cNvPr id="279" name="Picture 278"/>
          <p:cNvPicPr/>
          <p:nvPr/>
        </p:nvPicPr>
        <p:blipFill>
          <a:blip r:embed="rId6"/>
          <a:stretch/>
        </p:blipFill>
        <p:spPr>
          <a:xfrm>
            <a:off x="2394000" y="267120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2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separăm optim aceste exemple?</a:t>
            </a:r>
          </a:p>
        </p:txBody>
      </p:sp>
      <p:pic>
        <p:nvPicPr>
          <p:cNvPr id="283" name="Picture 282"/>
          <p:cNvPicPr/>
          <p:nvPr/>
        </p:nvPicPr>
        <p:blipFill>
          <a:blip r:embed="rId7"/>
          <a:stretch/>
        </p:blipFill>
        <p:spPr>
          <a:xfrm>
            <a:off x="5236560" y="360144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284" name="Picture 283"/>
          <p:cNvPicPr/>
          <p:nvPr/>
        </p:nvPicPr>
        <p:blipFill>
          <a:blip r:embed="rId8"/>
          <a:stretch/>
        </p:blipFill>
        <p:spPr>
          <a:xfrm>
            <a:off x="274320" y="292608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285" name="Picture 284"/>
          <p:cNvPicPr/>
          <p:nvPr/>
        </p:nvPicPr>
        <p:blipFill>
          <a:blip r:embed="rId9"/>
          <a:stretch/>
        </p:blipFill>
        <p:spPr>
          <a:xfrm>
            <a:off x="7589520" y="5559480"/>
            <a:ext cx="1051560" cy="1572840"/>
          </a:xfrm>
          <a:prstGeom prst="rect">
            <a:avLst/>
          </a:prstGeom>
          <a:ln>
            <a:noFill/>
          </a:ln>
        </p:spPr>
      </p:pic>
      <p:sp>
        <p:nvSpPr>
          <p:cNvPr id="286" name="Line 3"/>
          <p:cNvSpPr/>
          <p:nvPr/>
        </p:nvSpPr>
        <p:spPr>
          <a:xfrm flipH="1">
            <a:off x="3322800" y="239688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9E343-94B7-BC9A-07BB-8E37786C36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120" y="4211240"/>
            <a:ext cx="1119703" cy="12459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286"/>
          <p:cNvPicPr/>
          <p:nvPr/>
        </p:nvPicPr>
        <p:blipFill>
          <a:blip r:embed="rId2"/>
          <a:stretch/>
        </p:blipFill>
        <p:spPr>
          <a:xfrm>
            <a:off x="636840" y="5337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288" name="Picture 287"/>
          <p:cNvPicPr/>
          <p:nvPr/>
        </p:nvPicPr>
        <p:blipFill>
          <a:blip r:embed="rId3"/>
          <a:stretch/>
        </p:blipFill>
        <p:spPr>
          <a:xfrm>
            <a:off x="7680960" y="237744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289" name="Picture 288"/>
          <p:cNvPicPr/>
          <p:nvPr/>
        </p:nvPicPr>
        <p:blipFill>
          <a:blip r:embed="rId4"/>
          <a:stretch/>
        </p:blipFill>
        <p:spPr>
          <a:xfrm>
            <a:off x="7371000" y="402336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290" name="Picture 289"/>
          <p:cNvPicPr/>
          <p:nvPr/>
        </p:nvPicPr>
        <p:blipFill>
          <a:blip r:embed="rId5"/>
          <a:stretch/>
        </p:blipFill>
        <p:spPr>
          <a:xfrm>
            <a:off x="5413320" y="5303520"/>
            <a:ext cx="1173240" cy="1564560"/>
          </a:xfrm>
          <a:prstGeom prst="rect">
            <a:avLst/>
          </a:prstGeom>
          <a:ln>
            <a:noFill/>
          </a:ln>
        </p:spPr>
      </p:pic>
      <p:pic>
        <p:nvPicPr>
          <p:cNvPr id="291" name="Picture 290"/>
          <p:cNvPicPr/>
          <p:nvPr/>
        </p:nvPicPr>
        <p:blipFill>
          <a:blip r:embed="rId6"/>
          <a:stretch/>
        </p:blipFill>
        <p:spPr>
          <a:xfrm>
            <a:off x="2394000" y="267120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29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Alegem hiperplanul de margine maximă</a:t>
            </a:r>
          </a:p>
        </p:txBody>
      </p:sp>
      <p:pic>
        <p:nvPicPr>
          <p:cNvPr id="295" name="Picture 294"/>
          <p:cNvPicPr/>
          <p:nvPr/>
        </p:nvPicPr>
        <p:blipFill>
          <a:blip r:embed="rId7"/>
          <a:stretch/>
        </p:blipFill>
        <p:spPr>
          <a:xfrm>
            <a:off x="5236560" y="360144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296" name="Picture 295"/>
          <p:cNvPicPr/>
          <p:nvPr/>
        </p:nvPicPr>
        <p:blipFill>
          <a:blip r:embed="rId8"/>
          <a:stretch/>
        </p:blipFill>
        <p:spPr>
          <a:xfrm>
            <a:off x="274320" y="292608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297" name="Picture 296"/>
          <p:cNvPicPr/>
          <p:nvPr/>
        </p:nvPicPr>
        <p:blipFill>
          <a:blip r:embed="rId9"/>
          <a:stretch/>
        </p:blipFill>
        <p:spPr>
          <a:xfrm>
            <a:off x="7589520" y="5559480"/>
            <a:ext cx="1051560" cy="1572840"/>
          </a:xfrm>
          <a:prstGeom prst="rect">
            <a:avLst/>
          </a:prstGeom>
          <a:ln>
            <a:noFill/>
          </a:ln>
        </p:spPr>
      </p:pic>
      <p:sp>
        <p:nvSpPr>
          <p:cNvPr id="298" name="Line 3"/>
          <p:cNvSpPr/>
          <p:nvPr/>
        </p:nvSpPr>
        <p:spPr>
          <a:xfrm flipH="1">
            <a:off x="3322800" y="239688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299" name="Line 4"/>
          <p:cNvSpPr/>
          <p:nvPr/>
        </p:nvSpPr>
        <p:spPr>
          <a:xfrm flipH="1">
            <a:off x="3907080" y="242028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00" name="Line 5"/>
          <p:cNvSpPr/>
          <p:nvPr/>
        </p:nvSpPr>
        <p:spPr>
          <a:xfrm flipH="1">
            <a:off x="2720520" y="240660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63BFC4-C7EC-C199-A800-6370CEED45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120" y="4211240"/>
            <a:ext cx="1119703" cy="12459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300"/>
          <p:cNvPicPr/>
          <p:nvPr/>
        </p:nvPicPr>
        <p:blipFill>
          <a:blip r:embed="rId2"/>
          <a:stretch/>
        </p:blipFill>
        <p:spPr>
          <a:xfrm>
            <a:off x="636840" y="5337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302" name="Picture 301"/>
          <p:cNvPicPr/>
          <p:nvPr/>
        </p:nvPicPr>
        <p:blipFill>
          <a:blip r:embed="rId3"/>
          <a:stretch/>
        </p:blipFill>
        <p:spPr>
          <a:xfrm>
            <a:off x="7680960" y="237744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303" name="Picture 302"/>
          <p:cNvPicPr/>
          <p:nvPr/>
        </p:nvPicPr>
        <p:blipFill>
          <a:blip r:embed="rId4"/>
          <a:stretch/>
        </p:blipFill>
        <p:spPr>
          <a:xfrm>
            <a:off x="7371000" y="402336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304" name="Picture 303"/>
          <p:cNvPicPr/>
          <p:nvPr/>
        </p:nvPicPr>
        <p:blipFill>
          <a:blip r:embed="rId5"/>
          <a:stretch/>
        </p:blipFill>
        <p:spPr>
          <a:xfrm>
            <a:off x="5413320" y="5303520"/>
            <a:ext cx="1173240" cy="1564560"/>
          </a:xfrm>
          <a:prstGeom prst="rect">
            <a:avLst/>
          </a:prstGeom>
          <a:ln>
            <a:noFill/>
          </a:ln>
        </p:spPr>
      </p:pic>
      <p:pic>
        <p:nvPicPr>
          <p:cNvPr id="305" name="Picture 304"/>
          <p:cNvPicPr/>
          <p:nvPr/>
        </p:nvPicPr>
        <p:blipFill>
          <a:blip r:embed="rId6"/>
          <a:stretch/>
        </p:blipFill>
        <p:spPr>
          <a:xfrm>
            <a:off x="2394000" y="2671200"/>
            <a:ext cx="1554480" cy="1036440"/>
          </a:xfrm>
          <a:prstGeom prst="rect">
            <a:avLst/>
          </a:prstGeom>
          <a:ln w="91440">
            <a:noFill/>
          </a:ln>
        </p:spPr>
      </p:pic>
      <p:sp>
        <p:nvSpPr>
          <p:cNvPr id="30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Alegem hiperplanul de margine maximă</a:t>
            </a:r>
          </a:p>
        </p:txBody>
      </p:sp>
      <p:sp>
        <p:nvSpPr>
          <p:cNvPr id="307" name="TextShape 2"/>
          <p:cNvSpPr txBox="1"/>
          <p:nvPr/>
        </p:nvSpPr>
        <p:spPr>
          <a:xfrm>
            <a:off x="360000" y="1661040"/>
            <a:ext cx="7514000" cy="549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Clasificatorul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</a:t>
            </a:r>
            <a:r>
              <a:rPr lang="en-US" sz="32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vectori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suport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(SVM)</a:t>
            </a:r>
          </a:p>
        </p:txBody>
      </p:sp>
      <p:pic>
        <p:nvPicPr>
          <p:cNvPr id="309" name="Picture 308"/>
          <p:cNvPicPr/>
          <p:nvPr/>
        </p:nvPicPr>
        <p:blipFill>
          <a:blip r:embed="rId7"/>
          <a:stretch/>
        </p:blipFill>
        <p:spPr>
          <a:xfrm>
            <a:off x="5236560" y="360144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310" name="Picture 309"/>
          <p:cNvPicPr/>
          <p:nvPr/>
        </p:nvPicPr>
        <p:blipFill>
          <a:blip r:embed="rId8"/>
          <a:stretch/>
        </p:blipFill>
        <p:spPr>
          <a:xfrm>
            <a:off x="274320" y="292608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311" name="Picture 310"/>
          <p:cNvPicPr/>
          <p:nvPr/>
        </p:nvPicPr>
        <p:blipFill>
          <a:blip r:embed="rId9"/>
          <a:stretch/>
        </p:blipFill>
        <p:spPr>
          <a:xfrm>
            <a:off x="7589520" y="5559480"/>
            <a:ext cx="1051560" cy="1572840"/>
          </a:xfrm>
          <a:prstGeom prst="rect">
            <a:avLst/>
          </a:prstGeom>
          <a:ln>
            <a:noFill/>
          </a:ln>
        </p:spPr>
      </p:pic>
      <p:sp>
        <p:nvSpPr>
          <p:cNvPr id="312" name="Line 3"/>
          <p:cNvSpPr/>
          <p:nvPr/>
        </p:nvSpPr>
        <p:spPr>
          <a:xfrm flipH="1">
            <a:off x="3322800" y="239688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13" name="Line 4"/>
          <p:cNvSpPr/>
          <p:nvPr/>
        </p:nvSpPr>
        <p:spPr>
          <a:xfrm flipH="1">
            <a:off x="3907080" y="242028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14" name="Line 5"/>
          <p:cNvSpPr/>
          <p:nvPr/>
        </p:nvSpPr>
        <p:spPr>
          <a:xfrm flipH="1">
            <a:off x="2720520" y="2406600"/>
            <a:ext cx="1734480" cy="4898880"/>
          </a:xfrm>
          <a:prstGeom prst="line">
            <a:avLst/>
          </a:prstGeom>
          <a:ln w="91440">
            <a:solidFill>
              <a:srgbClr val="008080"/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15" name="CustomShape 6"/>
          <p:cNvSpPr/>
          <p:nvPr/>
        </p:nvSpPr>
        <p:spPr>
          <a:xfrm>
            <a:off x="5236560" y="3601440"/>
            <a:ext cx="1521000" cy="1062000"/>
          </a:xfrm>
          <a:prstGeom prst="rect">
            <a:avLst/>
          </a:prstGeom>
          <a:noFill/>
          <a:ln w="9144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16" name="CustomShape 7"/>
          <p:cNvSpPr/>
          <p:nvPr/>
        </p:nvSpPr>
        <p:spPr>
          <a:xfrm>
            <a:off x="2386080" y="2645640"/>
            <a:ext cx="1562400" cy="1062000"/>
          </a:xfrm>
          <a:prstGeom prst="rect">
            <a:avLst/>
          </a:prstGeom>
          <a:noFill/>
          <a:ln w="9144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2187A2-006A-3E46-8782-0849DCFBF5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9120" y="4211240"/>
            <a:ext cx="1119703" cy="12459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SVM (Hard Margin)</a:t>
            </a:r>
          </a:p>
        </p:txBody>
      </p:sp>
      <p:pic>
        <p:nvPicPr>
          <p:cNvPr id="318" name="Picture 317"/>
          <p:cNvPicPr/>
          <p:nvPr/>
        </p:nvPicPr>
        <p:blipFill>
          <a:blip r:embed="rId2"/>
          <a:stretch/>
        </p:blipFill>
        <p:spPr>
          <a:xfrm>
            <a:off x="502560" y="1737360"/>
            <a:ext cx="9184320" cy="522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ight Triangle 55">
            <a:extLst>
              <a:ext uri="{FF2B5EF4-FFF2-40B4-BE49-F238E27FC236}">
                <a16:creationId xmlns:a16="http://schemas.microsoft.com/office/drawing/2014/main" id="{BF546A27-B9B5-3443-BB0B-452F26030ADC}"/>
              </a:ext>
            </a:extLst>
          </p:cNvPr>
          <p:cNvSpPr/>
          <p:nvPr/>
        </p:nvSpPr>
        <p:spPr>
          <a:xfrm rot="5400000">
            <a:off x="-46300" y="46301"/>
            <a:ext cx="8947231" cy="8854634"/>
          </a:xfrm>
          <a:prstGeom prst="rtTriangle">
            <a:avLst/>
          </a:prstGeom>
          <a:solidFill>
            <a:srgbClr val="FF7E7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1906C2-70C9-0446-9338-8F7B4C4587F8}"/>
              </a:ext>
            </a:extLst>
          </p:cNvPr>
          <p:cNvCxnSpPr>
            <a:cxnSpLocks/>
          </p:cNvCxnSpPr>
          <p:nvPr/>
        </p:nvCxnSpPr>
        <p:spPr>
          <a:xfrm flipH="1" flipV="1">
            <a:off x="591671" y="1444535"/>
            <a:ext cx="2589120" cy="249258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Granița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separare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liniară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465840" y="190620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20F1D78-DC96-5E45-93DE-14E16602CF80}"/>
              </a:ext>
            </a:extLst>
          </p:cNvPr>
          <p:cNvCxnSpPr/>
          <p:nvPr/>
        </p:nvCxnSpPr>
        <p:spPr>
          <a:xfrm flipH="1">
            <a:off x="5706319" y="2048719"/>
            <a:ext cx="1585732" cy="0"/>
          </a:xfrm>
          <a:prstGeom prst="straightConnector1">
            <a:avLst/>
          </a:prstGeom>
          <a:ln w="3810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7D6B1-603D-5442-9486-84066036B237}"/>
              </a:ext>
            </a:extLst>
          </p:cNvPr>
          <p:cNvCxnSpPr/>
          <p:nvPr/>
        </p:nvCxnSpPr>
        <p:spPr>
          <a:xfrm flipH="1">
            <a:off x="5696671" y="3103946"/>
            <a:ext cx="1585732" cy="0"/>
          </a:xfrm>
          <a:prstGeom prst="straightConnector1">
            <a:avLst/>
          </a:prstGeom>
          <a:ln w="3810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48B8DC-9348-154A-B09F-38D6C2F48BB1}"/>
              </a:ext>
            </a:extLst>
          </p:cNvPr>
          <p:cNvCxnSpPr/>
          <p:nvPr/>
        </p:nvCxnSpPr>
        <p:spPr>
          <a:xfrm flipH="1">
            <a:off x="5708248" y="4944317"/>
            <a:ext cx="1585732" cy="0"/>
          </a:xfrm>
          <a:prstGeom prst="straightConnector1">
            <a:avLst/>
          </a:prstGeom>
          <a:ln w="38100"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9E8B51-2844-E145-BFC1-5385F0DFB2F0}"/>
                  </a:ext>
                </a:extLst>
              </p:cNvPr>
              <p:cNvSpPr txBox="1"/>
              <p:nvPr/>
            </p:nvSpPr>
            <p:spPr>
              <a:xfrm>
                <a:off x="1282998" y="1679282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9E8B51-2844-E145-BFC1-5385F0DFB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998" y="1679282"/>
                <a:ext cx="5440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54EB93-AB98-4C4D-9E89-FFF553E2F38B}"/>
                  </a:ext>
                </a:extLst>
              </p:cNvPr>
              <p:cNvSpPr txBox="1"/>
              <p:nvPr/>
            </p:nvSpPr>
            <p:spPr>
              <a:xfrm>
                <a:off x="7291887" y="3685384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54EB93-AB98-4C4D-9E89-FFF553E2F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887" y="3685384"/>
                <a:ext cx="54401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D7A38D-DB9A-904E-828C-927F5915C8FB}"/>
                  </a:ext>
                </a:extLst>
              </p:cNvPr>
              <p:cNvSpPr txBox="1"/>
              <p:nvPr/>
            </p:nvSpPr>
            <p:spPr>
              <a:xfrm>
                <a:off x="7164532" y="1617492"/>
                <a:ext cx="20669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4D7A38D-DB9A-904E-828C-927F5915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2" y="1617492"/>
                <a:ext cx="2066911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21FAC0-DE1E-C542-BB68-0FFBEFC84431}"/>
                  </a:ext>
                </a:extLst>
              </p:cNvPr>
              <p:cNvSpPr txBox="1"/>
              <p:nvPr/>
            </p:nvSpPr>
            <p:spPr>
              <a:xfrm>
                <a:off x="7164531" y="2637895"/>
                <a:ext cx="206691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21FAC0-DE1E-C542-BB68-0FFBEFC8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1" y="2637895"/>
                <a:ext cx="2066911" cy="830997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0B7B4B3-D7E0-9742-9A5E-26A1435A335E}"/>
                  </a:ext>
                </a:extLst>
              </p:cNvPr>
              <p:cNvSpPr txBox="1"/>
              <p:nvPr/>
            </p:nvSpPr>
            <p:spPr>
              <a:xfrm>
                <a:off x="7164531" y="4503089"/>
                <a:ext cx="206691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0B7B4B3-D7E0-9742-9A5E-26A1435A3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1" y="4503089"/>
                <a:ext cx="2066911" cy="830997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33FAAA2-1E70-6A4D-91DC-F03BB0A7AE59}"/>
              </a:ext>
            </a:extLst>
          </p:cNvPr>
          <p:cNvSpPr txBox="1"/>
          <p:nvPr/>
        </p:nvSpPr>
        <p:spPr>
          <a:xfrm>
            <a:off x="4751406" y="4004842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C8D475-F885-1648-B76D-E56692D4424D}"/>
              </a:ext>
            </a:extLst>
          </p:cNvPr>
          <p:cNvSpPr txBox="1"/>
          <p:nvPr/>
        </p:nvSpPr>
        <p:spPr>
          <a:xfrm>
            <a:off x="3234077" y="1991375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F1DAA1-9E66-154E-8226-5202EF4168CA}"/>
              </a:ext>
            </a:extLst>
          </p:cNvPr>
          <p:cNvSpPr txBox="1"/>
          <p:nvPr/>
        </p:nvSpPr>
        <p:spPr>
          <a:xfrm>
            <a:off x="2775114" y="5501597"/>
            <a:ext cx="45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0AA5AD-8820-E045-A69D-2737DF6DB5F0}"/>
              </a:ext>
            </a:extLst>
          </p:cNvPr>
          <p:cNvCxnSpPr/>
          <p:nvPr/>
        </p:nvCxnSpPr>
        <p:spPr>
          <a:xfrm flipH="1" flipV="1">
            <a:off x="1331089" y="2164466"/>
            <a:ext cx="1851949" cy="17749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CBA2C2-3649-E241-8D57-17FA7108D2E3}"/>
              </a:ext>
            </a:extLst>
          </p:cNvPr>
          <p:cNvCxnSpPr>
            <a:cxnSpLocks/>
          </p:cNvCxnSpPr>
          <p:nvPr/>
        </p:nvCxnSpPr>
        <p:spPr>
          <a:xfrm>
            <a:off x="3183038" y="1871475"/>
            <a:ext cx="0" cy="41820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A1F74-A074-8E42-89F5-EB2E2743D925}"/>
              </a:ext>
            </a:extLst>
          </p:cNvPr>
          <p:cNvCxnSpPr>
            <a:cxnSpLocks/>
          </p:cNvCxnSpPr>
          <p:nvPr/>
        </p:nvCxnSpPr>
        <p:spPr>
          <a:xfrm>
            <a:off x="1111170" y="3946966"/>
            <a:ext cx="61808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F0D49-A216-3145-BF00-C81B58629FD9}"/>
              </a:ext>
            </a:extLst>
          </p:cNvPr>
          <p:cNvCxnSpPr>
            <a:cxnSpLocks/>
          </p:cNvCxnSpPr>
          <p:nvPr/>
        </p:nvCxnSpPr>
        <p:spPr>
          <a:xfrm flipH="1">
            <a:off x="2858946" y="1848325"/>
            <a:ext cx="4109013" cy="41820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65C2FE-7F0D-884B-9EA8-197A29351623}"/>
              </a:ext>
            </a:extLst>
          </p:cNvPr>
          <p:cNvCxnSpPr>
            <a:cxnSpLocks/>
          </p:cNvCxnSpPr>
          <p:nvPr/>
        </p:nvCxnSpPr>
        <p:spPr>
          <a:xfrm flipH="1">
            <a:off x="1140106" y="1825175"/>
            <a:ext cx="4109013" cy="418208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08DCB5-0481-7C49-8DF3-39ECB5DCFA91}"/>
                  </a:ext>
                </a:extLst>
              </p:cNvPr>
              <p:cNvSpPr txBox="1"/>
              <p:nvPr/>
            </p:nvSpPr>
            <p:spPr>
              <a:xfrm>
                <a:off x="2956613" y="1444535"/>
                <a:ext cx="5440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08DCB5-0481-7C49-8DF3-39ECB5DCF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613" y="1444535"/>
                <a:ext cx="544011" cy="461665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610C43-B4AB-B24E-B150-AAEB61BD260B}"/>
              </a:ext>
            </a:extLst>
          </p:cNvPr>
          <p:cNvCxnSpPr>
            <a:cxnSpLocks/>
          </p:cNvCxnSpPr>
          <p:nvPr/>
        </p:nvCxnSpPr>
        <p:spPr>
          <a:xfrm flipH="1" flipV="1">
            <a:off x="2133600" y="2931665"/>
            <a:ext cx="1049439" cy="1001727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282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SVM (Soft Margin)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E2269-738C-CA4A-BC60-3DDBC1067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18" y="1362999"/>
            <a:ext cx="7360188" cy="606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04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SVM (Soft Margin)</a:t>
            </a:r>
          </a:p>
        </p:txBody>
      </p:sp>
      <p:sp>
        <p:nvSpPr>
          <p:cNvPr id="320" name="TextShape 2"/>
          <p:cNvSpPr txBox="1"/>
          <p:nvPr/>
        </p:nvSpPr>
        <p:spPr>
          <a:xfrm>
            <a:off x="360000" y="1661040"/>
            <a:ext cx="9424080" cy="549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 cazul în care exemple nu sunt liniar separabile:</a:t>
            </a:r>
          </a:p>
        </p:txBody>
      </p:sp>
      <p:pic>
        <p:nvPicPr>
          <p:cNvPr id="321" name="Picture 320"/>
          <p:cNvPicPr/>
          <p:nvPr/>
        </p:nvPicPr>
        <p:blipFill>
          <a:blip r:embed="rId2"/>
          <a:stretch/>
        </p:blipFill>
        <p:spPr>
          <a:xfrm>
            <a:off x="394560" y="2742120"/>
            <a:ext cx="9206640" cy="4021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SVM (</a:t>
            </a:r>
            <a:r>
              <a:rPr lang="en-US" sz="4400" b="0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Python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323" name="TextShape 2"/>
          <p:cNvSpPr txBox="1"/>
          <p:nvPr/>
        </p:nvSpPr>
        <p:spPr>
          <a:xfrm>
            <a:off x="360000" y="1661040"/>
            <a:ext cx="9424080" cy="549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Scikit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-learn: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https://</a:t>
            </a:r>
            <a:r>
              <a:rPr lang="en-US" sz="2400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scikit-learn.org</a:t>
            </a:r>
            <a:r>
              <a:rPr lang="en-US" sz="2400" spc="-1" dirty="0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/stable/modules/</a:t>
            </a:r>
            <a:r>
              <a:rPr lang="en-US" sz="2400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svm.html#svm-classification</a:t>
            </a:r>
            <a:endParaRPr lang="en-US" sz="2400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  <a:latin typeface="+mj-lt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from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sklearn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import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svm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svm.SVC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(C = 1.0)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clf.fit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T_train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clf.predict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X_test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Plus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ulți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alți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clasificatori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504000" y="37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rezolvăm problemele cu mai multe clase?</a:t>
            </a:r>
          </a:p>
        </p:txBody>
      </p:sp>
      <p:sp>
        <p:nvSpPr>
          <p:cNvPr id="326" name="TextShape 2"/>
          <p:cNvSpPr txBox="1"/>
          <p:nvPr/>
        </p:nvSpPr>
        <p:spPr>
          <a:xfrm>
            <a:off x="343800" y="1998720"/>
            <a:ext cx="9424080" cy="524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Scheme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combinare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clasificatori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binari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One-versus-one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One-versus-all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Picture 326"/>
          <p:cNvPicPr/>
          <p:nvPr/>
        </p:nvPicPr>
        <p:blipFill>
          <a:blip r:embed="rId2"/>
          <a:stretch/>
        </p:blipFill>
        <p:spPr>
          <a:xfrm>
            <a:off x="636840" y="3051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328" name="Picture 327"/>
          <p:cNvPicPr/>
          <p:nvPr/>
        </p:nvPicPr>
        <p:blipFill>
          <a:blip r:embed="rId3"/>
          <a:stretch/>
        </p:blipFill>
        <p:spPr>
          <a:xfrm>
            <a:off x="7929720" y="126036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329" name="Picture 328"/>
          <p:cNvPicPr/>
          <p:nvPr/>
        </p:nvPicPr>
        <p:blipFill>
          <a:blip r:embed="rId4"/>
          <a:stretch/>
        </p:blipFill>
        <p:spPr>
          <a:xfrm>
            <a:off x="7828200" y="256032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330" name="Picture 329"/>
          <p:cNvPicPr/>
          <p:nvPr/>
        </p:nvPicPr>
        <p:blipFill>
          <a:blip r:embed="rId5"/>
          <a:stretch/>
        </p:blipFill>
        <p:spPr>
          <a:xfrm>
            <a:off x="6827760" y="3830400"/>
            <a:ext cx="1036080" cy="1381680"/>
          </a:xfrm>
          <a:prstGeom prst="rect">
            <a:avLst/>
          </a:prstGeom>
          <a:ln>
            <a:noFill/>
          </a:ln>
        </p:spPr>
      </p:pic>
      <p:pic>
        <p:nvPicPr>
          <p:cNvPr id="331" name="Picture 330"/>
          <p:cNvPicPr/>
          <p:nvPr/>
        </p:nvPicPr>
        <p:blipFill>
          <a:blip r:embed="rId6"/>
          <a:stretch/>
        </p:blipFill>
        <p:spPr>
          <a:xfrm>
            <a:off x="1920240" y="161532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33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One-versus-one</a:t>
            </a:r>
          </a:p>
        </p:txBody>
      </p:sp>
      <p:sp>
        <p:nvSpPr>
          <p:cNvPr id="333" name="TextShape 2"/>
          <p:cNvSpPr txBox="1"/>
          <p:nvPr/>
        </p:nvSpPr>
        <p:spPr>
          <a:xfrm>
            <a:off x="360000" y="1913040"/>
            <a:ext cx="6752880" cy="549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</p:txBody>
      </p:sp>
      <p:pic>
        <p:nvPicPr>
          <p:cNvPr id="334" name="Picture 333"/>
          <p:cNvPicPr/>
          <p:nvPr/>
        </p:nvPicPr>
        <p:blipFill>
          <a:blip r:embed="rId7"/>
          <a:stretch/>
        </p:blipFill>
        <p:spPr>
          <a:xfrm>
            <a:off x="2202840" y="2926080"/>
            <a:ext cx="1155960" cy="1152720"/>
          </a:xfrm>
          <a:prstGeom prst="rect">
            <a:avLst/>
          </a:prstGeom>
          <a:ln>
            <a:noFill/>
          </a:ln>
        </p:spPr>
      </p:pic>
      <p:pic>
        <p:nvPicPr>
          <p:cNvPr id="335" name="Picture 334"/>
          <p:cNvPicPr/>
          <p:nvPr/>
        </p:nvPicPr>
        <p:blipFill>
          <a:blip r:embed="rId8"/>
          <a:stretch/>
        </p:blipFill>
        <p:spPr>
          <a:xfrm>
            <a:off x="5943600" y="213840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336" name="Picture 335"/>
          <p:cNvPicPr/>
          <p:nvPr/>
        </p:nvPicPr>
        <p:blipFill>
          <a:blip r:embed="rId9"/>
          <a:stretch/>
        </p:blipFill>
        <p:spPr>
          <a:xfrm>
            <a:off x="457200" y="132192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337" name="Picture 336"/>
          <p:cNvPicPr/>
          <p:nvPr/>
        </p:nvPicPr>
        <p:blipFill>
          <a:blip r:embed="rId10"/>
          <a:stretch/>
        </p:blipFill>
        <p:spPr>
          <a:xfrm>
            <a:off x="8503920" y="3931920"/>
            <a:ext cx="960120" cy="1436040"/>
          </a:xfrm>
          <a:prstGeom prst="rect">
            <a:avLst/>
          </a:prstGeom>
          <a:ln>
            <a:noFill/>
          </a:ln>
        </p:spPr>
      </p:pic>
      <p:pic>
        <p:nvPicPr>
          <p:cNvPr id="338" name="Picture 337"/>
          <p:cNvPicPr/>
          <p:nvPr/>
        </p:nvPicPr>
        <p:blipFill>
          <a:blip r:embed="rId11"/>
          <a:stretch/>
        </p:blipFill>
        <p:spPr>
          <a:xfrm>
            <a:off x="4228560" y="5905080"/>
            <a:ext cx="1715040" cy="1044360"/>
          </a:xfrm>
          <a:prstGeom prst="rect">
            <a:avLst/>
          </a:prstGeom>
          <a:ln>
            <a:noFill/>
          </a:ln>
        </p:spPr>
      </p:pic>
      <p:pic>
        <p:nvPicPr>
          <p:cNvPr id="339" name="Picture 338"/>
          <p:cNvPicPr/>
          <p:nvPr/>
        </p:nvPicPr>
        <p:blipFill>
          <a:blip r:embed="rId12"/>
          <a:stretch/>
        </p:blipFill>
        <p:spPr>
          <a:xfrm>
            <a:off x="2341440" y="6126480"/>
            <a:ext cx="1590480" cy="1060200"/>
          </a:xfrm>
          <a:prstGeom prst="rect">
            <a:avLst/>
          </a:prstGeom>
          <a:ln>
            <a:noFill/>
          </a:ln>
        </p:spPr>
      </p:pic>
      <p:sp>
        <p:nvSpPr>
          <p:cNvPr id="340" name="Line 3"/>
          <p:cNvSpPr/>
          <p:nvPr/>
        </p:nvSpPr>
        <p:spPr>
          <a:xfrm flipH="1">
            <a:off x="548640" y="4684294"/>
            <a:ext cx="4491672" cy="838105"/>
          </a:xfrm>
          <a:prstGeom prst="line">
            <a:avLst/>
          </a:prstGeom>
          <a:ln w="91440">
            <a:solidFill>
              <a:srgbClr val="23FF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41" name="Line 4"/>
          <p:cNvSpPr/>
          <p:nvPr/>
        </p:nvSpPr>
        <p:spPr>
          <a:xfrm flipH="1" flipV="1">
            <a:off x="4884072" y="3814358"/>
            <a:ext cx="2868888" cy="3135082"/>
          </a:xfrm>
          <a:prstGeom prst="line">
            <a:avLst/>
          </a:prstGeom>
          <a:ln w="91440">
            <a:solidFill>
              <a:srgbClr val="FF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42" name="Line 5"/>
          <p:cNvSpPr/>
          <p:nvPr/>
        </p:nvSpPr>
        <p:spPr>
          <a:xfrm flipH="1">
            <a:off x="4344480" y="1371600"/>
            <a:ext cx="501840" cy="3312695"/>
          </a:xfrm>
          <a:prstGeom prst="line">
            <a:avLst/>
          </a:prstGeom>
          <a:ln w="91440">
            <a:solidFill>
              <a:srgbClr val="000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Line 1"/>
          <p:cNvSpPr/>
          <p:nvPr/>
        </p:nvSpPr>
        <p:spPr>
          <a:xfrm flipH="1" flipV="1">
            <a:off x="4717800" y="4480560"/>
            <a:ext cx="2048760" cy="1280160"/>
          </a:xfrm>
          <a:prstGeom prst="line">
            <a:avLst/>
          </a:prstGeom>
          <a:ln w="3672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44" name="Line 2"/>
          <p:cNvSpPr/>
          <p:nvPr/>
        </p:nvSpPr>
        <p:spPr>
          <a:xfrm flipH="1">
            <a:off x="4717800" y="2743200"/>
            <a:ext cx="164520" cy="1755720"/>
          </a:xfrm>
          <a:prstGeom prst="line">
            <a:avLst/>
          </a:prstGeom>
          <a:ln w="3672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45" name="Line 3"/>
          <p:cNvSpPr/>
          <p:nvPr/>
        </p:nvSpPr>
        <p:spPr>
          <a:xfrm flipV="1">
            <a:off x="2560320" y="4480560"/>
            <a:ext cx="2103120" cy="584640"/>
          </a:xfrm>
          <a:prstGeom prst="line">
            <a:avLst/>
          </a:prstGeom>
          <a:ln w="36720">
            <a:solidFill>
              <a:srgbClr val="000000"/>
            </a:solidFill>
            <a:custDash>
              <a:ds d="100000" sp="1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pic>
        <p:nvPicPr>
          <p:cNvPr id="346" name="Picture 345"/>
          <p:cNvPicPr/>
          <p:nvPr/>
        </p:nvPicPr>
        <p:blipFill>
          <a:blip r:embed="rId2"/>
          <a:stretch/>
        </p:blipFill>
        <p:spPr>
          <a:xfrm>
            <a:off x="636840" y="3051720"/>
            <a:ext cx="1100520" cy="1245960"/>
          </a:xfrm>
          <a:prstGeom prst="rect">
            <a:avLst/>
          </a:prstGeom>
          <a:ln>
            <a:noFill/>
          </a:ln>
        </p:spPr>
      </p:pic>
      <p:pic>
        <p:nvPicPr>
          <p:cNvPr id="347" name="Picture 346"/>
          <p:cNvPicPr/>
          <p:nvPr/>
        </p:nvPicPr>
        <p:blipFill>
          <a:blip r:embed="rId3"/>
          <a:stretch/>
        </p:blipFill>
        <p:spPr>
          <a:xfrm>
            <a:off x="7929720" y="1260360"/>
            <a:ext cx="1645920" cy="934200"/>
          </a:xfrm>
          <a:prstGeom prst="rect">
            <a:avLst/>
          </a:prstGeom>
          <a:ln>
            <a:noFill/>
          </a:ln>
        </p:spPr>
      </p:pic>
      <p:pic>
        <p:nvPicPr>
          <p:cNvPr id="348" name="Picture 347"/>
          <p:cNvPicPr/>
          <p:nvPr/>
        </p:nvPicPr>
        <p:blipFill>
          <a:blip r:embed="rId4"/>
          <a:stretch/>
        </p:blipFill>
        <p:spPr>
          <a:xfrm>
            <a:off x="7828200" y="2560320"/>
            <a:ext cx="1955880" cy="1005840"/>
          </a:xfrm>
          <a:prstGeom prst="rect">
            <a:avLst/>
          </a:prstGeom>
          <a:ln>
            <a:noFill/>
          </a:ln>
        </p:spPr>
      </p:pic>
      <p:pic>
        <p:nvPicPr>
          <p:cNvPr id="349" name="Picture 348"/>
          <p:cNvPicPr/>
          <p:nvPr/>
        </p:nvPicPr>
        <p:blipFill>
          <a:blip r:embed="rId5"/>
          <a:stretch/>
        </p:blipFill>
        <p:spPr>
          <a:xfrm>
            <a:off x="6827760" y="3830400"/>
            <a:ext cx="1036080" cy="1381680"/>
          </a:xfrm>
          <a:prstGeom prst="rect">
            <a:avLst/>
          </a:prstGeom>
          <a:ln>
            <a:noFill/>
          </a:ln>
        </p:spPr>
      </p:pic>
      <p:pic>
        <p:nvPicPr>
          <p:cNvPr id="350" name="Picture 349"/>
          <p:cNvPicPr/>
          <p:nvPr/>
        </p:nvPicPr>
        <p:blipFill>
          <a:blip r:embed="rId6"/>
          <a:stretch/>
        </p:blipFill>
        <p:spPr>
          <a:xfrm>
            <a:off x="1920240" y="1615320"/>
            <a:ext cx="1554480" cy="1036440"/>
          </a:xfrm>
          <a:prstGeom prst="rect">
            <a:avLst/>
          </a:prstGeom>
          <a:ln>
            <a:noFill/>
          </a:ln>
        </p:spPr>
      </p:pic>
      <p:sp>
        <p:nvSpPr>
          <p:cNvPr id="351" name="TextShape 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One-versus-all</a:t>
            </a:r>
          </a:p>
        </p:txBody>
      </p:sp>
      <p:sp>
        <p:nvSpPr>
          <p:cNvPr id="352" name="TextShape 5"/>
          <p:cNvSpPr txBox="1"/>
          <p:nvPr/>
        </p:nvSpPr>
        <p:spPr>
          <a:xfrm>
            <a:off x="360000" y="1913040"/>
            <a:ext cx="6752880" cy="549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</p:txBody>
      </p:sp>
      <p:pic>
        <p:nvPicPr>
          <p:cNvPr id="353" name="Picture 352"/>
          <p:cNvPicPr/>
          <p:nvPr/>
        </p:nvPicPr>
        <p:blipFill>
          <a:blip r:embed="rId7"/>
          <a:stretch/>
        </p:blipFill>
        <p:spPr>
          <a:xfrm>
            <a:off x="2202840" y="2926080"/>
            <a:ext cx="1155960" cy="1152720"/>
          </a:xfrm>
          <a:prstGeom prst="rect">
            <a:avLst/>
          </a:prstGeom>
          <a:ln>
            <a:noFill/>
          </a:ln>
        </p:spPr>
      </p:pic>
      <p:pic>
        <p:nvPicPr>
          <p:cNvPr id="354" name="Picture 353"/>
          <p:cNvPicPr/>
          <p:nvPr/>
        </p:nvPicPr>
        <p:blipFill>
          <a:blip r:embed="rId8"/>
          <a:stretch/>
        </p:blipFill>
        <p:spPr>
          <a:xfrm>
            <a:off x="5943600" y="2138400"/>
            <a:ext cx="1521000" cy="1153440"/>
          </a:xfrm>
          <a:prstGeom prst="rect">
            <a:avLst/>
          </a:prstGeom>
          <a:ln>
            <a:noFill/>
          </a:ln>
        </p:spPr>
      </p:pic>
      <p:pic>
        <p:nvPicPr>
          <p:cNvPr id="355" name="Picture 354"/>
          <p:cNvPicPr/>
          <p:nvPr/>
        </p:nvPicPr>
        <p:blipFill>
          <a:blip r:embed="rId9"/>
          <a:stretch/>
        </p:blipFill>
        <p:spPr>
          <a:xfrm>
            <a:off x="457200" y="1321920"/>
            <a:ext cx="1005840" cy="1329840"/>
          </a:xfrm>
          <a:prstGeom prst="rect">
            <a:avLst/>
          </a:prstGeom>
          <a:ln>
            <a:noFill/>
          </a:ln>
        </p:spPr>
      </p:pic>
      <p:pic>
        <p:nvPicPr>
          <p:cNvPr id="356" name="Picture 355"/>
          <p:cNvPicPr/>
          <p:nvPr/>
        </p:nvPicPr>
        <p:blipFill>
          <a:blip r:embed="rId10"/>
          <a:stretch/>
        </p:blipFill>
        <p:spPr>
          <a:xfrm>
            <a:off x="8503920" y="3931920"/>
            <a:ext cx="960120" cy="1436040"/>
          </a:xfrm>
          <a:prstGeom prst="rect">
            <a:avLst/>
          </a:prstGeom>
          <a:ln>
            <a:noFill/>
          </a:ln>
        </p:spPr>
      </p:pic>
      <p:pic>
        <p:nvPicPr>
          <p:cNvPr id="357" name="Picture 356"/>
          <p:cNvPicPr/>
          <p:nvPr/>
        </p:nvPicPr>
        <p:blipFill>
          <a:blip r:embed="rId11"/>
          <a:stretch/>
        </p:blipFill>
        <p:spPr>
          <a:xfrm>
            <a:off x="4228560" y="5905080"/>
            <a:ext cx="1715040" cy="1044360"/>
          </a:xfrm>
          <a:prstGeom prst="rect">
            <a:avLst/>
          </a:prstGeom>
          <a:ln>
            <a:noFill/>
          </a:ln>
        </p:spPr>
      </p:pic>
      <p:pic>
        <p:nvPicPr>
          <p:cNvPr id="358" name="Picture 357"/>
          <p:cNvPicPr/>
          <p:nvPr/>
        </p:nvPicPr>
        <p:blipFill>
          <a:blip r:embed="rId12"/>
          <a:stretch/>
        </p:blipFill>
        <p:spPr>
          <a:xfrm>
            <a:off x="2341440" y="6126480"/>
            <a:ext cx="1590480" cy="1060200"/>
          </a:xfrm>
          <a:prstGeom prst="rect">
            <a:avLst/>
          </a:prstGeom>
          <a:ln>
            <a:noFill/>
          </a:ln>
        </p:spPr>
      </p:pic>
      <p:sp>
        <p:nvSpPr>
          <p:cNvPr id="359" name="Line 6"/>
          <p:cNvSpPr/>
          <p:nvPr/>
        </p:nvSpPr>
        <p:spPr>
          <a:xfrm flipH="1">
            <a:off x="1097280" y="1280160"/>
            <a:ext cx="5212080" cy="5212080"/>
          </a:xfrm>
          <a:prstGeom prst="line">
            <a:avLst/>
          </a:prstGeom>
          <a:ln w="91440">
            <a:solidFill>
              <a:srgbClr val="23FF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60" name="Line 7"/>
          <p:cNvSpPr/>
          <p:nvPr/>
        </p:nvSpPr>
        <p:spPr>
          <a:xfrm flipH="1" flipV="1">
            <a:off x="4023360" y="1371600"/>
            <a:ext cx="3749040" cy="5852160"/>
          </a:xfrm>
          <a:prstGeom prst="line">
            <a:avLst/>
          </a:prstGeom>
          <a:ln w="91440">
            <a:solidFill>
              <a:srgbClr val="FF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61" name="Line 8"/>
          <p:cNvSpPr/>
          <p:nvPr/>
        </p:nvSpPr>
        <p:spPr>
          <a:xfrm flipH="1" flipV="1">
            <a:off x="274320" y="4754880"/>
            <a:ext cx="9235440" cy="1463040"/>
          </a:xfrm>
          <a:prstGeom prst="line">
            <a:avLst/>
          </a:prstGeom>
          <a:ln w="91440">
            <a:solidFill>
              <a:srgbClr val="000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Shape 1"/>
          <p:cNvSpPr txBox="1"/>
          <p:nvPr/>
        </p:nvSpPr>
        <p:spPr>
          <a:xfrm>
            <a:off x="504000" y="37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rezolvăm problemele cu mai multe clase?</a:t>
            </a:r>
          </a:p>
        </p:txBody>
      </p:sp>
      <p:sp>
        <p:nvSpPr>
          <p:cNvPr id="363" name="TextShape 2"/>
          <p:cNvSpPr txBox="1"/>
          <p:nvPr/>
        </p:nvSpPr>
        <p:spPr>
          <a:xfrm>
            <a:off x="343800" y="1998720"/>
            <a:ext cx="9424080" cy="524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Utilizarea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capabile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rezolve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direct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Analiza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liniar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discriminantă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(Fisher)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Rețele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neuronale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cursul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următor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1"/>
          <p:cNvSpPr txBox="1"/>
          <p:nvPr/>
        </p:nvSpPr>
        <p:spPr>
          <a:xfrm>
            <a:off x="504000" y="37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Analiza liniar discriminantă</a:t>
            </a:r>
          </a:p>
        </p:txBody>
      </p:sp>
      <p:sp>
        <p:nvSpPr>
          <p:cNvPr id="365" name="TextShape 2"/>
          <p:cNvSpPr txBox="1"/>
          <p:nvPr/>
        </p:nvSpPr>
        <p:spPr>
          <a:xfrm>
            <a:off x="343800" y="1998720"/>
            <a:ext cx="9424080" cy="524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Fiecare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aproximată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o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distribuție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Gaussiană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găsirea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unui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hiperplan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se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proiectează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punctele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charset="2"/>
              <a:buChar char="Ø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dintre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mediile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claselor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maximizată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charset="2"/>
              <a:buChar char="Ø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dispersia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fiecărei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minimizată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Shape 1"/>
          <p:cNvSpPr txBox="1"/>
          <p:nvPr/>
        </p:nvSpPr>
        <p:spPr>
          <a:xfrm>
            <a:off x="504000" y="37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Analiza liniar discriminantă</a:t>
            </a:r>
          </a:p>
        </p:txBody>
      </p:sp>
      <p:pic>
        <p:nvPicPr>
          <p:cNvPr id="367" name="Picture 366"/>
          <p:cNvPicPr/>
          <p:nvPr/>
        </p:nvPicPr>
        <p:blipFill>
          <a:blip r:embed="rId2"/>
          <a:stretch/>
        </p:blipFill>
        <p:spPr>
          <a:xfrm>
            <a:off x="1059120" y="2377440"/>
            <a:ext cx="7787160" cy="5048640"/>
          </a:xfrm>
          <a:prstGeom prst="rect">
            <a:avLst/>
          </a:prstGeom>
          <a:ln>
            <a:noFill/>
          </a:ln>
        </p:spPr>
      </p:pic>
      <p:pic>
        <p:nvPicPr>
          <p:cNvPr id="368" name="Picture 367"/>
          <p:cNvPicPr/>
          <p:nvPr/>
        </p:nvPicPr>
        <p:blipFill>
          <a:blip r:embed="rId3"/>
          <a:stretch/>
        </p:blipFill>
        <p:spPr>
          <a:xfrm>
            <a:off x="3475800" y="1635480"/>
            <a:ext cx="3421080" cy="1208880"/>
          </a:xfrm>
          <a:prstGeom prst="rect">
            <a:avLst/>
          </a:prstGeom>
          <a:ln>
            <a:noFill/>
          </a:ln>
        </p:spPr>
      </p:pic>
      <p:sp>
        <p:nvSpPr>
          <p:cNvPr id="369" name="CustomShape 2"/>
          <p:cNvSpPr/>
          <p:nvPr/>
        </p:nvSpPr>
        <p:spPr>
          <a:xfrm>
            <a:off x="3840480" y="356616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0" name="CustomShape 3"/>
          <p:cNvSpPr/>
          <p:nvPr/>
        </p:nvSpPr>
        <p:spPr>
          <a:xfrm>
            <a:off x="5029200" y="369360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1" name="CustomShape 4"/>
          <p:cNvSpPr/>
          <p:nvPr/>
        </p:nvSpPr>
        <p:spPr>
          <a:xfrm>
            <a:off x="3200400" y="384048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2" name="CustomShape 5"/>
          <p:cNvSpPr/>
          <p:nvPr/>
        </p:nvSpPr>
        <p:spPr>
          <a:xfrm>
            <a:off x="4206240" y="347472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3" name="CustomShape 6"/>
          <p:cNvSpPr/>
          <p:nvPr/>
        </p:nvSpPr>
        <p:spPr>
          <a:xfrm>
            <a:off x="4114800" y="393192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4" name="CustomShape 7"/>
          <p:cNvSpPr/>
          <p:nvPr/>
        </p:nvSpPr>
        <p:spPr>
          <a:xfrm>
            <a:off x="4663440" y="384048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5" name="CustomShape 8"/>
          <p:cNvSpPr/>
          <p:nvPr/>
        </p:nvSpPr>
        <p:spPr>
          <a:xfrm>
            <a:off x="4572000" y="347472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6" name="CustomShape 9"/>
          <p:cNvSpPr/>
          <p:nvPr/>
        </p:nvSpPr>
        <p:spPr>
          <a:xfrm>
            <a:off x="3650040" y="384804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7" name="CustomShape 10"/>
          <p:cNvSpPr/>
          <p:nvPr/>
        </p:nvSpPr>
        <p:spPr>
          <a:xfrm>
            <a:off x="5303520" y="3419280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8" name="CustomShape 11"/>
          <p:cNvSpPr/>
          <p:nvPr/>
        </p:nvSpPr>
        <p:spPr>
          <a:xfrm>
            <a:off x="6014520" y="427752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79" name="CustomShape 12"/>
          <p:cNvSpPr/>
          <p:nvPr/>
        </p:nvSpPr>
        <p:spPr>
          <a:xfrm>
            <a:off x="7059240" y="415296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0" name="CustomShape 13"/>
          <p:cNvSpPr/>
          <p:nvPr/>
        </p:nvSpPr>
        <p:spPr>
          <a:xfrm>
            <a:off x="5482440" y="455184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1" name="CustomShape 14"/>
          <p:cNvSpPr/>
          <p:nvPr/>
        </p:nvSpPr>
        <p:spPr>
          <a:xfrm>
            <a:off x="6380280" y="418608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2" name="CustomShape 15"/>
          <p:cNvSpPr/>
          <p:nvPr/>
        </p:nvSpPr>
        <p:spPr>
          <a:xfrm>
            <a:off x="6288840" y="464328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3" name="CustomShape 16"/>
          <p:cNvSpPr/>
          <p:nvPr/>
        </p:nvSpPr>
        <p:spPr>
          <a:xfrm>
            <a:off x="6837480" y="455184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4" name="CustomShape 17"/>
          <p:cNvSpPr/>
          <p:nvPr/>
        </p:nvSpPr>
        <p:spPr>
          <a:xfrm>
            <a:off x="6746040" y="418608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5" name="CustomShape 18"/>
          <p:cNvSpPr/>
          <p:nvPr/>
        </p:nvSpPr>
        <p:spPr>
          <a:xfrm>
            <a:off x="5932080" y="452340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  <p:sp>
        <p:nvSpPr>
          <p:cNvPr id="386" name="CustomShape 19"/>
          <p:cNvSpPr/>
          <p:nvPr/>
        </p:nvSpPr>
        <p:spPr>
          <a:xfrm>
            <a:off x="7477560" y="4382640"/>
            <a:ext cx="182880" cy="182880"/>
          </a:xfrm>
          <a:prstGeom prst="ellipse">
            <a:avLst/>
          </a:prstGeom>
          <a:solidFill>
            <a:srgbClr val="0047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Shape 1"/>
          <p:cNvSpPr txBox="1"/>
          <p:nvPr/>
        </p:nvSpPr>
        <p:spPr>
          <a:xfrm>
            <a:off x="504000" y="37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Analiza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liniar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discriminantă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4400" b="0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Python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388" name="TextShape 2"/>
          <p:cNvSpPr txBox="1"/>
          <p:nvPr/>
        </p:nvSpPr>
        <p:spPr>
          <a:xfrm>
            <a:off x="343800" y="1998720"/>
            <a:ext cx="9424080" cy="524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Scikit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-learn: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https://</a:t>
            </a:r>
            <a:r>
              <a:rPr lang="en-US" sz="2400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scikit-learn.org</a:t>
            </a:r>
            <a:r>
              <a:rPr lang="en-US" sz="2400" spc="-1" dirty="0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/stable/modules/</a:t>
            </a:r>
            <a:r>
              <a:rPr lang="en-US" sz="2400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  <a:latin typeface="+mj-lt"/>
              </a:rPr>
              <a:t>lda_qda.html</a:t>
            </a:r>
            <a:endParaRPr lang="en-US" sz="2400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  <a:latin typeface="+mj-lt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from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sklearn.discriminant_analysis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import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LinearDiscriminantAnalysis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ourier New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LinearDiscriminantAnalysis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clf.fit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X_train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T_train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Y_test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clf.predict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X_test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metodă de clasificare este cea mai bună?</a:t>
            </a:r>
          </a:p>
        </p:txBody>
      </p:sp>
      <p:sp>
        <p:nvSpPr>
          <p:cNvPr id="392" name="TextShape 2"/>
          <p:cNvSpPr txBox="1"/>
          <p:nvPr/>
        </p:nvSpPr>
        <p:spPr>
          <a:xfrm>
            <a:off x="284480" y="1692720"/>
            <a:ext cx="9662160" cy="522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Teorema</a:t>
            </a:r>
            <a:r>
              <a:rPr lang="en-US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“No free lunch”: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Orice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sunt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echivalenți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atunci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când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performanța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lor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măsurată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medie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 pe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problemele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posibile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 nu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nici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scurtătură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alegerea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algoritmului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potrivit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anumită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Deobicei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încercăm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mulți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vedem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obține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bune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noastr</a:t>
            </a:r>
            <a:r>
              <a:rPr lang="en-US" sz="3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Shape 1"/>
          <p:cNvSpPr txBox="1"/>
          <p:nvPr/>
        </p:nvSpPr>
        <p:spPr>
          <a:xfrm>
            <a:off x="553451" y="313944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Bibliografie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Imagine 4" descr="9780521813976i.jpg"/>
          <p:cNvPicPr/>
          <p:nvPr/>
        </p:nvPicPr>
        <p:blipFill>
          <a:blip r:embed="rId2"/>
          <a:stretch/>
        </p:blipFill>
        <p:spPr>
          <a:xfrm>
            <a:off x="2755800" y="514080"/>
            <a:ext cx="4567680" cy="6531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Picture 394"/>
          <p:cNvPicPr/>
          <p:nvPr/>
        </p:nvPicPr>
        <p:blipFill>
          <a:blip r:embed="rId2"/>
          <a:stretch/>
        </p:blipFill>
        <p:spPr>
          <a:xfrm>
            <a:off x="2926080" y="484200"/>
            <a:ext cx="4297680" cy="647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A0003DC97DEF4B8F1101A4D4EA06E2" ma:contentTypeVersion="7" ma:contentTypeDescription="Create a new document." ma:contentTypeScope="" ma:versionID="bfef44f6b8d2b2f2f7150fb1160aa08e">
  <xsd:schema xmlns:xsd="http://www.w3.org/2001/XMLSchema" xmlns:xs="http://www.w3.org/2001/XMLSchema" xmlns:p="http://schemas.microsoft.com/office/2006/metadata/properties" xmlns:ns2="bc4f9371-6ecc-4f2c-abc4-90cc414ddc6e" targetNamespace="http://schemas.microsoft.com/office/2006/metadata/properties" ma:root="true" ma:fieldsID="5aed0b65cc35f1e2975c5a8cfb488eb9" ns2:_="">
    <xsd:import namespace="bc4f9371-6ecc-4f2c-abc4-90cc414dd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4f9371-6ecc-4f2c-abc4-90cc414dd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B26657-CF34-4A16-BC60-D296C1C72C5A}"/>
</file>

<file path=customXml/itemProps2.xml><?xml version="1.0" encoding="utf-8"?>
<ds:datastoreItem xmlns:ds="http://schemas.openxmlformats.org/officeDocument/2006/customXml" ds:itemID="{789B7AA2-6FD8-4337-BE70-9B8E6A8AF154}"/>
</file>

<file path=customXml/itemProps3.xml><?xml version="1.0" encoding="utf-8"?>
<ds:datastoreItem xmlns:ds="http://schemas.openxmlformats.org/officeDocument/2006/customXml" ds:itemID="{3E86EAEB-242A-4CB8-A92E-E686B6E8BED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27813</TotalTime>
  <Words>2074</Words>
  <Application>Microsoft Macintosh PowerPoint</Application>
  <PresentationFormat>Custom</PresentationFormat>
  <Paragraphs>449</Paragraphs>
  <Slides>68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</vt:lpstr>
      <vt:lpstr>Calibri</vt:lpstr>
      <vt:lpstr>Cambria Math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 primală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 primală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 primală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Radu Ionescu</cp:lastModifiedBy>
  <cp:revision>516</cp:revision>
  <dcterms:created xsi:type="dcterms:W3CDTF">2016-10-12T16:27:10Z</dcterms:created>
  <dcterms:modified xsi:type="dcterms:W3CDTF">2026-04-01T12:35:34Z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0x01010043A0003DC97DEF4B8F1101A4D4EA06E2</vt:lpwstr>
  </property>
</Properties>
</file>