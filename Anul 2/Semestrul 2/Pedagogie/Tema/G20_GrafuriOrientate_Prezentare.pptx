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3200400" cy="50154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27248" y="64008"/>
            <a:ext cx="73152" cy="5015484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320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6032" y="804672"/>
            <a:ext cx="2743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Teoria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Grafurilor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56032" y="2816352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Considerații metodice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4A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și software educațional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Didactica Informaticii • 2025–2026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256032"/>
            <a:ext cx="5394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Cuprins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29000" y="694944"/>
            <a:ext cx="822960" cy="4572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841248"/>
            <a:ext cx="5394960" cy="36576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86868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58768" y="86868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sunt grafurile orientate?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29000" y="1261872"/>
            <a:ext cx="5394960" cy="36576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128930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58768" y="128930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Terminologie esențială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0" y="1682496"/>
            <a:ext cx="5394960" cy="36576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170992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58768" y="170992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Reprezentări (matrice, liste)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29000" y="2103120"/>
            <a:ext cx="5394960" cy="36576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213055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58768" y="213055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Algoritmi fundamentali (BFS, DFS)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29000" y="2523744"/>
            <a:ext cx="5394960" cy="36576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255117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58768" y="255117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tare conexe (Kosaraju)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29000" y="2944368"/>
            <a:ext cx="5394960" cy="36576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297180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58768" y="297180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Drumuri minime (Dijkstra, Bellman-Ford)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429000" y="3364992"/>
            <a:ext cx="5394960" cy="36576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339242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858768" y="339242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Aplicații practice &amp; interdisciplinare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429000" y="3785616"/>
            <a:ext cx="5394960" cy="36576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381304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58768" y="381304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educațional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429000" y="4206240"/>
            <a:ext cx="5394960" cy="36576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93008" y="423367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858768" y="423367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Proiect didactic — structură lecție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429000" y="4626864"/>
            <a:ext cx="5394960" cy="365760"/>
          </a:xfrm>
          <a:prstGeom prst="rect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93008" y="465429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858768" y="465429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Concluzii metodice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sunt grafurile orientate? — Motivație și definiție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722376"/>
            <a:ext cx="1005840" cy="5029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" y="914400"/>
            <a:ext cx="8375904" cy="8229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96012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graf orientat (digraf) G = (V, A) este o pereche formată dintr-o mulțime V de vârfuri și o mulțime A ⊆ V×V de arce, unde fiecare arc (u, v) are o direcție: de la u la v.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1874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din viața reală: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" y="22860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1208" y="2487168"/>
            <a:ext cx="594360" cy="594360"/>
          </a:xfrm>
          <a:prstGeom prst="ellipse">
            <a:avLst/>
          </a:prstGeom>
          <a:solidFill>
            <a:srgbClr val="117A65">
              <a:alpha val="20000"/>
            </a:srgbClr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487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07008" y="2423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07008" y="276148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Paginile web = vârfuri, linkurile = arce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36008" y="22860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73168" y="2487168"/>
            <a:ext cx="594360" cy="594360"/>
          </a:xfrm>
          <a:prstGeom prst="ellipse">
            <a:avLst/>
          </a:prstGeom>
          <a:solidFill>
            <a:srgbClr val="117A65">
              <a:alpha val="20000"/>
            </a:srgbClr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2487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58968" y="2423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Rețele sociale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58968" y="276148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"Urmărește" pe Twitter/Instagram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" y="3493008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1208" y="3694176"/>
            <a:ext cx="594360" cy="594360"/>
          </a:xfrm>
          <a:prstGeom prst="ellipse">
            <a:avLst/>
          </a:prstGeom>
          <a:solidFill>
            <a:srgbClr val="117A65">
              <a:alpha val="20000"/>
            </a:srgbClr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369417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07008" y="36301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Hărți GPS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07008" y="39684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Străzi cu sens unic, direcții de mers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36008" y="3493008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73168" y="3694176"/>
            <a:ext cx="594360" cy="594360"/>
          </a:xfrm>
          <a:prstGeom prst="ellipse">
            <a:avLst/>
          </a:prstGeom>
          <a:solidFill>
            <a:srgbClr val="117A65">
              <a:alpha val="20000"/>
            </a:srgbClr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369417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58968" y="36301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Sarcini (task scheduling)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58968" y="39684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Dependențe: A trebuie înainte de B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84048" y="4709160"/>
            <a:ext cx="8375904" cy="274320"/>
          </a:xfrm>
          <a:prstGeom prst="rect">
            <a:avLst/>
          </a:prstGeom>
          <a:solidFill>
            <a:srgbClr val="D4AC0D">
              <a:alpha val="25000"/>
            </a:srgbClr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72744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Graf neorientat: arcul (u,v) ≡ (v,u)   |   Graf orientat: arcul (u,v) ≠ (v,u) — direcția contează!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Terminologie esențială — noțiuni de bază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722376"/>
            <a:ext cx="1005840" cy="5029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" y="932688"/>
            <a:ext cx="413308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932688"/>
            <a:ext cx="59436" cy="84124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9966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(u → v)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131673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Pereche ordonată de vârfuri. u = extremitate inițială, v = extremitate finală.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0016" y="932688"/>
            <a:ext cx="413308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0016" y="932688"/>
            <a:ext cx="59436" cy="8412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9966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interior d⁻(v)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316736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Numărul de arce care intră în v: |{u | (u,v) ∈ A}|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4048" y="1911096"/>
            <a:ext cx="413308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1911096"/>
            <a:ext cx="59436" cy="841248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19751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6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exterior d⁺(v)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2295144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Numărul de arce care ies din v: |{w | (v,w) ∈ A}|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0016" y="1911096"/>
            <a:ext cx="413308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0016" y="1911096"/>
            <a:ext cx="59436" cy="84124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9751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Drum (lanț orientat)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2295144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Succesiune de vârfuri v₀,v₁,...,vₖ cu (vᵢ,vᵢ₊₁) ∈ A pentru orice i.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84048" y="2889504"/>
            <a:ext cx="413308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2889504"/>
            <a:ext cx="59436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953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" y="32735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Drum cu vârful de start = vârful de final: v₀ = vₖ.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700016" y="2889504"/>
            <a:ext cx="413308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0016" y="2889504"/>
            <a:ext cx="59436" cy="841248"/>
          </a:xfrm>
          <a:prstGeom prst="rect">
            <a:avLst/>
          </a:prstGeom>
          <a:solidFill>
            <a:srgbClr val="117864"/>
          </a:solidFill>
          <a:ln w="12700">
            <a:solidFill>
              <a:srgbClr val="117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953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7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 tare conex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3273552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∀ u,v ∈ V există drum de la u la v ȘI drum de la v la u.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84048" y="3867912"/>
            <a:ext cx="413308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84048" y="3867912"/>
            <a:ext cx="59436" cy="841248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3931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4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Sursă / Destinație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0352" y="425196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Sursă: d⁻(v)=0.  Destinație (pozor): d⁺(v)=0.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700016" y="3867912"/>
            <a:ext cx="413308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0016" y="3867912"/>
            <a:ext cx="59436" cy="8412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931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46320" y="425196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Directed Acyclic Graph — digraf fără circuite. Baza sortării topologice.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84048" y="4709160"/>
            <a:ext cx="8375904" cy="274320"/>
          </a:xfrm>
          <a:prstGeom prst="rect">
            <a:avLst/>
          </a:prstGeom>
          <a:solidFill>
            <a:srgbClr val="D6EA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Notă didactică: Introduceți întâi noțiunile pe exemple vizuale (desenate la tablă / Gephi) ÎNAINTE de definițiile formale!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Reprezentări ale grafurilor orientate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722376"/>
            <a:ext cx="1005840" cy="5029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" y="91440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914400"/>
            <a:ext cx="411480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41832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Matricea de adiacență A[n×n]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3898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A[i][j] = 1 dacă există arc (i→j)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A[i][j] = 0 altfel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502920" cy="347472"/>
          </a:xfrm>
          <a:prstGeom prst="rect">
            <a:avLst/>
          </a:prstGeom>
          <a:solidFill>
            <a:srgbClr val="D5E8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9933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170432" y="1993392"/>
            <a:ext cx="502920" cy="347472"/>
          </a:xfrm>
          <a:prstGeom prst="rect">
            <a:avLst/>
          </a:prstGeom>
          <a:solidFill>
            <a:srgbClr val="D5E8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19933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719072" y="1993392"/>
            <a:ext cx="502920" cy="347472"/>
          </a:xfrm>
          <a:prstGeom prst="rect">
            <a:avLst/>
          </a:prstGeom>
          <a:solidFill>
            <a:srgbClr val="D5E8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19072" y="19933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7712" y="1993392"/>
            <a:ext cx="502920" cy="347472"/>
          </a:xfrm>
          <a:prstGeom prst="rect">
            <a:avLst/>
          </a:prstGeom>
          <a:solidFill>
            <a:srgbClr val="D5E8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7712" y="19933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16352" y="1993392"/>
            <a:ext cx="502920" cy="347472"/>
          </a:xfrm>
          <a:prstGeom prst="rect">
            <a:avLst/>
          </a:prstGeom>
          <a:solidFill>
            <a:srgbClr val="D5E8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16352" y="19933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" y="2377440"/>
            <a:ext cx="502920" cy="347472"/>
          </a:xfrm>
          <a:prstGeom prst="rect">
            <a:avLst/>
          </a:prstGeom>
          <a:solidFill>
            <a:srgbClr val="D5E8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37744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170432" y="2377440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0432" y="237744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719072" y="2377440"/>
            <a:ext cx="502920" cy="347472"/>
          </a:xfrm>
          <a:prstGeom prst="rect">
            <a:avLst/>
          </a:prstGeom>
          <a:solidFill>
            <a:srgbClr val="D5F5E3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19072" y="237744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267712" y="2377440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67712" y="237744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816352" y="2377440"/>
            <a:ext cx="502920" cy="347472"/>
          </a:xfrm>
          <a:prstGeom prst="rect">
            <a:avLst/>
          </a:prstGeom>
          <a:solidFill>
            <a:srgbClr val="D5F5E3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16352" y="237744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1792" y="2761488"/>
            <a:ext cx="502920" cy="347472"/>
          </a:xfrm>
          <a:prstGeom prst="rect">
            <a:avLst/>
          </a:prstGeom>
          <a:solidFill>
            <a:srgbClr val="D5E8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276148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170432" y="2761488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70432" y="276148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719072" y="2761488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19072" y="276148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267712" y="2761488"/>
            <a:ext cx="502920" cy="347472"/>
          </a:xfrm>
          <a:prstGeom prst="rect">
            <a:avLst/>
          </a:prstGeom>
          <a:solidFill>
            <a:srgbClr val="D5F5E3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67712" y="276148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816352" y="2761488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16352" y="276148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1792" y="3145536"/>
            <a:ext cx="502920" cy="347472"/>
          </a:xfrm>
          <a:prstGeom prst="rect">
            <a:avLst/>
          </a:prstGeom>
          <a:solidFill>
            <a:srgbClr val="D5E8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" y="314553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170432" y="3145536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70432" y="314553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719072" y="3145536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19072" y="314553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267712" y="3145536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67712" y="314553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2816352" y="3145536"/>
            <a:ext cx="502920" cy="347472"/>
          </a:xfrm>
          <a:prstGeom prst="rect">
            <a:avLst/>
          </a:prstGeom>
          <a:solidFill>
            <a:srgbClr val="D5F5E3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16352" y="314553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21792" y="3529584"/>
            <a:ext cx="502920" cy="347472"/>
          </a:xfrm>
          <a:prstGeom prst="rect">
            <a:avLst/>
          </a:prstGeom>
          <a:solidFill>
            <a:srgbClr val="D5E8F5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" y="352958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1170432" y="3529584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70432" y="352958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1719072" y="3529584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19072" y="352958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2267712" y="3529584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67712" y="352958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2816352" y="3529584"/>
            <a:ext cx="502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16352" y="352958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48640" y="39136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Graf: 1→2, 1→4, 2→3, 3→4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48640" y="420624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Verificare arc O(1)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Spațiu O(n²) — ineficient pt. grafuri rare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4645152" y="91440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645152" y="914400"/>
            <a:ext cx="4114800" cy="38404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73168" y="941832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Lista de adiacență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4773168" y="13898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Fiecare vârf → lista vecinilor săi (destinații):</a:t>
            </a:r>
            <a:endParaRPr lang="en-US" sz="1250" dirty="0"/>
          </a:p>
        </p:txBody>
      </p:sp>
      <p:sp>
        <p:nvSpPr>
          <p:cNvPr id="67" name="Shape 65"/>
          <p:cNvSpPr/>
          <p:nvPr/>
        </p:nvSpPr>
        <p:spPr>
          <a:xfrm>
            <a:off x="4773168" y="1847088"/>
            <a:ext cx="3566160" cy="402336"/>
          </a:xfrm>
          <a:prstGeom prst="rect">
            <a:avLst/>
          </a:prstGeom>
          <a:solidFill>
            <a:srgbClr val="F2F6F9"/>
          </a:solidFill>
          <a:ln w="6350">
            <a:solidFill>
              <a:srgbClr val="DCE0E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46320" y="186537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5257800" y="1865376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[2, 4]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4773168" y="2322576"/>
            <a:ext cx="3566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46320" y="234086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5257800" y="2340864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[3]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4773168" y="2798064"/>
            <a:ext cx="3566160" cy="402336"/>
          </a:xfrm>
          <a:prstGeom prst="rect">
            <a:avLst/>
          </a:prstGeom>
          <a:solidFill>
            <a:srgbClr val="F2F6F9"/>
          </a:solidFill>
          <a:ln w="6350">
            <a:solidFill>
              <a:srgbClr val="DCE0E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46320" y="281635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5257800" y="281635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[4]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4773168" y="3273552"/>
            <a:ext cx="3566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46320" y="32918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5257800" y="329184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[ ]  (destinație)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4773168" y="384048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Spațiu O(|V|+|A|) — eficient pt. grafuri rare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Verificare arc O(grad) nu O(1)</a:t>
            </a:r>
            <a:endParaRPr lang="en-US" sz="1150" dirty="0"/>
          </a:p>
        </p:txBody>
      </p:sp>
      <p:sp>
        <p:nvSpPr>
          <p:cNvPr id="80" name="Text 78"/>
          <p:cNvSpPr/>
          <p:nvPr/>
        </p:nvSpPr>
        <p:spPr>
          <a:xfrm>
            <a:off x="4773168" y="4462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— listă de adiacență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73168" y="4709160"/>
            <a:ext cx="3840480" cy="256032"/>
          </a:xfrm>
          <a:prstGeom prst="rect">
            <a:avLst/>
          </a:prstGeom>
          <a:solidFill>
            <a:srgbClr val="EAF9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 = {1:[2,4], 2:[3], 3:[4], 4:[]}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837590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Parcurgerea grafurilor orientate: BFS și DFS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384048" y="676656"/>
            <a:ext cx="1005840" cy="5029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" y="868680"/>
            <a:ext cx="4160520" cy="4069080"/>
          </a:xfrm>
          <a:prstGeom prst="rect">
            <a:avLst/>
          </a:prstGeom>
          <a:solidFill>
            <a:srgbClr val="132232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868680"/>
            <a:ext cx="416052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9611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 BFS — Breadth-First Search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3441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deque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15499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17556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bfs(graf, start):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19613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vizitat = set([start])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1671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coada = deque([start])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3728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ordine = []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25786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coada: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27843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= coada.popleft()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29900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ordine.append(v)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1958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w in graf[v]: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34015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w not in vizitat: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36073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vizitat.add(w)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38130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coada.append(w)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0187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ordine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2611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Complexitate: O(|V| + |A|)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53542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Aplicare: nivel minim de la sursă, ordinea vizitării pe niveluri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99432" y="868680"/>
            <a:ext cx="4160520" cy="4069080"/>
          </a:xfrm>
          <a:prstGeom prst="rect">
            <a:avLst/>
          </a:prstGeom>
          <a:solidFill>
            <a:srgbClr val="132232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99432" y="868680"/>
            <a:ext cx="4160520" cy="38404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18304" y="89611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 DFS — Depth-First Search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18304" y="13441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dfs(graf, v, vizitat=None,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18304" y="15499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ordine=None):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18304" y="17556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vizitat is None: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18304" y="19613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vizitat = set()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18304" y="21671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ordine  = []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18304" y="23728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vizitat.add(v)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18304" y="25786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ordine.append(v)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18304" y="27843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w in graf[v]: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18304" y="29900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w not in vizitat: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18304" y="31958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dfs(graf, w,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18304" y="34015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vizitat, ordine)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18304" y="36073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ordine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18304" y="38130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18304" y="40187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E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iterativ cu stivă: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718304" y="42245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E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înlocuiți deque cu list()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718304" y="44302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E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și popleft() cu pop()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718304" y="42611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Complexitate: O(|V| + |A|)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718304" y="453542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Aplicare: detecție cicluri, sortare topologică, CTC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Sortarea topologică — DAG-uri și dependențe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722376"/>
            <a:ext cx="1005840" cy="5029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" y="914400"/>
            <a:ext cx="8375904" cy="7132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950976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Sortarea topologică ordonează vârfurile unui DAG astfel încât pentru orice arc (u→v), u apare înaintea lui v în ordonare. Posibilă DOAR pe grafuri fără circuite (DAG).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84048" y="1773936"/>
            <a:ext cx="5120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773936"/>
            <a:ext cx="5120640" cy="36576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792224"/>
            <a:ext cx="4892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Algoritmul Kahn (bazat pe grad interior)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231136"/>
            <a:ext cx="4846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deque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" y="2382012"/>
            <a:ext cx="4846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kahn(graf, n):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2532888"/>
            <a:ext cx="4846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grad_in = {v: 0 for v in graf}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2683764"/>
            <a:ext cx="4846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v in graf: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" y="2834640"/>
            <a:ext cx="4846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w in graf[v]: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" y="2985516"/>
            <a:ext cx="4846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grad_in[w] +=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" y="3136392"/>
            <a:ext cx="4846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coada = deque(v for v in graf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" y="3287268"/>
            <a:ext cx="4846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grad_in[v]==0)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" y="3438144"/>
            <a:ext cx="4846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rezultat = []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" y="3589020"/>
            <a:ext cx="4846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coada: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" y="3739896"/>
            <a:ext cx="4846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= coada.popleft()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" y="3890772"/>
            <a:ext cx="4846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rezultat.append(v)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" y="4041648"/>
            <a:ext cx="4846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w in graf[v]: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0352" y="4192524"/>
            <a:ext cx="4846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grad_in[w] -= 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" y="4343400"/>
            <a:ext cx="4846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grad_in[w] == 0: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" y="4494276"/>
            <a:ext cx="4846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coada.append(w)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" y="4645152"/>
            <a:ext cx="4846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rezultat  # [] = ciclu!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50992" y="1773936"/>
            <a:ext cx="3108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50992" y="1773936"/>
            <a:ext cx="3108960" cy="3657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79008" y="1792224"/>
            <a:ext cx="2880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Aplicații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760720" y="2231136"/>
            <a:ext cx="2834640" cy="566928"/>
          </a:xfrm>
          <a:prstGeom prst="rect">
            <a:avLst/>
          </a:prstGeom>
          <a:solidFill>
            <a:srgbClr val="F4ECF7"/>
          </a:solidFill>
          <a:ln w="6350">
            <a:solidFill>
              <a:srgbClr val="DCE0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06440" y="2267712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236208" y="226771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Make/build systems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(compilare în ordine)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760720" y="2871216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06440" y="2907792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236208" y="290779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Planificarea cursurilor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(prerequisite courses)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760720" y="3511296"/>
            <a:ext cx="2834640" cy="566928"/>
          </a:xfrm>
          <a:prstGeom prst="rect">
            <a:avLst/>
          </a:prstGeom>
          <a:solidFill>
            <a:srgbClr val="F4ECF7"/>
          </a:solidFill>
          <a:ln w="6350">
            <a:solidFill>
              <a:srgbClr val="DCE0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06440" y="3547872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236208" y="354787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scheduling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(dependențe între sarcini)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60720" y="4151376"/>
            <a:ext cx="2834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0E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06440" y="4187952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236208" y="418795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Evaluarea formulelor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în spreadsheet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84048" y="4709160"/>
            <a:ext cx="8375904" cy="274320"/>
          </a:xfrm>
          <a:prstGeom prst="rect">
            <a:avLst/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Dacă rezultatul are mai puțin de n vârfuri → graful conține ciclu (nu este DAG)!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 tare conexe — Algoritmul Kosaraju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722376"/>
            <a:ext cx="1005840" cy="5029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" y="914400"/>
            <a:ext cx="8375904" cy="658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950976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componentă tare conexă (CTC / SCC) este un subgraf maximal în care oricare două vârfuri u și v sunt reciproc accesibile: există drum u→v ȘI drum v→u.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84048" y="1719072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719072"/>
            <a:ext cx="2706624" cy="38404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" y="2176272"/>
            <a:ext cx="502920" cy="502920"/>
          </a:xfrm>
          <a:prstGeom prst="ellipse">
            <a:avLst/>
          </a:prstGeom>
          <a:solidFill>
            <a:srgbClr val="117A65">
              <a:alpha val="20000"/>
            </a:srgbClr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2176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2064" y="173736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Pasul 1: DFS pe 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" y="2761488"/>
            <a:ext cx="2487168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Rulează DFS pe graful original G. Înregistrează ordinea de finalizare a vârfurilor (stivă).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36976" y="1719072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36976" y="1719072"/>
            <a:ext cx="2706624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46704" y="2176272"/>
            <a:ext cx="502920" cy="502920"/>
          </a:xfrm>
          <a:prstGeom prst="ellipse">
            <a:avLst/>
          </a:prstGeom>
          <a:solidFill>
            <a:srgbClr val="1A5276">
              <a:alpha val="20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46704" y="2176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64992" y="173736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Pasul 2: Transpus Gᵀ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64992" y="2761488"/>
            <a:ext cx="2487168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Construiește graful transpus Gᵀ: inversează direcția fiecărui arc (u→v devine v→u).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9904" y="1719072"/>
            <a:ext cx="270662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9904" y="1719072"/>
            <a:ext cx="2706624" cy="38404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9632" y="2176272"/>
            <a:ext cx="502920" cy="502920"/>
          </a:xfrm>
          <a:prstGeom prst="ellipse">
            <a:avLst/>
          </a:prstGeom>
          <a:solidFill>
            <a:srgbClr val="6C3483">
              <a:alpha val="20000"/>
            </a:srgbClr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2176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17920" y="1737360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Pasul 3: DFS pe Gᵀ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2761488"/>
            <a:ext cx="2487168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Rulează DFS pe Gᵀ în ordinea inversă a finalizării. Fiecare arbore DFS = o CTC.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090672" y="2862072"/>
            <a:ext cx="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2862072"/>
            <a:ext cx="0" cy="0"/>
          </a:xfrm>
          <a:prstGeom prst="line">
            <a:avLst/>
          </a:prstGeom>
          <a:noFill/>
          <a:ln w="12700">
            <a:solidFill>
              <a:srgbClr val="7F8C8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45536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998464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384048" y="4133088"/>
            <a:ext cx="4114800" cy="777240"/>
          </a:xfrm>
          <a:prstGeom prst="rect">
            <a:avLst/>
          </a:prstGeom>
          <a:solidFill>
            <a:srgbClr val="EAF9EE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418795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Complexitate: O(|V| + |A|)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Fiecare vârf și arc vizitat de 2 ori (DFS × 2).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645152" y="4133088"/>
            <a:ext cx="4114800" cy="777240"/>
          </a:xfrm>
          <a:prstGeom prst="rect">
            <a:avLst/>
          </a:prstGeom>
          <a:solidFill>
            <a:srgbClr val="F4ECF7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91456" y="418795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Aplicații: rețele de comunicații, dependențe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ciclice, compilatoare (analiză module).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Drumuri minime — Dijkstra și Bellman-Ford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722376"/>
            <a:ext cx="1005840" cy="5029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32688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32688"/>
            <a:ext cx="2788920" cy="457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960120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🏃  Dijkstra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" y="1481328"/>
            <a:ext cx="2542032" cy="292608"/>
          </a:xfrm>
          <a:prstGeom prst="rect">
            <a:avLst/>
          </a:prstGeom>
          <a:solidFill>
            <a:srgbClr val="1A5276">
              <a:alpha val="18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" y="149961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Costuri NON-NEGATIVE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9768" y="187452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O((|V|+|A|) log |V|) cu heap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2194560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Explorează vârfurile în ordine crescătoare a distanței de la sursă. Folosește o coadă cu prioritate (min-heap).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29768" y="306324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Utilizări: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" y="3337560"/>
            <a:ext cx="25420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și navigație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Rețele de calculatoare (OSPF)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Jocuri video (pathfinding A*)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932688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932688"/>
            <a:ext cx="2788920" cy="45720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960120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Bellman-Ford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355848" y="1481328"/>
            <a:ext cx="2542032" cy="292608"/>
          </a:xfrm>
          <a:prstGeom prst="rect">
            <a:avLst/>
          </a:prstGeom>
          <a:solidFill>
            <a:srgbClr val="CA6F1E">
              <a:alpha val="18000"/>
            </a:srgbClr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92424" y="149961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6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Acceptă costuri NEGATIVE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55848" y="187452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O(|V| · |A|) — mai lent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55848" y="2194560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Relaxează toate arcele de |V|-1 ori. Detectează cicluri de cost negativ (dacă relaxarea mai poate continua la pasul |V|).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55848" y="306324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6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Utilizări: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5848" y="3337560"/>
            <a:ext cx="25420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Detectare cicluri negative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BGP în internet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Arbitraj financiar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932688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932688"/>
            <a:ext cx="2788920" cy="4572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960120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Floyd-Warshall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81928" y="1481328"/>
            <a:ext cx="2542032" cy="292608"/>
          </a:xfrm>
          <a:prstGeom prst="rect">
            <a:avLst/>
          </a:prstGeom>
          <a:solidFill>
            <a:srgbClr val="6C3483">
              <a:alpha val="18000"/>
            </a:srgbClr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8504" y="149961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Calculează TOATE drumurile minime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81928" y="187452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O(|V|³) — toate perechile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81928" y="2194560"/>
            <a:ext cx="2542032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Programare dinamică pe triplete (i,j,k): dist[i][j] = min(dist[i][j], dist[i][k]+dist[k][j]) pentru fiecare vârf intermediar k.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81928" y="306324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Utilizări: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81928" y="3337560"/>
            <a:ext cx="25420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Matrice distanțe complete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Detectare cicluri negative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Grafuri dense mici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Aplicații practice și conexiuni interdisciplinare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722376"/>
            <a:ext cx="1005840" cy="5029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278892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014984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 Informatică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1435608"/>
            <a:ext cx="25420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Compilatoare: analiza dependențelor între module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Sisteme de operare: detecția deadlock-ului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Baze de date: integritate referențială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4408" y="96012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960120"/>
            <a:ext cx="2788920" cy="41148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4136" y="1014984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Rețelistică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74136" y="1435608"/>
            <a:ext cx="25420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Protocoale de rutare (OSPF, BGP)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Fluxuri maxime în rețele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Detecția buclelor de rutare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08776" y="96012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8776" y="960120"/>
            <a:ext cx="2788920" cy="4114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8504" y="1014984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 Matematică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18504" y="1435608"/>
            <a:ext cx="25420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Teoria jocurilor: grafuri de stări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Lanțuri Markov (grafuri probabilistice)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Algebră liniară: matricea Laplacian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97180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71800"/>
            <a:ext cx="2788920" cy="411480"/>
          </a:xfrm>
          <a:prstGeom prst="rect">
            <a:avLst/>
          </a:prstGeom>
          <a:solidFill>
            <a:srgbClr val="117864"/>
          </a:solidFill>
          <a:ln w="12700">
            <a:solidFill>
              <a:srgbClr val="117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026664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🧬  Biologie / Medicină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9768" y="3447288"/>
            <a:ext cx="25420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Rețele de reglare genică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Rețele metabolice (reacții chimice)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Propagarea bolilor în populație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64408" y="297180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64408" y="2971800"/>
            <a:ext cx="2788920" cy="41148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74136" y="3026664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 Științe sociale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74136" y="3447288"/>
            <a:ext cx="25420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influenței în rețele sociale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Propagarea știrilor false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 PageRank (Google)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08776" y="2971800"/>
            <a:ext cx="2788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08776" y="2971800"/>
            <a:ext cx="278892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18504" y="3026664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🚚  Logistică / Transport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18504" y="3447288"/>
            <a:ext cx="254203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Optimizarea rutelor de livrare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Planificarea zborurilor (hub-and-spoke)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Rețele de aprovizionare (supply chain)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educațional — instrumente pentru predare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722376"/>
            <a:ext cx="1005840" cy="5029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4206240" cy="41148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101498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Gephi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97480" y="105156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Vizualizare &amp; analiză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8056" y="143560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Open-source, gratuit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Vizualizare interactivă a grafurilor mari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Algoritmi incluși: ForceAtlas, PageRank, CTC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8056" y="2377440"/>
            <a:ext cx="3931920" cy="329184"/>
          </a:xfrm>
          <a:prstGeom prst="rect">
            <a:avLst/>
          </a:prstGeom>
          <a:solidFill>
            <a:srgbClr val="117A65">
              <a:alpha val="12000"/>
            </a:srgbClr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404872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Ideal pentru demonstrații vizuale și proiecte cu date reale (ex: rețele sociale)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96012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960120"/>
            <a:ext cx="4206240" cy="411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7176" y="101498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🐍  NetworkX (Python)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86600" y="105156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Bibliotecă Python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37176" y="143560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Ușor de instalat: pip install networkx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Implementări complete: BFS, DFS, Dijkstra, CTC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Integrare cu matplotlib pentru vizualizare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37176" y="2377440"/>
            <a:ext cx="3931920" cy="329184"/>
          </a:xfrm>
          <a:prstGeom prst="rect">
            <a:avLst/>
          </a:prstGeom>
          <a:solidFill>
            <a:srgbClr val="1A5276">
              <a:alpha val="12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2404872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Ideal pentru ore de laborator — cod Python simplu și lizibil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9718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971800"/>
            <a:ext cx="4206240" cy="4114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" y="302666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VisuAlgo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97480" y="306324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Platformă web interactivă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8056" y="344728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Animații pas-cu-pas ale algoritmilor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Gratuit: https://visualgo.net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BFS, DFS, Dijkstra, Bellman-Ford, SCC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48056" y="4389120"/>
            <a:ext cx="3931920" cy="329184"/>
          </a:xfrm>
          <a:prstGeom prst="rect">
            <a:avLst/>
          </a:prstGeom>
          <a:solidFill>
            <a:srgbClr val="6C3483">
              <a:alpha val="12000"/>
            </a:srgbClr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4416552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Ideal pentru predarea algoritmilor — elevii văd fiecare pas al execuției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9718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971800"/>
            <a:ext cx="4206240" cy="41148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37176" y="3026664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 Graph Editor (CS Academy)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86600" y="306324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online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37176" y="344728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vizual: adaugă vârfuri/arce cu click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Rulează algoritmi direct pe graful desenat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 la https://csacademy.com/app/graph_editor/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37176" y="4389120"/>
            <a:ext cx="3931920" cy="329184"/>
          </a:xfrm>
          <a:prstGeom prst="rect">
            <a:avLst/>
          </a:prstGeom>
          <a:solidFill>
            <a:srgbClr val="CA6F1E">
              <a:alpha val="12000"/>
            </a:srgbClr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4416552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6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Ideal pentru exerciții în clasă — elevii desenează graful și testează instant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91440"/>
            <a:ext cx="8375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Python — NetworkX: construcție, vizualizare, algoritmi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0100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694944"/>
            <a:ext cx="5166360" cy="42519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777240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networkx as nx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909828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9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042416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175004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Creare digraf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307592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nx.DiGraph()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440180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572768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Adaugă arce (automat adaugă vârfuri)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1705356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G.add_edges_from([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1837944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(1,2),(1,3),(2,4),(3,4),(4,5),(3,5)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1970532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103120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2235708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BFS de la vârful 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2368296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bfs = list(nx.bfs_tree(G, 1).nodes())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2500884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print('BFS:', bfs)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2633472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2766060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Drumuri minime (Dijkstra)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2898648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 = nx.single_source_shortest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031236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_path_length(G, 1)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3163824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print('Distanțe:', dist)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3296412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3429000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Componente tare conexe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3561588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ctc = list(nx.strongly_connected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3694176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_components(G))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11480" y="3826764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print('CTC:', ctc)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3959352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4091940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Vizualizare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4224528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nx.draw(G, with_labels=True,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" y="4357116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arrows=True)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" y="4489704"/>
            <a:ext cx="4919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577840" y="694944"/>
            <a:ext cx="3291840" cy="2103120"/>
          </a:xfrm>
          <a:prstGeom prst="rect">
            <a:avLst/>
          </a:prstGeom>
          <a:solidFill>
            <a:srgbClr val="0D1A0D"/>
          </a:solidFill>
          <a:ln w="12700">
            <a:solidFill>
              <a:srgbClr val="1E6B1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87568" y="76809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 Output: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87568" y="1078992"/>
            <a:ext cx="3090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BFS: [1, 2, 3, 4, 5]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687568" y="1280160"/>
            <a:ext cx="3090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87568" y="1481328"/>
            <a:ext cx="3090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Distanțe de la 1: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687568" y="1682496"/>
            <a:ext cx="3090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{1:0, 2:1, 3:1,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687568" y="1883664"/>
            <a:ext cx="3090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4:2, 5:2}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687568" y="2084832"/>
            <a:ext cx="3090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687568" y="2286000"/>
            <a:ext cx="3090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CTC: [{5},{4},{2},{3},{1}]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687568" y="2487168"/>
            <a:ext cx="30906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 CTC → graf aciclic)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577840" y="2944368"/>
            <a:ext cx="3291840" cy="1993392"/>
          </a:xfrm>
          <a:prstGeom prst="rect">
            <a:avLst/>
          </a:prstGeom>
          <a:solidFill>
            <a:srgbClr val="132232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87568" y="3017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Instalare rapidă: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687568" y="3364992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networkx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687568" y="3584448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6EA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matplotlib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687568" y="3803904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687568" y="4023360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F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Google Colab: deja instalat!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687568" y="4242816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F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Rulați direct în browser: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687568" y="4462272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F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colab.research.google.com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Proiect didactic — Structura lecției: Grafuri orientate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722376"/>
            <a:ext cx="1005840" cy="5029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59436" cy="62179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960120"/>
            <a:ext cx="960120" cy="621792"/>
          </a:xfrm>
          <a:prstGeom prst="rect">
            <a:avLst/>
          </a:prstGeom>
          <a:solidFill>
            <a:srgbClr val="D4AC0D">
              <a:alpha val="15000"/>
            </a:srgbClr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9784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" y="12527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103327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Captarea atenției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1307592"/>
            <a:ext cx="7269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Arată harta Google Maps cu sens unic — De ce nu poți merge pe același drum înapoi? → Grafuri orientate din viața reală.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1664208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664208"/>
            <a:ext cx="59436" cy="621792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1664208"/>
            <a:ext cx="960120" cy="621792"/>
          </a:xfrm>
          <a:prstGeom prst="rect">
            <a:avLst/>
          </a:prstGeom>
          <a:solidFill>
            <a:srgbClr val="CA6F1E">
              <a:alpha val="15000"/>
            </a:srgbClr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168249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6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" y="195681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17373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6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Reactualizare cunoștințe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2011680"/>
            <a:ext cx="7269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Recapitulare grafuri neorientate (G19). Diferențe cheie: arc vs. muchie, grad interior/exterior vs. grad simplu.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2368296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368296"/>
            <a:ext cx="59436" cy="6217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2368296"/>
            <a:ext cx="960120" cy="621792"/>
          </a:xfrm>
          <a:prstGeom prst="rect">
            <a:avLst/>
          </a:prstGeom>
          <a:solidFill>
            <a:srgbClr val="1A5276">
              <a:alpha val="15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23865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" y="266090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📚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244144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Predare noțiuni noi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17320" y="2715768"/>
            <a:ext cx="7269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Definiție digraf, terminologie, reprezentări. Demonstrație VisuAlgo — animație arc, drum, circuit.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3072384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072384"/>
            <a:ext cx="59436" cy="62179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3072384"/>
            <a:ext cx="960120" cy="621792"/>
          </a:xfrm>
          <a:prstGeom prst="rect">
            <a:avLst/>
          </a:prstGeom>
          <a:solidFill>
            <a:srgbClr val="117A65">
              <a:alpha val="15000"/>
            </a:srgbClr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" y="3090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2064" y="33649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💻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17320" y="314553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Fixare + practică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17320" y="3419856"/>
            <a:ext cx="7269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 Python/NetworkX: elevii construiesc digraful rețelei din clasă (cine a trimis mesaj cui). BFS vizual.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20040" y="3776472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776472"/>
            <a:ext cx="59436" cy="62179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048" y="3776472"/>
            <a:ext cx="960120" cy="621792"/>
          </a:xfrm>
          <a:prstGeom prst="rect">
            <a:avLst/>
          </a:prstGeom>
          <a:solidFill>
            <a:srgbClr val="6C3483">
              <a:alpha val="15000"/>
            </a:srgbClr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3794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2064" y="4069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417320" y="384962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Evaluare formativă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417320" y="4123944"/>
            <a:ext cx="7269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exerciții: (1) desenați digraful, (2) calculați gradele, (3) există drum de la A la B? Verificare în perechi.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20040" y="448056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" y="4480560"/>
            <a:ext cx="59436" cy="621792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" y="4480560"/>
            <a:ext cx="960120" cy="621792"/>
          </a:xfrm>
          <a:prstGeom prst="rect">
            <a:avLst/>
          </a:prstGeom>
          <a:solidFill>
            <a:srgbClr val="784212">
              <a:alpha val="15000"/>
            </a:srgbClr>
          </a:solidFill>
          <a:ln w="12700">
            <a:solidFill>
              <a:srgbClr val="78421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2336" y="44988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84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12064" y="47731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417320" y="455371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4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acasă + concluzii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417320" y="4828032"/>
            <a:ext cx="7269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Temă: Modelați 5 relații din viața reală ca digrafuri. Scrieți matricea de adiacență pentru fiecare.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Greșeli tipice ale elevilor și strategii de remediere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722376"/>
            <a:ext cx="1005840" cy="5029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32688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32688"/>
            <a:ext cx="59436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692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Confundarea grafurilor orientate cu cele neorientate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25272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Simptom: Elevul adaugă arcul (v,u) când se cere doar (u,v)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532120" y="1005840"/>
            <a:ext cx="3200400" cy="585216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02412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Remediere: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23560" y="1280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Exercițiu: desenați același graf ca neorientat și orientat. Discutați diferențele.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1746504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746504"/>
            <a:ext cx="59436" cy="73152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783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6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Confundarea gradului interior cu cel exterior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06654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Simptom: Inversarea d⁻(v) cu d⁺(v) în calcule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532120" y="1819656"/>
            <a:ext cx="3200400" cy="585216"/>
          </a:xfrm>
          <a:prstGeom prst="rect">
            <a:avLst/>
          </a:prstGeom>
          <a:solidFill>
            <a:srgbClr val="CA6F1E">
              <a:alpha val="12000"/>
            </a:srgbClr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183794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6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Remediere: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23560" y="209397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Mnemonic: d⁻ = săgeți care intră (− = de afară înăuntru), d⁺ = săgeți care ies.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560320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560320"/>
            <a:ext cx="59436" cy="7315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59689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Drum vs. circuit: uitarea că v₀ = vₖ pentru circuit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28803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Simptom: Numesc orice lanț orientat 'circuit'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32120" y="2633472"/>
            <a:ext cx="3200400" cy="585216"/>
          </a:xfrm>
          <a:prstGeom prst="rect">
            <a:avLst/>
          </a:prstGeom>
          <a:solidFill>
            <a:srgbClr val="6C3483">
              <a:alpha val="12000"/>
            </a:srgbClr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265176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Remediere: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23560" y="290779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Exerciții de clasificare: este drum sau circuit? Colorați vârful de start cu roșu.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374136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374136"/>
            <a:ext cx="59436" cy="7315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4107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Matricea de adiacență — confuzie rând/coloană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369417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Simptom: A[i][j]=1 interpretată ca arc j→i în loc de i→j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532120" y="3447288"/>
            <a:ext cx="3200400" cy="585216"/>
          </a:xfrm>
          <a:prstGeom prst="rect">
            <a:avLst/>
          </a:prstGeom>
          <a:solidFill>
            <a:srgbClr val="1A5276">
              <a:alpha val="12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346557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Remediere: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23560" y="37216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Convenție vizuală: rândul = sursă (de unde plecăm), coloana = destinație.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4187952"/>
            <a:ext cx="8503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4187952"/>
            <a:ext cx="59436" cy="73152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224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Dijkstra aplicat pe grafuri cu costuri negative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450799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Simptom: Rezultate incorecte, algoritmul nu converge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532120" y="4261104"/>
            <a:ext cx="3200400" cy="585216"/>
          </a:xfrm>
          <a:prstGeom prst="rect">
            <a:avLst/>
          </a:prstGeom>
          <a:solidFill>
            <a:srgbClr val="117A65">
              <a:alpha val="12000"/>
            </a:srgbClr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23560" y="427939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Remediere: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623560" y="45354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Exercițiu: rulați Dijkstra și Bellman-Ford pe același graf cu arc negativ. Comparați.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Metode de evaluare — grafuri orientate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722376"/>
            <a:ext cx="1005840" cy="5029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32688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32688"/>
            <a:ext cx="59436" cy="18288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932688"/>
            <a:ext cx="4160520" cy="43891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98755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 Evaluare formativă (în timpul lecției)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" y="1435608"/>
            <a:ext cx="39044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online: Kahoot/Quizziz — recunoaștere terminologie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Exerciții pe tablă: elevii completează matricea/lista de adiacență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programming: BFS/DFS în Python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ticket: 'Dă un exemplu real de digraf'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932688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32688"/>
            <a:ext cx="59436" cy="18288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932688"/>
            <a:ext cx="4160520" cy="43891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98755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Evaluare sumativă (teză / proiect)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28032" y="1435608"/>
            <a:ext cx="3904488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Problemă algoritm: implementare Dijkstra pe digraf dat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Proiect: modelați rețeaua rutieră a orașului vostru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Eseu tehnic: comparați BFS vs. DFS pe exemple proprii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Prezentare: alegeți o aplicație reală și demonstrați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2871216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Rubrică de evaluare — Proiect grafuri orientate: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200400"/>
          <a:ext cx="8503920" cy="173736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55448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Criteriu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Insuficient (1-4)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Suficient (5-6)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Bine (7-8)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Foarte bine (9-10)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Corectitudine 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greșit sau lipsă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Câteva erori minore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corect parțial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complet corect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Implementare cod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 absent/nefuncțional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Rulează cu erori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Funcțional, neoptimizat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Corect, eficient, comentat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Prezentare orală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 poate explica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Explică cu dificultate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Explică clar parțial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Explică clar, răspunde întrebări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Conexiuni reale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Nicio conexiune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exemplu generic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 exemple relevante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Exemple originale, argumentate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28016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Sinteză comparativă: Grafuri orientate vs. neorientate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722376"/>
            <a:ext cx="1005840" cy="5029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932688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6F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 NEORIENTAT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3440" y="932688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 ORIENTAT (Digraf)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" y="1389888"/>
            <a:ext cx="1371600" cy="402336"/>
          </a:xfrm>
          <a:prstGeom prst="rect">
            <a:avLst/>
          </a:prstGeom>
          <a:solidFill>
            <a:srgbClr val="EBF5FB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444752"/>
            <a:ext cx="1316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Arc/Muchie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91640" y="1389888"/>
            <a:ext cx="2880360" cy="402336"/>
          </a:xfrm>
          <a:prstGeom prst="rect">
            <a:avLst/>
          </a:prstGeom>
          <a:solidFill>
            <a:srgbClr val="FEF9E7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55648" y="143560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Muchie {u,v} = {v,u} (nesimetrică)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0" y="1389888"/>
            <a:ext cx="4251960" cy="402336"/>
          </a:xfrm>
          <a:prstGeom prst="rect">
            <a:avLst/>
          </a:prstGeom>
          <a:solidFill>
            <a:srgbClr val="EBF5FB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1435608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(u,v) ≠ (v,u) (direcție!)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1847088"/>
            <a:ext cx="1371600" cy="402336"/>
          </a:xfrm>
          <a:prstGeom prst="rect">
            <a:avLst/>
          </a:prstGeom>
          <a:solidFill>
            <a:srgbClr val="D6EAF8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901952"/>
            <a:ext cx="1316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691640" y="1847088"/>
            <a:ext cx="2880360" cy="402336"/>
          </a:xfrm>
          <a:prstGeom prst="rect">
            <a:avLst/>
          </a:prstGeom>
          <a:solidFill>
            <a:srgbClr val="FDEBD0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55648" y="189280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unic: d(v) = nr. vecini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1847088"/>
            <a:ext cx="4251960" cy="402336"/>
          </a:xfrm>
          <a:prstGeom prst="rect">
            <a:avLst/>
          </a:prstGeom>
          <a:solidFill>
            <a:srgbClr val="D6EAF8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36008" y="1892808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interior d⁻(v) și exterior d⁺(v)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2304288"/>
            <a:ext cx="1371600" cy="402336"/>
          </a:xfrm>
          <a:prstGeom prst="rect">
            <a:avLst/>
          </a:prstGeom>
          <a:solidFill>
            <a:srgbClr val="EBF5FB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359152"/>
            <a:ext cx="1316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691640" y="2304288"/>
            <a:ext cx="2880360" cy="402336"/>
          </a:xfrm>
          <a:prstGeom prst="rect">
            <a:avLst/>
          </a:prstGeom>
          <a:solidFill>
            <a:srgbClr val="FEF9E7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55648" y="235000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Lanț: succesiune de vârfuri adiacente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0" y="2304288"/>
            <a:ext cx="4251960" cy="402336"/>
          </a:xfrm>
          <a:prstGeom prst="rect">
            <a:avLst/>
          </a:prstGeom>
          <a:solidFill>
            <a:srgbClr val="EBF5FB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6008" y="2350008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Drum orientat: direcția arcelor contează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0040" y="2761488"/>
            <a:ext cx="1371600" cy="402336"/>
          </a:xfrm>
          <a:prstGeom prst="rect">
            <a:avLst/>
          </a:prstGeom>
          <a:solidFill>
            <a:srgbClr val="D6EAF8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816352"/>
            <a:ext cx="1316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Conexitate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691640" y="2761488"/>
            <a:ext cx="2880360" cy="402336"/>
          </a:xfrm>
          <a:prstGeom prst="rect">
            <a:avLst/>
          </a:prstGeom>
          <a:solidFill>
            <a:srgbClr val="FDEBD0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55648" y="280720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Conex: există lanț între orice u,v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0" y="2761488"/>
            <a:ext cx="4251960" cy="402336"/>
          </a:xfrm>
          <a:prstGeom prst="rect">
            <a:avLst/>
          </a:prstGeom>
          <a:solidFill>
            <a:srgbClr val="D6EAF8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36008" y="2807208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 conex: drum u→v ȘI v→u pt. orice pereche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20040" y="3218688"/>
            <a:ext cx="1371600" cy="402336"/>
          </a:xfrm>
          <a:prstGeom prst="rect">
            <a:avLst/>
          </a:prstGeom>
          <a:solidFill>
            <a:srgbClr val="EBF5FB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273552"/>
            <a:ext cx="1316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691640" y="3218688"/>
            <a:ext cx="2880360" cy="402336"/>
          </a:xfrm>
          <a:prstGeom prst="rect">
            <a:avLst/>
          </a:prstGeom>
          <a:solidFill>
            <a:srgbClr val="FEF9E7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55648" y="326440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Ciclu: lanț închis cu vârfuri distincte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572000" y="3218688"/>
            <a:ext cx="4251960" cy="402336"/>
          </a:xfrm>
          <a:prstGeom prst="rect">
            <a:avLst/>
          </a:prstGeom>
          <a:solidFill>
            <a:srgbClr val="EBF5FB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36008" y="3264408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orientat: respectă direcțiile arcelor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20040" y="3675888"/>
            <a:ext cx="1371600" cy="402336"/>
          </a:xfrm>
          <a:prstGeom prst="rect">
            <a:avLst/>
          </a:prstGeom>
          <a:solidFill>
            <a:srgbClr val="D6EAF8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730752"/>
            <a:ext cx="1316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Matrice adj.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691640" y="3675888"/>
            <a:ext cx="2880360" cy="402336"/>
          </a:xfrm>
          <a:prstGeom prst="rect">
            <a:avLst/>
          </a:prstGeom>
          <a:solidFill>
            <a:srgbClr val="FDEBD0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55648" y="372160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Simetrică: A[i][j] = A[j][i]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572000" y="3675888"/>
            <a:ext cx="4251960" cy="402336"/>
          </a:xfrm>
          <a:prstGeom prst="rect">
            <a:avLst/>
          </a:prstGeom>
          <a:solidFill>
            <a:srgbClr val="D6EAF8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36008" y="3721608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Asimetrică în general: A[i][j] ≠ A[j][i]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20040" y="4133088"/>
            <a:ext cx="1371600" cy="402336"/>
          </a:xfrm>
          <a:prstGeom prst="rect">
            <a:avLst/>
          </a:prstGeom>
          <a:solidFill>
            <a:srgbClr val="EBF5FB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4187952"/>
            <a:ext cx="1316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Algoritmi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691640" y="4133088"/>
            <a:ext cx="2880360" cy="402336"/>
          </a:xfrm>
          <a:prstGeom prst="rect">
            <a:avLst/>
          </a:prstGeom>
          <a:solidFill>
            <a:srgbClr val="FEF9E7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55648" y="417880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DFS/BFS, Prim, Kruskal (MST)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572000" y="4133088"/>
            <a:ext cx="4251960" cy="402336"/>
          </a:xfrm>
          <a:prstGeom prst="rect">
            <a:avLst/>
          </a:prstGeom>
          <a:solidFill>
            <a:srgbClr val="EBF5FB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36008" y="4178808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DFS/BFS, Dijkstra, Bellman-Ford, Kosaraju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320040" y="4590288"/>
            <a:ext cx="1371600" cy="402336"/>
          </a:xfrm>
          <a:prstGeom prst="rect">
            <a:avLst/>
          </a:prstGeom>
          <a:solidFill>
            <a:srgbClr val="D6EAF8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" y="4645152"/>
            <a:ext cx="13167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Aplicații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691640" y="4590288"/>
            <a:ext cx="2880360" cy="402336"/>
          </a:xfrm>
          <a:prstGeom prst="rect">
            <a:avLst/>
          </a:prstGeom>
          <a:solidFill>
            <a:srgbClr val="FDEBD0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55648" y="4636008"/>
            <a:ext cx="2788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Rețele electrice, hărți rutiere (2 sensuri)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4572000" y="4590288"/>
            <a:ext cx="4251960" cy="402336"/>
          </a:xfrm>
          <a:prstGeom prst="rect">
            <a:avLst/>
          </a:prstGeom>
          <a:solidFill>
            <a:srgbClr val="D6EAF8"/>
          </a:solidFill>
          <a:ln w="6350">
            <a:solidFill>
              <a:srgbClr val="BDC3C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36008" y="4636008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(sensuri unice), web, social networks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91440"/>
            <a:ext cx="8375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Concluzii metodice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658368"/>
            <a:ext cx="1005840" cy="5029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01000" y="491947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4048" y="841248"/>
            <a:ext cx="8375904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D4AC0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841248"/>
            <a:ext cx="64008" cy="65836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932688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932688"/>
            <a:ext cx="7516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Porniți ÎNTOTDEAUNA de la exemple concrete din viața reală (GPS, rețele sociale) înainte de definițiile formale.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84048" y="1591056"/>
            <a:ext cx="8375904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591056"/>
            <a:ext cx="64008" cy="6583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682496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1682496"/>
            <a:ext cx="7516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Vizualizarea este esențială — VisuAlgo și Gephi transformă conceptele abstracte în ceva tangibil și memorabil.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84048" y="2340864"/>
            <a:ext cx="8375904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86EFA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340864"/>
            <a:ext cx="64008" cy="658368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432304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2432304"/>
            <a:ext cx="7516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NetworkX oferă acces instant la toți algoritmii fără a scrie cod de la zero — focusul rămâne pe înțelegere.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84048" y="3090672"/>
            <a:ext cx="8375904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C4B5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090672"/>
            <a:ext cx="64008" cy="65836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18211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3182112"/>
            <a:ext cx="7516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Conectați teoria grafurilor la G19 (neorientate) și la materii anterioare — algoritmul lui Dijkstra = programare dinamică!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384048" y="3840480"/>
            <a:ext cx="8375904" cy="658368"/>
          </a:xfrm>
          <a:prstGeom prst="rect">
            <a:avLst/>
          </a:prstGeom>
          <a:solidFill>
            <a:srgbClr val="FFFFFF">
              <a:alpha val="8000"/>
            </a:srgbClr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840480"/>
            <a:ext cx="64008" cy="658368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93192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97280" y="3931920"/>
            <a:ext cx="7516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Fiți expliciți cu restricțiile algoritmilor: Dijkstra ≠ costuri negative, DAG ≠ cicluri — greșelile tipice apar din confuzia acestora.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384048" y="4681728"/>
            <a:ext cx="8375904" cy="347472"/>
          </a:xfrm>
          <a:prstGeom prst="rect">
            <a:avLst/>
          </a:prstGeom>
          <a:solidFill>
            <a:srgbClr val="117A65">
              <a:alpha val="35000"/>
            </a:srgbClr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"Graful este limbajul universal al conexiunilor — în informatică, matematică și în lumea reală."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G20 - Considerații metodice privind predarea Teoriei Grafurilor Orientate</dc:title>
  <dc:subject>PptxGenJS Presentation</dc:subject>
  <dc:creator>PptxGenJS</dc:creator>
  <cp:lastModifiedBy>PptxGenJS</cp:lastModifiedBy>
  <cp:revision>1</cp:revision>
  <dcterms:created xsi:type="dcterms:W3CDTF">2026-04-13T20:36:35Z</dcterms:created>
  <dcterms:modified xsi:type="dcterms:W3CDTF">2026-04-13T20:36:35Z</dcterms:modified>
</cp:coreProperties>
</file>