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FAAE00-1F9E-4A15-A64F-2C879833A480}">
  <a:tblStyle styleId="{E4FAAE00-1F9E-4A15-A64F-2C879833A4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C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291840" y="0"/>
            <a:ext cx="18288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28600" y="32004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R30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28600" y="868680"/>
            <a:ext cx="2926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Prelucrarea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Limbajului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Natural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28600" y="30175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NLP — Natural Language 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28600" y="41148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Didactica Informaticii • 2025–2026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749040" y="457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la cuvinte la înțelegere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749040" y="1051560"/>
            <a:ext cx="502920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840480" y="1078992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🔤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Fundamente: tokenizare, embeddings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749040" y="1664208"/>
            <a:ext cx="502920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840480" y="169164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🧠  Modele neuronale &amp; Transformer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749040" y="2276856"/>
            <a:ext cx="502920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840480" y="230428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Sarcini NLP: NER, sentiment, QA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749040" y="2889504"/>
            <a:ext cx="502920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840480" y="2916936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🐍  Implementare Python (spaCy, HuggingFace)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749040" y="3502152"/>
            <a:ext cx="502920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840480" y="3529584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🏫  NLP în educație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3749040" y="4114800"/>
            <a:ext cx="5029200" cy="50292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840480" y="4142232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🚀  Tendințe actuale: LLM, ChatGPT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Ce este Prelucrarea Limbajului Natural?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11480" y="914400"/>
            <a:ext cx="8321040" cy="96012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94360" y="960120"/>
            <a:ext cx="7955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NLP este domeniul interdisciplinar al Informaticii, Lingvisticii și Inteligenței Artificiale care permite calculatoarelor să înțeleagă, să interpreteze și să genereze limbajul uman în mod natural.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11480" y="2011680"/>
            <a:ext cx="265176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11480" y="2011680"/>
            <a:ext cx="2651760" cy="50292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21208" y="2039112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🔍  Înțelegere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2578608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Parsare sintactică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Dezambiguizare semantică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Recunoaștere entități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Rezolvare coreferință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46120" y="2011680"/>
            <a:ext cx="265176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246120" y="2011680"/>
            <a:ext cx="265176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355848" y="2039112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💡  Interpretare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383280" y="2578608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Analiza sentimentelor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Extragere informații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Clasificare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Traducere automată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080760" y="2011680"/>
            <a:ext cx="265176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080760" y="2011680"/>
            <a:ext cx="2651760" cy="50292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190488" y="2039112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✍️  Generare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217920" y="2578608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Rezumare automată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Completare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Dialog și chatboti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Generare cod (Copilot)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Scurt istoric al NLP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548640" y="2834640"/>
            <a:ext cx="8046720" cy="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/>
          <p:nvPr/>
        </p:nvSpPr>
        <p:spPr>
          <a:xfrm>
            <a:off x="1005840" y="2788920"/>
            <a:ext cx="201168" cy="201168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5"/>
          <p:cNvCxnSpPr/>
          <p:nvPr/>
        </p:nvCxnSpPr>
        <p:spPr>
          <a:xfrm>
            <a:off x="1106424" y="196596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3" name="Google Shape;73;p5"/>
          <p:cNvSpPr/>
          <p:nvPr/>
        </p:nvSpPr>
        <p:spPr>
          <a:xfrm>
            <a:off x="621792" y="1188720"/>
            <a:ext cx="117043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1792" y="1188720"/>
            <a:ext cx="1170432" cy="27432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58368" y="120700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58368" y="14996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Turing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58368" y="1792224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Alan Turing propune testul de inteligență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423160" y="2788920"/>
            <a:ext cx="201168" cy="201168"/>
          </a:xfrm>
          <a:prstGeom prst="ellipse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5"/>
          <p:cNvCxnSpPr/>
          <p:nvPr/>
        </p:nvCxnSpPr>
        <p:spPr>
          <a:xfrm>
            <a:off x="2523744" y="2990088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1B4F8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0" name="Google Shape;80;p5"/>
          <p:cNvSpPr/>
          <p:nvPr/>
        </p:nvSpPr>
        <p:spPr>
          <a:xfrm>
            <a:off x="2039112" y="3090672"/>
            <a:ext cx="117043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2039112" y="3090672"/>
            <a:ext cx="1170432" cy="27432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2075688" y="310896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1966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075688" y="34015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4F8A"/>
                </a:solidFill>
                <a:latin typeface="Arial"/>
                <a:ea typeface="Arial"/>
                <a:cs typeface="Arial"/>
                <a:sym typeface="Arial"/>
              </a:rPr>
              <a:t>ELIZA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075688" y="3694176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Primul chatbot — Joseph Weizenbaum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840480" y="2788920"/>
            <a:ext cx="201168" cy="2011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5"/>
          <p:cNvCxnSpPr/>
          <p:nvPr/>
        </p:nvCxnSpPr>
        <p:spPr>
          <a:xfrm>
            <a:off x="3941064" y="196596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3456432" y="1188720"/>
            <a:ext cx="117043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3456432" y="1188720"/>
            <a:ext cx="1170432" cy="274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3493008" y="120700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1990s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493008" y="14996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Era statistică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493008" y="1792224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Modele n-gram, HMM, SVM — corpus-driven NLP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257800" y="2788920"/>
            <a:ext cx="201168" cy="2011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5"/>
          <p:cNvCxnSpPr/>
          <p:nvPr/>
        </p:nvCxnSpPr>
        <p:spPr>
          <a:xfrm>
            <a:off x="5358384" y="2990088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/>
          <p:nvPr/>
        </p:nvSpPr>
        <p:spPr>
          <a:xfrm>
            <a:off x="4873752" y="3090672"/>
            <a:ext cx="117043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873752" y="3090672"/>
            <a:ext cx="1170432" cy="274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910328" y="310896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910328" y="34015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Word2Vec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910328" y="3694176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Tomas Mikolov (Google) — word 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675120" y="2788920"/>
            <a:ext cx="201168" cy="2011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" name="Google Shape;100;p5"/>
          <p:cNvCxnSpPr/>
          <p:nvPr/>
        </p:nvCxnSpPr>
        <p:spPr>
          <a:xfrm>
            <a:off x="6775704" y="1965960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/>
          <p:nvPr/>
        </p:nvSpPr>
        <p:spPr>
          <a:xfrm>
            <a:off x="6291072" y="1188720"/>
            <a:ext cx="117043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291072" y="1188720"/>
            <a:ext cx="1170432" cy="2743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327648" y="120700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327648" y="14996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Transformer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27648" y="1792224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"Attention is All You Need" — Vaswani et 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092440" y="2788920"/>
            <a:ext cx="201168" cy="201168"/>
          </a:xfrm>
          <a:prstGeom prst="ellipse">
            <a:avLst/>
          </a:prstGeom>
          <a:solidFill>
            <a:srgbClr val="0F2C5E"/>
          </a:solidFill>
          <a:ln cap="flat" cmpd="sng" w="12700">
            <a:solidFill>
              <a:srgbClr val="0F2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5"/>
          <p:cNvCxnSpPr/>
          <p:nvPr/>
        </p:nvCxnSpPr>
        <p:spPr>
          <a:xfrm>
            <a:off x="8193024" y="2990088"/>
            <a:ext cx="0" cy="822960"/>
          </a:xfrm>
          <a:prstGeom prst="straightConnector1">
            <a:avLst/>
          </a:prstGeom>
          <a:noFill/>
          <a:ln cap="flat" cmpd="sng" w="19050">
            <a:solidFill>
              <a:srgbClr val="0F2C5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7708392" y="3090672"/>
            <a:ext cx="1170432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708392" y="3090672"/>
            <a:ext cx="1170432" cy="274320"/>
          </a:xfrm>
          <a:prstGeom prst="rect">
            <a:avLst/>
          </a:prstGeom>
          <a:solidFill>
            <a:srgbClr val="0F2C5E"/>
          </a:solidFill>
          <a:ln cap="flat" cmpd="sng" w="12700">
            <a:solidFill>
              <a:srgbClr val="0F2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744968" y="310896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744968" y="34015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BERT / GPT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744968" y="3694176"/>
            <a:ext cx="10972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Pre-antrenare masivă — revoluție NLP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Nivelurile de analiză lingvistică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11480" y="914400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11480" y="914400"/>
            <a:ext cx="64008" cy="6858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94360" y="1024128"/>
            <a:ext cx="1463040" cy="457200"/>
          </a:xfrm>
          <a:prstGeom prst="rect">
            <a:avLst/>
          </a:prstGeom>
          <a:solidFill>
            <a:srgbClr val="6366F1">
              <a:alpha val="18039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58368" y="104241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Morfologie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240280" y="1042416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Structura cuvintelor: morpheme, tokenizare, lemmatizare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11480" y="1719072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11480" y="1719072"/>
            <a:ext cx="64008" cy="6858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94360" y="1828800"/>
            <a:ext cx="1463040" cy="457200"/>
          </a:xfrm>
          <a:prstGeom prst="rect">
            <a:avLst/>
          </a:prstGeom>
          <a:solidFill>
            <a:srgbClr val="1B4F8A">
              <a:alpha val="18039"/>
            </a:srgbClr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58368" y="184708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F8A"/>
                </a:solidFill>
                <a:latin typeface="Arial"/>
                <a:ea typeface="Arial"/>
                <a:cs typeface="Arial"/>
                <a:sym typeface="Arial"/>
              </a:rPr>
              <a:t>Sintaxă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240280" y="1847088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Structura gramaticală: arbori de dependență, parsing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11480" y="2523744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11480" y="2523744"/>
            <a:ext cx="64008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94360" y="2633472"/>
            <a:ext cx="1463040" cy="457200"/>
          </a:xfrm>
          <a:prstGeom prst="rect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58368" y="265176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Semantică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240280" y="2651760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Sensul cuvintelor și propozițiilor: WSD, NER, relații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11480" y="3328416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11480" y="3328416"/>
            <a:ext cx="64008" cy="685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94360" y="3438144"/>
            <a:ext cx="1463040" cy="457200"/>
          </a:xfrm>
          <a:prstGeom prst="rect">
            <a:avLst/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58368" y="34564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Pragmatică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240280" y="3456432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Sens în context: intenție, coreferință, acte de vorbire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11480" y="4133088"/>
            <a:ext cx="832104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11480" y="4133088"/>
            <a:ext cx="64008" cy="6858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94360" y="4242816"/>
            <a:ext cx="1463040" cy="457200"/>
          </a:xfrm>
          <a:prstGeom prst="rect">
            <a:avLst/>
          </a:prstGeom>
          <a:solidFill>
            <a:srgbClr val="EF4444">
              <a:alpha val="18039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58368" y="426110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Discurs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240280" y="4261104"/>
            <a:ext cx="6309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Structura textului: coerență, rezumare, segmentare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Reprezentarea textului — de la cuvinte la vectori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65760" y="960120"/>
            <a:ext cx="20116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65760" y="960120"/>
            <a:ext cx="2011680" cy="80467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57200" y="9875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Bag of Words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75488" y="1828800"/>
            <a:ext cx="179222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Vector cu frecvențe de cuvinte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Ignoră ordinea cuvintelor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Simplu dar pierde contextul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Vocabular = spațiu de trăsături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514600" y="960120"/>
            <a:ext cx="20116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2514600" y="960120"/>
            <a:ext cx="2011680" cy="8046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606040" y="9875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TF-IDF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60604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 Freq × Inv. Doc. Freq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624328" y="1828800"/>
            <a:ext cx="179222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Ponderează importanța cuvintelor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Penalizează cuvintele prea frecvente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Standard în motoare de căutare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Baza multor sisteme clasice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663440" y="960120"/>
            <a:ext cx="20116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663440" y="960120"/>
            <a:ext cx="2011680" cy="80467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754880" y="9875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Word Embeddings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75488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Word2Vec / GloVe / FastText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773168" y="1828800"/>
            <a:ext cx="179222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Vectori denși de 100–300 dimensiuni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Rege – Bărbat + Femeie ≈ Regină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Captează relații semantice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FastText bun pentru română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812280" y="960120"/>
            <a:ext cx="201168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812280" y="960120"/>
            <a:ext cx="2011680" cy="80467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903720" y="9875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Contextual Embed.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903720" y="1371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BERT / ELMo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922008" y="1828800"/>
            <a:ext cx="179222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Reprezentare diferită per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"bancă" → financiar vs. mobilă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Starea artei în NLP modern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Necesită GPU pentru inferență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84048" y="4828032"/>
            <a:ext cx="8375904" cy="36576"/>
          </a:xfrm>
          <a:prstGeom prst="rect">
            <a:avLst/>
          </a:prstGeom>
          <a:solidFill>
            <a:srgbClr val="94A3B8">
              <a:alpha val="5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← Simpler                                           Creșterea complexității și performanței                                           More powerful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C5E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C5E"/>
          </a:solidFill>
          <a:ln cap="flat" cmpd="sng" w="12700">
            <a:solidFill>
              <a:srgbClr val="0F2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Arhitectura Transformer — Revoluția NLP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11480" y="786384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11480" y="960120"/>
            <a:ext cx="8321040" cy="475488"/>
          </a:xfrm>
          <a:prstGeom prst="rect">
            <a:avLst/>
          </a:prstGeom>
          <a:solidFill>
            <a:srgbClr val="1B4F8A">
              <a:alpha val="4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48640" y="100584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📄 Vaswani et al. (2017): "Attention is All You Need" — Google Brain / Toronto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11480" y="1572768"/>
            <a:ext cx="3931920" cy="32461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11480" y="1572768"/>
            <a:ext cx="3931920" cy="365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48640" y="1591056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Mecanismul de Self-Attention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48640" y="2029968"/>
            <a:ext cx="3657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La encodarea unui cuvânt, modelul privește TOȚI ceilalți cuveni simultan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Calculează Q (Query), K (Key), V (Value) pentru fiecare token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Atenție = softmax(QKᵀ/√dk) ×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Multi-head: mai multe mecanisme de atenție în paralel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Captează dependențe la distanță mare fără recurență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572000" y="1572768"/>
            <a:ext cx="4160520" cy="3246120"/>
          </a:xfrm>
          <a:prstGeom prst="rect">
            <a:avLst/>
          </a:prstGeom>
          <a:solidFill>
            <a:srgbClr val="1A3050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572000" y="1572768"/>
            <a:ext cx="4160520" cy="36576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709160" y="1591056"/>
            <a:ext cx="3931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Avantaje față de RNN/LSTM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709160" y="2048256"/>
            <a:ext cx="54864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828032" y="206654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Paralelizare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828032" y="22951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Procesare simultană, nu secvențială → antrenare mult mai rapidă pe GPU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709160" y="2715768"/>
            <a:ext cx="54864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828032" y="273405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Scalabilitate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828032" y="296265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Funcționează excelent cu seturi de date masive (sute de GB de text)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709160" y="3383280"/>
            <a:ext cx="54864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828032" y="340156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Dependențe lungi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828032" y="36301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Captează relații între cuvinte la distanță mare fără vanishing gradient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709160" y="4050792"/>
            <a:ext cx="54864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828032" y="406908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Versatilitate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828032" y="42976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Encoders (BERT), Decoders (GPT), Encoder-Decoder (T5, BART)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Sarcini principale în NLP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11480" y="100584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11480" y="1005840"/>
            <a:ext cx="2697480" cy="54864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76072" y="1207008"/>
            <a:ext cx="566928" cy="566928"/>
          </a:xfrm>
          <a:prstGeom prst="ellipse">
            <a:avLst/>
          </a:prstGeom>
          <a:solidFill>
            <a:srgbClr val="6366F1">
              <a:alpha val="14901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76072" y="1207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🏷️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234440" y="12344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POS Tagging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76072" y="18745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Etichetare morfosintactică: N, V, ADJ...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264408" y="100584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264408" y="1005840"/>
            <a:ext cx="2697480" cy="54864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429000" y="1207008"/>
            <a:ext cx="566928" cy="566928"/>
          </a:xfrm>
          <a:prstGeom prst="ellipse">
            <a:avLst/>
          </a:prstGeom>
          <a:solidFill>
            <a:srgbClr val="1B4F8A">
              <a:alpha val="14901"/>
            </a:srgbClr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429000" y="1207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087368" y="12344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F8A"/>
                </a:solidFill>
                <a:latin typeface="Arial"/>
                <a:ea typeface="Arial"/>
                <a:cs typeface="Arial"/>
                <a:sym typeface="Arial"/>
              </a:rPr>
              <a:t>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429000" y="18745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Recunoaștere entități: PER, ORG, LOC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17336" y="1005840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117336" y="1005840"/>
            <a:ext cx="269748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281928" y="1207008"/>
            <a:ext cx="566928" cy="566928"/>
          </a:xfrm>
          <a:prstGeom prst="ellipse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281928" y="1207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940296" y="12344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Sentiment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281928" y="187452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Analiza sentimentelor: pozitiv/negativ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11480" y="2816352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11480" y="2816352"/>
            <a:ext cx="269748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76072" y="3017520"/>
            <a:ext cx="566928" cy="566928"/>
          </a:xfrm>
          <a:prstGeom prst="ellipse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576072" y="30175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234440" y="304495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Traducere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76072" y="368503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MT neurală: BLEU score &gt; 40 pt. perechi bogate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264408" y="2816352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3264408" y="2816352"/>
            <a:ext cx="269748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429000" y="3017520"/>
            <a:ext cx="566928" cy="566928"/>
          </a:xfrm>
          <a:prstGeom prst="ellipse">
            <a:avLst/>
          </a:prstGeom>
          <a:solidFill>
            <a:srgbClr val="EF4444">
              <a:alpha val="14901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3429000" y="30175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087368" y="304495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Rezumare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429000" y="368503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Extractivă și abstractivă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117336" y="2816352"/>
            <a:ext cx="269748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6117336" y="2816352"/>
            <a:ext cx="269748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6281928" y="3017520"/>
            <a:ext cx="566928" cy="566928"/>
          </a:xfrm>
          <a:prstGeom prst="ellipse">
            <a:avLst/>
          </a:prstGeom>
          <a:solidFill>
            <a:srgbClr val="8B5CF6">
              <a:alpha val="14901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281928" y="30175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940296" y="304495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QA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281928" y="368503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Răspuns la întrebări: SQuAD benchmark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Pipeline NLP cu spaCy — Exemplu Python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74320" y="749808"/>
            <a:ext cx="5074920" cy="41605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11480" y="868680"/>
            <a:ext cx="4800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b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spacy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nlp = spacy.load(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'ro_core_news_sm'</a:t>
            </a:r>
            <a:b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text = 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"Maria a plecat la București."</a:t>
            </a:r>
            <a:b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doc = nlp(text)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POS Tagging</a:t>
            </a:r>
            <a:b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 token in doc:</a:t>
            </a:r>
            <a:b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print(token.text, token.pos_)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NER — Entități numite</a:t>
            </a:r>
            <a:br>
              <a:rPr b="0" i="0" lang="en-US" sz="12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 ent in doc.ents:</a:t>
            </a:r>
            <a:b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print(ent.text, ent.label_)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5532120" y="749808"/>
            <a:ext cx="3337560" cy="4160520"/>
          </a:xfrm>
          <a:prstGeom prst="rect">
            <a:avLst/>
          </a:prstGeom>
          <a:solidFill>
            <a:srgbClr val="1A2A1A"/>
          </a:solidFill>
          <a:ln cap="flat" cmpd="sng" w="12700">
            <a:solidFill>
              <a:srgbClr val="308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623560" y="8229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▶  Output: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623560" y="12070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POS Tagging: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623560" y="15179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Maria    PROPN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623560" y="1828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        AUX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623560" y="21396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plecat   VERB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623560" y="245059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la       ADP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623560" y="27614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București PROPN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23560" y="307238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623560" y="33832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Entități: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623560" y="3694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Maria    → PER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623560" y="40050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București → LOC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Modele pre-antrenate — BERT, GPT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" name="Google Shape;290;p11"/>
          <p:cNvGraphicFramePr/>
          <p:nvPr/>
        </p:nvGraphicFramePr>
        <p:xfrm>
          <a:off x="41148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{E4FAAE00-1F9E-4A15-A64F-2C879833A480}</a:tableStyleId>
              </a:tblPr>
              <a:tblGrid>
                <a:gridCol w="1097275"/>
                <a:gridCol w="1188725"/>
                <a:gridCol w="640075"/>
                <a:gridCol w="822950"/>
                <a:gridCol w="1097275"/>
                <a:gridCol w="3474725"/>
              </a:tblGrid>
              <a:tr h="42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C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Organizație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C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C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C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Parametri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C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Utilizare cheie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C5E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Encoder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110M–340M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NER, clasificare, QA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OpenAI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Decoder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175B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Generare text, cod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Enc-Dec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11B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Traducere, rezumare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RoBERTa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AI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2019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Encoder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355M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Clasificare robustă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GPT-4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OpenAI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Decoder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~1.8T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ChatGPT, asistanți AI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F8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4F8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BERT-RO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RACAI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Encoder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110M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NLP pentru română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1" name="Google Shape;291;p11"/>
          <p:cNvSpPr/>
          <p:nvPr/>
        </p:nvSpPr>
        <p:spPr>
          <a:xfrm>
            <a:off x="411480" y="4251960"/>
            <a:ext cx="832104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0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11480" y="1371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Analiză Sentimente cu Hugging Face Transformers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74320" y="749808"/>
            <a:ext cx="5074920" cy="41605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11480" y="868680"/>
            <a:ext cx="4800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from transformers import pipeline</a:t>
            </a:r>
            <a:b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sentiment = pipeline(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'sentiment-analysis',</a:t>
            </a:r>
            <a:b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model='nlptown/bert-base-multilingual-...'</a:t>
            </a:r>
            <a:b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texte = [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'Cursul a fost extraordinar!',</a:t>
            </a:r>
            <a:b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'Nu am înțeles nimic azi.',</a:t>
            </a:r>
            <a:b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'Tema e grea, dar interesantă.'</a:t>
            </a:r>
            <a:b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  <a:t>for text in texte:</a:t>
            </a:r>
            <a:br>
              <a:rPr b="0" i="0" lang="en-US" sz="1250" u="none" cap="none" strike="noStrike">
                <a:solidFill>
                  <a:srgbClr val="FF7B7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 = sentiment(text)[0]</a:t>
            </a:r>
            <a:br>
              <a:rPr b="0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50" u="none" cap="none" strike="noStrike">
                <a:solidFill>
                  <a:srgbClr val="A5F3FC"/>
                </a:solidFill>
                <a:latin typeface="Courier New"/>
                <a:ea typeface="Courier New"/>
                <a:cs typeface="Courier New"/>
                <a:sym typeface="Courier New"/>
              </a:rPr>
              <a:t>  print(r['label'], r['score'])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5577840" y="8046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Rezultate: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486400" y="1261872"/>
            <a:ext cx="3383280" cy="987552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5596128" y="1335024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"Cursul a fost extraordinar!"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596128" y="179222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★★★★★  (0.96)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486400" y="2432304"/>
            <a:ext cx="3383280" cy="987552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5596128" y="2505456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"Nu am înțeles nimic azi."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596128" y="296265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★☆☆☆☆  (0.88)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5486400" y="3602736"/>
            <a:ext cx="3383280" cy="987552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5596128" y="3675888"/>
            <a:ext cx="3154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"Tema e grea, dar interesantă."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596128" y="413308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★★★☆☆  (0.72)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NLP în educație — aplicații și relevanță didactică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365760" y="960120"/>
            <a:ext cx="64008" cy="18288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548640" y="1216152"/>
            <a:ext cx="594360" cy="594360"/>
          </a:xfrm>
          <a:prstGeom prst="ellipse">
            <a:avLst/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548640" y="12161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234440" y="12344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Tutorat Inteligent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566928" y="178308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Înțelege răspunsurile elevilor în LN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Feedback personalizat automat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Carnegie Learning, Duolingo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4709160" y="960120"/>
            <a:ext cx="64008" cy="1828800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4892040" y="1216152"/>
            <a:ext cx="594360" cy="594360"/>
          </a:xfrm>
          <a:prstGeom prst="ellipse">
            <a:avLst/>
          </a:prstGeom>
          <a:solidFill>
            <a:srgbClr val="1B4F8A">
              <a:alpha val="20000"/>
            </a:srgbClr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4892040" y="12161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5577840" y="12344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4F8A"/>
                </a:solidFill>
                <a:latin typeface="Arial"/>
                <a:ea typeface="Arial"/>
                <a:cs typeface="Arial"/>
                <a:sym typeface="Arial"/>
              </a:rPr>
              <a:t>Evaluare Automată Eseuri (AES)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910328" y="178308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Notare: coerență, vocabular, structură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e-rater (ETS), Turnitin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Corelație cu nota umană r&gt;0.9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65760" y="3044952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365760" y="3044952"/>
            <a:ext cx="64008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548640" y="3300984"/>
            <a:ext cx="594360" cy="59436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548640" y="3300984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234440" y="331927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Chatboti Educaționali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66928" y="3867912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ChatGPT, Claude, Copilot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Explicații personalizate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Parteneri Socratici în clasă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709160" y="3044952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709160" y="3044952"/>
            <a:ext cx="64008" cy="1828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892040" y="3300984"/>
            <a:ext cx="594360" cy="594360"/>
          </a:xfrm>
          <a:prstGeom prst="ellipse">
            <a:avLst/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4892040" y="3300984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♿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577840" y="331927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Accesibilizare &amp; Incluziune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910328" y="3867912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Simplificarea textelor (TSA)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Transcrieri automate audio/video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Arial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Traducere pentru non-nativi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C5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C5E"/>
                </a:solidFill>
                <a:latin typeface="Arial"/>
                <a:ea typeface="Arial"/>
                <a:cs typeface="Arial"/>
                <a:sym typeface="Arial"/>
              </a:rPr>
              <a:t>Predarea NLP — de la liceu la universitate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11480" y="77724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347472" y="960120"/>
            <a:ext cx="27432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347472" y="960120"/>
            <a:ext cx="274320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457200" y="97840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Liceu (cl. X–XII)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457200" y="1481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📚 Teorie: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57200" y="1783080"/>
            <a:ext cx="2514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Conceptul de tokenizare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Frecvența cuvintelor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Bag of Words simplu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Vizualizarea word clouds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57200" y="3063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💻 Practică: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57200" y="3364992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Python: NLTK.tokenize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Clasificator spam simplu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Proiect: analizor recenzii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Google Colab — fără instalare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3246120" y="960120"/>
            <a:ext cx="2743200" cy="438912"/>
          </a:xfrm>
          <a:prstGeom prst="rect">
            <a:avLst/>
          </a:prstGeom>
          <a:solidFill>
            <a:srgbClr val="1B4F8A"/>
          </a:solidFill>
          <a:ln cap="flat" cmpd="sng" w="12700">
            <a:solidFill>
              <a:srgbClr val="1B4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3355848" y="97840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Facultate (Anul I–II)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355848" y="1481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4F8A"/>
                </a:solidFill>
                <a:latin typeface="Arial"/>
                <a:ea typeface="Arial"/>
                <a:cs typeface="Arial"/>
                <a:sym typeface="Arial"/>
              </a:rPr>
              <a:t>📚 Teorie: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3355848" y="1783080"/>
            <a:ext cx="2514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Algebra liniară pt. embeddings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Probabilități pt. modele n-gram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Rețele neuronale introductive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Benchmark-uri NLP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3355848" y="3063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8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4F8A"/>
                </a:solidFill>
                <a:latin typeface="Arial"/>
                <a:ea typeface="Arial"/>
                <a:cs typeface="Arial"/>
                <a:sym typeface="Arial"/>
              </a:rPr>
              <a:t>💻 Practică: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3355848" y="3364992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Word2Vec cu Gensim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spaCy NLP pipeline complet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Hugging Face sentiment demo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Dataset-uri: CoLA, SST-2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6144768" y="960120"/>
            <a:ext cx="274320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6144768" y="960120"/>
            <a:ext cx="2743200" cy="438912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254496" y="97840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Facultate (Anul III–IV)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6254496" y="1481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📚 Teorie: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6254496" y="1783080"/>
            <a:ext cx="2514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Arhitectura Transformer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Pre-antrenare și fine-tuning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Evaluare: BLEU, F1, ROUGE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Etică AI în NLP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254496" y="3063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💻 Practică: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6254496" y="3364992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Fine-tuning BERT pentru română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Chatbot educațional propriu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NER custom pentru domenii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Lucrare de licență NLP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411480" y="9144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Tendințe actuale și perspective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411480" y="68580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320040" y="914400"/>
            <a:ext cx="4160520" cy="182880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320040" y="914400"/>
            <a:ext cx="416052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457200" y="111556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🦾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143000" y="11704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LLMs &amp; ChatGPT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84632" y="16642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GPT-4, Claude, Gemini — capacități remarcabile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Raționament multi-pas, generare cod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Provocare: hallucinations și bias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754880" y="914400"/>
            <a:ext cx="4160520" cy="182880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754880" y="914400"/>
            <a:ext cx="4160520" cy="54864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4892040" y="111556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5577840" y="11704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NLP Multilingv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4919472" y="16642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mBERT, XLM-R — 100+ limbi simultan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BERT-RO, spaCy ro — limba română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 learning cross-lingual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320040" y="2971800"/>
            <a:ext cx="4160520" cy="182880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320040" y="2971800"/>
            <a:ext cx="4160520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457200" y="317296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1143000" y="32278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NLP Eficient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484632" y="37216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Modele mici și rapide: Phi-3, Mistral 7B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Distillation, quantization, pruning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AI — NLP pe telefon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754880" y="2971800"/>
            <a:ext cx="4160520" cy="1828800"/>
          </a:xfrm>
          <a:prstGeom prst="rect">
            <a:avLst/>
          </a:prstGeom>
          <a:solidFill>
            <a:srgbClr val="FFFFFF">
              <a:alpha val="94901"/>
            </a:srgbClr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4754880" y="2971800"/>
            <a:ext cx="4160520" cy="54864"/>
          </a:xfrm>
          <a:prstGeom prst="rect">
            <a:avLst/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4892040" y="317296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5577840" y="32278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AI Responsabil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919472" y="37216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</a:rPr>
              <a:t>Detectarea și mitigarea bias-urilor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</a:rPr>
              <a:t>Explicabilitate (XAI)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i="0" lang="en-US" sz="1200" u="none" cap="none" strike="noStrike">
                <a:solidFill>
                  <a:schemeClr val="dk1"/>
                </a:solidFill>
              </a:rPr>
              <a:t>GDPR, watermarking conținut AI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C5E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C5E"/>
          </a:solidFill>
          <a:ln cap="flat" cmpd="sng" w="12700">
            <a:solidFill>
              <a:srgbClr val="0F2C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Concluzii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411480" y="786384"/>
            <a:ext cx="109728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 / 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11480" y="960120"/>
            <a:ext cx="8321040" cy="62179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411480" y="960120"/>
            <a:ext cx="64008" cy="62179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548640" y="10332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115568" y="105156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NLP a parcurs un drum de la reguli explicite (1960s) la LLM-uri cu miliarde de parametri (2024)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11480" y="1709928"/>
            <a:ext cx="8321040" cy="62179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411480" y="1709928"/>
            <a:ext cx="64008" cy="621792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548640" y="1783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1115568" y="1801368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În educație: tutorat inteligent, evaluare automată, chatboti și accesibilizare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11480" y="2459736"/>
            <a:ext cx="8321040" cy="62179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411480" y="2459736"/>
            <a:ext cx="64008" cy="621792"/>
          </a:xfrm>
          <a:prstGeom prst="rect">
            <a:avLst/>
          </a:prstGeom>
          <a:solidFill>
            <a:srgbClr val="86EFAC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>
            <a:off x="548640" y="253288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1115568" y="2551176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+ spaCy + Hugging Face = acces facil la NLP de vârf, fără infrastructură costisitoare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11480" y="3209544"/>
            <a:ext cx="8321040" cy="62179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411480" y="3209544"/>
            <a:ext cx="64008" cy="621792"/>
          </a:xfrm>
          <a:prstGeom prst="rect">
            <a:avLst/>
          </a:prstGeom>
          <a:solidFill>
            <a:srgbClr val="FCA5A5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548640" y="328269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1115568" y="3300984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Provocări importante: hallucinations, bias, energie, explicabilitate — NLP responsabil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411480" y="3959352"/>
            <a:ext cx="8321040" cy="621792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411480" y="3959352"/>
            <a:ext cx="64008" cy="621792"/>
          </a:xfrm>
          <a:prstGeom prst="rect">
            <a:avLst/>
          </a:prstGeom>
          <a:solidFill>
            <a:srgbClr val="C4B5F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548640" y="403250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1115568" y="4050792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Resurse gratuite: BERT-RO, spaCy ro, Hugging Face — NLP de calitate și pentru română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0D9488">
              <a:alpha val="30196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6"/>
          <p:cNvSpPr/>
          <p:nvPr/>
        </p:nvSpPr>
        <p:spPr>
          <a:xfrm>
            <a:off x="502920" y="47000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