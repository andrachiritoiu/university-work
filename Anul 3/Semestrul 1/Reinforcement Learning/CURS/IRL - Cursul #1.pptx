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26"/>
  </p:notesMasterIdLst>
  <p:sldIdLst>
    <p:sldId id="256" r:id="rId5"/>
    <p:sldId id="259" r:id="rId6"/>
    <p:sldId id="260" r:id="rId7"/>
    <p:sldId id="306" r:id="rId8"/>
    <p:sldId id="315" r:id="rId9"/>
    <p:sldId id="316" r:id="rId10"/>
    <p:sldId id="320" r:id="rId11"/>
    <p:sldId id="321" r:id="rId12"/>
    <p:sldId id="322" r:id="rId13"/>
    <p:sldId id="307" r:id="rId14"/>
    <p:sldId id="309" r:id="rId15"/>
    <p:sldId id="308" r:id="rId16"/>
    <p:sldId id="261" r:id="rId17"/>
    <p:sldId id="317" r:id="rId18"/>
    <p:sldId id="262" r:id="rId19"/>
    <p:sldId id="318" r:id="rId20"/>
    <p:sldId id="310" r:id="rId21"/>
    <p:sldId id="319" r:id="rId22"/>
    <p:sldId id="313" r:id="rId23"/>
    <p:sldId id="314" r:id="rId24"/>
    <p:sldId id="284" r:id="rId25"/>
  </p:sldIdLst>
  <p:sldSz cx="9144000" cy="5143500" type="screen16x9"/>
  <p:notesSz cx="6858000" cy="9144000"/>
  <p:embeddedFontLst>
    <p:embeddedFont>
      <p:font typeface="Merriweather" pitchFamily="2" charset="77"/>
      <p:regular r:id="rId27"/>
      <p:bold r:id="rId28"/>
      <p:italic r:id="rId29"/>
      <p:boldItalic r:id="rId30"/>
    </p:embeddedFont>
    <p:embeddedFont>
      <p:font typeface="Merriweather Black" panose="00000A00000000000000"/>
      <p:bold r:id="rId31"/>
      <p:italic r:id="rId32"/>
      <p:boldItalic r:id="rId33"/>
    </p:embeddedFont>
    <p:embeddedFont>
      <p:font typeface="Spectral" panose="0202050206000000000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E8EF8-C9A2-552D-B3EE-98F94F2A27F3}" v="18" dt="2024-10-15T13:30:23.475"/>
    <p1510:client id="{E28BD699-2F79-9A90-C435-D739360F63B8}" v="1" dt="2024-10-15T13:27:47.182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1"/>
    <p:restoredTop sz="94621"/>
  </p:normalViewPr>
  <p:slideViewPr>
    <p:cSldViewPr snapToGrid="0">
      <p:cViewPr varScale="1">
        <p:scale>
          <a:sx n="210" d="100"/>
          <a:sy n="210" d="100"/>
        </p:scale>
        <p:origin x="176" y="6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IORDACHE" userId="S::stefan.iordache10@s.unibuc.ro::9dd8811d-5cc1-4677-ba15-8e8defdbcdf9" providerId="AD" clId="Web-{ED44D8C4-DAFE-4D5C-8B3B-5BCC92C5EAE2}"/>
    <pc:docChg chg="modSld">
      <pc:chgData name="STEFAN IORDACHE" userId="S::stefan.iordache10@s.unibuc.ro::9dd8811d-5cc1-4677-ba15-8e8defdbcdf9" providerId="AD" clId="Web-{ED44D8C4-DAFE-4D5C-8B3B-5BCC92C5EAE2}" dt="2024-10-06T10:23:14.408" v="14" actId="20577"/>
      <pc:docMkLst>
        <pc:docMk/>
      </pc:docMkLst>
      <pc:sldChg chg="modSp">
        <pc:chgData name="STEFAN IORDACHE" userId="S::stefan.iordache10@s.unibuc.ro::9dd8811d-5cc1-4677-ba15-8e8defdbcdf9" providerId="AD" clId="Web-{ED44D8C4-DAFE-4D5C-8B3B-5BCC92C5EAE2}" dt="2024-10-06T10:22:42.968" v="2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ED44D8C4-DAFE-4D5C-8B3B-5BCC92C5EAE2}" dt="2024-10-06T10:22:42.968" v="2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ED44D8C4-DAFE-4D5C-8B3B-5BCC92C5EAE2}" dt="2024-10-06T10:23:14.408" v="14" actId="20577"/>
        <pc:sldMkLst>
          <pc:docMk/>
          <pc:sldMk cId="0" sldId="284"/>
        </pc:sldMkLst>
        <pc:spChg chg="mod">
          <ac:chgData name="STEFAN IORDACHE" userId="S::stefan.iordache10@s.unibuc.ro::9dd8811d-5cc1-4677-ba15-8e8defdbcdf9" providerId="AD" clId="Web-{ED44D8C4-DAFE-4D5C-8B3B-5BCC92C5EAE2}" dt="2024-10-06T10:23:14.408" v="14" actId="20577"/>
          <ac:spMkLst>
            <pc:docMk/>
            <pc:sldMk cId="0" sldId="284"/>
            <ac:spMk id="2989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ED44D8C4-DAFE-4D5C-8B3B-5BCC92C5EAE2}" dt="2024-10-06T10:22:51.922" v="11" actId="20577"/>
        <pc:sldMkLst>
          <pc:docMk/>
          <pc:sldMk cId="3189685997" sldId="306"/>
        </pc:sldMkLst>
        <pc:spChg chg="mod">
          <ac:chgData name="STEFAN IORDACHE" userId="S::stefan.iordache10@s.unibuc.ro::9dd8811d-5cc1-4677-ba15-8e8defdbcdf9" providerId="AD" clId="Web-{ED44D8C4-DAFE-4D5C-8B3B-5BCC92C5EAE2}" dt="2024-10-06T10:22:51.922" v="11" actId="20577"/>
          <ac:spMkLst>
            <pc:docMk/>
            <pc:sldMk cId="3189685997" sldId="306"/>
            <ac:spMk id="2497" creationId="{00000000-0000-0000-0000-000000000000}"/>
          </ac:spMkLst>
        </pc:spChg>
      </pc:sldChg>
    </pc:docChg>
  </pc:docChgLst>
  <pc:docChgLst>
    <pc:chgData name="TALIDA MARINA DOBRE" userId="S::talida.dobre@s.unibuc.ro::69cc52f3-47ce-44d5-87ce-f6ac8c07f547" providerId="AD" clId="Web-{006D0FBD-B988-4F5B-A6BF-5BE1FB2D43B1}"/>
    <pc:docChg chg="modSld">
      <pc:chgData name="TALIDA MARINA DOBRE" userId="S::talida.dobre@s.unibuc.ro::69cc52f3-47ce-44d5-87ce-f6ac8c07f547" providerId="AD" clId="Web-{006D0FBD-B988-4F5B-A6BF-5BE1FB2D43B1}" dt="2023-02-02T02:55:16.791" v="2"/>
      <pc:docMkLst>
        <pc:docMk/>
      </pc:docMkLst>
      <pc:sldChg chg="addSp delSp modSp">
        <pc:chgData name="TALIDA MARINA DOBRE" userId="S::talida.dobre@s.unibuc.ro::69cc52f3-47ce-44d5-87ce-f6ac8c07f547" providerId="AD" clId="Web-{006D0FBD-B988-4F5B-A6BF-5BE1FB2D43B1}" dt="2023-02-02T02:55:16.791" v="2"/>
        <pc:sldMkLst>
          <pc:docMk/>
          <pc:sldMk cId="0" sldId="284"/>
        </pc:sldMkLst>
        <pc:grpChg chg="mod">
          <ac:chgData name="TALIDA MARINA DOBRE" userId="S::talida.dobre@s.unibuc.ro::69cc52f3-47ce-44d5-87ce-f6ac8c07f547" providerId="AD" clId="Web-{006D0FBD-B988-4F5B-A6BF-5BE1FB2D43B1}" dt="2023-02-02T02:53:01.251" v="0" actId="1076"/>
          <ac:grpSpMkLst>
            <pc:docMk/>
            <pc:sldMk cId="0" sldId="284"/>
            <ac:grpSpMk id="3018" creationId="{00000000-0000-0000-0000-000000000000}"/>
          </ac:grpSpMkLst>
        </pc:grpChg>
        <pc:grpChg chg="add del">
          <ac:chgData name="TALIDA MARINA DOBRE" userId="S::talida.dobre@s.unibuc.ro::69cc52f3-47ce-44d5-87ce-f6ac8c07f547" providerId="AD" clId="Web-{006D0FBD-B988-4F5B-A6BF-5BE1FB2D43B1}" dt="2023-02-02T02:55:16.791" v="2"/>
          <ac:grpSpMkLst>
            <pc:docMk/>
            <pc:sldMk cId="0" sldId="284"/>
            <ac:grpSpMk id="3025" creationId="{00000000-0000-0000-0000-000000000000}"/>
          </ac:grpSpMkLst>
        </pc:grpChg>
      </pc:sldChg>
    </pc:docChg>
  </pc:docChgLst>
  <pc:docChgLst>
    <pc:chgData name="OCTAVIAN ANDREI MACELARU" userId="S::octavian-andrei.macelaru@s.unibuc.ro::44fc2c80-4820-461b-97b8-22b51db84c76" providerId="AD" clId="Web-{53EE8EF8-C9A2-552D-B3EE-98F94F2A27F3}"/>
    <pc:docChg chg="modSld">
      <pc:chgData name="OCTAVIAN ANDREI MACELARU" userId="S::octavian-andrei.macelaru@s.unibuc.ro::44fc2c80-4820-461b-97b8-22b51db84c76" providerId="AD" clId="Web-{53EE8EF8-C9A2-552D-B3EE-98F94F2A27F3}" dt="2024-10-15T13:30:23.475" v="17" actId="20577"/>
      <pc:docMkLst>
        <pc:docMk/>
      </pc:docMkLst>
      <pc:sldChg chg="modSp">
        <pc:chgData name="OCTAVIAN ANDREI MACELARU" userId="S::octavian-andrei.macelaru@s.unibuc.ro::44fc2c80-4820-461b-97b8-22b51db84c76" providerId="AD" clId="Web-{53EE8EF8-C9A2-552D-B3EE-98F94F2A27F3}" dt="2024-10-15T13:30:23.475" v="17" actId="20577"/>
        <pc:sldMkLst>
          <pc:docMk/>
          <pc:sldMk cId="0" sldId="262"/>
        </pc:sldMkLst>
        <pc:spChg chg="mod">
          <ac:chgData name="OCTAVIAN ANDREI MACELARU" userId="S::octavian-andrei.macelaru@s.unibuc.ro::44fc2c80-4820-461b-97b8-22b51db84c76" providerId="AD" clId="Web-{53EE8EF8-C9A2-552D-B3EE-98F94F2A27F3}" dt="2024-10-15T13:30:23.475" v="17" actId="20577"/>
          <ac:spMkLst>
            <pc:docMk/>
            <pc:sldMk cId="0" sldId="262"/>
            <ac:spMk id="2232" creationId="{00000000-0000-0000-0000-000000000000}"/>
          </ac:spMkLst>
        </pc:spChg>
      </pc:sldChg>
    </pc:docChg>
  </pc:docChgLst>
  <pc:docChgLst>
    <pc:chgData name="STEFAN IORDACHE" userId="S::stefan.iordache10@s.unibuc.ro::9dd8811d-5cc1-4677-ba15-8e8defdbcdf9" providerId="AD" clId="Web-{4241AC5A-D477-4C36-8E11-A1B68C693B0B}"/>
    <pc:docChg chg="modSld">
      <pc:chgData name="STEFAN IORDACHE" userId="S::stefan.iordache10@s.unibuc.ro::9dd8811d-5cc1-4677-ba15-8e8defdbcdf9" providerId="AD" clId="Web-{4241AC5A-D477-4C36-8E11-A1B68C693B0B}" dt="2024-10-06T10:21:44.073" v="14" actId="20577"/>
      <pc:docMkLst>
        <pc:docMk/>
      </pc:docMkLst>
      <pc:sldChg chg="modSp">
        <pc:chgData name="STEFAN IORDACHE" userId="S::stefan.iordache10@s.unibuc.ro::9dd8811d-5cc1-4677-ba15-8e8defdbcdf9" providerId="AD" clId="Web-{4241AC5A-D477-4C36-8E11-A1B68C693B0B}" dt="2024-10-06T10:21:37.213" v="10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4241AC5A-D477-4C36-8E11-A1B68C693B0B}" dt="2024-10-06T10:21:37.213" v="10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4241AC5A-D477-4C36-8E11-A1B68C693B0B}" dt="2024-10-06T10:21:44.073" v="14" actId="20577"/>
        <pc:sldMkLst>
          <pc:docMk/>
          <pc:sldMk cId="3189685997" sldId="306"/>
        </pc:sldMkLst>
        <pc:spChg chg="mod">
          <ac:chgData name="STEFAN IORDACHE" userId="S::stefan.iordache10@s.unibuc.ro::9dd8811d-5cc1-4677-ba15-8e8defdbcdf9" providerId="AD" clId="Web-{4241AC5A-D477-4C36-8E11-A1B68C693B0B}" dt="2024-10-06T10:21:44.073" v="14" actId="20577"/>
          <ac:spMkLst>
            <pc:docMk/>
            <pc:sldMk cId="3189685997" sldId="306"/>
            <ac:spMk id="2497" creationId="{00000000-0000-0000-0000-000000000000}"/>
          </ac:spMkLst>
        </pc:spChg>
      </pc:sldChg>
    </pc:docChg>
  </pc:docChgLst>
  <pc:docChgLst>
    <pc:chgData name="NICOLETA CARAMALIU" userId="S::nicoleta.caramaliu@s.unibuc.ro::16733fba-875e-4397-a5e7-613430ce771d" providerId="AD" clId="Web-{E28BD699-2F79-9A90-C435-D739360F63B8}"/>
    <pc:docChg chg="sldOrd">
      <pc:chgData name="NICOLETA CARAMALIU" userId="S::nicoleta.caramaliu@s.unibuc.ro::16733fba-875e-4397-a5e7-613430ce771d" providerId="AD" clId="Web-{E28BD699-2F79-9A90-C435-D739360F63B8}" dt="2024-10-15T13:27:47.182" v="0"/>
      <pc:docMkLst>
        <pc:docMk/>
      </pc:docMkLst>
      <pc:sldChg chg="ord">
        <pc:chgData name="NICOLETA CARAMALIU" userId="S::nicoleta.caramaliu@s.unibuc.ro::16733fba-875e-4397-a5e7-613430ce771d" providerId="AD" clId="Web-{E28BD699-2F79-9A90-C435-D739360F63B8}" dt="2024-10-15T13:27:47.182" v="0"/>
        <pc:sldMkLst>
          <pc:docMk/>
          <pc:sldMk cId="2549810179" sldId="310"/>
        </pc:sldMkLst>
      </pc:sldChg>
    </pc:docChg>
  </pc:docChgLst>
  <pc:docChgLst>
    <pc:chgData name="STEFAN IORDACHE" userId="S::stefan.iordache10@s.unibuc.ro::9dd8811d-5cc1-4677-ba15-8e8defdbcdf9" providerId="AD" clId="Web-{06EB98C9-32AA-43D9-9FA3-F8911804CBB2}"/>
    <pc:docChg chg="modSld">
      <pc:chgData name="STEFAN IORDACHE" userId="S::stefan.iordache10@s.unibuc.ro::9dd8811d-5cc1-4677-ba15-8e8defdbcdf9" providerId="AD" clId="Web-{06EB98C9-32AA-43D9-9FA3-F8911804CBB2}" dt="2024-10-06T10:21:18.941" v="12" actId="20577"/>
      <pc:docMkLst>
        <pc:docMk/>
      </pc:docMkLst>
      <pc:sldChg chg="modSp">
        <pc:chgData name="STEFAN IORDACHE" userId="S::stefan.iordache10@s.unibuc.ro::9dd8811d-5cc1-4677-ba15-8e8defdbcdf9" providerId="AD" clId="Web-{06EB98C9-32AA-43D9-9FA3-F8911804CBB2}" dt="2024-10-06T10:20:50.190" v="4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06EB98C9-32AA-43D9-9FA3-F8911804CBB2}" dt="2024-10-06T10:20:50.190" v="4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06EB98C9-32AA-43D9-9FA3-F8911804CBB2}" dt="2024-10-06T10:21:04.034" v="10" actId="20577"/>
        <pc:sldMkLst>
          <pc:docMk/>
          <pc:sldMk cId="3189685997" sldId="306"/>
        </pc:sldMkLst>
        <pc:spChg chg="mod">
          <ac:chgData name="STEFAN IORDACHE" userId="S::stefan.iordache10@s.unibuc.ro::9dd8811d-5cc1-4677-ba15-8e8defdbcdf9" providerId="AD" clId="Web-{06EB98C9-32AA-43D9-9FA3-F8911804CBB2}" dt="2024-10-06T10:21:04.034" v="10" actId="20577"/>
          <ac:spMkLst>
            <pc:docMk/>
            <pc:sldMk cId="3189685997" sldId="306"/>
            <ac:spMk id="2497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06EB98C9-32AA-43D9-9FA3-F8911804CBB2}" dt="2024-10-06T10:21:18.941" v="12" actId="20577"/>
        <pc:sldMkLst>
          <pc:docMk/>
          <pc:sldMk cId="2862862188" sldId="307"/>
        </pc:sldMkLst>
        <pc:spChg chg="mod">
          <ac:chgData name="STEFAN IORDACHE" userId="S::stefan.iordache10@s.unibuc.ro::9dd8811d-5cc1-4677-ba15-8e8defdbcdf9" providerId="AD" clId="Web-{06EB98C9-32AA-43D9-9FA3-F8911804CBB2}" dt="2024-10-06T10:21:18.941" v="12" actId="20577"/>
          <ac:spMkLst>
            <pc:docMk/>
            <pc:sldMk cId="2862862188" sldId="307"/>
            <ac:spMk id="24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897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>
          <a:extLst>
            <a:ext uri="{FF2B5EF4-FFF2-40B4-BE49-F238E27FC236}">
              <a16:creationId xmlns:a16="http://schemas.microsoft.com/office/drawing/2014/main" id="{47F95158-E3D3-8439-DFB2-BEF3F237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>
            <a:extLst>
              <a:ext uri="{FF2B5EF4-FFF2-40B4-BE49-F238E27FC236}">
                <a16:creationId xmlns:a16="http://schemas.microsoft.com/office/drawing/2014/main" id="{46F089EE-852A-5031-1CC4-783CC5DCF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>
            <a:extLst>
              <a:ext uri="{FF2B5EF4-FFF2-40B4-BE49-F238E27FC236}">
                <a16:creationId xmlns:a16="http://schemas.microsoft.com/office/drawing/2014/main" id="{FFB48183-FE58-0702-A1C4-9FCDFE43A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740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451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140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024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>
          <a:extLst>
            <a:ext uri="{FF2B5EF4-FFF2-40B4-BE49-F238E27FC236}">
              <a16:creationId xmlns:a16="http://schemas.microsoft.com/office/drawing/2014/main" id="{8E4D90EF-9D75-0359-F029-0B66ACA8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>
            <a:extLst>
              <a:ext uri="{FF2B5EF4-FFF2-40B4-BE49-F238E27FC236}">
                <a16:creationId xmlns:a16="http://schemas.microsoft.com/office/drawing/2014/main" id="{1AF1BD6B-85BA-246E-4595-8DB784139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>
            <a:extLst>
              <a:ext uri="{FF2B5EF4-FFF2-40B4-BE49-F238E27FC236}">
                <a16:creationId xmlns:a16="http://schemas.microsoft.com/office/drawing/2014/main" id="{8167FF0C-FF64-290F-04E5-FA256990D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206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D5F52E7C-169C-1CF3-CB9D-670BA352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1895DA74-D1AA-D7FE-689D-3102E1EDD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44EC19DD-CBED-F5DF-AC9B-B39789392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937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217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DC074C15-3C95-C765-ED6D-804305DE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07ED2724-D44F-0315-948F-C44EC2E95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7A261266-037F-3861-3DBD-574A31B2F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960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293" name="Google Shape;293;p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94" name="Google Shape;29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95" name="Google Shape;29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6" name="Google Shape;29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7" name="Google Shape;29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8" name="Google Shape;29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9" name="Google Shape;29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0" name="Google Shape;30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1" name="Google Shape;30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2" name="Google Shape;30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3" name="Google Shape;30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4" name="Google Shape;30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05" name="Google Shape;30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6" name="Google Shape;30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8" name="Google Shape;30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" name="Google Shape;31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3" name="Google Shape;313;p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4" name="Google Shape;31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15" name="Google Shape;31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6" name="Google Shape;31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7" name="Google Shape;31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8" name="Google Shape;31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9" name="Google Shape;31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0" name="Google Shape;32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1" name="Google Shape;32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2" name="Google Shape;32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3" name="Google Shape;32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4" name="Google Shape;32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25" name="Google Shape;32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6" name="Google Shape;32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8" name="Google Shape;32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9" name="Google Shape;32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0" name="Google Shape;33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1" name="Google Shape;33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2" name="Google Shape;33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33" name="Google Shape;333;p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34" name="Google Shape;33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35" name="Google Shape;33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6" name="Google Shape;33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7" name="Google Shape;33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34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34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4" name="Google Shape;34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45" name="Google Shape;34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6" name="Google Shape;34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7" name="Google Shape;34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8" name="Google Shape;34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0" name="Google Shape;35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1" name="Google Shape;35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2" name="Google Shape;35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53" name="Google Shape;353;p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54" name="Google Shape;35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55" name="Google Shape;35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6" name="Google Shape;35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7" name="Google Shape;35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8" name="Google Shape;35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9" name="Google Shape;35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0" name="Google Shape;36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1" name="Google Shape;36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2" name="Google Shape;36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3" name="Google Shape;36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64" name="Google Shape;36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65" name="Google Shape;36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36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36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36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36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37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1" name="Google Shape;37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2" name="Google Shape;37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73" name="Google Shape;373;p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540925" y="1457100"/>
            <a:ext cx="8062500" cy="33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6"/>
          <p:cNvGrpSpPr/>
          <p:nvPr/>
        </p:nvGrpSpPr>
        <p:grpSpPr>
          <a:xfrm rot="10800000">
            <a:off x="8266000" y="4308387"/>
            <a:ext cx="702934" cy="664116"/>
            <a:chOff x="5767869" y="4269892"/>
            <a:chExt cx="702934" cy="664116"/>
          </a:xfrm>
        </p:grpSpPr>
        <p:sp>
          <p:nvSpPr>
            <p:cNvPr id="376" name="Google Shape;376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flipH="1">
              <a:off x="5767869" y="4693708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6"/>
          <p:cNvGrpSpPr/>
          <p:nvPr/>
        </p:nvGrpSpPr>
        <p:grpSpPr>
          <a:xfrm rot="5400000" flipH="1">
            <a:off x="87016" y="1348652"/>
            <a:ext cx="669233" cy="553467"/>
            <a:chOff x="5801569" y="4269892"/>
            <a:chExt cx="669233" cy="553467"/>
          </a:xfrm>
        </p:grpSpPr>
        <p:sp>
          <p:nvSpPr>
            <p:cNvPr id="379" name="Google Shape;379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flipH="1">
              <a:off x="5801569" y="4583059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1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899" name="Google Shape;899;p1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00" name="Google Shape;90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01" name="Google Shape;90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2" name="Google Shape;90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3" name="Google Shape;90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4" name="Google Shape;90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5" name="Google Shape;90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6" name="Google Shape;90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7" name="Google Shape;90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8" name="Google Shape;90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9" name="Google Shape;90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10" name="Google Shape;91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11" name="Google Shape;91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2" name="Google Shape;91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3" name="Google Shape;91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4" name="Google Shape;91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5" name="Google Shape;91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6" name="Google Shape;91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1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20" name="Google Shape;92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21" name="Google Shape;92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0" name="Google Shape;93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31" name="Google Shape;93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7" name="Google Shape;93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1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40" name="Google Shape;94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41" name="Google Shape;94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2" name="Google Shape;94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5" name="Google Shape;94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6" name="Google Shape;94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7" name="Google Shape;94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8" name="Google Shape;94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0" name="Google Shape;95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51" name="Google Shape;95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2" name="Google Shape;95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3" name="Google Shape;95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5" name="Google Shape;95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6" name="Google Shape;95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7" name="Google Shape;95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9" name="Google Shape;959;p1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60" name="Google Shape;96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61" name="Google Shape;96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2" name="Google Shape;96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3" name="Google Shape;96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4" name="Google Shape;96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5" name="Google Shape;96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6" name="Google Shape;96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7" name="Google Shape;96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8" name="Google Shape;96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9" name="Google Shape;96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70" name="Google Shape;97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71" name="Google Shape;97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2" name="Google Shape;97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3" name="Google Shape;97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4" name="Google Shape;97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5" name="Google Shape;97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6" name="Google Shape;97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7" name="Google Shape;97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8" name="Google Shape;97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79" name="Google Shape;979;p16"/>
          <p:cNvSpPr txBox="1">
            <a:spLocks noGrp="1"/>
          </p:cNvSpPr>
          <p:nvPr>
            <p:ph type="subTitle" idx="1"/>
          </p:nvPr>
        </p:nvSpPr>
        <p:spPr>
          <a:xfrm>
            <a:off x="71322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0" name="Google Shape;980;p16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16"/>
          <p:cNvSpPr txBox="1">
            <a:spLocks noGrp="1"/>
          </p:cNvSpPr>
          <p:nvPr>
            <p:ph type="subTitle" idx="3"/>
          </p:nvPr>
        </p:nvSpPr>
        <p:spPr>
          <a:xfrm>
            <a:off x="2697450" y="3039978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2" name="Google Shape;982;p16"/>
          <p:cNvSpPr txBox="1">
            <a:spLocks noGrp="1"/>
          </p:cNvSpPr>
          <p:nvPr>
            <p:ph type="subTitle" idx="4"/>
          </p:nvPr>
        </p:nvSpPr>
        <p:spPr>
          <a:xfrm>
            <a:off x="2697450" y="3378023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6"/>
          <p:cNvSpPr txBox="1">
            <a:spLocks noGrp="1"/>
          </p:cNvSpPr>
          <p:nvPr>
            <p:ph type="subTitle" idx="5"/>
          </p:nvPr>
        </p:nvSpPr>
        <p:spPr>
          <a:xfrm>
            <a:off x="468168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4" name="Google Shape;984;p16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986" name="Google Shape;986;p16"/>
          <p:cNvSpPr/>
          <p:nvPr/>
        </p:nvSpPr>
        <p:spPr>
          <a:xfrm>
            <a:off x="4979394" y="46336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8" name="Google Shape;1958;p28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959" name="Google Shape;1959;p28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60" name="Google Shape;196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61" name="Google Shape;196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2" name="Google Shape;196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5" name="Google Shape;196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6" name="Google Shape;196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7" name="Google Shape;196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8" name="Google Shape;196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9" name="Google Shape;196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70" name="Google Shape;197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71" name="Google Shape;197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2" name="Google Shape;197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3" name="Google Shape;197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4" name="Google Shape;197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5" name="Google Shape;197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6" name="Google Shape;197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7" name="Google Shape;197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8" name="Google Shape;197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79" name="Google Shape;1979;p28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80" name="Google Shape;198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81" name="Google Shape;198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2" name="Google Shape;198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3" name="Google Shape;198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4" name="Google Shape;198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5" name="Google Shape;198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6" name="Google Shape;198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7" name="Google Shape;198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8" name="Google Shape;198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9" name="Google Shape;198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90" name="Google Shape;199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91" name="Google Shape;199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2" name="Google Shape;199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3" name="Google Shape;199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4" name="Google Shape;199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5" name="Google Shape;199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6" name="Google Shape;199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7" name="Google Shape;199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8" name="Google Shape;199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9" name="Google Shape;1999;p28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00" name="Google Shape;200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01" name="Google Shape;200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2" name="Google Shape;200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3" name="Google Shape;200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4" name="Google Shape;200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5" name="Google Shape;200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6" name="Google Shape;200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7" name="Google Shape;200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8" name="Google Shape;200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9" name="Google Shape;200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10" name="Google Shape;201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11" name="Google Shape;201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2" name="Google Shape;201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3" name="Google Shape;201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4" name="Google Shape;201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5" name="Google Shape;201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6" name="Google Shape;201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7" name="Google Shape;201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8" name="Google Shape;201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21" name="Google Shape;202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4" name="Google Shape;202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5" name="Google Shape;202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6" name="Google Shape;202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7" name="Google Shape;202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8" name="Google Shape;202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9" name="Google Shape;202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30" name="Google Shape;203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31" name="Google Shape;203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2" name="Google Shape;203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3" name="Google Shape;203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4" name="Google Shape;203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5" name="Google Shape;203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6" name="Google Shape;203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7" name="Google Shape;203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8" name="Google Shape;203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2039" name="Google Shape;2039;p28"/>
          <p:cNvGrpSpPr/>
          <p:nvPr/>
        </p:nvGrpSpPr>
        <p:grpSpPr>
          <a:xfrm flipH="1">
            <a:off x="146539" y="131297"/>
            <a:ext cx="734748" cy="952069"/>
            <a:chOff x="7465916" y="720492"/>
            <a:chExt cx="1139144" cy="1477450"/>
          </a:xfrm>
        </p:grpSpPr>
        <p:sp>
          <p:nvSpPr>
            <p:cNvPr id="2040" name="Google Shape;2040;p28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8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8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8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8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8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6" name="Google Shape;2046;p28"/>
          <p:cNvSpPr/>
          <p:nvPr/>
        </p:nvSpPr>
        <p:spPr>
          <a:xfrm>
            <a:off x="8401572" y="4586124"/>
            <a:ext cx="431700" cy="4203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28"/>
          <p:cNvSpPr/>
          <p:nvPr/>
        </p:nvSpPr>
        <p:spPr>
          <a:xfrm>
            <a:off x="8768224" y="4322425"/>
            <a:ext cx="209700" cy="204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9" r:id="rId5"/>
    <p:sldLayoutId id="2147483662" r:id="rId6"/>
    <p:sldLayoutId id="2147483670" r:id="rId7"/>
    <p:sldLayoutId id="2147483673" r:id="rId8"/>
    <p:sldLayoutId id="2147483674" r:id="rId9"/>
    <p:sldLayoutId id="214748367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bucro0.sharepoint.com/:b:/r/sites/IntroducereinRL/Shared%20Documents/General/2022-2023/RLbook2020.pdf?csf=1&amp;web=1&amp;e=CKGe0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playlist?list=PLqYmG7hTraZDM-OYHWgPebj2MfCFzFObQ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 dirty="0"/>
              <a:t>2026 – 2027 (Sem. I)</a:t>
            </a:r>
            <a:br>
              <a:rPr lang="ro-RO" sz="1200" noProof="0" dirty="0"/>
            </a:br>
            <a:r>
              <a:rPr lang="ro-RO" sz="1200" noProof="0" dirty="0"/>
              <a:t>Drd. Ștefan Iordache</a:t>
            </a:r>
            <a:br>
              <a:rPr lang="ro-RO" sz="1200" noProof="0" dirty="0"/>
            </a:br>
            <a:r>
              <a:rPr lang="ro-RO" sz="1200" noProof="0" dirty="0"/>
              <a:t>Conf. </a:t>
            </a:r>
            <a:r>
              <a:rPr lang="ro-RO" sz="1200" dirty="0"/>
              <a:t>Dr. Ciprian Păduraru</a:t>
            </a:r>
            <a:br>
              <a:rPr lang="ro-RO" sz="1200" noProof="0" dirty="0"/>
            </a:br>
            <a:r>
              <a:rPr lang="ro-RO" sz="1200" noProof="0" dirty="0"/>
              <a:t>Facultatea de Matematică și Informatică</a:t>
            </a:r>
          </a:p>
          <a:p>
            <a:pPr marL="0" indent="0"/>
            <a:r>
              <a:rPr lang="ro-RO" sz="1200" noProof="0" dirty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Introducere în </a:t>
            </a:r>
            <a:r>
              <a:rPr lang="ro-RO" sz="3200" noProof="0" dirty="0" err="1"/>
              <a:t>Reinforcement</a:t>
            </a:r>
            <a:r>
              <a:rPr lang="ro-RO" sz="3200" noProof="0" dirty="0"/>
              <a:t> </a:t>
            </a:r>
            <a:r>
              <a:rPr lang="ro-RO" sz="3200" noProof="0" dirty="0" err="1"/>
              <a:t>Learning</a:t>
            </a:r>
            <a:endParaRPr lang="ro-RO" sz="3200" noProof="0" dirty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#1</a:t>
            </a:r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813289" y="2139416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4839077" y="3483508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Cuprins</a:t>
            </a:r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1632067" y="2339638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Organizatorice &amp; Evaluare</a:t>
            </a:r>
          </a:p>
        </p:txBody>
      </p:sp>
      <p:sp>
        <p:nvSpPr>
          <p:cNvPr id="2167" name="Google Shape;2167;p36"/>
          <p:cNvSpPr txBox="1">
            <a:spLocks noGrp="1"/>
          </p:cNvSpPr>
          <p:nvPr>
            <p:ph type="subTitle" idx="2"/>
          </p:nvPr>
        </p:nvSpPr>
        <p:spPr>
          <a:xfrm>
            <a:off x="1642444" y="2675618"/>
            <a:ext cx="2215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Desfășurare &amp; Examinare</a:t>
            </a:r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5658280" y="3514044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Introducere</a:t>
            </a:r>
          </a:p>
        </p:txBody>
      </p:sp>
      <p:sp>
        <p:nvSpPr>
          <p:cNvPr id="2169" name="Google Shape;2169;p36"/>
          <p:cNvSpPr txBox="1">
            <a:spLocks noGrp="1"/>
          </p:cNvSpPr>
          <p:nvPr>
            <p:ph type="subTitle" idx="4"/>
          </p:nvPr>
        </p:nvSpPr>
        <p:spPr>
          <a:xfrm>
            <a:off x="5658280" y="3802542"/>
            <a:ext cx="2522884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Ce înseamnă </a:t>
            </a:r>
            <a:r>
              <a:rPr lang="ro-RO" noProof="0" dirty="0" err="1"/>
              <a:t>Reinforcement</a:t>
            </a:r>
            <a:r>
              <a:rPr lang="ro-RO" noProof="0" dirty="0"/>
              <a:t> </a:t>
            </a:r>
            <a:r>
              <a:rPr lang="ro-RO" noProof="0" dirty="0" err="1"/>
              <a:t>Learning</a:t>
            </a:r>
            <a:r>
              <a:rPr lang="ro-RO" noProof="0" dirty="0"/>
              <a:t> (RL)?</a:t>
            </a:r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754461" y="2347177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01</a:t>
            </a:r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4780232" y="3696894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02</a:t>
            </a:r>
          </a:p>
        </p:txBody>
      </p:sp>
      <p:sp>
        <p:nvSpPr>
          <p:cNvPr id="2184" name="Google Shape;2184;p36"/>
          <p:cNvSpPr/>
          <p:nvPr/>
        </p:nvSpPr>
        <p:spPr>
          <a:xfrm>
            <a:off x="7843664" y="10118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noProof="0" dirty="0"/>
              <a:t>Organizatorice &amp; Evaluare</a:t>
            </a:r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Domnu’ profesor, cum luăm notă?</a:t>
            </a:r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b="0" i="0" noProof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b="0" i="0" noProof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Structura cursului</a:t>
            </a:r>
          </a:p>
        </p:txBody>
      </p:sp>
      <p:sp>
        <p:nvSpPr>
          <p:cNvPr id="2491" name="Google Shape;2491;p46"/>
          <p:cNvSpPr txBox="1"/>
          <p:nvPr/>
        </p:nvSpPr>
        <p:spPr>
          <a:xfrm>
            <a:off x="943913" y="1573185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Structură</a:t>
            </a:r>
          </a:p>
        </p:txBody>
      </p:sp>
      <p:sp>
        <p:nvSpPr>
          <p:cNvPr id="2492" name="Google Shape;2492;p46"/>
          <p:cNvSpPr txBox="1"/>
          <p:nvPr/>
        </p:nvSpPr>
        <p:spPr>
          <a:xfrm>
            <a:off x="973389" y="2511368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Curs</a:t>
            </a:r>
          </a:p>
        </p:txBody>
      </p:sp>
      <p:sp>
        <p:nvSpPr>
          <p:cNvPr id="2493" name="Google Shape;2493;p46"/>
          <p:cNvSpPr txBox="1"/>
          <p:nvPr/>
        </p:nvSpPr>
        <p:spPr>
          <a:xfrm>
            <a:off x="943913" y="3731852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Laborator</a:t>
            </a:r>
          </a:p>
        </p:txBody>
      </p:sp>
      <p:sp>
        <p:nvSpPr>
          <p:cNvPr id="2497" name="Google Shape;2497;p46"/>
          <p:cNvSpPr txBox="1"/>
          <p:nvPr/>
        </p:nvSpPr>
        <p:spPr>
          <a:xfrm>
            <a:off x="953739" y="2927605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2 ore/săptămână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Luni: 18-20</a:t>
            </a:r>
          </a:p>
        </p:txBody>
      </p:sp>
      <p:sp>
        <p:nvSpPr>
          <p:cNvPr id="2498" name="Google Shape;2498;p46"/>
          <p:cNvSpPr txBox="1"/>
          <p:nvPr/>
        </p:nvSpPr>
        <p:spPr>
          <a:xfrm>
            <a:off x="943912" y="4126827"/>
            <a:ext cx="2924197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4 laboratoare/săptămână – hibrid (3 online, 1 fizic)</a:t>
            </a:r>
          </a:p>
        </p:txBody>
      </p:sp>
      <p:cxnSp>
        <p:nvCxnSpPr>
          <p:cNvPr id="2499" name="Google Shape;2499;p46"/>
          <p:cNvCxnSpPr>
            <a:stCxn id="2491" idx="1"/>
            <a:endCxn id="2492" idx="1"/>
          </p:cNvCxnSpPr>
          <p:nvPr/>
        </p:nvCxnSpPr>
        <p:spPr>
          <a:xfrm rot="10800000" flipH="1" flipV="1">
            <a:off x="943913" y="1778984"/>
            <a:ext cx="29476" cy="938183"/>
          </a:xfrm>
          <a:prstGeom prst="bentConnector3">
            <a:avLst>
              <a:gd name="adj1" fmla="val -7755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00" name="Google Shape;2500;p46"/>
          <p:cNvCxnSpPr>
            <a:cxnSpLocks/>
            <a:endCxn id="2493" idx="1"/>
          </p:cNvCxnSpPr>
          <p:nvPr/>
        </p:nvCxnSpPr>
        <p:spPr>
          <a:xfrm rot="16200000" flipH="1">
            <a:off x="-233479" y="2760259"/>
            <a:ext cx="2124097" cy="230688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501" name="Google Shape;2501;p46"/>
          <p:cNvSpPr txBox="1"/>
          <p:nvPr/>
        </p:nvSpPr>
        <p:spPr>
          <a:xfrm>
            <a:off x="6015763" y="1602530"/>
            <a:ext cx="2377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Detalii</a:t>
            </a:r>
          </a:p>
        </p:txBody>
      </p:sp>
      <p:sp>
        <p:nvSpPr>
          <p:cNvPr id="2502" name="Google Shape;2502;p46"/>
          <p:cNvSpPr txBox="1"/>
          <p:nvPr/>
        </p:nvSpPr>
        <p:spPr>
          <a:xfrm>
            <a:off x="5822589" y="1914423"/>
            <a:ext cx="2609974" cy="247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Prezență obligatorie? </a:t>
            </a:r>
            <a:b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Nu!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Activitate cât mai mare? </a:t>
            </a: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Da!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Examen teoretic?</a:t>
            </a:r>
            <a:b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Nu!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Proiect?</a:t>
            </a:r>
            <a:b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Da!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Când &amp; cum?</a:t>
            </a:r>
            <a:b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La finalul semestrului (ultima săptămână), în echipe (3-5)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noProof="0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cxnSp>
        <p:nvCxnSpPr>
          <p:cNvPr id="2503" name="Google Shape;2503;p46"/>
          <p:cNvCxnSpPr>
            <a:cxnSpLocks/>
            <a:stCxn id="2491" idx="3"/>
            <a:endCxn id="2502" idx="1"/>
          </p:cNvCxnSpPr>
          <p:nvPr/>
        </p:nvCxnSpPr>
        <p:spPr>
          <a:xfrm>
            <a:off x="3321413" y="1778985"/>
            <a:ext cx="2501176" cy="137232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04" name="Google Shape;2504;p46"/>
          <p:cNvCxnSpPr>
            <a:cxnSpLocks/>
            <a:endCxn id="2502" idx="1"/>
          </p:cNvCxnSpPr>
          <p:nvPr/>
        </p:nvCxnSpPr>
        <p:spPr>
          <a:xfrm flipV="1">
            <a:off x="3483321" y="3151314"/>
            <a:ext cx="2339268" cy="1226913"/>
          </a:xfrm>
          <a:prstGeom prst="bentConnector3">
            <a:avLst>
              <a:gd name="adj1" fmla="val 4671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968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74D5-DBE1-FE66-4197-9ADDE732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FF54-DD57-CDF6-6E77-8496C913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Cum luăm nota? (#1)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D50CD-7A43-B2AC-BDAC-2853B5F81600}"/>
              </a:ext>
            </a:extLst>
          </p:cNvPr>
          <p:cNvSpPr txBox="1"/>
          <p:nvPr/>
        </p:nvSpPr>
        <p:spPr>
          <a:xfrm>
            <a:off x="692473" y="1573306"/>
            <a:ext cx="77589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Nota finală va fi formată 100% din nota proiectului!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Echipe de minim 3 și maxim 5 persoane. </a:t>
            </a:r>
          </a:p>
          <a:p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Lucrul individual nu este permis, datorită structurii materiei și complexității proiectelor.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dirty="0">
                <a:latin typeface="Merriweather" pitchFamily="2" charset="77"/>
              </a:rPr>
              <a:t>V</a:t>
            </a:r>
            <a:r>
              <a:rPr lang="ro-RO" noProof="0" dirty="0">
                <a:latin typeface="Merriweather" pitchFamily="2" charset="77"/>
              </a:rPr>
              <a:t>a fi deschisă o listă pentru notarea componenței echipelor și pentru propunerea unui subiect / unei teme de proiect.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Prezentările vor fi stabilite pe parcursul mai multor sesiuni în ultima săptămână a primului semestru, pe durata laboratoarelor și cursului.</a:t>
            </a:r>
          </a:p>
        </p:txBody>
      </p:sp>
    </p:spTree>
    <p:extLst>
      <p:ext uri="{BB962C8B-B14F-4D97-AF65-F5344CB8AC3E}">
        <p14:creationId xmlns:p14="http://schemas.microsoft.com/office/powerpoint/2010/main" val="273980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7E51D-0081-1C3F-7ED7-F3F27C6F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C39-48EE-798D-6EDF-25533780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Cum luăm nota? (#2)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CDCAE-6E3C-0168-AEA9-B193601830C8}"/>
              </a:ext>
            </a:extLst>
          </p:cNvPr>
          <p:cNvSpPr txBox="1"/>
          <p:nvPr/>
        </p:nvSpPr>
        <p:spPr>
          <a:xfrm>
            <a:off x="692473" y="1573306"/>
            <a:ext cx="7758953" cy="2833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o-RO" sz="1200" noProof="0" dirty="0">
                <a:latin typeface="Merriweather" pitchFamily="2" charset="77"/>
              </a:rPr>
              <a:t>În ce constă realizarea proiectului:</a:t>
            </a:r>
          </a:p>
          <a:p>
            <a:pPr>
              <a:lnSpc>
                <a:spcPct val="150000"/>
              </a:lnSpc>
            </a:pPr>
            <a:endParaRPr lang="ro-RO" sz="1200" noProof="0" dirty="0">
              <a:latin typeface="Merriweather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Alegerea unei teme de proiect (ex.: </a:t>
            </a:r>
            <a:r>
              <a:rPr lang="ro-RO" sz="1200" noProof="0" dirty="0" err="1">
                <a:latin typeface="Merriweather" pitchFamily="2" charset="77"/>
              </a:rPr>
              <a:t>reinforcement</a:t>
            </a:r>
            <a:r>
              <a:rPr lang="ro-RO" sz="1200" noProof="0" dirty="0">
                <a:latin typeface="Merriweather" pitchFamily="2" charset="77"/>
              </a:rPr>
              <a:t> </a:t>
            </a:r>
            <a:r>
              <a:rPr lang="ro-RO" sz="1200" noProof="0" dirty="0" err="1">
                <a:latin typeface="Merriweather" pitchFamily="2" charset="77"/>
              </a:rPr>
              <a:t>learning</a:t>
            </a:r>
            <a:r>
              <a:rPr lang="ro-RO" sz="1200" noProof="0" dirty="0">
                <a:latin typeface="Merriweather" pitchFamily="2" charset="77"/>
              </a:rPr>
              <a:t> într-un joc 2D / </a:t>
            </a:r>
            <a:r>
              <a:rPr lang="ro-RO" sz="1200" noProof="0" dirty="0" err="1">
                <a:latin typeface="Merriweather" pitchFamily="2" charset="77"/>
              </a:rPr>
              <a:t>Unity</a:t>
            </a:r>
            <a:r>
              <a:rPr lang="ro-RO" sz="1200" noProof="0" dirty="0">
                <a:latin typeface="Merriweather" pitchFamily="2" charset="77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Implementarea sau editarea unui mediu existent;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strike="sngStrike" noProof="0" dirty="0">
                <a:latin typeface="Merriweather" pitchFamily="2" charset="77"/>
              </a:rPr>
              <a:t>Implementarea a minim 3 algoritmi / agenți și compararea lor în același mediu;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Rularea unor experimente multiple pentru calibrarea agenților;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Evidențierea rezultatelor obținute;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Documentarea implementării și experimentelor efectuate (</a:t>
            </a:r>
            <a:r>
              <a:rPr lang="ro-RO" sz="1200" dirty="0">
                <a:latin typeface="Merriweather" pitchFamily="2" charset="77"/>
              </a:rPr>
              <a:t>P</a:t>
            </a:r>
            <a:r>
              <a:rPr lang="ro-RO" sz="1200" noProof="0" dirty="0" err="1">
                <a:latin typeface="Merriweather" pitchFamily="2" charset="77"/>
              </a:rPr>
              <a:t>owerPoint</a:t>
            </a:r>
            <a:r>
              <a:rPr lang="ro-RO" sz="1200" noProof="0" dirty="0">
                <a:latin typeface="Merriweather" pitchFamily="2" charset="77"/>
              </a:rPr>
              <a:t>, </a:t>
            </a:r>
            <a:r>
              <a:rPr lang="ro-RO" sz="1200" noProof="0" dirty="0" err="1">
                <a:latin typeface="Merriweather" pitchFamily="2" charset="77"/>
              </a:rPr>
              <a:t>LaTeX</a:t>
            </a:r>
            <a:r>
              <a:rPr lang="ro-RO" sz="1200" noProof="0" dirty="0">
                <a:latin typeface="Merriweather" pitchFamily="2" charset="77"/>
              </a:rPr>
              <a:t>, </a:t>
            </a:r>
            <a:r>
              <a:rPr lang="ro-RO" sz="1200" dirty="0">
                <a:latin typeface="Merriweather" pitchFamily="2" charset="77"/>
              </a:rPr>
              <a:t>W</a:t>
            </a:r>
            <a:r>
              <a:rPr lang="ro-RO" sz="1200" noProof="0" dirty="0">
                <a:latin typeface="Merriweather" pitchFamily="2" charset="77"/>
              </a:rPr>
              <a:t>ord, etc.);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dirty="0">
                <a:latin typeface="Merriweather" pitchFamily="2" charset="77"/>
              </a:rPr>
              <a:t>Prezentarea proiectului la final de semestru, în echipă. Se urmărește evidențierea parcursului vostru de la idee la rezultate.</a:t>
            </a:r>
          </a:p>
        </p:txBody>
      </p:sp>
    </p:spTree>
    <p:extLst>
      <p:ext uri="{BB962C8B-B14F-4D97-AF65-F5344CB8AC3E}">
        <p14:creationId xmlns:p14="http://schemas.microsoft.com/office/powerpoint/2010/main" val="295961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CB1D-D3C4-0025-7F30-565F07B5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9BB0-AFBB-9E4C-C9EE-9614DE76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Cum luăm nota? (#3) </a:t>
            </a:r>
            <a:r>
              <a:rPr lang="ro-RO" b="1" noProof="0" dirty="0">
                <a:solidFill>
                  <a:srgbClr val="C00000"/>
                </a:solidFill>
              </a:rPr>
              <a:t>NOUTĂȚI !!!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5146F-DDB5-9A3E-0548-64F1658B385D}"/>
              </a:ext>
            </a:extLst>
          </p:cNvPr>
          <p:cNvSpPr txBox="1"/>
          <p:nvPr/>
        </p:nvSpPr>
        <p:spPr>
          <a:xfrm>
            <a:off x="692473" y="1573306"/>
            <a:ext cx="7758953" cy="117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o-RO" sz="1200" noProof="0" dirty="0">
                <a:latin typeface="Merriweather" pitchFamily="2" charset="77"/>
              </a:rPr>
              <a:t>Ce am observat anii trecuți: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Proiecte transformate în adevărate lucrări de licență...</a:t>
            </a:r>
            <a:br>
              <a:rPr lang="ro-RO" sz="1200" noProof="0" dirty="0">
                <a:latin typeface="Merriweather" pitchFamily="2" charset="77"/>
              </a:rPr>
            </a:br>
            <a:r>
              <a:rPr lang="ro-RO" sz="1200" noProof="0" dirty="0">
                <a:latin typeface="Merriweather" pitchFamily="2" charset="77"/>
              </a:rPr>
              <a:t>2 explicații posibile</a:t>
            </a: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200" noProof="0" dirty="0">
              <a:latin typeface="Merriweather" pitchFamily="2" charset="77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AE4D9A86-BC52-4B52-DFC2-D036AC40A6E9}"/>
              </a:ext>
            </a:extLst>
          </p:cNvPr>
          <p:cNvSpPr/>
          <p:nvPr/>
        </p:nvSpPr>
        <p:spPr>
          <a:xfrm>
            <a:off x="2649338" y="2260831"/>
            <a:ext cx="1338294" cy="137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A3C01-9C91-56D8-DC54-A020F37E2EB9}"/>
              </a:ext>
            </a:extLst>
          </p:cNvPr>
          <p:cNvSpPr txBox="1"/>
          <p:nvPr/>
        </p:nvSpPr>
        <p:spPr>
          <a:xfrm>
            <a:off x="4018071" y="2191024"/>
            <a:ext cx="3589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1200" b="1" dirty="0"/>
              <a:t>TOATĂ LUMEA ȘTIE RL </a:t>
            </a:r>
            <a:r>
              <a:rPr lang="en-RO" sz="1200" dirty="0">
                <a:sym typeface="Wingdings" pitchFamily="2" charset="2"/>
              </a:rPr>
              <a:t> Nu mai facem cursul</a:t>
            </a:r>
            <a:endParaRPr lang="en-RO" sz="1200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36C5AEEC-6069-E6E4-99CC-FB9A4ACC340A}"/>
              </a:ext>
            </a:extLst>
          </p:cNvPr>
          <p:cNvSpPr/>
          <p:nvPr/>
        </p:nvSpPr>
        <p:spPr>
          <a:xfrm rot="949246">
            <a:off x="2609897" y="2451534"/>
            <a:ext cx="1417174" cy="1308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4BB2E-2B28-4086-6D5E-212407A5D949}"/>
              </a:ext>
            </a:extLst>
          </p:cNvPr>
          <p:cNvSpPr txBox="1"/>
          <p:nvPr/>
        </p:nvSpPr>
        <p:spPr>
          <a:xfrm>
            <a:off x="4019929" y="2555383"/>
            <a:ext cx="43957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1200" b="1" dirty="0"/>
              <a:t>PROIECTE GENERATE… </a:t>
            </a:r>
            <a:br>
              <a:rPr lang="en-RO" sz="1200" dirty="0"/>
            </a:br>
            <a:r>
              <a:rPr lang="en-RO" sz="1200" dirty="0"/>
              <a:t>Exemple: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D</a:t>
            </a:r>
            <a:r>
              <a:rPr lang="en-RO" sz="1200" dirty="0"/>
              <a:t>ocumentație de minim 30-40 de pagini în LaTeX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 sz="1200" dirty="0"/>
              <a:t>Utilizarea unor algoritmi sofisticați, fără a cunoaște bazele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 sz="1200" dirty="0"/>
              <a:t>”Ce am avut de făcut?”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O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O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67CEC-4DD2-D715-BF99-32BE59E75F0A}"/>
              </a:ext>
            </a:extLst>
          </p:cNvPr>
          <p:cNvSpPr txBox="1"/>
          <p:nvPr/>
        </p:nvSpPr>
        <p:spPr>
          <a:xfrm>
            <a:off x="7437254" y="2201503"/>
            <a:ext cx="354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O" dirty="0"/>
              <a:t>😊</a:t>
            </a:r>
          </a:p>
        </p:txBody>
      </p:sp>
    </p:spTree>
    <p:extLst>
      <p:ext uri="{BB962C8B-B14F-4D97-AF65-F5344CB8AC3E}">
        <p14:creationId xmlns:p14="http://schemas.microsoft.com/office/powerpoint/2010/main" val="307370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>
          <a:extLst>
            <a:ext uri="{FF2B5EF4-FFF2-40B4-BE49-F238E27FC236}">
              <a16:creationId xmlns:a16="http://schemas.microsoft.com/office/drawing/2014/main" id="{005EA76E-E9D3-1104-BA2D-94DB7A45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>
            <a:extLst>
              <a:ext uri="{FF2B5EF4-FFF2-40B4-BE49-F238E27FC236}">
                <a16:creationId xmlns:a16="http://schemas.microsoft.com/office/drawing/2014/main" id="{BB8C1E4C-3E96-A066-6A38-23A8828FF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8025" y="1253845"/>
            <a:ext cx="5023395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/>
              <a:t>Nu mai putem folosi AI?</a:t>
            </a:r>
            <a:endParaRPr lang="ro-RO" sz="3200" noProof="0" dirty="0"/>
          </a:p>
        </p:txBody>
      </p:sp>
      <p:sp>
        <p:nvSpPr>
          <p:cNvPr id="2216" name="Google Shape;2216;p38">
            <a:extLst>
              <a:ext uri="{FF2B5EF4-FFF2-40B4-BE49-F238E27FC236}">
                <a16:creationId xmlns:a16="http://schemas.microsoft.com/office/drawing/2014/main" id="{67FA0ACE-B269-7342-2FAC-AA8AD7FBBE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98375" y="2025359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noProof="0" dirty="0"/>
              <a:t>BA DA! Dar implică </a:t>
            </a:r>
            <a:r>
              <a:rPr lang="ro-RO" b="1" i="1" noProof="0" dirty="0"/>
              <a:t>responsabilitate</a:t>
            </a:r>
            <a:r>
              <a:rPr lang="ro-RO" noProof="0" dirty="0"/>
              <a:t> din partea voastră!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dirty="0"/>
              <a:t>Alegerile voastre decid viitorul...și nu doar al acestui curs!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dirty="0">
                <a:solidFill>
                  <a:srgbClr val="C00000"/>
                </a:solidFill>
              </a:rPr>
              <a:t>Vom discuta despre proiect în detaliu la cursul #2!</a:t>
            </a:r>
          </a:p>
        </p:txBody>
      </p:sp>
      <p:sp>
        <p:nvSpPr>
          <p:cNvPr id="2217" name="Google Shape;2217;p38">
            <a:extLst>
              <a:ext uri="{FF2B5EF4-FFF2-40B4-BE49-F238E27FC236}">
                <a16:creationId xmlns:a16="http://schemas.microsoft.com/office/drawing/2014/main" id="{43D3C613-2CEF-CE34-13E7-C5ABC056039A}"/>
              </a:ext>
            </a:extLst>
          </p:cNvPr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>
            <a:extLst>
              <a:ext uri="{FF2B5EF4-FFF2-40B4-BE49-F238E27FC236}">
                <a16:creationId xmlns:a16="http://schemas.microsoft.com/office/drawing/2014/main" id="{D87D4F72-1CC8-E48C-229E-36C8FA04143E}"/>
              </a:ext>
            </a:extLst>
          </p:cNvPr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>
              <a:extLst>
                <a:ext uri="{FF2B5EF4-FFF2-40B4-BE49-F238E27FC236}">
                  <a16:creationId xmlns:a16="http://schemas.microsoft.com/office/drawing/2014/main" id="{10F7E75F-54AA-8667-897E-21CAA6B0694B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>
              <a:extLst>
                <a:ext uri="{FF2B5EF4-FFF2-40B4-BE49-F238E27FC236}">
                  <a16:creationId xmlns:a16="http://schemas.microsoft.com/office/drawing/2014/main" id="{9099A4B1-E403-7653-241F-144F03641298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>
              <a:extLst>
                <a:ext uri="{FF2B5EF4-FFF2-40B4-BE49-F238E27FC236}">
                  <a16:creationId xmlns:a16="http://schemas.microsoft.com/office/drawing/2014/main" id="{A135D4E3-2738-7776-846E-929249DAC396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>
              <a:extLst>
                <a:ext uri="{FF2B5EF4-FFF2-40B4-BE49-F238E27FC236}">
                  <a16:creationId xmlns:a16="http://schemas.microsoft.com/office/drawing/2014/main" id="{D2351058-DC83-492C-FB89-E2F78A1ADCEB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>
              <a:extLst>
                <a:ext uri="{FF2B5EF4-FFF2-40B4-BE49-F238E27FC236}">
                  <a16:creationId xmlns:a16="http://schemas.microsoft.com/office/drawing/2014/main" id="{30C5D03E-C61D-ECC4-F578-A8F264A35C6F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>
            <a:extLst>
              <a:ext uri="{FF2B5EF4-FFF2-40B4-BE49-F238E27FC236}">
                <a16:creationId xmlns:a16="http://schemas.microsoft.com/office/drawing/2014/main" id="{CB87D5E7-5DFC-8B02-A40B-695C395AD29A}"/>
              </a:ext>
            </a:extLst>
          </p:cNvPr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>
            <a:extLst>
              <a:ext uri="{FF2B5EF4-FFF2-40B4-BE49-F238E27FC236}">
                <a16:creationId xmlns:a16="http://schemas.microsoft.com/office/drawing/2014/main" id="{2BE91BEA-895F-36C9-1C7F-AF05B3613597}"/>
              </a:ext>
            </a:extLst>
          </p:cNvPr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15894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188B-7850-DC9A-DE5C-3053BDAF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99F0-EE28-4952-EE66-BE6EBFAA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Cum luăm nota? (#4) </a:t>
            </a:r>
            <a:r>
              <a:rPr lang="ro-RO" b="1" noProof="0" dirty="0">
                <a:solidFill>
                  <a:srgbClr val="C00000"/>
                </a:solidFill>
              </a:rPr>
              <a:t>NOUTĂȚI !!!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1B2A8-281E-0A48-D00E-4D7CA4B9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00" y="1084775"/>
            <a:ext cx="5778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Tehnologii utilizate</a:t>
            </a:r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EA8CABA-A001-A935-B3E0-2E032392B44B}"/>
              </a:ext>
            </a:extLst>
          </p:cNvPr>
          <p:cNvSpPr txBox="1"/>
          <p:nvPr/>
        </p:nvSpPr>
        <p:spPr>
          <a:xfrm>
            <a:off x="994805" y="1823350"/>
            <a:ext cx="76062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noProof="0" dirty="0">
                <a:latin typeface="Merriweather" pitchFamily="2" charset="77"/>
              </a:rPr>
              <a:t>Avem libertate totală</a:t>
            </a:r>
            <a:r>
              <a:rPr lang="ro-RO" dirty="0">
                <a:latin typeface="Merriweather" pitchFamily="2" charset="77"/>
              </a:rPr>
              <a:t>! 😊</a:t>
            </a:r>
            <a:endParaRPr lang="ro-RO" noProof="0" dirty="0">
              <a:latin typeface="Merriweather" pitchFamily="2" charset="77"/>
            </a:endParaRPr>
          </a:p>
          <a:p>
            <a:endParaRPr lang="ro-RO" dirty="0">
              <a:latin typeface="Merriweather" pitchFamily="2" charset="77"/>
            </a:endParaRPr>
          </a:p>
          <a:p>
            <a:r>
              <a:rPr lang="ro-RO" noProof="0" dirty="0">
                <a:latin typeface="Merriweather" pitchFamily="2" charset="77"/>
              </a:rPr>
              <a:t>Dar și câteva recomandări: </a:t>
            </a:r>
          </a:p>
          <a:p>
            <a:endParaRPr lang="ro-RO" noProof="0" dirty="0">
              <a:latin typeface="Merriweather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0" dirty="0" err="1">
                <a:latin typeface="Merriweather" pitchFamily="2" charset="77"/>
              </a:rPr>
              <a:t>Python</a:t>
            </a:r>
            <a:r>
              <a:rPr lang="ro-RO" noProof="0" dirty="0">
                <a:latin typeface="Merriweather" pitchFamily="2" charset="77"/>
              </a:rPr>
              <a:t> 3.10+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 err="1">
                <a:latin typeface="Merriweather" pitchFamily="2" charset="77"/>
              </a:rPr>
              <a:t>Jupyter</a:t>
            </a:r>
            <a:r>
              <a:rPr lang="ro-RO" noProof="0" dirty="0">
                <a:latin typeface="Merriweather" pitchFamily="2" charset="77"/>
              </a:rPr>
              <a:t> Notebook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Câteva librării </a:t>
            </a:r>
            <a:r>
              <a:rPr lang="ro-RO" dirty="0">
                <a:latin typeface="Merriweather" pitchFamily="2" charset="77"/>
              </a:rPr>
              <a:t>de bază: </a:t>
            </a:r>
            <a:r>
              <a:rPr lang="ro-RO" dirty="0" err="1">
                <a:latin typeface="Merriweather" pitchFamily="2" charset="77"/>
              </a:rPr>
              <a:t>PyTorch</a:t>
            </a:r>
            <a:r>
              <a:rPr lang="ro-RO" dirty="0">
                <a:latin typeface="Merriweather" pitchFamily="2" charset="77"/>
              </a:rPr>
              <a:t> / </a:t>
            </a:r>
            <a:r>
              <a:rPr lang="ro-RO" dirty="0" err="1">
                <a:latin typeface="Merriweather" pitchFamily="2" charset="77"/>
              </a:rPr>
              <a:t>TensorFlow</a:t>
            </a:r>
            <a:r>
              <a:rPr lang="ro-RO" dirty="0">
                <a:latin typeface="Merriweather" pitchFamily="2" charset="77"/>
              </a:rPr>
              <a:t> / Stable-Baselines3</a:t>
            </a: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dirty="0">
                <a:latin typeface="Merriweather" pitchFamily="2" charset="77"/>
              </a:rPr>
              <a:t>Platforme de lucru: </a:t>
            </a:r>
            <a:r>
              <a:rPr lang="ro-RO" dirty="0" err="1">
                <a:latin typeface="Merriweather" pitchFamily="2" charset="77"/>
              </a:rPr>
              <a:t>Colab</a:t>
            </a:r>
            <a:r>
              <a:rPr lang="ro-RO" dirty="0">
                <a:latin typeface="Merriweather" pitchFamily="2" charset="77"/>
              </a:rPr>
              <a:t> / VS Code / </a:t>
            </a:r>
            <a:r>
              <a:rPr lang="ro-RO" dirty="0" err="1">
                <a:latin typeface="Merriweather" pitchFamily="2" charset="77"/>
              </a:rPr>
              <a:t>PyCharm</a:t>
            </a:r>
            <a:r>
              <a:rPr lang="ro-RO" dirty="0">
                <a:latin typeface="Merriweather" pitchFamily="2" charset="77"/>
              </a:rPr>
              <a:t> / </a:t>
            </a:r>
            <a:r>
              <a:rPr lang="ro-RO" strike="sngStrike" dirty="0">
                <a:latin typeface="Merriweather" pitchFamily="2" charset="77"/>
              </a:rPr>
              <a:t>tăblițe sumeriene</a:t>
            </a:r>
            <a:endParaRPr lang="ro-RO" strike="sngStrike" noProof="0" dirty="0">
              <a:latin typeface="Merriweather" pitchFamily="2" charset="77"/>
            </a:endParaRPr>
          </a:p>
          <a:p>
            <a:pPr lvl="4"/>
            <a:endParaRPr lang="ro-RO" noProof="0" dirty="0">
              <a:latin typeface="Merriweathe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286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Scurtă bibliografie</a:t>
            </a:r>
          </a:p>
        </p:txBody>
      </p:sp>
      <p:sp>
        <p:nvSpPr>
          <p:cNvPr id="2491" name="Google Shape;2491;p46"/>
          <p:cNvSpPr txBox="1"/>
          <p:nvPr/>
        </p:nvSpPr>
        <p:spPr>
          <a:xfrm>
            <a:off x="1435157" y="1754670"/>
            <a:ext cx="4812696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000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”Biblia” </a:t>
            </a:r>
            <a:r>
              <a:rPr lang="ro-RO" sz="2000" i="1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Reinforcement</a:t>
            </a:r>
            <a:r>
              <a:rPr lang="ro-RO" sz="2000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2000" i="1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</a:t>
            </a:r>
            <a:endParaRPr lang="ro-RO" sz="2000" i="1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" name="Google Shape;2491;p46">
            <a:extLst>
              <a:ext uri="{FF2B5EF4-FFF2-40B4-BE49-F238E27FC236}">
                <a16:creationId xmlns:a16="http://schemas.microsoft.com/office/drawing/2014/main" id="{7FF03B0B-2EE3-A66E-90D6-548851DB53FA}"/>
              </a:ext>
            </a:extLst>
          </p:cNvPr>
          <p:cNvSpPr txBox="1"/>
          <p:nvPr/>
        </p:nvSpPr>
        <p:spPr>
          <a:xfrm>
            <a:off x="1794140" y="2073117"/>
            <a:ext cx="6048288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“Reinforcement Learning – An Introduction” – Richard S. Sutton &amp; Andrew G. Barto</a:t>
            </a:r>
            <a:endParaRPr lang="ro-RO" sz="1600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" name="Google Shape;2491;p46">
            <a:extLst>
              <a:ext uri="{FF2B5EF4-FFF2-40B4-BE49-F238E27FC236}">
                <a16:creationId xmlns:a16="http://schemas.microsoft.com/office/drawing/2014/main" id="{27AD88D1-10E1-4937-E1CE-34010E9E4CA8}"/>
              </a:ext>
            </a:extLst>
          </p:cNvPr>
          <p:cNvSpPr txBox="1"/>
          <p:nvPr/>
        </p:nvSpPr>
        <p:spPr>
          <a:xfrm>
            <a:off x="1435157" y="3084084"/>
            <a:ext cx="4812696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000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Resurse suplimentare:</a:t>
            </a:r>
          </a:p>
        </p:txBody>
      </p:sp>
      <p:sp>
        <p:nvSpPr>
          <p:cNvPr id="5" name="Google Shape;2491;p46">
            <a:extLst>
              <a:ext uri="{FF2B5EF4-FFF2-40B4-BE49-F238E27FC236}">
                <a16:creationId xmlns:a16="http://schemas.microsoft.com/office/drawing/2014/main" id="{6B8AA1FE-9404-A3FE-EF33-C53A778BA6F7}"/>
              </a:ext>
            </a:extLst>
          </p:cNvPr>
          <p:cNvSpPr txBox="1"/>
          <p:nvPr/>
        </p:nvSpPr>
        <p:spPr>
          <a:xfrm>
            <a:off x="1794139" y="3435359"/>
            <a:ext cx="6573607" cy="118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Stanford CS234 (Emma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Brunskill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Berkeley CS285 (Sergey </a:t>
            </a:r>
            <a:r>
              <a:rPr lang="ro-RO" sz="1600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Levine</a:t>
            </a: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DeepMind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x UCL – RL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Lectures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(David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Silver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 - 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YouTube</a:t>
            </a:r>
            <a:endParaRPr lang="ro-RO" sz="16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RLHF </a:t>
            </a:r>
            <a:r>
              <a:rPr lang="ro-RO" sz="1600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Papers</a:t>
            </a: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ro-RO" sz="1600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OpenAI</a:t>
            </a: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2022-2024)</a:t>
            </a:r>
          </a:p>
        </p:txBody>
      </p:sp>
    </p:spTree>
    <p:extLst>
      <p:ext uri="{BB962C8B-B14F-4D97-AF65-F5344CB8AC3E}">
        <p14:creationId xmlns:p14="http://schemas.microsoft.com/office/powerpoint/2010/main" val="2813672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noProof="0" dirty="0"/>
              <a:t>Introducere</a:t>
            </a:r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Ce înseamnă </a:t>
            </a:r>
            <a:r>
              <a:rPr lang="ro-RO" noProof="0" dirty="0" err="1"/>
              <a:t>Reinforcement</a:t>
            </a:r>
            <a:r>
              <a:rPr lang="ro-RO" noProof="0" dirty="0"/>
              <a:t> </a:t>
            </a:r>
            <a:r>
              <a:rPr lang="ro-RO" noProof="0" dirty="0" err="1"/>
              <a:t>Learning</a:t>
            </a:r>
            <a:r>
              <a:rPr lang="ro-RO" noProof="0" dirty="0"/>
              <a:t> (RL)?</a:t>
            </a:r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b="0" i="0" noProof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02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69138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Premisa</a:t>
            </a:r>
          </a:p>
        </p:txBody>
      </p:sp>
      <p:sp>
        <p:nvSpPr>
          <p:cNvPr id="2216" name="Google Shape;2216;p38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noProof="0" dirty="0"/>
              <a:t>Provocarea cea mai mare în inteligența artificială este </a:t>
            </a:r>
            <a:r>
              <a:rPr lang="ro-RO" b="1" i="1" noProof="0" dirty="0"/>
              <a:t>deducerea</a:t>
            </a:r>
            <a:r>
              <a:rPr lang="ro-RO" noProof="0" dirty="0"/>
              <a:t> unor </a:t>
            </a:r>
            <a:r>
              <a:rPr lang="ro-RO" b="1" i="1" noProof="0" dirty="0"/>
              <a:t>decizii bune </a:t>
            </a:r>
            <a:r>
              <a:rPr lang="ro-RO" noProof="0" dirty="0"/>
              <a:t>sub spectrul </a:t>
            </a:r>
            <a:r>
              <a:rPr lang="ro-RO" b="1" i="1" noProof="0" dirty="0"/>
              <a:t>incertitudinii</a:t>
            </a:r>
            <a:r>
              <a:rPr lang="ro-RO" noProof="0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>
          <a:extLst>
            <a:ext uri="{FF2B5EF4-FFF2-40B4-BE49-F238E27FC236}">
              <a16:creationId xmlns:a16="http://schemas.microsoft.com/office/drawing/2014/main" id="{83DD3E6B-060B-BBC0-21B2-F24C9E3E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>
            <a:extLst>
              <a:ext uri="{FF2B5EF4-FFF2-40B4-BE49-F238E27FC236}">
                <a16:creationId xmlns:a16="http://schemas.microsoft.com/office/drawing/2014/main" id="{5975CFC3-4F61-C5D6-35C7-4284B4BD7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8024" y="1252909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De ce RL?</a:t>
            </a:r>
          </a:p>
        </p:txBody>
      </p:sp>
      <p:sp>
        <p:nvSpPr>
          <p:cNvPr id="2216" name="Google Shape;2216;p38">
            <a:extLst>
              <a:ext uri="{FF2B5EF4-FFF2-40B4-BE49-F238E27FC236}">
                <a16:creationId xmlns:a16="http://schemas.microsoft.com/office/drawing/2014/main" id="{6F2996D3-F63B-D7BC-F902-1F848527AA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26413" y="2200482"/>
            <a:ext cx="5690821" cy="1527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Multe sisteme reale nu au soluții perfecte, ci doar </a:t>
            </a:r>
            <a:r>
              <a:rPr lang="ro-RO" b="1" dirty="0"/>
              <a:t>acțiuni</a:t>
            </a:r>
            <a:r>
              <a:rPr lang="ro-RO" dirty="0"/>
              <a:t> mai bune în funcție de </a:t>
            </a:r>
            <a:r>
              <a:rPr lang="ro-RO" b="1"/>
              <a:t>experiența acumulată.</a:t>
            </a:r>
            <a:endParaRPr lang="ro-RO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b="1" noProof="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b="1" noProof="0" dirty="0"/>
              <a:t>Un agent RL încearcă să învețe cum să acționeze optim într-un mediu necunoscut, prin feedback (recompensă).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</p:txBody>
      </p:sp>
      <p:sp>
        <p:nvSpPr>
          <p:cNvPr id="2217" name="Google Shape;2217;p38">
            <a:extLst>
              <a:ext uri="{FF2B5EF4-FFF2-40B4-BE49-F238E27FC236}">
                <a16:creationId xmlns:a16="http://schemas.microsoft.com/office/drawing/2014/main" id="{CB256630-576C-961E-874B-5867F4041D13}"/>
              </a:ext>
            </a:extLst>
          </p:cNvPr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>
            <a:extLst>
              <a:ext uri="{FF2B5EF4-FFF2-40B4-BE49-F238E27FC236}">
                <a16:creationId xmlns:a16="http://schemas.microsoft.com/office/drawing/2014/main" id="{537D573D-AF15-996C-8942-3BB3F6F587F8}"/>
              </a:ext>
            </a:extLst>
          </p:cNvPr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>
              <a:extLst>
                <a:ext uri="{FF2B5EF4-FFF2-40B4-BE49-F238E27FC236}">
                  <a16:creationId xmlns:a16="http://schemas.microsoft.com/office/drawing/2014/main" id="{BC678D2D-342C-E0F3-22E0-335AF364440A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>
              <a:extLst>
                <a:ext uri="{FF2B5EF4-FFF2-40B4-BE49-F238E27FC236}">
                  <a16:creationId xmlns:a16="http://schemas.microsoft.com/office/drawing/2014/main" id="{0093DB23-74D2-2308-7E31-99D6B78B8A18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>
              <a:extLst>
                <a:ext uri="{FF2B5EF4-FFF2-40B4-BE49-F238E27FC236}">
                  <a16:creationId xmlns:a16="http://schemas.microsoft.com/office/drawing/2014/main" id="{A1186038-20D5-95A8-892B-B24EA9DC22F3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>
              <a:extLst>
                <a:ext uri="{FF2B5EF4-FFF2-40B4-BE49-F238E27FC236}">
                  <a16:creationId xmlns:a16="http://schemas.microsoft.com/office/drawing/2014/main" id="{DCC7CBD8-7E35-9593-7473-9002BBAE38FC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>
              <a:extLst>
                <a:ext uri="{FF2B5EF4-FFF2-40B4-BE49-F238E27FC236}">
                  <a16:creationId xmlns:a16="http://schemas.microsoft.com/office/drawing/2014/main" id="{60794F97-8118-C27C-1233-F2FE606D3DD7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>
            <a:extLst>
              <a:ext uri="{FF2B5EF4-FFF2-40B4-BE49-F238E27FC236}">
                <a16:creationId xmlns:a16="http://schemas.microsoft.com/office/drawing/2014/main" id="{2081D71F-6141-4544-D63B-87EB73493FC5}"/>
              </a:ext>
            </a:extLst>
          </p:cNvPr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>
            <a:extLst>
              <a:ext uri="{FF2B5EF4-FFF2-40B4-BE49-F238E27FC236}">
                <a16:creationId xmlns:a16="http://schemas.microsoft.com/office/drawing/2014/main" id="{568854DE-B787-D489-FB50-4C09F3C58795}"/>
              </a:ext>
            </a:extLst>
          </p:cNvPr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296197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/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/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Cum funcționează deciziile?</a:t>
            </a:r>
          </a:p>
        </p:txBody>
      </p:sp>
      <p:sp>
        <p:nvSpPr>
          <p:cNvPr id="2233" name="Google Shape;2233;p39"/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Ce înseamnă o decizie bună?</a:t>
            </a:r>
          </a:p>
        </p:txBody>
      </p:sp>
      <p:sp>
        <p:nvSpPr>
          <p:cNvPr id="2234" name="Google Shape;2234;p39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Problemele din lumea reală </a:t>
            </a:r>
            <a:r>
              <a:rPr lang="ro-RO" b="1" noProof="0" dirty="0"/>
              <a:t>nu</a:t>
            </a:r>
            <a:r>
              <a:rPr lang="ro-RO" noProof="0" dirty="0"/>
              <a:t> au întotdeauna o ”cea mai bună soluție”, în practică având nevoie de să definim </a:t>
            </a:r>
            <a:r>
              <a:rPr lang="ro-RO" b="1" i="1" noProof="0" dirty="0"/>
              <a:t>calitatea</a:t>
            </a:r>
            <a:r>
              <a:rPr lang="ro-RO" noProof="0" dirty="0"/>
              <a:t> unei </a:t>
            </a:r>
            <a:r>
              <a:rPr lang="ro-RO" i="1" noProof="0" dirty="0"/>
              <a:t>acțiuni</a:t>
            </a:r>
            <a:r>
              <a:rPr lang="ro-RO" noProof="0" dirty="0"/>
              <a:t> sau a unei </a:t>
            </a:r>
            <a:r>
              <a:rPr lang="ro-RO" i="1" noProof="0" dirty="0"/>
              <a:t>decizii</a:t>
            </a:r>
            <a:r>
              <a:rPr lang="ro-RO" noProof="0" dirty="0"/>
              <a:t>.</a:t>
            </a:r>
          </a:p>
        </p:txBody>
      </p:sp>
      <p:sp>
        <p:nvSpPr>
          <p:cNvPr id="2235" name="Google Shape;2235;p39"/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/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Impact imediat sau întârziat?</a:t>
            </a:r>
          </a:p>
        </p:txBody>
      </p:sp>
      <p:sp>
        <p:nvSpPr>
          <p:cNvPr id="2237" name="Google Shape;2237;p39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Ambele! </a:t>
            </a:r>
            <a:r>
              <a:rPr lang="ro-RO" noProof="0" dirty="0"/>
              <a:t>În cazul oricărei decizii luate impactul va fi atât </a:t>
            </a:r>
            <a:r>
              <a:rPr lang="ro-RO" i="1" noProof="0" dirty="0"/>
              <a:t>imediat</a:t>
            </a:r>
            <a:r>
              <a:rPr lang="ro-RO" noProof="0" dirty="0"/>
              <a:t> cât și pe </a:t>
            </a:r>
            <a:r>
              <a:rPr lang="ro-RO" i="1" noProof="0" dirty="0"/>
              <a:t>termen lung</a:t>
            </a:r>
            <a:r>
              <a:rPr lang="ro-RO" noProof="0" dirty="0"/>
              <a:t>. Este necesar să cântărim beneficiile acțiunilor în ambele cazuri!</a:t>
            </a:r>
            <a:endParaRPr lang="ro-RO" b="1" noProof="0" dirty="0"/>
          </a:p>
        </p:txBody>
      </p:sp>
      <p:sp>
        <p:nvSpPr>
          <p:cNvPr id="2238" name="Google Shape;2238;p39"/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Avem la dispoziție toate datele?</a:t>
            </a:r>
          </a:p>
        </p:txBody>
      </p:sp>
      <p:sp>
        <p:nvSpPr>
          <p:cNvPr id="2239" name="Google Shape;2239;p39"/>
          <p:cNvSpPr txBox="1">
            <a:spLocks noGrp="1"/>
          </p:cNvSpPr>
          <p:nvPr>
            <p:ph type="subTitle" idx="4"/>
          </p:nvPr>
        </p:nvSpPr>
        <p:spPr>
          <a:xfrm>
            <a:off x="2697450" y="3450109"/>
            <a:ext cx="3749100" cy="924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Niciodată! </a:t>
            </a:r>
            <a:r>
              <a:rPr lang="ro-RO" noProof="0" dirty="0"/>
              <a:t>În cazul problemelor de </a:t>
            </a:r>
            <a:r>
              <a:rPr lang="ro-RO" noProof="0" dirty="0" err="1"/>
              <a:t>Reinforcement</a:t>
            </a:r>
            <a:r>
              <a:rPr lang="ro-RO" noProof="0" dirty="0"/>
              <a:t> </a:t>
            </a:r>
            <a:r>
              <a:rPr lang="ro-RO" noProof="0" dirty="0" err="1"/>
              <a:t>Learning</a:t>
            </a:r>
            <a:r>
              <a:rPr lang="ro-RO" noProof="0" dirty="0"/>
              <a:t> </a:t>
            </a:r>
            <a:r>
              <a:rPr lang="ro-RO" b="1" noProof="0" dirty="0"/>
              <a:t>nu</a:t>
            </a:r>
            <a:r>
              <a:rPr lang="ro-RO" noProof="0" dirty="0"/>
              <a:t> avem un set de date complet, prestabilit, ci acesta </a:t>
            </a:r>
            <a:r>
              <a:rPr lang="ro-RO" b="1" i="1" noProof="0" dirty="0"/>
              <a:t>este dedus din interacțiunea cu mediul</a:t>
            </a:r>
            <a:r>
              <a:rPr lang="ro-RO" noProof="0" dirty="0"/>
              <a:t>.</a:t>
            </a:r>
            <a:endParaRPr lang="ro-RO" b="1" noProof="0" dirty="0"/>
          </a:p>
        </p:txBody>
      </p:sp>
      <p:grpSp>
        <p:nvGrpSpPr>
          <p:cNvPr id="2240" name="Google Shape;2240;p39"/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/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/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/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/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DDCE9E01-1868-ECFA-20E9-247F0BA1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0AFF24DA-AC17-EA2E-9283-9CBF94D045DB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8A18B17E-11D4-F14F-009D-AE31A1225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Exemple de decizii &amp; impact</a:t>
            </a:r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D1546B5A-9AA4-7771-29FE-4C077468294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Impact întârziat</a:t>
            </a:r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D1FB69B8-63D9-5D63-1897-E8BF95D8FFD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Planificarea unei cariere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dirty="0"/>
              <a:t>Există recompensă imediată?</a:t>
            </a: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b="1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5225AA9D-1017-BD9A-40F3-6F8859E45BCE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D3C2F1C5-5D27-2D23-4842-C5B30E19BC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Impact imediat</a:t>
            </a:r>
          </a:p>
        </p:txBody>
      </p:sp>
      <p:sp>
        <p:nvSpPr>
          <p:cNvPr id="2237" name="Google Shape;2237;p39">
            <a:extLst>
              <a:ext uri="{FF2B5EF4-FFF2-40B4-BE49-F238E27FC236}">
                <a16:creationId xmlns:a16="http://schemas.microsoft.com/office/drawing/2014/main" id="{92843672-B586-9C69-91CD-C7F25F39C45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Apăsarea pedalei de accelerație la semafor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dirty="0"/>
              <a:t>Care sunt efectele posibile?</a:t>
            </a:r>
            <a:endParaRPr lang="ro-RO" noProof="0" dirty="0"/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54578055-4CC5-7C1D-007E-F9CA4B2CAC52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7FB5FC90-399A-78FD-49E7-9F00A63DA8CE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AE230B2C-D124-387C-82D5-B7E5DAFBE7D2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4182DF4A-5F12-70CE-E4ED-EE115CF810F9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3547961A-7D6D-E6E6-CB30-D72D54C0A3E0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3D65BF6E-A243-E881-02E7-76D9A37DAC0E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C5829809-CCCD-2A6D-A965-A03B022FAD09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58FE594C-C36E-FDF4-B1F2-BE3DB4DCA97A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A5F31852-D12D-56C1-6B61-0367494E24CA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B62B557B-FDA5-0BD7-895B-DE41CC8EEBA4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A6C499D1-A6EC-4885-86AF-18C965AF2A07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2E9BC04C-664D-2919-4B54-21779312B28B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43215BA5-5E12-43AA-53EF-6B72F9668802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AB0E00F3-5CC4-7B98-2C7B-A14422D3D093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EB42020B-2474-5154-551C-A4DA7E1AD6BE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6F302CF0-EBFF-5017-35E5-A5B7D4856B35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A729356F-0464-031C-0E4B-F6BC620BB775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73605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Obiective &amp; Metodologie</a:t>
            </a:r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2" name="Google Shape;2261;p40">
            <a:extLst>
              <a:ext uri="{FF2B5EF4-FFF2-40B4-BE49-F238E27FC236}">
                <a16:creationId xmlns:a16="http://schemas.microsoft.com/office/drawing/2014/main" id="{2336B72F-19BE-5BE7-FEEB-3D7015D63A3D}"/>
              </a:ext>
            </a:extLst>
          </p:cNvPr>
          <p:cNvGrpSpPr/>
          <p:nvPr/>
        </p:nvGrpSpPr>
        <p:grpSpPr>
          <a:xfrm>
            <a:off x="5390470" y="1702362"/>
            <a:ext cx="640063" cy="673857"/>
            <a:chOff x="1687324" y="1595823"/>
            <a:chExt cx="489794" cy="591518"/>
          </a:xfrm>
        </p:grpSpPr>
        <p:sp>
          <p:nvSpPr>
            <p:cNvPr id="33" name="Google Shape;2262;p40">
              <a:extLst>
                <a:ext uri="{FF2B5EF4-FFF2-40B4-BE49-F238E27FC236}">
                  <a16:creationId xmlns:a16="http://schemas.microsoft.com/office/drawing/2014/main" id="{7157CF05-AF21-3874-C788-3273DAAD0BDE}"/>
                </a:ext>
              </a:extLst>
            </p:cNvPr>
            <p:cNvSpPr/>
            <p:nvPr/>
          </p:nvSpPr>
          <p:spPr>
            <a:xfrm rot="5400000" flipH="1">
              <a:off x="1656124" y="1627023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4" name="Google Shape;2263;p40">
              <a:extLst>
                <a:ext uri="{FF2B5EF4-FFF2-40B4-BE49-F238E27FC236}">
                  <a16:creationId xmlns:a16="http://schemas.microsoft.com/office/drawing/2014/main" id="{D1590E30-4C2A-8819-79B2-B8C7FFFFD069}"/>
                </a:ext>
              </a:extLst>
            </p:cNvPr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5" name="Google Shape;2264;p40">
            <a:extLst>
              <a:ext uri="{FF2B5EF4-FFF2-40B4-BE49-F238E27FC236}">
                <a16:creationId xmlns:a16="http://schemas.microsoft.com/office/drawing/2014/main" id="{9E90E38F-7706-CA3E-9647-7E5B5785E72E}"/>
              </a:ext>
            </a:extLst>
          </p:cNvPr>
          <p:cNvGrpSpPr/>
          <p:nvPr/>
        </p:nvGrpSpPr>
        <p:grpSpPr>
          <a:xfrm>
            <a:off x="7325881" y="1697739"/>
            <a:ext cx="640063" cy="673857"/>
            <a:chOff x="1687324" y="1595823"/>
            <a:chExt cx="489794" cy="591518"/>
          </a:xfrm>
        </p:grpSpPr>
        <p:sp>
          <p:nvSpPr>
            <p:cNvPr id="36" name="Google Shape;2265;p40">
              <a:extLst>
                <a:ext uri="{FF2B5EF4-FFF2-40B4-BE49-F238E27FC236}">
                  <a16:creationId xmlns:a16="http://schemas.microsoft.com/office/drawing/2014/main" id="{F7CD4350-BC00-ECEE-8A89-BF16663DF2B5}"/>
                </a:ext>
              </a:extLst>
            </p:cNvPr>
            <p:cNvSpPr/>
            <p:nvPr/>
          </p:nvSpPr>
          <p:spPr>
            <a:xfrm rot="5400000" flipH="1">
              <a:off x="1656124" y="1627023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7" name="Google Shape;2266;p40">
              <a:extLst>
                <a:ext uri="{FF2B5EF4-FFF2-40B4-BE49-F238E27FC236}">
                  <a16:creationId xmlns:a16="http://schemas.microsoft.com/office/drawing/2014/main" id="{C4C60D83-DA37-9A0F-6E57-A75D464A82AB}"/>
                </a:ext>
              </a:extLst>
            </p:cNvPr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8" name="Google Shape;2267;p40">
            <a:extLst>
              <a:ext uri="{FF2B5EF4-FFF2-40B4-BE49-F238E27FC236}">
                <a16:creationId xmlns:a16="http://schemas.microsoft.com/office/drawing/2014/main" id="{BF757847-D350-543A-835E-338018FBD560}"/>
              </a:ext>
            </a:extLst>
          </p:cNvPr>
          <p:cNvGrpSpPr/>
          <p:nvPr/>
        </p:nvGrpSpPr>
        <p:grpSpPr>
          <a:xfrm>
            <a:off x="3577720" y="1702362"/>
            <a:ext cx="640063" cy="673857"/>
            <a:chOff x="1687324" y="1595823"/>
            <a:chExt cx="489794" cy="591518"/>
          </a:xfrm>
        </p:grpSpPr>
        <p:sp>
          <p:nvSpPr>
            <p:cNvPr id="39" name="Google Shape;2268;p40">
              <a:extLst>
                <a:ext uri="{FF2B5EF4-FFF2-40B4-BE49-F238E27FC236}">
                  <a16:creationId xmlns:a16="http://schemas.microsoft.com/office/drawing/2014/main" id="{728F4D36-9C13-E653-E29E-179F76287344}"/>
                </a:ext>
              </a:extLst>
            </p:cNvPr>
            <p:cNvSpPr/>
            <p:nvPr/>
          </p:nvSpPr>
          <p:spPr>
            <a:xfrm rot="5400000" flipH="1">
              <a:off x="1656124" y="1627023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40" name="Google Shape;2269;p40">
              <a:extLst>
                <a:ext uri="{FF2B5EF4-FFF2-40B4-BE49-F238E27FC236}">
                  <a16:creationId xmlns:a16="http://schemas.microsoft.com/office/drawing/2014/main" id="{B9F58C9A-69CF-F487-DA08-FD1D3FF3CFD9}"/>
                </a:ext>
              </a:extLst>
            </p:cNvPr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42" name="Google Shape;2272;p40">
            <a:extLst>
              <a:ext uri="{FF2B5EF4-FFF2-40B4-BE49-F238E27FC236}">
                <a16:creationId xmlns:a16="http://schemas.microsoft.com/office/drawing/2014/main" id="{64F55110-78EE-38C7-2559-F3894AB8B4F2}"/>
              </a:ext>
            </a:extLst>
          </p:cNvPr>
          <p:cNvSpPr txBox="1"/>
          <p:nvPr/>
        </p:nvSpPr>
        <p:spPr>
          <a:xfrm>
            <a:off x="539501" y="2369239"/>
            <a:ext cx="2098998" cy="62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Orice problemă de RL </a:t>
            </a:r>
          </a:p>
        </p:txBody>
      </p:sp>
      <p:sp>
        <p:nvSpPr>
          <p:cNvPr id="43" name="Google Shape;2273;p40">
            <a:extLst>
              <a:ext uri="{FF2B5EF4-FFF2-40B4-BE49-F238E27FC236}">
                <a16:creationId xmlns:a16="http://schemas.microsoft.com/office/drawing/2014/main" id="{4D64B850-9792-64B7-BE77-4126CED7F9B6}"/>
              </a:ext>
            </a:extLst>
          </p:cNvPr>
          <p:cNvSpPr txBox="1"/>
          <p:nvPr/>
        </p:nvSpPr>
        <p:spPr>
          <a:xfrm>
            <a:off x="3511076" y="1878786"/>
            <a:ext cx="7629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3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</a:p>
        </p:txBody>
      </p:sp>
      <p:sp>
        <p:nvSpPr>
          <p:cNvPr id="44" name="Google Shape;2274;p40">
            <a:extLst>
              <a:ext uri="{FF2B5EF4-FFF2-40B4-BE49-F238E27FC236}">
                <a16:creationId xmlns:a16="http://schemas.microsoft.com/office/drawing/2014/main" id="{4C2ECE09-6F7C-2DCB-9E9D-E2D43C92BF28}"/>
              </a:ext>
            </a:extLst>
          </p:cNvPr>
          <p:cNvSpPr txBox="1"/>
          <p:nvPr/>
        </p:nvSpPr>
        <p:spPr>
          <a:xfrm>
            <a:off x="5324001" y="1878786"/>
            <a:ext cx="7629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3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</a:p>
        </p:txBody>
      </p:sp>
      <p:sp>
        <p:nvSpPr>
          <p:cNvPr id="45" name="Google Shape;2275;p40">
            <a:extLst>
              <a:ext uri="{FF2B5EF4-FFF2-40B4-BE49-F238E27FC236}">
                <a16:creationId xmlns:a16="http://schemas.microsoft.com/office/drawing/2014/main" id="{2D001ABD-040F-0915-8043-111B275F82B9}"/>
              </a:ext>
            </a:extLst>
          </p:cNvPr>
          <p:cNvSpPr txBox="1"/>
          <p:nvPr/>
        </p:nvSpPr>
        <p:spPr>
          <a:xfrm>
            <a:off x="7259587" y="1874163"/>
            <a:ext cx="7629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3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</a:p>
        </p:txBody>
      </p:sp>
      <p:sp>
        <p:nvSpPr>
          <p:cNvPr id="46" name="Google Shape;2276;p40">
            <a:extLst>
              <a:ext uri="{FF2B5EF4-FFF2-40B4-BE49-F238E27FC236}">
                <a16:creationId xmlns:a16="http://schemas.microsoft.com/office/drawing/2014/main" id="{74B88E2A-2055-6178-CE64-87E9E23EC232}"/>
              </a:ext>
            </a:extLst>
          </p:cNvPr>
          <p:cNvSpPr txBox="1"/>
          <p:nvPr/>
        </p:nvSpPr>
        <p:spPr>
          <a:xfrm>
            <a:off x="3252476" y="2476836"/>
            <a:ext cx="1319524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Explorare</a:t>
            </a:r>
          </a:p>
        </p:txBody>
      </p:sp>
      <p:sp>
        <p:nvSpPr>
          <p:cNvPr id="48" name="Google Shape;2278;p40">
            <a:extLst>
              <a:ext uri="{FF2B5EF4-FFF2-40B4-BE49-F238E27FC236}">
                <a16:creationId xmlns:a16="http://schemas.microsoft.com/office/drawing/2014/main" id="{88031E65-F180-09E2-EACB-A2EDC9F154B1}"/>
              </a:ext>
            </a:extLst>
          </p:cNvPr>
          <p:cNvSpPr txBox="1"/>
          <p:nvPr/>
        </p:nvSpPr>
        <p:spPr>
          <a:xfrm>
            <a:off x="4952128" y="2476064"/>
            <a:ext cx="1475993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Optimizare</a:t>
            </a:r>
          </a:p>
        </p:txBody>
      </p:sp>
      <p:sp>
        <p:nvSpPr>
          <p:cNvPr id="50" name="Google Shape;2280;p40">
            <a:extLst>
              <a:ext uri="{FF2B5EF4-FFF2-40B4-BE49-F238E27FC236}">
                <a16:creationId xmlns:a16="http://schemas.microsoft.com/office/drawing/2014/main" id="{8BDDC5CD-4075-7583-1DCC-E3D33A9D6C5E}"/>
              </a:ext>
            </a:extLst>
          </p:cNvPr>
          <p:cNvSpPr txBox="1"/>
          <p:nvPr/>
        </p:nvSpPr>
        <p:spPr>
          <a:xfrm>
            <a:off x="6815391" y="2466656"/>
            <a:ext cx="1797685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Generalizare</a:t>
            </a:r>
          </a:p>
        </p:txBody>
      </p:sp>
      <p:sp>
        <p:nvSpPr>
          <p:cNvPr id="52" name="Google Shape;2282;p40">
            <a:extLst>
              <a:ext uri="{FF2B5EF4-FFF2-40B4-BE49-F238E27FC236}">
                <a16:creationId xmlns:a16="http://schemas.microsoft.com/office/drawing/2014/main" id="{95968892-9E7D-58ED-EB19-26F83441A000}"/>
              </a:ext>
            </a:extLst>
          </p:cNvPr>
          <p:cNvSpPr txBox="1"/>
          <p:nvPr/>
        </p:nvSpPr>
        <p:spPr>
          <a:xfrm>
            <a:off x="3559107" y="3710805"/>
            <a:ext cx="4262033" cy="97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Metodologie: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Explorarea mediului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Folosirea experienței pentru decizii viitoare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ro-RO" sz="2000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53" name="Google Shape;2283;p40">
            <a:extLst>
              <a:ext uri="{FF2B5EF4-FFF2-40B4-BE49-F238E27FC236}">
                <a16:creationId xmlns:a16="http://schemas.microsoft.com/office/drawing/2014/main" id="{8F785ED0-A713-1A68-46C1-1DFF27C46FC4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2638499" y="2681864"/>
            <a:ext cx="613977" cy="7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4" name="Google Shape;2284;p40">
            <a:extLst>
              <a:ext uri="{FF2B5EF4-FFF2-40B4-BE49-F238E27FC236}">
                <a16:creationId xmlns:a16="http://schemas.microsoft.com/office/drawing/2014/main" id="{1EA70C56-ACDC-2716-6CC0-F04036F722B5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 flipV="1">
            <a:off x="4572000" y="2681864"/>
            <a:ext cx="380128" cy="7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5" name="Google Shape;2285;p40">
            <a:extLst>
              <a:ext uri="{FF2B5EF4-FFF2-40B4-BE49-F238E27FC236}">
                <a16:creationId xmlns:a16="http://schemas.microsoft.com/office/drawing/2014/main" id="{6F68A71A-6424-5DC5-97AC-E8550B54AB01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>
            <a:off x="6428121" y="2681864"/>
            <a:ext cx="387270" cy="214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6" name="Google Shape;2286;p40">
            <a:extLst>
              <a:ext uri="{FF2B5EF4-FFF2-40B4-BE49-F238E27FC236}">
                <a16:creationId xmlns:a16="http://schemas.microsoft.com/office/drawing/2014/main" id="{2B9949BD-3D05-471B-A023-A68C2A334C7C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rot="16200000" flipH="1">
            <a:off x="4389997" y="2410677"/>
            <a:ext cx="822369" cy="177788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7" name="Google Shape;2287;p40">
            <a:extLst>
              <a:ext uri="{FF2B5EF4-FFF2-40B4-BE49-F238E27FC236}">
                <a16:creationId xmlns:a16="http://schemas.microsoft.com/office/drawing/2014/main" id="{EDA19CCE-4AE1-F6E3-4752-0556324D9DED}"/>
              </a:ext>
            </a:extLst>
          </p:cNvPr>
          <p:cNvCxnSpPr>
            <a:cxnSpLocks/>
            <a:stCxn id="48" idx="2"/>
            <a:endCxn id="52" idx="0"/>
          </p:cNvCxnSpPr>
          <p:nvPr/>
        </p:nvCxnSpPr>
        <p:spPr>
          <a:xfrm rot="5400000">
            <a:off x="5278555" y="3299234"/>
            <a:ext cx="823141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8" name="Google Shape;2288;p40">
            <a:extLst>
              <a:ext uri="{FF2B5EF4-FFF2-40B4-BE49-F238E27FC236}">
                <a16:creationId xmlns:a16="http://schemas.microsoft.com/office/drawing/2014/main" id="{152A88A4-581A-E390-C35E-360D3572467F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 rot="5400000">
            <a:off x="6297455" y="2294025"/>
            <a:ext cx="809449" cy="202411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549810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C7468FF2-BB11-F740-0D12-1C658853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F7A33805-2F15-9BAE-87BE-BA5CC2611870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>
            <a:extLst>
              <a:ext uri="{FF2B5EF4-FFF2-40B4-BE49-F238E27FC236}">
                <a16:creationId xmlns:a16="http://schemas.microsoft.com/office/drawing/2014/main" id="{D257B446-FB4F-23F6-FBA9-BDDDBE4CCCCB}"/>
              </a:ext>
            </a:extLst>
          </p:cNvPr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947A8016-5737-6C1A-C0DB-0A777ED5C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RL vs. </a:t>
            </a:r>
            <a:r>
              <a:rPr lang="ro-RO" noProof="0" dirty="0" err="1"/>
              <a:t>Supervised</a:t>
            </a:r>
            <a:r>
              <a:rPr lang="ro-RO" noProof="0" dirty="0"/>
              <a:t> vs. </a:t>
            </a:r>
            <a:r>
              <a:rPr lang="ro-RO" noProof="0" dirty="0" err="1"/>
              <a:t>Unsupervised</a:t>
            </a:r>
            <a:endParaRPr lang="ro-RO" noProof="0" dirty="0"/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87364052-C986-80A4-AA27-78509577F3A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 err="1"/>
              <a:t>Unsupervised</a:t>
            </a:r>
            <a:r>
              <a:rPr lang="ro-RO" sz="1800" noProof="0" dirty="0"/>
              <a:t> </a:t>
            </a:r>
            <a:r>
              <a:rPr lang="ro-RO" sz="1800" noProof="0" dirty="0" err="1"/>
              <a:t>Learning</a:t>
            </a:r>
            <a:endParaRPr lang="ro-RO" sz="1800" noProof="0" dirty="0"/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CE48B295-E10D-0DB9-1F08-BFC442017EF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79" y="1819344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din date neetichetate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identificarea unor șabloane (</a:t>
            </a:r>
            <a:r>
              <a:rPr lang="ro-RO" sz="1200" dirty="0" err="1"/>
              <a:t>patterns</a:t>
            </a:r>
            <a:r>
              <a:rPr lang="ro-RO" sz="1200" dirty="0"/>
              <a:t>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Utilizări: securitate, retail, NLP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sz="1200" noProof="0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64596F46-4ED6-B268-D152-BAC63499CCEF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51BDE65A-F428-2428-F010-B31C62F635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dirty="0" err="1"/>
              <a:t>Supervised</a:t>
            </a:r>
            <a:r>
              <a:rPr lang="ro-RO" sz="1800" dirty="0"/>
              <a:t> </a:t>
            </a:r>
            <a:r>
              <a:rPr lang="ro-RO" sz="1800" dirty="0" err="1"/>
              <a:t>Learning</a:t>
            </a:r>
            <a:endParaRPr lang="ro-RO" sz="1800" noProof="0" dirty="0"/>
          </a:p>
        </p:txBody>
      </p:sp>
      <p:sp>
        <p:nvSpPr>
          <p:cNvPr id="2237" name="Google Shape;2237;p39">
            <a:extLst>
              <a:ext uri="{FF2B5EF4-FFF2-40B4-BE49-F238E27FC236}">
                <a16:creationId xmlns:a16="http://schemas.microsoft.com/office/drawing/2014/main" id="{C52E9041-EEC6-7982-E405-8124A8E934B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14" y="1819344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din date etichetate (</a:t>
            </a:r>
            <a:r>
              <a:rPr lang="ro-RO" sz="1200" dirty="0" err="1"/>
              <a:t>labels</a:t>
            </a:r>
            <a:r>
              <a:rPr lang="ro-RO" sz="1200" dirty="0"/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prezicerea unor noi etichete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Utilizări: sănătate, financiar, marketing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noProof="0" dirty="0"/>
          </a:p>
        </p:txBody>
      </p:sp>
      <p:sp>
        <p:nvSpPr>
          <p:cNvPr id="2238" name="Google Shape;2238;p39">
            <a:extLst>
              <a:ext uri="{FF2B5EF4-FFF2-40B4-BE49-F238E27FC236}">
                <a16:creationId xmlns:a16="http://schemas.microsoft.com/office/drawing/2014/main" id="{280C3697-0346-34B3-5B6F-9E903951DDF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o-RO" sz="1800" dirty="0" err="1"/>
              <a:t>Reinforcement</a:t>
            </a:r>
            <a:r>
              <a:rPr lang="ro-RO" sz="1800" dirty="0"/>
              <a:t> </a:t>
            </a:r>
            <a:r>
              <a:rPr lang="ro-RO" sz="1800" dirty="0" err="1"/>
              <a:t>Learning</a:t>
            </a:r>
            <a:endParaRPr lang="ro-RO" sz="1800" dirty="0"/>
          </a:p>
        </p:txBody>
      </p:sp>
      <p:sp>
        <p:nvSpPr>
          <p:cNvPr id="2239" name="Google Shape;2239;p39">
            <a:extLst>
              <a:ext uri="{FF2B5EF4-FFF2-40B4-BE49-F238E27FC236}">
                <a16:creationId xmlns:a16="http://schemas.microsoft.com/office/drawing/2014/main" id="{2B71788F-2C16-CCC6-56B0-6B8DEC700E7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97450" y="3450108"/>
            <a:ext cx="3749100" cy="1131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din interacțiune și recompense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optimizarea un motor decizional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Utilizări: robotică, </a:t>
            </a:r>
            <a:r>
              <a:rPr lang="ro-RO" sz="1200" dirty="0" err="1"/>
              <a:t>gaming</a:t>
            </a:r>
            <a:r>
              <a:rPr lang="ro-RO" sz="1200" dirty="0"/>
              <a:t>, financiar</a:t>
            </a:r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498BEC67-B809-245D-166A-A52C7433C9E9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44A6773D-5D77-D335-08EC-83CEFF289F28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573262EC-6F68-703B-69C3-7BD731F9D6E6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ED2E3078-9010-AAE6-949D-8C08E81495A2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4807007F-F4A3-91D1-1199-96824E6B852E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C3E68104-A196-169D-BA1B-4977CE2AAFB2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993338AB-CB5F-2721-9524-CC5CCDFF5CDA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EFEFE168-6147-285B-AE33-2E58A23F6340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9EE7D903-6E4F-821C-7F08-B1700FBCB334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ED3A88B8-C3C2-D5D1-6A87-578A7F1A2F27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CDE674CB-C07D-9CC2-3240-C2DCCC0F51FD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C22A6170-6A0C-C447-5C00-FBB5CCCA0D93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642AB309-0020-1AC7-92C8-647C1312CE17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AE22E1E5-0575-9920-6FFD-4BD5DEF1CB71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05C906BC-5802-E4C5-9B71-22096C212F28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08D7C18D-173E-82FB-B776-1FEFC84AF679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A7ADA9B9-0D43-634D-1194-8EE2B7601621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068360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8AC8-9FB1-F8E2-5A34-B7EFF9A4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Diagrama generică - RL</a:t>
            </a:r>
          </a:p>
        </p:txBody>
      </p:sp>
      <p:pic>
        <p:nvPicPr>
          <p:cNvPr id="1026" name="Picture 2" descr="What is Reinforcement Learning: Overview, Comparisons and Ap">
            <a:extLst>
              <a:ext uri="{FF2B5EF4-FFF2-40B4-BE49-F238E27FC236}">
                <a16:creationId xmlns:a16="http://schemas.microsoft.com/office/drawing/2014/main" id="{04783A83-718A-C6A5-BA25-D389930C7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464" y="1648572"/>
            <a:ext cx="6420971" cy="25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75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8AC8-9FB1-F8E2-5A34-B7EFF9A4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RL în epoca noastră (LLM-uri)</a:t>
            </a:r>
          </a:p>
        </p:txBody>
      </p:sp>
      <p:sp>
        <p:nvSpPr>
          <p:cNvPr id="3" name="Google Shape;2491;p46">
            <a:extLst>
              <a:ext uri="{FF2B5EF4-FFF2-40B4-BE49-F238E27FC236}">
                <a16:creationId xmlns:a16="http://schemas.microsoft.com/office/drawing/2014/main" id="{61217610-23D5-CB52-461C-E537A28437C6}"/>
              </a:ext>
            </a:extLst>
          </p:cNvPr>
          <p:cNvSpPr txBox="1"/>
          <p:nvPr/>
        </p:nvSpPr>
        <p:spPr>
          <a:xfrm>
            <a:off x="1477126" y="1479176"/>
            <a:ext cx="6189748" cy="51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RLHF –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Reinforcement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Human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Feedback</a:t>
            </a:r>
            <a:endParaRPr lang="ro-RO" sz="1600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050" name="Picture 2" descr="The Power of RLHF: From GPT-3 to ChatGPT | by LM Po | Medium">
            <a:extLst>
              <a:ext uri="{FF2B5EF4-FFF2-40B4-BE49-F238E27FC236}">
                <a16:creationId xmlns:a16="http://schemas.microsoft.com/office/drawing/2014/main" id="{F35F6BB7-9350-2E1C-3C32-126A65D67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156" y="2005374"/>
            <a:ext cx="5675587" cy="229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573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 err="1"/>
              <a:t>Thanks</a:t>
            </a:r>
            <a:r>
              <a:rPr lang="ro-RO" noProof="0" dirty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950c4c53cfcf98db48751227d10caeac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9d8a56477d1f74ba05554ff59e73d512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Props1.xml><?xml version="1.0" encoding="utf-8"?>
<ds:datastoreItem xmlns:ds="http://schemas.openxmlformats.org/officeDocument/2006/customXml" ds:itemID="{256748B0-C12F-48C7-A03F-8A9D9E9259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CECD37-7980-417A-9BD1-297520712A23}"/>
</file>

<file path=customXml/itemProps3.xml><?xml version="1.0" encoding="utf-8"?>
<ds:datastoreItem xmlns:ds="http://schemas.openxmlformats.org/officeDocument/2006/customXml" ds:itemID="{2AED7EB2-1666-4E0A-A251-90493DA77549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857</Words>
  <Application>Microsoft Macintosh PowerPoint</Application>
  <PresentationFormat>On-screen Show (16:9)</PresentationFormat>
  <Paragraphs>140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Spectral</vt:lpstr>
      <vt:lpstr>Merriweather;900</vt:lpstr>
      <vt:lpstr>Wingdings</vt:lpstr>
      <vt:lpstr>Arial</vt:lpstr>
      <vt:lpstr>Merriweather</vt:lpstr>
      <vt:lpstr>Spectral Light</vt:lpstr>
      <vt:lpstr>Merriweather Black</vt:lpstr>
      <vt:lpstr>Graph Paper Style Thesis by Slidesgo</vt:lpstr>
      <vt:lpstr>Introducere în Reinforcement Learning</vt:lpstr>
      <vt:lpstr>Cuprins</vt:lpstr>
      <vt:lpstr>Organizatorice &amp; Evaluare</vt:lpstr>
      <vt:lpstr>Structura cursului</vt:lpstr>
      <vt:lpstr>Cum luăm nota? (#1)</vt:lpstr>
      <vt:lpstr>Cum luăm nota? (#2)</vt:lpstr>
      <vt:lpstr>Cum luăm nota? (#3) NOUTĂȚI !!!</vt:lpstr>
      <vt:lpstr>Nu mai putem folosi AI?</vt:lpstr>
      <vt:lpstr>Cum luăm nota? (#4) NOUTĂȚI !!!</vt:lpstr>
      <vt:lpstr>Tehnologii utilizate</vt:lpstr>
      <vt:lpstr>Scurtă bibliografie</vt:lpstr>
      <vt:lpstr>Introducere</vt:lpstr>
      <vt:lpstr>Premisa</vt:lpstr>
      <vt:lpstr>De ce RL?</vt:lpstr>
      <vt:lpstr>Cum funcționează deciziile?</vt:lpstr>
      <vt:lpstr>Exemple de decizii &amp; impact</vt:lpstr>
      <vt:lpstr>Obiective &amp; Metodologie</vt:lpstr>
      <vt:lpstr>RL vs. Supervised vs. Unsupervised</vt:lpstr>
      <vt:lpstr>Diagrama generică - RL</vt:lpstr>
      <vt:lpstr>RL în epoca noastră (LLM-uri)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lastModifiedBy>STEFAN IORDACHE</cp:lastModifiedBy>
  <cp:revision>18</cp:revision>
  <dcterms:modified xsi:type="dcterms:W3CDTF">2026-10-05T13:56:42Z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