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4"/>
  </p:sldMasterIdLst>
  <p:notesMasterIdLst>
    <p:notesMasterId r:id="rId43"/>
  </p:notesMasterIdLst>
  <p:sldIdLst>
    <p:sldId id="332" r:id="rId5"/>
    <p:sldId id="259" r:id="rId6"/>
    <p:sldId id="260" r:id="rId7"/>
    <p:sldId id="315" r:id="rId8"/>
    <p:sldId id="319" r:id="rId9"/>
    <p:sldId id="346" r:id="rId10"/>
    <p:sldId id="323" r:id="rId11"/>
    <p:sldId id="347" r:id="rId12"/>
    <p:sldId id="352" r:id="rId13"/>
    <p:sldId id="353" r:id="rId14"/>
    <p:sldId id="356" r:id="rId15"/>
    <p:sldId id="357" r:id="rId16"/>
    <p:sldId id="358" r:id="rId17"/>
    <p:sldId id="354" r:id="rId18"/>
    <p:sldId id="355" r:id="rId19"/>
    <p:sldId id="307" r:id="rId20"/>
    <p:sldId id="261" r:id="rId21"/>
    <p:sldId id="360" r:id="rId22"/>
    <p:sldId id="359" r:id="rId23"/>
    <p:sldId id="361" r:id="rId24"/>
    <p:sldId id="405" r:id="rId25"/>
    <p:sldId id="407" r:id="rId26"/>
    <p:sldId id="408" r:id="rId27"/>
    <p:sldId id="409" r:id="rId28"/>
    <p:sldId id="410" r:id="rId29"/>
    <p:sldId id="411" r:id="rId30"/>
    <p:sldId id="412" r:id="rId31"/>
    <p:sldId id="348" r:id="rId32"/>
    <p:sldId id="413" r:id="rId33"/>
    <p:sldId id="363" r:id="rId34"/>
    <p:sldId id="414" r:id="rId35"/>
    <p:sldId id="377" r:id="rId36"/>
    <p:sldId id="386" r:id="rId37"/>
    <p:sldId id="415" r:id="rId38"/>
    <p:sldId id="382" r:id="rId39"/>
    <p:sldId id="384" r:id="rId40"/>
    <p:sldId id="387" r:id="rId41"/>
    <p:sldId id="284" r:id="rId42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44"/>
    </p:embeddedFont>
    <p:embeddedFont>
      <p:font typeface="Merriweather" pitchFamily="2" charset="77"/>
      <p:regular r:id="rId45"/>
      <p:bold r:id="rId46"/>
      <p:italic r:id="rId47"/>
      <p:boldItalic r:id="rId48"/>
    </p:embeddedFont>
    <p:embeddedFont>
      <p:font typeface="Merriweather Black" panose="00000A00000000000000" pitchFamily="2" charset="77"/>
      <p:bold r:id="rId49"/>
      <p:italic r:id="rId50"/>
      <p:boldItalic r:id="rId51"/>
    </p:embeddedFont>
    <p:embeddedFont>
      <p:font typeface="Spectral" panose="02020502060000000000" pitchFamily="18" charset="77"/>
      <p:regular r:id="rId52"/>
      <p:bold r:id="rId53"/>
      <p:italic r:id="rId54"/>
      <p:boldItalic r:id="rId55"/>
    </p:embeddedFont>
    <p:embeddedFont>
      <p:font typeface="Spectral Light" panose="020F0502020204030204" pitchFamily="34" charset="0"/>
      <p:regular r:id="rId56"/>
      <p:bold r:id="rId57"/>
      <p:italic r:id="rId58"/>
      <p:boldItalic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22B902-2256-0B0D-D34C-7ED48DB08920}" v="5" dt="2024-10-14T14:05:48.908"/>
    <p1510:client id="{5EEFF53E-3516-410E-8561-C8AD52FF1C81}" v="6" dt="2024-10-14T09:41:26.793"/>
    <p1510:client id="{C7B931E5-A5E3-8F0B-C9F4-EF2F88C80BC1}" v="3" dt="2024-10-15T13:28:03.520"/>
    <p1510:client id="{F55B5ACE-0A63-4840-9732-7CC127368099}" v="4" dt="2024-10-14T09:49:41.020"/>
  </p1510:revLst>
</p1510:revInfo>
</file>

<file path=ppt/tableStyles.xml><?xml version="1.0" encoding="utf-8"?>
<a:tblStyleLst xmlns:a="http://schemas.openxmlformats.org/drawingml/2006/main" def="{8E613FF8-4EB2-4734-8CC8-9E79C4818E73}">
  <a:tblStyle styleId="{8E613FF8-4EB2-4734-8CC8-9E79C4818E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03"/>
    <p:restoredTop sz="94621"/>
  </p:normalViewPr>
  <p:slideViewPr>
    <p:cSldViewPr snapToGrid="0">
      <p:cViewPr varScale="1">
        <p:scale>
          <a:sx n="108" d="100"/>
          <a:sy n="108" d="100"/>
        </p:scale>
        <p:origin x="216" y="23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font" Target="fonts/font15.fntdata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font" Target="fonts/font13.fntdata"/><Relationship Id="rId64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font" Target="fonts/font8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3.fntdata"/><Relationship Id="rId59" Type="http://schemas.openxmlformats.org/officeDocument/2006/relationships/font" Target="fonts/font16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11.fntdata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6.fntdata"/><Relationship Id="rId57" Type="http://schemas.openxmlformats.org/officeDocument/2006/relationships/font" Target="fonts/font14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FIA MARIA VULTUR" userId="S::sofia.vultur@s.unibuc.ro::6c7158df-1e76-4490-a8ad-29ce599c3ba2" providerId="AD" clId="Web-{63731BED-BB5E-4001-9779-484298527014}"/>
    <pc:docChg chg="modSld">
      <pc:chgData name="SOFIA MARIA VULTUR" userId="S::sofia.vultur@s.unibuc.ro::6c7158df-1e76-4490-a8ad-29ce599c3ba2" providerId="AD" clId="Web-{63731BED-BB5E-4001-9779-484298527014}" dt="2023-02-05T21:40:26.292" v="0" actId="1076"/>
      <pc:docMkLst>
        <pc:docMk/>
      </pc:docMkLst>
      <pc:sldChg chg="modSp">
        <pc:chgData name="SOFIA MARIA VULTUR" userId="S::sofia.vultur@s.unibuc.ro::6c7158df-1e76-4490-a8ad-29ce599c3ba2" providerId="AD" clId="Web-{63731BED-BB5E-4001-9779-484298527014}" dt="2023-02-05T21:40:26.292" v="0" actId="1076"/>
        <pc:sldMkLst>
          <pc:docMk/>
          <pc:sldMk cId="3261636102" sldId="327"/>
        </pc:sldMkLst>
        <pc:spChg chg="mod">
          <ac:chgData name="SOFIA MARIA VULTUR" userId="S::sofia.vultur@s.unibuc.ro::6c7158df-1e76-4490-a8ad-29ce599c3ba2" providerId="AD" clId="Web-{63731BED-BB5E-4001-9779-484298527014}" dt="2023-02-05T21:40:26.292" v="0" actId="1076"/>
          <ac:spMkLst>
            <pc:docMk/>
            <pc:sldMk cId="3261636102" sldId="327"/>
            <ac:spMk id="3" creationId="{291B36AB-2BC4-428A-6357-8AA069095418}"/>
          </ac:spMkLst>
        </pc:spChg>
      </pc:sldChg>
    </pc:docChg>
  </pc:docChgLst>
  <pc:docChgLst>
    <pc:chgData name="MIHAI GRIGORE" userId="S::mihai.grigore1@s.unibuc.ro::d086a1d6-5462-4979-abc6-1c81b0fc9ea8" providerId="AD" clId="Web-{0D22B902-2256-0B0D-D34C-7ED48DB08920}"/>
    <pc:docChg chg="modSld">
      <pc:chgData name="MIHAI GRIGORE" userId="S::mihai.grigore1@s.unibuc.ro::d086a1d6-5462-4979-abc6-1c81b0fc9ea8" providerId="AD" clId="Web-{0D22B902-2256-0B0D-D34C-7ED48DB08920}" dt="2024-10-14T14:05:48.908" v="4" actId="1076"/>
      <pc:docMkLst>
        <pc:docMk/>
      </pc:docMkLst>
      <pc:sldChg chg="modSp">
        <pc:chgData name="MIHAI GRIGORE" userId="S::mihai.grigore1@s.unibuc.ro::d086a1d6-5462-4979-abc6-1c81b0fc9ea8" providerId="AD" clId="Web-{0D22B902-2256-0B0D-D34C-7ED48DB08920}" dt="2024-10-14T14:05:48.908" v="4" actId="1076"/>
        <pc:sldMkLst>
          <pc:docMk/>
          <pc:sldMk cId="3261636102" sldId="327"/>
        </pc:sldMkLst>
        <pc:spChg chg="mod">
          <ac:chgData name="MIHAI GRIGORE" userId="S::mihai.grigore1@s.unibuc.ro::d086a1d6-5462-4979-abc6-1c81b0fc9ea8" providerId="AD" clId="Web-{0D22B902-2256-0B0D-D34C-7ED48DB08920}" dt="2024-10-14T14:05:48.908" v="4" actId="1076"/>
          <ac:spMkLst>
            <pc:docMk/>
            <pc:sldMk cId="3261636102" sldId="327"/>
            <ac:spMk id="3" creationId="{291B36AB-2BC4-428A-6357-8AA069095418}"/>
          </ac:spMkLst>
        </pc:spChg>
      </pc:sldChg>
      <pc:sldChg chg="modSp">
        <pc:chgData name="MIHAI GRIGORE" userId="S::mihai.grigore1@s.unibuc.ro::d086a1d6-5462-4979-abc6-1c81b0fc9ea8" providerId="AD" clId="Web-{0D22B902-2256-0B0D-D34C-7ED48DB08920}" dt="2024-10-14T14:03:22.794" v="2" actId="1076"/>
        <pc:sldMkLst>
          <pc:docMk/>
          <pc:sldMk cId="2574459133" sldId="330"/>
        </pc:sldMkLst>
        <pc:spChg chg="mod">
          <ac:chgData name="MIHAI GRIGORE" userId="S::mihai.grigore1@s.unibuc.ro::d086a1d6-5462-4979-abc6-1c81b0fc9ea8" providerId="AD" clId="Web-{0D22B902-2256-0B0D-D34C-7ED48DB08920}" dt="2024-10-14T14:03:22.794" v="2" actId="1076"/>
          <ac:spMkLst>
            <pc:docMk/>
            <pc:sldMk cId="2574459133" sldId="330"/>
            <ac:spMk id="3" creationId="{291B36AB-2BC4-428A-6357-8AA069095418}"/>
          </ac:spMkLst>
        </pc:spChg>
      </pc:sldChg>
    </pc:docChg>
  </pc:docChgLst>
  <pc:docChgLst>
    <pc:chgData name="STEFAN IORDACHE" userId="S::stefan.iordache10@s.unibuc.ro::9dd8811d-5cc1-4677-ba15-8e8defdbcdf9" providerId="AD" clId="Web-{5EEFF53E-3516-410E-8561-C8AD52FF1C81}"/>
    <pc:docChg chg="modSld">
      <pc:chgData name="STEFAN IORDACHE" userId="S::stefan.iordache10@s.unibuc.ro::9dd8811d-5cc1-4677-ba15-8e8defdbcdf9" providerId="AD" clId="Web-{5EEFF53E-3516-410E-8561-C8AD52FF1C81}" dt="2024-10-14T09:41:26.793" v="4" actId="1076"/>
      <pc:docMkLst>
        <pc:docMk/>
      </pc:docMkLst>
      <pc:sldChg chg="modSp">
        <pc:chgData name="STEFAN IORDACHE" userId="S::stefan.iordache10@s.unibuc.ro::9dd8811d-5cc1-4677-ba15-8e8defdbcdf9" providerId="AD" clId="Web-{5EEFF53E-3516-410E-8561-C8AD52FF1C81}" dt="2024-10-14T09:32:58.386" v="3" actId="20577"/>
        <pc:sldMkLst>
          <pc:docMk/>
          <pc:sldMk cId="0" sldId="256"/>
        </pc:sldMkLst>
        <pc:spChg chg="mod">
          <ac:chgData name="STEFAN IORDACHE" userId="S::stefan.iordache10@s.unibuc.ro::9dd8811d-5cc1-4677-ba15-8e8defdbcdf9" providerId="AD" clId="Web-{5EEFF53E-3516-410E-8561-C8AD52FF1C81}" dt="2024-10-14T09:32:58.386" v="3" actId="20577"/>
          <ac:spMkLst>
            <pc:docMk/>
            <pc:sldMk cId="0" sldId="256"/>
            <ac:spMk id="2080" creationId="{00000000-0000-0000-0000-000000000000}"/>
          </ac:spMkLst>
        </pc:spChg>
      </pc:sldChg>
      <pc:sldChg chg="modSp">
        <pc:chgData name="STEFAN IORDACHE" userId="S::stefan.iordache10@s.unibuc.ro::9dd8811d-5cc1-4677-ba15-8e8defdbcdf9" providerId="AD" clId="Web-{5EEFF53E-3516-410E-8561-C8AD52FF1C81}" dt="2024-10-14T09:41:26.793" v="4" actId="1076"/>
        <pc:sldMkLst>
          <pc:docMk/>
          <pc:sldMk cId="2400012068" sldId="322"/>
        </pc:sldMkLst>
        <pc:spChg chg="mod">
          <ac:chgData name="STEFAN IORDACHE" userId="S::stefan.iordache10@s.unibuc.ro::9dd8811d-5cc1-4677-ba15-8e8defdbcdf9" providerId="AD" clId="Web-{5EEFF53E-3516-410E-8561-C8AD52FF1C81}" dt="2024-10-14T09:41:26.793" v="4" actId="1076"/>
          <ac:spMkLst>
            <pc:docMk/>
            <pc:sldMk cId="2400012068" sldId="322"/>
            <ac:spMk id="2" creationId="{B9CA8832-B04E-3F6F-64C4-188FD1EA8517}"/>
          </ac:spMkLst>
        </pc:spChg>
      </pc:sldChg>
    </pc:docChg>
  </pc:docChgLst>
  <pc:docChgLst>
    <pc:chgData name="STEFAN IORDACHE" userId="S::stefan.iordache10@s.unibuc.ro::9dd8811d-5cc1-4677-ba15-8e8defdbcdf9" providerId="AD" clId="Web-{F55B5ACE-0A63-4840-9732-7CC127368099}"/>
    <pc:docChg chg="delSld modSld">
      <pc:chgData name="STEFAN IORDACHE" userId="S::stefan.iordache10@s.unibuc.ro::9dd8811d-5cc1-4677-ba15-8e8defdbcdf9" providerId="AD" clId="Web-{F55B5ACE-0A63-4840-9732-7CC127368099}" dt="2024-10-14T09:49:41.020" v="3" actId="20577"/>
      <pc:docMkLst>
        <pc:docMk/>
      </pc:docMkLst>
      <pc:sldChg chg="del">
        <pc:chgData name="STEFAN IORDACHE" userId="S::stefan.iordache10@s.unibuc.ro::9dd8811d-5cc1-4677-ba15-8e8defdbcdf9" providerId="AD" clId="Web-{F55B5ACE-0A63-4840-9732-7CC127368099}" dt="2024-10-14T09:43:01.258" v="0"/>
        <pc:sldMkLst>
          <pc:docMk/>
          <pc:sldMk cId="1113113595" sldId="326"/>
        </pc:sldMkLst>
      </pc:sldChg>
      <pc:sldChg chg="modSp">
        <pc:chgData name="STEFAN IORDACHE" userId="S::stefan.iordache10@s.unibuc.ro::9dd8811d-5cc1-4677-ba15-8e8defdbcdf9" providerId="AD" clId="Web-{F55B5ACE-0A63-4840-9732-7CC127368099}" dt="2024-10-14T09:49:41.020" v="3" actId="20577"/>
        <pc:sldMkLst>
          <pc:docMk/>
          <pc:sldMk cId="0" sldId="331"/>
        </pc:sldMkLst>
        <pc:spChg chg="mod">
          <ac:chgData name="STEFAN IORDACHE" userId="S::stefan.iordache10@s.unibuc.ro::9dd8811d-5cc1-4677-ba15-8e8defdbcdf9" providerId="AD" clId="Web-{F55B5ACE-0A63-4840-9732-7CC127368099}" dt="2024-10-14T09:49:41.020" v="3" actId="20577"/>
          <ac:spMkLst>
            <pc:docMk/>
            <pc:sldMk cId="0" sldId="331"/>
            <ac:spMk id="2989" creationId="{00000000-0000-0000-0000-000000000000}"/>
          </ac:spMkLst>
        </pc:spChg>
      </pc:sldChg>
    </pc:docChg>
  </pc:docChgLst>
  <pc:docChgLst>
    <pc:chgData name="OCTAVIAN ANDREI MACELARU" userId="S::octavian-andrei.macelaru@s.unibuc.ro::44fc2c80-4820-461b-97b8-22b51db84c76" providerId="AD" clId="Web-{C7B931E5-A5E3-8F0B-C9F4-EF2F88C80BC1}"/>
    <pc:docChg chg="modSld">
      <pc:chgData name="OCTAVIAN ANDREI MACELARU" userId="S::octavian-andrei.macelaru@s.unibuc.ro::44fc2c80-4820-461b-97b8-22b51db84c76" providerId="AD" clId="Web-{C7B931E5-A5E3-8F0B-C9F4-EF2F88C80BC1}" dt="2024-10-15T13:28:01.598" v="1" actId="20577"/>
      <pc:docMkLst>
        <pc:docMk/>
      </pc:docMkLst>
      <pc:sldChg chg="modSp">
        <pc:chgData name="OCTAVIAN ANDREI MACELARU" userId="S::octavian-andrei.macelaru@s.unibuc.ro::44fc2c80-4820-461b-97b8-22b51db84c76" providerId="AD" clId="Web-{C7B931E5-A5E3-8F0B-C9F4-EF2F88C80BC1}" dt="2024-10-15T13:28:01.598" v="1" actId="20577"/>
        <pc:sldMkLst>
          <pc:docMk/>
          <pc:sldMk cId="0" sldId="260"/>
        </pc:sldMkLst>
        <pc:spChg chg="mod">
          <ac:chgData name="OCTAVIAN ANDREI MACELARU" userId="S::octavian-andrei.macelaru@s.unibuc.ro::44fc2c80-4820-461b-97b8-22b51db84c76" providerId="AD" clId="Web-{C7B931E5-A5E3-8F0B-C9F4-EF2F88C80BC1}" dt="2024-10-15T13:28:01.598" v="1" actId="20577"/>
          <ac:spMkLst>
            <pc:docMk/>
            <pc:sldMk cId="0" sldId="260"/>
            <ac:spMk id="2191" creationId="{00000000-0000-0000-0000-000000000000}"/>
          </ac:spMkLst>
        </pc:spChg>
      </pc:sldChg>
    </pc:docChg>
  </pc:docChgLst>
  <pc:docChgLst>
    <pc:chgData name="IULIAN ROBERT ROMAN" userId="S::iulian.roman@s.unibuc.ro::d336a366-996d-4a57-8b6f-68e4eb3c3f73" providerId="AD" clId="Web-{627CA9EA-00CB-40F5-90A7-35DF55141584}"/>
    <pc:docChg chg="modSld">
      <pc:chgData name="IULIAN ROBERT ROMAN" userId="S::iulian.roman@s.unibuc.ro::d336a366-996d-4a57-8b6f-68e4eb3c3f73" providerId="AD" clId="Web-{627CA9EA-00CB-40F5-90A7-35DF55141584}" dt="2023-05-11T17:05:09.923" v="2" actId="1076"/>
      <pc:docMkLst>
        <pc:docMk/>
      </pc:docMkLst>
      <pc:sldChg chg="modSp">
        <pc:chgData name="IULIAN ROBERT ROMAN" userId="S::iulian.roman@s.unibuc.ro::d336a366-996d-4a57-8b6f-68e4eb3c3f73" providerId="AD" clId="Web-{627CA9EA-00CB-40F5-90A7-35DF55141584}" dt="2023-05-11T17:05:09.923" v="2" actId="1076"/>
        <pc:sldMkLst>
          <pc:docMk/>
          <pc:sldMk cId="2335724577" sldId="321"/>
        </pc:sldMkLst>
        <pc:spChg chg="mod">
          <ac:chgData name="IULIAN ROBERT ROMAN" userId="S::iulian.roman@s.unibuc.ro::d336a366-996d-4a57-8b6f-68e4eb3c3f73" providerId="AD" clId="Web-{627CA9EA-00CB-40F5-90A7-35DF55141584}" dt="2023-05-11T17:05:09.923" v="2" actId="1076"/>
          <ac:spMkLst>
            <pc:docMk/>
            <pc:sldMk cId="2335724577" sldId="321"/>
            <ac:spMk id="2" creationId="{4B1FC6B7-80D2-C09C-7BEC-750E32DD868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7" name="Google Shape;207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g131cd8db3c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5" name="Google Shape;2145;g131cd8db3c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131cd8db3c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131cd8db3c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131cd8db3c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131cd8db3c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492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6">
          <a:extLst>
            <a:ext uri="{FF2B5EF4-FFF2-40B4-BE49-F238E27FC236}">
              <a16:creationId xmlns:a16="http://schemas.microsoft.com/office/drawing/2014/main" id="{DC074C15-3C95-C765-ED6D-804305DEB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g131cd8db3ce_0_189:notes">
            <a:extLst>
              <a:ext uri="{FF2B5EF4-FFF2-40B4-BE49-F238E27FC236}">
                <a16:creationId xmlns:a16="http://schemas.microsoft.com/office/drawing/2014/main" id="{07ED2724-D44F-0315-948F-C44EC2E959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8" name="Google Shape;2228;g131cd8db3ce_0_189:notes">
            <a:extLst>
              <a:ext uri="{FF2B5EF4-FFF2-40B4-BE49-F238E27FC236}">
                <a16:creationId xmlns:a16="http://schemas.microsoft.com/office/drawing/2014/main" id="{7A261266-037F-3861-3DBD-574A31B2F0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3960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7853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70C35CF7-659C-AAD6-F7FE-CDF1E435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84B87873-C0DB-61DE-4CAA-43BACF7C51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3DB286D9-F032-1570-1CD3-274A873A02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48379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003E4CA5-EA74-A857-395F-F944C8E89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72361212-07DC-EBC3-EB67-0BC4F993C5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170EECE5-8C1A-71FE-9FDD-A05D40FD5A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7990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8402602B-0945-70BF-16AD-87D866B1E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AD703C87-0C8A-DDC0-74A1-3AE8695FC9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3E41957F-43F4-49DA-9B16-83234A6B20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81273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DD333B83-68A4-00DA-FCFE-1E852BBB4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00C04F18-A93F-3B4C-C06A-29902DA67F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80183E64-A592-3756-11A5-F47A1FF1CF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10939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1AEEAE06-3827-BEE2-78CB-30E30816B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B93BD726-DFF5-2C8F-53F8-F77AB65A2E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1B051730-233E-B4D0-E999-E4BA30F605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82529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07B27C7D-9489-CFD0-8687-310DF919A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7E335B07-7E3C-89D6-1900-14DF6C2B56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61E1C19B-1639-3377-7CF4-2BB3C6F76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0307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Google Shape;2485;g132c0d347fb_0_28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6" name="Google Shape;2486;g132c0d347fb_0_28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04517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g132c0d347fb_0_15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3" name="Google Shape;2213;g132c0d347fb_0_15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BD2377E7-1D8B-57E3-0B40-3B99D76E9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464F603F-C5D3-6005-C95A-8F6DC49BC6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06D0865C-A8CE-8547-E490-C15239D22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02107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F65EC3DD-88A8-C718-8EF4-9A21E598B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478EC2E4-379A-AB8A-E946-CF6BAA4FFA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287D39B1-DB38-27CF-ECD6-D3B9C96DEA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98859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8DD88CFB-A101-ECD1-FDDE-085D4A140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24317A4A-3F84-188E-5797-8A1318EECC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5E50D1A8-A237-4565-9897-2A5A3847BF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97281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6">
          <a:extLst>
            <a:ext uri="{FF2B5EF4-FFF2-40B4-BE49-F238E27FC236}">
              <a16:creationId xmlns:a16="http://schemas.microsoft.com/office/drawing/2014/main" id="{495F93EB-CA7D-4EA2-ED9E-50CADFCC2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g131cd8db3ce_0_189:notes">
            <a:extLst>
              <a:ext uri="{FF2B5EF4-FFF2-40B4-BE49-F238E27FC236}">
                <a16:creationId xmlns:a16="http://schemas.microsoft.com/office/drawing/2014/main" id="{D5D85FA6-9EB7-EEED-0A1C-33510F5995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8" name="Google Shape;2228;g131cd8db3ce_0_189:notes">
            <a:extLst>
              <a:ext uri="{FF2B5EF4-FFF2-40B4-BE49-F238E27FC236}">
                <a16:creationId xmlns:a16="http://schemas.microsoft.com/office/drawing/2014/main" id="{7EC63080-4EAC-40CA-F74E-DB5ACBFE4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7367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EA234B13-80F9-86AD-9349-B5CCEA3DD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283E3ED5-7FD6-A959-B763-6BCC79295A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F8D291E1-9CD5-5152-D352-0629D30C6A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96181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g1339646ca49_0_1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4" name="Google Shape;2794;g1339646ca49_0_1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26692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1C8D5815-665A-1F85-BB4F-31BD5BFC2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385B2C2A-016D-E64D-E59F-E0830FAD71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F10788B5-688F-4D3E-9065-D1678D6FE7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47048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131cd8db3c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131cd8db3c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98360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g1339646ca49_0_1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4" name="Google Shape;2794;g1339646ca49_0_1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89229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g1339646ca49_0_1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4" name="Google Shape;2794;g1339646ca49_0_1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66158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g1339646ca49_0_1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4" name="Google Shape;2794;g1339646ca49_0_1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10729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4" name="Google Shape;2984;g132c0d347fb_0_19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5" name="Google Shape;2985;g132c0d347fb_0_19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1" name="Google Shape;1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2" name="Google Shape;1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" name="Google Shape;1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4" name="Google Shape;1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" name="Google Shape;1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" name="Google Shape;1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" name="Google Shape;1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1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" name="Google Shape;1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" name="Google Shape;2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1" name="Google Shape;2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2" name="Google Shape;2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" name="Google Shape;2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" name="Google Shape;2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" name="Google Shape;2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" name="Google Shape;2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" name="Google Shape;2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" name="Google Shape;2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" name="Google Shape;2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0" name="Google Shape;30;p2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31" name="Google Shape;3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32" name="Google Shape;3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" name="Google Shape;3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" name="Google Shape;3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" name="Google Shape;3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" name="Google Shape;3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" name="Google Shape;3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8" name="Google Shape;3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" name="Google Shape;3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" name="Google Shape;4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1" name="Google Shape;4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42" name="Google Shape;4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" name="Google Shape;4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" name="Google Shape;4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5" name="Google Shape;4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6" name="Google Shape;4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7" name="Google Shape;4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" name="Google Shape;4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" name="Google Shape;4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0" name="Google Shape;50;p2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1" name="Google Shape;5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2" name="Google Shape;5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" name="Google Shape;5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" name="Google Shape;5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" name="Google Shape;5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" name="Google Shape;5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7" name="Google Shape;5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" name="Google Shape;5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9" name="Google Shape;5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0" name="Google Shape;6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1" name="Google Shape;6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2" name="Google Shape;6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" name="Google Shape;6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" name="Google Shape;6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" name="Google Shape;6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70" name="Google Shape;70;p2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71" name="Google Shape;7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72" name="Google Shape;7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" name="Google Shape;7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" name="Google Shape;7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" name="Google Shape;7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7" name="Google Shape;7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" name="Google Shape;8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1" name="Google Shape;8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82" name="Google Shape;8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3" name="Google Shape;8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4" name="Google Shape;8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5" name="Google Shape;8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6" name="Google Shape;8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7" name="Google Shape;8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8" name="Google Shape;8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" name="Google Shape;8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1340625" y="1354950"/>
            <a:ext cx="6462600" cy="8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2269900" y="3689800"/>
            <a:ext cx="4605900" cy="36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950250" y="4644614"/>
            <a:ext cx="337500" cy="3291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428133" y="4321796"/>
            <a:ext cx="224700" cy="2190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3"/>
          <p:cNvGrpSpPr/>
          <p:nvPr/>
        </p:nvGrpSpPr>
        <p:grpSpPr>
          <a:xfrm>
            <a:off x="-151025" y="-87459"/>
            <a:ext cx="9443950" cy="5336943"/>
            <a:chOff x="1366600" y="892542"/>
            <a:chExt cx="757200" cy="649200"/>
          </a:xfrm>
        </p:grpSpPr>
        <p:grpSp>
          <p:nvGrpSpPr>
            <p:cNvPr id="96" name="Google Shape;96;p3"/>
            <p:cNvGrpSpPr/>
            <p:nvPr/>
          </p:nvGrpSpPr>
          <p:grpSpPr>
            <a:xfrm>
              <a:off x="1366600" y="892542"/>
              <a:ext cx="757199" cy="649200"/>
              <a:chOff x="1366600" y="892542"/>
              <a:chExt cx="757199" cy="649200"/>
            </a:xfrm>
          </p:grpSpPr>
          <p:cxnSp>
            <p:nvCxnSpPr>
              <p:cNvPr id="97" name="Google Shape;97;p3"/>
              <p:cNvCxnSpPr/>
              <p:nvPr/>
            </p:nvCxnSpPr>
            <p:spPr>
              <a:xfrm>
                <a:off x="13666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" name="Google Shape;98;p3"/>
              <p:cNvCxnSpPr/>
              <p:nvPr/>
            </p:nvCxnSpPr>
            <p:spPr>
              <a:xfrm>
                <a:off x="15559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3"/>
              <p:cNvCxnSpPr/>
              <p:nvPr/>
            </p:nvCxnSpPr>
            <p:spPr>
              <a:xfrm>
                <a:off x="17452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3"/>
              <p:cNvCxnSpPr/>
              <p:nvPr/>
            </p:nvCxnSpPr>
            <p:spPr>
              <a:xfrm>
                <a:off x="19344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3"/>
              <p:cNvCxnSpPr/>
              <p:nvPr/>
            </p:nvCxnSpPr>
            <p:spPr>
              <a:xfrm>
                <a:off x="21237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2" name="Google Shape;102;p3"/>
            <p:cNvGrpSpPr/>
            <p:nvPr/>
          </p:nvGrpSpPr>
          <p:grpSpPr>
            <a:xfrm>
              <a:off x="1366600" y="892542"/>
              <a:ext cx="757200" cy="645919"/>
              <a:chOff x="1366600" y="892542"/>
              <a:chExt cx="757200" cy="645919"/>
            </a:xfrm>
          </p:grpSpPr>
          <p:cxnSp>
            <p:nvCxnSpPr>
              <p:cNvPr id="103" name="Google Shape;103;p3"/>
              <p:cNvCxnSpPr/>
              <p:nvPr/>
            </p:nvCxnSpPr>
            <p:spPr>
              <a:xfrm>
                <a:off x="1366600" y="892542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3"/>
              <p:cNvCxnSpPr/>
              <p:nvPr/>
            </p:nvCxnSpPr>
            <p:spPr>
              <a:xfrm>
                <a:off x="1366600" y="1107849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" name="Google Shape;105;p3"/>
              <p:cNvCxnSpPr/>
              <p:nvPr/>
            </p:nvCxnSpPr>
            <p:spPr>
              <a:xfrm>
                <a:off x="1366600" y="1323155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" name="Google Shape;106;p3"/>
              <p:cNvCxnSpPr/>
              <p:nvPr/>
            </p:nvCxnSpPr>
            <p:spPr>
              <a:xfrm>
                <a:off x="1366600" y="1538461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07" name="Google Shape;107;p3"/>
          <p:cNvSpPr txBox="1">
            <a:spLocks noGrp="1"/>
          </p:cNvSpPr>
          <p:nvPr>
            <p:ph type="title" hasCustomPrompt="1"/>
          </p:nvPr>
        </p:nvSpPr>
        <p:spPr>
          <a:xfrm>
            <a:off x="2248150" y="539500"/>
            <a:ext cx="2298300" cy="1143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3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5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ubTitle" idx="1"/>
          </p:nvPr>
        </p:nvSpPr>
        <p:spPr>
          <a:xfrm>
            <a:off x="2242297" y="3984875"/>
            <a:ext cx="2298300" cy="58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600">
                <a:solidFill>
                  <a:schemeClr val="lt1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10" name="Google Shape;110;p3"/>
          <p:cNvGrpSpPr/>
          <p:nvPr/>
        </p:nvGrpSpPr>
        <p:grpSpPr>
          <a:xfrm>
            <a:off x="431076" y="4267148"/>
            <a:ext cx="851140" cy="668466"/>
            <a:chOff x="431076" y="4267148"/>
            <a:chExt cx="851140" cy="668466"/>
          </a:xfrm>
        </p:grpSpPr>
        <p:sp>
          <p:nvSpPr>
            <p:cNvPr id="111" name="Google Shape;111;p3"/>
            <p:cNvSpPr/>
            <p:nvPr/>
          </p:nvSpPr>
          <p:spPr>
            <a:xfrm>
              <a:off x="943815" y="4267148"/>
              <a:ext cx="338400" cy="331200"/>
            </a:xfrm>
            <a:prstGeom prst="star4">
              <a:avLst>
                <a:gd name="adj" fmla="val 12500"/>
              </a:avLst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431076" y="4704914"/>
              <a:ext cx="236700" cy="2307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" name="Google Shape;113;p3"/>
          <p:cNvGrpSpPr/>
          <p:nvPr/>
        </p:nvGrpSpPr>
        <p:grpSpPr>
          <a:xfrm>
            <a:off x="7914990" y="4444025"/>
            <a:ext cx="690064" cy="329108"/>
            <a:chOff x="7740700" y="4100311"/>
            <a:chExt cx="786936" cy="604089"/>
          </a:xfrm>
        </p:grpSpPr>
        <p:grpSp>
          <p:nvGrpSpPr>
            <p:cNvPr id="114" name="Google Shape;114;p3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115" name="Google Shape;115;p3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3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7" name="Google Shape;117;p3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Google Shape;613;p13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614" name="Google Shape;614;p13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615" name="Google Shape;61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16" name="Google Shape;61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7" name="Google Shape;61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8" name="Google Shape;61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9" name="Google Shape;61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0" name="Google Shape;62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1" name="Google Shape;62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2" name="Google Shape;62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3" name="Google Shape;62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4" name="Google Shape;62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25" name="Google Shape;62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26" name="Google Shape;62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7" name="Google Shape;62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8" name="Google Shape;62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9" name="Google Shape;62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0" name="Google Shape;63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1" name="Google Shape;63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2" name="Google Shape;63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3" name="Google Shape;63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34" name="Google Shape;634;p13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635" name="Google Shape;63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36" name="Google Shape;63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7" name="Google Shape;63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8" name="Google Shape;63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9" name="Google Shape;63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0" name="Google Shape;64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1" name="Google Shape;64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2" name="Google Shape;64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3" name="Google Shape;64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4" name="Google Shape;64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45" name="Google Shape;64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46" name="Google Shape;64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7" name="Google Shape;64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8" name="Google Shape;64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9" name="Google Shape;64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0" name="Google Shape;65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1" name="Google Shape;65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2" name="Google Shape;65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3" name="Google Shape;65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54" name="Google Shape;654;p13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655" name="Google Shape;65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56" name="Google Shape;65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7" name="Google Shape;65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8" name="Google Shape;65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9" name="Google Shape;65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0" name="Google Shape;66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1" name="Google Shape;66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2" name="Google Shape;66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3" name="Google Shape;66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4" name="Google Shape;66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65" name="Google Shape;66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66" name="Google Shape;66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7" name="Google Shape;66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8" name="Google Shape;66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9" name="Google Shape;66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0" name="Google Shape;67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1" name="Google Shape;67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2" name="Google Shape;67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3" name="Google Shape;67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74" name="Google Shape;674;p13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675" name="Google Shape;67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76" name="Google Shape;67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7" name="Google Shape;67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8" name="Google Shape;67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9" name="Google Shape;67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0" name="Google Shape;68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1" name="Google Shape;68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2" name="Google Shape;68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3" name="Google Shape;68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4" name="Google Shape;68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85" name="Google Shape;68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86" name="Google Shape;68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7" name="Google Shape;68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8" name="Google Shape;68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9" name="Google Shape;68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0" name="Google Shape;69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1" name="Google Shape;69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2" name="Google Shape;69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3" name="Google Shape;69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694" name="Google Shape;694;p13"/>
          <p:cNvSpPr/>
          <p:nvPr/>
        </p:nvSpPr>
        <p:spPr>
          <a:xfrm>
            <a:off x="540475" y="1455200"/>
            <a:ext cx="8063700" cy="334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13"/>
          <p:cNvSpPr txBox="1">
            <a:spLocks noGrp="1"/>
          </p:cNvSpPr>
          <p:nvPr>
            <p:ph type="title"/>
          </p:nvPr>
        </p:nvSpPr>
        <p:spPr>
          <a:xfrm>
            <a:off x="540475" y="342800"/>
            <a:ext cx="8062200" cy="741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>
            <a:endParaRPr/>
          </a:p>
        </p:txBody>
      </p:sp>
      <p:sp>
        <p:nvSpPr>
          <p:cNvPr id="696" name="Google Shape;696;p13"/>
          <p:cNvSpPr txBox="1">
            <a:spLocks noGrp="1"/>
          </p:cNvSpPr>
          <p:nvPr>
            <p:ph type="subTitle" idx="1"/>
          </p:nvPr>
        </p:nvSpPr>
        <p:spPr>
          <a:xfrm>
            <a:off x="1560930" y="156078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697" name="Google Shape;697;p13"/>
          <p:cNvSpPr txBox="1">
            <a:spLocks noGrp="1"/>
          </p:cNvSpPr>
          <p:nvPr>
            <p:ph type="subTitle" idx="2"/>
          </p:nvPr>
        </p:nvSpPr>
        <p:spPr>
          <a:xfrm>
            <a:off x="1560930" y="192648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8" name="Google Shape;698;p13"/>
          <p:cNvSpPr txBox="1">
            <a:spLocks noGrp="1"/>
          </p:cNvSpPr>
          <p:nvPr>
            <p:ph type="subTitle" idx="3"/>
          </p:nvPr>
        </p:nvSpPr>
        <p:spPr>
          <a:xfrm>
            <a:off x="1560930" y="2600306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699" name="Google Shape;699;p13"/>
          <p:cNvSpPr txBox="1">
            <a:spLocks noGrp="1"/>
          </p:cNvSpPr>
          <p:nvPr>
            <p:ph type="subTitle" idx="4"/>
          </p:nvPr>
        </p:nvSpPr>
        <p:spPr>
          <a:xfrm>
            <a:off x="1560930" y="2966011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0" name="Google Shape;700;p13"/>
          <p:cNvSpPr txBox="1">
            <a:spLocks noGrp="1"/>
          </p:cNvSpPr>
          <p:nvPr>
            <p:ph type="subTitle" idx="5"/>
          </p:nvPr>
        </p:nvSpPr>
        <p:spPr>
          <a:xfrm>
            <a:off x="1560930" y="363983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1" name="Google Shape;701;p13"/>
          <p:cNvSpPr txBox="1">
            <a:spLocks noGrp="1"/>
          </p:cNvSpPr>
          <p:nvPr>
            <p:ph type="subTitle" idx="6"/>
          </p:nvPr>
        </p:nvSpPr>
        <p:spPr>
          <a:xfrm>
            <a:off x="1560930" y="400553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2" name="Google Shape;702;p13"/>
          <p:cNvSpPr txBox="1">
            <a:spLocks noGrp="1"/>
          </p:cNvSpPr>
          <p:nvPr>
            <p:ph type="subTitle" idx="7"/>
          </p:nvPr>
        </p:nvSpPr>
        <p:spPr>
          <a:xfrm flipH="1">
            <a:off x="4745922" y="156078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3" name="Google Shape;703;p13"/>
          <p:cNvSpPr txBox="1">
            <a:spLocks noGrp="1"/>
          </p:cNvSpPr>
          <p:nvPr>
            <p:ph type="subTitle" idx="8"/>
          </p:nvPr>
        </p:nvSpPr>
        <p:spPr>
          <a:xfrm flipH="1">
            <a:off x="5365422" y="192648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4" name="Google Shape;704;p13"/>
          <p:cNvSpPr txBox="1">
            <a:spLocks noGrp="1"/>
          </p:cNvSpPr>
          <p:nvPr>
            <p:ph type="subTitle" idx="9"/>
          </p:nvPr>
        </p:nvSpPr>
        <p:spPr>
          <a:xfrm flipH="1">
            <a:off x="4745922" y="2600306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5" name="Google Shape;705;p13"/>
          <p:cNvSpPr txBox="1">
            <a:spLocks noGrp="1"/>
          </p:cNvSpPr>
          <p:nvPr>
            <p:ph type="subTitle" idx="13"/>
          </p:nvPr>
        </p:nvSpPr>
        <p:spPr>
          <a:xfrm flipH="1">
            <a:off x="5365422" y="2966011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6" name="Google Shape;706;p13"/>
          <p:cNvSpPr txBox="1">
            <a:spLocks noGrp="1"/>
          </p:cNvSpPr>
          <p:nvPr>
            <p:ph type="subTitle" idx="14"/>
          </p:nvPr>
        </p:nvSpPr>
        <p:spPr>
          <a:xfrm flipH="1">
            <a:off x="4745922" y="363983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7" name="Google Shape;707;p13"/>
          <p:cNvSpPr txBox="1">
            <a:spLocks noGrp="1"/>
          </p:cNvSpPr>
          <p:nvPr>
            <p:ph type="subTitle" idx="15"/>
          </p:nvPr>
        </p:nvSpPr>
        <p:spPr>
          <a:xfrm flipH="1">
            <a:off x="5365422" y="400553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8" name="Google Shape;708;p13"/>
          <p:cNvSpPr txBox="1">
            <a:spLocks noGrp="1"/>
          </p:cNvSpPr>
          <p:nvPr>
            <p:ph type="title" idx="16" hasCustomPrompt="1"/>
          </p:nvPr>
        </p:nvSpPr>
        <p:spPr>
          <a:xfrm>
            <a:off x="682899" y="1816685"/>
            <a:ext cx="8493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9" name="Google Shape;709;p13"/>
          <p:cNvSpPr txBox="1">
            <a:spLocks noGrp="1"/>
          </p:cNvSpPr>
          <p:nvPr>
            <p:ph type="title" idx="17" hasCustomPrompt="1"/>
          </p:nvPr>
        </p:nvSpPr>
        <p:spPr>
          <a:xfrm>
            <a:off x="682882" y="2860363"/>
            <a:ext cx="8493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0" name="Google Shape;710;p13"/>
          <p:cNvSpPr txBox="1">
            <a:spLocks noGrp="1"/>
          </p:cNvSpPr>
          <p:nvPr>
            <p:ph type="title" idx="18" hasCustomPrompt="1"/>
          </p:nvPr>
        </p:nvSpPr>
        <p:spPr>
          <a:xfrm>
            <a:off x="682882" y="3893540"/>
            <a:ext cx="8493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1" name="Google Shape;711;p13"/>
          <p:cNvSpPr txBox="1">
            <a:spLocks noGrp="1"/>
          </p:cNvSpPr>
          <p:nvPr>
            <p:ph type="title" idx="19" hasCustomPrompt="1"/>
          </p:nvPr>
        </p:nvSpPr>
        <p:spPr>
          <a:xfrm>
            <a:off x="7611818" y="1816685"/>
            <a:ext cx="8493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2" name="Google Shape;712;p13"/>
          <p:cNvSpPr txBox="1">
            <a:spLocks noGrp="1"/>
          </p:cNvSpPr>
          <p:nvPr>
            <p:ph type="title" idx="20" hasCustomPrompt="1"/>
          </p:nvPr>
        </p:nvSpPr>
        <p:spPr>
          <a:xfrm>
            <a:off x="7611818" y="2860363"/>
            <a:ext cx="8493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3" name="Google Shape;713;p13"/>
          <p:cNvSpPr txBox="1">
            <a:spLocks noGrp="1"/>
          </p:cNvSpPr>
          <p:nvPr>
            <p:ph type="title" idx="21" hasCustomPrompt="1"/>
          </p:nvPr>
        </p:nvSpPr>
        <p:spPr>
          <a:xfrm>
            <a:off x="7611818" y="3893540"/>
            <a:ext cx="8493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3_4"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3" name="Google Shape;1613;p24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614" name="Google Shape;1614;p24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615" name="Google Shape;161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16" name="Google Shape;161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7" name="Google Shape;161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8" name="Google Shape;161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9" name="Google Shape;161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0" name="Google Shape;162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1" name="Google Shape;162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2" name="Google Shape;162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3" name="Google Shape;162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4" name="Google Shape;162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25" name="Google Shape;162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26" name="Google Shape;162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7" name="Google Shape;162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8" name="Google Shape;162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9" name="Google Shape;162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0" name="Google Shape;163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1" name="Google Shape;163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2" name="Google Shape;163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3" name="Google Shape;163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634" name="Google Shape;1634;p24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635" name="Google Shape;163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36" name="Google Shape;163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7" name="Google Shape;163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8" name="Google Shape;163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9" name="Google Shape;163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0" name="Google Shape;164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1" name="Google Shape;164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2" name="Google Shape;164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3" name="Google Shape;164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4" name="Google Shape;164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45" name="Google Shape;164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46" name="Google Shape;164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7" name="Google Shape;164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8" name="Google Shape;164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9" name="Google Shape;164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0" name="Google Shape;165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1" name="Google Shape;165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2" name="Google Shape;165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3" name="Google Shape;165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654" name="Google Shape;1654;p24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655" name="Google Shape;165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56" name="Google Shape;165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7" name="Google Shape;165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8" name="Google Shape;165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9" name="Google Shape;165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0" name="Google Shape;166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1" name="Google Shape;166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2" name="Google Shape;166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3" name="Google Shape;166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4" name="Google Shape;166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65" name="Google Shape;166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66" name="Google Shape;166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7" name="Google Shape;166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8" name="Google Shape;166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9" name="Google Shape;166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0" name="Google Shape;167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1" name="Google Shape;167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2" name="Google Shape;167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3" name="Google Shape;167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674" name="Google Shape;1674;p24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675" name="Google Shape;167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76" name="Google Shape;167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7" name="Google Shape;167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8" name="Google Shape;167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9" name="Google Shape;167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0" name="Google Shape;168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1" name="Google Shape;168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2" name="Google Shape;168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3" name="Google Shape;168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4" name="Google Shape;168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85" name="Google Shape;168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86" name="Google Shape;168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7" name="Google Shape;168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8" name="Google Shape;168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9" name="Google Shape;168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0" name="Google Shape;169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1" name="Google Shape;169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2" name="Google Shape;169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3" name="Google Shape;169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694" name="Google Shape;1694;p24"/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>
            <a:endParaRPr/>
          </a:p>
        </p:txBody>
      </p:sp>
      <p:sp>
        <p:nvSpPr>
          <p:cNvPr id="1695" name="Google Shape;1695;p24"/>
          <p:cNvSpPr/>
          <p:nvPr/>
        </p:nvSpPr>
        <p:spPr>
          <a:xfrm>
            <a:off x="540400" y="1458450"/>
            <a:ext cx="8064000" cy="29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6" name="Google Shape;1696;p24"/>
          <p:cNvSpPr txBox="1">
            <a:spLocks noGrp="1"/>
          </p:cNvSpPr>
          <p:nvPr>
            <p:ph type="body" idx="1"/>
          </p:nvPr>
        </p:nvSpPr>
        <p:spPr>
          <a:xfrm>
            <a:off x="815200" y="1454125"/>
            <a:ext cx="7513500" cy="29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b="1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5">
    <p:spTree>
      <p:nvGrpSpPr>
        <p:cNvPr id="1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1" name="Google Shape;1871;p27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872" name="Google Shape;1872;p27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873" name="Google Shape;187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874" name="Google Shape;187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5" name="Google Shape;187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6" name="Google Shape;187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7" name="Google Shape;187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8" name="Google Shape;187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9" name="Google Shape;187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0" name="Google Shape;188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1" name="Google Shape;188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2" name="Google Shape;188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883" name="Google Shape;188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884" name="Google Shape;188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5" name="Google Shape;188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6" name="Google Shape;188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7" name="Google Shape;188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8" name="Google Shape;188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9" name="Google Shape;188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0" name="Google Shape;189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1" name="Google Shape;189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892" name="Google Shape;1892;p27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893" name="Google Shape;189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894" name="Google Shape;189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5" name="Google Shape;189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6" name="Google Shape;189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7" name="Google Shape;189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8" name="Google Shape;189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9" name="Google Shape;189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0" name="Google Shape;190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1" name="Google Shape;190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2" name="Google Shape;190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03" name="Google Shape;190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04" name="Google Shape;190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5" name="Google Shape;190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6" name="Google Shape;190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7" name="Google Shape;190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8" name="Google Shape;190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9" name="Google Shape;190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0" name="Google Shape;191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1" name="Google Shape;191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12" name="Google Shape;1912;p27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913" name="Google Shape;191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914" name="Google Shape;191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5" name="Google Shape;191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6" name="Google Shape;191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7" name="Google Shape;191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8" name="Google Shape;191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9" name="Google Shape;191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0" name="Google Shape;192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1" name="Google Shape;192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2" name="Google Shape;192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23" name="Google Shape;192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24" name="Google Shape;192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5" name="Google Shape;192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6" name="Google Shape;192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7" name="Google Shape;192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8" name="Google Shape;192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9" name="Google Shape;192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0" name="Google Shape;193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1" name="Google Shape;193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32" name="Google Shape;1932;p27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933" name="Google Shape;193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934" name="Google Shape;193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5" name="Google Shape;193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6" name="Google Shape;193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7" name="Google Shape;193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8" name="Google Shape;193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9" name="Google Shape;193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0" name="Google Shape;194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1" name="Google Shape;194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2" name="Google Shape;194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43" name="Google Shape;194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44" name="Google Shape;194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5" name="Google Shape;194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6" name="Google Shape;194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7" name="Google Shape;194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8" name="Google Shape;194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9" name="Google Shape;194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50" name="Google Shape;195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51" name="Google Shape;195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952" name="Google Shape;1952;p27"/>
          <p:cNvSpPr txBox="1">
            <a:spLocks noGrp="1"/>
          </p:cNvSpPr>
          <p:nvPr>
            <p:ph type="title"/>
          </p:nvPr>
        </p:nvSpPr>
        <p:spPr>
          <a:xfrm>
            <a:off x="2639875" y="534501"/>
            <a:ext cx="38667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endParaRPr/>
          </a:p>
        </p:txBody>
      </p:sp>
      <p:sp>
        <p:nvSpPr>
          <p:cNvPr id="1953" name="Google Shape;1953;p27"/>
          <p:cNvSpPr txBox="1">
            <a:spLocks noGrp="1"/>
          </p:cNvSpPr>
          <p:nvPr>
            <p:ph type="subTitle" idx="1"/>
          </p:nvPr>
        </p:nvSpPr>
        <p:spPr>
          <a:xfrm>
            <a:off x="2983525" y="1382665"/>
            <a:ext cx="3179400" cy="1175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4" name="Google Shape;1954;p27"/>
          <p:cNvSpPr txBox="1"/>
          <p:nvPr/>
        </p:nvSpPr>
        <p:spPr>
          <a:xfrm>
            <a:off x="1692625" y="4062750"/>
            <a:ext cx="5758800" cy="36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CREDITS: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Spectral"/>
                <a:ea typeface="Spectral"/>
                <a:cs typeface="Spectral"/>
                <a:sym typeface="Spectr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, and includes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Spectral"/>
                <a:ea typeface="Spectral"/>
                <a:cs typeface="Spectral"/>
                <a:sym typeface="Spectr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"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and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Spectral"/>
                <a:ea typeface="Spectral"/>
                <a:cs typeface="Spectral"/>
                <a:sym typeface="Spectr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955" name="Google Shape;1955;p27"/>
          <p:cNvSpPr/>
          <p:nvPr/>
        </p:nvSpPr>
        <p:spPr>
          <a:xfrm flipH="1">
            <a:off x="7822627" y="4596843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6" name="Google Shape;1956;p27"/>
          <p:cNvSpPr/>
          <p:nvPr/>
        </p:nvSpPr>
        <p:spPr>
          <a:xfrm flipH="1">
            <a:off x="334652" y="4588866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6_1">
    <p:bg>
      <p:bgPr>
        <a:solidFill>
          <a:schemeClr val="dk1"/>
        </a:solidFill>
        <a:effectLst/>
      </p:bgPr>
    </p:bg>
    <p:spTree>
      <p:nvGrpSpPr>
        <p:cNvPr id="1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9" name="Google Shape;2049;p29"/>
          <p:cNvGrpSpPr/>
          <p:nvPr/>
        </p:nvGrpSpPr>
        <p:grpSpPr>
          <a:xfrm>
            <a:off x="-151025" y="-87459"/>
            <a:ext cx="9443950" cy="5336943"/>
            <a:chOff x="1366600" y="892542"/>
            <a:chExt cx="757200" cy="649200"/>
          </a:xfrm>
        </p:grpSpPr>
        <p:grpSp>
          <p:nvGrpSpPr>
            <p:cNvPr id="2050" name="Google Shape;2050;p29"/>
            <p:cNvGrpSpPr/>
            <p:nvPr/>
          </p:nvGrpSpPr>
          <p:grpSpPr>
            <a:xfrm>
              <a:off x="1366600" y="892542"/>
              <a:ext cx="757199" cy="649200"/>
              <a:chOff x="1366600" y="892542"/>
              <a:chExt cx="757199" cy="649200"/>
            </a:xfrm>
          </p:grpSpPr>
          <p:cxnSp>
            <p:nvCxnSpPr>
              <p:cNvPr id="2051" name="Google Shape;2051;p29"/>
              <p:cNvCxnSpPr/>
              <p:nvPr/>
            </p:nvCxnSpPr>
            <p:spPr>
              <a:xfrm>
                <a:off x="13666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2" name="Google Shape;2052;p29"/>
              <p:cNvCxnSpPr/>
              <p:nvPr/>
            </p:nvCxnSpPr>
            <p:spPr>
              <a:xfrm>
                <a:off x="15559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3" name="Google Shape;2053;p29"/>
              <p:cNvCxnSpPr/>
              <p:nvPr/>
            </p:nvCxnSpPr>
            <p:spPr>
              <a:xfrm>
                <a:off x="17452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4" name="Google Shape;2054;p29"/>
              <p:cNvCxnSpPr/>
              <p:nvPr/>
            </p:nvCxnSpPr>
            <p:spPr>
              <a:xfrm>
                <a:off x="19344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5" name="Google Shape;2055;p29"/>
              <p:cNvCxnSpPr/>
              <p:nvPr/>
            </p:nvCxnSpPr>
            <p:spPr>
              <a:xfrm>
                <a:off x="21237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056" name="Google Shape;2056;p29"/>
            <p:cNvGrpSpPr/>
            <p:nvPr/>
          </p:nvGrpSpPr>
          <p:grpSpPr>
            <a:xfrm>
              <a:off x="1366600" y="892542"/>
              <a:ext cx="757200" cy="645919"/>
              <a:chOff x="1366600" y="892542"/>
              <a:chExt cx="757200" cy="645919"/>
            </a:xfrm>
          </p:grpSpPr>
          <p:cxnSp>
            <p:nvCxnSpPr>
              <p:cNvPr id="2057" name="Google Shape;2057;p29"/>
              <p:cNvCxnSpPr/>
              <p:nvPr/>
            </p:nvCxnSpPr>
            <p:spPr>
              <a:xfrm>
                <a:off x="1366600" y="892542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8" name="Google Shape;2058;p29"/>
              <p:cNvCxnSpPr/>
              <p:nvPr/>
            </p:nvCxnSpPr>
            <p:spPr>
              <a:xfrm>
                <a:off x="1366600" y="1107849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9" name="Google Shape;2059;p29"/>
              <p:cNvCxnSpPr/>
              <p:nvPr/>
            </p:nvCxnSpPr>
            <p:spPr>
              <a:xfrm>
                <a:off x="1366600" y="1323155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0" name="Google Shape;2060;p29"/>
              <p:cNvCxnSpPr/>
              <p:nvPr/>
            </p:nvCxnSpPr>
            <p:spPr>
              <a:xfrm>
                <a:off x="1366600" y="1538461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061" name="Google Shape;2061;p29"/>
          <p:cNvGrpSpPr/>
          <p:nvPr/>
        </p:nvGrpSpPr>
        <p:grpSpPr>
          <a:xfrm rot="-5400000" flipH="1">
            <a:off x="7774437" y="2192363"/>
            <a:ext cx="1764041" cy="758764"/>
            <a:chOff x="6659230" y="279450"/>
            <a:chExt cx="2217246" cy="953700"/>
          </a:xfrm>
        </p:grpSpPr>
        <p:sp>
          <p:nvSpPr>
            <p:cNvPr id="2062" name="Google Shape;2062;p29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9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9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9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29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67" name="Google Shape;2067;p29"/>
          <p:cNvSpPr/>
          <p:nvPr/>
        </p:nvSpPr>
        <p:spPr>
          <a:xfrm flipH="1">
            <a:off x="259229" y="1477639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8" name="Google Shape;2068;p29"/>
          <p:cNvSpPr/>
          <p:nvPr/>
        </p:nvSpPr>
        <p:spPr>
          <a:xfrm flipH="1">
            <a:off x="6813956" y="176164"/>
            <a:ext cx="246900" cy="2403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8" name="Google Shape;898;p16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899" name="Google Shape;899;p16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900" name="Google Shape;900;p1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901" name="Google Shape;901;p1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2" name="Google Shape;902;p1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3" name="Google Shape;903;p1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4" name="Google Shape;904;p1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5" name="Google Shape;905;p1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6" name="Google Shape;906;p1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7" name="Google Shape;907;p1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8" name="Google Shape;908;p1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9" name="Google Shape;909;p1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10" name="Google Shape;910;p1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911" name="Google Shape;911;p1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2" name="Google Shape;912;p1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3" name="Google Shape;913;p1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4" name="Google Shape;914;p1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5" name="Google Shape;915;p1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6" name="Google Shape;916;p1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7" name="Google Shape;917;p1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8" name="Google Shape;918;p1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19" name="Google Shape;919;p16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920" name="Google Shape;920;p1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921" name="Google Shape;921;p1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2" name="Google Shape;922;p1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3" name="Google Shape;923;p1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4" name="Google Shape;924;p1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5" name="Google Shape;925;p1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6" name="Google Shape;926;p1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7" name="Google Shape;927;p1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8" name="Google Shape;928;p1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9" name="Google Shape;929;p1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30" name="Google Shape;930;p1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931" name="Google Shape;931;p1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2" name="Google Shape;932;p1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3" name="Google Shape;933;p1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4" name="Google Shape;934;p1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5" name="Google Shape;935;p1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6" name="Google Shape;936;p1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7" name="Google Shape;937;p1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8" name="Google Shape;938;p1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39" name="Google Shape;939;p16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940" name="Google Shape;940;p1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941" name="Google Shape;941;p1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2" name="Google Shape;942;p1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3" name="Google Shape;943;p1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4" name="Google Shape;944;p1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5" name="Google Shape;945;p1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6" name="Google Shape;946;p1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7" name="Google Shape;947;p1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8" name="Google Shape;948;p1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9" name="Google Shape;949;p1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50" name="Google Shape;950;p1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951" name="Google Shape;951;p1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2" name="Google Shape;952;p1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3" name="Google Shape;953;p1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4" name="Google Shape;954;p1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5" name="Google Shape;955;p1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6" name="Google Shape;956;p1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7" name="Google Shape;957;p1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8" name="Google Shape;958;p1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59" name="Google Shape;959;p16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960" name="Google Shape;960;p1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961" name="Google Shape;961;p1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2" name="Google Shape;962;p1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3" name="Google Shape;963;p1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4" name="Google Shape;964;p1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5" name="Google Shape;965;p1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6" name="Google Shape;966;p1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7" name="Google Shape;967;p1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8" name="Google Shape;968;p1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9" name="Google Shape;969;p1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70" name="Google Shape;970;p1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971" name="Google Shape;971;p1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2" name="Google Shape;972;p1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3" name="Google Shape;973;p1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4" name="Google Shape;974;p1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5" name="Google Shape;975;p1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6" name="Google Shape;976;p1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7" name="Google Shape;977;p1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8" name="Google Shape;978;p1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979" name="Google Shape;979;p16"/>
          <p:cNvSpPr txBox="1">
            <a:spLocks noGrp="1"/>
          </p:cNvSpPr>
          <p:nvPr>
            <p:ph type="subTitle" idx="1"/>
          </p:nvPr>
        </p:nvSpPr>
        <p:spPr>
          <a:xfrm>
            <a:off x="713225" y="1543477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980" name="Google Shape;980;p16"/>
          <p:cNvSpPr txBox="1">
            <a:spLocks noGrp="1"/>
          </p:cNvSpPr>
          <p:nvPr>
            <p:ph type="subTitle" idx="2"/>
          </p:nvPr>
        </p:nvSpPr>
        <p:spPr>
          <a:xfrm>
            <a:off x="713214" y="1877951"/>
            <a:ext cx="3749100" cy="9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1" name="Google Shape;981;p16"/>
          <p:cNvSpPr txBox="1">
            <a:spLocks noGrp="1"/>
          </p:cNvSpPr>
          <p:nvPr>
            <p:ph type="subTitle" idx="3"/>
          </p:nvPr>
        </p:nvSpPr>
        <p:spPr>
          <a:xfrm>
            <a:off x="2697450" y="3039978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982" name="Google Shape;982;p16"/>
          <p:cNvSpPr txBox="1">
            <a:spLocks noGrp="1"/>
          </p:cNvSpPr>
          <p:nvPr>
            <p:ph type="subTitle" idx="4"/>
          </p:nvPr>
        </p:nvSpPr>
        <p:spPr>
          <a:xfrm>
            <a:off x="2697450" y="3378023"/>
            <a:ext cx="37491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16"/>
          <p:cNvSpPr txBox="1">
            <a:spLocks noGrp="1"/>
          </p:cNvSpPr>
          <p:nvPr>
            <p:ph type="subTitle" idx="5"/>
          </p:nvPr>
        </p:nvSpPr>
        <p:spPr>
          <a:xfrm>
            <a:off x="4681685" y="1543477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984" name="Google Shape;984;p16"/>
          <p:cNvSpPr txBox="1">
            <a:spLocks noGrp="1"/>
          </p:cNvSpPr>
          <p:nvPr>
            <p:ph type="subTitle" idx="6"/>
          </p:nvPr>
        </p:nvSpPr>
        <p:spPr>
          <a:xfrm>
            <a:off x="4681686" y="1878701"/>
            <a:ext cx="37491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5" name="Google Shape;985;p16"/>
          <p:cNvSpPr txBox="1">
            <a:spLocks noGrp="1"/>
          </p:cNvSpPr>
          <p:nvPr>
            <p:ph type="title"/>
          </p:nvPr>
        </p:nvSpPr>
        <p:spPr>
          <a:xfrm>
            <a:off x="539496" y="342543"/>
            <a:ext cx="8064900" cy="74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>
            <a:endParaRPr/>
          </a:p>
        </p:txBody>
      </p:sp>
      <p:sp>
        <p:nvSpPr>
          <p:cNvPr id="986" name="Google Shape;986;p16"/>
          <p:cNvSpPr/>
          <p:nvPr/>
        </p:nvSpPr>
        <p:spPr>
          <a:xfrm>
            <a:off x="4979394" y="46336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9773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6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293" name="Google Shape;293;p6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294" name="Google Shape;294;p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295" name="Google Shape;295;p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6" name="Google Shape;296;p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7" name="Google Shape;297;p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8" name="Google Shape;298;p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9" name="Google Shape;299;p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0" name="Google Shape;300;p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1" name="Google Shape;301;p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2" name="Google Shape;302;p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3" name="Google Shape;303;p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04" name="Google Shape;304;p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305" name="Google Shape;305;p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6" name="Google Shape;306;p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7" name="Google Shape;307;p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8" name="Google Shape;308;p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0" name="Google Shape;310;p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1" name="Google Shape;311;p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2" name="Google Shape;312;p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13" name="Google Shape;313;p6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314" name="Google Shape;314;p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315" name="Google Shape;315;p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6" name="Google Shape;316;p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7" name="Google Shape;317;p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8" name="Google Shape;318;p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9" name="Google Shape;319;p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0" name="Google Shape;320;p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1" name="Google Shape;321;p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2" name="Google Shape;322;p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3" name="Google Shape;323;p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24" name="Google Shape;324;p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325" name="Google Shape;325;p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6" name="Google Shape;326;p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7" name="Google Shape;327;p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8" name="Google Shape;328;p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9" name="Google Shape;329;p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0" name="Google Shape;330;p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1" name="Google Shape;331;p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2" name="Google Shape;332;p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33" name="Google Shape;333;p6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334" name="Google Shape;334;p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335" name="Google Shape;335;p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6" name="Google Shape;336;p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7" name="Google Shape;337;p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8" name="Google Shape;338;p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9" name="Google Shape;339;p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0" name="Google Shape;340;p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1" name="Google Shape;341;p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2" name="Google Shape;342;p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3" name="Google Shape;343;p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44" name="Google Shape;344;p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345" name="Google Shape;345;p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6" name="Google Shape;346;p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7" name="Google Shape;347;p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8" name="Google Shape;348;p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9" name="Google Shape;349;p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0" name="Google Shape;350;p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1" name="Google Shape;351;p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2" name="Google Shape;352;p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53" name="Google Shape;353;p6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354" name="Google Shape;354;p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355" name="Google Shape;355;p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6" name="Google Shape;356;p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7" name="Google Shape;357;p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8" name="Google Shape;358;p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9" name="Google Shape;359;p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0" name="Google Shape;360;p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1" name="Google Shape;361;p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2" name="Google Shape;362;p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3" name="Google Shape;363;p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64" name="Google Shape;364;p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365" name="Google Shape;365;p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6" name="Google Shape;366;p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7" name="Google Shape;367;p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8" name="Google Shape;368;p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9" name="Google Shape;369;p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0" name="Google Shape;370;p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1" name="Google Shape;371;p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2" name="Google Shape;372;p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373" name="Google Shape;373;p6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6"/>
          <p:cNvSpPr/>
          <p:nvPr/>
        </p:nvSpPr>
        <p:spPr>
          <a:xfrm>
            <a:off x="540925" y="1457100"/>
            <a:ext cx="8062500" cy="3351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5" name="Google Shape;375;p6"/>
          <p:cNvGrpSpPr/>
          <p:nvPr/>
        </p:nvGrpSpPr>
        <p:grpSpPr>
          <a:xfrm rot="10800000">
            <a:off x="8266000" y="4308387"/>
            <a:ext cx="702934" cy="664116"/>
            <a:chOff x="5767869" y="4269892"/>
            <a:chExt cx="702934" cy="664116"/>
          </a:xfrm>
        </p:grpSpPr>
        <p:sp>
          <p:nvSpPr>
            <p:cNvPr id="376" name="Google Shape;376;p6"/>
            <p:cNvSpPr/>
            <p:nvPr/>
          </p:nvSpPr>
          <p:spPr>
            <a:xfrm flipH="1">
              <a:off x="6132402" y="4269892"/>
              <a:ext cx="338400" cy="325800"/>
            </a:xfrm>
            <a:prstGeom prst="star4">
              <a:avLst>
                <a:gd name="adj" fmla="val 12500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6"/>
            <p:cNvSpPr/>
            <p:nvPr/>
          </p:nvSpPr>
          <p:spPr>
            <a:xfrm flipH="1">
              <a:off x="5767869" y="4693708"/>
              <a:ext cx="246900" cy="2403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8" name="Google Shape;378;p6"/>
          <p:cNvGrpSpPr/>
          <p:nvPr/>
        </p:nvGrpSpPr>
        <p:grpSpPr>
          <a:xfrm rot="5400000" flipH="1">
            <a:off x="87016" y="1348652"/>
            <a:ext cx="669233" cy="553467"/>
            <a:chOff x="5801569" y="4269892"/>
            <a:chExt cx="669233" cy="553467"/>
          </a:xfrm>
        </p:grpSpPr>
        <p:sp>
          <p:nvSpPr>
            <p:cNvPr id="379" name="Google Shape;379;p6"/>
            <p:cNvSpPr/>
            <p:nvPr/>
          </p:nvSpPr>
          <p:spPr>
            <a:xfrm flipH="1">
              <a:off x="6132402" y="4269892"/>
              <a:ext cx="338400" cy="325800"/>
            </a:xfrm>
            <a:prstGeom prst="star4">
              <a:avLst>
                <a:gd name="adj" fmla="val 12500"/>
              </a:avLst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6"/>
            <p:cNvSpPr/>
            <p:nvPr/>
          </p:nvSpPr>
          <p:spPr>
            <a:xfrm flipH="1">
              <a:off x="5801569" y="4583059"/>
              <a:ext cx="246900" cy="2403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49704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3" name="Google Shape;483;p9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484" name="Google Shape;484;p9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485" name="Google Shape;48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486" name="Google Shape;48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7" name="Google Shape;48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8" name="Google Shape;48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9" name="Google Shape;48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0" name="Google Shape;49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1" name="Google Shape;49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2" name="Google Shape;49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3" name="Google Shape;49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4" name="Google Shape;49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95" name="Google Shape;49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496" name="Google Shape;49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7" name="Google Shape;49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8" name="Google Shape;49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9" name="Google Shape;49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0" name="Google Shape;50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1" name="Google Shape;50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2" name="Google Shape;50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3" name="Google Shape;50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04" name="Google Shape;504;p9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505" name="Google Shape;50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06" name="Google Shape;50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7" name="Google Shape;50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8" name="Google Shape;50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9" name="Google Shape;50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0" name="Google Shape;51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1" name="Google Shape;51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2" name="Google Shape;51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3" name="Google Shape;51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4" name="Google Shape;51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15" name="Google Shape;51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16" name="Google Shape;51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7" name="Google Shape;51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9" name="Google Shape;51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0" name="Google Shape;52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1" name="Google Shape;52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3" name="Google Shape;52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24" name="Google Shape;524;p9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25" name="Google Shape;52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26" name="Google Shape;52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7" name="Google Shape;52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8" name="Google Shape;52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9" name="Google Shape;52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0" name="Google Shape;53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1" name="Google Shape;53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2" name="Google Shape;53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3" name="Google Shape;53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4" name="Google Shape;53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35" name="Google Shape;53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36" name="Google Shape;53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7" name="Google Shape;53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8" name="Google Shape;53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9" name="Google Shape;53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0" name="Google Shape;54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1" name="Google Shape;54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3" name="Google Shape;54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44" name="Google Shape;544;p9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45" name="Google Shape;54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46" name="Google Shape;54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7" name="Google Shape;54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8" name="Google Shape;54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9" name="Google Shape;54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0" name="Google Shape;55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1" name="Google Shape;55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2" name="Google Shape;55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3" name="Google Shape;55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4" name="Google Shape;55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55" name="Google Shape;55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56" name="Google Shape;55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7" name="Google Shape;55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2" name="Google Shape;56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3" name="Google Shape;56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64" name="Google Shape;564;p9"/>
          <p:cNvSpPr/>
          <p:nvPr/>
        </p:nvSpPr>
        <p:spPr>
          <a:xfrm>
            <a:off x="1114800" y="1086000"/>
            <a:ext cx="6914400" cy="2971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9"/>
          <p:cNvSpPr txBox="1">
            <a:spLocks noGrp="1"/>
          </p:cNvSpPr>
          <p:nvPr>
            <p:ph type="title"/>
          </p:nvPr>
        </p:nvSpPr>
        <p:spPr>
          <a:xfrm>
            <a:off x="2098025" y="1609100"/>
            <a:ext cx="4947600" cy="7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66" name="Google Shape;566;p9"/>
          <p:cNvSpPr txBox="1">
            <a:spLocks noGrp="1"/>
          </p:cNvSpPr>
          <p:nvPr>
            <p:ph type="subTitle" idx="1"/>
          </p:nvPr>
        </p:nvSpPr>
        <p:spPr>
          <a:xfrm>
            <a:off x="2098025" y="2389294"/>
            <a:ext cx="4947600" cy="11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567" name="Google Shape;567;p9"/>
          <p:cNvGrpSpPr/>
          <p:nvPr/>
        </p:nvGrpSpPr>
        <p:grpSpPr>
          <a:xfrm>
            <a:off x="8031636" y="337016"/>
            <a:ext cx="820754" cy="1064503"/>
            <a:chOff x="7465916" y="720492"/>
            <a:chExt cx="1139144" cy="1477450"/>
          </a:xfrm>
        </p:grpSpPr>
        <p:sp>
          <p:nvSpPr>
            <p:cNvPr id="568" name="Google Shape;568;p9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9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9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9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9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9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4" name="Google Shape;574;p9"/>
          <p:cNvSpPr/>
          <p:nvPr/>
        </p:nvSpPr>
        <p:spPr>
          <a:xfrm flipH="1">
            <a:off x="7822627" y="4596843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4562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5" name="Google Shape;1785;p26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786" name="Google Shape;1786;p26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787" name="Google Shape;1787;p2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788" name="Google Shape;1788;p2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89" name="Google Shape;1789;p2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90" name="Google Shape;1790;p2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91" name="Google Shape;1791;p2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92" name="Google Shape;1792;p2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93" name="Google Shape;1793;p2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94" name="Google Shape;1794;p2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95" name="Google Shape;1795;p2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96" name="Google Shape;1796;p2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797" name="Google Shape;1797;p2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798" name="Google Shape;1798;p2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99" name="Google Shape;1799;p2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00" name="Google Shape;1800;p2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01" name="Google Shape;1801;p2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02" name="Google Shape;1802;p2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03" name="Google Shape;1803;p2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04" name="Google Shape;1804;p2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05" name="Google Shape;1805;p2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806" name="Google Shape;1806;p26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807" name="Google Shape;1807;p2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808" name="Google Shape;1808;p2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09" name="Google Shape;1809;p2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0" name="Google Shape;1810;p2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1" name="Google Shape;1811;p2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2" name="Google Shape;1812;p2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3" name="Google Shape;1813;p2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4" name="Google Shape;1814;p2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5" name="Google Shape;1815;p2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6" name="Google Shape;1816;p2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817" name="Google Shape;1817;p2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818" name="Google Shape;1818;p2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9" name="Google Shape;1819;p2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20" name="Google Shape;1820;p2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21" name="Google Shape;1821;p2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22" name="Google Shape;1822;p2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23" name="Google Shape;1823;p2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24" name="Google Shape;1824;p2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25" name="Google Shape;1825;p2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826" name="Google Shape;1826;p26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827" name="Google Shape;1827;p2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828" name="Google Shape;1828;p2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29" name="Google Shape;1829;p2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30" name="Google Shape;1830;p2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31" name="Google Shape;1831;p2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32" name="Google Shape;1832;p2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33" name="Google Shape;1833;p2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34" name="Google Shape;1834;p2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35" name="Google Shape;1835;p2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36" name="Google Shape;1836;p2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837" name="Google Shape;1837;p2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838" name="Google Shape;1838;p2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39" name="Google Shape;1839;p2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0" name="Google Shape;1840;p2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1" name="Google Shape;1841;p2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2" name="Google Shape;1842;p2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3" name="Google Shape;1843;p2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4" name="Google Shape;1844;p2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5" name="Google Shape;1845;p2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846" name="Google Shape;1846;p26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847" name="Google Shape;1847;p2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848" name="Google Shape;1848;p2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9" name="Google Shape;1849;p2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50" name="Google Shape;1850;p2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51" name="Google Shape;1851;p2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52" name="Google Shape;1852;p2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53" name="Google Shape;1853;p2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54" name="Google Shape;1854;p2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55" name="Google Shape;1855;p2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56" name="Google Shape;1856;p2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857" name="Google Shape;1857;p2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858" name="Google Shape;1858;p2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59" name="Google Shape;1859;p2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60" name="Google Shape;1860;p2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61" name="Google Shape;1861;p2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62" name="Google Shape;1862;p2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63" name="Google Shape;1863;p2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64" name="Google Shape;1864;p2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65" name="Google Shape;1865;p2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866" name="Google Shape;1866;p26"/>
          <p:cNvSpPr txBox="1">
            <a:spLocks noGrp="1"/>
          </p:cNvSpPr>
          <p:nvPr>
            <p:ph type="title"/>
          </p:nvPr>
        </p:nvSpPr>
        <p:spPr>
          <a:xfrm>
            <a:off x="539496" y="339325"/>
            <a:ext cx="80649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867" name="Google Shape;1867;p26"/>
          <p:cNvGrpSpPr/>
          <p:nvPr/>
        </p:nvGrpSpPr>
        <p:grpSpPr>
          <a:xfrm flipH="1">
            <a:off x="8438760" y="4313593"/>
            <a:ext cx="474334" cy="655652"/>
            <a:chOff x="5996469" y="3940040"/>
            <a:chExt cx="474334" cy="655652"/>
          </a:xfrm>
        </p:grpSpPr>
        <p:sp>
          <p:nvSpPr>
            <p:cNvPr id="1868" name="Google Shape;1868;p26"/>
            <p:cNvSpPr/>
            <p:nvPr/>
          </p:nvSpPr>
          <p:spPr>
            <a:xfrm flipH="1">
              <a:off x="6132402" y="4269892"/>
              <a:ext cx="338400" cy="325800"/>
            </a:xfrm>
            <a:prstGeom prst="star4">
              <a:avLst>
                <a:gd name="adj" fmla="val 125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6"/>
            <p:cNvSpPr/>
            <p:nvPr/>
          </p:nvSpPr>
          <p:spPr>
            <a:xfrm flipH="1">
              <a:off x="5996469" y="3940040"/>
              <a:ext cx="246900" cy="2403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58226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700" y="339325"/>
            <a:ext cx="8083800" cy="75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37508"/>
            <a:ext cx="7717500" cy="3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9" r:id="rId3"/>
    <p:sldLayoutId id="2147483670" r:id="rId4"/>
    <p:sldLayoutId id="2147483673" r:id="rId5"/>
    <p:sldLayoutId id="2147483675" r:id="rId6"/>
    <p:sldLayoutId id="2147483679" r:id="rId7"/>
    <p:sldLayoutId id="2147483680" r:id="rId8"/>
    <p:sldLayoutId id="2147483681" r:id="rId9"/>
    <p:sldLayoutId id="2147483682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33"/>
          <p:cNvSpPr/>
          <p:nvPr/>
        </p:nvSpPr>
        <p:spPr>
          <a:xfrm>
            <a:off x="1118025" y="1086025"/>
            <a:ext cx="6908700" cy="222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080" name="Google Shape;2080;p33"/>
          <p:cNvSpPr txBox="1">
            <a:spLocks noGrp="1"/>
          </p:cNvSpPr>
          <p:nvPr>
            <p:ph type="subTitle" idx="1"/>
          </p:nvPr>
        </p:nvSpPr>
        <p:spPr>
          <a:xfrm>
            <a:off x="1976876" y="3690492"/>
            <a:ext cx="5190098" cy="112285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ro-RO" sz="1200" noProof="0" dirty="0"/>
              <a:t>2026 – 2027 (Sem. I)</a:t>
            </a:r>
            <a:br>
              <a:rPr lang="ro-RO" sz="1200" noProof="0" dirty="0"/>
            </a:br>
            <a:r>
              <a:rPr lang="ro-RO" sz="1200" noProof="0" dirty="0"/>
              <a:t>Drd. Ștefan Iordache</a:t>
            </a:r>
            <a:br>
              <a:rPr lang="ro-RO" sz="1200" noProof="0" dirty="0"/>
            </a:br>
            <a:r>
              <a:rPr lang="ro-RO" sz="1200" noProof="0" dirty="0"/>
              <a:t>Conf. </a:t>
            </a:r>
            <a:r>
              <a:rPr lang="ro-RO" sz="1200" dirty="0"/>
              <a:t>Dr. Ciprian Păduraru</a:t>
            </a:r>
            <a:br>
              <a:rPr lang="ro-RO" sz="1200" noProof="0" dirty="0"/>
            </a:br>
            <a:r>
              <a:rPr lang="ro-RO" sz="1200" noProof="0" dirty="0"/>
              <a:t>Facultatea de Matematică și Informatică</a:t>
            </a:r>
          </a:p>
          <a:p>
            <a:pPr marL="0" indent="0"/>
            <a:r>
              <a:rPr lang="ro-RO" sz="1200" noProof="0" dirty="0"/>
              <a:t>Universitatea din București</a:t>
            </a:r>
          </a:p>
        </p:txBody>
      </p:sp>
      <p:sp>
        <p:nvSpPr>
          <p:cNvPr id="2081" name="Google Shape;2081;p33"/>
          <p:cNvSpPr txBox="1">
            <a:spLocks noGrp="1"/>
          </p:cNvSpPr>
          <p:nvPr>
            <p:ph type="ctrTitle"/>
          </p:nvPr>
        </p:nvSpPr>
        <p:spPr>
          <a:xfrm>
            <a:off x="1340625" y="1354950"/>
            <a:ext cx="6462600" cy="83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noProof="0" dirty="0"/>
              <a:t>Introducere în </a:t>
            </a:r>
            <a:r>
              <a:rPr lang="ro-RO" sz="3200" noProof="0" dirty="0" err="1"/>
              <a:t>Reinforcement</a:t>
            </a:r>
            <a:r>
              <a:rPr lang="ro-RO" sz="3200" noProof="0" dirty="0"/>
              <a:t> </a:t>
            </a:r>
            <a:r>
              <a:rPr lang="ro-RO" sz="3200" noProof="0" dirty="0" err="1"/>
              <a:t>Learning</a:t>
            </a:r>
            <a:endParaRPr lang="ro-RO" sz="3200" noProof="0" dirty="0"/>
          </a:p>
        </p:txBody>
      </p:sp>
      <p:sp>
        <p:nvSpPr>
          <p:cNvPr id="2082" name="Google Shape;2082;p33"/>
          <p:cNvSpPr/>
          <p:nvPr/>
        </p:nvSpPr>
        <p:spPr>
          <a:xfrm>
            <a:off x="2649300" y="2361196"/>
            <a:ext cx="3872285" cy="68931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ro-RO" noProof="0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Merriweather"/>
              </a:rPr>
              <a:t>Cursul #3</a:t>
            </a:r>
            <a:endParaRPr lang="ro-RO" b="0" i="0" noProof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Merriweather"/>
            </a:endParaRPr>
          </a:p>
        </p:txBody>
      </p:sp>
      <p:sp>
        <p:nvSpPr>
          <p:cNvPr id="2083" name="Google Shape;2083;p33"/>
          <p:cNvSpPr/>
          <p:nvPr/>
        </p:nvSpPr>
        <p:spPr>
          <a:xfrm>
            <a:off x="3261615" y="2357391"/>
            <a:ext cx="2647657" cy="68931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lang="ro-RO" b="0" i="0" noProof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Merriweather"/>
            </a:endParaRPr>
          </a:p>
        </p:txBody>
      </p:sp>
      <p:grpSp>
        <p:nvGrpSpPr>
          <p:cNvPr id="2084" name="Google Shape;2084;p33"/>
          <p:cNvGrpSpPr/>
          <p:nvPr/>
        </p:nvGrpSpPr>
        <p:grpSpPr>
          <a:xfrm>
            <a:off x="7803335" y="4060517"/>
            <a:ext cx="798976" cy="380999"/>
            <a:chOff x="7740700" y="4100311"/>
            <a:chExt cx="786936" cy="604089"/>
          </a:xfrm>
        </p:grpSpPr>
        <p:grpSp>
          <p:nvGrpSpPr>
            <p:cNvPr id="2085" name="Google Shape;2085;p33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2086" name="Google Shape;2086;p33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ro-RO" noProof="0" dirty="0"/>
              </a:p>
            </p:txBody>
          </p:sp>
          <p:sp>
            <p:nvSpPr>
              <p:cNvPr id="2087" name="Google Shape;2087;p33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ro-RO" noProof="0" dirty="0"/>
              </a:p>
            </p:txBody>
          </p:sp>
        </p:grpSp>
        <p:sp>
          <p:nvSpPr>
            <p:cNvPr id="2088" name="Google Shape;2088;p33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089" name="Google Shape;2089;p33"/>
          <p:cNvSpPr/>
          <p:nvPr/>
        </p:nvSpPr>
        <p:spPr>
          <a:xfrm>
            <a:off x="2102264" y="175464"/>
            <a:ext cx="337500" cy="3291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090" name="Google Shape;2090;p33"/>
          <p:cNvSpPr/>
          <p:nvPr/>
        </p:nvSpPr>
        <p:spPr>
          <a:xfrm>
            <a:off x="948396" y="1289701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091" name="Google Shape;2091;p33"/>
          <p:cNvSpPr/>
          <p:nvPr/>
        </p:nvSpPr>
        <p:spPr>
          <a:xfrm>
            <a:off x="7248344" y="3112759"/>
            <a:ext cx="427200" cy="4164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grpSp>
        <p:nvGrpSpPr>
          <p:cNvPr id="2092" name="Google Shape;2092;p33"/>
          <p:cNvGrpSpPr/>
          <p:nvPr/>
        </p:nvGrpSpPr>
        <p:grpSpPr>
          <a:xfrm>
            <a:off x="7459073" y="337966"/>
            <a:ext cx="1143140" cy="598828"/>
            <a:chOff x="7055900" y="279450"/>
            <a:chExt cx="1820576" cy="953700"/>
          </a:xfrm>
        </p:grpSpPr>
        <p:sp>
          <p:nvSpPr>
            <p:cNvPr id="2093" name="Google Shape;2093;p33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4" name="Google Shape;2094;p33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5" name="Google Shape;2095;p33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6" name="Google Shape;2096;p33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7" name="Google Shape;2097;p33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2098" name="Google Shape;2098;p33"/>
          <p:cNvGrpSpPr/>
          <p:nvPr/>
        </p:nvGrpSpPr>
        <p:grpSpPr>
          <a:xfrm>
            <a:off x="539126" y="3307343"/>
            <a:ext cx="584139" cy="656583"/>
            <a:chOff x="848509" y="2822478"/>
            <a:chExt cx="624748" cy="702228"/>
          </a:xfrm>
        </p:grpSpPr>
        <p:sp>
          <p:nvSpPr>
            <p:cNvPr id="2099" name="Google Shape;2099;p33"/>
            <p:cNvSpPr/>
            <p:nvPr/>
          </p:nvSpPr>
          <p:spPr>
            <a:xfrm rot="-5400000">
              <a:off x="950207" y="3001656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00" name="Google Shape;2100;p33"/>
            <p:cNvSpPr/>
            <p:nvPr/>
          </p:nvSpPr>
          <p:spPr>
            <a:xfrm rot="-5400000">
              <a:off x="904258" y="2953980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01" name="Google Shape;2101;p33"/>
            <p:cNvSpPr/>
            <p:nvPr/>
          </p:nvSpPr>
          <p:spPr>
            <a:xfrm rot="-5400000">
              <a:off x="858308" y="2906304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02" name="Google Shape;2102;p33"/>
            <p:cNvSpPr/>
            <p:nvPr/>
          </p:nvSpPr>
          <p:spPr>
            <a:xfrm rot="-5400000">
              <a:off x="812359" y="2858628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" name="Google Shape;2150;p36"/>
          <p:cNvGrpSpPr/>
          <p:nvPr/>
        </p:nvGrpSpPr>
        <p:grpSpPr>
          <a:xfrm>
            <a:off x="1812907" y="1955093"/>
            <a:ext cx="731519" cy="822961"/>
            <a:chOff x="4314469" y="1612892"/>
            <a:chExt cx="486900" cy="607800"/>
          </a:xfrm>
        </p:grpSpPr>
        <p:sp>
          <p:nvSpPr>
            <p:cNvPr id="2151" name="Google Shape;2151;p36"/>
            <p:cNvSpPr/>
            <p:nvPr/>
          </p:nvSpPr>
          <p:spPr>
            <a:xfrm rot="5400000" flipH="1">
              <a:off x="4277419" y="1649942"/>
              <a:ext cx="5610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6"/>
            <p:cNvSpPr/>
            <p:nvPr/>
          </p:nvSpPr>
          <p:spPr>
            <a:xfrm rot="5400000" flipH="1">
              <a:off x="4277419" y="1696742"/>
              <a:ext cx="561000" cy="4869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2" name="Google Shape;2162;p36"/>
          <p:cNvGrpSpPr/>
          <p:nvPr/>
        </p:nvGrpSpPr>
        <p:grpSpPr>
          <a:xfrm>
            <a:off x="5235831" y="2583340"/>
            <a:ext cx="731519" cy="822961"/>
            <a:chOff x="4314469" y="1612892"/>
            <a:chExt cx="486900" cy="607800"/>
          </a:xfrm>
        </p:grpSpPr>
        <p:sp>
          <p:nvSpPr>
            <p:cNvPr id="2163" name="Google Shape;2163;p36"/>
            <p:cNvSpPr/>
            <p:nvPr/>
          </p:nvSpPr>
          <p:spPr>
            <a:xfrm rot="5400000" flipH="1">
              <a:off x="4277419" y="1649942"/>
              <a:ext cx="5610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6"/>
            <p:cNvSpPr/>
            <p:nvPr/>
          </p:nvSpPr>
          <p:spPr>
            <a:xfrm rot="5400000" flipH="1">
              <a:off x="4277419" y="1696742"/>
              <a:ext cx="561000" cy="4869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65" name="Google Shape;2165;p36"/>
          <p:cNvSpPr txBox="1">
            <a:spLocks noGrp="1"/>
          </p:cNvSpPr>
          <p:nvPr>
            <p:ph type="title"/>
          </p:nvPr>
        </p:nvSpPr>
        <p:spPr>
          <a:xfrm>
            <a:off x="540475" y="342800"/>
            <a:ext cx="8062200" cy="7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Cuprins</a:t>
            </a:r>
            <a:endParaRPr/>
          </a:p>
        </p:txBody>
      </p:sp>
      <p:sp>
        <p:nvSpPr>
          <p:cNvPr id="2166" name="Google Shape;2166;p36"/>
          <p:cNvSpPr txBox="1">
            <a:spLocks noGrp="1"/>
          </p:cNvSpPr>
          <p:nvPr>
            <p:ph type="subTitle" idx="1"/>
          </p:nvPr>
        </p:nvSpPr>
        <p:spPr>
          <a:xfrm>
            <a:off x="2603255" y="2258733"/>
            <a:ext cx="2939508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 err="1"/>
              <a:t>Recapitulare</a:t>
            </a:r>
            <a:endParaRPr dirty="0"/>
          </a:p>
        </p:txBody>
      </p:sp>
      <p:sp>
        <p:nvSpPr>
          <p:cNvPr id="2168" name="Google Shape;2168;p36"/>
          <p:cNvSpPr txBox="1">
            <a:spLocks noGrp="1"/>
          </p:cNvSpPr>
          <p:nvPr>
            <p:ph type="subTitle" idx="3"/>
          </p:nvPr>
        </p:nvSpPr>
        <p:spPr>
          <a:xfrm>
            <a:off x="6026196" y="2915226"/>
            <a:ext cx="2221135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 err="1"/>
              <a:t>Algoritmi</a:t>
            </a:r>
            <a:r>
              <a:rPr lang="en-US" dirty="0"/>
              <a:t> Value-Based</a:t>
            </a:r>
            <a:endParaRPr dirty="0"/>
          </a:p>
        </p:txBody>
      </p:sp>
      <p:sp>
        <p:nvSpPr>
          <p:cNvPr id="2178" name="Google Shape;2178;p36"/>
          <p:cNvSpPr txBox="1">
            <a:spLocks noGrp="1"/>
          </p:cNvSpPr>
          <p:nvPr>
            <p:ph type="title" idx="16"/>
          </p:nvPr>
        </p:nvSpPr>
        <p:spPr>
          <a:xfrm>
            <a:off x="1754079" y="2162854"/>
            <a:ext cx="849300" cy="4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79" name="Google Shape;2179;p36"/>
          <p:cNvSpPr txBox="1">
            <a:spLocks noGrp="1"/>
          </p:cNvSpPr>
          <p:nvPr>
            <p:ph type="title" idx="17"/>
          </p:nvPr>
        </p:nvSpPr>
        <p:spPr>
          <a:xfrm>
            <a:off x="5176986" y="2796726"/>
            <a:ext cx="849300" cy="48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184" name="Google Shape;2184;p36"/>
          <p:cNvSpPr/>
          <p:nvPr/>
        </p:nvSpPr>
        <p:spPr>
          <a:xfrm>
            <a:off x="7843664" y="1011864"/>
            <a:ext cx="337500" cy="3291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5" name="Google Shape;2185;p36"/>
          <p:cNvSpPr/>
          <p:nvPr/>
        </p:nvSpPr>
        <p:spPr>
          <a:xfrm>
            <a:off x="957921" y="174426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" name="Google Shape;2162;p36">
            <a:extLst>
              <a:ext uri="{FF2B5EF4-FFF2-40B4-BE49-F238E27FC236}">
                <a16:creationId xmlns:a16="http://schemas.microsoft.com/office/drawing/2014/main" id="{F09AF591-DF6C-4D52-D8BC-A7C6DD33E251}"/>
              </a:ext>
            </a:extLst>
          </p:cNvPr>
          <p:cNvGrpSpPr/>
          <p:nvPr/>
        </p:nvGrpSpPr>
        <p:grpSpPr>
          <a:xfrm>
            <a:off x="2968271" y="3667540"/>
            <a:ext cx="731519" cy="822961"/>
            <a:chOff x="4314469" y="1612892"/>
            <a:chExt cx="486900" cy="607800"/>
          </a:xfrm>
        </p:grpSpPr>
        <p:sp>
          <p:nvSpPr>
            <p:cNvPr id="9" name="Google Shape;2163;p36">
              <a:extLst>
                <a:ext uri="{FF2B5EF4-FFF2-40B4-BE49-F238E27FC236}">
                  <a16:creationId xmlns:a16="http://schemas.microsoft.com/office/drawing/2014/main" id="{795560B6-738A-27E5-52CF-99558545608A}"/>
                </a:ext>
              </a:extLst>
            </p:cNvPr>
            <p:cNvSpPr/>
            <p:nvPr/>
          </p:nvSpPr>
          <p:spPr>
            <a:xfrm rot="5400000" flipH="1">
              <a:off x="4277419" y="1649942"/>
              <a:ext cx="5610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164;p36">
              <a:extLst>
                <a:ext uri="{FF2B5EF4-FFF2-40B4-BE49-F238E27FC236}">
                  <a16:creationId xmlns:a16="http://schemas.microsoft.com/office/drawing/2014/main" id="{9F109A58-14B6-207B-AE57-62FB46152207}"/>
                </a:ext>
              </a:extLst>
            </p:cNvPr>
            <p:cNvSpPr/>
            <p:nvPr/>
          </p:nvSpPr>
          <p:spPr>
            <a:xfrm rot="5400000" flipH="1">
              <a:off x="4277419" y="1696742"/>
              <a:ext cx="561000" cy="4869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Google Shape;2168;p36">
            <a:extLst>
              <a:ext uri="{FF2B5EF4-FFF2-40B4-BE49-F238E27FC236}">
                <a16:creationId xmlns:a16="http://schemas.microsoft.com/office/drawing/2014/main" id="{A824DC2C-308F-9C94-3813-BE09E1C5B3C9}"/>
              </a:ext>
            </a:extLst>
          </p:cNvPr>
          <p:cNvSpPr txBox="1">
            <a:spLocks/>
          </p:cNvSpPr>
          <p:nvPr/>
        </p:nvSpPr>
        <p:spPr>
          <a:xfrm>
            <a:off x="3787474" y="3951537"/>
            <a:ext cx="1950141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en-GB" dirty="0"/>
              <a:t>Temporal-Difference</a:t>
            </a:r>
          </a:p>
        </p:txBody>
      </p:sp>
      <p:sp>
        <p:nvSpPr>
          <p:cNvPr id="12" name="Google Shape;2179;p36">
            <a:extLst>
              <a:ext uri="{FF2B5EF4-FFF2-40B4-BE49-F238E27FC236}">
                <a16:creationId xmlns:a16="http://schemas.microsoft.com/office/drawing/2014/main" id="{D6CF4149-F72C-2AC7-BB6B-FB208A00DA1B}"/>
              </a:ext>
            </a:extLst>
          </p:cNvPr>
          <p:cNvSpPr txBox="1">
            <a:spLocks/>
          </p:cNvSpPr>
          <p:nvPr/>
        </p:nvSpPr>
        <p:spPr>
          <a:xfrm>
            <a:off x="2909426" y="3880926"/>
            <a:ext cx="849300" cy="4842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3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" dirty="0"/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37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 err="1"/>
              <a:t>Recapitulare</a:t>
            </a:r>
            <a:endParaRPr sz="4400" dirty="0"/>
          </a:p>
        </p:txBody>
      </p:sp>
      <p:sp>
        <p:nvSpPr>
          <p:cNvPr id="2193" name="Google Shape;2193;p37"/>
          <p:cNvSpPr/>
          <p:nvPr/>
        </p:nvSpPr>
        <p:spPr>
          <a:xfrm>
            <a:off x="22951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01</a:t>
            </a:r>
          </a:p>
        </p:txBody>
      </p:sp>
      <p:sp>
        <p:nvSpPr>
          <p:cNvPr id="2194" name="Google Shape;2194;p37"/>
          <p:cNvSpPr/>
          <p:nvPr/>
        </p:nvSpPr>
        <p:spPr>
          <a:xfrm>
            <a:off x="22316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01</a:t>
            </a:r>
          </a:p>
        </p:txBody>
      </p:sp>
      <p:sp>
        <p:nvSpPr>
          <p:cNvPr id="2195" name="Google Shape;2195;p37"/>
          <p:cNvSpPr/>
          <p:nvPr/>
        </p:nvSpPr>
        <p:spPr>
          <a:xfrm>
            <a:off x="1594863" y="1565164"/>
            <a:ext cx="236700" cy="2307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37"/>
          <p:cNvSpPr/>
          <p:nvPr/>
        </p:nvSpPr>
        <p:spPr>
          <a:xfrm>
            <a:off x="6757396" y="37789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37"/>
          <p:cNvGrpSpPr/>
          <p:nvPr/>
        </p:nvGrpSpPr>
        <p:grpSpPr>
          <a:xfrm>
            <a:off x="6939236" y="1683082"/>
            <a:ext cx="1370960" cy="1778111"/>
            <a:chOff x="7465916" y="720492"/>
            <a:chExt cx="1139144" cy="1477450"/>
          </a:xfrm>
        </p:grpSpPr>
        <p:sp>
          <p:nvSpPr>
            <p:cNvPr id="2198" name="Google Shape;2198;p37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7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7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7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7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37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37"/>
          <p:cNvGrpSpPr/>
          <p:nvPr/>
        </p:nvGrpSpPr>
        <p:grpSpPr>
          <a:xfrm rot="5400000">
            <a:off x="-149785" y="2103340"/>
            <a:ext cx="1764685" cy="924421"/>
            <a:chOff x="7055900" y="279450"/>
            <a:chExt cx="1820576" cy="953700"/>
          </a:xfrm>
        </p:grpSpPr>
        <p:sp>
          <p:nvSpPr>
            <p:cNvPr id="2205" name="Google Shape;2205;p37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37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37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7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7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0" name="Google Shape;2210;p37"/>
          <p:cNvSpPr/>
          <p:nvPr/>
        </p:nvSpPr>
        <p:spPr>
          <a:xfrm>
            <a:off x="3843151" y="434151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578BC-4273-EA79-AC7F-B87318F16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/>
              <a:t>Diagrama generică - RL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CE620E0-78F8-6908-D13E-1654CE48A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362" y="1084775"/>
            <a:ext cx="4737175" cy="3819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2766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FC6B7-80D2-C09C-7BEC-750E32DD8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/>
              <a:t>Procese Stochastice</a:t>
            </a:r>
          </a:p>
        </p:txBody>
      </p:sp>
      <p:pic>
        <p:nvPicPr>
          <p:cNvPr id="8196" name="Picture 4" descr="An abstract illustration showing the different between a deterministic and stochastic policy. There are two boxes, one labelled deterministic, and one labelled stochastic. Each has an arrow coming into it, from a circle labelled s, which is the state. The arrow leading from the deterministic policy points to a circle containing the letter a, which is the action that is selected.  The arrow leading from the stochastic policy points to a bar graph with four actions a, b, c, and d, each with a different height bar, illustrating the probability of each action being selected.">
            <a:extLst>
              <a:ext uri="{FF2B5EF4-FFF2-40B4-BE49-F238E27FC236}">
                <a16:creationId xmlns:a16="http://schemas.microsoft.com/office/drawing/2014/main" id="{B1A65703-5478-C57B-3B35-941EC40BA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061" y="1727319"/>
            <a:ext cx="4773174" cy="255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2643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6A8FC-7C65-BB9B-38EC-5C16B9060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B69F7-47C4-042D-39DB-1CAAF4318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Ecuația</a:t>
            </a:r>
            <a:r>
              <a:rPr lang="en-US" dirty="0"/>
              <a:t> Bellman – V* (</a:t>
            </a:r>
            <a:r>
              <a:rPr lang="en-US" dirty="0" err="1"/>
              <a:t>optim</a:t>
            </a:r>
            <a:r>
              <a:rPr lang="en-US" dirty="0"/>
              <a:t>)</a:t>
            </a:r>
            <a:endParaRPr lang="en-RO"/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112A54F-4A3D-D0C8-4DFD-02C83013B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00" y="1966360"/>
            <a:ext cx="8051594" cy="167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246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37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 err="1"/>
              <a:t>Algoritmi</a:t>
            </a:r>
            <a:r>
              <a:rPr lang="en" sz="4400" dirty="0"/>
              <a:t> Value-Based</a:t>
            </a:r>
            <a:endParaRPr sz="4400" dirty="0"/>
          </a:p>
        </p:txBody>
      </p:sp>
      <p:sp>
        <p:nvSpPr>
          <p:cNvPr id="2193" name="Google Shape;2193;p37"/>
          <p:cNvSpPr/>
          <p:nvPr/>
        </p:nvSpPr>
        <p:spPr>
          <a:xfrm>
            <a:off x="22951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</a:t>
            </a:r>
            <a:r>
              <a:rPr lang="en-RO" b="0" i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2</a:t>
            </a:r>
            <a:endParaRPr b="0" i="0"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dk1"/>
              </a:solidFill>
              <a:latin typeface="Merriweather;900"/>
            </a:endParaRPr>
          </a:p>
        </p:txBody>
      </p:sp>
      <p:sp>
        <p:nvSpPr>
          <p:cNvPr id="2195" name="Google Shape;2195;p37"/>
          <p:cNvSpPr/>
          <p:nvPr/>
        </p:nvSpPr>
        <p:spPr>
          <a:xfrm>
            <a:off x="1594863" y="1565164"/>
            <a:ext cx="236700" cy="2307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37"/>
          <p:cNvSpPr/>
          <p:nvPr/>
        </p:nvSpPr>
        <p:spPr>
          <a:xfrm>
            <a:off x="6757396" y="37789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37"/>
          <p:cNvGrpSpPr/>
          <p:nvPr/>
        </p:nvGrpSpPr>
        <p:grpSpPr>
          <a:xfrm>
            <a:off x="6939236" y="1683082"/>
            <a:ext cx="1370960" cy="1778111"/>
            <a:chOff x="7465916" y="720492"/>
            <a:chExt cx="1139144" cy="1477450"/>
          </a:xfrm>
        </p:grpSpPr>
        <p:sp>
          <p:nvSpPr>
            <p:cNvPr id="2198" name="Google Shape;2198;p37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7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7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7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7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37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37"/>
          <p:cNvGrpSpPr/>
          <p:nvPr/>
        </p:nvGrpSpPr>
        <p:grpSpPr>
          <a:xfrm rot="5400000">
            <a:off x="-149785" y="2103340"/>
            <a:ext cx="1764685" cy="924421"/>
            <a:chOff x="7055900" y="279450"/>
            <a:chExt cx="1820576" cy="953700"/>
          </a:xfrm>
        </p:grpSpPr>
        <p:sp>
          <p:nvSpPr>
            <p:cNvPr id="2205" name="Google Shape;2205;p37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37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37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7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7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0" name="Google Shape;2210;p37"/>
          <p:cNvSpPr/>
          <p:nvPr/>
        </p:nvSpPr>
        <p:spPr>
          <a:xfrm>
            <a:off x="3843151" y="434151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8310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9">
          <a:extLst>
            <a:ext uri="{FF2B5EF4-FFF2-40B4-BE49-F238E27FC236}">
              <a16:creationId xmlns:a16="http://schemas.microsoft.com/office/drawing/2014/main" id="{C7468FF2-BB11-F740-0D12-1C6588539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39">
            <a:extLst>
              <a:ext uri="{FF2B5EF4-FFF2-40B4-BE49-F238E27FC236}">
                <a16:creationId xmlns:a16="http://schemas.microsoft.com/office/drawing/2014/main" id="{F7A33805-2F15-9BAE-87BE-BA5CC2611870}"/>
              </a:ext>
            </a:extLst>
          </p:cNvPr>
          <p:cNvSpPr/>
          <p:nvPr/>
        </p:nvSpPr>
        <p:spPr>
          <a:xfrm>
            <a:off x="4572000" y="1456875"/>
            <a:ext cx="4032300" cy="14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1" name="Google Shape;2231;p39">
            <a:extLst>
              <a:ext uri="{FF2B5EF4-FFF2-40B4-BE49-F238E27FC236}">
                <a16:creationId xmlns:a16="http://schemas.microsoft.com/office/drawing/2014/main" id="{D257B446-FB4F-23F6-FBA9-BDDDBE4CCCCB}"/>
              </a:ext>
            </a:extLst>
          </p:cNvPr>
          <p:cNvSpPr/>
          <p:nvPr/>
        </p:nvSpPr>
        <p:spPr>
          <a:xfrm>
            <a:off x="2276452" y="3092324"/>
            <a:ext cx="4607700" cy="1489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2" name="Google Shape;2232;p39">
            <a:extLst>
              <a:ext uri="{FF2B5EF4-FFF2-40B4-BE49-F238E27FC236}">
                <a16:creationId xmlns:a16="http://schemas.microsoft.com/office/drawing/2014/main" id="{947A8016-5737-6C1A-C0DB-0A777ED5C1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496" y="342543"/>
            <a:ext cx="80649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o-RO" noProof="0" dirty="0" err="1"/>
              <a:t>Value-Based</a:t>
            </a:r>
            <a:r>
              <a:rPr lang="ro-RO" dirty="0"/>
              <a:t> vs. </a:t>
            </a:r>
            <a:r>
              <a:rPr lang="ro-RO" dirty="0" err="1"/>
              <a:t>Policy-Based</a:t>
            </a:r>
            <a:r>
              <a:rPr lang="ro-RO" dirty="0"/>
              <a:t> vs. </a:t>
            </a:r>
            <a:r>
              <a:rPr lang="ro-RO" dirty="0" err="1"/>
              <a:t>Hybrid</a:t>
            </a:r>
            <a:endParaRPr lang="ro-RO" noProof="0" dirty="0"/>
          </a:p>
        </p:txBody>
      </p:sp>
      <p:sp>
        <p:nvSpPr>
          <p:cNvPr id="2233" name="Google Shape;2233;p39">
            <a:extLst>
              <a:ext uri="{FF2B5EF4-FFF2-40B4-BE49-F238E27FC236}">
                <a16:creationId xmlns:a16="http://schemas.microsoft.com/office/drawing/2014/main" id="{87364052-C986-80A4-AA27-78509577F3A1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4713600" y="159315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sz="1800" noProof="0" dirty="0" err="1"/>
              <a:t>Policy-Based</a:t>
            </a:r>
            <a:r>
              <a:rPr lang="ro-RO" sz="1800" noProof="0" dirty="0"/>
              <a:t> RL</a:t>
            </a:r>
          </a:p>
        </p:txBody>
      </p:sp>
      <p:sp>
        <p:nvSpPr>
          <p:cNvPr id="2234" name="Google Shape;2234;p39">
            <a:extLst>
              <a:ext uri="{FF2B5EF4-FFF2-40B4-BE49-F238E27FC236}">
                <a16:creationId xmlns:a16="http://schemas.microsoft.com/office/drawing/2014/main" id="{CE48B295-E10D-0DB9-1F08-BFC442017EF1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4681679" y="1819344"/>
            <a:ext cx="37491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Scopul: învățarea directă a politicii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Facem </a:t>
            </a:r>
            <a:r>
              <a:rPr lang="ro-RO" sz="1200" dirty="0" err="1"/>
              <a:t>by-pass</a:t>
            </a:r>
            <a:r>
              <a:rPr lang="ro-RO" sz="1200" dirty="0"/>
              <a:t> învățării V(s)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Când? Medii infinite / de dimensiune mare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ro-RO" sz="1200" dirty="0"/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 lang="ro-RO" sz="1200" noProof="0" dirty="0"/>
          </a:p>
        </p:txBody>
      </p:sp>
      <p:sp>
        <p:nvSpPr>
          <p:cNvPr id="2235" name="Google Shape;2235;p39">
            <a:extLst>
              <a:ext uri="{FF2B5EF4-FFF2-40B4-BE49-F238E27FC236}">
                <a16:creationId xmlns:a16="http://schemas.microsoft.com/office/drawing/2014/main" id="{64596F46-4ED6-B268-D152-BAC63499CCEF}"/>
              </a:ext>
            </a:extLst>
          </p:cNvPr>
          <p:cNvSpPr/>
          <p:nvPr/>
        </p:nvSpPr>
        <p:spPr>
          <a:xfrm>
            <a:off x="539500" y="1456875"/>
            <a:ext cx="4034100" cy="14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6" name="Google Shape;2236;p39">
            <a:extLst>
              <a:ext uri="{FF2B5EF4-FFF2-40B4-BE49-F238E27FC236}">
                <a16:creationId xmlns:a16="http://schemas.microsoft.com/office/drawing/2014/main" id="{51BDE65A-F428-2428-F010-B31C62F6353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14" y="159315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sz="1800" dirty="0" err="1"/>
              <a:t>Value-Based</a:t>
            </a:r>
            <a:r>
              <a:rPr lang="ro-RO" sz="1800" dirty="0"/>
              <a:t> RL</a:t>
            </a:r>
            <a:endParaRPr lang="ro-RO" sz="1800" noProof="0" dirty="0"/>
          </a:p>
        </p:txBody>
      </p:sp>
      <p:sp>
        <p:nvSpPr>
          <p:cNvPr id="2237" name="Google Shape;2237;p39">
            <a:extLst>
              <a:ext uri="{FF2B5EF4-FFF2-40B4-BE49-F238E27FC236}">
                <a16:creationId xmlns:a16="http://schemas.microsoft.com/office/drawing/2014/main" id="{C52E9041-EEC6-7982-E405-8124A8E934B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3214" y="1819344"/>
            <a:ext cx="3889100" cy="9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Scopul: învățarea valorilor stărilor – V(s)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Extragem politica din V(s)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Când? Medii finite / de dimensiune mică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ro-RO" sz="1200" noProof="0" dirty="0"/>
          </a:p>
        </p:txBody>
      </p:sp>
      <p:sp>
        <p:nvSpPr>
          <p:cNvPr id="2238" name="Google Shape;2238;p39">
            <a:extLst>
              <a:ext uri="{FF2B5EF4-FFF2-40B4-BE49-F238E27FC236}">
                <a16:creationId xmlns:a16="http://schemas.microsoft.com/office/drawing/2014/main" id="{280C3697-0346-34B3-5B6F-9E903951DDF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697396" y="323680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ro-RO" sz="1800" dirty="0" err="1"/>
              <a:t>Hybrid</a:t>
            </a:r>
            <a:r>
              <a:rPr lang="ro-RO" sz="1800" dirty="0"/>
              <a:t> RL</a:t>
            </a:r>
          </a:p>
        </p:txBody>
      </p:sp>
      <p:sp>
        <p:nvSpPr>
          <p:cNvPr id="2239" name="Google Shape;2239;p39">
            <a:extLst>
              <a:ext uri="{FF2B5EF4-FFF2-40B4-BE49-F238E27FC236}">
                <a16:creationId xmlns:a16="http://schemas.microsoft.com/office/drawing/2014/main" id="{2B71788F-2C16-CCC6-56B0-6B8DEC700E7A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2697450" y="3450108"/>
            <a:ext cx="4055078" cy="11317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Scopul #1: antrenare eficientă și rezultate mai bune!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Scopul #2: depășirea limitărilor impuse de metodele anterioare (varianța mare pentru </a:t>
            </a:r>
            <a:r>
              <a:rPr lang="ro-RO" sz="1200" dirty="0" err="1"/>
              <a:t>policy-based</a:t>
            </a:r>
            <a:r>
              <a:rPr lang="ro-RO" sz="1200" dirty="0"/>
              <a:t> / lucrul cu spațiile continue pentru </a:t>
            </a:r>
            <a:r>
              <a:rPr lang="ro-RO" sz="1200" dirty="0" err="1"/>
              <a:t>value-based</a:t>
            </a:r>
            <a:r>
              <a:rPr lang="ro-RO" sz="1200" dirty="0"/>
              <a:t>) </a:t>
            </a:r>
          </a:p>
        </p:txBody>
      </p:sp>
      <p:grpSp>
        <p:nvGrpSpPr>
          <p:cNvPr id="2240" name="Google Shape;2240;p39">
            <a:extLst>
              <a:ext uri="{FF2B5EF4-FFF2-40B4-BE49-F238E27FC236}">
                <a16:creationId xmlns:a16="http://schemas.microsoft.com/office/drawing/2014/main" id="{498BEC67-B809-245D-166A-A52C7433C9E9}"/>
              </a:ext>
            </a:extLst>
          </p:cNvPr>
          <p:cNvGrpSpPr/>
          <p:nvPr/>
        </p:nvGrpSpPr>
        <p:grpSpPr>
          <a:xfrm>
            <a:off x="7172401" y="3313374"/>
            <a:ext cx="861193" cy="1115770"/>
            <a:chOff x="7465916" y="720492"/>
            <a:chExt cx="1139144" cy="1477450"/>
          </a:xfrm>
        </p:grpSpPr>
        <p:sp>
          <p:nvSpPr>
            <p:cNvPr id="2241" name="Google Shape;2241;p39">
              <a:extLst>
                <a:ext uri="{FF2B5EF4-FFF2-40B4-BE49-F238E27FC236}">
                  <a16:creationId xmlns:a16="http://schemas.microsoft.com/office/drawing/2014/main" id="{44A6773D-5D77-D335-08EC-83CEFF289F28}"/>
                </a:ext>
              </a:extLst>
            </p:cNvPr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2" name="Google Shape;2242;p39">
              <a:extLst>
                <a:ext uri="{FF2B5EF4-FFF2-40B4-BE49-F238E27FC236}">
                  <a16:creationId xmlns:a16="http://schemas.microsoft.com/office/drawing/2014/main" id="{573262EC-6F68-703B-69C3-7BD731F9D6E6}"/>
                </a:ext>
              </a:extLst>
            </p:cNvPr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3" name="Google Shape;2243;p39">
              <a:extLst>
                <a:ext uri="{FF2B5EF4-FFF2-40B4-BE49-F238E27FC236}">
                  <a16:creationId xmlns:a16="http://schemas.microsoft.com/office/drawing/2014/main" id="{ED2E3078-9010-AAE6-949D-8C08E81495A2}"/>
                </a:ext>
              </a:extLst>
            </p:cNvPr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4" name="Google Shape;2244;p39">
              <a:extLst>
                <a:ext uri="{FF2B5EF4-FFF2-40B4-BE49-F238E27FC236}">
                  <a16:creationId xmlns:a16="http://schemas.microsoft.com/office/drawing/2014/main" id="{4807007F-F4A3-91D1-1199-96824E6B852E}"/>
                </a:ext>
              </a:extLst>
            </p:cNvPr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5" name="Google Shape;2245;p39">
              <a:extLst>
                <a:ext uri="{FF2B5EF4-FFF2-40B4-BE49-F238E27FC236}">
                  <a16:creationId xmlns:a16="http://schemas.microsoft.com/office/drawing/2014/main" id="{C3E68104-A196-169D-BA1B-4977CE2AAFB2}"/>
                </a:ext>
              </a:extLst>
            </p:cNvPr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6" name="Google Shape;2246;p39">
              <a:extLst>
                <a:ext uri="{FF2B5EF4-FFF2-40B4-BE49-F238E27FC236}">
                  <a16:creationId xmlns:a16="http://schemas.microsoft.com/office/drawing/2014/main" id="{993338AB-CB5F-2721-9524-CC5CCDFF5CDA}"/>
                </a:ext>
              </a:extLst>
            </p:cNvPr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2247" name="Google Shape;2247;p39">
            <a:extLst>
              <a:ext uri="{FF2B5EF4-FFF2-40B4-BE49-F238E27FC236}">
                <a16:creationId xmlns:a16="http://schemas.microsoft.com/office/drawing/2014/main" id="{EFEFE168-6147-285B-AE33-2E58A23F6340}"/>
              </a:ext>
            </a:extLst>
          </p:cNvPr>
          <p:cNvGrpSpPr/>
          <p:nvPr/>
        </p:nvGrpSpPr>
        <p:grpSpPr>
          <a:xfrm flipH="1">
            <a:off x="1109227" y="3313358"/>
            <a:ext cx="861193" cy="1115918"/>
            <a:chOff x="7465916" y="720492"/>
            <a:chExt cx="1139144" cy="1477450"/>
          </a:xfrm>
        </p:grpSpPr>
        <p:sp>
          <p:nvSpPr>
            <p:cNvPr id="2248" name="Google Shape;2248;p39">
              <a:extLst>
                <a:ext uri="{FF2B5EF4-FFF2-40B4-BE49-F238E27FC236}">
                  <a16:creationId xmlns:a16="http://schemas.microsoft.com/office/drawing/2014/main" id="{9EE7D903-6E4F-821C-7F08-B1700FBCB334}"/>
                </a:ext>
              </a:extLst>
            </p:cNvPr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9" name="Google Shape;2249;p39">
              <a:extLst>
                <a:ext uri="{FF2B5EF4-FFF2-40B4-BE49-F238E27FC236}">
                  <a16:creationId xmlns:a16="http://schemas.microsoft.com/office/drawing/2014/main" id="{ED3A88B8-C3C2-D5D1-6A87-578A7F1A2F27}"/>
                </a:ext>
              </a:extLst>
            </p:cNvPr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0" name="Google Shape;2250;p39">
              <a:extLst>
                <a:ext uri="{FF2B5EF4-FFF2-40B4-BE49-F238E27FC236}">
                  <a16:creationId xmlns:a16="http://schemas.microsoft.com/office/drawing/2014/main" id="{CDE674CB-C07D-9CC2-3240-C2DCCC0F51FD}"/>
                </a:ext>
              </a:extLst>
            </p:cNvPr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1" name="Google Shape;2251;p39">
              <a:extLst>
                <a:ext uri="{FF2B5EF4-FFF2-40B4-BE49-F238E27FC236}">
                  <a16:creationId xmlns:a16="http://schemas.microsoft.com/office/drawing/2014/main" id="{C22A6170-6A0C-C447-5C00-FBB5CCCA0D93}"/>
                </a:ext>
              </a:extLst>
            </p:cNvPr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2" name="Google Shape;2252;p39">
              <a:extLst>
                <a:ext uri="{FF2B5EF4-FFF2-40B4-BE49-F238E27FC236}">
                  <a16:creationId xmlns:a16="http://schemas.microsoft.com/office/drawing/2014/main" id="{642AB309-0020-1AC7-92C8-647C1312CE17}"/>
                </a:ext>
              </a:extLst>
            </p:cNvPr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3" name="Google Shape;2253;p39">
              <a:extLst>
                <a:ext uri="{FF2B5EF4-FFF2-40B4-BE49-F238E27FC236}">
                  <a16:creationId xmlns:a16="http://schemas.microsoft.com/office/drawing/2014/main" id="{AE22E1E5-0575-9920-6FFD-4BD5DEF1CB71}"/>
                </a:ext>
              </a:extLst>
            </p:cNvPr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254" name="Google Shape;2254;p39">
            <a:extLst>
              <a:ext uri="{FF2B5EF4-FFF2-40B4-BE49-F238E27FC236}">
                <a16:creationId xmlns:a16="http://schemas.microsoft.com/office/drawing/2014/main" id="{05C906BC-5802-E4C5-9B71-22096C212F28}"/>
              </a:ext>
            </a:extLst>
          </p:cNvPr>
          <p:cNvSpPr/>
          <p:nvPr/>
        </p:nvSpPr>
        <p:spPr>
          <a:xfrm>
            <a:off x="1567166" y="972253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55" name="Google Shape;2255;p39">
            <a:extLst>
              <a:ext uri="{FF2B5EF4-FFF2-40B4-BE49-F238E27FC236}">
                <a16:creationId xmlns:a16="http://schemas.microsoft.com/office/drawing/2014/main" id="{08D7C18D-173E-82FB-B776-1FEFC84AF679}"/>
              </a:ext>
            </a:extLst>
          </p:cNvPr>
          <p:cNvSpPr/>
          <p:nvPr/>
        </p:nvSpPr>
        <p:spPr>
          <a:xfrm>
            <a:off x="8430779" y="1280215"/>
            <a:ext cx="338400" cy="3312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56" name="Google Shape;2256;p39">
            <a:extLst>
              <a:ext uri="{FF2B5EF4-FFF2-40B4-BE49-F238E27FC236}">
                <a16:creationId xmlns:a16="http://schemas.microsoft.com/office/drawing/2014/main" id="{A7ADA9B9-0D43-634D-1194-8EE2B7601621}"/>
              </a:ext>
            </a:extLst>
          </p:cNvPr>
          <p:cNvSpPr/>
          <p:nvPr/>
        </p:nvSpPr>
        <p:spPr>
          <a:xfrm>
            <a:off x="1024973" y="3211886"/>
            <a:ext cx="195000" cy="1908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068360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/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Algoritmul #1 – </a:t>
            </a:r>
            <a:r>
              <a:rPr lang="ro-RO" dirty="0" err="1"/>
              <a:t>Value</a:t>
            </a:r>
            <a:r>
              <a:rPr lang="ro-RO" dirty="0"/>
              <a:t> </a:t>
            </a:r>
            <a:r>
              <a:rPr lang="ro-RO" dirty="0" err="1"/>
              <a:t>Iteration</a:t>
            </a:r>
            <a:endParaRPr lang="ro-RO" dirty="0"/>
          </a:p>
        </p:txBody>
      </p:sp>
      <p:sp>
        <p:nvSpPr>
          <p:cNvPr id="2478" name="Google Shape;2478;p45"/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/>
          <p:cNvGrpSpPr/>
          <p:nvPr/>
        </p:nvGrpSpPr>
        <p:grpSpPr>
          <a:xfrm rot="10800000">
            <a:off x="6880759" y="1084709"/>
            <a:ext cx="1151741" cy="355855"/>
            <a:chOff x="7812047" y="4100311"/>
            <a:chExt cx="715589" cy="608196"/>
          </a:xfrm>
        </p:grpSpPr>
        <p:grpSp>
          <p:nvGrpSpPr>
            <p:cNvPr id="2480" name="Google Shape;2480;p45"/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/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/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F1E99ED-373F-C872-4E28-9A9216C3B64B}"/>
              </a:ext>
            </a:extLst>
          </p:cNvPr>
          <p:cNvSpPr txBox="1"/>
          <p:nvPr/>
        </p:nvSpPr>
        <p:spPr>
          <a:xfrm>
            <a:off x="539501" y="1612836"/>
            <a:ext cx="3304870" cy="2637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Programare</a:t>
            </a:r>
            <a:r>
              <a:rPr lang="en-US" b="1" dirty="0"/>
              <a:t> </a:t>
            </a:r>
            <a:r>
              <a:rPr lang="en-US" b="1" dirty="0" err="1"/>
              <a:t>Dinamică</a:t>
            </a:r>
            <a:r>
              <a:rPr lang="en-US" b="1" dirty="0"/>
              <a:t>!</a:t>
            </a:r>
            <a:endParaRPr lang="en-RO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Căutăm</a:t>
            </a:r>
            <a:r>
              <a:rPr lang="en-US" dirty="0"/>
              <a:t> V* (value function </a:t>
            </a:r>
            <a:r>
              <a:rPr lang="en-US" dirty="0" err="1"/>
              <a:t>optim</a:t>
            </a:r>
            <a:r>
              <a:rPr lang="en-US" dirty="0"/>
              <a:t>) </a:t>
            </a:r>
            <a:r>
              <a:rPr lang="en-US" dirty="0" err="1"/>
              <a:t>rezolvând</a:t>
            </a:r>
            <a:r>
              <a:rPr lang="en-US" dirty="0"/>
              <a:t> </a:t>
            </a:r>
            <a:r>
              <a:rPr lang="en-US" dirty="0" err="1"/>
              <a:t>ecuația</a:t>
            </a:r>
            <a:r>
              <a:rPr lang="en-US" dirty="0"/>
              <a:t> Bellman, </a:t>
            </a:r>
            <a:r>
              <a:rPr lang="en-US" dirty="0" err="1"/>
              <a:t>iterativ</a:t>
            </a:r>
            <a:r>
              <a:rPr lang="en-US" dirty="0"/>
              <a:t>.</a:t>
            </a:r>
            <a:endParaRPr lang="en-RO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V </a:t>
            </a:r>
            <a:r>
              <a:rPr lang="en-US" b="1" dirty="0" err="1"/>
              <a:t>aproximează</a:t>
            </a:r>
            <a:r>
              <a:rPr lang="en-US" b="1" dirty="0"/>
              <a:t> V*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Funcția</a:t>
            </a:r>
            <a:r>
              <a:rPr lang="en-US" dirty="0"/>
              <a:t> V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îmbunătățită</a:t>
            </a:r>
            <a:r>
              <a:rPr lang="en-US" dirty="0"/>
              <a:t> </a:t>
            </a:r>
            <a:r>
              <a:rPr lang="en-US" dirty="0" err="1"/>
              <a:t>iterativ</a:t>
            </a:r>
            <a:r>
              <a:rPr lang="en-US" dirty="0"/>
              <a:t>, </a:t>
            </a:r>
            <a:r>
              <a:rPr lang="en-US" dirty="0" err="1"/>
              <a:t>scopul</a:t>
            </a:r>
            <a:r>
              <a:rPr lang="en-US" dirty="0"/>
              <a:t> 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convergența</a:t>
            </a:r>
            <a:r>
              <a:rPr lang="en-US" dirty="0"/>
              <a:t> </a:t>
            </a:r>
            <a:r>
              <a:rPr lang="en-US" dirty="0" err="1"/>
              <a:t>spre</a:t>
            </a:r>
            <a:r>
              <a:rPr lang="en-US" dirty="0"/>
              <a:t> V*.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Pot </a:t>
            </a:r>
            <a:r>
              <a:rPr lang="en-US" dirty="0" err="1"/>
              <a:t>exista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funcții</a:t>
            </a:r>
            <a:r>
              <a:rPr lang="en-US" dirty="0"/>
              <a:t> V optime, cu </a:t>
            </a:r>
            <a:r>
              <a:rPr lang="en-US" dirty="0" err="1"/>
              <a:t>politici</a:t>
            </a:r>
            <a:r>
              <a:rPr lang="en-US" dirty="0"/>
              <a:t> </a:t>
            </a:r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!</a:t>
            </a:r>
          </a:p>
        </p:txBody>
      </p:sp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D55803F-BD58-C70F-76A3-A3A973BFD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096" y="1471798"/>
            <a:ext cx="4836303" cy="292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676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3E4A981B-D65F-0018-16F3-513F792C2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1E6B16C5-B466-6EB5-4601-8DEBD30A5C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err="1"/>
              <a:t>Value</a:t>
            </a:r>
            <a:r>
              <a:rPr lang="ro-RO" dirty="0"/>
              <a:t> </a:t>
            </a:r>
            <a:r>
              <a:rPr lang="ro-RO" dirty="0" err="1"/>
              <a:t>Iteration</a:t>
            </a:r>
            <a:r>
              <a:rPr lang="ro-RO" dirty="0"/>
              <a:t> – Grid World</a:t>
            </a:r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DF1B9A16-0C96-ED76-CC63-3A9F92516546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>
            <a:extLst>
              <a:ext uri="{FF2B5EF4-FFF2-40B4-BE49-F238E27FC236}">
                <a16:creationId xmlns:a16="http://schemas.microsoft.com/office/drawing/2014/main" id="{126CCAB1-FE38-44BA-D51F-7497642FCE90}"/>
              </a:ext>
            </a:extLst>
          </p:cNvPr>
          <p:cNvGrpSpPr/>
          <p:nvPr/>
        </p:nvGrpSpPr>
        <p:grpSpPr>
          <a:xfrm rot="21600000">
            <a:off x="4188293" y="2773270"/>
            <a:ext cx="814009" cy="355855"/>
            <a:chOff x="7812047" y="4100311"/>
            <a:chExt cx="715589" cy="608196"/>
          </a:xfrm>
        </p:grpSpPr>
        <p:grpSp>
          <p:nvGrpSpPr>
            <p:cNvPr id="2480" name="Google Shape;2480;p45">
              <a:extLst>
                <a:ext uri="{FF2B5EF4-FFF2-40B4-BE49-F238E27FC236}">
                  <a16:creationId xmlns:a16="http://schemas.microsoft.com/office/drawing/2014/main" id="{0A34D3BA-B5E5-CFD5-D355-6FBAF5027F4B}"/>
                </a:ext>
              </a:extLst>
            </p:cNvPr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>
                <a:extLst>
                  <a:ext uri="{FF2B5EF4-FFF2-40B4-BE49-F238E27FC236}">
                    <a16:creationId xmlns:a16="http://schemas.microsoft.com/office/drawing/2014/main" id="{B716CCAF-1D76-11D9-F7E7-3BA8A11FA341}"/>
                  </a:ext>
                </a:extLst>
              </p:cNvPr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>
                <a:extLst>
                  <a:ext uri="{FF2B5EF4-FFF2-40B4-BE49-F238E27FC236}">
                    <a16:creationId xmlns:a16="http://schemas.microsoft.com/office/drawing/2014/main" id="{E87F8498-1191-42F6-404D-FF2443B0B7A2}"/>
                  </a:ext>
                </a:extLst>
              </p:cNvPr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>
              <a:extLst>
                <a:ext uri="{FF2B5EF4-FFF2-40B4-BE49-F238E27FC236}">
                  <a16:creationId xmlns:a16="http://schemas.microsoft.com/office/drawing/2014/main" id="{9E0B2332-E403-9D6F-C955-2EA621A8DECA}"/>
                </a:ext>
              </a:extLst>
            </p:cNvPr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F4AF1717-3E8D-61C7-575E-82BD0AC18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97" y="1495183"/>
            <a:ext cx="3558402" cy="2919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71F83BC-C510-994E-BDA8-DF8B97C3D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997" y="1495183"/>
            <a:ext cx="3558403" cy="2919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2650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7A9E81B1-3591-7B92-9923-17CD979D7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5F552BA3-5420-9B08-E702-DA25B8AF41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err="1"/>
              <a:t>Value</a:t>
            </a:r>
            <a:r>
              <a:rPr lang="ro-RO" dirty="0"/>
              <a:t> </a:t>
            </a:r>
            <a:r>
              <a:rPr lang="ro-RO" dirty="0" err="1"/>
              <a:t>Iteration</a:t>
            </a:r>
            <a:r>
              <a:rPr lang="ro-RO" dirty="0"/>
              <a:t> – Grid World...But </a:t>
            </a:r>
            <a:r>
              <a:rPr lang="ro-RO" dirty="0" err="1"/>
              <a:t>How</a:t>
            </a:r>
            <a:r>
              <a:rPr lang="ro-RO" dirty="0"/>
              <a:t>???</a:t>
            </a:r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D9B6F474-F954-CCF5-D351-0F3AD95346DF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1EC00D06-AA08-26F7-06A1-D7B4675CE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31" y="1662040"/>
            <a:ext cx="3418293" cy="2563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990A9955-DDED-F401-9BE3-6275F788D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945" y="1662040"/>
            <a:ext cx="3436924" cy="2577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oogle Shape;2479;p45">
            <a:extLst>
              <a:ext uri="{FF2B5EF4-FFF2-40B4-BE49-F238E27FC236}">
                <a16:creationId xmlns:a16="http://schemas.microsoft.com/office/drawing/2014/main" id="{4075F8DE-AE23-589A-A8FF-9C8E6978E662}"/>
              </a:ext>
            </a:extLst>
          </p:cNvPr>
          <p:cNvGrpSpPr/>
          <p:nvPr/>
        </p:nvGrpSpPr>
        <p:grpSpPr>
          <a:xfrm rot="21600000">
            <a:off x="4188293" y="2773270"/>
            <a:ext cx="814009" cy="355855"/>
            <a:chOff x="7812047" y="4100311"/>
            <a:chExt cx="715589" cy="608196"/>
          </a:xfrm>
        </p:grpSpPr>
        <p:grpSp>
          <p:nvGrpSpPr>
            <p:cNvPr id="3" name="Google Shape;2480;p45">
              <a:extLst>
                <a:ext uri="{FF2B5EF4-FFF2-40B4-BE49-F238E27FC236}">
                  <a16:creationId xmlns:a16="http://schemas.microsoft.com/office/drawing/2014/main" id="{420699C5-B412-53E5-3789-D0F330070AEF}"/>
                </a:ext>
              </a:extLst>
            </p:cNvPr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5" name="Google Shape;2481;p45">
                <a:extLst>
                  <a:ext uri="{FF2B5EF4-FFF2-40B4-BE49-F238E27FC236}">
                    <a16:creationId xmlns:a16="http://schemas.microsoft.com/office/drawing/2014/main" id="{52948590-D5EB-F57A-37F4-BD2236DBFBA7}"/>
                  </a:ext>
                </a:extLst>
              </p:cNvPr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2482;p45">
                <a:extLst>
                  <a:ext uri="{FF2B5EF4-FFF2-40B4-BE49-F238E27FC236}">
                    <a16:creationId xmlns:a16="http://schemas.microsoft.com/office/drawing/2014/main" id="{CFC72D31-0503-0674-10D3-C5AE8DAA6C69}"/>
                  </a:ext>
                </a:extLst>
              </p:cNvPr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" name="Google Shape;2483;p45">
              <a:extLst>
                <a:ext uri="{FF2B5EF4-FFF2-40B4-BE49-F238E27FC236}">
                  <a16:creationId xmlns:a16="http://schemas.microsoft.com/office/drawing/2014/main" id="{D6492CDD-4133-1313-9586-9B5D1A11D5C2}"/>
                </a:ext>
              </a:extLst>
            </p:cNvPr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58538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8674D133-3CE4-FDD0-D7C8-C45105F45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0374ED73-384A-1F9A-3AA8-396604E361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err="1"/>
              <a:t>Value</a:t>
            </a:r>
            <a:r>
              <a:rPr lang="ro-RO" dirty="0"/>
              <a:t> </a:t>
            </a:r>
            <a:r>
              <a:rPr lang="ro-RO" dirty="0" err="1"/>
              <a:t>Iteration</a:t>
            </a:r>
            <a:r>
              <a:rPr lang="ro-RO" dirty="0"/>
              <a:t> – Grid World...But </a:t>
            </a:r>
            <a:r>
              <a:rPr lang="ro-RO" dirty="0" err="1"/>
              <a:t>How</a:t>
            </a:r>
            <a:r>
              <a:rPr lang="ro-RO" dirty="0"/>
              <a:t>???</a:t>
            </a:r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86814ED9-F5D1-64BA-C7FC-676CE1DBE8D9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2479;p45">
            <a:extLst>
              <a:ext uri="{FF2B5EF4-FFF2-40B4-BE49-F238E27FC236}">
                <a16:creationId xmlns:a16="http://schemas.microsoft.com/office/drawing/2014/main" id="{9014BC6F-C91D-2903-6F1D-1EBD88D12182}"/>
              </a:ext>
            </a:extLst>
          </p:cNvPr>
          <p:cNvGrpSpPr/>
          <p:nvPr/>
        </p:nvGrpSpPr>
        <p:grpSpPr>
          <a:xfrm rot="21600000">
            <a:off x="4188293" y="2773270"/>
            <a:ext cx="814009" cy="355855"/>
            <a:chOff x="7812047" y="4100311"/>
            <a:chExt cx="715589" cy="608196"/>
          </a:xfrm>
        </p:grpSpPr>
        <p:grpSp>
          <p:nvGrpSpPr>
            <p:cNvPr id="3" name="Google Shape;2480;p45">
              <a:extLst>
                <a:ext uri="{FF2B5EF4-FFF2-40B4-BE49-F238E27FC236}">
                  <a16:creationId xmlns:a16="http://schemas.microsoft.com/office/drawing/2014/main" id="{0667D1EA-98CC-74A0-C76E-0AAFF138DE48}"/>
                </a:ext>
              </a:extLst>
            </p:cNvPr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5" name="Google Shape;2481;p45">
                <a:extLst>
                  <a:ext uri="{FF2B5EF4-FFF2-40B4-BE49-F238E27FC236}">
                    <a16:creationId xmlns:a16="http://schemas.microsoft.com/office/drawing/2014/main" id="{18A48406-64FF-892E-4D02-80D78DCCA44F}"/>
                  </a:ext>
                </a:extLst>
              </p:cNvPr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2482;p45">
                <a:extLst>
                  <a:ext uri="{FF2B5EF4-FFF2-40B4-BE49-F238E27FC236}">
                    <a16:creationId xmlns:a16="http://schemas.microsoft.com/office/drawing/2014/main" id="{A816424F-8E50-83F3-29CB-CD538C610845}"/>
                  </a:ext>
                </a:extLst>
              </p:cNvPr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" name="Google Shape;2483;p45">
              <a:extLst>
                <a:ext uri="{FF2B5EF4-FFF2-40B4-BE49-F238E27FC236}">
                  <a16:creationId xmlns:a16="http://schemas.microsoft.com/office/drawing/2014/main" id="{29CB0B43-5720-5ABE-047C-E92D8E9FEFBA}"/>
                </a:ext>
              </a:extLst>
            </p:cNvPr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170" name="Picture 2">
            <a:extLst>
              <a:ext uri="{FF2B5EF4-FFF2-40B4-BE49-F238E27FC236}">
                <a16:creationId xmlns:a16="http://schemas.microsoft.com/office/drawing/2014/main" id="{069859ED-8B65-7366-E337-49183CCAA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40" y="1531284"/>
            <a:ext cx="3511516" cy="263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F479CC75-C801-D4A5-337B-AC4A43680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907" y="1531284"/>
            <a:ext cx="3511516" cy="263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9246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21E43436-A856-50D2-DA5A-A680B3D78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10F2250B-656D-A813-DBFB-9C04A2DE1E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err="1"/>
              <a:t>Value</a:t>
            </a:r>
            <a:r>
              <a:rPr lang="ro-RO" dirty="0"/>
              <a:t> </a:t>
            </a:r>
            <a:r>
              <a:rPr lang="ro-RO" dirty="0" err="1"/>
              <a:t>Iteration</a:t>
            </a:r>
            <a:r>
              <a:rPr lang="ro-RO" dirty="0"/>
              <a:t> – Grid World...But </a:t>
            </a:r>
            <a:r>
              <a:rPr lang="ro-RO" dirty="0" err="1"/>
              <a:t>How</a:t>
            </a:r>
            <a:r>
              <a:rPr lang="ro-RO" dirty="0"/>
              <a:t>???</a:t>
            </a:r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ACCB5B05-016A-711A-648A-EFE8AE45158C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2479;p45">
            <a:extLst>
              <a:ext uri="{FF2B5EF4-FFF2-40B4-BE49-F238E27FC236}">
                <a16:creationId xmlns:a16="http://schemas.microsoft.com/office/drawing/2014/main" id="{BA5C0F3C-1E1A-CCA0-CDB9-8659C8036DCC}"/>
              </a:ext>
            </a:extLst>
          </p:cNvPr>
          <p:cNvGrpSpPr/>
          <p:nvPr/>
        </p:nvGrpSpPr>
        <p:grpSpPr>
          <a:xfrm rot="21600000">
            <a:off x="4188293" y="2773270"/>
            <a:ext cx="814009" cy="355855"/>
            <a:chOff x="7812047" y="4100311"/>
            <a:chExt cx="715589" cy="608196"/>
          </a:xfrm>
        </p:grpSpPr>
        <p:grpSp>
          <p:nvGrpSpPr>
            <p:cNvPr id="3" name="Google Shape;2480;p45">
              <a:extLst>
                <a:ext uri="{FF2B5EF4-FFF2-40B4-BE49-F238E27FC236}">
                  <a16:creationId xmlns:a16="http://schemas.microsoft.com/office/drawing/2014/main" id="{8F8FAFFF-F469-4F8D-FDB9-3E42E460D54F}"/>
                </a:ext>
              </a:extLst>
            </p:cNvPr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5" name="Google Shape;2481;p45">
                <a:extLst>
                  <a:ext uri="{FF2B5EF4-FFF2-40B4-BE49-F238E27FC236}">
                    <a16:creationId xmlns:a16="http://schemas.microsoft.com/office/drawing/2014/main" id="{BF80938B-F337-88E4-C809-945D5A8E07B7}"/>
                  </a:ext>
                </a:extLst>
              </p:cNvPr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2482;p45">
                <a:extLst>
                  <a:ext uri="{FF2B5EF4-FFF2-40B4-BE49-F238E27FC236}">
                    <a16:creationId xmlns:a16="http://schemas.microsoft.com/office/drawing/2014/main" id="{B90CA78F-22E0-D818-4646-69281EA2E80B}"/>
                  </a:ext>
                </a:extLst>
              </p:cNvPr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" name="Google Shape;2483;p45">
              <a:extLst>
                <a:ext uri="{FF2B5EF4-FFF2-40B4-BE49-F238E27FC236}">
                  <a16:creationId xmlns:a16="http://schemas.microsoft.com/office/drawing/2014/main" id="{C7328DF6-EFAA-C7DE-8583-21763DE9C123}"/>
                </a:ext>
              </a:extLst>
            </p:cNvPr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194" name="Picture 2">
            <a:extLst>
              <a:ext uri="{FF2B5EF4-FFF2-40B4-BE49-F238E27FC236}">
                <a16:creationId xmlns:a16="http://schemas.microsoft.com/office/drawing/2014/main" id="{EE303C1C-D38B-2C5B-4CAA-956E6BE76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489" y="1662040"/>
            <a:ext cx="3480375" cy="2610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424771CD-566D-0047-447F-0B2151CE4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892" y="1662040"/>
            <a:ext cx="3480375" cy="2610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6623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8508E34D-91D8-CE6D-F661-C669298D4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64A1021C-21B7-9D73-EF96-785882C61E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err="1"/>
              <a:t>Value</a:t>
            </a:r>
            <a:r>
              <a:rPr lang="ro-RO" dirty="0"/>
              <a:t> </a:t>
            </a:r>
            <a:r>
              <a:rPr lang="ro-RO" dirty="0" err="1"/>
              <a:t>Iteration</a:t>
            </a:r>
            <a:r>
              <a:rPr lang="ro-RO" dirty="0"/>
              <a:t> – Labirint</a:t>
            </a:r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FD4F98FA-49B3-3D79-E556-142985E43484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83E6FE2-B717-BD8B-3C9D-1529C137D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2962" y="917740"/>
            <a:ext cx="5797976" cy="3985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5502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64CC5213-F656-4B44-0DAF-33E269D64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7B296C83-0D57-8935-C415-F9F6DF9C24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err="1"/>
              <a:t>Value</a:t>
            </a:r>
            <a:r>
              <a:rPr lang="ro-RO" dirty="0"/>
              <a:t> </a:t>
            </a:r>
            <a:r>
              <a:rPr lang="ro-RO" dirty="0" err="1"/>
              <a:t>Iteration</a:t>
            </a:r>
            <a:r>
              <a:rPr lang="ro-RO" dirty="0"/>
              <a:t> – Labirint</a:t>
            </a:r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BCF32840-0DF7-C15B-702F-E4BD3EB3FEED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55E8638-7CC8-C5E7-4A29-7B844E1BA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979" y="917740"/>
            <a:ext cx="5927942" cy="407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4678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" name="Google Shape;2488;p46"/>
          <p:cNvSpPr txBox="1">
            <a:spLocks noGrp="1"/>
          </p:cNvSpPr>
          <p:nvPr>
            <p:ph type="title"/>
          </p:nvPr>
        </p:nvSpPr>
        <p:spPr>
          <a:xfrm>
            <a:off x="539500" y="339325"/>
            <a:ext cx="8061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err="1"/>
              <a:t>Value</a:t>
            </a:r>
            <a:r>
              <a:rPr lang="ro-RO" dirty="0"/>
              <a:t> </a:t>
            </a:r>
            <a:r>
              <a:rPr lang="ro-RO" dirty="0" err="1"/>
              <a:t>Iteration</a:t>
            </a:r>
            <a:r>
              <a:rPr lang="ro-RO" dirty="0"/>
              <a:t> - Concluzii</a:t>
            </a:r>
            <a:endParaRPr lang="ro-RO" noProof="0" dirty="0"/>
          </a:p>
        </p:txBody>
      </p:sp>
      <p:grpSp>
        <p:nvGrpSpPr>
          <p:cNvPr id="2505" name="Google Shape;2505;p46"/>
          <p:cNvGrpSpPr/>
          <p:nvPr/>
        </p:nvGrpSpPr>
        <p:grpSpPr>
          <a:xfrm flipH="1">
            <a:off x="7458579" y="709759"/>
            <a:ext cx="573559" cy="743157"/>
            <a:chOff x="7465916" y="720492"/>
            <a:chExt cx="1139144" cy="1477450"/>
          </a:xfrm>
        </p:grpSpPr>
        <p:sp>
          <p:nvSpPr>
            <p:cNvPr id="2506" name="Google Shape;2506;p46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7" name="Google Shape;2507;p46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8" name="Google Shape;2508;p46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09" name="Google Shape;2509;p46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10" name="Google Shape;2510;p46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511" name="Google Shape;2511;p46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EA8CABA-A001-A935-B3E0-2E032392B44B}"/>
                  </a:ext>
                </a:extLst>
              </p:cNvPr>
              <p:cNvSpPr txBox="1"/>
              <p:nvPr/>
            </p:nvSpPr>
            <p:spPr>
              <a:xfrm>
                <a:off x="994805" y="1823350"/>
                <a:ext cx="7606295" cy="26824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ro-RO" noProof="0" dirty="0">
                  <a:latin typeface="Merriweather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o-RO" noProof="0" dirty="0">
                    <a:latin typeface="Merriweather" pitchFamily="2" charset="77"/>
                  </a:rPr>
                  <a:t>Complexitate? 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1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noProof="0" smtClean="0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</m:d>
                      </m:e>
                      <m:sup>
                        <m:r>
                          <a:rPr lang="en-US" b="1" i="1" noProof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begChr m:val="|"/>
                        <m:endChr m:val="|"/>
                        <m:ctrlPr>
                          <a:rPr lang="en-US" b="1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noProof="0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o-RO" b="1" noProof="0" dirty="0">
                  <a:latin typeface="Merriweather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ro-RO" noProof="0" dirty="0">
                  <a:latin typeface="Merriweather" pitchFamily="2" charset="77"/>
                </a:endParaRPr>
              </a:p>
              <a:p>
                <a:pPr marL="285750" lvl="4" indent="-285750">
                  <a:buFont typeface="Arial" panose="020B0604020202020204" pitchFamily="34" charset="0"/>
                  <a:buChar char="•"/>
                </a:pPr>
                <a:r>
                  <a:rPr lang="ro-RO" noProof="0" dirty="0">
                    <a:latin typeface="Merriweather" pitchFamily="2" charset="77"/>
                  </a:rPr>
                  <a:t>De câte iterații este nevoie? </a:t>
                </a:r>
                <a:r>
                  <a:rPr lang="ro-RO" b="1" noProof="0" dirty="0">
                    <a:latin typeface="Merriweather" pitchFamily="2" charset="77"/>
                  </a:rPr>
                  <a:t>Depinde...în funcție de </a:t>
                </a:r>
                <a:r>
                  <a:rPr lang="ro-RO" b="1" noProof="0" dirty="0" err="1">
                    <a:latin typeface="Merriweather" pitchFamily="2" charset="77"/>
                  </a:rPr>
                  <a:t>θ</a:t>
                </a:r>
                <a:r>
                  <a:rPr lang="ro-RO" b="1" dirty="0">
                    <a:latin typeface="Merriweather" pitchFamily="2" charset="77"/>
                  </a:rPr>
                  <a:t>! Nu putem ști!</a:t>
                </a:r>
                <a:endParaRPr lang="ro-RO" b="1" noProof="0" dirty="0">
                  <a:latin typeface="Merriweather" pitchFamily="2" charset="77"/>
                </a:endParaRPr>
              </a:p>
              <a:p>
                <a:pPr marL="285750" lvl="4" indent="-285750">
                  <a:buFont typeface="Arial" panose="020B0604020202020204" pitchFamily="34" charset="0"/>
                  <a:buChar char="•"/>
                </a:pPr>
                <a:endParaRPr lang="ro-RO" dirty="0">
                  <a:latin typeface="Merriweather" pitchFamily="2" charset="77"/>
                </a:endParaRPr>
              </a:p>
              <a:p>
                <a:pPr marL="285750" lvl="4" indent="-285750">
                  <a:buFont typeface="Arial" panose="020B0604020202020204" pitchFamily="34" charset="0"/>
                  <a:buChar char="•"/>
                </a:pPr>
                <a:r>
                  <a:rPr lang="ro-RO" noProof="0" dirty="0">
                    <a:latin typeface="Merriweather" pitchFamily="2" charset="77"/>
                  </a:rPr>
                  <a:t>Avantajul? </a:t>
                </a:r>
                <a:r>
                  <a:rPr lang="ro-RO" b="1" noProof="0" dirty="0">
                    <a:latin typeface="Merriweather" pitchFamily="2" charset="77"/>
                  </a:rPr>
                  <a:t>Produce mereu o politică optimă, dar teoretic necesită un număr infinit de iterații.</a:t>
                </a:r>
              </a:p>
              <a:p>
                <a:pPr marL="285750" lvl="4" indent="-285750">
                  <a:buFont typeface="Arial" panose="020B0604020202020204" pitchFamily="34" charset="0"/>
                  <a:buChar char="•"/>
                </a:pPr>
                <a:endParaRPr lang="ro-RO" noProof="0" dirty="0">
                  <a:latin typeface="Merriweather" pitchFamily="2" charset="77"/>
                </a:endParaRPr>
              </a:p>
              <a:p>
                <a:pPr marL="285750" lvl="4" indent="-285750">
                  <a:buFont typeface="Arial" panose="020B0604020202020204" pitchFamily="34" charset="0"/>
                  <a:buChar char="•"/>
                </a:pPr>
                <a:r>
                  <a:rPr lang="ro-RO" dirty="0">
                    <a:latin typeface="Merriweather" pitchFamily="2" charset="77"/>
                  </a:rPr>
                  <a:t>Când utilizăm </a:t>
                </a:r>
                <a:r>
                  <a:rPr lang="ro-RO" dirty="0" err="1">
                    <a:latin typeface="Merriweather" pitchFamily="2" charset="77"/>
                  </a:rPr>
                  <a:t>Value</a:t>
                </a:r>
                <a:r>
                  <a:rPr lang="ro-RO" dirty="0">
                    <a:latin typeface="Merriweather" pitchFamily="2" charset="77"/>
                  </a:rPr>
                  <a:t> </a:t>
                </a:r>
                <a:r>
                  <a:rPr lang="ro-RO" dirty="0" err="1">
                    <a:latin typeface="Merriweather" pitchFamily="2" charset="77"/>
                  </a:rPr>
                  <a:t>Iteration</a:t>
                </a:r>
                <a:r>
                  <a:rPr lang="ro-RO" dirty="0">
                    <a:latin typeface="Merriweather" pitchFamily="2" charset="77"/>
                  </a:rPr>
                  <a:t>? </a:t>
                </a:r>
                <a:r>
                  <a:rPr lang="ro-RO" b="1" dirty="0">
                    <a:latin typeface="Merriweather" pitchFamily="2" charset="77"/>
                  </a:rPr>
                  <a:t>Pentru problemele mici-medii, unde putem determina o politică optimă într-un timp rezonabil.</a:t>
                </a:r>
              </a:p>
              <a:p>
                <a:pPr marL="285750" lvl="4" indent="-285750">
                  <a:buFont typeface="Arial" panose="020B0604020202020204" pitchFamily="34" charset="0"/>
                  <a:buChar char="•"/>
                </a:pPr>
                <a:endParaRPr lang="ro-RO" b="1" dirty="0">
                  <a:latin typeface="Merriweather" pitchFamily="2" charset="77"/>
                </a:endParaRPr>
              </a:p>
              <a:p>
                <a:pPr lvl="4"/>
                <a:endParaRPr lang="ro-RO" noProof="0" dirty="0">
                  <a:latin typeface="Merriweather" pitchFamily="2" charset="7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EA8CABA-A001-A935-B3E0-2E032392B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805" y="1823350"/>
                <a:ext cx="7606295" cy="2682466"/>
              </a:xfrm>
              <a:prstGeom prst="rect">
                <a:avLst/>
              </a:prstGeom>
              <a:blipFill>
                <a:blip r:embed="rId3"/>
                <a:stretch>
                  <a:fillRect l="-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2862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p38"/>
          <p:cNvSpPr txBox="1">
            <a:spLocks noGrp="1"/>
          </p:cNvSpPr>
          <p:nvPr>
            <p:ph type="title"/>
          </p:nvPr>
        </p:nvSpPr>
        <p:spPr>
          <a:xfrm>
            <a:off x="2098025" y="1609100"/>
            <a:ext cx="4947600" cy="7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noProof="0" dirty="0"/>
              <a:t>Există ceva mai bun?</a:t>
            </a:r>
          </a:p>
        </p:txBody>
      </p:sp>
      <p:sp>
        <p:nvSpPr>
          <p:cNvPr id="2216" name="Google Shape;2216;p38"/>
          <p:cNvSpPr txBox="1">
            <a:spLocks noGrp="1"/>
          </p:cNvSpPr>
          <p:nvPr>
            <p:ph type="subTitle" idx="1"/>
          </p:nvPr>
        </p:nvSpPr>
        <p:spPr>
          <a:xfrm>
            <a:off x="2098025" y="2389294"/>
            <a:ext cx="4947600" cy="11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ro-RO" b="1" noProof="0" dirty="0"/>
              <a:t>NORMAL!!!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ro-RO" noProof="0" dirty="0"/>
              <a:t>Altfel terminam materia și plecam acasă!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endParaRPr lang="ro-RO" dirty="0"/>
          </a:p>
        </p:txBody>
      </p:sp>
      <p:sp>
        <p:nvSpPr>
          <p:cNvPr id="2217" name="Google Shape;2217;p38"/>
          <p:cNvSpPr/>
          <p:nvPr/>
        </p:nvSpPr>
        <p:spPr>
          <a:xfrm flipH="1">
            <a:off x="1526099" y="926845"/>
            <a:ext cx="336300" cy="3270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grpSp>
        <p:nvGrpSpPr>
          <p:cNvPr id="2218" name="Google Shape;2218;p38"/>
          <p:cNvGrpSpPr/>
          <p:nvPr/>
        </p:nvGrpSpPr>
        <p:grpSpPr>
          <a:xfrm rot="10800000">
            <a:off x="1124208" y="3890592"/>
            <a:ext cx="1728455" cy="905443"/>
            <a:chOff x="7055900" y="279450"/>
            <a:chExt cx="1820576" cy="953700"/>
          </a:xfrm>
        </p:grpSpPr>
        <p:sp>
          <p:nvSpPr>
            <p:cNvPr id="2219" name="Google Shape;2219;p38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0" name="Google Shape;2220;p38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1" name="Google Shape;2221;p38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2" name="Google Shape;2222;p38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23" name="Google Shape;2223;p38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224" name="Google Shape;2224;p38"/>
          <p:cNvSpPr/>
          <p:nvPr/>
        </p:nvSpPr>
        <p:spPr>
          <a:xfrm flipH="1">
            <a:off x="989350" y="586499"/>
            <a:ext cx="245400" cy="2385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25" name="Google Shape;2225;p38"/>
          <p:cNvSpPr/>
          <p:nvPr/>
        </p:nvSpPr>
        <p:spPr>
          <a:xfrm flipH="1">
            <a:off x="3868125" y="4302574"/>
            <a:ext cx="245400" cy="2385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6B81052A-7EE1-BFD7-5B07-4500A0CBB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EAD57608-E27C-6C78-CA76-F05787C46E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err="1"/>
              <a:t>Multi-Armed</a:t>
            </a:r>
            <a:r>
              <a:rPr lang="ro-RO" dirty="0"/>
              <a:t> </a:t>
            </a:r>
            <a:r>
              <a:rPr lang="ro-RO" dirty="0" err="1"/>
              <a:t>Bandits</a:t>
            </a:r>
            <a:r>
              <a:rPr lang="ro-RO" dirty="0"/>
              <a:t> (MAB)</a:t>
            </a:r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83306F73-8C90-231D-2A24-D22D8451CD7E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>
            <a:extLst>
              <a:ext uri="{FF2B5EF4-FFF2-40B4-BE49-F238E27FC236}">
                <a16:creationId xmlns:a16="http://schemas.microsoft.com/office/drawing/2014/main" id="{48A411E6-660D-4C66-84A1-9D8C9076CCD0}"/>
              </a:ext>
            </a:extLst>
          </p:cNvPr>
          <p:cNvGrpSpPr/>
          <p:nvPr/>
        </p:nvGrpSpPr>
        <p:grpSpPr>
          <a:xfrm rot="10800000">
            <a:off x="6880759" y="1084709"/>
            <a:ext cx="1151741" cy="355855"/>
            <a:chOff x="7812047" y="4100311"/>
            <a:chExt cx="715589" cy="608196"/>
          </a:xfrm>
        </p:grpSpPr>
        <p:grpSp>
          <p:nvGrpSpPr>
            <p:cNvPr id="2480" name="Google Shape;2480;p45">
              <a:extLst>
                <a:ext uri="{FF2B5EF4-FFF2-40B4-BE49-F238E27FC236}">
                  <a16:creationId xmlns:a16="http://schemas.microsoft.com/office/drawing/2014/main" id="{A5A12F3E-A31B-9E88-3B20-0580F9F2B8C5}"/>
                </a:ext>
              </a:extLst>
            </p:cNvPr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>
                <a:extLst>
                  <a:ext uri="{FF2B5EF4-FFF2-40B4-BE49-F238E27FC236}">
                    <a16:creationId xmlns:a16="http://schemas.microsoft.com/office/drawing/2014/main" id="{739B5F5F-532E-65F1-ABE9-DAF0B22B2703}"/>
                  </a:ext>
                </a:extLst>
              </p:cNvPr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>
                <a:extLst>
                  <a:ext uri="{FF2B5EF4-FFF2-40B4-BE49-F238E27FC236}">
                    <a16:creationId xmlns:a16="http://schemas.microsoft.com/office/drawing/2014/main" id="{A6196B97-9310-8A0A-03D6-F7492F42CF27}"/>
                  </a:ext>
                </a:extLst>
              </p:cNvPr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>
              <a:extLst>
                <a:ext uri="{FF2B5EF4-FFF2-40B4-BE49-F238E27FC236}">
                  <a16:creationId xmlns:a16="http://schemas.microsoft.com/office/drawing/2014/main" id="{A7B8A543-31CA-A94D-7B03-FE40FA6925AA}"/>
                </a:ext>
              </a:extLst>
            </p:cNvPr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218" name="Picture 2">
            <a:extLst>
              <a:ext uri="{FF2B5EF4-FFF2-40B4-BE49-F238E27FC236}">
                <a16:creationId xmlns:a16="http://schemas.microsoft.com/office/drawing/2014/main" id="{8E9DC5F5-8303-C165-F360-BA925DD14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462" y="1471799"/>
            <a:ext cx="7805075" cy="2937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6402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969FB65E-7504-94BE-8C9B-63793812D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0E9280F4-E532-0CA2-F518-4B010C86A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err="1"/>
              <a:t>Multi-Armed</a:t>
            </a:r>
            <a:r>
              <a:rPr lang="ro-RO" dirty="0"/>
              <a:t> </a:t>
            </a:r>
            <a:r>
              <a:rPr lang="ro-RO" dirty="0" err="1"/>
              <a:t>Bandits</a:t>
            </a:r>
            <a:r>
              <a:rPr lang="ro-RO" dirty="0"/>
              <a:t> (MAB)</a:t>
            </a:r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C15A1E75-05F9-D363-F3F3-95352CE05B3B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>
            <a:extLst>
              <a:ext uri="{FF2B5EF4-FFF2-40B4-BE49-F238E27FC236}">
                <a16:creationId xmlns:a16="http://schemas.microsoft.com/office/drawing/2014/main" id="{2680CB76-3887-6E7D-69C8-0FF2D96B0566}"/>
              </a:ext>
            </a:extLst>
          </p:cNvPr>
          <p:cNvGrpSpPr/>
          <p:nvPr/>
        </p:nvGrpSpPr>
        <p:grpSpPr>
          <a:xfrm rot="10800000">
            <a:off x="6880759" y="1084709"/>
            <a:ext cx="1151741" cy="355855"/>
            <a:chOff x="7812047" y="4100311"/>
            <a:chExt cx="715589" cy="608196"/>
          </a:xfrm>
        </p:grpSpPr>
        <p:grpSp>
          <p:nvGrpSpPr>
            <p:cNvPr id="2480" name="Google Shape;2480;p45">
              <a:extLst>
                <a:ext uri="{FF2B5EF4-FFF2-40B4-BE49-F238E27FC236}">
                  <a16:creationId xmlns:a16="http://schemas.microsoft.com/office/drawing/2014/main" id="{D12B6674-1FEC-00D8-09ED-6B59919AB40A}"/>
                </a:ext>
              </a:extLst>
            </p:cNvPr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>
                <a:extLst>
                  <a:ext uri="{FF2B5EF4-FFF2-40B4-BE49-F238E27FC236}">
                    <a16:creationId xmlns:a16="http://schemas.microsoft.com/office/drawing/2014/main" id="{636CF634-8247-6F35-07C0-BB4B2A70B91A}"/>
                  </a:ext>
                </a:extLst>
              </p:cNvPr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>
                <a:extLst>
                  <a:ext uri="{FF2B5EF4-FFF2-40B4-BE49-F238E27FC236}">
                    <a16:creationId xmlns:a16="http://schemas.microsoft.com/office/drawing/2014/main" id="{F23FCA14-9E4E-8912-2E82-7598014E07AE}"/>
                  </a:ext>
                </a:extLst>
              </p:cNvPr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>
              <a:extLst>
                <a:ext uri="{FF2B5EF4-FFF2-40B4-BE49-F238E27FC236}">
                  <a16:creationId xmlns:a16="http://schemas.microsoft.com/office/drawing/2014/main" id="{EBD97853-61B3-8681-741F-6E518345963A}"/>
                </a:ext>
              </a:extLst>
            </p:cNvPr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C8FFB23-51C1-8222-D75D-A957F9439A00}"/>
              </a:ext>
            </a:extLst>
          </p:cNvPr>
          <p:cNvSpPr txBox="1"/>
          <p:nvPr/>
        </p:nvSpPr>
        <p:spPr>
          <a:xfrm>
            <a:off x="539501" y="1612836"/>
            <a:ext cx="7829348" cy="1991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Ce ne </a:t>
            </a:r>
            <a:r>
              <a:rPr lang="en-US" dirty="0" err="1"/>
              <a:t>dorim</a:t>
            </a:r>
            <a:r>
              <a:rPr lang="en-US" dirty="0"/>
              <a:t>? </a:t>
            </a:r>
            <a:r>
              <a:rPr lang="en-US" b="1" dirty="0" err="1"/>
              <a:t>Să</a:t>
            </a:r>
            <a:r>
              <a:rPr lang="en-US" b="1" dirty="0"/>
              <a:t> </a:t>
            </a:r>
            <a:r>
              <a:rPr lang="en-US" b="1" dirty="0" err="1"/>
              <a:t>executăm</a:t>
            </a:r>
            <a:r>
              <a:rPr lang="en-US" b="1" dirty="0"/>
              <a:t> </a:t>
            </a:r>
            <a:r>
              <a:rPr lang="en-US" b="1" dirty="0" err="1"/>
              <a:t>doar</a:t>
            </a:r>
            <a:r>
              <a:rPr lang="en-US" b="1" dirty="0"/>
              <a:t> </a:t>
            </a:r>
            <a:r>
              <a:rPr lang="en-US" b="1" dirty="0" err="1"/>
              <a:t>acțiunile</a:t>
            </a:r>
            <a:r>
              <a:rPr lang="en-US" b="1" dirty="0"/>
              <a:t> </a:t>
            </a:r>
            <a:r>
              <a:rPr lang="en-US" b="1" dirty="0" err="1"/>
              <a:t>bune</a:t>
            </a:r>
            <a:r>
              <a:rPr lang="en-US" b="1" dirty="0"/>
              <a:t>!</a:t>
            </a:r>
            <a:endParaRPr lang="en-RO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Dar </a:t>
            </a:r>
            <a:r>
              <a:rPr lang="en-US" dirty="0" err="1"/>
              <a:t>inițial</a:t>
            </a:r>
            <a:r>
              <a:rPr lang="en-US" dirty="0"/>
              <a:t> nu </a:t>
            </a:r>
            <a:r>
              <a:rPr lang="en-US" dirty="0" err="1"/>
              <a:t>știm</a:t>
            </a:r>
            <a:r>
              <a:rPr lang="en-US" dirty="0"/>
              <a:t> </a:t>
            </a:r>
            <a:r>
              <a:rPr lang="en-US" dirty="0" err="1"/>
              <a:t>nimic</a:t>
            </a:r>
            <a:r>
              <a:rPr lang="en-US" dirty="0"/>
              <a:t> </a:t>
            </a:r>
            <a:r>
              <a:rPr lang="en-US" dirty="0" err="1"/>
              <a:t>despre</a:t>
            </a:r>
            <a:r>
              <a:rPr lang="en-US" dirty="0"/>
              <a:t> </a:t>
            </a:r>
            <a:r>
              <a:rPr lang="en-US" dirty="0" err="1"/>
              <a:t>mediu</a:t>
            </a:r>
            <a:r>
              <a:rPr lang="en-US" dirty="0"/>
              <a:t>, nu </a:t>
            </a:r>
            <a:r>
              <a:rPr lang="en-US" dirty="0" err="1"/>
              <a:t>cunoaștem</a:t>
            </a:r>
            <a:r>
              <a:rPr lang="en-US" dirty="0"/>
              <a:t> </a:t>
            </a:r>
            <a:r>
              <a:rPr lang="en-US" dirty="0" err="1"/>
              <a:t>distribuțiile</a:t>
            </a:r>
            <a:r>
              <a:rPr lang="en-US" dirty="0"/>
              <a:t> </a:t>
            </a:r>
            <a:r>
              <a:rPr lang="en-US" dirty="0" err="1"/>
              <a:t>recompenselor</a:t>
            </a:r>
            <a:r>
              <a:rPr lang="en-US" dirty="0"/>
              <a:t>.</a:t>
            </a:r>
            <a:endParaRPr lang="en-RO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b="1" dirty="0" err="1"/>
              <a:t>exploata</a:t>
            </a:r>
            <a:r>
              <a:rPr lang="en-US" b="1" dirty="0"/>
              <a:t> (exploit)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b="1" dirty="0" err="1"/>
              <a:t>explorăm</a:t>
            </a:r>
            <a:r>
              <a:rPr lang="en-US" b="1" dirty="0"/>
              <a:t> (explore) </a:t>
            </a:r>
            <a:r>
              <a:rPr lang="en-US" dirty="0"/>
              <a:t>prima </a:t>
            </a:r>
            <a:r>
              <a:rPr lang="en-US" dirty="0" err="1"/>
              <a:t>dată</a:t>
            </a:r>
            <a:r>
              <a:rPr lang="en-US" dirty="0"/>
              <a:t>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Dar </a:t>
            </a:r>
            <a:r>
              <a:rPr lang="en-US" dirty="0" err="1"/>
              <a:t>cât</a:t>
            </a:r>
            <a:r>
              <a:rPr lang="en-US" dirty="0"/>
              <a:t> </a:t>
            </a:r>
            <a:r>
              <a:rPr lang="en-US" dirty="0" err="1"/>
              <a:t>explorăm</a:t>
            </a:r>
            <a:r>
              <a:rPr lang="en-US" dirty="0"/>
              <a:t>?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pierdem</a:t>
            </a:r>
            <a:r>
              <a:rPr lang="en-US" dirty="0"/>
              <a:t> </a:t>
            </a:r>
            <a:r>
              <a:rPr lang="en-US" dirty="0" err="1"/>
              <a:t>ceva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nu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câștigăm</a:t>
            </a:r>
            <a:r>
              <a:rPr lang="en-US" dirty="0"/>
              <a:t> </a:t>
            </a:r>
            <a:r>
              <a:rPr lang="en-US" dirty="0" err="1"/>
              <a:t>suficient</a:t>
            </a:r>
            <a:r>
              <a:rPr lang="en-US" dirty="0"/>
              <a:t>?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”Fear of Missing Out (FOMO)” </a:t>
            </a:r>
            <a:r>
              <a:rPr lang="en-US" dirty="0"/>
              <a:t>– da,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algoritmii</a:t>
            </a:r>
            <a:r>
              <a:rPr lang="en-US" dirty="0"/>
              <a:t> au </a:t>
            </a:r>
            <a:r>
              <a:rPr lang="en-US" dirty="0" err="1"/>
              <a:t>sentimente</a:t>
            </a:r>
            <a:r>
              <a:rPr lang="en-US" dirty="0"/>
              <a:t>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Scopul</a:t>
            </a:r>
            <a:r>
              <a:rPr lang="en-US" dirty="0"/>
              <a:t> </a:t>
            </a:r>
            <a:r>
              <a:rPr lang="en-US" dirty="0" err="1"/>
              <a:t>nostru</a:t>
            </a:r>
            <a:r>
              <a:rPr lang="en-US" dirty="0"/>
              <a:t> </a:t>
            </a:r>
            <a:r>
              <a:rPr lang="en-US" dirty="0" err="1"/>
              <a:t>devine</a:t>
            </a:r>
            <a:r>
              <a:rPr lang="en-US" dirty="0"/>
              <a:t> </a:t>
            </a:r>
            <a:r>
              <a:rPr lang="en-US" b="1" dirty="0" err="1"/>
              <a:t>minimizarea</a:t>
            </a:r>
            <a:r>
              <a:rPr lang="en-US" b="1" dirty="0"/>
              <a:t> </a:t>
            </a:r>
            <a:r>
              <a:rPr lang="en-US" b="1" dirty="0" err="1"/>
              <a:t>regretului</a:t>
            </a:r>
            <a:endParaRPr lang="en-US" b="1" dirty="0"/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3D707B0-99CB-89CE-5EC7-682A366D7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065" y="3710943"/>
            <a:ext cx="5325770" cy="10920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FC1FA8-5E5A-13BC-A45B-B99F42EBDBF8}"/>
              </a:ext>
            </a:extLst>
          </p:cNvPr>
          <p:cNvSpPr txBox="1"/>
          <p:nvPr/>
        </p:nvSpPr>
        <p:spPr>
          <a:xfrm>
            <a:off x="7240562" y="3433006"/>
            <a:ext cx="13057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Q*(a) </a:t>
            </a:r>
            <a:r>
              <a:rPr lang="en-US" dirty="0"/>
              <a:t>– </a:t>
            </a:r>
            <a:r>
              <a:rPr lang="en-US" dirty="0" err="1"/>
              <a:t>recompensa</a:t>
            </a:r>
            <a:br>
              <a:rPr lang="en-US" dirty="0"/>
            </a:br>
            <a:r>
              <a:rPr lang="en-US" dirty="0" err="1"/>
              <a:t>medie</a:t>
            </a:r>
            <a:r>
              <a:rPr lang="en-US" dirty="0"/>
              <a:t> </a:t>
            </a:r>
            <a:r>
              <a:rPr lang="en-US" dirty="0" err="1"/>
              <a:t>pentru</a:t>
            </a:r>
            <a:br>
              <a:rPr lang="en-US" dirty="0"/>
            </a:br>
            <a:r>
              <a:rPr lang="en-US" dirty="0" err="1"/>
              <a:t>acțiunea</a:t>
            </a:r>
            <a:r>
              <a:rPr lang="en-US" dirty="0"/>
              <a:t> a</a:t>
            </a:r>
          </a:p>
        </p:txBody>
      </p:sp>
    </p:spTree>
    <p:extLst>
      <p:ext uri="{BB962C8B-B14F-4D97-AF65-F5344CB8AC3E}">
        <p14:creationId xmlns:p14="http://schemas.microsoft.com/office/powerpoint/2010/main" val="3860467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0227F2B6-4BFC-DF29-807A-8EFDC317C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2E225372-80E8-9078-BAA6-2A1E9BD3B1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/>
              <a:t>Algoritmul #2 – Abstract </a:t>
            </a:r>
            <a:r>
              <a:rPr lang="ro-RO" sz="2400" dirty="0" err="1"/>
              <a:t>Multi-Armed</a:t>
            </a:r>
            <a:r>
              <a:rPr lang="ro-RO" sz="2400" dirty="0"/>
              <a:t> Bandit</a:t>
            </a:r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FAC4FA21-ECE9-827D-FD67-CF7C053F4628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69CBCDE-27CD-EB4B-46D7-B0B131A44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196" y="1083340"/>
            <a:ext cx="5814068" cy="396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37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99;p55">
            <a:extLst>
              <a:ext uri="{FF2B5EF4-FFF2-40B4-BE49-F238E27FC236}">
                <a16:creationId xmlns:a16="http://schemas.microsoft.com/office/drawing/2014/main" id="{D8FF1FC3-63DA-C7DB-905F-9893BAFB7517}"/>
              </a:ext>
            </a:extLst>
          </p:cNvPr>
          <p:cNvSpPr txBox="1">
            <a:spLocks/>
          </p:cNvSpPr>
          <p:nvPr/>
        </p:nvSpPr>
        <p:spPr>
          <a:xfrm>
            <a:off x="539550" y="146285"/>
            <a:ext cx="8064900" cy="7407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5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-GB" sz="3200" dirty="0">
                <a:solidFill>
                  <a:srgbClr val="C00000"/>
                </a:solidFill>
              </a:rPr>
              <a:t>ϵ-Greedy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8A48B58-8EC7-34A7-D741-E9D464A614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9582" y="885838"/>
            <a:ext cx="7081284" cy="3547939"/>
          </a:xfrm>
        </p:spPr>
        <p:txBody>
          <a:bodyPr anchor="t"/>
          <a:lstStyle/>
          <a:p>
            <a:pPr marL="139700" indent="0"/>
            <a:r>
              <a:rPr lang="en-GB" sz="1800" b="1" dirty="0">
                <a:solidFill>
                  <a:srgbClr val="C00000"/>
                </a:solidFill>
              </a:rPr>
              <a:t>ϵ-Greedy -&gt; Explore vs. Exploit !!!</a:t>
            </a:r>
            <a:endParaRPr lang="en-RO" sz="1800" b="1" dirty="0">
              <a:solidFill>
                <a:schemeClr val="bg1">
                  <a:lumMod val="10000"/>
                </a:schemeClr>
              </a:solidFill>
            </a:endParaRPr>
          </a:p>
          <a:p>
            <a:pPr marL="425450" indent="-285750" algn="l">
              <a:buFont typeface="Arial" panose="020B0604020202020204" pitchFamily="34" charset="0"/>
              <a:buChar char="•"/>
            </a:pPr>
            <a:endParaRPr lang="en-RO" sz="1800" dirty="0">
              <a:solidFill>
                <a:schemeClr val="bg1">
                  <a:lumMod val="10000"/>
                </a:schemeClr>
              </a:solidFill>
            </a:endParaRP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RO" sz="1800" dirty="0">
                <a:solidFill>
                  <a:schemeClr val="bg1">
                    <a:lumMod val="10000"/>
                  </a:schemeClr>
                </a:solidFill>
              </a:rPr>
              <a:t>Toate cele </a:t>
            </a:r>
            <a:r>
              <a:rPr lang="en-RO" sz="1800" b="1" dirty="0">
                <a:solidFill>
                  <a:schemeClr val="bg1">
                    <a:lumMod val="10000"/>
                  </a:schemeClr>
                </a:solidFill>
              </a:rPr>
              <a:t>m</a:t>
            </a:r>
            <a:r>
              <a:rPr lang="en-RO" sz="1800" dirty="0">
                <a:solidFill>
                  <a:schemeClr val="bg1">
                    <a:lumMod val="10000"/>
                  </a:schemeClr>
                </a:solidFill>
              </a:rPr>
              <a:t> acțiuni sunt încercate cu probabilitate diferită de zero.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RO" sz="1800" dirty="0">
                <a:solidFill>
                  <a:schemeClr val="bg1">
                    <a:lumMod val="10000"/>
                  </a:schemeClr>
                </a:solidFill>
              </a:rPr>
              <a:t>Alegem cu probabilitate </a:t>
            </a:r>
            <a:r>
              <a:rPr lang="en-RO" sz="1800" b="1" dirty="0">
                <a:solidFill>
                  <a:srgbClr val="C00000"/>
                </a:solidFill>
              </a:rPr>
              <a:t>1 -</a:t>
            </a:r>
            <a:r>
              <a:rPr lang="en-GB" sz="1800" b="1" dirty="0">
                <a:solidFill>
                  <a:srgbClr val="C00000"/>
                </a:solidFill>
              </a:rPr>
              <a:t> ϵ </a:t>
            </a:r>
            <a:r>
              <a:rPr lang="en-GB" sz="1800" dirty="0" err="1">
                <a:solidFill>
                  <a:schemeClr val="bg1">
                    <a:lumMod val="10000"/>
                  </a:schemeClr>
                </a:solidFill>
              </a:rPr>
              <a:t>acțiunea</a:t>
            </a:r>
            <a:r>
              <a:rPr lang="en-GB" sz="1800" dirty="0">
                <a:solidFill>
                  <a:schemeClr val="bg1">
                    <a:lumMod val="10000"/>
                  </a:schemeClr>
                </a:solidFill>
              </a:rPr>
              <a:t> greedy. 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bg1">
                    <a:lumMod val="10000"/>
                  </a:schemeClr>
                </a:solidFill>
              </a:rPr>
              <a:t>Cu </a:t>
            </a:r>
            <a:r>
              <a:rPr lang="en-GB" sz="1800" dirty="0" err="1">
                <a:solidFill>
                  <a:schemeClr val="bg1">
                    <a:lumMod val="10000"/>
                  </a:schemeClr>
                </a:solidFill>
              </a:rPr>
              <a:t>probabilitate</a:t>
            </a:r>
            <a:r>
              <a:rPr lang="en-GB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GB" sz="1800" b="1" dirty="0">
                <a:solidFill>
                  <a:srgbClr val="C00000"/>
                </a:solidFill>
              </a:rPr>
              <a:t>ϵ </a:t>
            </a:r>
            <a:r>
              <a:rPr lang="en-GB" sz="1800" dirty="0" err="1">
                <a:solidFill>
                  <a:schemeClr val="bg1">
                    <a:lumMod val="10000"/>
                  </a:schemeClr>
                </a:solidFill>
              </a:rPr>
              <a:t>alegem</a:t>
            </a:r>
            <a:r>
              <a:rPr lang="en-GB" sz="1800" dirty="0">
                <a:solidFill>
                  <a:schemeClr val="bg1">
                    <a:lumMod val="10000"/>
                  </a:schemeClr>
                </a:solidFill>
              </a:rPr>
              <a:t> o </a:t>
            </a:r>
            <a:r>
              <a:rPr lang="en-GB" sz="1800" dirty="0" err="1">
                <a:solidFill>
                  <a:schemeClr val="bg1">
                    <a:lumMod val="10000"/>
                  </a:schemeClr>
                </a:solidFill>
              </a:rPr>
              <a:t>acțiune</a:t>
            </a:r>
            <a:r>
              <a:rPr lang="en-GB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GB" sz="1800" dirty="0" err="1">
                <a:solidFill>
                  <a:schemeClr val="bg1">
                    <a:lumMod val="10000"/>
                  </a:schemeClr>
                </a:solidFill>
              </a:rPr>
              <a:t>aleatorie</a:t>
            </a:r>
            <a:r>
              <a:rPr lang="en-GB" sz="1800" dirty="0">
                <a:solidFill>
                  <a:schemeClr val="bg1">
                    <a:lumMod val="10000"/>
                  </a:schemeClr>
                </a:solidFill>
              </a:rPr>
              <a:t>.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Există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o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valoare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câștigătoare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? 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Nu! 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Dar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în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practică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0.05 – 0.2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funcționează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foarte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bine.</a:t>
            </a:r>
            <a:endParaRPr lang="en-RO" sz="1800" dirty="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E35172-1F13-3318-270B-848CC40D8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724" y="3266263"/>
            <a:ext cx="5207000" cy="99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86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4B933-A066-E733-3F26-9EB4A5365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99;p55">
            <a:extLst>
              <a:ext uri="{FF2B5EF4-FFF2-40B4-BE49-F238E27FC236}">
                <a16:creationId xmlns:a16="http://schemas.microsoft.com/office/drawing/2014/main" id="{6A329BB6-8E82-A5FC-D9C8-A5DA87D7B181}"/>
              </a:ext>
            </a:extLst>
          </p:cNvPr>
          <p:cNvSpPr txBox="1">
            <a:spLocks/>
          </p:cNvSpPr>
          <p:nvPr/>
        </p:nvSpPr>
        <p:spPr>
          <a:xfrm>
            <a:off x="539550" y="146285"/>
            <a:ext cx="8064900" cy="7407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5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-GB" sz="3200" dirty="0">
                <a:solidFill>
                  <a:srgbClr val="C00000"/>
                </a:solidFill>
              </a:rPr>
              <a:t>ϵ-Greedy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08C77BEF-117E-B259-C640-74C7F72E3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171" y="848472"/>
            <a:ext cx="5531657" cy="4148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83212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B2BCE-6203-607B-8C30-1C71DC131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99;p55">
            <a:extLst>
              <a:ext uri="{FF2B5EF4-FFF2-40B4-BE49-F238E27FC236}">
                <a16:creationId xmlns:a16="http://schemas.microsoft.com/office/drawing/2014/main" id="{7D89C971-59C5-CF04-735C-8FBDB2FBC15C}"/>
              </a:ext>
            </a:extLst>
          </p:cNvPr>
          <p:cNvSpPr txBox="1">
            <a:spLocks/>
          </p:cNvSpPr>
          <p:nvPr/>
        </p:nvSpPr>
        <p:spPr>
          <a:xfrm>
            <a:off x="539550" y="146285"/>
            <a:ext cx="8064900" cy="7407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5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-GB" sz="3200" dirty="0">
                <a:solidFill>
                  <a:srgbClr val="C00000"/>
                </a:solidFill>
              </a:rPr>
              <a:t>ϵ-Greedy - Decay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36BF6EE-EB87-A1D5-CA26-E97ECB1B57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9582" y="885838"/>
            <a:ext cx="7081284" cy="3547939"/>
          </a:xfrm>
        </p:spPr>
        <p:txBody>
          <a:bodyPr anchor="t"/>
          <a:lstStyle/>
          <a:p>
            <a:pPr marL="139700" indent="0"/>
            <a:r>
              <a:rPr lang="en-GB" sz="1800" b="1" dirty="0">
                <a:solidFill>
                  <a:srgbClr val="C00000"/>
                </a:solidFill>
              </a:rPr>
              <a:t>ϵ-Greedy -&gt; Explore vs. Exploit !!!</a:t>
            </a:r>
            <a:endParaRPr lang="en-RO" sz="1800" b="1" dirty="0">
              <a:solidFill>
                <a:schemeClr val="bg1">
                  <a:lumMod val="10000"/>
                </a:schemeClr>
              </a:solidFill>
            </a:endParaRPr>
          </a:p>
          <a:p>
            <a:pPr marL="425450" indent="-285750" algn="l">
              <a:buFont typeface="Arial" panose="020B0604020202020204" pitchFamily="34" charset="0"/>
              <a:buChar char="•"/>
            </a:pPr>
            <a:endParaRPr lang="en-RO" sz="1800" dirty="0">
              <a:solidFill>
                <a:schemeClr val="bg1">
                  <a:lumMod val="10000"/>
                </a:schemeClr>
              </a:solidFill>
            </a:endParaRP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Explorarea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este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preferată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atunci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când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agentul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nu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știe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prea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multe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despre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mediu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.</a:t>
            </a:r>
            <a:endParaRPr lang="en-RO" sz="1800" dirty="0">
              <a:solidFill>
                <a:schemeClr val="bg1">
                  <a:lumMod val="10000"/>
                </a:schemeClr>
              </a:solidFill>
            </a:endParaRP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Alegem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exploatarea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spre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finalul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sesiunilor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de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antrenare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.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Putem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introduce un 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factor de decay / </a:t>
            </a:r>
            <a:r>
              <a:rPr lang="en-US" sz="1800" b="1" dirty="0" err="1">
                <a:solidFill>
                  <a:schemeClr val="bg1">
                    <a:lumMod val="10000"/>
                  </a:schemeClr>
                </a:solidFill>
              </a:rPr>
              <a:t>degradare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 ⍺ (</a:t>
            </a:r>
            <a:r>
              <a:rPr lang="en-US" sz="1800" b="1" dirty="0" err="1">
                <a:solidFill>
                  <a:schemeClr val="bg1">
                    <a:lumMod val="10000"/>
                  </a:schemeClr>
                </a:solidFill>
              </a:rPr>
              <a:t>între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 0 </a:t>
            </a:r>
            <a:r>
              <a:rPr lang="en-US" sz="1800" b="1" dirty="0" err="1">
                <a:solidFill>
                  <a:schemeClr val="bg1">
                    <a:lumMod val="10000"/>
                  </a:schemeClr>
                </a:solidFill>
              </a:rPr>
              <a:t>și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 1), pe care </a:t>
            </a:r>
            <a:r>
              <a:rPr lang="en-US" sz="1800" b="1" dirty="0" err="1">
                <a:solidFill>
                  <a:schemeClr val="bg1">
                    <a:lumMod val="10000"/>
                  </a:schemeClr>
                </a:solidFill>
              </a:rPr>
              <a:t>îl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bg1">
                    <a:lumMod val="10000"/>
                  </a:schemeClr>
                </a:solidFill>
              </a:rPr>
              <a:t>înmulțim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 cu </a:t>
            </a:r>
            <a:r>
              <a:rPr lang="en-US" sz="1800" b="1" dirty="0" err="1">
                <a:solidFill>
                  <a:schemeClr val="bg1">
                    <a:lumMod val="10000"/>
                  </a:schemeClr>
                </a:solidFill>
              </a:rPr>
              <a:t>ε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bg1">
                    <a:lumMod val="10000"/>
                  </a:schemeClr>
                </a:solidFill>
              </a:rPr>
              <a:t>după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bg1">
                    <a:lumMod val="10000"/>
                  </a:schemeClr>
                </a:solidFill>
              </a:rPr>
              <a:t>fiecare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bg1">
                    <a:lumMod val="10000"/>
                  </a:schemeClr>
                </a:solidFill>
              </a:rPr>
              <a:t>episod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.</a:t>
            </a:r>
          </a:p>
          <a:p>
            <a:pPr marL="425450" indent="-285750" algn="l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Pentru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un control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mai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avansat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există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10000"/>
                  </a:schemeClr>
                </a:solidFill>
              </a:rPr>
              <a:t>și</a:t>
            </a:r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1800" b="1" dirty="0">
                <a:solidFill>
                  <a:schemeClr val="bg1">
                    <a:lumMod val="10000"/>
                  </a:schemeClr>
                </a:solidFill>
              </a:rPr>
              <a:t>Reward Based Decay.</a:t>
            </a:r>
            <a:endParaRPr lang="en-RO" sz="1800" b="1" dirty="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5" name="Picture 4" descr="A close-up of a message&#10;&#10;AI-generated content may be incorrect.">
            <a:extLst>
              <a:ext uri="{FF2B5EF4-FFF2-40B4-BE49-F238E27FC236}">
                <a16:creationId xmlns:a16="http://schemas.microsoft.com/office/drawing/2014/main" id="{6BF972ED-E70D-4C36-525B-709EEA086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901" y="3292369"/>
            <a:ext cx="6446197" cy="86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958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BCBA6-5619-2464-93EF-40B5D4316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99;p55">
            <a:extLst>
              <a:ext uri="{FF2B5EF4-FFF2-40B4-BE49-F238E27FC236}">
                <a16:creationId xmlns:a16="http://schemas.microsoft.com/office/drawing/2014/main" id="{6A9C6B63-6FC6-3360-1048-365B2054F351}"/>
              </a:ext>
            </a:extLst>
          </p:cNvPr>
          <p:cNvSpPr txBox="1">
            <a:spLocks/>
          </p:cNvSpPr>
          <p:nvPr/>
        </p:nvSpPr>
        <p:spPr>
          <a:xfrm>
            <a:off x="539550" y="146285"/>
            <a:ext cx="8064900" cy="7407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5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-GB" sz="3200" dirty="0">
                <a:solidFill>
                  <a:srgbClr val="C00000"/>
                </a:solidFill>
              </a:rPr>
              <a:t>ϵ-Greedy - Decay</a:t>
            </a:r>
          </a:p>
        </p:txBody>
      </p:sp>
      <p:pic>
        <p:nvPicPr>
          <p:cNvPr id="12290" name="Picture 2" descr="Epsilong">
            <a:extLst>
              <a:ext uri="{FF2B5EF4-FFF2-40B4-BE49-F238E27FC236}">
                <a16:creationId xmlns:a16="http://schemas.microsoft.com/office/drawing/2014/main" id="{D10954FA-B4C3-487D-044D-6D79D35A0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70" y="1058289"/>
            <a:ext cx="4808605" cy="302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A3E8FE-868D-9D79-155D-C4991E6E982F}"/>
              </a:ext>
            </a:extLst>
          </p:cNvPr>
          <p:cNvSpPr txBox="1"/>
          <p:nvPr/>
        </p:nvSpPr>
        <p:spPr>
          <a:xfrm>
            <a:off x="2216158" y="1058724"/>
            <a:ext cx="228460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Reward Based Decay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Exponential Decay</a:t>
            </a:r>
          </a:p>
          <a:p>
            <a:endParaRPr lang="en-US" dirty="0"/>
          </a:p>
        </p:txBody>
      </p:sp>
      <p:pic>
        <p:nvPicPr>
          <p:cNvPr id="12292" name="Picture 4" descr="Rewards">
            <a:extLst>
              <a:ext uri="{FF2B5EF4-FFF2-40B4-BE49-F238E27FC236}">
                <a16:creationId xmlns:a16="http://schemas.microsoft.com/office/drawing/2014/main" id="{DF7ED95D-76B7-1A9E-A891-5E402C2CE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399" y="1058289"/>
            <a:ext cx="4028932" cy="302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36573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9">
          <a:extLst>
            <a:ext uri="{FF2B5EF4-FFF2-40B4-BE49-F238E27FC236}">
              <a16:creationId xmlns:a16="http://schemas.microsoft.com/office/drawing/2014/main" id="{1244A3EE-719E-F75F-657E-D3CBFEC27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39">
            <a:extLst>
              <a:ext uri="{FF2B5EF4-FFF2-40B4-BE49-F238E27FC236}">
                <a16:creationId xmlns:a16="http://schemas.microsoft.com/office/drawing/2014/main" id="{2F1C5716-5DF0-4840-3E36-E43D93EDB519}"/>
              </a:ext>
            </a:extLst>
          </p:cNvPr>
          <p:cNvSpPr/>
          <p:nvPr/>
        </p:nvSpPr>
        <p:spPr>
          <a:xfrm>
            <a:off x="4572000" y="1456875"/>
            <a:ext cx="4032300" cy="14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1" name="Google Shape;2231;p39">
            <a:extLst>
              <a:ext uri="{FF2B5EF4-FFF2-40B4-BE49-F238E27FC236}">
                <a16:creationId xmlns:a16="http://schemas.microsoft.com/office/drawing/2014/main" id="{B27F15D3-CE77-6FC8-9D00-AD545AA0B24E}"/>
              </a:ext>
            </a:extLst>
          </p:cNvPr>
          <p:cNvSpPr/>
          <p:nvPr/>
        </p:nvSpPr>
        <p:spPr>
          <a:xfrm>
            <a:off x="2276452" y="3092324"/>
            <a:ext cx="4607700" cy="1489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2" name="Google Shape;2232;p39">
            <a:extLst>
              <a:ext uri="{FF2B5EF4-FFF2-40B4-BE49-F238E27FC236}">
                <a16:creationId xmlns:a16="http://schemas.microsoft.com/office/drawing/2014/main" id="{E758719B-D473-4549-CD92-D237BEC2A9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496" y="342543"/>
            <a:ext cx="80649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o-RO" noProof="0" dirty="0"/>
              <a:t>Model-</a:t>
            </a:r>
            <a:r>
              <a:rPr lang="ro-RO" noProof="0" dirty="0" err="1"/>
              <a:t>Based</a:t>
            </a:r>
            <a:r>
              <a:rPr lang="ro-RO" noProof="0" dirty="0"/>
              <a:t> vs. Model-</a:t>
            </a:r>
            <a:r>
              <a:rPr lang="ro-RO" noProof="0" dirty="0" err="1"/>
              <a:t>Free</a:t>
            </a:r>
            <a:endParaRPr lang="ro-RO" noProof="0" dirty="0"/>
          </a:p>
        </p:txBody>
      </p:sp>
      <p:sp>
        <p:nvSpPr>
          <p:cNvPr id="2233" name="Google Shape;2233;p39">
            <a:extLst>
              <a:ext uri="{FF2B5EF4-FFF2-40B4-BE49-F238E27FC236}">
                <a16:creationId xmlns:a16="http://schemas.microsoft.com/office/drawing/2014/main" id="{C5A0E770-5DA5-2EAA-E8A5-8B255BDCF128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4713600" y="159315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sz="1800" noProof="0" dirty="0"/>
              <a:t>Model-</a:t>
            </a:r>
            <a:r>
              <a:rPr lang="ro-RO" sz="1800" noProof="0" dirty="0" err="1"/>
              <a:t>Free</a:t>
            </a:r>
            <a:endParaRPr lang="ro-RO" sz="1800" noProof="0" dirty="0"/>
          </a:p>
        </p:txBody>
      </p:sp>
      <p:sp>
        <p:nvSpPr>
          <p:cNvPr id="2234" name="Google Shape;2234;p39">
            <a:extLst>
              <a:ext uri="{FF2B5EF4-FFF2-40B4-BE49-F238E27FC236}">
                <a16:creationId xmlns:a16="http://schemas.microsoft.com/office/drawing/2014/main" id="{50D226CD-9DB5-F0A2-1484-17C715EF8ACA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4681678" y="1819344"/>
            <a:ext cx="3889099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Acționăm fără să cunoaștem mediul.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Învățăm prin experiențe / explorare!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Ne interesează învățarea V(s) / Q(</a:t>
            </a:r>
            <a:r>
              <a:rPr lang="ro-RO" sz="1200" dirty="0" err="1"/>
              <a:t>s,a</a:t>
            </a:r>
            <a:r>
              <a:rPr lang="ro-RO" sz="1200" dirty="0"/>
              <a:t>) sau a politicii.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ro-RO" sz="1200" dirty="0"/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 lang="ro-RO" sz="1200" noProof="0" dirty="0"/>
          </a:p>
        </p:txBody>
      </p:sp>
      <p:sp>
        <p:nvSpPr>
          <p:cNvPr id="2235" name="Google Shape;2235;p39">
            <a:extLst>
              <a:ext uri="{FF2B5EF4-FFF2-40B4-BE49-F238E27FC236}">
                <a16:creationId xmlns:a16="http://schemas.microsoft.com/office/drawing/2014/main" id="{F118A1BD-90FF-5A10-9412-825E60DB89D5}"/>
              </a:ext>
            </a:extLst>
          </p:cNvPr>
          <p:cNvSpPr/>
          <p:nvPr/>
        </p:nvSpPr>
        <p:spPr>
          <a:xfrm>
            <a:off x="539500" y="1456875"/>
            <a:ext cx="4034100" cy="1482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6" name="Google Shape;2236;p39">
            <a:extLst>
              <a:ext uri="{FF2B5EF4-FFF2-40B4-BE49-F238E27FC236}">
                <a16:creationId xmlns:a16="http://schemas.microsoft.com/office/drawing/2014/main" id="{A5495761-B002-9CC7-045B-87EC679714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14" y="159315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sz="1800" dirty="0"/>
              <a:t>Model-</a:t>
            </a:r>
            <a:r>
              <a:rPr lang="ro-RO" sz="1800" dirty="0" err="1"/>
              <a:t>Based</a:t>
            </a:r>
            <a:endParaRPr lang="ro-RO" sz="18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37" name="Google Shape;2237;p39">
                <a:extLst>
                  <a:ext uri="{FF2B5EF4-FFF2-40B4-BE49-F238E27FC236}">
                    <a16:creationId xmlns:a16="http://schemas.microsoft.com/office/drawing/2014/main" id="{431F2F37-E971-566B-39BA-92C02631D9E6}"/>
                  </a:ext>
                </a:extLst>
              </p:cNvPr>
              <p:cNvSpPr txBox="1">
                <a:spLocks noGrp="1"/>
              </p:cNvSpPr>
              <p:nvPr>
                <p:ph type="subTitle" idx="2"/>
              </p:nvPr>
            </p:nvSpPr>
            <p:spPr>
              <a:xfrm>
                <a:off x="713214" y="1819344"/>
                <a:ext cx="3889100" cy="998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85750" lvl="0" indent="-285750" algn="l" rtl="0"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ro-RO" sz="1200" dirty="0"/>
                  <a:t>Cunoaștem complet modelul lumii / mediul.</a:t>
                </a:r>
              </a:p>
              <a:p>
                <a:pPr marL="285750" lvl="0" indent="-285750" algn="l" rtl="0"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) ș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o-RO" sz="1200" dirty="0"/>
              </a:p>
              <a:p>
                <a:pPr marL="285750" lvl="0" indent="-285750" algn="l" rtl="0"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ro-RO" sz="1200" dirty="0"/>
                  <a:t>Putem aplica mereu această idee? </a:t>
                </a:r>
                <a:r>
                  <a:rPr lang="ro-RO" sz="1200" b="1" dirty="0"/>
                  <a:t>NU!</a:t>
                </a:r>
              </a:p>
              <a:p>
                <a:pPr marL="285750" lvl="0" indent="-285750" algn="l" rtl="0"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ro-RO" sz="1200" noProof="0" dirty="0"/>
              </a:p>
            </p:txBody>
          </p:sp>
        </mc:Choice>
        <mc:Fallback xmlns="">
          <p:sp>
            <p:nvSpPr>
              <p:cNvPr id="2237" name="Google Shape;2237;p39">
                <a:extLst>
                  <a:ext uri="{FF2B5EF4-FFF2-40B4-BE49-F238E27FC236}">
                    <a16:creationId xmlns:a16="http://schemas.microsoft.com/office/drawing/2014/main" id="{431F2F37-E971-566B-39BA-92C02631D9E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2"/>
              </p:nvPr>
            </p:nvSpPr>
            <p:spPr>
              <a:xfrm>
                <a:off x="713214" y="1819344"/>
                <a:ext cx="3889100" cy="998100"/>
              </a:xfrm>
              <a:prstGeom prst="rect">
                <a:avLst/>
              </a:prstGeom>
              <a:blipFill>
                <a:blip r:embed="rId3"/>
                <a:stretch>
                  <a:fillRect l="-326" b="-3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38" name="Google Shape;2238;p39">
            <a:extLst>
              <a:ext uri="{FF2B5EF4-FFF2-40B4-BE49-F238E27FC236}">
                <a16:creationId xmlns:a16="http://schemas.microsoft.com/office/drawing/2014/main" id="{76F71339-FDC1-006F-B564-7E2546084BF1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697396" y="323680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ro-RO" sz="1800" dirty="0"/>
              <a:t>Cine este Q???</a:t>
            </a:r>
          </a:p>
        </p:txBody>
      </p:sp>
      <p:sp>
        <p:nvSpPr>
          <p:cNvPr id="2239" name="Google Shape;2239;p39">
            <a:extLst>
              <a:ext uri="{FF2B5EF4-FFF2-40B4-BE49-F238E27FC236}">
                <a16:creationId xmlns:a16="http://schemas.microsoft.com/office/drawing/2014/main" id="{167DF5CD-7D0B-C84C-63C6-B92DEA120F99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2697450" y="3450108"/>
            <a:ext cx="4055078" cy="11317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dirty="0"/>
              <a:t>Funcție similară cu V(s), </a:t>
            </a:r>
            <a:r>
              <a:rPr lang="ro-RO" sz="1200" b="1" dirty="0"/>
              <a:t>Q : S x A -&gt; R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sz="1200" b="1" dirty="0"/>
              <a:t>Calculează calitatea (quality) combinațiilor stare-acțiune.</a:t>
            </a:r>
          </a:p>
        </p:txBody>
      </p:sp>
      <p:grpSp>
        <p:nvGrpSpPr>
          <p:cNvPr id="2240" name="Google Shape;2240;p39">
            <a:extLst>
              <a:ext uri="{FF2B5EF4-FFF2-40B4-BE49-F238E27FC236}">
                <a16:creationId xmlns:a16="http://schemas.microsoft.com/office/drawing/2014/main" id="{B918E53D-5914-7E66-1973-41284275D87F}"/>
              </a:ext>
            </a:extLst>
          </p:cNvPr>
          <p:cNvGrpSpPr/>
          <p:nvPr/>
        </p:nvGrpSpPr>
        <p:grpSpPr>
          <a:xfrm>
            <a:off x="7172401" y="3313374"/>
            <a:ext cx="861193" cy="1115770"/>
            <a:chOff x="7465916" y="720492"/>
            <a:chExt cx="1139144" cy="1477450"/>
          </a:xfrm>
        </p:grpSpPr>
        <p:sp>
          <p:nvSpPr>
            <p:cNvPr id="2241" name="Google Shape;2241;p39">
              <a:extLst>
                <a:ext uri="{FF2B5EF4-FFF2-40B4-BE49-F238E27FC236}">
                  <a16:creationId xmlns:a16="http://schemas.microsoft.com/office/drawing/2014/main" id="{668DE253-B1FD-29FA-AFED-0BE1890A53C3}"/>
                </a:ext>
              </a:extLst>
            </p:cNvPr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2" name="Google Shape;2242;p39">
              <a:extLst>
                <a:ext uri="{FF2B5EF4-FFF2-40B4-BE49-F238E27FC236}">
                  <a16:creationId xmlns:a16="http://schemas.microsoft.com/office/drawing/2014/main" id="{62D6B32E-B88F-676E-6CF3-22248BB0A447}"/>
                </a:ext>
              </a:extLst>
            </p:cNvPr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3" name="Google Shape;2243;p39">
              <a:extLst>
                <a:ext uri="{FF2B5EF4-FFF2-40B4-BE49-F238E27FC236}">
                  <a16:creationId xmlns:a16="http://schemas.microsoft.com/office/drawing/2014/main" id="{3B711DD8-1F5F-FB48-586C-9382D683EE8E}"/>
                </a:ext>
              </a:extLst>
            </p:cNvPr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4" name="Google Shape;2244;p39">
              <a:extLst>
                <a:ext uri="{FF2B5EF4-FFF2-40B4-BE49-F238E27FC236}">
                  <a16:creationId xmlns:a16="http://schemas.microsoft.com/office/drawing/2014/main" id="{5F8A1EAA-480C-D465-E3D1-488DDD4BA2A9}"/>
                </a:ext>
              </a:extLst>
            </p:cNvPr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5" name="Google Shape;2245;p39">
              <a:extLst>
                <a:ext uri="{FF2B5EF4-FFF2-40B4-BE49-F238E27FC236}">
                  <a16:creationId xmlns:a16="http://schemas.microsoft.com/office/drawing/2014/main" id="{AE2EB3D2-46C1-73EB-F490-39F2461FE509}"/>
                </a:ext>
              </a:extLst>
            </p:cNvPr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6" name="Google Shape;2246;p39">
              <a:extLst>
                <a:ext uri="{FF2B5EF4-FFF2-40B4-BE49-F238E27FC236}">
                  <a16:creationId xmlns:a16="http://schemas.microsoft.com/office/drawing/2014/main" id="{F4F22163-A444-94C0-787B-AE5C86ABF519}"/>
                </a:ext>
              </a:extLst>
            </p:cNvPr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2247" name="Google Shape;2247;p39">
            <a:extLst>
              <a:ext uri="{FF2B5EF4-FFF2-40B4-BE49-F238E27FC236}">
                <a16:creationId xmlns:a16="http://schemas.microsoft.com/office/drawing/2014/main" id="{EC014183-CBDD-B340-BC02-D18E7FAAD9CC}"/>
              </a:ext>
            </a:extLst>
          </p:cNvPr>
          <p:cNvGrpSpPr/>
          <p:nvPr/>
        </p:nvGrpSpPr>
        <p:grpSpPr>
          <a:xfrm flipH="1">
            <a:off x="1109227" y="3313358"/>
            <a:ext cx="861193" cy="1115918"/>
            <a:chOff x="7465916" y="720492"/>
            <a:chExt cx="1139144" cy="1477450"/>
          </a:xfrm>
        </p:grpSpPr>
        <p:sp>
          <p:nvSpPr>
            <p:cNvPr id="2248" name="Google Shape;2248;p39">
              <a:extLst>
                <a:ext uri="{FF2B5EF4-FFF2-40B4-BE49-F238E27FC236}">
                  <a16:creationId xmlns:a16="http://schemas.microsoft.com/office/drawing/2014/main" id="{AE701773-249B-6B71-2802-AEB6521938F7}"/>
                </a:ext>
              </a:extLst>
            </p:cNvPr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49" name="Google Shape;2249;p39">
              <a:extLst>
                <a:ext uri="{FF2B5EF4-FFF2-40B4-BE49-F238E27FC236}">
                  <a16:creationId xmlns:a16="http://schemas.microsoft.com/office/drawing/2014/main" id="{4619397A-C360-2F14-2F37-927C3A40EECF}"/>
                </a:ext>
              </a:extLst>
            </p:cNvPr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0" name="Google Shape;2250;p39">
              <a:extLst>
                <a:ext uri="{FF2B5EF4-FFF2-40B4-BE49-F238E27FC236}">
                  <a16:creationId xmlns:a16="http://schemas.microsoft.com/office/drawing/2014/main" id="{191791E7-E900-9850-36C6-8F685594C2C7}"/>
                </a:ext>
              </a:extLst>
            </p:cNvPr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1" name="Google Shape;2251;p39">
              <a:extLst>
                <a:ext uri="{FF2B5EF4-FFF2-40B4-BE49-F238E27FC236}">
                  <a16:creationId xmlns:a16="http://schemas.microsoft.com/office/drawing/2014/main" id="{A9129B83-1DE5-2EF2-30E5-B4A11F8FD2FF}"/>
                </a:ext>
              </a:extLst>
            </p:cNvPr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2" name="Google Shape;2252;p39">
              <a:extLst>
                <a:ext uri="{FF2B5EF4-FFF2-40B4-BE49-F238E27FC236}">
                  <a16:creationId xmlns:a16="http://schemas.microsoft.com/office/drawing/2014/main" id="{C86C0344-FC0C-B722-BB93-486E1261E445}"/>
                </a:ext>
              </a:extLst>
            </p:cNvPr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253" name="Google Shape;2253;p39">
              <a:extLst>
                <a:ext uri="{FF2B5EF4-FFF2-40B4-BE49-F238E27FC236}">
                  <a16:creationId xmlns:a16="http://schemas.microsoft.com/office/drawing/2014/main" id="{89581712-D2A8-3F7E-60C7-F4BE6EF85E9A}"/>
                </a:ext>
              </a:extLst>
            </p:cNvPr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254" name="Google Shape;2254;p39">
            <a:extLst>
              <a:ext uri="{FF2B5EF4-FFF2-40B4-BE49-F238E27FC236}">
                <a16:creationId xmlns:a16="http://schemas.microsoft.com/office/drawing/2014/main" id="{26E640B0-5D22-5113-098B-43497C28AB58}"/>
              </a:ext>
            </a:extLst>
          </p:cNvPr>
          <p:cNvSpPr/>
          <p:nvPr/>
        </p:nvSpPr>
        <p:spPr>
          <a:xfrm>
            <a:off x="1567166" y="972253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55" name="Google Shape;2255;p39">
            <a:extLst>
              <a:ext uri="{FF2B5EF4-FFF2-40B4-BE49-F238E27FC236}">
                <a16:creationId xmlns:a16="http://schemas.microsoft.com/office/drawing/2014/main" id="{3CFC7A7E-6578-8B39-AFE7-60C3DD9745F1}"/>
              </a:ext>
            </a:extLst>
          </p:cNvPr>
          <p:cNvSpPr/>
          <p:nvPr/>
        </p:nvSpPr>
        <p:spPr>
          <a:xfrm>
            <a:off x="8430779" y="1280215"/>
            <a:ext cx="338400" cy="3312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56" name="Google Shape;2256;p39">
            <a:extLst>
              <a:ext uri="{FF2B5EF4-FFF2-40B4-BE49-F238E27FC236}">
                <a16:creationId xmlns:a16="http://schemas.microsoft.com/office/drawing/2014/main" id="{F64C7C40-A6A1-7E19-D320-45311E3A69E8}"/>
              </a:ext>
            </a:extLst>
          </p:cNvPr>
          <p:cNvSpPr/>
          <p:nvPr/>
        </p:nvSpPr>
        <p:spPr>
          <a:xfrm>
            <a:off x="1024973" y="3211886"/>
            <a:ext cx="195000" cy="1908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" name="AutoShape 2" descr="{\displaystyle Q:{\mathcal {S}}\times {\mathcal {A}}\to \mathbb {R} }">
            <a:extLst>
              <a:ext uri="{FF2B5EF4-FFF2-40B4-BE49-F238E27FC236}">
                <a16:creationId xmlns:a16="http://schemas.microsoft.com/office/drawing/2014/main" id="{07BEB9AB-DD02-5EE1-4DEF-469E46FCF9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5372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4510C-82D9-3F7B-8D9B-BD7876DFB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99;p55">
            <a:extLst>
              <a:ext uri="{FF2B5EF4-FFF2-40B4-BE49-F238E27FC236}">
                <a16:creationId xmlns:a16="http://schemas.microsoft.com/office/drawing/2014/main" id="{58955859-23F8-60FE-F10F-2E06AD6DF785}"/>
              </a:ext>
            </a:extLst>
          </p:cNvPr>
          <p:cNvSpPr txBox="1">
            <a:spLocks/>
          </p:cNvSpPr>
          <p:nvPr/>
        </p:nvSpPr>
        <p:spPr>
          <a:xfrm>
            <a:off x="539550" y="146285"/>
            <a:ext cx="8064900" cy="7407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5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-GB" sz="3200" dirty="0">
                <a:solidFill>
                  <a:srgbClr val="C00000"/>
                </a:solidFill>
              </a:rPr>
              <a:t>Q-Tables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2ECD651E-AE95-243D-CAA1-29CF8546B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52" y="1217572"/>
            <a:ext cx="3585613" cy="2708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>
            <a:extLst>
              <a:ext uri="{FF2B5EF4-FFF2-40B4-BE49-F238E27FC236}">
                <a16:creationId xmlns:a16="http://schemas.microsoft.com/office/drawing/2014/main" id="{9D22EA79-B7E0-7B25-908F-5B6ACF18E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796" y="1217572"/>
            <a:ext cx="3585613" cy="2708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oogle Shape;2479;p45">
            <a:extLst>
              <a:ext uri="{FF2B5EF4-FFF2-40B4-BE49-F238E27FC236}">
                <a16:creationId xmlns:a16="http://schemas.microsoft.com/office/drawing/2014/main" id="{B539F3AC-6C48-620E-515F-868B49BBBA39}"/>
              </a:ext>
            </a:extLst>
          </p:cNvPr>
          <p:cNvGrpSpPr/>
          <p:nvPr/>
        </p:nvGrpSpPr>
        <p:grpSpPr>
          <a:xfrm rot="21600000">
            <a:off x="4164995" y="2393822"/>
            <a:ext cx="814009" cy="355855"/>
            <a:chOff x="7812047" y="4100311"/>
            <a:chExt cx="715589" cy="608196"/>
          </a:xfrm>
        </p:grpSpPr>
        <p:grpSp>
          <p:nvGrpSpPr>
            <p:cNvPr id="4" name="Google Shape;2480;p45">
              <a:extLst>
                <a:ext uri="{FF2B5EF4-FFF2-40B4-BE49-F238E27FC236}">
                  <a16:creationId xmlns:a16="http://schemas.microsoft.com/office/drawing/2014/main" id="{D474EDC8-0A11-F02D-0517-D08B0BB92144}"/>
                </a:ext>
              </a:extLst>
            </p:cNvPr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7" name="Google Shape;2481;p45">
                <a:extLst>
                  <a:ext uri="{FF2B5EF4-FFF2-40B4-BE49-F238E27FC236}">
                    <a16:creationId xmlns:a16="http://schemas.microsoft.com/office/drawing/2014/main" id="{A67E167C-C76A-A883-2BC0-F2BF2EBA1363}"/>
                  </a:ext>
                </a:extLst>
              </p:cNvPr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2482;p45">
                <a:extLst>
                  <a:ext uri="{FF2B5EF4-FFF2-40B4-BE49-F238E27FC236}">
                    <a16:creationId xmlns:a16="http://schemas.microsoft.com/office/drawing/2014/main" id="{D744A1D8-979F-A1FC-51D4-D673318792B9}"/>
                  </a:ext>
                </a:extLst>
              </p:cNvPr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" name="Google Shape;2483;p45">
              <a:extLst>
                <a:ext uri="{FF2B5EF4-FFF2-40B4-BE49-F238E27FC236}">
                  <a16:creationId xmlns:a16="http://schemas.microsoft.com/office/drawing/2014/main" id="{A8F3C696-FAE5-5A68-74F6-3EAA1AB22516}"/>
                </a:ext>
              </a:extLst>
            </p:cNvPr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83261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5ECA077E-ECDD-FD2E-0ED6-73411F832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708257C1-1270-A5BB-397A-2537BA7D36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/>
              <a:t>Algoritmul #3 – Monte-</a:t>
            </a:r>
            <a:r>
              <a:rPr lang="ro-RO" sz="2400" dirty="0" err="1"/>
              <a:t>Carlo</a:t>
            </a:r>
            <a:endParaRPr lang="ro-RO" sz="2400" dirty="0"/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54537B26-A939-5143-FF2A-AB4A07B1B880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screenshot of a math program&#10;&#10;AI-generated content may be incorrect.">
            <a:extLst>
              <a:ext uri="{FF2B5EF4-FFF2-40B4-BE49-F238E27FC236}">
                <a16:creationId xmlns:a16="http://schemas.microsoft.com/office/drawing/2014/main" id="{5DA4CF96-593E-7367-6889-1807D8A71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482" y="1027948"/>
            <a:ext cx="5329108" cy="399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3261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55"/>
          <p:cNvSpPr/>
          <p:nvPr/>
        </p:nvSpPr>
        <p:spPr>
          <a:xfrm>
            <a:off x="539500" y="1458125"/>
            <a:ext cx="3456600" cy="3353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9" name="Google Shape;2799;p55"/>
          <p:cNvSpPr txBox="1">
            <a:spLocks noGrp="1"/>
          </p:cNvSpPr>
          <p:nvPr>
            <p:ph type="title"/>
          </p:nvPr>
        </p:nvSpPr>
        <p:spPr>
          <a:xfrm>
            <a:off x="539550" y="356855"/>
            <a:ext cx="80649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o-RO" dirty="0"/>
              <a:t>Algoritmul #3 – Monte-</a:t>
            </a:r>
            <a:r>
              <a:rPr lang="ro-RO" dirty="0" err="1"/>
              <a:t>Carlo</a:t>
            </a:r>
            <a:endParaRPr dirty="0"/>
          </a:p>
        </p:txBody>
      </p:sp>
      <p:sp>
        <p:nvSpPr>
          <p:cNvPr id="2801" name="Google Shape;2801;p55"/>
          <p:cNvSpPr txBox="1"/>
          <p:nvPr/>
        </p:nvSpPr>
        <p:spPr>
          <a:xfrm>
            <a:off x="712349" y="1605691"/>
            <a:ext cx="3109299" cy="3126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RO" sz="16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Metodele MC învață </a:t>
            </a:r>
            <a:r>
              <a:rPr lang="en-RO" sz="16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din experiențe (episodice).</a:t>
            </a:r>
            <a:endParaRPr lang="en-RO" sz="16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RO" sz="16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MC este </a:t>
            </a:r>
            <a:r>
              <a:rPr lang="en-RO" sz="16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model-free: </a:t>
            </a:r>
            <a:r>
              <a:rPr lang="en-RO" sz="16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nu cunoaște tranzițiile sau recompensele procesului decizional Markov (MDP).</a:t>
            </a:r>
          </a:p>
          <a:p>
            <a:pPr marL="285750" lvl="0" indent="-28575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RO" sz="16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MC invață din </a:t>
            </a:r>
            <a:r>
              <a:rPr lang="en-RO" sz="16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episoade complete.</a:t>
            </a:r>
          </a:p>
        </p:txBody>
      </p:sp>
      <p:grpSp>
        <p:nvGrpSpPr>
          <p:cNvPr id="2813" name="Google Shape;2813;p55"/>
          <p:cNvGrpSpPr/>
          <p:nvPr/>
        </p:nvGrpSpPr>
        <p:grpSpPr>
          <a:xfrm rot="10800000" flipH="1">
            <a:off x="2983814" y="1186027"/>
            <a:ext cx="1038441" cy="387946"/>
            <a:chOff x="7740700" y="4100311"/>
            <a:chExt cx="786936" cy="604089"/>
          </a:xfrm>
        </p:grpSpPr>
        <p:grpSp>
          <p:nvGrpSpPr>
            <p:cNvPr id="2814" name="Google Shape;2814;p55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2815" name="Google Shape;2815;p55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55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17" name="Google Shape;2817;p55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8" name="Google Shape;2818;p55"/>
          <p:cNvGrpSpPr/>
          <p:nvPr/>
        </p:nvGrpSpPr>
        <p:grpSpPr>
          <a:xfrm rot="10800000" flipH="1">
            <a:off x="533701" y="798053"/>
            <a:ext cx="901976" cy="387965"/>
            <a:chOff x="6659230" y="279450"/>
            <a:chExt cx="2217246" cy="953700"/>
          </a:xfrm>
        </p:grpSpPr>
        <p:sp>
          <p:nvSpPr>
            <p:cNvPr id="2819" name="Google Shape;2819;p55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55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55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55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55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804;p55">
            <a:extLst>
              <a:ext uri="{FF2B5EF4-FFF2-40B4-BE49-F238E27FC236}">
                <a16:creationId xmlns:a16="http://schemas.microsoft.com/office/drawing/2014/main" id="{FCAE74F7-3E1F-B3CD-6FE9-71E8DDC7D288}"/>
              </a:ext>
            </a:extLst>
          </p:cNvPr>
          <p:cNvSpPr txBox="1"/>
          <p:nvPr/>
        </p:nvSpPr>
        <p:spPr>
          <a:xfrm>
            <a:off x="5119118" y="1863817"/>
            <a:ext cx="3430339" cy="356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endParaRPr lang="en-RO" sz="16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ea typeface="Spectral"/>
              <a:cs typeface="Times New Roman" panose="02020603050405020304" pitchFamily="18" charset="0"/>
              <a:sym typeface="Spectral"/>
            </a:endParaRPr>
          </a:p>
        </p:txBody>
      </p:sp>
      <p:sp>
        <p:nvSpPr>
          <p:cNvPr id="6" name="Google Shape;2796;p55">
            <a:extLst>
              <a:ext uri="{FF2B5EF4-FFF2-40B4-BE49-F238E27FC236}">
                <a16:creationId xmlns:a16="http://schemas.microsoft.com/office/drawing/2014/main" id="{58E27461-59DE-1EAE-47FD-B1D8521B0271}"/>
              </a:ext>
            </a:extLst>
          </p:cNvPr>
          <p:cNvSpPr/>
          <p:nvPr/>
        </p:nvSpPr>
        <p:spPr>
          <a:xfrm>
            <a:off x="5145273" y="1424593"/>
            <a:ext cx="3456600" cy="3353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RO" sz="16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 folosește </a:t>
            </a:r>
            <a:r>
              <a:rPr lang="en-RO" sz="1600" i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cea mai simplă idee</a:t>
            </a:r>
            <a:r>
              <a:rPr lang="en-RO" sz="16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RO" sz="16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return</a:t>
            </a:r>
            <a:endParaRPr lang="en-RO" sz="16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RO" sz="16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RO" sz="16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RO" sz="16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MC poate fi aplicat pe </a:t>
            </a:r>
            <a:r>
              <a:rPr lang="en-RO" sz="16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MDP-urile episodice</a:t>
            </a:r>
            <a:r>
              <a:rPr lang="en-RO" sz="16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 → </a:t>
            </a:r>
            <a:r>
              <a:rPr lang="en-RO" sz="1600" b="1" i="1" u="sng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pentru toate episoadele există final</a:t>
            </a:r>
          </a:p>
        </p:txBody>
      </p:sp>
    </p:spTree>
    <p:extLst>
      <p:ext uri="{BB962C8B-B14F-4D97-AF65-F5344CB8AC3E}">
        <p14:creationId xmlns:p14="http://schemas.microsoft.com/office/powerpoint/2010/main" val="18034954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5DDE5989-EC82-E2AF-6735-8A64A4FE1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84EC8D7E-3470-6CD7-9D20-38FD4B1733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/>
              <a:t>Algoritmul #3 – Monte-</a:t>
            </a:r>
            <a:r>
              <a:rPr lang="ro-RO" sz="2400" dirty="0" err="1"/>
              <a:t>Carlo</a:t>
            </a:r>
            <a:r>
              <a:rPr lang="ro-RO" sz="2400" dirty="0"/>
              <a:t> - </a:t>
            </a:r>
            <a:r>
              <a:rPr lang="ro-RO" sz="2400" dirty="0" err="1"/>
              <a:t>Sampling</a:t>
            </a:r>
            <a:endParaRPr lang="ro-RO" sz="2400" dirty="0"/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7D8300D7-0EDC-EA53-4A0F-C574E5C8B3C9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9A3B0D55-24BC-CA9B-9538-5C83F5C28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273" y="993288"/>
            <a:ext cx="6267353" cy="395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3341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37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Temporal Difference</a:t>
            </a:r>
            <a:endParaRPr sz="4400" dirty="0"/>
          </a:p>
        </p:txBody>
      </p:sp>
      <p:sp>
        <p:nvSpPr>
          <p:cNvPr id="2193" name="Google Shape;2193;p37"/>
          <p:cNvSpPr/>
          <p:nvPr/>
        </p:nvSpPr>
        <p:spPr>
          <a:xfrm>
            <a:off x="22951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 dirty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</a:t>
            </a:r>
            <a:r>
              <a:rPr lang="en-RO" dirty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3</a:t>
            </a:r>
            <a:endParaRPr b="0" i="0" dirty="0"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dk1"/>
              </a:solidFill>
              <a:latin typeface="Merriweather;900"/>
            </a:endParaRPr>
          </a:p>
        </p:txBody>
      </p:sp>
      <p:sp>
        <p:nvSpPr>
          <p:cNvPr id="2194" name="Google Shape;2194;p37"/>
          <p:cNvSpPr/>
          <p:nvPr/>
        </p:nvSpPr>
        <p:spPr>
          <a:xfrm>
            <a:off x="2227325" y="549501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 dirty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</a:t>
            </a:r>
            <a:r>
              <a:rPr lang="en-RO" dirty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3</a:t>
            </a:r>
            <a:endParaRPr b="0" i="0" dirty="0"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dk1"/>
              </a:solidFill>
              <a:latin typeface="Merriweather;900"/>
            </a:endParaRPr>
          </a:p>
        </p:txBody>
      </p:sp>
      <p:sp>
        <p:nvSpPr>
          <p:cNvPr id="2195" name="Google Shape;2195;p37"/>
          <p:cNvSpPr/>
          <p:nvPr/>
        </p:nvSpPr>
        <p:spPr>
          <a:xfrm>
            <a:off x="1594863" y="1565164"/>
            <a:ext cx="236700" cy="2307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37"/>
          <p:cNvSpPr/>
          <p:nvPr/>
        </p:nvSpPr>
        <p:spPr>
          <a:xfrm>
            <a:off x="6757396" y="37789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37"/>
          <p:cNvGrpSpPr/>
          <p:nvPr/>
        </p:nvGrpSpPr>
        <p:grpSpPr>
          <a:xfrm>
            <a:off x="6939236" y="1683082"/>
            <a:ext cx="1370960" cy="1778111"/>
            <a:chOff x="7465916" y="720492"/>
            <a:chExt cx="1139144" cy="1477450"/>
          </a:xfrm>
        </p:grpSpPr>
        <p:sp>
          <p:nvSpPr>
            <p:cNvPr id="2198" name="Google Shape;2198;p37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7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7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7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7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37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37"/>
          <p:cNvGrpSpPr/>
          <p:nvPr/>
        </p:nvGrpSpPr>
        <p:grpSpPr>
          <a:xfrm rot="5400000">
            <a:off x="-149785" y="2103340"/>
            <a:ext cx="1764685" cy="924421"/>
            <a:chOff x="7055900" y="279450"/>
            <a:chExt cx="1820576" cy="953700"/>
          </a:xfrm>
        </p:grpSpPr>
        <p:sp>
          <p:nvSpPr>
            <p:cNvPr id="2205" name="Google Shape;2205;p37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37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37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7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7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0" name="Google Shape;2210;p37"/>
          <p:cNvSpPr/>
          <p:nvPr/>
        </p:nvSpPr>
        <p:spPr>
          <a:xfrm>
            <a:off x="3843151" y="434151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03934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55"/>
          <p:cNvSpPr/>
          <p:nvPr/>
        </p:nvSpPr>
        <p:spPr>
          <a:xfrm>
            <a:off x="1156206" y="1468391"/>
            <a:ext cx="6867206" cy="3342927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9" name="Google Shape;2799;p55"/>
          <p:cNvSpPr txBox="1">
            <a:spLocks noGrp="1"/>
          </p:cNvSpPr>
          <p:nvPr>
            <p:ph type="title"/>
          </p:nvPr>
        </p:nvSpPr>
        <p:spPr>
          <a:xfrm>
            <a:off x="539496" y="339325"/>
            <a:ext cx="80649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Ce </a:t>
            </a:r>
            <a:r>
              <a:rPr lang="en" dirty="0" err="1"/>
              <a:t>este</a:t>
            </a:r>
            <a:r>
              <a:rPr lang="en" dirty="0"/>
              <a:t> Temporal Difference?</a:t>
            </a:r>
            <a:endParaRPr dirty="0"/>
          </a:p>
        </p:txBody>
      </p:sp>
      <p:sp>
        <p:nvSpPr>
          <p:cNvPr id="2801" name="Google Shape;2801;p55"/>
          <p:cNvSpPr txBox="1"/>
          <p:nvPr/>
        </p:nvSpPr>
        <p:spPr>
          <a:xfrm>
            <a:off x="1288893" y="2516736"/>
            <a:ext cx="6566106" cy="1231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200" i="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TD are la </a:t>
            </a:r>
            <a:r>
              <a:rPr lang="en-US" sz="2200" i="0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bază</a:t>
            </a:r>
            <a:r>
              <a:rPr lang="en-US" sz="2200" i="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 </a:t>
            </a:r>
            <a:r>
              <a:rPr lang="en-US" sz="2200" i="0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strategia</a:t>
            </a:r>
            <a:r>
              <a:rPr lang="en-US" sz="2200" i="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 de </a:t>
            </a:r>
            <a:r>
              <a:rPr lang="en-US" sz="2200" i="0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învățare</a:t>
            </a:r>
            <a:r>
              <a:rPr lang="en-US" sz="2200" i="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 din </a:t>
            </a:r>
            <a:r>
              <a:rPr lang="en-US" sz="2200" b="1" i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episoade</a:t>
            </a:r>
            <a:r>
              <a:rPr lang="en-US" sz="2200" b="1" i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 incomplete </a:t>
            </a:r>
            <a:r>
              <a:rPr lang="en-US" sz="2200" b="1" i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prin</a:t>
            </a:r>
            <a:r>
              <a:rPr lang="en-US" sz="2200" b="1" i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 bootstrapping.</a:t>
            </a:r>
          </a:p>
        </p:txBody>
      </p:sp>
      <p:grpSp>
        <p:nvGrpSpPr>
          <p:cNvPr id="2818" name="Google Shape;2818;p55"/>
          <p:cNvGrpSpPr/>
          <p:nvPr/>
        </p:nvGrpSpPr>
        <p:grpSpPr>
          <a:xfrm rot="10800000" flipH="1">
            <a:off x="533701" y="798053"/>
            <a:ext cx="901976" cy="387965"/>
            <a:chOff x="6659230" y="279450"/>
            <a:chExt cx="2217246" cy="953700"/>
          </a:xfrm>
        </p:grpSpPr>
        <p:sp>
          <p:nvSpPr>
            <p:cNvPr id="2819" name="Google Shape;2819;p55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55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55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55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55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445882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55"/>
          <p:cNvSpPr/>
          <p:nvPr/>
        </p:nvSpPr>
        <p:spPr>
          <a:xfrm>
            <a:off x="539500" y="1458125"/>
            <a:ext cx="3456600" cy="3353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9" name="Google Shape;2799;p55"/>
          <p:cNvSpPr txBox="1">
            <a:spLocks noGrp="1"/>
          </p:cNvSpPr>
          <p:nvPr>
            <p:ph type="title"/>
          </p:nvPr>
        </p:nvSpPr>
        <p:spPr>
          <a:xfrm>
            <a:off x="539496" y="339325"/>
            <a:ext cx="80649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MC vs. TD</a:t>
            </a:r>
            <a:endParaRPr dirty="0"/>
          </a:p>
        </p:txBody>
      </p:sp>
      <p:sp>
        <p:nvSpPr>
          <p:cNvPr id="2800" name="Google Shape;2800;p55"/>
          <p:cNvSpPr txBox="1"/>
          <p:nvPr/>
        </p:nvSpPr>
        <p:spPr>
          <a:xfrm>
            <a:off x="1065850" y="1971157"/>
            <a:ext cx="2416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01" name="Google Shape;2801;p55"/>
              <p:cNvSpPr txBox="1"/>
              <p:nvPr/>
            </p:nvSpPr>
            <p:spPr>
              <a:xfrm>
                <a:off x="712350" y="1630481"/>
                <a:ext cx="3173016" cy="30847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 dirty="0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Monte Carlo</a:t>
                </a:r>
              </a:p>
              <a:p>
                <a:pPr lvl="0" algn="ctr" rtl="0">
                  <a:spcBef>
                    <a:spcPts val="0"/>
                  </a:spcBef>
                  <a:spcAft>
                    <a:spcPts val="0"/>
                  </a:spcAft>
                </a:pPr>
                <a:endParaRPr lang="en-US" sz="1600" b="1" dirty="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  <a:p>
                <a:pPr lvl="0" algn="ctr" rtl="0">
                  <a:spcBef>
                    <a:spcPts val="0"/>
                  </a:spcBef>
                  <a:spcAft>
                    <a:spcPts val="0"/>
                  </a:spcAft>
                </a:pPr>
                <a:endParaRPr lang="en-US" sz="1600" b="1" dirty="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  <a:p>
                <a:pPr lvl="0" algn="ctr"/>
                <a:endParaRPr lang="en-RO" sz="1600" b="0" i="1" dirty="0">
                  <a:solidFill>
                    <a:schemeClr val="dk1"/>
                  </a:solidFill>
                  <a:latin typeface="Cambria Math" panose="02040503050406030204" pitchFamily="18" charset="0"/>
                  <a:ea typeface="Spectral"/>
                  <a:cs typeface="Spectral"/>
                  <a:sym typeface="Spectral"/>
                </a:endParaRPr>
              </a:p>
              <a:p>
                <a:pPr lvl="0" algn="ctr"/>
                <a14:m>
                  <m:oMathPara xmlns:m="http://schemas.openxmlformats.org/officeDocument/2006/math">
                    <m:oMath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Spectral"/>
                          <a:cs typeface="Spectral"/>
                          <a:sym typeface="Spectral"/>
                        </a:rPr>
                        <m:t>𝑽</m:t>
                      </m:r>
                      <m:d>
                        <m:dPr>
                          <m:ctrlPr>
                            <a:rPr lang="en-RO" b="1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Spectr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Spectral"/>
                                </a:rPr>
                              </m:ctrlPr>
                            </m:sSubPr>
                            <m:e>
                              <m: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Spectral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Spectral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RO" b="1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←</m:t>
                      </m:r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𝑽</m:t>
                      </m:r>
                      <m:d>
                        <m:dPr>
                          <m:ctrlPr>
                            <a:rPr lang="en-RO" b="1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</m:ctrlPr>
                            </m:sSubPr>
                            <m:e>
                              <m: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+</m:t>
                      </m:r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𝜶</m:t>
                      </m:r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(</m:t>
                      </m:r>
                      <m:sSub>
                        <m:sSubPr>
                          <m:ctrlPr>
                            <a:rPr lang="en-RO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</m:ctrlPr>
                        </m:sSubPr>
                        <m:e>
                          <m:r>
                            <a:rPr lang="en-RO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  <m:t>𝑮</m:t>
                          </m:r>
                        </m:e>
                        <m:sub>
                          <m:r>
                            <a:rPr lang="en-RO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  <m:t>𝒕</m:t>
                          </m:r>
                        </m:sub>
                      </m:sSub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−</m:t>
                      </m:r>
                      <m:r>
                        <a:rPr lang="en-RO" b="1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𝑽</m:t>
                      </m:r>
                      <m:d>
                        <m:dPr>
                          <m:ctrlPr>
                            <a:rPr lang="en-RO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RO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</m:ctrlPr>
                            </m:sSubPr>
                            <m:e>
                              <m:r>
                                <a:rPr lang="en-RO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RO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  <a:p>
                <a:pPr lvl="0" algn="ctr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    </a:t>
                </a:r>
              </a:p>
            </p:txBody>
          </p:sp>
        </mc:Choice>
        <mc:Fallback xmlns="">
          <p:sp>
            <p:nvSpPr>
              <p:cNvPr id="2801" name="Google Shape;2801;p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0" y="1630481"/>
                <a:ext cx="3173016" cy="30847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13" name="Google Shape;2813;p55"/>
          <p:cNvGrpSpPr/>
          <p:nvPr/>
        </p:nvGrpSpPr>
        <p:grpSpPr>
          <a:xfrm rot="10800000" flipH="1">
            <a:off x="2983814" y="1186027"/>
            <a:ext cx="1038441" cy="387946"/>
            <a:chOff x="7740700" y="4100311"/>
            <a:chExt cx="786936" cy="604089"/>
          </a:xfrm>
        </p:grpSpPr>
        <p:grpSp>
          <p:nvGrpSpPr>
            <p:cNvPr id="2814" name="Google Shape;2814;p55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2815" name="Google Shape;2815;p55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55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17" name="Google Shape;2817;p55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8" name="Google Shape;2818;p55"/>
          <p:cNvGrpSpPr/>
          <p:nvPr/>
        </p:nvGrpSpPr>
        <p:grpSpPr>
          <a:xfrm rot="10800000" flipH="1">
            <a:off x="538170" y="897685"/>
            <a:ext cx="901976" cy="387965"/>
            <a:chOff x="6659230" y="279450"/>
            <a:chExt cx="2217246" cy="953700"/>
          </a:xfrm>
        </p:grpSpPr>
        <p:sp>
          <p:nvSpPr>
            <p:cNvPr id="2819" name="Google Shape;2819;p55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55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55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55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55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2796;p55">
            <a:extLst>
              <a:ext uri="{FF2B5EF4-FFF2-40B4-BE49-F238E27FC236}">
                <a16:creationId xmlns:a16="http://schemas.microsoft.com/office/drawing/2014/main" id="{77CB78AC-DA4B-4AF1-99B9-EE80FFCF9F73}"/>
              </a:ext>
            </a:extLst>
          </p:cNvPr>
          <p:cNvSpPr/>
          <p:nvPr/>
        </p:nvSpPr>
        <p:spPr>
          <a:xfrm>
            <a:off x="4572000" y="1450475"/>
            <a:ext cx="4032502" cy="3353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800;p55">
            <a:extLst>
              <a:ext uri="{FF2B5EF4-FFF2-40B4-BE49-F238E27FC236}">
                <a16:creationId xmlns:a16="http://schemas.microsoft.com/office/drawing/2014/main" id="{5168E7FE-8BD0-4A05-F2F2-BB3BED1D2671}"/>
              </a:ext>
            </a:extLst>
          </p:cNvPr>
          <p:cNvSpPr txBox="1"/>
          <p:nvPr/>
        </p:nvSpPr>
        <p:spPr>
          <a:xfrm>
            <a:off x="2967000" y="2175231"/>
            <a:ext cx="2416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2801;p55">
                <a:extLst>
                  <a:ext uri="{FF2B5EF4-FFF2-40B4-BE49-F238E27FC236}">
                    <a16:creationId xmlns:a16="http://schemas.microsoft.com/office/drawing/2014/main" id="{8C5EA8DF-0766-2678-9E04-EBD8DA0FF8FE}"/>
                  </a:ext>
                </a:extLst>
              </p:cNvPr>
              <p:cNvSpPr txBox="1"/>
              <p:nvPr/>
            </p:nvSpPr>
            <p:spPr>
              <a:xfrm>
                <a:off x="4629151" y="1627039"/>
                <a:ext cx="3914774" cy="30847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 dirty="0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Temporal Difference</a:t>
                </a:r>
              </a:p>
              <a:p>
                <a:pPr lvl="0" algn="ctr" rtl="0">
                  <a:spcBef>
                    <a:spcPts val="0"/>
                  </a:spcBef>
                  <a:spcAft>
                    <a:spcPts val="0"/>
                  </a:spcAft>
                </a:pPr>
                <a:endParaRPr lang="en-US" sz="1600" b="1" dirty="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  <a:p>
                <a:pPr lvl="0" algn="ctr" rtl="0">
                  <a:spcBef>
                    <a:spcPts val="0"/>
                  </a:spcBef>
                  <a:spcAft>
                    <a:spcPts val="0"/>
                  </a:spcAft>
                </a:pPr>
                <a:endParaRPr lang="en-US" sz="1600" b="1" dirty="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  <a:p>
                <a:pPr lvl="0" algn="ctr"/>
                <a:endParaRPr lang="en-RO" b="1" i="1" dirty="0">
                  <a:solidFill>
                    <a:schemeClr val="dk1"/>
                  </a:solidFill>
                  <a:latin typeface="Cambria Math" panose="02040503050406030204" pitchFamily="18" charset="0"/>
                  <a:ea typeface="Spectral"/>
                  <a:cs typeface="Spectral"/>
                  <a:sym typeface="Spectral"/>
                </a:endParaRPr>
              </a:p>
              <a:p>
                <a:pPr lvl="0" algn="ctr"/>
                <a14:m>
                  <m:oMathPara xmlns:m="http://schemas.openxmlformats.org/officeDocument/2006/math">
                    <m:oMath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Spectral"/>
                          <a:cs typeface="Spectral"/>
                          <a:sym typeface="Spectral"/>
                        </a:rPr>
                        <m:t>𝑽</m:t>
                      </m:r>
                      <m:d>
                        <m:dPr>
                          <m:ctrlPr>
                            <a:rPr lang="en-RO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Spectr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Spectral"/>
                                </a:rPr>
                              </m:ctrlPr>
                            </m:sSubPr>
                            <m:e>
                              <m: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Spectral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Spectral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←</m:t>
                      </m:r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𝑽</m:t>
                      </m:r>
                      <m:d>
                        <m:dPr>
                          <m:ctrlPr>
                            <a:rPr lang="en-RO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</m:ctrlPr>
                            </m:sSubPr>
                            <m:e>
                              <m: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+</m:t>
                      </m:r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𝜶</m:t>
                      </m:r>
                      <m:d>
                        <m:dPr>
                          <m:ctrlPr>
                            <a:rPr lang="en-RO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RO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</m:ctrlPr>
                            </m:sSubPr>
                            <m:e>
                              <m:r>
                                <a:rPr lang="en-RO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RO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𝒕</m:t>
                              </m:r>
                              <m:r>
                                <a:rPr lang="en-RO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+</m:t>
                              </m:r>
                              <m:r>
                                <a:rPr lang="en-RO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𝟏</m:t>
                              </m:r>
                            </m:sub>
                          </m:sSub>
                          <m:r>
                            <a:rPr lang="en-RO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  <m:t>+</m:t>
                          </m:r>
                          <m:r>
                            <a:rPr lang="en-RO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  <m:t>𝜸</m:t>
                          </m:r>
                          <m:r>
                            <a:rPr lang="en-RO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  <m:t>𝑽</m:t>
                          </m:r>
                          <m:d>
                            <m:dPr>
                              <m:ctrlPr>
                                <a:rPr lang="en-RO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RO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pectral"/>
                                    </a:rPr>
                                  </m:ctrlPr>
                                </m:sSubPr>
                                <m:e>
                                  <m:r>
                                    <a:rPr lang="en-RO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pectral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RO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pectral"/>
                                    </a:rPr>
                                    <m:t>𝒕</m:t>
                                  </m:r>
                                  <m:r>
                                    <a:rPr lang="en-RO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pectral"/>
                                    </a:rPr>
                                    <m:t>+</m:t>
                                  </m:r>
                                  <m:r>
                                    <a:rPr lang="en-RO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pectral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RO" b="1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  <m:t>−</m:t>
                          </m:r>
                          <m:r>
                            <a:rPr lang="en-RO" b="1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  <m:t>𝑽</m:t>
                          </m:r>
                          <m:d>
                            <m:dPr>
                              <m:ctrlPr>
                                <a:rPr lang="en-RO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RO" b="1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pectral"/>
                                    </a:rPr>
                                  </m:ctrlPr>
                                </m:sSubPr>
                                <m:e>
                                  <m:r>
                                    <a:rPr lang="en-RO" b="1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pectral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RO" b="1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pectral"/>
                                    </a:rPr>
                                    <m:t>𝒕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RO" b="1" dirty="0">
                  <a:solidFill>
                    <a:schemeClr val="dk1"/>
                  </a:solidFill>
                  <a:latin typeface="Spectral"/>
                  <a:ea typeface="Cambria Math" panose="02040503050406030204" pitchFamily="18" charset="0"/>
                  <a:sym typeface="Spectral"/>
                </a:endParaRPr>
              </a:p>
              <a:p>
                <a:pPr lvl="0" algn="ctr"/>
                <a:endParaRPr lang="en-US" b="1" dirty="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</m:ctrlPr>
                      </m:sSubPr>
                      <m:e>
                        <m: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  <m:t>𝑹</m:t>
                        </m:r>
                      </m:e>
                      <m:sub>
                        <m: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  <m:t>𝒕</m:t>
                        </m:r>
                        <m: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  <m:t>+</m:t>
                        </m:r>
                        <m: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  <m:t>𝟏</m:t>
                        </m:r>
                      </m:sub>
                    </m:sSub>
                    <m:r>
                      <a:rPr lang="en-RO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pectral"/>
                      </a:rPr>
                      <m:t>+</m:t>
                    </m:r>
                    <m:r>
                      <a:rPr lang="en-RO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pectral"/>
                      </a:rPr>
                      <m:t>𝜸</m:t>
                    </m:r>
                    <m:r>
                      <a:rPr lang="en-RO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pectral"/>
                      </a:rPr>
                      <m:t>𝑽</m:t>
                    </m:r>
                    <m:d>
                      <m:dPr>
                        <m:ctrlPr>
                          <a:rPr lang="en-RO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</m:ctrlPr>
                          </m:sSubPr>
                          <m:e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𝑺</m:t>
                            </m:r>
                          </m:e>
                          <m:sub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𝒕</m:t>
                            </m:r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+</m:t>
                            </m:r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dirty="0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 </a:t>
                </a:r>
                <a:r>
                  <a:rPr lang="en-US" b="1" dirty="0" err="1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poartă</a:t>
                </a:r>
                <a:r>
                  <a:rPr lang="en-US" b="1" dirty="0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 </a:t>
                </a:r>
                <a:r>
                  <a:rPr lang="en-US" b="1" dirty="0" err="1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denumirea</a:t>
                </a:r>
                <a:r>
                  <a:rPr lang="en-US" b="1" dirty="0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 de “temporal difference target”.</a:t>
                </a: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</m:ctrlPr>
                          </m:sSubPr>
                          <m:e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𝜹</m:t>
                            </m:r>
                          </m:e>
                          <m:sub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𝒕</m:t>
                            </m:r>
                          </m:sub>
                        </m:sSub>
                        <m: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  <m:t>=</m:t>
                        </m:r>
                        <m: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  <m:t>𝑹</m:t>
                        </m:r>
                      </m:e>
                      <m:sub>
                        <m: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  <m:t>𝒕</m:t>
                        </m:r>
                        <m: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  <m:t>+</m:t>
                        </m:r>
                        <m: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  <m:t>𝟏</m:t>
                        </m:r>
                      </m:sub>
                    </m:sSub>
                    <m:r>
                      <a:rPr lang="en-RO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pectral"/>
                      </a:rPr>
                      <m:t>+</m:t>
                    </m:r>
                    <m:r>
                      <a:rPr lang="en-RO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pectral"/>
                      </a:rPr>
                      <m:t>𝜸</m:t>
                    </m:r>
                    <m:r>
                      <a:rPr lang="en-RO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pectral"/>
                      </a:rPr>
                      <m:t>𝑽</m:t>
                    </m:r>
                    <m:d>
                      <m:dPr>
                        <m:ctrlPr>
                          <a:rPr lang="en-RO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</m:ctrlPr>
                          </m:sSubPr>
                          <m:e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𝑺</m:t>
                            </m:r>
                          </m:e>
                          <m:sub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𝒕</m:t>
                            </m:r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+</m:t>
                            </m:r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RO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pectral"/>
                      </a:rPr>
                      <m:t>−</m:t>
                    </m:r>
                  </m:oMath>
                </a14:m>
                <a:r>
                  <a:rPr lang="en-RO" b="1" dirty="0">
                    <a:solidFill>
                      <a:srgbClr val="FF0000"/>
                    </a:solidFill>
                    <a:ea typeface="Cambria Math" panose="02040503050406030204" pitchFamily="18" charset="0"/>
                    <a:sym typeface="Spectral"/>
                  </a:rPr>
                  <a:t> </a:t>
                </a:r>
                <a14:m>
                  <m:oMath xmlns:m="http://schemas.openxmlformats.org/officeDocument/2006/math">
                    <m:r>
                      <a:rPr lang="en-RO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pectral"/>
                      </a:rPr>
                      <m:t>𝑽</m:t>
                    </m:r>
                    <m:d>
                      <m:dPr>
                        <m:ctrlPr>
                          <a:rPr lang="en-RO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RO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</m:ctrlPr>
                          </m:sSubPr>
                          <m:e>
                            <m:r>
                              <a:rPr lang="en-RO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𝑺</m:t>
                            </m:r>
                          </m:e>
                          <m:sub>
                            <m:r>
                              <a:rPr lang="en-RO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𝒕</m:t>
                            </m:r>
                          </m:sub>
                        </m:sSub>
                      </m:e>
                    </m:d>
                    <m:r>
                      <a:rPr lang="en-RO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pectral"/>
                      </a:rPr>
                      <m:t> </m:t>
                    </m:r>
                  </m:oMath>
                </a14:m>
                <a:r>
                  <a:rPr lang="en-US" b="1" dirty="0" err="1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reprezintă</a:t>
                </a:r>
                <a:r>
                  <a:rPr lang="en-US" b="1" dirty="0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 </a:t>
                </a:r>
                <a:r>
                  <a:rPr lang="en-US" b="1" dirty="0" err="1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eroarea</a:t>
                </a:r>
                <a:r>
                  <a:rPr lang="en-US" b="1" dirty="0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 TD.</a:t>
                </a:r>
              </a:p>
              <a:p>
                <a:pPr lvl="0" algn="ctr" rtl="0">
                  <a:spcBef>
                    <a:spcPts val="0"/>
                  </a:spcBef>
                  <a:spcAft>
                    <a:spcPts val="0"/>
                  </a:spcAft>
                </a:pPr>
                <a:endParaRPr lang="en-US" sz="1600" dirty="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mc:Choice>
        <mc:Fallback xmlns="">
          <p:sp>
            <p:nvSpPr>
              <p:cNvPr id="5" name="Google Shape;2801;p55">
                <a:extLst>
                  <a:ext uri="{FF2B5EF4-FFF2-40B4-BE49-F238E27FC236}">
                    <a16:creationId xmlns:a16="http://schemas.microsoft.com/office/drawing/2014/main" id="{8C5EA8DF-0766-2678-9E04-EBD8DA0FF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151" y="1627039"/>
                <a:ext cx="3914774" cy="3084737"/>
              </a:xfrm>
              <a:prstGeom prst="rect">
                <a:avLst/>
              </a:prstGeom>
              <a:blipFill>
                <a:blip r:embed="rId4"/>
                <a:stretch>
                  <a:fillRect l="-3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15244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CCF73D50-CBDB-7B64-DDDC-67E4D7B36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744" y="827349"/>
            <a:ext cx="6388036" cy="4019498"/>
          </a:xfrm>
          <a:prstGeom prst="rect">
            <a:avLst/>
          </a:prstGeom>
        </p:spPr>
      </p:pic>
      <p:sp>
        <p:nvSpPr>
          <p:cNvPr id="2" name="Google Shape;2476;p45">
            <a:extLst>
              <a:ext uri="{FF2B5EF4-FFF2-40B4-BE49-F238E27FC236}">
                <a16:creationId xmlns:a16="http://schemas.microsoft.com/office/drawing/2014/main" id="{CD520962-9742-2CB6-D4E4-566B17076DF3}"/>
              </a:ext>
            </a:extLst>
          </p:cNvPr>
          <p:cNvSpPr txBox="1">
            <a:spLocks/>
          </p:cNvSpPr>
          <p:nvPr/>
        </p:nvSpPr>
        <p:spPr>
          <a:xfrm>
            <a:off x="539550" y="134196"/>
            <a:ext cx="8064900" cy="7443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5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ro-RO" sz="2400" dirty="0"/>
              <a:t>Temporal </a:t>
            </a:r>
            <a:r>
              <a:rPr lang="ro-RO" sz="2400" dirty="0" err="1"/>
              <a:t>Difference</a:t>
            </a:r>
            <a:r>
              <a:rPr lang="ro-RO" sz="2400" dirty="0"/>
              <a:t> - </a:t>
            </a:r>
            <a:r>
              <a:rPr lang="ro-RO" sz="2400" dirty="0" err="1"/>
              <a:t>Bootstraping</a:t>
            </a:r>
            <a:endParaRPr lang="ro-RO" sz="2400" dirty="0"/>
          </a:p>
        </p:txBody>
      </p:sp>
    </p:spTree>
    <p:extLst>
      <p:ext uri="{BB962C8B-B14F-4D97-AF65-F5344CB8AC3E}">
        <p14:creationId xmlns:p14="http://schemas.microsoft.com/office/powerpoint/2010/main" val="25385295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F6D32-06AB-07D3-9619-FF0C38DA6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76;p45">
            <a:extLst>
              <a:ext uri="{FF2B5EF4-FFF2-40B4-BE49-F238E27FC236}">
                <a16:creationId xmlns:a16="http://schemas.microsoft.com/office/drawing/2014/main" id="{2A24D184-6FF0-A303-ABAB-4CC2EF61E37F}"/>
              </a:ext>
            </a:extLst>
          </p:cNvPr>
          <p:cNvSpPr txBox="1">
            <a:spLocks/>
          </p:cNvSpPr>
          <p:nvPr/>
        </p:nvSpPr>
        <p:spPr>
          <a:xfrm>
            <a:off x="539550" y="134196"/>
            <a:ext cx="8064900" cy="7443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5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ro-RO" sz="2400" dirty="0"/>
              <a:t>Căutarea Exhaustivă</a:t>
            </a:r>
          </a:p>
        </p:txBody>
      </p:sp>
      <p:pic>
        <p:nvPicPr>
          <p:cNvPr id="4" name="Picture 3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AB0F561B-8E68-FFE9-2C68-99927156C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600" y="723381"/>
            <a:ext cx="6740799" cy="428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3848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55"/>
          <p:cNvSpPr/>
          <p:nvPr/>
        </p:nvSpPr>
        <p:spPr>
          <a:xfrm>
            <a:off x="539500" y="1458125"/>
            <a:ext cx="3456600" cy="3353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9" name="Google Shape;2799;p55"/>
          <p:cNvSpPr txBox="1">
            <a:spLocks noGrp="1"/>
          </p:cNvSpPr>
          <p:nvPr>
            <p:ph type="title"/>
          </p:nvPr>
        </p:nvSpPr>
        <p:spPr>
          <a:xfrm>
            <a:off x="539496" y="339325"/>
            <a:ext cx="80649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Avantaje</a:t>
            </a:r>
            <a:r>
              <a:rPr lang="en" dirty="0"/>
              <a:t> &amp; </a:t>
            </a:r>
            <a:r>
              <a:rPr lang="en" dirty="0" err="1"/>
              <a:t>Dezavantaje</a:t>
            </a:r>
            <a:r>
              <a:rPr lang="en" dirty="0"/>
              <a:t> TD vs. MC</a:t>
            </a:r>
            <a:endParaRPr dirty="0"/>
          </a:p>
        </p:txBody>
      </p:sp>
      <p:sp>
        <p:nvSpPr>
          <p:cNvPr id="2800" name="Google Shape;2800;p55"/>
          <p:cNvSpPr txBox="1"/>
          <p:nvPr/>
        </p:nvSpPr>
        <p:spPr>
          <a:xfrm>
            <a:off x="1065850" y="1971157"/>
            <a:ext cx="2416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01" name="Google Shape;2801;p55"/>
          <p:cNvSpPr txBox="1"/>
          <p:nvPr/>
        </p:nvSpPr>
        <p:spPr>
          <a:xfrm>
            <a:off x="712350" y="1630481"/>
            <a:ext cx="3173016" cy="3084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TD </a:t>
            </a:r>
            <a:r>
              <a:rPr lang="en-US" b="1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învață</a:t>
            </a:r>
            <a:r>
              <a:rPr lang="en-US" b="1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înainte</a:t>
            </a:r>
            <a:r>
              <a:rPr lang="en-US" b="1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de a </a:t>
            </a:r>
            <a:r>
              <a:rPr lang="en-US" b="1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ști</a:t>
            </a:r>
            <a:r>
              <a:rPr lang="en-US" b="1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rezultatul</a:t>
            </a:r>
            <a:r>
              <a:rPr lang="en-US" b="1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final! Nu are </a:t>
            </a:r>
            <a:r>
              <a:rPr lang="en-US" b="1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nevoie</a:t>
            </a:r>
            <a:r>
              <a:rPr lang="en-US" b="1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de return/outcome.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Învățare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“online” – TD.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MC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așteaptă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până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la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finalul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episodului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pentru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a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afla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return-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ul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TD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învață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din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secvențe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parțiale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,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iar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MC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doar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din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episoade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complete.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TD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funcționează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în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medii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continue,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fără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stări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terminale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. MC nu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poate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ajunge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la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această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performanță</a:t>
            </a:r>
            <a:r>
              <a:rPr lang="en-US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n-US" b="1" dirty="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n-US" b="1" dirty="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lvl="0"/>
            <a:endParaRPr lang="en-RO" b="0" i="1" dirty="0">
              <a:solidFill>
                <a:schemeClr val="dk1"/>
              </a:solidFill>
              <a:latin typeface="Cambria Math" panose="02040503050406030204" pitchFamily="18" charset="0"/>
              <a:ea typeface="Spectral"/>
              <a:cs typeface="Spectral"/>
              <a:sym typeface="Spectral"/>
            </a:endParaRPr>
          </a:p>
          <a:p>
            <a:pPr lvl="0"/>
            <a:endParaRPr lang="en-US" dirty="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2813" name="Google Shape;2813;p55"/>
          <p:cNvGrpSpPr/>
          <p:nvPr/>
        </p:nvGrpSpPr>
        <p:grpSpPr>
          <a:xfrm rot="10800000" flipH="1">
            <a:off x="2983814" y="1186027"/>
            <a:ext cx="1038441" cy="387946"/>
            <a:chOff x="7740700" y="4100311"/>
            <a:chExt cx="786936" cy="604089"/>
          </a:xfrm>
        </p:grpSpPr>
        <p:grpSp>
          <p:nvGrpSpPr>
            <p:cNvPr id="2814" name="Google Shape;2814;p55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2815" name="Google Shape;2815;p55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55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17" name="Google Shape;2817;p55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8" name="Google Shape;2818;p55"/>
          <p:cNvGrpSpPr/>
          <p:nvPr/>
        </p:nvGrpSpPr>
        <p:grpSpPr>
          <a:xfrm rot="10800000" flipH="1">
            <a:off x="538170" y="897685"/>
            <a:ext cx="901976" cy="387965"/>
            <a:chOff x="6659230" y="279450"/>
            <a:chExt cx="2217246" cy="953700"/>
          </a:xfrm>
        </p:grpSpPr>
        <p:sp>
          <p:nvSpPr>
            <p:cNvPr id="2819" name="Google Shape;2819;p55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55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55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55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55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2796;p55">
            <a:extLst>
              <a:ext uri="{FF2B5EF4-FFF2-40B4-BE49-F238E27FC236}">
                <a16:creationId xmlns:a16="http://schemas.microsoft.com/office/drawing/2014/main" id="{77CB78AC-DA4B-4AF1-99B9-EE80FFCF9F73}"/>
              </a:ext>
            </a:extLst>
          </p:cNvPr>
          <p:cNvSpPr/>
          <p:nvPr/>
        </p:nvSpPr>
        <p:spPr>
          <a:xfrm>
            <a:off x="4572000" y="1450475"/>
            <a:ext cx="4032502" cy="3353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800;p55">
            <a:extLst>
              <a:ext uri="{FF2B5EF4-FFF2-40B4-BE49-F238E27FC236}">
                <a16:creationId xmlns:a16="http://schemas.microsoft.com/office/drawing/2014/main" id="{5168E7FE-8BD0-4A05-F2F2-BB3BED1D2671}"/>
              </a:ext>
            </a:extLst>
          </p:cNvPr>
          <p:cNvSpPr txBox="1"/>
          <p:nvPr/>
        </p:nvSpPr>
        <p:spPr>
          <a:xfrm>
            <a:off x="2967000" y="2175231"/>
            <a:ext cx="2416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" name="Google Shape;2801;p55">
            <a:extLst>
              <a:ext uri="{FF2B5EF4-FFF2-40B4-BE49-F238E27FC236}">
                <a16:creationId xmlns:a16="http://schemas.microsoft.com/office/drawing/2014/main" id="{8C5EA8DF-0766-2678-9E04-EBD8DA0FF8FE}"/>
              </a:ext>
            </a:extLst>
          </p:cNvPr>
          <p:cNvSpPr txBox="1"/>
          <p:nvPr/>
        </p:nvSpPr>
        <p:spPr>
          <a:xfrm>
            <a:off x="4629151" y="1627039"/>
            <a:ext cx="3914774" cy="3084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MC</a:t>
            </a: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endParaRPr lang="en-US" sz="1600" b="1" dirty="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Varianță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mare, bias zero!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Convergență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bună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!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Simplu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de </a:t>
            </a: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înțeles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și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aplicat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!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TD</a:t>
            </a:r>
          </a:p>
          <a:p>
            <a:pPr lvl="0" algn="ctr" rtl="0">
              <a:spcBef>
                <a:spcPts val="0"/>
              </a:spcBef>
              <a:spcAft>
                <a:spcPts val="0"/>
              </a:spcAft>
            </a:pPr>
            <a:endParaRPr lang="en-US" sz="1600" b="1" dirty="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Mai </a:t>
            </a: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eficient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fată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de MC!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Sensibil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la </a:t>
            </a: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punctul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de </a:t>
            </a: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plecare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(</a:t>
            </a: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valoare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inițială</a:t>
            </a:r>
            <a:r>
              <a:rPr lang="en-US" sz="1600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)!</a:t>
            </a:r>
          </a:p>
        </p:txBody>
      </p:sp>
    </p:spTree>
    <p:extLst>
      <p:ext uri="{BB962C8B-B14F-4D97-AF65-F5344CB8AC3E}">
        <p14:creationId xmlns:p14="http://schemas.microsoft.com/office/powerpoint/2010/main" val="12914866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21C01-FCE4-C258-A2B9-E77EF385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957" y="1457653"/>
            <a:ext cx="5966085" cy="2028169"/>
          </a:xfrm>
        </p:spPr>
        <p:txBody>
          <a:bodyPr/>
          <a:lstStyle/>
          <a:p>
            <a:r>
              <a:rPr lang="en-RO" dirty="0"/>
              <a:t>Marea pictogramă a RL-ului!</a:t>
            </a:r>
            <a:endParaRPr lang="en-RO" sz="3000" i="1" dirty="0"/>
          </a:p>
        </p:txBody>
      </p:sp>
    </p:spTree>
    <p:extLst>
      <p:ext uri="{BB962C8B-B14F-4D97-AF65-F5344CB8AC3E}">
        <p14:creationId xmlns:p14="http://schemas.microsoft.com/office/powerpoint/2010/main" val="4900008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705FA2-B875-7D79-A6AC-6E57C6007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938" y="185737"/>
            <a:ext cx="5308123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2131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7" name="Google Shape;2987;p61"/>
          <p:cNvSpPr/>
          <p:nvPr/>
        </p:nvSpPr>
        <p:spPr>
          <a:xfrm>
            <a:off x="2268625" y="341000"/>
            <a:ext cx="4609200" cy="260893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988" name="Google Shape;2988;p61"/>
          <p:cNvSpPr txBox="1">
            <a:spLocks noGrp="1"/>
          </p:cNvSpPr>
          <p:nvPr>
            <p:ph type="title"/>
          </p:nvPr>
        </p:nvSpPr>
        <p:spPr>
          <a:xfrm>
            <a:off x="2637725" y="387576"/>
            <a:ext cx="3866700" cy="85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noProof="0" dirty="0" err="1"/>
              <a:t>Thanks</a:t>
            </a:r>
            <a:r>
              <a:rPr lang="ro-RO" noProof="0" dirty="0"/>
              <a:t>!</a:t>
            </a:r>
          </a:p>
        </p:txBody>
      </p:sp>
      <p:sp>
        <p:nvSpPr>
          <p:cNvPr id="2989" name="Google Shape;2989;p61"/>
          <p:cNvSpPr txBox="1">
            <a:spLocks noGrp="1"/>
          </p:cNvSpPr>
          <p:nvPr>
            <p:ph type="subTitle" idx="1"/>
          </p:nvPr>
        </p:nvSpPr>
        <p:spPr>
          <a:xfrm>
            <a:off x="2981375" y="1154172"/>
            <a:ext cx="3179400" cy="11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o-RO" noProof="0" dirty="0"/>
              <a:t>Este timpul pentru întrebări!!!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lang="ro-RO" noProof="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o-RO" noProof="0" dirty="0"/>
              <a:t>Acum…sau pe email: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lang="ro-RO" noProof="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o-RO" noProof="0" dirty="0"/>
              <a:t>stefan.iordache10@s.unibuc.ro </a:t>
            </a:r>
          </a:p>
        </p:txBody>
      </p:sp>
      <p:grpSp>
        <p:nvGrpSpPr>
          <p:cNvPr id="3011" name="Google Shape;3011;p61"/>
          <p:cNvGrpSpPr/>
          <p:nvPr/>
        </p:nvGrpSpPr>
        <p:grpSpPr>
          <a:xfrm flipH="1">
            <a:off x="6877836" y="1091403"/>
            <a:ext cx="1142790" cy="1480405"/>
            <a:chOff x="7465916" y="720492"/>
            <a:chExt cx="1139144" cy="1477450"/>
          </a:xfrm>
        </p:grpSpPr>
        <p:sp>
          <p:nvSpPr>
            <p:cNvPr id="3012" name="Google Shape;3012;p61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3" name="Google Shape;3013;p61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4" name="Google Shape;3014;p61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5" name="Google Shape;3015;p61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6" name="Google Shape;3016;p61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7" name="Google Shape;3017;p61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3018" name="Google Shape;3018;p61"/>
          <p:cNvGrpSpPr/>
          <p:nvPr/>
        </p:nvGrpSpPr>
        <p:grpSpPr>
          <a:xfrm rot="10800000" flipH="1">
            <a:off x="391698" y="579321"/>
            <a:ext cx="1764041" cy="758764"/>
            <a:chOff x="6659230" y="279450"/>
            <a:chExt cx="2217246" cy="953700"/>
          </a:xfrm>
        </p:grpSpPr>
        <p:sp>
          <p:nvSpPr>
            <p:cNvPr id="3019" name="Google Shape;3019;p61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0" name="Google Shape;3020;p61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1" name="Google Shape;3021;p61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2" name="Google Shape;3022;p61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3" name="Google Shape;3023;p61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3024" name="Google Shape;3024;p61"/>
          <p:cNvSpPr/>
          <p:nvPr/>
        </p:nvSpPr>
        <p:spPr>
          <a:xfrm flipH="1">
            <a:off x="7818180" y="883420"/>
            <a:ext cx="429900" cy="4182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grpSp>
        <p:nvGrpSpPr>
          <p:cNvPr id="3025" name="Google Shape;3025;p61"/>
          <p:cNvGrpSpPr/>
          <p:nvPr/>
        </p:nvGrpSpPr>
        <p:grpSpPr>
          <a:xfrm>
            <a:off x="1839602" y="1617067"/>
            <a:ext cx="637648" cy="658500"/>
            <a:chOff x="1839602" y="1617067"/>
            <a:chExt cx="637648" cy="658500"/>
          </a:xfrm>
        </p:grpSpPr>
        <p:sp>
          <p:nvSpPr>
            <p:cNvPr id="3026" name="Google Shape;3026;p61"/>
            <p:cNvSpPr/>
            <p:nvPr/>
          </p:nvSpPr>
          <p:spPr>
            <a:xfrm flipH="1">
              <a:off x="2047351" y="1617067"/>
              <a:ext cx="429900" cy="418200"/>
            </a:xfrm>
            <a:prstGeom prst="star4">
              <a:avLst>
                <a:gd name="adj" fmla="val 125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7" name="Google Shape;3027;p61"/>
            <p:cNvSpPr/>
            <p:nvPr/>
          </p:nvSpPr>
          <p:spPr>
            <a:xfrm flipH="1">
              <a:off x="1839602" y="2035267"/>
              <a:ext cx="246900" cy="2403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3028" name="Google Shape;3028;p61"/>
          <p:cNvSpPr/>
          <p:nvPr/>
        </p:nvSpPr>
        <p:spPr>
          <a:xfrm flipH="1">
            <a:off x="975250" y="4294400"/>
            <a:ext cx="281100" cy="2736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ph Paper Style Thesis by Slidesgo">
  <a:themeElements>
    <a:clrScheme name="Simple Light">
      <a:dk1>
        <a:srgbClr val="434343"/>
      </a:dk1>
      <a:lt1>
        <a:srgbClr val="F3F3F3"/>
      </a:lt1>
      <a:dk2>
        <a:srgbClr val="B7B7B7"/>
      </a:dk2>
      <a:lt2>
        <a:srgbClr val="859477"/>
      </a:lt2>
      <a:accent1>
        <a:srgbClr val="D9997D"/>
      </a:accent1>
      <a:accent2>
        <a:srgbClr val="F2C2A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3E6573EBEF95419FE5CDD911A166BF" ma:contentTypeVersion="15" ma:contentTypeDescription="Create a new document." ma:contentTypeScope="" ma:versionID="950c4c53cfcf98db48751227d10caeac">
  <xsd:schema xmlns:xsd="http://www.w3.org/2001/XMLSchema" xmlns:xs="http://www.w3.org/2001/XMLSchema" xmlns:p="http://schemas.microsoft.com/office/2006/metadata/properties" xmlns:ns2="d06dbadc-5ebd-4821-b299-ce6b9eaad42b" xmlns:ns3="a519f88a-14ae-4969-bd47-81d0c9591b2c" targetNamespace="http://schemas.microsoft.com/office/2006/metadata/properties" ma:root="true" ma:fieldsID="9d8a56477d1f74ba05554ff59e73d512" ns2:_="" ns3:_="">
    <xsd:import namespace="d06dbadc-5ebd-4821-b299-ce6b9eaad42b"/>
    <xsd:import namespace="a519f88a-14ae-4969-bd47-81d0c9591b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6dbadc-5ebd-4821-b299-ce6b9eaad4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5cd9f51-4d1e-4d57-bf3d-f118fc5c80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19f88a-14ae-4969-bd47-81d0c9591b2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4917cf12-c4b0-4164-92f7-80e199fa05bf}" ma:internalName="TaxCatchAll" ma:showField="CatchAllData" ma:web="a519f88a-14ae-4969-bd47-81d0c9591b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06dbadc-5ebd-4821-b299-ce6b9eaad42b">
      <Terms xmlns="http://schemas.microsoft.com/office/infopath/2007/PartnerControls"/>
    </lcf76f155ced4ddcb4097134ff3c332f>
    <TaxCatchAll xmlns="a519f88a-14ae-4969-bd47-81d0c9591b2c" xsi:nil="true"/>
  </documentManagement>
</p:properties>
</file>

<file path=customXml/itemProps1.xml><?xml version="1.0" encoding="utf-8"?>
<ds:datastoreItem xmlns:ds="http://schemas.openxmlformats.org/officeDocument/2006/customXml" ds:itemID="{D5DDB2D4-D430-41A8-B7BE-4AD728CA07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11636BE-BEEB-4C08-9D30-A835B1DA8253}"/>
</file>

<file path=customXml/itemProps3.xml><?xml version="1.0" encoding="utf-8"?>
<ds:datastoreItem xmlns:ds="http://schemas.openxmlformats.org/officeDocument/2006/customXml" ds:itemID="{B53E75CE-3BD1-43CB-9ABA-27E9F8EDA5E1}">
  <ds:schemaRefs>
    <ds:schemaRef ds:uri="a519f88a-14ae-4969-bd47-81d0c9591b2c"/>
    <ds:schemaRef ds:uri="d06dbadc-5ebd-4821-b299-ce6b9eaad42b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936</Words>
  <Application>Microsoft Macintosh PowerPoint</Application>
  <PresentationFormat>On-screen Show (16:9)</PresentationFormat>
  <Paragraphs>154</Paragraphs>
  <Slides>38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Spectral Light</vt:lpstr>
      <vt:lpstr>Merriweather Black</vt:lpstr>
      <vt:lpstr>Arial</vt:lpstr>
      <vt:lpstr>Spectral</vt:lpstr>
      <vt:lpstr>Merriweather;900</vt:lpstr>
      <vt:lpstr>Merriweather</vt:lpstr>
      <vt:lpstr>Cambria Math</vt:lpstr>
      <vt:lpstr>Times New Roman</vt:lpstr>
      <vt:lpstr>Graph Paper Style Thesis by Slidesgo</vt:lpstr>
      <vt:lpstr>Introducere în Reinforcement Learning</vt:lpstr>
      <vt:lpstr>Cuprins</vt:lpstr>
      <vt:lpstr>Recapitulare</vt:lpstr>
      <vt:lpstr>Diagrama generică - RL</vt:lpstr>
      <vt:lpstr>Procese Stochastice</vt:lpstr>
      <vt:lpstr>Ecuația Bellman – V* (optim)</vt:lpstr>
      <vt:lpstr>Algoritmi Value-Based</vt:lpstr>
      <vt:lpstr>Value-Based vs. Policy-Based vs. Hybrid</vt:lpstr>
      <vt:lpstr>Algoritmul #1 – Value Iteration</vt:lpstr>
      <vt:lpstr>Value Iteration – Grid World</vt:lpstr>
      <vt:lpstr>Value Iteration – Grid World...But How???</vt:lpstr>
      <vt:lpstr>Value Iteration – Grid World...But How???</vt:lpstr>
      <vt:lpstr>Value Iteration – Grid World...But How???</vt:lpstr>
      <vt:lpstr>Value Iteration – Labirint</vt:lpstr>
      <vt:lpstr>Value Iteration – Labirint</vt:lpstr>
      <vt:lpstr>Value Iteration - Concluzii</vt:lpstr>
      <vt:lpstr>Există ceva mai bun?</vt:lpstr>
      <vt:lpstr>Multi-Armed Bandits (MAB)</vt:lpstr>
      <vt:lpstr>Multi-Armed Bandits (MAB)</vt:lpstr>
      <vt:lpstr>Algoritmul #2 – Abstract Multi-Armed Bandit</vt:lpstr>
      <vt:lpstr>PowerPoint Presentation</vt:lpstr>
      <vt:lpstr>PowerPoint Presentation</vt:lpstr>
      <vt:lpstr>PowerPoint Presentation</vt:lpstr>
      <vt:lpstr>PowerPoint Presentation</vt:lpstr>
      <vt:lpstr>Model-Based vs. Model-Free</vt:lpstr>
      <vt:lpstr>PowerPoint Presentation</vt:lpstr>
      <vt:lpstr>Algoritmul #3 – Monte-Carlo</vt:lpstr>
      <vt:lpstr>Algoritmul #3 – Monte-Carlo</vt:lpstr>
      <vt:lpstr>Algoritmul #3 – Monte-Carlo - Sampling</vt:lpstr>
      <vt:lpstr>Temporal Difference</vt:lpstr>
      <vt:lpstr>Ce este Temporal Difference?</vt:lpstr>
      <vt:lpstr>MC vs. TD</vt:lpstr>
      <vt:lpstr>PowerPoint Presentation</vt:lpstr>
      <vt:lpstr>PowerPoint Presentation</vt:lpstr>
      <vt:lpstr>Avantaje &amp; Dezavantaje TD vs. MC</vt:lpstr>
      <vt:lpstr>Marea pictogramă a RL-ului!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Introducere în Reinforcement Learning</dc:title>
  <cp:lastModifiedBy>STEFAN IORDACHE</cp:lastModifiedBy>
  <cp:revision>26</cp:revision>
  <dcterms:modified xsi:type="dcterms:W3CDTF">2026-10-19T11:30:18Z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0x010100F33E6573EBEF95419FE5CDD911A166BF</vt:lpwstr>
  </property>
  <property fmtid="{D5CDD505-2E9C-101B-9397-08002B2CF9AE}" pid="3" name="MediaServiceImageTags">
    <vt:lpwstr/>
  </property>
</Properties>
</file>