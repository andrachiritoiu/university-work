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88464A8-C8DF-4B9B-81A0-B8F3D9FC6954}" type="datetimeFigureOut">
              <a:t>10/10/2026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E93F3AE-2B75-4417-B296-4EE72DA646EE}" type="slidenum">
              <a:t>‹#›</a:t>
            </a:fld>
            <a:endParaRPr lang="en-US"/>
          </a:p>
        </p:txBody>
      </p:sp>
    </p:spTree>
    <p:extLst>
      <p:ext uri="{BB962C8B-B14F-4D97-AF65-F5344CB8AC3E}">
        <p14:creationId xmlns:p14="http://schemas.microsoft.com/office/powerpoint/2010/main" val="1970132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Partea de conținut a primului curs. Sursa principală: Ian Sommerville, Software Engineering, ediția a 10-a (Global Edition), capitolele 1, 2, 8 și 9. Fiecare slide are în subsol paginile din carte.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 pornește de la această distincție: mulți oameni scriu programe, dar ingineria software susține dezvoltarea profesională, nu programarea individuală. Software nu înseamnă doar programele, ci și documentația, bibliotecile, site-urile de suport și datele de configurare. Legătura cu MDS: acolo ați produs un sistem; aici îl tratați ca pe ceva ce alții trebuie să poată folosi și schimba.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Două definiții care spun același lucru. IEEE: abordare sistematică, disciplinată și cuantificabilă a dezvoltării, operării și mentenanței. Sommerville: o disciplină inginerească preocupată de toate aspectele producției de software, de la specificare până la mentenanță, și subliniază două expresii: „disciplină inginerească” și „toate aspectele”. De observat că ambele includ operarea și mentenanța, nu doar scrisul codului.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Calitatea software-ului profesional nu ține doar de ce face, ci și de cum se comportă când rulează și de cum sunt organizate programele și documentația lui. Sommerville le numește atribute non-funcționale; în curs folosim un singur termen, architecture characteristics, după Richards și Ford (Fundamentals of Software Architecture, cap. 4), pe care se sprijină cursurile de arhitectură. Setul exact depinde de aplicație (un sistem de control al unui avion trebuie să fie sigur, un joc trebuie să răspundă repede), dar acestea patru sunt cele pe care Sommerville le consideră esențiale. Mentenabilitatea e numită explicit critică.</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proces software este o succesiune de activități care duce la producerea unui sistem software. Procesul folosit depinde de tipul de software, de cerințele clientului și de oamenii care îl scriu: un sistem critic cere un proces foarte structurat, un sistem de business cu cerințe care se schimbă repede cere unul flexibil. Pe lângă cele patru activități, un proces mai include activități de suport, cum ar fi configuration management și planificarea proiectului. Când descriem un proces spunem și cine e implicat (roluri) și ce se produce (livrabile).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Rândul de sus: cele patru activități ale lui Sommerville. Dedesubt: cele șase etape cu care lucrăm în curs. Gruparea e a cursului, nu a manualului; în Sommerville, studiul de fezabilitate precedă ingineria cerințelor, iar planificarea e o activitate de suport. Glosarul IEEE enumeră la rândul lui alte faze: concept, cerințe, design, implementare, test, instalare, operare și mentenanță, uneori retragere. Ideea de reținut: etapele sunt o convenție, activitățile nu.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Specificarea software-ului, sau ingineria cerințelor, înseamnă să înțelegi și să definești ce servicii se cer de la sistem și în ce constrângeri. Înainte de ea poate exista un studiu de fezabilitate: scurt, ieftin, care decide dacă merită mers mai departe. Cerințele se prezintă de obicei pe două niveluri: cerințe ale utilizatorului, abstracte, și cerințe de sistem, detaliate. Cele trei activități se întrepătrund: cerințe noi apar pe tot parcursul.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Patru activități de design pentru un sistem informatic: architectural design (structura de ansamblu, componentele principale și relațiile lor), database design, interface design (interfețe precise între componente, ca ele să poată fi dezvoltate separat) și component selection and design. Informația nouă despre design apare continuu și schimbă deciziile anterioare, deci refacerea design-ului e inevitabilă. Programarea e o activitate individuală, fără un proces general urmat de toată lumea.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and validation (V&amp;V) arată că sistemul respectă specificația și că îndeplinește așteptările clientului. Validarea merge dincolo de conformitatea cu specificația: cerințele scrise nu reflectă întotdeauna ce vrea de fapt clientul. Testarea e iterativă: un defect de componentă poate ieși la iveală abia la testarea de sistem. În test-driven development, testele se scriu odată cu cerințele, înainte de dezvoltare. Legătura cu primul deck: testele verzi răspund la „verification”, nu la „validation”.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Cifrele sunt vechi și trebuie spuse ca atare. 60–90%: Sommerville citează Lientz și Swanson (1980) și Erlikh (2000). Distribuția efortului de mentenanță: Davidsen și Krogstie (2010), care au comparat studii din 1980–2005 și au găsit că distribuția s-a schimbat foarte puțin în 30 de ani; procentele sunt aproximative și însumează 101 din rotunjire. Concluzia cărții: repararea defectelor nu e partea cea mai scumpă; evoluția pentru cerințe și medii noi consumă cel mai mult. Cele trei tipuri de mentenanță: fault repairs, environmental adaptation, functionality addition. Legile lui Lehman vin din studiile lui Lehman și Belady din anii ’70; pe slide sunt primele două din cele cinci enumerate în carte.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Waterfall (Royce, 1970): cerințe, design, implementare și unit testing, integrare și system testing, operare și mentenanță. În practică fazele se suprapun și își trimit informații înapoi; înghețarea prematură a cerințelor duce la sisteme care nu fac ce vrea utilizatorul. Incremental: trei avantaje (schimbarea cerințelor costă mai puțin, feedback mai ușor de obținut de la client, livrare mai devreme) și două probleme (procesul nu e vizibil pentru management, structura se degradează). Scrum, pe care îl știți de la MDS, e un proces incremental. Integration and configuration: reduce costul și riscul, dar cere compromisuri la cerințe și pierzi controlul asupra evoluției componentelor reutilizate.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Acest slide e interpretarea cursului, nu material din manual. Se sprijină pe ce spune Sommerville despre fiecare activitate: greșelile din cerințe sunt cele mai scumpe; validarea înseamnă să arăți că sistemul face ce vrea clientul, nu doar ce spune specificația; structura se degradează pe măsură ce programul se schimbă. Dacă partea de dezvoltare devine ieftină și rapidă, aceste trei lucruri devin partea grea. Legătura cu primul deck: slide-ul cu SDLC „înainte” și „cu AI” și cifrele METR.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 spune că distincția dintre dezvoltare și mentenanță e tot mai puțin relevantă și că e mai realist să vedem ingineria software ca pe un proces evolutiv. De aceea proiectul nu pornește de la zero: majoritatea muncii reale se face pe sisteme existente. Cele trei faze ale proiectului sunt un tur complet prin cele patru activități, pe un sistem pe care îl aveți deja.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Aproximativ 25 de pagini. §4.1 pregătește cursul 2, despre cerințe verificabile. Paginile sunt din ediția a 10-a, Global Edition.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5" y="1330893"/>
            <a:ext cx="10566443" cy="502912"/>
          </a:xfrm>
          <a:prstGeom prst="rect">
            <a:avLst/>
          </a:prstGeom>
          <a:noFill/>
          <a:ln/>
        </p:spPr>
        <p:txBody>
          <a:bodyPr wrap="square" lIns="0" tIns="0" rIns="0" bIns="0" rtlCol="0" anchor="t"/>
          <a:lstStyle>
            <a:lvl1pPr marL="0" indent="0" algn="l">
              <a:lnSpc>
                <a:spcPct val="115000"/>
              </a:lnSpc>
              <a:buNone/>
              <a:defRPr lang="en-US" sz="3600" dirty="0">
                <a:solidFill>
                  <a:srgbClr val="101820"/>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65" y="2138604"/>
            <a:ext cx="10566435" cy="3906596"/>
          </a:xfrm>
          <a:prstGeom prst="rect">
            <a:avLst/>
          </a:prstGeom>
          <a:noFill/>
          <a:ln/>
        </p:spPr>
        <p:txBody>
          <a:bodyPr wrap="square" lIns="0" tIns="0" rIns="0" bIns="0" rtlCol="0" anchor="t"/>
          <a:lstStyle>
            <a:lvl1pPr marL="0" indent="0" algn="l">
              <a:lnSpc>
                <a:spcPct val="140000"/>
              </a:lnSpc>
              <a:buNone/>
              <a:defRPr lang="en-US" sz="1600" dirty="0">
                <a:solidFill>
                  <a:srgbClr val="101820"/>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5" y="1330893"/>
            <a:ext cx="10566443" cy="502912"/>
          </a:xfrm>
          <a:prstGeom prst="rect">
            <a:avLst/>
          </a:prstGeom>
          <a:noFill/>
          <a:ln/>
        </p:spPr>
        <p:txBody>
          <a:bodyPr wrap="square" lIns="0" tIns="0" rIns="0" bIns="0" rtlCol="0" anchor="t"/>
          <a:lstStyle>
            <a:lvl1pPr marL="0" indent="0" algn="l">
              <a:lnSpc>
                <a:spcPct val="115000"/>
              </a:lnSpc>
              <a:buNone/>
              <a:defRPr lang="en-US" sz="3600" dirty="0">
                <a:solidFill>
                  <a:srgbClr val="101820"/>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65" y="2138604"/>
            <a:ext cx="10566435" cy="3906596"/>
          </a:xfrm>
          <a:prstGeom prst="rect">
            <a:avLst/>
          </a:prstGeom>
          <a:noFill/>
          <a:ln/>
        </p:spPr>
        <p:txBody>
          <a:bodyPr wrap="square" lIns="0" tIns="0" rIns="0" bIns="0" rtlCol="0" anchor="t"/>
          <a:lstStyle>
            <a:lvl1pPr marL="0" indent="0" algn="l">
              <a:lnSpc>
                <a:spcPct val="140000"/>
              </a:lnSpc>
              <a:buNone/>
              <a:defRPr lang="en-US" sz="1600" dirty="0">
                <a:solidFill>
                  <a:srgbClr val="101820"/>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0"/>
        </a:solidFill>
        <a:effectLst/>
      </p:bgPr>
    </p:bg>
    <p:spTree>
      <p:nvGrpSpPr>
        <p:cNvPr id="1" name=""/>
        <p:cNvGrpSpPr/>
        <p:nvPr/>
      </p:nvGrpSpPr>
      <p:grpSpPr>
        <a:xfrm>
          <a:off x="0" y="0"/>
          <a:ext cx="0" cy="0"/>
          <a:chOff x="0" y="0"/>
          <a:chExt cx="0" cy="0"/>
        </a:xfrm>
      </p:grpSpPr>
      <p:sp>
        <p:nvSpPr>
          <p:cNvPr id="2" name="Text 0"/>
          <p:cNvSpPr/>
          <p:nvPr/>
        </p:nvSpPr>
        <p:spPr>
          <a:xfrm>
            <a:off x="812765" y="812765"/>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FB454"/>
                </a:solidFill>
                <a:latin typeface="JetBrains Mono" pitchFamily="49" charset="0"/>
                <a:ea typeface="JetBrains Mono" pitchFamily="49" charset="-122"/>
                <a:cs typeface="JetBrains Mono" pitchFamily="49" charset="-120"/>
              </a:rPr>
              <a:t>INGINERIE SOFTWARE · CURSUL 1 · PARTEA A DOUA</a:t>
            </a:r>
            <a:endParaRPr lang="en-US" sz="1200" dirty="0"/>
          </a:p>
        </p:txBody>
      </p:sp>
      <p:sp>
        <p:nvSpPr>
          <p:cNvPr id="3" name="Text 1"/>
          <p:cNvSpPr>
            <a:spLocks noGrp="1"/>
          </p:cNvSpPr>
          <p:nvPr>
            <p:ph type="title"/>
          </p:nvPr>
        </p:nvSpPr>
        <p:spPr>
          <a:xfrm>
            <a:off x="812765" y="3596690"/>
            <a:ext cx="10883436" cy="1625569"/>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4EE"/>
                </a:solidFill>
                <a:latin typeface="IBM Plex Sans" pitchFamily="34" charset="0"/>
                <a:ea typeface="IBM Plex Sans" pitchFamily="34" charset="-122"/>
                <a:cs typeface="IBM Plex Sans" pitchFamily="34" charset="-120"/>
              </a:rPr>
              <a:t>Software Development Life Cycle</a:t>
            </a:r>
            <a:endParaRPr lang="en-US" sz="6000" dirty="0"/>
          </a:p>
        </p:txBody>
      </p:sp>
      <p:sp>
        <p:nvSpPr>
          <p:cNvPr id="4" name="Text 2"/>
          <p:cNvSpPr/>
          <p:nvPr/>
        </p:nvSpPr>
        <p:spPr>
          <a:xfrm>
            <a:off x="812765" y="5450829"/>
            <a:ext cx="10883436" cy="416589"/>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9C4CF"/>
                </a:solidFill>
                <a:latin typeface="IBM Plex Sans" pitchFamily="34" charset="0"/>
                <a:ea typeface="IBM Plex Sans" pitchFamily="34" charset="-122"/>
                <a:cs typeface="IBM Plex Sans" pitchFamily="34" charset="-120"/>
              </a:rPr>
              <a:t>Ce este ingineria software și prin ce etape trece un sistem</a:t>
            </a:r>
            <a:endParaRPr lang="en-US" sz="2200" dirty="0"/>
          </a:p>
        </p:txBody>
      </p:sp>
      <p:sp>
        <p:nvSpPr>
          <p:cNvPr id="5" name="Text 3"/>
          <p:cNvSpPr/>
          <p:nvPr/>
        </p:nvSpPr>
        <p:spPr>
          <a:xfrm>
            <a:off x="812765" y="6238278"/>
            <a:ext cx="8502647"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4CF"/>
                </a:solidFill>
                <a:latin typeface="IBM Plex Sans" pitchFamily="34" charset="0"/>
                <a:ea typeface="IBM Plex Sans" pitchFamily="34" charset="-122"/>
                <a:cs typeface="IBM Plex Sans" pitchFamily="34" charset="-120"/>
              </a:rPr>
              <a:t>Rareș Cristea · FMI-UB · 2026–27</a:t>
            </a:r>
            <a:endParaRPr lang="en-US" sz="1200" dirty="0"/>
          </a:p>
        </p:txBody>
      </p:sp>
      <p:sp>
        <p:nvSpPr>
          <p:cNvPr id="6" name="Text 4"/>
          <p:cNvSpPr/>
          <p:nvPr/>
        </p:nvSpPr>
        <p:spPr>
          <a:xfrm>
            <a:off x="10312440" y="6238278"/>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4CF"/>
                </a:solidFill>
                <a:latin typeface="JetBrains Mono" pitchFamily="49" charset="0"/>
                <a:ea typeface="JetBrains Mono" pitchFamily="49" charset="-122"/>
                <a:cs typeface="JetBrains Mono" pitchFamily="49" charset="-120"/>
              </a:rPr>
              <a:t>1 / 14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5"/>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DE CE „INGINERIE”</a:t>
            </a:r>
            <a:endParaRPr lang="en-US" sz="1200" dirty="0"/>
          </a:p>
        </p:txBody>
      </p:sp>
      <p:sp>
        <p:nvSpPr>
          <p:cNvPr id="3" name="Text 1"/>
          <p:cNvSpPr>
            <a:spLocks noGrp="1"/>
          </p:cNvSpPr>
          <p:nvPr>
            <p:ph type="title"/>
          </p:nvPr>
        </p:nvSpPr>
        <p:spPr>
          <a:xfrm>
            <a:off x="812765" y="1330893"/>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Un program nu e încă software</a:t>
            </a:r>
            <a:endParaRPr lang="en-US" sz="3600" dirty="0"/>
          </a:p>
        </p:txBody>
      </p:sp>
      <p:sp>
        <p:nvSpPr>
          <p:cNvPr id="4" name="Shape 2"/>
          <p:cNvSpPr/>
          <p:nvPr/>
        </p:nvSpPr>
        <p:spPr>
          <a:xfrm>
            <a:off x="815940" y="2225632"/>
            <a:ext cx="5175247" cy="2533614"/>
          </a:xfrm>
          <a:prstGeom prst="roundRect">
            <a:avLst>
              <a:gd name="adj" fmla="val 3885"/>
            </a:avLst>
          </a:prstGeom>
          <a:solidFill>
            <a:srgbClr val="FFFDF8"/>
          </a:solidFill>
          <a:ln w="6350">
            <a:solidFill>
              <a:srgbClr val="D9D3C5"/>
            </a:solidFill>
            <a:prstDash val="solid"/>
          </a:ln>
        </p:spPr>
      </p:sp>
      <p:sp>
        <p:nvSpPr>
          <p:cNvPr id="5" name="Text 3"/>
          <p:cNvSpPr/>
          <p:nvPr/>
        </p:nvSpPr>
        <p:spPr>
          <a:xfrm>
            <a:off x="1072531" y="2482224"/>
            <a:ext cx="4801927"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Program personal</a:t>
            </a:r>
            <a:endParaRPr lang="en-US" sz="1200" dirty="0"/>
          </a:p>
        </p:txBody>
      </p:sp>
      <p:sp>
        <p:nvSpPr>
          <p:cNvPr id="6" name="Text 4"/>
          <p:cNvSpPr/>
          <p:nvPr/>
        </p:nvSpPr>
        <p:spPr>
          <a:xfrm>
            <a:off x="1072531" y="2822555"/>
            <a:ext cx="4801927" cy="36070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01820"/>
                </a:solidFill>
                <a:latin typeface="IBM Plex Sans" pitchFamily="34" charset="0"/>
                <a:ea typeface="IBM Plex Sans" pitchFamily="34" charset="-122"/>
                <a:cs typeface="IBM Plex Sans" pitchFamily="34" charset="-120"/>
              </a:rPr>
              <a:t>Îl scrii pentru tine</a:t>
            </a:r>
            <a:endParaRPr lang="en-US" sz="2200" dirty="0"/>
          </a:p>
        </p:txBody>
      </p:sp>
      <p:sp>
        <p:nvSpPr>
          <p:cNvPr id="7" name="Text 5"/>
          <p:cNvSpPr/>
          <p:nvPr/>
        </p:nvSpPr>
        <p:spPr>
          <a:xfrm>
            <a:off x="1072531" y="3284844"/>
            <a:ext cx="4801927" cy="77209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Nu-l folosește și nu-l schimbă nimeni altcineva. Nu ai nevoie de ghiduri, de documentația design-ului sau de un proces.</a:t>
            </a:r>
            <a:endParaRPr lang="en-US" sz="1400" dirty="0"/>
          </a:p>
        </p:txBody>
      </p:sp>
      <p:sp>
        <p:nvSpPr>
          <p:cNvPr id="8" name="Shape 6"/>
          <p:cNvSpPr/>
          <p:nvPr/>
        </p:nvSpPr>
        <p:spPr>
          <a:xfrm>
            <a:off x="6197565" y="2222457"/>
            <a:ext cx="5181597" cy="2539964"/>
          </a:xfrm>
          <a:prstGeom prst="roundRect">
            <a:avLst>
              <a:gd name="adj" fmla="val 4000"/>
            </a:avLst>
          </a:prstGeom>
          <a:solidFill>
            <a:srgbClr val="101820"/>
          </a:solidFill>
          <a:ln/>
        </p:spPr>
      </p:sp>
      <p:sp>
        <p:nvSpPr>
          <p:cNvPr id="9" name="Text 7"/>
          <p:cNvSpPr/>
          <p:nvPr/>
        </p:nvSpPr>
        <p:spPr>
          <a:xfrm>
            <a:off x="6451534" y="2476426"/>
            <a:ext cx="4813869"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B454"/>
                </a:solidFill>
                <a:latin typeface="JetBrains Mono" pitchFamily="49" charset="0"/>
                <a:ea typeface="JetBrains Mono" pitchFamily="49" charset="-122"/>
                <a:cs typeface="JetBrains Mono" pitchFamily="49" charset="-120"/>
              </a:rPr>
              <a:t>Software profesional</a:t>
            </a:r>
            <a:endParaRPr lang="en-US" sz="1200" dirty="0"/>
          </a:p>
        </p:txBody>
      </p:sp>
      <p:sp>
        <p:nvSpPr>
          <p:cNvPr id="10" name="Text 8"/>
          <p:cNvSpPr/>
          <p:nvPr/>
        </p:nvSpPr>
        <p:spPr>
          <a:xfrm>
            <a:off x="6451534" y="2816758"/>
            <a:ext cx="4813869" cy="36070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6F4EE"/>
                </a:solidFill>
                <a:latin typeface="IBM Plex Sans" pitchFamily="34" charset="0"/>
                <a:ea typeface="IBM Plex Sans" pitchFamily="34" charset="-122"/>
                <a:cs typeface="IBM Plex Sans" pitchFamily="34" charset="-120"/>
              </a:rPr>
              <a:t>Îl folosesc și îl schimbă alții</a:t>
            </a:r>
            <a:endParaRPr lang="en-US" sz="2200" dirty="0"/>
          </a:p>
        </p:txBody>
      </p:sp>
      <p:sp>
        <p:nvSpPr>
          <p:cNvPr id="11" name="Text 9"/>
          <p:cNvSpPr/>
          <p:nvPr/>
        </p:nvSpPr>
        <p:spPr>
          <a:xfrm>
            <a:off x="6451534" y="3279047"/>
            <a:ext cx="4813869" cy="77209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4CF"/>
                </a:solidFill>
                <a:latin typeface="IBM Plex Sans" pitchFamily="34" charset="0"/>
                <a:ea typeface="IBM Plex Sans" pitchFamily="34" charset="-122"/>
                <a:cs typeface="IBM Plex Sans" pitchFamily="34" charset="-120"/>
              </a:rPr>
              <a:t>E făcut de echipe, pentru altcineva decât autorii lui, și e întreținut și modificat toată viața. Include documentația, bibliotecile și configurarea care îl fac utilizabil.</a:t>
            </a:r>
            <a:endParaRPr lang="en-US" sz="1400" dirty="0"/>
          </a:p>
        </p:txBody>
      </p:sp>
      <p:sp>
        <p:nvSpPr>
          <p:cNvPr id="12" name="Text 10"/>
          <p:cNvSpPr/>
          <p:nvPr/>
        </p:nvSpPr>
        <p:spPr>
          <a:xfrm>
            <a:off x="812765" y="6238278"/>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Sursa: Sommerville, Software Engineering, ed. 10, §1.1, p. 19–20.</a:t>
            </a:r>
            <a:endParaRPr lang="en-US" sz="1200" dirty="0"/>
          </a:p>
        </p:txBody>
      </p:sp>
      <p:sp>
        <p:nvSpPr>
          <p:cNvPr id="13" name="Text 11"/>
          <p:cNvSpPr/>
          <p:nvPr/>
        </p:nvSpPr>
        <p:spPr>
          <a:xfrm>
            <a:off x="10312440" y="6238278"/>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2 /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DEFINIȚIE</a:t>
            </a:r>
            <a:endParaRPr lang="en-US" sz="1200" dirty="0"/>
          </a:p>
        </p:txBody>
      </p:sp>
      <p:sp>
        <p:nvSpPr>
          <p:cNvPr id="3" name="Text 1"/>
          <p:cNvSpPr>
            <a:spLocks noGrp="1"/>
          </p:cNvSpPr>
          <p:nvPr>
            <p:ph type="title"/>
          </p:nvPr>
        </p:nvSpPr>
        <p:spPr>
          <a:xfrm>
            <a:off x="812765" y="1330894"/>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Ce este ingineria software</a:t>
            </a:r>
            <a:endParaRPr lang="en-US" sz="3600" dirty="0"/>
          </a:p>
        </p:txBody>
      </p:sp>
      <p:sp>
        <p:nvSpPr>
          <p:cNvPr id="4" name="Shape 2"/>
          <p:cNvSpPr/>
          <p:nvPr/>
        </p:nvSpPr>
        <p:spPr>
          <a:xfrm>
            <a:off x="812765" y="2222458"/>
            <a:ext cx="10566398" cy="1663662"/>
          </a:xfrm>
          <a:prstGeom prst="roundRect">
            <a:avLst>
              <a:gd name="adj" fmla="val 6107"/>
            </a:avLst>
          </a:prstGeom>
          <a:solidFill>
            <a:srgbClr val="101820"/>
          </a:solidFill>
          <a:ln/>
        </p:spPr>
      </p:sp>
      <p:sp>
        <p:nvSpPr>
          <p:cNvPr id="5" name="Text 3"/>
          <p:cNvSpPr/>
          <p:nvPr/>
        </p:nvSpPr>
        <p:spPr>
          <a:xfrm>
            <a:off x="1066734" y="2451021"/>
            <a:ext cx="10360213" cy="696009"/>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F6F4EE"/>
                </a:solidFill>
                <a:latin typeface="IBM Plex Sans" pitchFamily="34" charset="0"/>
                <a:ea typeface="IBM Plex Sans" pitchFamily="34" charset="-122"/>
                <a:cs typeface="IBM Plex Sans" pitchFamily="34" charset="-120"/>
              </a:rPr>
              <a:t>“The application of a systematic, disciplined, quantifiable approach to the development, operation, and maintenance of software.”</a:t>
            </a:r>
            <a:endParaRPr lang="en-US" sz="2200" dirty="0"/>
          </a:p>
        </p:txBody>
      </p:sp>
      <p:sp>
        <p:nvSpPr>
          <p:cNvPr id="6" name="Text 4"/>
          <p:cNvSpPr/>
          <p:nvPr/>
        </p:nvSpPr>
        <p:spPr>
          <a:xfrm>
            <a:off x="1066734" y="3223208"/>
            <a:ext cx="10360213"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B454"/>
                </a:solidFill>
                <a:latin typeface="JetBrains Mono" pitchFamily="49" charset="0"/>
                <a:ea typeface="JetBrains Mono" pitchFamily="49" charset="-122"/>
                <a:cs typeface="JetBrains Mono" pitchFamily="49" charset="-120"/>
              </a:rPr>
              <a:t>IEEE Std 610.12-1990</a:t>
            </a:r>
            <a:endParaRPr lang="en-US" sz="1200" dirty="0"/>
          </a:p>
        </p:txBody>
      </p:sp>
      <p:sp>
        <p:nvSpPr>
          <p:cNvPr id="7" name="Shape 5"/>
          <p:cNvSpPr/>
          <p:nvPr/>
        </p:nvSpPr>
        <p:spPr>
          <a:xfrm>
            <a:off x="815940" y="4041775"/>
            <a:ext cx="5175247" cy="1581139"/>
          </a:xfrm>
          <a:prstGeom prst="roundRect">
            <a:avLst>
              <a:gd name="adj" fmla="val 6225"/>
            </a:avLst>
          </a:prstGeom>
          <a:solidFill>
            <a:srgbClr val="FFFDF8"/>
          </a:solidFill>
          <a:ln w="6350">
            <a:solidFill>
              <a:srgbClr val="D9D3C5"/>
            </a:solidFill>
            <a:prstDash val="solid"/>
          </a:ln>
        </p:spPr>
      </p:sp>
      <p:sp>
        <p:nvSpPr>
          <p:cNvPr id="8" name="Text 6"/>
          <p:cNvSpPr/>
          <p:nvPr/>
        </p:nvSpPr>
        <p:spPr>
          <a:xfrm>
            <a:off x="1072531" y="4247555"/>
            <a:ext cx="4801927"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Disciplină inginerească</a:t>
            </a:r>
            <a:endParaRPr lang="en-US" sz="1200" dirty="0"/>
          </a:p>
        </p:txBody>
      </p:sp>
      <p:sp>
        <p:nvSpPr>
          <p:cNvPr id="9" name="Text 7"/>
          <p:cNvSpPr/>
          <p:nvPr/>
        </p:nvSpPr>
        <p:spPr>
          <a:xfrm>
            <a:off x="1072531" y="4537073"/>
            <a:ext cx="4801927" cy="77209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Faci lucrurile să funcționeze în limite de timp, buget și organizație. Alegi metoda potrivită situației; inginerii nu pot fi perfecționiști.</a:t>
            </a:r>
            <a:endParaRPr lang="en-US" sz="1400" dirty="0"/>
          </a:p>
        </p:txBody>
      </p:sp>
      <p:sp>
        <p:nvSpPr>
          <p:cNvPr id="10" name="Shape 8"/>
          <p:cNvSpPr/>
          <p:nvPr/>
        </p:nvSpPr>
        <p:spPr>
          <a:xfrm>
            <a:off x="6200740" y="4041775"/>
            <a:ext cx="5175247" cy="1581139"/>
          </a:xfrm>
          <a:prstGeom prst="roundRect">
            <a:avLst>
              <a:gd name="adj" fmla="val 6225"/>
            </a:avLst>
          </a:prstGeom>
          <a:solidFill>
            <a:srgbClr val="FFFDF8"/>
          </a:solidFill>
          <a:ln w="6350">
            <a:solidFill>
              <a:srgbClr val="D9D3C5"/>
            </a:solidFill>
            <a:prstDash val="solid"/>
          </a:ln>
        </p:spPr>
      </p:sp>
      <p:sp>
        <p:nvSpPr>
          <p:cNvPr id="11" name="Text 9"/>
          <p:cNvSpPr/>
          <p:nvPr/>
        </p:nvSpPr>
        <p:spPr>
          <a:xfrm>
            <a:off x="6457331" y="4247555"/>
            <a:ext cx="4801927"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Toate aspectele producției</a:t>
            </a:r>
            <a:endParaRPr lang="en-US" sz="1200" dirty="0"/>
          </a:p>
        </p:txBody>
      </p:sp>
      <p:sp>
        <p:nvSpPr>
          <p:cNvPr id="12" name="Text 10"/>
          <p:cNvSpPr/>
          <p:nvPr/>
        </p:nvSpPr>
        <p:spPr>
          <a:xfrm>
            <a:off x="6457331" y="4537073"/>
            <a:ext cx="4801927" cy="77209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De la primele etape de specificare până la întreținerea sistemului aflat în uz. Nu doar partea tehnică: și managementul proiectului, uneltele, metodele.</a:t>
            </a:r>
            <a:endParaRPr lang="en-US" sz="1400" dirty="0"/>
          </a:p>
        </p:txBody>
      </p:sp>
      <p:sp>
        <p:nvSpPr>
          <p:cNvPr id="13" name="Text 11"/>
          <p:cNvSpPr/>
          <p:nvPr/>
        </p:nvSpPr>
        <p:spPr>
          <a:xfrm>
            <a:off x="812765" y="6238278"/>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Surse: IEEE Std 610.12-1990; Sommerville, Software Engineering, ed. 10, §1.1.1, p. 21–22.</a:t>
            </a:r>
            <a:endParaRPr lang="en-US" sz="1200" dirty="0"/>
          </a:p>
        </p:txBody>
      </p:sp>
      <p:sp>
        <p:nvSpPr>
          <p:cNvPr id="14" name="Text 12"/>
          <p:cNvSpPr/>
          <p:nvPr/>
        </p:nvSpPr>
        <p:spPr>
          <a:xfrm>
            <a:off x="10312440" y="6238278"/>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3 / 14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PATRU CARACTERISTICI ESENȚIALE</a:t>
            </a:r>
            <a:endParaRPr lang="en-US" sz="1200" dirty="0"/>
          </a:p>
        </p:txBody>
      </p:sp>
      <p:sp>
        <p:nvSpPr>
          <p:cNvPr id="3" name="Text 1"/>
          <p:cNvSpPr>
            <a:spLocks noGrp="1"/>
          </p:cNvSpPr>
          <p:nvPr>
            <p:ph type="title"/>
          </p:nvPr>
        </p:nvSpPr>
        <p:spPr>
          <a:xfrm>
            <a:off x="812765" y="1330894"/>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Ce înseamnă software bun</a:t>
            </a:r>
            <a:endParaRPr lang="en-US" sz="3600" dirty="0"/>
          </a:p>
        </p:txBody>
      </p:sp>
      <p:sp>
        <p:nvSpPr>
          <p:cNvPr id="4" name="Shape 2"/>
          <p:cNvSpPr/>
          <p:nvPr/>
        </p:nvSpPr>
        <p:spPr>
          <a:xfrm>
            <a:off x="815940" y="2225633"/>
            <a:ext cx="2482847" cy="2470122"/>
          </a:xfrm>
          <a:prstGeom prst="roundRect">
            <a:avLst>
              <a:gd name="adj" fmla="val 3985"/>
            </a:avLst>
          </a:prstGeom>
          <a:solidFill>
            <a:srgbClr val="FFFDF8"/>
          </a:solidFill>
          <a:ln w="6350">
            <a:solidFill>
              <a:srgbClr val="D9D3C5"/>
            </a:solidFill>
            <a:prstDash val="solid"/>
          </a:ln>
        </p:spPr>
      </p:sp>
      <p:sp>
        <p:nvSpPr>
          <p:cNvPr id="5" name="Text 3"/>
          <p:cNvSpPr/>
          <p:nvPr/>
        </p:nvSpPr>
        <p:spPr>
          <a:xfrm>
            <a:off x="1021719" y="2431411"/>
            <a:ext cx="2133428" cy="25649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01820"/>
                </a:solidFill>
                <a:latin typeface="IBM Plex Sans" pitchFamily="34" charset="0"/>
                <a:ea typeface="IBM Plex Sans" pitchFamily="34" charset="-122"/>
                <a:cs typeface="IBM Plex Sans" pitchFamily="34" charset="-120"/>
              </a:rPr>
              <a:t>Acceptability</a:t>
            </a:r>
            <a:endParaRPr lang="en-US" sz="1400" dirty="0"/>
          </a:p>
        </p:txBody>
      </p:sp>
      <p:sp>
        <p:nvSpPr>
          <p:cNvPr id="6" name="Text 4"/>
          <p:cNvSpPr/>
          <p:nvPr/>
        </p:nvSpPr>
        <p:spPr>
          <a:xfrm>
            <a:off x="1021719" y="2738684"/>
            <a:ext cx="2133428" cy="87878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5C"/>
                </a:solidFill>
                <a:latin typeface="IBM Plex Sans" pitchFamily="34" charset="0"/>
                <a:ea typeface="IBM Plex Sans" pitchFamily="34" charset="-122"/>
                <a:cs typeface="IBM Plex Sans" pitchFamily="34" charset="-120"/>
              </a:rPr>
              <a:t>Potrivit pentru utilizatorii lui: ușor de înțeles, de folosit și compatibil cu celelalte sisteme pe care le folosesc.</a:t>
            </a:r>
            <a:endParaRPr lang="en-US" sz="1200" dirty="0"/>
          </a:p>
        </p:txBody>
      </p:sp>
      <p:sp>
        <p:nvSpPr>
          <p:cNvPr id="7" name="Shape 5"/>
          <p:cNvSpPr/>
          <p:nvPr/>
        </p:nvSpPr>
        <p:spPr>
          <a:xfrm>
            <a:off x="3508340" y="2225633"/>
            <a:ext cx="2482847" cy="2470122"/>
          </a:xfrm>
          <a:prstGeom prst="roundRect">
            <a:avLst>
              <a:gd name="adj" fmla="val 3985"/>
            </a:avLst>
          </a:prstGeom>
          <a:solidFill>
            <a:srgbClr val="FFFDF8"/>
          </a:solidFill>
          <a:ln w="6350">
            <a:solidFill>
              <a:srgbClr val="D9D3C5"/>
            </a:solidFill>
            <a:prstDash val="solid"/>
          </a:ln>
        </p:spPr>
      </p:sp>
      <p:sp>
        <p:nvSpPr>
          <p:cNvPr id="8" name="Text 6"/>
          <p:cNvSpPr/>
          <p:nvPr/>
        </p:nvSpPr>
        <p:spPr>
          <a:xfrm>
            <a:off x="3714119" y="2431411"/>
            <a:ext cx="2133428" cy="48759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01820"/>
                </a:solidFill>
                <a:latin typeface="IBM Plex Sans" pitchFamily="34" charset="0"/>
                <a:ea typeface="IBM Plex Sans" pitchFamily="34" charset="-122"/>
                <a:cs typeface="IBM Plex Sans" pitchFamily="34" charset="-120"/>
              </a:rPr>
              <a:t>Dependability and security</a:t>
            </a:r>
            <a:endParaRPr lang="en-US" sz="1400" dirty="0"/>
          </a:p>
        </p:txBody>
      </p:sp>
      <p:sp>
        <p:nvSpPr>
          <p:cNvPr id="9" name="Text 7"/>
          <p:cNvSpPr/>
          <p:nvPr/>
        </p:nvSpPr>
        <p:spPr>
          <a:xfrm>
            <a:off x="3714119" y="2969783"/>
            <a:ext cx="2133428" cy="87878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5C"/>
                </a:solidFill>
                <a:latin typeface="IBM Plex Sans" pitchFamily="34" charset="0"/>
                <a:ea typeface="IBM Plex Sans" pitchFamily="34" charset="-122"/>
                <a:cs typeface="IBM Plex Sans" pitchFamily="34" charset="-120"/>
              </a:rPr>
              <a:t>Fiabil și sigur: nu produce pagube când cade, iar utilizatorii rău-intenționați nu îl pot accesa sau strica.</a:t>
            </a:r>
            <a:endParaRPr lang="en-US" sz="1200" dirty="0"/>
          </a:p>
        </p:txBody>
      </p:sp>
      <p:sp>
        <p:nvSpPr>
          <p:cNvPr id="10" name="Shape 8"/>
          <p:cNvSpPr/>
          <p:nvPr/>
        </p:nvSpPr>
        <p:spPr>
          <a:xfrm>
            <a:off x="6200740" y="2225633"/>
            <a:ext cx="2482847" cy="2470122"/>
          </a:xfrm>
          <a:prstGeom prst="roundRect">
            <a:avLst>
              <a:gd name="adj" fmla="val 3985"/>
            </a:avLst>
          </a:prstGeom>
          <a:solidFill>
            <a:srgbClr val="FFFDF8"/>
          </a:solidFill>
          <a:ln w="6350">
            <a:solidFill>
              <a:srgbClr val="D9D3C5"/>
            </a:solidFill>
            <a:prstDash val="solid"/>
          </a:ln>
        </p:spPr>
      </p:sp>
      <p:sp>
        <p:nvSpPr>
          <p:cNvPr id="11" name="Text 9"/>
          <p:cNvSpPr/>
          <p:nvPr/>
        </p:nvSpPr>
        <p:spPr>
          <a:xfrm>
            <a:off x="6406519" y="2431411"/>
            <a:ext cx="2133428" cy="25649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01820"/>
                </a:solidFill>
                <a:latin typeface="IBM Plex Sans" pitchFamily="34" charset="0"/>
                <a:ea typeface="IBM Plex Sans" pitchFamily="34" charset="-122"/>
                <a:cs typeface="IBM Plex Sans" pitchFamily="34" charset="-120"/>
              </a:rPr>
              <a:t>Efficiency</a:t>
            </a:r>
            <a:endParaRPr lang="en-US" sz="1400" dirty="0"/>
          </a:p>
        </p:txBody>
      </p:sp>
      <p:sp>
        <p:nvSpPr>
          <p:cNvPr id="12" name="Text 10"/>
          <p:cNvSpPr/>
          <p:nvPr/>
        </p:nvSpPr>
        <p:spPr>
          <a:xfrm>
            <a:off x="6406519" y="2738684"/>
            <a:ext cx="2133428" cy="6654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5C"/>
                </a:solidFill>
                <a:latin typeface="IBM Plex Sans" pitchFamily="34" charset="0"/>
                <a:ea typeface="IBM Plex Sans" pitchFamily="34" charset="-122"/>
                <a:cs typeface="IBM Plex Sans" pitchFamily="34" charset="-120"/>
              </a:rPr>
              <a:t>Nu risipește resurse: timp de răspuns, timp de procesare, memorie.</a:t>
            </a:r>
            <a:endParaRPr lang="en-US" sz="1200" dirty="0"/>
          </a:p>
        </p:txBody>
      </p:sp>
      <p:sp>
        <p:nvSpPr>
          <p:cNvPr id="13" name="Shape 11"/>
          <p:cNvSpPr/>
          <p:nvPr/>
        </p:nvSpPr>
        <p:spPr>
          <a:xfrm>
            <a:off x="8893140" y="2225633"/>
            <a:ext cx="2482847" cy="2470122"/>
          </a:xfrm>
          <a:prstGeom prst="roundRect">
            <a:avLst>
              <a:gd name="adj" fmla="val 3985"/>
            </a:avLst>
          </a:prstGeom>
          <a:solidFill>
            <a:srgbClr val="FFFDF8"/>
          </a:solidFill>
          <a:ln w="6350">
            <a:solidFill>
              <a:srgbClr val="D9D3C5"/>
            </a:solidFill>
            <a:prstDash val="solid"/>
          </a:ln>
        </p:spPr>
      </p:sp>
      <p:sp>
        <p:nvSpPr>
          <p:cNvPr id="14" name="Text 12"/>
          <p:cNvSpPr/>
          <p:nvPr/>
        </p:nvSpPr>
        <p:spPr>
          <a:xfrm>
            <a:off x="9098919" y="2431411"/>
            <a:ext cx="2133428" cy="25649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01820"/>
                </a:solidFill>
                <a:latin typeface="IBM Plex Sans" pitchFamily="34" charset="0"/>
                <a:ea typeface="IBM Plex Sans" pitchFamily="34" charset="-122"/>
                <a:cs typeface="IBM Plex Sans" pitchFamily="34" charset="-120"/>
              </a:rPr>
              <a:t>Maintainability</a:t>
            </a:r>
            <a:endParaRPr lang="en-US" sz="1400" dirty="0"/>
          </a:p>
        </p:txBody>
      </p:sp>
      <p:sp>
        <p:nvSpPr>
          <p:cNvPr id="15" name="Text 13"/>
          <p:cNvSpPr/>
          <p:nvPr/>
        </p:nvSpPr>
        <p:spPr>
          <a:xfrm>
            <a:off x="9098919" y="2738684"/>
            <a:ext cx="2133428" cy="87878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5C"/>
                </a:solidFill>
                <a:latin typeface="IBM Plex Sans" pitchFamily="34" charset="0"/>
                <a:ea typeface="IBM Plex Sans" pitchFamily="34" charset="-122"/>
                <a:cs typeface="IBM Plex Sans" pitchFamily="34" charset="-120"/>
              </a:rPr>
              <a:t>Scris astfel încât să poată evolua odată cu nevoile clienților. Schimbarea este inevitabilă.</a:t>
            </a:r>
            <a:endParaRPr lang="en-US" sz="1200" dirty="0"/>
          </a:p>
        </p:txBody>
      </p:sp>
      <p:sp>
        <p:nvSpPr>
          <p:cNvPr id="16" name="Text 14"/>
          <p:cNvSpPr/>
          <p:nvPr/>
        </p:nvSpPr>
        <p:spPr>
          <a:xfrm>
            <a:off x="812765" y="4902177"/>
            <a:ext cx="10566398" cy="553678"/>
          </a:xfrm>
          <a:prstGeom prst="roundRect">
            <a:avLst>
              <a:gd name="adj" fmla="val 18350"/>
            </a:avLst>
          </a:prstGeom>
          <a:solidFill>
            <a:srgbClr val="101820"/>
          </a:solidFill>
          <a:ln/>
        </p:spPr>
        <p:txBody>
          <a:bodyPr wrap="square" lIns="224242" tIns="122642" rIns="0" bIns="97242"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În curs le numim architecture characteristics. Cele trei întrebări (corect, sigur, mentenabil) pornesc de aici.</a:t>
            </a:r>
            <a:endParaRPr lang="en-US" sz="1400" dirty="0"/>
          </a:p>
        </p:txBody>
      </p:sp>
      <p:sp>
        <p:nvSpPr>
          <p:cNvPr id="17" name="Text 15"/>
          <p:cNvSpPr/>
          <p:nvPr/>
        </p:nvSpPr>
        <p:spPr>
          <a:xfrm>
            <a:off x="812765" y="6238280"/>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Sursa: Sommerville, Software Engineering, ed. 10, Figura 1.2, p. 22.</a:t>
            </a:r>
            <a:endParaRPr lang="en-US" sz="1200" dirty="0"/>
          </a:p>
        </p:txBody>
      </p:sp>
      <p:sp>
        <p:nvSpPr>
          <p:cNvPr id="18" name="Text 16"/>
          <p:cNvSpPr/>
          <p:nvPr/>
        </p:nvSpPr>
        <p:spPr>
          <a:xfrm>
            <a:off x="10312440" y="6238280"/>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4 / 14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8DD"/>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PROCESUL SOFTWARE</a:t>
            </a:r>
            <a:endParaRPr lang="en-US" sz="1200" dirty="0"/>
          </a:p>
        </p:txBody>
      </p:sp>
      <p:sp>
        <p:nvSpPr>
          <p:cNvPr id="3" name="Text 1"/>
          <p:cNvSpPr>
            <a:spLocks noGrp="1"/>
          </p:cNvSpPr>
          <p:nvPr>
            <p:ph type="title"/>
          </p:nvPr>
        </p:nvSpPr>
        <p:spPr>
          <a:xfrm>
            <a:off x="812765" y="1330892"/>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Patru activități, în orice proces</a:t>
            </a:r>
            <a:endParaRPr lang="en-US" sz="3600" dirty="0"/>
          </a:p>
        </p:txBody>
      </p:sp>
      <p:sp>
        <p:nvSpPr>
          <p:cNvPr id="4" name="Shape 2"/>
          <p:cNvSpPr/>
          <p:nvPr/>
        </p:nvSpPr>
        <p:spPr>
          <a:xfrm>
            <a:off x="815940" y="2225632"/>
            <a:ext cx="2482847" cy="2470122"/>
          </a:xfrm>
          <a:prstGeom prst="roundRect">
            <a:avLst>
              <a:gd name="adj" fmla="val 3985"/>
            </a:avLst>
          </a:prstGeom>
          <a:solidFill>
            <a:srgbClr val="FFFDF8"/>
          </a:solidFill>
          <a:ln w="6350">
            <a:solidFill>
              <a:srgbClr val="D9D3C5"/>
            </a:solidFill>
            <a:prstDash val="solid"/>
          </a:ln>
        </p:spPr>
      </p:sp>
      <p:sp>
        <p:nvSpPr>
          <p:cNvPr id="5" name="Text 3"/>
          <p:cNvSpPr/>
          <p:nvPr/>
        </p:nvSpPr>
        <p:spPr>
          <a:xfrm>
            <a:off x="1021719" y="2431411"/>
            <a:ext cx="213342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1021719" y="2720932"/>
            <a:ext cx="2133428" cy="25649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01820"/>
                </a:solidFill>
                <a:latin typeface="IBM Plex Sans" pitchFamily="34" charset="0"/>
                <a:ea typeface="IBM Plex Sans" pitchFamily="34" charset="-122"/>
                <a:cs typeface="IBM Plex Sans" pitchFamily="34" charset="-120"/>
              </a:rPr>
              <a:t>Specification</a:t>
            </a:r>
            <a:endParaRPr lang="en-US" sz="1400" dirty="0"/>
          </a:p>
        </p:txBody>
      </p:sp>
      <p:sp>
        <p:nvSpPr>
          <p:cNvPr id="7" name="Text 5"/>
          <p:cNvSpPr/>
          <p:nvPr/>
        </p:nvSpPr>
        <p:spPr>
          <a:xfrm>
            <a:off x="1021719" y="3028203"/>
            <a:ext cx="2133428" cy="6654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5C"/>
                </a:solidFill>
                <a:latin typeface="IBM Plex Sans" pitchFamily="34" charset="0"/>
                <a:ea typeface="IBM Plex Sans" pitchFamily="34" charset="-122"/>
                <a:cs typeface="IBM Plex Sans" pitchFamily="34" charset="-120"/>
              </a:rPr>
              <a:t>Clienții și inginerii definesc ce software se produce și în ce constrângeri funcționează.</a:t>
            </a:r>
            <a:endParaRPr lang="en-US" sz="1200" dirty="0"/>
          </a:p>
        </p:txBody>
      </p:sp>
      <p:sp>
        <p:nvSpPr>
          <p:cNvPr id="8" name="Shape 6"/>
          <p:cNvSpPr/>
          <p:nvPr/>
        </p:nvSpPr>
        <p:spPr>
          <a:xfrm>
            <a:off x="3508340" y="2225632"/>
            <a:ext cx="2482847" cy="2470122"/>
          </a:xfrm>
          <a:prstGeom prst="roundRect">
            <a:avLst>
              <a:gd name="adj" fmla="val 3985"/>
            </a:avLst>
          </a:prstGeom>
          <a:solidFill>
            <a:srgbClr val="FFFDF8"/>
          </a:solidFill>
          <a:ln w="6350">
            <a:solidFill>
              <a:srgbClr val="D9D3C5"/>
            </a:solidFill>
            <a:prstDash val="solid"/>
          </a:ln>
        </p:spPr>
      </p:sp>
      <p:sp>
        <p:nvSpPr>
          <p:cNvPr id="9" name="Text 7"/>
          <p:cNvSpPr/>
          <p:nvPr/>
        </p:nvSpPr>
        <p:spPr>
          <a:xfrm>
            <a:off x="3714119" y="2431411"/>
            <a:ext cx="213342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2</a:t>
            </a:r>
            <a:endParaRPr lang="en-US" sz="1200" dirty="0"/>
          </a:p>
        </p:txBody>
      </p:sp>
      <p:sp>
        <p:nvSpPr>
          <p:cNvPr id="10" name="Text 8"/>
          <p:cNvSpPr/>
          <p:nvPr/>
        </p:nvSpPr>
        <p:spPr>
          <a:xfrm>
            <a:off x="3714119" y="2720932"/>
            <a:ext cx="2133428" cy="25649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01820"/>
                </a:solidFill>
                <a:latin typeface="IBM Plex Sans" pitchFamily="34" charset="0"/>
                <a:ea typeface="IBM Plex Sans" pitchFamily="34" charset="-122"/>
                <a:cs typeface="IBM Plex Sans" pitchFamily="34" charset="-120"/>
              </a:rPr>
              <a:t>Development</a:t>
            </a:r>
            <a:endParaRPr lang="en-US" sz="1400" dirty="0"/>
          </a:p>
        </p:txBody>
      </p:sp>
      <p:sp>
        <p:nvSpPr>
          <p:cNvPr id="11" name="Text 9"/>
          <p:cNvSpPr/>
          <p:nvPr/>
        </p:nvSpPr>
        <p:spPr>
          <a:xfrm>
            <a:off x="3714119" y="3028203"/>
            <a:ext cx="2133428"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5C"/>
                </a:solidFill>
                <a:latin typeface="IBM Plex Sans" pitchFamily="34" charset="0"/>
                <a:ea typeface="IBM Plex Sans" pitchFamily="34" charset="-122"/>
                <a:cs typeface="IBM Plex Sans" pitchFamily="34" charset="-120"/>
              </a:rPr>
              <a:t>Software-ul este proiectat și programat.</a:t>
            </a:r>
            <a:endParaRPr lang="en-US" sz="1200" dirty="0"/>
          </a:p>
        </p:txBody>
      </p:sp>
      <p:sp>
        <p:nvSpPr>
          <p:cNvPr id="12" name="Shape 10"/>
          <p:cNvSpPr/>
          <p:nvPr/>
        </p:nvSpPr>
        <p:spPr>
          <a:xfrm>
            <a:off x="6200740" y="2225632"/>
            <a:ext cx="2482847" cy="2470122"/>
          </a:xfrm>
          <a:prstGeom prst="roundRect">
            <a:avLst>
              <a:gd name="adj" fmla="val 3985"/>
            </a:avLst>
          </a:prstGeom>
          <a:solidFill>
            <a:srgbClr val="FFFDF8"/>
          </a:solidFill>
          <a:ln w="6350">
            <a:solidFill>
              <a:srgbClr val="D9D3C5"/>
            </a:solidFill>
            <a:prstDash val="solid"/>
          </a:ln>
        </p:spPr>
      </p:sp>
      <p:sp>
        <p:nvSpPr>
          <p:cNvPr id="13" name="Text 11"/>
          <p:cNvSpPr/>
          <p:nvPr/>
        </p:nvSpPr>
        <p:spPr>
          <a:xfrm>
            <a:off x="6406519" y="2431411"/>
            <a:ext cx="213342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3</a:t>
            </a:r>
            <a:endParaRPr lang="en-US" sz="1200" dirty="0"/>
          </a:p>
        </p:txBody>
      </p:sp>
      <p:sp>
        <p:nvSpPr>
          <p:cNvPr id="14" name="Text 12"/>
          <p:cNvSpPr/>
          <p:nvPr/>
        </p:nvSpPr>
        <p:spPr>
          <a:xfrm>
            <a:off x="6406519" y="2720932"/>
            <a:ext cx="2133428" cy="25649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01820"/>
                </a:solidFill>
                <a:latin typeface="IBM Plex Sans" pitchFamily="34" charset="0"/>
                <a:ea typeface="IBM Plex Sans" pitchFamily="34" charset="-122"/>
                <a:cs typeface="IBM Plex Sans" pitchFamily="34" charset="-120"/>
              </a:rPr>
              <a:t>Validation</a:t>
            </a:r>
            <a:endParaRPr lang="en-US" sz="1400" dirty="0"/>
          </a:p>
        </p:txBody>
      </p:sp>
      <p:sp>
        <p:nvSpPr>
          <p:cNvPr id="15" name="Text 13"/>
          <p:cNvSpPr/>
          <p:nvPr/>
        </p:nvSpPr>
        <p:spPr>
          <a:xfrm>
            <a:off x="6406519" y="3028203"/>
            <a:ext cx="2133428" cy="6654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5C"/>
                </a:solidFill>
                <a:latin typeface="IBM Plex Sans" pitchFamily="34" charset="0"/>
                <a:ea typeface="IBM Plex Sans" pitchFamily="34" charset="-122"/>
                <a:cs typeface="IBM Plex Sans" pitchFamily="34" charset="-120"/>
              </a:rPr>
              <a:t>Se verifică dacă software-ul este ceea ce îi trebuie clientului.</a:t>
            </a:r>
            <a:endParaRPr lang="en-US" sz="1200" dirty="0"/>
          </a:p>
        </p:txBody>
      </p:sp>
      <p:sp>
        <p:nvSpPr>
          <p:cNvPr id="16" name="Shape 14"/>
          <p:cNvSpPr/>
          <p:nvPr/>
        </p:nvSpPr>
        <p:spPr>
          <a:xfrm>
            <a:off x="8893140" y="2225632"/>
            <a:ext cx="2482847" cy="2470122"/>
          </a:xfrm>
          <a:prstGeom prst="roundRect">
            <a:avLst>
              <a:gd name="adj" fmla="val 3985"/>
            </a:avLst>
          </a:prstGeom>
          <a:solidFill>
            <a:srgbClr val="FFFDF8"/>
          </a:solidFill>
          <a:ln w="6350">
            <a:solidFill>
              <a:srgbClr val="D9D3C5"/>
            </a:solidFill>
            <a:prstDash val="solid"/>
          </a:ln>
        </p:spPr>
      </p:sp>
      <p:sp>
        <p:nvSpPr>
          <p:cNvPr id="17" name="Text 15"/>
          <p:cNvSpPr/>
          <p:nvPr/>
        </p:nvSpPr>
        <p:spPr>
          <a:xfrm>
            <a:off x="9098919" y="2431411"/>
            <a:ext cx="213342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4</a:t>
            </a:r>
            <a:endParaRPr lang="en-US" sz="1200" dirty="0"/>
          </a:p>
        </p:txBody>
      </p:sp>
      <p:sp>
        <p:nvSpPr>
          <p:cNvPr id="18" name="Text 16"/>
          <p:cNvSpPr/>
          <p:nvPr/>
        </p:nvSpPr>
        <p:spPr>
          <a:xfrm>
            <a:off x="9098919" y="2720932"/>
            <a:ext cx="2133428" cy="25649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01820"/>
                </a:solidFill>
                <a:latin typeface="IBM Plex Sans" pitchFamily="34" charset="0"/>
                <a:ea typeface="IBM Plex Sans" pitchFamily="34" charset="-122"/>
                <a:cs typeface="IBM Plex Sans" pitchFamily="34" charset="-120"/>
              </a:rPr>
              <a:t>Evolution</a:t>
            </a:r>
            <a:endParaRPr lang="en-US" sz="1400" dirty="0"/>
          </a:p>
        </p:txBody>
      </p:sp>
      <p:sp>
        <p:nvSpPr>
          <p:cNvPr id="19" name="Text 17"/>
          <p:cNvSpPr/>
          <p:nvPr/>
        </p:nvSpPr>
        <p:spPr>
          <a:xfrm>
            <a:off x="9098919" y="3028203"/>
            <a:ext cx="2133428" cy="87878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5C"/>
                </a:solidFill>
                <a:latin typeface="IBM Plex Sans" pitchFamily="34" charset="0"/>
                <a:ea typeface="IBM Plex Sans" pitchFamily="34" charset="-122"/>
                <a:cs typeface="IBM Plex Sans" pitchFamily="34" charset="-120"/>
              </a:rPr>
              <a:t>Software-ul este modificat ca să reflecte cerințele în schimbare ale clienților și ale pieței.</a:t>
            </a:r>
            <a:endParaRPr lang="en-US" sz="1200" dirty="0"/>
          </a:p>
        </p:txBody>
      </p:sp>
      <p:sp>
        <p:nvSpPr>
          <p:cNvPr id="20" name="Text 18"/>
          <p:cNvSpPr/>
          <p:nvPr/>
        </p:nvSpPr>
        <p:spPr>
          <a:xfrm>
            <a:off x="812765" y="4902178"/>
            <a:ext cx="10566398" cy="553678"/>
          </a:xfrm>
          <a:prstGeom prst="roundRect">
            <a:avLst>
              <a:gd name="adj" fmla="val 18350"/>
            </a:avLst>
          </a:prstGeom>
          <a:solidFill>
            <a:srgbClr val="101820"/>
          </a:solidFill>
          <a:ln/>
        </p:spPr>
        <p:txBody>
          <a:bodyPr wrap="square" lIns="224242" tIns="122642" rIns="0" bIns="97242"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Nu există un proces universal. Cele patru activități apar însă, într-o formă sau alta, în toate.</a:t>
            </a:r>
            <a:endParaRPr lang="en-US" sz="1400" dirty="0"/>
          </a:p>
        </p:txBody>
      </p:sp>
      <p:sp>
        <p:nvSpPr>
          <p:cNvPr id="21" name="Text 19"/>
          <p:cNvSpPr/>
          <p:nvPr/>
        </p:nvSpPr>
        <p:spPr>
          <a:xfrm>
            <a:off x="812765" y="6238280"/>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Sursa: Sommerville, Software Engineering, ed. 10, p. 23 și p. 44.</a:t>
            </a:r>
            <a:endParaRPr lang="en-US" sz="1200" dirty="0"/>
          </a:p>
        </p:txBody>
      </p:sp>
      <p:sp>
        <p:nvSpPr>
          <p:cNvPr id="22" name="Text 20"/>
          <p:cNvSpPr/>
          <p:nvPr/>
        </p:nvSpPr>
        <p:spPr>
          <a:xfrm>
            <a:off x="10312440" y="6238280"/>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5 / 14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SOFTWARE DEVELOPMENT LIFE CYCLE</a:t>
            </a:r>
            <a:endParaRPr lang="en-US" sz="1200" dirty="0"/>
          </a:p>
        </p:txBody>
      </p:sp>
      <p:sp>
        <p:nvSpPr>
          <p:cNvPr id="3" name="Text 1"/>
          <p:cNvSpPr>
            <a:spLocks noGrp="1"/>
          </p:cNvSpPr>
          <p:nvPr>
            <p:ph type="title"/>
          </p:nvPr>
        </p:nvSpPr>
        <p:spPr>
          <a:xfrm>
            <a:off x="812765" y="1330892"/>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De la patru activități la etapele SDLC</a:t>
            </a:r>
            <a:endParaRPr lang="en-US" sz="3600" dirty="0"/>
          </a:p>
        </p:txBody>
      </p:sp>
      <p:sp>
        <p:nvSpPr>
          <p:cNvPr id="4" name="Text 2"/>
          <p:cNvSpPr/>
          <p:nvPr/>
        </p:nvSpPr>
        <p:spPr>
          <a:xfrm>
            <a:off x="812765" y="2222457"/>
            <a:ext cx="2489197" cy="528227"/>
          </a:xfrm>
          <a:prstGeom prst="roundRect">
            <a:avLst>
              <a:gd name="adj" fmla="val 14426"/>
            </a:avLst>
          </a:prstGeom>
          <a:solidFill>
            <a:srgbClr val="101820"/>
          </a:solidFill>
          <a:ln/>
        </p:spPr>
        <p:txBody>
          <a:bodyPr wrap="square" lIns="180882" tIns="117382" rIns="118398" bIns="91982" rtlCol="0" anchor="t">
            <a:normAutofit/>
          </a:bodyPr>
          <a:lstStyle/>
          <a:p>
            <a:pPr marL="0" indent="0" algn="l">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Specification</a:t>
            </a:r>
            <a:endParaRPr lang="en-US" sz="1400" dirty="0"/>
          </a:p>
        </p:txBody>
      </p:sp>
      <p:sp>
        <p:nvSpPr>
          <p:cNvPr id="5" name="Text 3"/>
          <p:cNvSpPr/>
          <p:nvPr/>
        </p:nvSpPr>
        <p:spPr>
          <a:xfrm>
            <a:off x="3505165" y="2222457"/>
            <a:ext cx="2489197" cy="528227"/>
          </a:xfrm>
          <a:prstGeom prst="roundRect">
            <a:avLst>
              <a:gd name="adj" fmla="val 14426"/>
            </a:avLst>
          </a:prstGeom>
          <a:solidFill>
            <a:srgbClr val="101820"/>
          </a:solidFill>
          <a:ln/>
        </p:spPr>
        <p:txBody>
          <a:bodyPr wrap="square" lIns="180882" tIns="117382" rIns="118398" bIns="91982" rtlCol="0" anchor="t">
            <a:normAutofit/>
          </a:bodyPr>
          <a:lstStyle/>
          <a:p>
            <a:pPr marL="0" indent="0" algn="l">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Development</a:t>
            </a:r>
            <a:endParaRPr lang="en-US" sz="1400" dirty="0"/>
          </a:p>
        </p:txBody>
      </p:sp>
      <p:sp>
        <p:nvSpPr>
          <p:cNvPr id="6" name="Text 4"/>
          <p:cNvSpPr/>
          <p:nvPr/>
        </p:nvSpPr>
        <p:spPr>
          <a:xfrm>
            <a:off x="6197565" y="2222457"/>
            <a:ext cx="2489197" cy="528227"/>
          </a:xfrm>
          <a:prstGeom prst="roundRect">
            <a:avLst>
              <a:gd name="adj" fmla="val 14426"/>
            </a:avLst>
          </a:prstGeom>
          <a:solidFill>
            <a:srgbClr val="101820"/>
          </a:solidFill>
          <a:ln/>
        </p:spPr>
        <p:txBody>
          <a:bodyPr wrap="square" lIns="180882" tIns="117382" rIns="118398" bIns="91982" rtlCol="0" anchor="t">
            <a:normAutofit/>
          </a:bodyPr>
          <a:lstStyle/>
          <a:p>
            <a:pPr marL="0" indent="0" algn="l">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Validation</a:t>
            </a:r>
            <a:endParaRPr lang="en-US" sz="1400" dirty="0"/>
          </a:p>
        </p:txBody>
      </p:sp>
      <p:sp>
        <p:nvSpPr>
          <p:cNvPr id="7" name="Text 5"/>
          <p:cNvSpPr/>
          <p:nvPr/>
        </p:nvSpPr>
        <p:spPr>
          <a:xfrm>
            <a:off x="8889965" y="2222457"/>
            <a:ext cx="2489197" cy="528227"/>
          </a:xfrm>
          <a:prstGeom prst="roundRect">
            <a:avLst>
              <a:gd name="adj" fmla="val 14426"/>
            </a:avLst>
          </a:prstGeom>
          <a:solidFill>
            <a:srgbClr val="101820"/>
          </a:solidFill>
          <a:ln/>
        </p:spPr>
        <p:txBody>
          <a:bodyPr wrap="square" lIns="180882" tIns="117382" rIns="118398" bIns="91982" rtlCol="0" anchor="t">
            <a:normAutofit/>
          </a:bodyPr>
          <a:lstStyle/>
          <a:p>
            <a:pPr marL="0" indent="0" algn="l">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Evolution</a:t>
            </a:r>
            <a:endParaRPr lang="en-US" sz="1400" dirty="0"/>
          </a:p>
        </p:txBody>
      </p:sp>
      <p:sp>
        <p:nvSpPr>
          <p:cNvPr id="8" name="Text 6"/>
          <p:cNvSpPr/>
          <p:nvPr/>
        </p:nvSpPr>
        <p:spPr>
          <a:xfrm>
            <a:off x="815940" y="2860647"/>
            <a:ext cx="2482847" cy="527040"/>
          </a:xfrm>
          <a:prstGeom prst="roundRect">
            <a:avLst>
              <a:gd name="adj" fmla="val 13856"/>
            </a:avLst>
          </a:prstGeom>
          <a:solidFill>
            <a:srgbClr val="FFFDF8"/>
          </a:solidFill>
          <a:ln w="6350">
            <a:solidFill>
              <a:srgbClr val="D9D3C5"/>
            </a:solidFill>
            <a:prstDash val="solid"/>
          </a:ln>
        </p:spPr>
        <p:txBody>
          <a:bodyPr wrap="square" lIns="184433" tIns="120933" rIns="122297" bIns="95533" rtlCol="0" anchor="t">
            <a:normAutofit/>
          </a:bodyPr>
          <a:lstStyle/>
          <a:p>
            <a:pPr marL="0" indent="0" algn="l">
              <a:lnSpc>
                <a:spcPts val="1929"/>
              </a:lnSpc>
              <a:buNone/>
            </a:pPr>
            <a:r>
              <a:rPr lang="en-US" sz="1378" dirty="0">
                <a:solidFill>
                  <a:srgbClr val="101820"/>
                </a:solidFill>
                <a:latin typeface="IBM Plex Sans" pitchFamily="34" charset="0"/>
                <a:ea typeface="IBM Plex Sans" pitchFamily="34" charset="-122"/>
                <a:cs typeface="IBM Plex Sans" pitchFamily="34" charset="-120"/>
              </a:rPr>
              <a:t>Analysis</a:t>
            </a:r>
            <a:endParaRPr lang="en-US" sz="1378" dirty="0"/>
          </a:p>
        </p:txBody>
      </p:sp>
      <p:sp>
        <p:nvSpPr>
          <p:cNvPr id="9" name="Text 7"/>
          <p:cNvSpPr/>
          <p:nvPr/>
        </p:nvSpPr>
        <p:spPr>
          <a:xfrm>
            <a:off x="815940" y="3495659"/>
            <a:ext cx="2482847" cy="527040"/>
          </a:xfrm>
          <a:prstGeom prst="roundRect">
            <a:avLst>
              <a:gd name="adj" fmla="val 13856"/>
            </a:avLst>
          </a:prstGeom>
          <a:solidFill>
            <a:srgbClr val="FFFDF8"/>
          </a:solidFill>
          <a:ln w="6350">
            <a:solidFill>
              <a:srgbClr val="D9D3C5"/>
            </a:solidFill>
            <a:prstDash val="solid"/>
          </a:ln>
        </p:spPr>
        <p:txBody>
          <a:bodyPr wrap="square" lIns="184433" tIns="120933" rIns="122297" bIns="95533" rtlCol="0" anchor="t">
            <a:normAutofit/>
          </a:bodyPr>
          <a:lstStyle/>
          <a:p>
            <a:pPr marL="0" indent="0" algn="l">
              <a:lnSpc>
                <a:spcPts val="1929"/>
              </a:lnSpc>
              <a:buNone/>
            </a:pPr>
            <a:r>
              <a:rPr lang="en-US" sz="1378" dirty="0">
                <a:solidFill>
                  <a:srgbClr val="101820"/>
                </a:solidFill>
                <a:latin typeface="IBM Plex Sans" pitchFamily="34" charset="0"/>
                <a:ea typeface="IBM Plex Sans" pitchFamily="34" charset="-122"/>
                <a:cs typeface="IBM Plex Sans" pitchFamily="34" charset="-120"/>
              </a:rPr>
              <a:t>Planning</a:t>
            </a:r>
            <a:endParaRPr lang="en-US" sz="1378" dirty="0"/>
          </a:p>
        </p:txBody>
      </p:sp>
      <p:sp>
        <p:nvSpPr>
          <p:cNvPr id="10" name="Text 8"/>
          <p:cNvSpPr/>
          <p:nvPr/>
        </p:nvSpPr>
        <p:spPr>
          <a:xfrm>
            <a:off x="3508340" y="2860647"/>
            <a:ext cx="2482847" cy="527040"/>
          </a:xfrm>
          <a:prstGeom prst="roundRect">
            <a:avLst>
              <a:gd name="adj" fmla="val 13856"/>
            </a:avLst>
          </a:prstGeom>
          <a:solidFill>
            <a:srgbClr val="FFFDF8"/>
          </a:solidFill>
          <a:ln w="6350">
            <a:solidFill>
              <a:srgbClr val="D9D3C5"/>
            </a:solidFill>
            <a:prstDash val="solid"/>
          </a:ln>
        </p:spPr>
        <p:txBody>
          <a:bodyPr wrap="square" lIns="184433" tIns="120933" rIns="122297" bIns="95533" rtlCol="0" anchor="t">
            <a:normAutofit/>
          </a:bodyPr>
          <a:lstStyle/>
          <a:p>
            <a:pPr marL="0" indent="0" algn="l">
              <a:lnSpc>
                <a:spcPts val="1929"/>
              </a:lnSpc>
              <a:buNone/>
            </a:pPr>
            <a:r>
              <a:rPr lang="en-US" sz="1378" dirty="0">
                <a:solidFill>
                  <a:srgbClr val="101820"/>
                </a:solidFill>
                <a:latin typeface="IBM Plex Sans" pitchFamily="34" charset="0"/>
                <a:ea typeface="IBM Plex Sans" pitchFamily="34" charset="-122"/>
                <a:cs typeface="IBM Plex Sans" pitchFamily="34" charset="-120"/>
              </a:rPr>
              <a:t>Design</a:t>
            </a:r>
            <a:endParaRPr lang="en-US" sz="1378" dirty="0"/>
          </a:p>
        </p:txBody>
      </p:sp>
      <p:sp>
        <p:nvSpPr>
          <p:cNvPr id="11" name="Text 9"/>
          <p:cNvSpPr/>
          <p:nvPr/>
        </p:nvSpPr>
        <p:spPr>
          <a:xfrm>
            <a:off x="3508340" y="3495659"/>
            <a:ext cx="2482847" cy="527040"/>
          </a:xfrm>
          <a:prstGeom prst="roundRect">
            <a:avLst>
              <a:gd name="adj" fmla="val 13856"/>
            </a:avLst>
          </a:prstGeom>
          <a:solidFill>
            <a:srgbClr val="FFFDF8"/>
          </a:solidFill>
          <a:ln w="6350">
            <a:solidFill>
              <a:srgbClr val="D9D3C5"/>
            </a:solidFill>
            <a:prstDash val="solid"/>
          </a:ln>
        </p:spPr>
        <p:txBody>
          <a:bodyPr wrap="square" lIns="184433" tIns="120933" rIns="122297" bIns="95533" rtlCol="0" anchor="t">
            <a:normAutofit/>
          </a:bodyPr>
          <a:lstStyle/>
          <a:p>
            <a:pPr marL="0" indent="0" algn="l">
              <a:lnSpc>
                <a:spcPts val="1929"/>
              </a:lnSpc>
              <a:buNone/>
            </a:pPr>
            <a:r>
              <a:rPr lang="en-US" sz="1378" dirty="0">
                <a:solidFill>
                  <a:srgbClr val="101820"/>
                </a:solidFill>
                <a:latin typeface="IBM Plex Sans" pitchFamily="34" charset="0"/>
                <a:ea typeface="IBM Plex Sans" pitchFamily="34" charset="-122"/>
                <a:cs typeface="IBM Plex Sans" pitchFamily="34" charset="-120"/>
              </a:rPr>
              <a:t>Development</a:t>
            </a:r>
            <a:endParaRPr lang="en-US" sz="1378" dirty="0"/>
          </a:p>
        </p:txBody>
      </p:sp>
      <p:sp>
        <p:nvSpPr>
          <p:cNvPr id="12" name="Text 10"/>
          <p:cNvSpPr/>
          <p:nvPr/>
        </p:nvSpPr>
        <p:spPr>
          <a:xfrm>
            <a:off x="6200740" y="2860647"/>
            <a:ext cx="2482847" cy="527040"/>
          </a:xfrm>
          <a:prstGeom prst="roundRect">
            <a:avLst>
              <a:gd name="adj" fmla="val 13856"/>
            </a:avLst>
          </a:prstGeom>
          <a:solidFill>
            <a:srgbClr val="FFFDF8"/>
          </a:solidFill>
          <a:ln w="6350">
            <a:solidFill>
              <a:srgbClr val="D9D3C5"/>
            </a:solidFill>
            <a:prstDash val="solid"/>
          </a:ln>
        </p:spPr>
        <p:txBody>
          <a:bodyPr wrap="square" lIns="184433" tIns="120933" rIns="122297" bIns="95533" rtlCol="0" anchor="t">
            <a:normAutofit/>
          </a:bodyPr>
          <a:lstStyle/>
          <a:p>
            <a:pPr marL="0" indent="0" algn="l">
              <a:lnSpc>
                <a:spcPts val="1929"/>
              </a:lnSpc>
              <a:buNone/>
            </a:pPr>
            <a:r>
              <a:rPr lang="en-US" sz="1378" dirty="0">
                <a:solidFill>
                  <a:srgbClr val="101820"/>
                </a:solidFill>
                <a:latin typeface="IBM Plex Sans" pitchFamily="34" charset="0"/>
                <a:ea typeface="IBM Plex Sans" pitchFamily="34" charset="-122"/>
                <a:cs typeface="IBM Plex Sans" pitchFamily="34" charset="-120"/>
              </a:rPr>
              <a:t>Testing</a:t>
            </a:r>
            <a:endParaRPr lang="en-US" sz="1378" dirty="0"/>
          </a:p>
        </p:txBody>
      </p:sp>
      <p:sp>
        <p:nvSpPr>
          <p:cNvPr id="13" name="Text 11"/>
          <p:cNvSpPr/>
          <p:nvPr/>
        </p:nvSpPr>
        <p:spPr>
          <a:xfrm>
            <a:off x="8893140" y="2860647"/>
            <a:ext cx="2482847" cy="527040"/>
          </a:xfrm>
          <a:prstGeom prst="roundRect">
            <a:avLst>
              <a:gd name="adj" fmla="val 13856"/>
            </a:avLst>
          </a:prstGeom>
          <a:solidFill>
            <a:srgbClr val="FFFDF8"/>
          </a:solidFill>
          <a:ln w="6350">
            <a:solidFill>
              <a:srgbClr val="D9D3C5"/>
            </a:solidFill>
            <a:prstDash val="solid"/>
          </a:ln>
        </p:spPr>
        <p:txBody>
          <a:bodyPr wrap="square" lIns="184433" tIns="120933" rIns="122297" bIns="95533" rtlCol="0" anchor="t">
            <a:normAutofit/>
          </a:bodyPr>
          <a:lstStyle/>
          <a:p>
            <a:pPr marL="0" indent="0" algn="l">
              <a:lnSpc>
                <a:spcPts val="1929"/>
              </a:lnSpc>
              <a:buNone/>
            </a:pPr>
            <a:r>
              <a:rPr lang="en-US" sz="1378" dirty="0">
                <a:solidFill>
                  <a:srgbClr val="101820"/>
                </a:solidFill>
                <a:latin typeface="IBM Plex Sans" pitchFamily="34" charset="0"/>
                <a:ea typeface="IBM Plex Sans" pitchFamily="34" charset="-122"/>
                <a:cs typeface="IBM Plex Sans" pitchFamily="34" charset="-120"/>
              </a:rPr>
              <a:t>Maintenance</a:t>
            </a:r>
            <a:endParaRPr lang="en-US" sz="1378" dirty="0"/>
          </a:p>
        </p:txBody>
      </p:sp>
      <p:sp>
        <p:nvSpPr>
          <p:cNvPr id="14" name="Text 12"/>
          <p:cNvSpPr/>
          <p:nvPr/>
        </p:nvSpPr>
        <p:spPr>
          <a:xfrm>
            <a:off x="812765" y="4317975"/>
            <a:ext cx="10883390"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Un model de proces (SDLC model) este o reprezentare simplificată a unui proces software. Numărul și numele etapelor diferă de la o sursă la alta; activitățile de dedesubt rămân aceleași.</a:t>
            </a:r>
            <a:endParaRPr lang="en-US" sz="1400" dirty="0"/>
          </a:p>
        </p:txBody>
      </p:sp>
      <p:sp>
        <p:nvSpPr>
          <p:cNvPr id="15" name="Text 13"/>
          <p:cNvSpPr/>
          <p:nvPr/>
        </p:nvSpPr>
        <p:spPr>
          <a:xfrm>
            <a:off x="812765" y="5016481"/>
            <a:ext cx="10883390"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Ciclul de viață începe când produsul e conceput și se termină când nu mai e disponibil pentru folosire.</a:t>
            </a:r>
            <a:endParaRPr lang="en-US" sz="1400" dirty="0"/>
          </a:p>
        </p:txBody>
      </p:sp>
      <p:sp>
        <p:nvSpPr>
          <p:cNvPr id="16" name="Text 14"/>
          <p:cNvSpPr/>
          <p:nvPr/>
        </p:nvSpPr>
        <p:spPr>
          <a:xfrm>
            <a:off x="812765" y="6238280"/>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Surse: Sommerville, Software Engineering, ed. 10, §2.1, p. 45; IEEE Std 610.12-1990, „software life cycle”.</a:t>
            </a:r>
            <a:endParaRPr lang="en-US" sz="1200" dirty="0"/>
          </a:p>
        </p:txBody>
      </p:sp>
      <p:sp>
        <p:nvSpPr>
          <p:cNvPr id="17" name="Text 15"/>
          <p:cNvSpPr/>
          <p:nvPr/>
        </p:nvSpPr>
        <p:spPr>
          <a:xfrm>
            <a:off x="10312440" y="6238280"/>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6 / 14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ACTIVITATEA 1 DIN 4 · ANALYSIS, PLANNING</a:t>
            </a:r>
            <a:endParaRPr lang="en-US" sz="1200" dirty="0"/>
          </a:p>
        </p:txBody>
      </p:sp>
      <p:sp>
        <p:nvSpPr>
          <p:cNvPr id="3" name="Text 1"/>
          <p:cNvSpPr>
            <a:spLocks noGrp="1"/>
          </p:cNvSpPr>
          <p:nvPr>
            <p:ph type="title"/>
          </p:nvPr>
        </p:nvSpPr>
        <p:spPr>
          <a:xfrm>
            <a:off x="812765" y="1330892"/>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Specification: ce construim</a:t>
            </a:r>
            <a:endParaRPr lang="en-US" sz="3600" dirty="0"/>
          </a:p>
        </p:txBody>
      </p:sp>
      <p:sp>
        <p:nvSpPr>
          <p:cNvPr id="4" name="Shape 2"/>
          <p:cNvSpPr/>
          <p:nvPr/>
        </p:nvSpPr>
        <p:spPr>
          <a:xfrm>
            <a:off x="815940" y="2225632"/>
            <a:ext cx="3378171" cy="2533614"/>
          </a:xfrm>
          <a:prstGeom prst="roundRect">
            <a:avLst>
              <a:gd name="adj" fmla="val 3885"/>
            </a:avLst>
          </a:prstGeom>
          <a:solidFill>
            <a:srgbClr val="FFFDF8"/>
          </a:solidFill>
          <a:ln w="6350">
            <a:solidFill>
              <a:srgbClr val="D9D3C5"/>
            </a:solidFill>
            <a:prstDash val="solid"/>
          </a:ln>
        </p:spPr>
      </p:sp>
      <p:sp>
        <p:nvSpPr>
          <p:cNvPr id="5" name="Text 3"/>
          <p:cNvSpPr/>
          <p:nvPr/>
        </p:nvSpPr>
        <p:spPr>
          <a:xfrm>
            <a:off x="1072531" y="2482224"/>
            <a:ext cx="295093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Requirements engineering</a:t>
            </a:r>
            <a:endParaRPr lang="en-US" sz="1200" dirty="0"/>
          </a:p>
        </p:txBody>
      </p:sp>
      <p:sp>
        <p:nvSpPr>
          <p:cNvPr id="6" name="Text 4"/>
          <p:cNvSpPr/>
          <p:nvPr/>
        </p:nvSpPr>
        <p:spPr>
          <a:xfrm>
            <a:off x="1072531" y="2771744"/>
            <a:ext cx="2950938"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Elicitation and analysis: afli cerințele. Specification: le scrii. Validation: verifici că sunt realiste, consistente și complete.</a:t>
            </a:r>
            <a:endParaRPr lang="en-US" sz="1400" dirty="0"/>
          </a:p>
        </p:txBody>
      </p:sp>
      <p:sp>
        <p:nvSpPr>
          <p:cNvPr id="7" name="Shape 5"/>
          <p:cNvSpPr/>
          <p:nvPr/>
        </p:nvSpPr>
        <p:spPr>
          <a:xfrm>
            <a:off x="4403708" y="2225632"/>
            <a:ext cx="3378171" cy="2533614"/>
          </a:xfrm>
          <a:prstGeom prst="roundRect">
            <a:avLst>
              <a:gd name="adj" fmla="val 3885"/>
            </a:avLst>
          </a:prstGeom>
          <a:solidFill>
            <a:srgbClr val="FFFDF8"/>
          </a:solidFill>
          <a:ln w="6350">
            <a:solidFill>
              <a:srgbClr val="D9D3C5"/>
            </a:solidFill>
            <a:prstDash val="solid"/>
          </a:ln>
        </p:spPr>
      </p:sp>
      <p:sp>
        <p:nvSpPr>
          <p:cNvPr id="8" name="Text 6"/>
          <p:cNvSpPr/>
          <p:nvPr/>
        </p:nvSpPr>
        <p:spPr>
          <a:xfrm>
            <a:off x="4660299" y="2482224"/>
            <a:ext cx="295093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De ce e critică</a:t>
            </a:r>
            <a:endParaRPr lang="en-US" sz="1200" dirty="0"/>
          </a:p>
        </p:txBody>
      </p:sp>
      <p:sp>
        <p:nvSpPr>
          <p:cNvPr id="9" name="Text 7"/>
          <p:cNvSpPr/>
          <p:nvPr/>
        </p:nvSpPr>
        <p:spPr>
          <a:xfrm>
            <a:off x="4660299" y="2771744"/>
            <a:ext cx="2950938"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Greșelile făcute aici duc inevitabil la probleme în design și în implementare. Erorile de cerințe sunt cele mai scumpe de reparat.</a:t>
            </a:r>
            <a:endParaRPr lang="en-US" sz="1400" dirty="0"/>
          </a:p>
        </p:txBody>
      </p:sp>
      <p:sp>
        <p:nvSpPr>
          <p:cNvPr id="10" name="Shape 8"/>
          <p:cNvSpPr/>
          <p:nvPr/>
        </p:nvSpPr>
        <p:spPr>
          <a:xfrm>
            <a:off x="7991432" y="2225632"/>
            <a:ext cx="3384511" cy="2533614"/>
          </a:xfrm>
          <a:prstGeom prst="roundRect">
            <a:avLst>
              <a:gd name="adj" fmla="val 3885"/>
            </a:avLst>
          </a:prstGeom>
          <a:solidFill>
            <a:srgbClr val="FFFDF8"/>
          </a:solidFill>
          <a:ln w="6350">
            <a:solidFill>
              <a:srgbClr val="D9D3C5"/>
            </a:solidFill>
            <a:prstDash val="solid"/>
          </a:ln>
        </p:spPr>
      </p:sp>
      <p:sp>
        <p:nvSpPr>
          <p:cNvPr id="11" name="Text 9"/>
          <p:cNvSpPr/>
          <p:nvPr/>
        </p:nvSpPr>
        <p:spPr>
          <a:xfrm>
            <a:off x="8248022" y="2482224"/>
            <a:ext cx="2957469"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În agile</a:t>
            </a:r>
            <a:endParaRPr lang="en-US" sz="1200" dirty="0"/>
          </a:p>
        </p:txBody>
      </p:sp>
      <p:sp>
        <p:nvSpPr>
          <p:cNvPr id="12" name="Text 10"/>
          <p:cNvSpPr/>
          <p:nvPr/>
        </p:nvSpPr>
        <p:spPr>
          <a:xfrm>
            <a:off x="8248022" y="2771744"/>
            <a:ext cx="2957469"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Cerințele nu se scriu toate la început. Se specifică informal, pentru fiecare increment, chiar înainte ca el să fie dezvoltat.</a:t>
            </a:r>
            <a:endParaRPr lang="en-US" sz="1400" dirty="0"/>
          </a:p>
        </p:txBody>
      </p:sp>
      <p:sp>
        <p:nvSpPr>
          <p:cNvPr id="13" name="Text 11"/>
          <p:cNvSpPr/>
          <p:nvPr/>
        </p:nvSpPr>
        <p:spPr>
          <a:xfrm>
            <a:off x="812765" y="4965669"/>
            <a:ext cx="10566398" cy="553678"/>
          </a:xfrm>
          <a:prstGeom prst="roundRect">
            <a:avLst>
              <a:gd name="adj" fmla="val 18350"/>
            </a:avLst>
          </a:prstGeom>
          <a:solidFill>
            <a:srgbClr val="101820"/>
          </a:solidFill>
          <a:ln/>
        </p:spPr>
        <p:txBody>
          <a:bodyPr wrap="square" lIns="224242" tIns="122642" rIns="0" bIns="97242"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În curs: Cerințe verificabile (săptămâna 3).</a:t>
            </a:r>
            <a:endParaRPr lang="en-US" sz="1400" dirty="0"/>
          </a:p>
        </p:txBody>
      </p:sp>
      <p:sp>
        <p:nvSpPr>
          <p:cNvPr id="14" name="Text 12"/>
          <p:cNvSpPr/>
          <p:nvPr/>
        </p:nvSpPr>
        <p:spPr>
          <a:xfrm>
            <a:off x="812765" y="6238280"/>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Sursa: Sommerville, Software Engineering, ed. 10, §2.2.1, p. 54–55; p. 271.</a:t>
            </a:r>
            <a:endParaRPr lang="en-US" sz="1200" dirty="0"/>
          </a:p>
        </p:txBody>
      </p:sp>
      <p:sp>
        <p:nvSpPr>
          <p:cNvPr id="15" name="Text 13"/>
          <p:cNvSpPr/>
          <p:nvPr/>
        </p:nvSpPr>
        <p:spPr>
          <a:xfrm>
            <a:off x="10312440" y="6238280"/>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7 / 14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ACTIVITATEA 2 DIN 4 · DESIGN, DEVELOPMENT</a:t>
            </a:r>
            <a:endParaRPr lang="en-US" sz="1200" dirty="0"/>
          </a:p>
        </p:txBody>
      </p:sp>
      <p:sp>
        <p:nvSpPr>
          <p:cNvPr id="3" name="Text 1"/>
          <p:cNvSpPr>
            <a:spLocks noGrp="1"/>
          </p:cNvSpPr>
          <p:nvPr>
            <p:ph type="title"/>
          </p:nvPr>
        </p:nvSpPr>
        <p:spPr>
          <a:xfrm>
            <a:off x="812765" y="1330892"/>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Development: design și implementare</a:t>
            </a:r>
            <a:endParaRPr lang="en-US" sz="3600" dirty="0"/>
          </a:p>
        </p:txBody>
      </p:sp>
      <p:sp>
        <p:nvSpPr>
          <p:cNvPr id="4" name="Shape 2"/>
          <p:cNvSpPr/>
          <p:nvPr/>
        </p:nvSpPr>
        <p:spPr>
          <a:xfrm>
            <a:off x="815940" y="2225632"/>
            <a:ext cx="3378171" cy="2533614"/>
          </a:xfrm>
          <a:prstGeom prst="roundRect">
            <a:avLst>
              <a:gd name="adj" fmla="val 3885"/>
            </a:avLst>
          </a:prstGeom>
          <a:solidFill>
            <a:srgbClr val="FFFDF8"/>
          </a:solidFill>
          <a:ln w="6350">
            <a:solidFill>
              <a:srgbClr val="D9D3C5"/>
            </a:solidFill>
            <a:prstDash val="solid"/>
          </a:ln>
        </p:spPr>
      </p:sp>
      <p:sp>
        <p:nvSpPr>
          <p:cNvPr id="5" name="Text 3"/>
          <p:cNvSpPr/>
          <p:nvPr/>
        </p:nvSpPr>
        <p:spPr>
          <a:xfrm>
            <a:off x="1072531" y="2482224"/>
            <a:ext cx="295093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Design</a:t>
            </a:r>
            <a:endParaRPr lang="en-US" sz="1200" dirty="0"/>
          </a:p>
        </p:txBody>
      </p:sp>
      <p:sp>
        <p:nvSpPr>
          <p:cNvPr id="6" name="Text 4"/>
          <p:cNvSpPr/>
          <p:nvPr/>
        </p:nvSpPr>
        <p:spPr>
          <a:xfrm>
            <a:off x="1072531" y="2771744"/>
            <a:ext cx="2950938"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Descrierea structurii: arhitectura, datele, interfețele dintre componente și componentele. Se construiește în etape, cu reveniri.</a:t>
            </a:r>
            <a:endParaRPr lang="en-US" sz="1400" dirty="0"/>
          </a:p>
        </p:txBody>
      </p:sp>
      <p:sp>
        <p:nvSpPr>
          <p:cNvPr id="7" name="Shape 5"/>
          <p:cNvSpPr/>
          <p:nvPr/>
        </p:nvSpPr>
        <p:spPr>
          <a:xfrm>
            <a:off x="4403708" y="2225632"/>
            <a:ext cx="3378171" cy="2533614"/>
          </a:xfrm>
          <a:prstGeom prst="roundRect">
            <a:avLst>
              <a:gd name="adj" fmla="val 3885"/>
            </a:avLst>
          </a:prstGeom>
          <a:solidFill>
            <a:srgbClr val="FFFDF8"/>
          </a:solidFill>
          <a:ln w="6350">
            <a:solidFill>
              <a:srgbClr val="D9D3C5"/>
            </a:solidFill>
            <a:prstDash val="solid"/>
          </a:ln>
        </p:spPr>
      </p:sp>
      <p:sp>
        <p:nvSpPr>
          <p:cNvPr id="8" name="Text 6"/>
          <p:cNvSpPr/>
          <p:nvPr/>
        </p:nvSpPr>
        <p:spPr>
          <a:xfrm>
            <a:off x="4660299" y="2482224"/>
            <a:ext cx="295093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Implementare</a:t>
            </a:r>
            <a:endParaRPr lang="en-US" sz="1200" dirty="0"/>
          </a:p>
        </p:txBody>
      </p:sp>
      <p:sp>
        <p:nvSpPr>
          <p:cNvPr id="9" name="Text 7"/>
          <p:cNvSpPr/>
          <p:nvPr/>
        </p:nvSpPr>
        <p:spPr>
          <a:xfrm>
            <a:off x="4660299" y="2771744"/>
            <a:ext cx="2950938"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De obicei design-ul și programarea se întrepătrund. În agile design-ul există, dar rămâne informal sau direct în cod.</a:t>
            </a:r>
            <a:endParaRPr lang="en-US" sz="1400" dirty="0"/>
          </a:p>
        </p:txBody>
      </p:sp>
      <p:sp>
        <p:nvSpPr>
          <p:cNvPr id="10" name="Shape 8"/>
          <p:cNvSpPr/>
          <p:nvPr/>
        </p:nvSpPr>
        <p:spPr>
          <a:xfrm>
            <a:off x="7991432" y="2225632"/>
            <a:ext cx="3384511" cy="2533614"/>
          </a:xfrm>
          <a:prstGeom prst="roundRect">
            <a:avLst>
              <a:gd name="adj" fmla="val 3885"/>
            </a:avLst>
          </a:prstGeom>
          <a:solidFill>
            <a:srgbClr val="FFFDF8"/>
          </a:solidFill>
          <a:ln w="6350">
            <a:solidFill>
              <a:srgbClr val="D9D3C5"/>
            </a:solidFill>
            <a:prstDash val="solid"/>
          </a:ln>
        </p:spPr>
      </p:sp>
      <p:sp>
        <p:nvSpPr>
          <p:cNvPr id="11" name="Text 9"/>
          <p:cNvSpPr/>
          <p:nvPr/>
        </p:nvSpPr>
        <p:spPr>
          <a:xfrm>
            <a:off x="8248022" y="2482224"/>
            <a:ext cx="2957469"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Testing nu e debugging</a:t>
            </a:r>
            <a:endParaRPr lang="en-US" sz="1200" dirty="0"/>
          </a:p>
        </p:txBody>
      </p:sp>
      <p:sp>
        <p:nvSpPr>
          <p:cNvPr id="12" name="Text 10"/>
          <p:cNvSpPr/>
          <p:nvPr/>
        </p:nvSpPr>
        <p:spPr>
          <a:xfrm>
            <a:off x="8248022" y="2771744"/>
            <a:ext cx="2957469" cy="77209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Testarea stabilește că există defecte. Debugging-ul le localizează și le corectează.</a:t>
            </a:r>
            <a:endParaRPr lang="en-US" sz="1400" dirty="0"/>
          </a:p>
        </p:txBody>
      </p:sp>
      <p:sp>
        <p:nvSpPr>
          <p:cNvPr id="13" name="Text 11"/>
          <p:cNvSpPr/>
          <p:nvPr/>
        </p:nvSpPr>
        <p:spPr>
          <a:xfrm>
            <a:off x="812765" y="4965672"/>
            <a:ext cx="10566398" cy="553678"/>
          </a:xfrm>
          <a:prstGeom prst="roundRect">
            <a:avLst>
              <a:gd name="adj" fmla="val 18350"/>
            </a:avLst>
          </a:prstGeom>
          <a:solidFill>
            <a:srgbClr val="101820"/>
          </a:solidFill>
          <a:ln/>
        </p:spPr>
        <p:txBody>
          <a:bodyPr wrap="square" lIns="224242" tIns="122642" rIns="0" bIns="97242"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În curs: Arhitectură (săptămâna 4), Decizii și datorie tehnică (săptămâna 6).</a:t>
            </a:r>
            <a:endParaRPr lang="en-US" sz="1400" dirty="0"/>
          </a:p>
        </p:txBody>
      </p:sp>
      <p:sp>
        <p:nvSpPr>
          <p:cNvPr id="14" name="Text 12"/>
          <p:cNvSpPr/>
          <p:nvPr/>
        </p:nvSpPr>
        <p:spPr>
          <a:xfrm>
            <a:off x="812765" y="6238277"/>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Sursa: Sommerville, Software Engineering, ed. 10, §2.2.2, p. 56–58.</a:t>
            </a:r>
            <a:endParaRPr lang="en-US" sz="1200" dirty="0"/>
          </a:p>
        </p:txBody>
      </p:sp>
      <p:sp>
        <p:nvSpPr>
          <p:cNvPr id="15" name="Text 13"/>
          <p:cNvSpPr/>
          <p:nvPr/>
        </p:nvSpPr>
        <p:spPr>
          <a:xfrm>
            <a:off x="10312440" y="6238277"/>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8 / 14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ACTIVITATEA 3 DIN 4 · TESTING</a:t>
            </a:r>
            <a:endParaRPr lang="en-US" sz="1200" dirty="0"/>
          </a:p>
        </p:txBody>
      </p:sp>
      <p:sp>
        <p:nvSpPr>
          <p:cNvPr id="3" name="Text 1"/>
          <p:cNvSpPr>
            <a:spLocks noGrp="1"/>
          </p:cNvSpPr>
          <p:nvPr>
            <p:ph type="title"/>
          </p:nvPr>
        </p:nvSpPr>
        <p:spPr>
          <a:xfrm>
            <a:off x="812765" y="1330896"/>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Validation: construim ce trebuie?</a:t>
            </a:r>
            <a:endParaRPr lang="en-US" sz="3600" dirty="0"/>
          </a:p>
        </p:txBody>
      </p:sp>
      <p:sp>
        <p:nvSpPr>
          <p:cNvPr id="4" name="Shape 2"/>
          <p:cNvSpPr/>
          <p:nvPr/>
        </p:nvSpPr>
        <p:spPr>
          <a:xfrm>
            <a:off x="812765" y="2222457"/>
            <a:ext cx="3384521" cy="2539964"/>
          </a:xfrm>
          <a:prstGeom prst="roundRect">
            <a:avLst>
              <a:gd name="adj" fmla="val 4000"/>
            </a:avLst>
          </a:prstGeom>
          <a:solidFill>
            <a:srgbClr val="101820"/>
          </a:solidFill>
          <a:ln/>
        </p:spPr>
      </p:sp>
      <p:sp>
        <p:nvSpPr>
          <p:cNvPr id="5" name="Text 3"/>
          <p:cNvSpPr/>
          <p:nvPr/>
        </p:nvSpPr>
        <p:spPr>
          <a:xfrm>
            <a:off x="1066734" y="2476426"/>
            <a:ext cx="2962879"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B454"/>
                </a:solidFill>
                <a:latin typeface="JetBrains Mono" pitchFamily="49" charset="0"/>
                <a:ea typeface="JetBrains Mono" pitchFamily="49" charset="-122"/>
                <a:cs typeface="JetBrains Mono" pitchFamily="49" charset="-120"/>
              </a:rPr>
              <a:t>Două întrebări</a:t>
            </a:r>
            <a:endParaRPr lang="en-US" sz="1200" dirty="0"/>
          </a:p>
        </p:txBody>
      </p:sp>
      <p:sp>
        <p:nvSpPr>
          <p:cNvPr id="6" name="Text 4"/>
          <p:cNvSpPr/>
          <p:nvPr/>
        </p:nvSpPr>
        <p:spPr>
          <a:xfrm>
            <a:off x="1066734" y="2765946"/>
            <a:ext cx="2962879"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Validation: construim produsul potrivit?</a:t>
            </a:r>
            <a:endParaRPr lang="en-US" sz="1400" dirty="0"/>
          </a:p>
        </p:txBody>
      </p:sp>
      <p:sp>
        <p:nvSpPr>
          <p:cNvPr id="7" name="Text 5"/>
          <p:cNvSpPr/>
          <p:nvPr/>
        </p:nvSpPr>
        <p:spPr>
          <a:xfrm>
            <a:off x="1066734" y="3339914"/>
            <a:ext cx="2962879" cy="77209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Verification: construim produsul corect, adică așa cum cere specificația?</a:t>
            </a:r>
            <a:endParaRPr lang="en-US" sz="1400" dirty="0"/>
          </a:p>
        </p:txBody>
      </p:sp>
      <p:sp>
        <p:nvSpPr>
          <p:cNvPr id="8" name="Shape 6"/>
          <p:cNvSpPr/>
          <p:nvPr/>
        </p:nvSpPr>
        <p:spPr>
          <a:xfrm>
            <a:off x="4403708" y="2225632"/>
            <a:ext cx="3378171" cy="2533614"/>
          </a:xfrm>
          <a:prstGeom prst="roundRect">
            <a:avLst>
              <a:gd name="adj" fmla="val 3885"/>
            </a:avLst>
          </a:prstGeom>
          <a:solidFill>
            <a:srgbClr val="FFFDF8"/>
          </a:solidFill>
          <a:ln w="6350">
            <a:solidFill>
              <a:srgbClr val="D9D3C5"/>
            </a:solidFill>
            <a:prstDash val="solid"/>
          </a:ln>
        </p:spPr>
      </p:sp>
      <p:sp>
        <p:nvSpPr>
          <p:cNvPr id="9" name="Text 7"/>
          <p:cNvSpPr/>
          <p:nvPr/>
        </p:nvSpPr>
        <p:spPr>
          <a:xfrm>
            <a:off x="4660299" y="2482224"/>
            <a:ext cx="295093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Trei niveluri de testare</a:t>
            </a:r>
            <a:endParaRPr lang="en-US" sz="1200" dirty="0"/>
          </a:p>
        </p:txBody>
      </p:sp>
      <p:sp>
        <p:nvSpPr>
          <p:cNvPr id="10" name="Text 8"/>
          <p:cNvSpPr/>
          <p:nvPr/>
        </p:nvSpPr>
        <p:spPr>
          <a:xfrm>
            <a:off x="4660299" y="2771744"/>
            <a:ext cx="2950938"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Component testing: fiecare componentă, separat.</a:t>
            </a:r>
            <a:endParaRPr lang="en-US" sz="1400" dirty="0"/>
          </a:p>
        </p:txBody>
      </p:sp>
      <p:sp>
        <p:nvSpPr>
          <p:cNvPr id="11" name="Text 9"/>
          <p:cNvSpPr/>
          <p:nvPr/>
        </p:nvSpPr>
        <p:spPr>
          <a:xfrm>
            <a:off x="4660299" y="3345712"/>
            <a:ext cx="2950938"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System testing: sistemul integrat.</a:t>
            </a:r>
            <a:endParaRPr lang="en-US" sz="1400" dirty="0"/>
          </a:p>
        </p:txBody>
      </p:sp>
      <p:sp>
        <p:nvSpPr>
          <p:cNvPr id="12" name="Text 10"/>
          <p:cNvSpPr/>
          <p:nvPr/>
        </p:nvSpPr>
        <p:spPr>
          <a:xfrm>
            <a:off x="4660299" y="3670777"/>
            <a:ext cx="2950938"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Customer testing: cu datele reale ale clientului.</a:t>
            </a:r>
            <a:endParaRPr lang="en-US" sz="1400" dirty="0"/>
          </a:p>
        </p:txBody>
      </p:sp>
      <p:sp>
        <p:nvSpPr>
          <p:cNvPr id="13" name="Shape 11"/>
          <p:cNvSpPr/>
          <p:nvPr/>
        </p:nvSpPr>
        <p:spPr>
          <a:xfrm>
            <a:off x="7991432" y="2225632"/>
            <a:ext cx="3384511" cy="2533614"/>
          </a:xfrm>
          <a:prstGeom prst="roundRect">
            <a:avLst>
              <a:gd name="adj" fmla="val 3885"/>
            </a:avLst>
          </a:prstGeom>
          <a:solidFill>
            <a:srgbClr val="FFFDF8"/>
          </a:solidFill>
          <a:ln w="6350">
            <a:solidFill>
              <a:srgbClr val="D9D3C5"/>
            </a:solidFill>
            <a:prstDash val="solid"/>
          </a:ln>
        </p:spPr>
      </p:sp>
      <p:sp>
        <p:nvSpPr>
          <p:cNvPr id="14" name="Text 12"/>
          <p:cNvSpPr/>
          <p:nvPr/>
        </p:nvSpPr>
        <p:spPr>
          <a:xfrm>
            <a:off x="8248022" y="2482224"/>
            <a:ext cx="2957469"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Nu doar teste</a:t>
            </a:r>
            <a:endParaRPr lang="en-US" sz="1200" dirty="0"/>
          </a:p>
        </p:txBody>
      </p:sp>
      <p:sp>
        <p:nvSpPr>
          <p:cNvPr id="15" name="Text 13"/>
          <p:cNvSpPr/>
          <p:nvPr/>
        </p:nvSpPr>
        <p:spPr>
          <a:xfrm>
            <a:off x="8248022" y="2771744"/>
            <a:ext cx="2957469"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Inspecțiile și review-urile sunt tot validare, la fiecare etapă a procesului. Cel mai mult timp merge totuși în testare.</a:t>
            </a:r>
            <a:endParaRPr lang="en-US" sz="1400" dirty="0"/>
          </a:p>
        </p:txBody>
      </p:sp>
      <p:sp>
        <p:nvSpPr>
          <p:cNvPr id="16" name="Text 14"/>
          <p:cNvSpPr/>
          <p:nvPr/>
        </p:nvSpPr>
        <p:spPr>
          <a:xfrm>
            <a:off x="812765" y="4965669"/>
            <a:ext cx="10566398" cy="553678"/>
          </a:xfrm>
          <a:prstGeom prst="roundRect">
            <a:avLst>
              <a:gd name="adj" fmla="val 18350"/>
            </a:avLst>
          </a:prstGeom>
          <a:solidFill>
            <a:srgbClr val="101820"/>
          </a:solidFill>
          <a:ln/>
        </p:spPr>
        <p:txBody>
          <a:bodyPr wrap="square" lIns="224242" tIns="122642" rIns="0" bIns="97242"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În curs: Verificarea codului (săptămâna 7), Cross-team review (săptămâna 9).</a:t>
            </a:r>
            <a:endParaRPr lang="en-US" sz="1400" dirty="0"/>
          </a:p>
        </p:txBody>
      </p:sp>
      <p:sp>
        <p:nvSpPr>
          <p:cNvPr id="17" name="Text 15"/>
          <p:cNvSpPr/>
          <p:nvPr/>
        </p:nvSpPr>
        <p:spPr>
          <a:xfrm>
            <a:off x="812765" y="6238280"/>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Sursa: Sommerville, Software Engineering, ed. 10, §2.2.3, p. 58–60; cap. 8, p. 228.</a:t>
            </a:r>
            <a:endParaRPr lang="en-US" sz="1200" dirty="0"/>
          </a:p>
        </p:txBody>
      </p:sp>
      <p:sp>
        <p:nvSpPr>
          <p:cNvPr id="18" name="Text 16"/>
          <p:cNvSpPr/>
          <p:nvPr/>
        </p:nvSpPr>
        <p:spPr>
          <a:xfrm>
            <a:off x="10312440" y="6238280"/>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9 / 14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ACTIVITATEA 4 DIN 4 · MAINTENANCE</a:t>
            </a:r>
            <a:endParaRPr lang="en-US" sz="1200" dirty="0"/>
          </a:p>
        </p:txBody>
      </p:sp>
      <p:sp>
        <p:nvSpPr>
          <p:cNvPr id="3" name="Text 1"/>
          <p:cNvSpPr>
            <a:spLocks noGrp="1"/>
          </p:cNvSpPr>
          <p:nvPr>
            <p:ph type="title"/>
          </p:nvPr>
        </p:nvSpPr>
        <p:spPr>
          <a:xfrm>
            <a:off x="812765" y="1330889"/>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Evolution: partea cea mai lungă</a:t>
            </a:r>
            <a:endParaRPr lang="en-US" sz="3600" dirty="0"/>
          </a:p>
        </p:txBody>
      </p:sp>
      <p:sp>
        <p:nvSpPr>
          <p:cNvPr id="4" name="Shape 2"/>
          <p:cNvSpPr/>
          <p:nvPr/>
        </p:nvSpPr>
        <p:spPr>
          <a:xfrm>
            <a:off x="812765" y="2222457"/>
            <a:ext cx="3384521" cy="2539964"/>
          </a:xfrm>
          <a:prstGeom prst="roundRect">
            <a:avLst>
              <a:gd name="adj" fmla="val 4000"/>
            </a:avLst>
          </a:prstGeom>
          <a:solidFill>
            <a:srgbClr val="101820"/>
          </a:solidFill>
          <a:ln/>
        </p:spPr>
      </p:sp>
      <p:sp>
        <p:nvSpPr>
          <p:cNvPr id="5" name="Text 3"/>
          <p:cNvSpPr/>
          <p:nvPr/>
        </p:nvSpPr>
        <p:spPr>
          <a:xfrm>
            <a:off x="1066734" y="2476426"/>
            <a:ext cx="2962879" cy="1499672"/>
          </a:xfrm>
          <a:prstGeom prst="rect">
            <a:avLst/>
          </a:prstGeom>
          <a:noFill/>
          <a:ln/>
        </p:spPr>
        <p:txBody>
          <a:bodyPr wrap="square" lIns="0" tIns="0" rIns="0" bIns="0" rtlCol="0" anchor="t">
            <a:normAutofit/>
          </a:bodyPr>
          <a:lstStyle/>
          <a:p>
            <a:pPr marL="0" indent="0" algn="l">
              <a:lnSpc>
                <a:spcPts val="5813"/>
              </a:lnSpc>
              <a:buNone/>
            </a:pPr>
            <a:r>
              <a:rPr lang="en-US" sz="5813" b="1" dirty="0">
                <a:solidFill>
                  <a:srgbClr val="FFB454"/>
                </a:solidFill>
                <a:latin typeface="IBM Plex Sans" pitchFamily="34" charset="0"/>
                <a:ea typeface="IBM Plex Sans" pitchFamily="34" charset="-122"/>
                <a:cs typeface="IBM Plex Sans" pitchFamily="34" charset="-120"/>
              </a:rPr>
              <a:t>60–90%</a:t>
            </a:r>
            <a:endParaRPr lang="en-US" sz="5813" dirty="0"/>
          </a:p>
        </p:txBody>
      </p:sp>
      <p:sp>
        <p:nvSpPr>
          <p:cNvPr id="6" name="Text 4"/>
          <p:cNvSpPr/>
          <p:nvPr/>
        </p:nvSpPr>
        <p:spPr>
          <a:xfrm>
            <a:off x="1066734" y="4026867"/>
            <a:ext cx="2962879" cy="506981"/>
          </a:xfrm>
          <a:prstGeom prst="rect">
            <a:avLst/>
          </a:prstGeom>
          <a:noFill/>
          <a:ln/>
        </p:spPr>
        <p:txBody>
          <a:bodyPr wrap="square" lIns="0" tIns="0" rIns="0" bIns="0" rtlCol="0" anchor="t">
            <a:normAutofit/>
          </a:bodyPr>
          <a:lstStyle/>
          <a:p>
            <a:pPr marL="0" indent="0" algn="l">
              <a:lnSpc>
                <a:spcPts val="1911"/>
              </a:lnSpc>
              <a:buNone/>
            </a:pPr>
            <a:r>
              <a:rPr lang="en-US" sz="1365" dirty="0">
                <a:solidFill>
                  <a:srgbClr val="F6F4EE"/>
                </a:solidFill>
                <a:latin typeface="IBM Plex Sans" pitchFamily="34" charset="0"/>
                <a:ea typeface="IBM Plex Sans" pitchFamily="34" charset="-122"/>
                <a:cs typeface="IBM Plex Sans" pitchFamily="34" charset="-120"/>
              </a:rPr>
              <a:t>din costurile software sunt costuri de evoluție, după datele istorice.</a:t>
            </a:r>
            <a:endParaRPr lang="en-US" sz="1365" dirty="0"/>
          </a:p>
        </p:txBody>
      </p:sp>
      <p:sp>
        <p:nvSpPr>
          <p:cNvPr id="7" name="Shape 5"/>
          <p:cNvSpPr/>
          <p:nvPr/>
        </p:nvSpPr>
        <p:spPr>
          <a:xfrm>
            <a:off x="4403708" y="2225632"/>
            <a:ext cx="3378171" cy="2533614"/>
          </a:xfrm>
          <a:prstGeom prst="roundRect">
            <a:avLst>
              <a:gd name="adj" fmla="val 3885"/>
            </a:avLst>
          </a:prstGeom>
          <a:solidFill>
            <a:srgbClr val="FFFDF8"/>
          </a:solidFill>
          <a:ln w="6350">
            <a:solidFill>
              <a:srgbClr val="D9D3C5"/>
            </a:solidFill>
            <a:prstDash val="solid"/>
          </a:ln>
        </p:spPr>
      </p:sp>
      <p:sp>
        <p:nvSpPr>
          <p:cNvPr id="8" name="Text 6"/>
          <p:cNvSpPr/>
          <p:nvPr/>
        </p:nvSpPr>
        <p:spPr>
          <a:xfrm>
            <a:off x="4660299" y="2482224"/>
            <a:ext cx="295093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Unde merge efortul</a:t>
            </a:r>
            <a:endParaRPr lang="en-US" sz="1200" dirty="0"/>
          </a:p>
        </p:txBody>
      </p:sp>
      <p:sp>
        <p:nvSpPr>
          <p:cNvPr id="9" name="Text 7"/>
          <p:cNvSpPr/>
          <p:nvPr/>
        </p:nvSpPr>
        <p:spPr>
          <a:xfrm>
            <a:off x="4660299" y="2771738"/>
            <a:ext cx="2950938"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58%: funcționalitate nouă sau modificată.</a:t>
            </a:r>
            <a:endParaRPr lang="en-US" sz="1400" dirty="0"/>
          </a:p>
        </p:txBody>
      </p:sp>
      <p:sp>
        <p:nvSpPr>
          <p:cNvPr id="10" name="Text 8"/>
          <p:cNvSpPr/>
          <p:nvPr/>
        </p:nvSpPr>
        <p:spPr>
          <a:xfrm>
            <a:off x="4660299" y="3345706"/>
            <a:ext cx="2950938"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24%: repararea defectelor.</a:t>
            </a:r>
            <a:endParaRPr lang="en-US" sz="1400" dirty="0"/>
          </a:p>
        </p:txBody>
      </p:sp>
      <p:sp>
        <p:nvSpPr>
          <p:cNvPr id="11" name="Text 9"/>
          <p:cNvSpPr/>
          <p:nvPr/>
        </p:nvSpPr>
        <p:spPr>
          <a:xfrm>
            <a:off x="4660299" y="3670777"/>
            <a:ext cx="2950938"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19%: adaptarea la un mediu nou.</a:t>
            </a:r>
            <a:endParaRPr lang="en-US" sz="1400" dirty="0"/>
          </a:p>
        </p:txBody>
      </p:sp>
      <p:sp>
        <p:nvSpPr>
          <p:cNvPr id="12" name="Shape 10"/>
          <p:cNvSpPr/>
          <p:nvPr/>
        </p:nvSpPr>
        <p:spPr>
          <a:xfrm>
            <a:off x="7991432" y="2225632"/>
            <a:ext cx="3384511" cy="2533614"/>
          </a:xfrm>
          <a:prstGeom prst="roundRect">
            <a:avLst>
              <a:gd name="adj" fmla="val 3885"/>
            </a:avLst>
          </a:prstGeom>
          <a:solidFill>
            <a:srgbClr val="FFFDF8"/>
          </a:solidFill>
          <a:ln w="6350">
            <a:solidFill>
              <a:srgbClr val="D9D3C5"/>
            </a:solidFill>
            <a:prstDash val="solid"/>
          </a:ln>
        </p:spPr>
      </p:sp>
      <p:sp>
        <p:nvSpPr>
          <p:cNvPr id="13" name="Text 11"/>
          <p:cNvSpPr/>
          <p:nvPr/>
        </p:nvSpPr>
        <p:spPr>
          <a:xfrm>
            <a:off x="8248022" y="2482224"/>
            <a:ext cx="2957469"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Legile lui Lehman</a:t>
            </a:r>
            <a:endParaRPr lang="en-US" sz="1200" dirty="0"/>
          </a:p>
        </p:txBody>
      </p:sp>
      <p:sp>
        <p:nvSpPr>
          <p:cNvPr id="14" name="Text 12"/>
          <p:cNvSpPr/>
          <p:nvPr/>
        </p:nvSpPr>
        <p:spPr>
          <a:xfrm>
            <a:off x="8248022" y="2771738"/>
            <a:ext cx="2957469"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Un program trebuie să se schimbe continuu ca să rămână util.</a:t>
            </a:r>
            <a:endParaRPr lang="en-US" sz="1400" dirty="0"/>
          </a:p>
        </p:txBody>
      </p:sp>
      <p:sp>
        <p:nvSpPr>
          <p:cNvPr id="15" name="Text 13"/>
          <p:cNvSpPr/>
          <p:nvPr/>
        </p:nvSpPr>
        <p:spPr>
          <a:xfrm>
            <a:off x="8248022" y="3345706"/>
            <a:ext cx="2957469"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Pe măsură ce se schimbă, structura lui se degradează.</a:t>
            </a:r>
            <a:endParaRPr lang="en-US" sz="1400" dirty="0"/>
          </a:p>
        </p:txBody>
      </p:sp>
      <p:sp>
        <p:nvSpPr>
          <p:cNvPr id="16" name="Text 14"/>
          <p:cNvSpPr/>
          <p:nvPr/>
        </p:nvSpPr>
        <p:spPr>
          <a:xfrm>
            <a:off x="812765" y="4965669"/>
            <a:ext cx="10566398" cy="553678"/>
          </a:xfrm>
          <a:prstGeom prst="roundRect">
            <a:avLst>
              <a:gd name="adj" fmla="val 18350"/>
            </a:avLst>
          </a:prstGeom>
          <a:solidFill>
            <a:srgbClr val="101820"/>
          </a:solidFill>
          <a:ln/>
        </p:spPr>
        <p:txBody>
          <a:bodyPr wrap="square" lIns="224242" tIns="122642" rIns="0" bIns="97242"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În curs: Securitate (săptămâna 11), DevOps (săptămâna 12), Live change request (săptămâna 14).</a:t>
            </a:r>
            <a:endParaRPr lang="en-US" sz="1400" dirty="0"/>
          </a:p>
        </p:txBody>
      </p:sp>
      <p:sp>
        <p:nvSpPr>
          <p:cNvPr id="17" name="Text 15"/>
          <p:cNvSpPr/>
          <p:nvPr/>
        </p:nvSpPr>
        <p:spPr>
          <a:xfrm>
            <a:off x="812765" y="6238273"/>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Sursa: Sommerville, Software Engineering, ed. 10, p. 256 și p. 271–272 (Figura 9.12).</a:t>
            </a:r>
            <a:endParaRPr lang="en-US" sz="1200" dirty="0"/>
          </a:p>
        </p:txBody>
      </p:sp>
      <p:sp>
        <p:nvSpPr>
          <p:cNvPr id="18" name="Text 16"/>
          <p:cNvSpPr/>
          <p:nvPr/>
        </p:nvSpPr>
        <p:spPr>
          <a:xfrm>
            <a:off x="10312440" y="6238273"/>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10 / 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8DD"/>
        </a:solidFill>
        <a:effectLst/>
      </p:bgPr>
    </p:bg>
    <p:spTree>
      <p:nvGrpSpPr>
        <p:cNvPr id="1" name=""/>
        <p:cNvGrpSpPr/>
        <p:nvPr/>
      </p:nvGrpSpPr>
      <p:grpSpPr>
        <a:xfrm>
          <a:off x="0" y="0"/>
          <a:ext cx="0" cy="0"/>
          <a:chOff x="0" y="0"/>
          <a:chExt cx="0" cy="0"/>
        </a:xfrm>
      </p:grpSpPr>
      <p:sp>
        <p:nvSpPr>
          <p:cNvPr id="2" name="Text 0"/>
          <p:cNvSpPr/>
          <p:nvPr/>
        </p:nvSpPr>
        <p:spPr>
          <a:xfrm>
            <a:off x="812765" y="812769"/>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ACELEAȘI ACTIVITĂȚI, ORGANIZATE DIFERIT</a:t>
            </a:r>
            <a:endParaRPr lang="en-US" sz="1200" dirty="0"/>
          </a:p>
        </p:txBody>
      </p:sp>
      <p:sp>
        <p:nvSpPr>
          <p:cNvPr id="3" name="Text 1"/>
          <p:cNvSpPr>
            <a:spLocks noGrp="1"/>
          </p:cNvSpPr>
          <p:nvPr>
            <p:ph type="title"/>
          </p:nvPr>
        </p:nvSpPr>
        <p:spPr>
          <a:xfrm>
            <a:off x="812765" y="1330896"/>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Trei modele de proces</a:t>
            </a:r>
            <a:endParaRPr lang="en-US" sz="3600" dirty="0"/>
          </a:p>
        </p:txBody>
      </p:sp>
      <p:sp>
        <p:nvSpPr>
          <p:cNvPr id="4" name="Shape 2"/>
          <p:cNvSpPr/>
          <p:nvPr/>
        </p:nvSpPr>
        <p:spPr>
          <a:xfrm>
            <a:off x="815940" y="2225632"/>
            <a:ext cx="3378171" cy="2635238"/>
          </a:xfrm>
          <a:prstGeom prst="roundRect">
            <a:avLst>
              <a:gd name="adj" fmla="val 3735"/>
            </a:avLst>
          </a:prstGeom>
          <a:solidFill>
            <a:srgbClr val="FFFDF8"/>
          </a:solidFill>
          <a:ln w="6350">
            <a:solidFill>
              <a:srgbClr val="D9D3C5"/>
            </a:solidFill>
            <a:prstDash val="solid"/>
          </a:ln>
        </p:spPr>
      </p:sp>
      <p:sp>
        <p:nvSpPr>
          <p:cNvPr id="5" name="Text 3"/>
          <p:cNvSpPr/>
          <p:nvPr/>
        </p:nvSpPr>
        <p:spPr>
          <a:xfrm>
            <a:off x="1072531" y="2482224"/>
            <a:ext cx="2950938" cy="36070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01820"/>
                </a:solidFill>
                <a:latin typeface="IBM Plex Sans" pitchFamily="34" charset="0"/>
                <a:ea typeface="IBM Plex Sans" pitchFamily="34" charset="-122"/>
                <a:cs typeface="IBM Plex Sans" pitchFamily="34" charset="-120"/>
              </a:rPr>
              <a:t>Waterfall</a:t>
            </a:r>
            <a:endParaRPr lang="en-US" sz="2200" dirty="0"/>
          </a:p>
        </p:txBody>
      </p:sp>
      <p:sp>
        <p:nvSpPr>
          <p:cNvPr id="6" name="Text 4"/>
          <p:cNvSpPr/>
          <p:nvPr/>
        </p:nvSpPr>
        <p:spPr>
          <a:xfrm>
            <a:off x="1072531" y="2893702"/>
            <a:ext cx="2950938"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Activitățile sunt faze separate, în ordine, planificate dinainte. Potrivit pentru sisteme embedded, critice sau foarte mari.</a:t>
            </a:r>
            <a:endParaRPr lang="en-US" sz="1400" dirty="0"/>
          </a:p>
        </p:txBody>
      </p:sp>
      <p:sp>
        <p:nvSpPr>
          <p:cNvPr id="7" name="Shape 5"/>
          <p:cNvSpPr/>
          <p:nvPr/>
        </p:nvSpPr>
        <p:spPr>
          <a:xfrm>
            <a:off x="4403708" y="2225632"/>
            <a:ext cx="3378171" cy="2635238"/>
          </a:xfrm>
          <a:prstGeom prst="roundRect">
            <a:avLst>
              <a:gd name="adj" fmla="val 3735"/>
            </a:avLst>
          </a:prstGeom>
          <a:solidFill>
            <a:srgbClr val="FFFDF8"/>
          </a:solidFill>
          <a:ln w="6350">
            <a:solidFill>
              <a:srgbClr val="D9D3C5"/>
            </a:solidFill>
            <a:prstDash val="solid"/>
          </a:ln>
        </p:spPr>
      </p:sp>
      <p:sp>
        <p:nvSpPr>
          <p:cNvPr id="8" name="Text 6"/>
          <p:cNvSpPr/>
          <p:nvPr/>
        </p:nvSpPr>
        <p:spPr>
          <a:xfrm>
            <a:off x="4660299" y="2482224"/>
            <a:ext cx="2950938" cy="36070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01820"/>
                </a:solidFill>
                <a:latin typeface="IBM Plex Sans" pitchFamily="34" charset="0"/>
                <a:ea typeface="IBM Plex Sans" pitchFamily="34" charset="-122"/>
                <a:cs typeface="IBM Plex Sans" pitchFamily="34" charset="-120"/>
              </a:rPr>
              <a:t>Incremental</a:t>
            </a:r>
            <a:endParaRPr lang="en-US" sz="2200" dirty="0"/>
          </a:p>
        </p:txBody>
      </p:sp>
      <p:sp>
        <p:nvSpPr>
          <p:cNvPr id="9" name="Text 7"/>
          <p:cNvSpPr/>
          <p:nvPr/>
        </p:nvSpPr>
        <p:spPr>
          <a:xfrm>
            <a:off x="4660299" y="2893702"/>
            <a:ext cx="2950938" cy="12698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Specificarea, dezvoltarea și validarea se întrepătrund. Sistemul crește în versiuni, cu feedback rapid. Azi, abordarea cea mai răspândită.</a:t>
            </a:r>
            <a:endParaRPr lang="en-US" sz="1400" dirty="0"/>
          </a:p>
        </p:txBody>
      </p:sp>
      <p:sp>
        <p:nvSpPr>
          <p:cNvPr id="10" name="Shape 8"/>
          <p:cNvSpPr/>
          <p:nvPr/>
        </p:nvSpPr>
        <p:spPr>
          <a:xfrm>
            <a:off x="7991432" y="2225632"/>
            <a:ext cx="3384511" cy="2635238"/>
          </a:xfrm>
          <a:prstGeom prst="roundRect">
            <a:avLst>
              <a:gd name="adj" fmla="val 3735"/>
            </a:avLst>
          </a:prstGeom>
          <a:solidFill>
            <a:srgbClr val="FFFDF8"/>
          </a:solidFill>
          <a:ln w="6350">
            <a:solidFill>
              <a:srgbClr val="D9D3C5"/>
            </a:solidFill>
            <a:prstDash val="solid"/>
          </a:ln>
        </p:spPr>
      </p:sp>
      <p:sp>
        <p:nvSpPr>
          <p:cNvPr id="11" name="Text 9"/>
          <p:cNvSpPr/>
          <p:nvPr/>
        </p:nvSpPr>
        <p:spPr>
          <a:xfrm>
            <a:off x="8248022" y="2482224"/>
            <a:ext cx="2957469" cy="696009"/>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01820"/>
                </a:solidFill>
                <a:latin typeface="IBM Plex Sans" pitchFamily="34" charset="0"/>
                <a:ea typeface="IBM Plex Sans" pitchFamily="34" charset="-122"/>
                <a:cs typeface="IBM Plex Sans" pitchFamily="34" charset="-120"/>
              </a:rPr>
              <a:t>Integration and configuration</a:t>
            </a:r>
            <a:endParaRPr lang="en-US" sz="2200" dirty="0"/>
          </a:p>
        </p:txBody>
      </p:sp>
      <p:sp>
        <p:nvSpPr>
          <p:cNvPr id="12" name="Text 10"/>
          <p:cNvSpPr/>
          <p:nvPr/>
        </p:nvSpPr>
        <p:spPr>
          <a:xfrm>
            <a:off x="8248022" y="3229006"/>
            <a:ext cx="2957469" cy="77209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Sistemul se obține configurând și integrând componente sau sisteme care există deja.</a:t>
            </a:r>
            <a:endParaRPr lang="en-US" sz="1400" dirty="0"/>
          </a:p>
        </p:txBody>
      </p:sp>
      <p:sp>
        <p:nvSpPr>
          <p:cNvPr id="13" name="Text 11"/>
          <p:cNvSpPr/>
          <p:nvPr/>
        </p:nvSpPr>
        <p:spPr>
          <a:xfrm>
            <a:off x="812765" y="4965669"/>
            <a:ext cx="10566398" cy="553678"/>
          </a:xfrm>
          <a:prstGeom prst="roundRect">
            <a:avLst>
              <a:gd name="adj" fmla="val 18350"/>
            </a:avLst>
          </a:prstGeom>
          <a:solidFill>
            <a:srgbClr val="101820"/>
          </a:solidFill>
          <a:ln/>
        </p:spPr>
        <p:txBody>
          <a:bodyPr wrap="square" lIns="224242" tIns="122642" rIns="0" bIns="97242"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Procesele reale combină modelele. La cel incremental, structura se degradează cu fiecare increment dacă nu faci refactoring.</a:t>
            </a:r>
            <a:endParaRPr lang="en-US" sz="1400" dirty="0"/>
          </a:p>
        </p:txBody>
      </p:sp>
      <p:sp>
        <p:nvSpPr>
          <p:cNvPr id="14" name="Text 12"/>
          <p:cNvSpPr/>
          <p:nvPr/>
        </p:nvSpPr>
        <p:spPr>
          <a:xfrm>
            <a:off x="812765" y="6238280"/>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Sursa: Sommerville, Software Engineering, ed. 10, §2.1, p. 45–54.</a:t>
            </a:r>
            <a:endParaRPr lang="en-US" sz="1200" dirty="0"/>
          </a:p>
        </p:txBody>
      </p:sp>
      <p:sp>
        <p:nvSpPr>
          <p:cNvPr id="15" name="Text 13"/>
          <p:cNvSpPr/>
          <p:nvPr/>
        </p:nvSpPr>
        <p:spPr>
          <a:xfrm>
            <a:off x="10312440" y="6238280"/>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11 /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820"/>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FB454"/>
                </a:solidFill>
                <a:latin typeface="JetBrains Mono" pitchFamily="49" charset="0"/>
                <a:ea typeface="JetBrains Mono" pitchFamily="49" charset="-122"/>
                <a:cs typeface="JetBrains Mono" pitchFamily="49" charset="-120"/>
              </a:rPr>
              <a:t>DEVELOPMENT SE COMPRIMĂ. CELELALTE TREI, NU.</a:t>
            </a:r>
            <a:endParaRPr lang="en-US" sz="1200" dirty="0"/>
          </a:p>
        </p:txBody>
      </p:sp>
      <p:sp>
        <p:nvSpPr>
          <p:cNvPr id="3" name="Text 1"/>
          <p:cNvSpPr>
            <a:spLocks noGrp="1"/>
          </p:cNvSpPr>
          <p:nvPr>
            <p:ph type="title"/>
          </p:nvPr>
        </p:nvSpPr>
        <p:spPr>
          <a:xfrm>
            <a:off x="812765" y="1330889"/>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4EE"/>
                </a:solidFill>
                <a:latin typeface="IBM Plex Sans" pitchFamily="34" charset="0"/>
                <a:ea typeface="IBM Plex Sans" pitchFamily="34" charset="-122"/>
                <a:cs typeface="IBM Plex Sans" pitchFamily="34" charset="-120"/>
              </a:rPr>
              <a:t>Ce schimbă AI-ul în acest tablou</a:t>
            </a:r>
            <a:endParaRPr lang="en-US" sz="3600" dirty="0"/>
          </a:p>
        </p:txBody>
      </p:sp>
      <p:sp>
        <p:nvSpPr>
          <p:cNvPr id="4" name="Shape 2"/>
          <p:cNvSpPr/>
          <p:nvPr/>
        </p:nvSpPr>
        <p:spPr>
          <a:xfrm>
            <a:off x="815940" y="2225632"/>
            <a:ext cx="3378171" cy="2660644"/>
          </a:xfrm>
          <a:prstGeom prst="roundRect">
            <a:avLst>
              <a:gd name="adj" fmla="val 3699"/>
            </a:avLst>
          </a:prstGeom>
          <a:noFill/>
          <a:ln w="6350">
            <a:solidFill>
              <a:srgbClr val="46505C"/>
            </a:solidFill>
            <a:prstDash val="solid"/>
          </a:ln>
        </p:spPr>
      </p:sp>
      <p:sp>
        <p:nvSpPr>
          <p:cNvPr id="5" name="Text 3"/>
          <p:cNvSpPr/>
          <p:nvPr/>
        </p:nvSpPr>
        <p:spPr>
          <a:xfrm>
            <a:off x="1072531" y="2482224"/>
            <a:ext cx="2950938" cy="36070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B454"/>
                </a:solidFill>
                <a:latin typeface="IBM Plex Sans" pitchFamily="34" charset="0"/>
                <a:ea typeface="IBM Plex Sans" pitchFamily="34" charset="-122"/>
                <a:cs typeface="IBM Plex Sans" pitchFamily="34" charset="-120"/>
              </a:rPr>
              <a:t>Specification</a:t>
            </a:r>
            <a:endParaRPr lang="en-US" sz="2200" dirty="0"/>
          </a:p>
        </p:txBody>
      </p:sp>
      <p:sp>
        <p:nvSpPr>
          <p:cNvPr id="6" name="Text 4"/>
          <p:cNvSpPr/>
          <p:nvPr/>
        </p:nvSpPr>
        <p:spPr>
          <a:xfrm>
            <a:off x="1072531" y="2893696"/>
            <a:ext cx="2950938"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4CF"/>
                </a:solidFill>
                <a:latin typeface="IBM Plex Sans" pitchFamily="34" charset="0"/>
                <a:ea typeface="IBM Plex Sans" pitchFamily="34" charset="-122"/>
                <a:cs typeface="IBM Plex Sans" pitchFamily="34" charset="-120"/>
              </a:rPr>
              <a:t>Specificația devine contractul cu agentul. Dacă cerința e vagă sau greșită, codul greșit apare în câteva minute.</a:t>
            </a:r>
            <a:endParaRPr lang="en-US" sz="1400" dirty="0"/>
          </a:p>
        </p:txBody>
      </p:sp>
      <p:sp>
        <p:nvSpPr>
          <p:cNvPr id="7" name="Shape 5"/>
          <p:cNvSpPr/>
          <p:nvPr/>
        </p:nvSpPr>
        <p:spPr>
          <a:xfrm>
            <a:off x="4403708" y="2225632"/>
            <a:ext cx="3378171" cy="2660644"/>
          </a:xfrm>
          <a:prstGeom prst="roundRect">
            <a:avLst>
              <a:gd name="adj" fmla="val 3699"/>
            </a:avLst>
          </a:prstGeom>
          <a:noFill/>
          <a:ln w="6350">
            <a:solidFill>
              <a:srgbClr val="46505C"/>
            </a:solidFill>
            <a:prstDash val="solid"/>
          </a:ln>
        </p:spPr>
      </p:sp>
      <p:sp>
        <p:nvSpPr>
          <p:cNvPr id="8" name="Text 6"/>
          <p:cNvSpPr/>
          <p:nvPr/>
        </p:nvSpPr>
        <p:spPr>
          <a:xfrm>
            <a:off x="4660299" y="2482224"/>
            <a:ext cx="2950938" cy="36070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B454"/>
                </a:solidFill>
                <a:latin typeface="IBM Plex Sans" pitchFamily="34" charset="0"/>
                <a:ea typeface="IBM Plex Sans" pitchFamily="34" charset="-122"/>
                <a:cs typeface="IBM Plex Sans" pitchFamily="34" charset="-120"/>
              </a:rPr>
              <a:t>Validation</a:t>
            </a:r>
            <a:endParaRPr lang="en-US" sz="2200" dirty="0"/>
          </a:p>
        </p:txBody>
      </p:sp>
      <p:sp>
        <p:nvSpPr>
          <p:cNvPr id="9" name="Text 7"/>
          <p:cNvSpPr/>
          <p:nvPr/>
        </p:nvSpPr>
        <p:spPr>
          <a:xfrm>
            <a:off x="4660299" y="2893696"/>
            <a:ext cx="2950938"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4CF"/>
                </a:solidFill>
                <a:latin typeface="IBM Plex Sans" pitchFamily="34" charset="0"/>
                <a:ea typeface="IBM Plex Sans" pitchFamily="34" charset="-122"/>
                <a:cs typeface="IBM Plex Sans" pitchFamily="34" charset="-120"/>
              </a:rPr>
              <a:t>Testele scrise de același agent care a scris codul nu sunt o verificare independentă. E mai mult cod de validat, nu mai puțin.</a:t>
            </a:r>
            <a:endParaRPr lang="en-US" sz="1400" dirty="0"/>
          </a:p>
        </p:txBody>
      </p:sp>
      <p:sp>
        <p:nvSpPr>
          <p:cNvPr id="10" name="Shape 8"/>
          <p:cNvSpPr/>
          <p:nvPr/>
        </p:nvSpPr>
        <p:spPr>
          <a:xfrm>
            <a:off x="7991432" y="2225632"/>
            <a:ext cx="3384511" cy="2660644"/>
          </a:xfrm>
          <a:prstGeom prst="roundRect">
            <a:avLst>
              <a:gd name="adj" fmla="val 3699"/>
            </a:avLst>
          </a:prstGeom>
          <a:noFill/>
          <a:ln w="6350">
            <a:solidFill>
              <a:srgbClr val="46505C"/>
            </a:solidFill>
            <a:prstDash val="solid"/>
          </a:ln>
        </p:spPr>
      </p:sp>
      <p:sp>
        <p:nvSpPr>
          <p:cNvPr id="11" name="Text 9"/>
          <p:cNvSpPr/>
          <p:nvPr/>
        </p:nvSpPr>
        <p:spPr>
          <a:xfrm>
            <a:off x="8248022" y="2482224"/>
            <a:ext cx="2957469" cy="36070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B454"/>
                </a:solidFill>
                <a:latin typeface="IBM Plex Sans" pitchFamily="34" charset="0"/>
                <a:ea typeface="IBM Plex Sans" pitchFamily="34" charset="-122"/>
                <a:cs typeface="IBM Plex Sans" pitchFamily="34" charset="-120"/>
              </a:rPr>
              <a:t>Evolution</a:t>
            </a:r>
            <a:endParaRPr lang="en-US" sz="2200" dirty="0"/>
          </a:p>
        </p:txBody>
      </p:sp>
      <p:sp>
        <p:nvSpPr>
          <p:cNvPr id="12" name="Text 10"/>
          <p:cNvSpPr/>
          <p:nvPr/>
        </p:nvSpPr>
        <p:spPr>
          <a:xfrm>
            <a:off x="8248022" y="2893696"/>
            <a:ext cx="2957469"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4CF"/>
                </a:solidFill>
                <a:latin typeface="IBM Plex Sans" pitchFamily="34" charset="0"/>
                <a:ea typeface="IBM Plex Sans" pitchFamily="34" charset="-122"/>
                <a:cs typeface="IBM Plex Sans" pitchFamily="34" charset="-120"/>
              </a:rPr>
              <a:t>Cineva întreține cod pe care nu l-a scris și poate nici nu l-a citit. Degradarea structurii vine mai repede.</a:t>
            </a:r>
            <a:endParaRPr lang="en-US" sz="1400" dirty="0"/>
          </a:p>
        </p:txBody>
      </p:sp>
      <p:sp>
        <p:nvSpPr>
          <p:cNvPr id="13" name="Text 11"/>
          <p:cNvSpPr/>
          <p:nvPr/>
        </p:nvSpPr>
        <p:spPr>
          <a:xfrm>
            <a:off x="812765" y="6238273"/>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4CF"/>
                </a:solidFill>
                <a:latin typeface="IBM Plex Sans" pitchFamily="34" charset="0"/>
                <a:ea typeface="IBM Plex Sans" pitchFamily="34" charset="-122"/>
                <a:cs typeface="IBM Plex Sans" pitchFamily="34" charset="-120"/>
              </a:rPr>
              <a:t>Poziția cursului, nu a manualului: ediția a 10-a a lui Sommerville e anterioară asistenților de programare.</a:t>
            </a:r>
            <a:endParaRPr lang="en-US" sz="1200" dirty="0"/>
          </a:p>
        </p:txBody>
      </p:sp>
      <p:sp>
        <p:nvSpPr>
          <p:cNvPr id="14" name="Text 12"/>
          <p:cNvSpPr/>
          <p:nvPr/>
        </p:nvSpPr>
        <p:spPr>
          <a:xfrm>
            <a:off x="10312440" y="6238273"/>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4CF"/>
                </a:solidFill>
                <a:latin typeface="JetBrains Mono" pitchFamily="49" charset="0"/>
                <a:ea typeface="JetBrains Mono" pitchFamily="49" charset="-122"/>
                <a:cs typeface="JetBrains Mono" pitchFamily="49" charset="-120"/>
              </a:rPr>
              <a:t>12 / 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9"/>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LEGĂTURA CU PROIECTUL</a:t>
            </a:r>
            <a:endParaRPr lang="en-US" sz="1200" dirty="0"/>
          </a:p>
        </p:txBody>
      </p:sp>
      <p:sp>
        <p:nvSpPr>
          <p:cNvPr id="3" name="Text 1"/>
          <p:cNvSpPr>
            <a:spLocks noGrp="1"/>
          </p:cNvSpPr>
          <p:nvPr>
            <p:ph type="title"/>
          </p:nvPr>
        </p:nvSpPr>
        <p:spPr>
          <a:xfrm>
            <a:off x="812765" y="1330896"/>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Proiectul vostru începe la Evolution</a:t>
            </a:r>
            <a:endParaRPr lang="en-US" sz="3600" dirty="0"/>
          </a:p>
        </p:txBody>
      </p:sp>
      <p:sp>
        <p:nvSpPr>
          <p:cNvPr id="4" name="Shape 2"/>
          <p:cNvSpPr/>
          <p:nvPr/>
        </p:nvSpPr>
        <p:spPr>
          <a:xfrm>
            <a:off x="815940" y="2225632"/>
            <a:ext cx="3378171" cy="2533614"/>
          </a:xfrm>
          <a:prstGeom prst="roundRect">
            <a:avLst>
              <a:gd name="adj" fmla="val 3885"/>
            </a:avLst>
          </a:prstGeom>
          <a:solidFill>
            <a:srgbClr val="FFFDF8"/>
          </a:solidFill>
          <a:ln w="6350">
            <a:solidFill>
              <a:srgbClr val="D9D3C5"/>
            </a:solidFill>
            <a:prstDash val="solid"/>
          </a:ln>
        </p:spPr>
      </p:sp>
      <p:sp>
        <p:nvSpPr>
          <p:cNvPr id="5" name="Text 3"/>
          <p:cNvSpPr/>
          <p:nvPr/>
        </p:nvSpPr>
        <p:spPr>
          <a:xfrm>
            <a:off x="1072531" y="2482224"/>
            <a:ext cx="295093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Rar ceva complet nou</a:t>
            </a:r>
            <a:endParaRPr lang="en-US" sz="1200" dirty="0"/>
          </a:p>
        </p:txBody>
      </p:sp>
      <p:sp>
        <p:nvSpPr>
          <p:cNvPr id="6" name="Text 4"/>
          <p:cNvSpPr/>
          <p:nvPr/>
        </p:nvSpPr>
        <p:spPr>
          <a:xfrm>
            <a:off x="1072531" y="2771744"/>
            <a:ext cx="2950938"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Foarte puține sisteme sunt complet noi. Dezvoltarea și mentenanța sunt un continuum, nu două procese separate.</a:t>
            </a:r>
            <a:endParaRPr lang="en-US" sz="1400" dirty="0"/>
          </a:p>
        </p:txBody>
      </p:sp>
      <p:sp>
        <p:nvSpPr>
          <p:cNvPr id="7" name="Shape 5"/>
          <p:cNvSpPr/>
          <p:nvPr/>
        </p:nvSpPr>
        <p:spPr>
          <a:xfrm>
            <a:off x="4403708" y="2225632"/>
            <a:ext cx="3378171" cy="2533614"/>
          </a:xfrm>
          <a:prstGeom prst="roundRect">
            <a:avLst>
              <a:gd name="adj" fmla="val 3885"/>
            </a:avLst>
          </a:prstGeom>
          <a:solidFill>
            <a:srgbClr val="FFFDF8"/>
          </a:solidFill>
          <a:ln w="6350">
            <a:solidFill>
              <a:srgbClr val="D9D3C5"/>
            </a:solidFill>
            <a:prstDash val="solid"/>
          </a:ln>
        </p:spPr>
      </p:sp>
      <p:sp>
        <p:nvSpPr>
          <p:cNvPr id="8" name="Text 6"/>
          <p:cNvSpPr/>
          <p:nvPr/>
        </p:nvSpPr>
        <p:spPr>
          <a:xfrm>
            <a:off x="4660299" y="2482224"/>
            <a:ext cx="2950938"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Brownfield</a:t>
            </a:r>
            <a:endParaRPr lang="en-US" sz="1200" dirty="0"/>
          </a:p>
        </p:txBody>
      </p:sp>
      <p:sp>
        <p:nvSpPr>
          <p:cNvPr id="9" name="Text 7"/>
          <p:cNvSpPr/>
          <p:nvPr/>
        </p:nvSpPr>
        <p:spPr>
          <a:xfrm>
            <a:off x="4660299" y="2771744"/>
            <a:ext cx="2950938"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Dezvoltare într-un mediu în care sistemul depinde de alte sisteme software care există deja. Termenul e al lui Hopkins și Jenkins (2008).</a:t>
            </a:r>
            <a:endParaRPr lang="en-US" sz="1400" dirty="0"/>
          </a:p>
        </p:txBody>
      </p:sp>
      <p:sp>
        <p:nvSpPr>
          <p:cNvPr id="10" name="Shape 8"/>
          <p:cNvSpPr/>
          <p:nvPr/>
        </p:nvSpPr>
        <p:spPr>
          <a:xfrm>
            <a:off x="7988257" y="2222457"/>
            <a:ext cx="3390861" cy="2539964"/>
          </a:xfrm>
          <a:prstGeom prst="roundRect">
            <a:avLst>
              <a:gd name="adj" fmla="val 4000"/>
            </a:avLst>
          </a:prstGeom>
          <a:solidFill>
            <a:srgbClr val="101820"/>
          </a:solidFill>
          <a:ln/>
        </p:spPr>
      </p:sp>
      <p:sp>
        <p:nvSpPr>
          <p:cNvPr id="11" name="Text 9"/>
          <p:cNvSpPr/>
          <p:nvPr/>
        </p:nvSpPr>
        <p:spPr>
          <a:xfrm>
            <a:off x="8242226" y="2476426"/>
            <a:ext cx="2969410"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B454"/>
                </a:solidFill>
                <a:latin typeface="JetBrains Mono" pitchFamily="49" charset="0"/>
                <a:ea typeface="JetBrains Mono" pitchFamily="49" charset="-122"/>
                <a:cs typeface="JetBrains Mono" pitchFamily="49" charset="-120"/>
              </a:rPr>
              <a:t>La voi</a:t>
            </a:r>
            <a:endParaRPr lang="en-US" sz="1200" dirty="0"/>
          </a:p>
        </p:txBody>
      </p:sp>
      <p:sp>
        <p:nvSpPr>
          <p:cNvPr id="12" name="Text 10"/>
          <p:cNvSpPr/>
          <p:nvPr/>
        </p:nvSpPr>
        <p:spPr>
          <a:xfrm>
            <a:off x="8242226" y="2765946"/>
            <a:ext cx="2969410" cy="77209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Înțelegeți, întăriți, schimbați: un ciclu complet pe sistemul vostru de la MDS, care există deja.</a:t>
            </a:r>
            <a:endParaRPr lang="en-US" sz="1400" dirty="0"/>
          </a:p>
        </p:txBody>
      </p:sp>
      <p:sp>
        <p:nvSpPr>
          <p:cNvPr id="13" name="Text 11"/>
          <p:cNvSpPr/>
          <p:nvPr/>
        </p:nvSpPr>
        <p:spPr>
          <a:xfrm>
            <a:off x="812765" y="4965669"/>
            <a:ext cx="10566398" cy="553678"/>
          </a:xfrm>
          <a:prstGeom prst="roundRect">
            <a:avLst>
              <a:gd name="adj" fmla="val 18350"/>
            </a:avLst>
          </a:prstGeom>
          <a:solidFill>
            <a:srgbClr val="101820"/>
          </a:solidFill>
          <a:ln/>
        </p:spPr>
        <p:txBody>
          <a:bodyPr wrap="square" lIns="224242" tIns="122642" rIns="0" bIns="97242"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Ingineria software e un proces în spirală: cerințe, design, implementare și testare, pe toată durata vieții sistemului.</a:t>
            </a:r>
            <a:endParaRPr lang="en-US" sz="1400" dirty="0"/>
          </a:p>
        </p:txBody>
      </p:sp>
      <p:sp>
        <p:nvSpPr>
          <p:cNvPr id="14" name="Text 12"/>
          <p:cNvSpPr/>
          <p:nvPr/>
        </p:nvSpPr>
        <p:spPr>
          <a:xfrm>
            <a:off x="812765" y="6238280"/>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Sursa: Sommerville, Software Engineering, ed. 10, §2.2.4, p. 60–61; cap. 9, p. 256.</a:t>
            </a:r>
            <a:endParaRPr lang="en-US" sz="1200" dirty="0"/>
          </a:p>
        </p:txBody>
      </p:sp>
      <p:sp>
        <p:nvSpPr>
          <p:cNvPr id="15" name="Text 13"/>
          <p:cNvSpPr/>
          <p:nvPr/>
        </p:nvSpPr>
        <p:spPr>
          <a:xfrm>
            <a:off x="10312440" y="6238280"/>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13 / 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38747"/>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400A"/>
                </a:solidFill>
                <a:latin typeface="JetBrains Mono" pitchFamily="49" charset="0"/>
                <a:ea typeface="JetBrains Mono" pitchFamily="49" charset="-122"/>
                <a:cs typeface="JetBrains Mono" pitchFamily="49" charset="-120"/>
              </a:rPr>
              <a:t>PÂNĂ LA CURSUL 2</a:t>
            </a:r>
            <a:endParaRPr lang="en-US" sz="1200" dirty="0"/>
          </a:p>
        </p:txBody>
      </p:sp>
      <p:sp>
        <p:nvSpPr>
          <p:cNvPr id="3" name="Text 1"/>
          <p:cNvSpPr>
            <a:spLocks noGrp="1"/>
          </p:cNvSpPr>
          <p:nvPr>
            <p:ph type="title"/>
          </p:nvPr>
        </p:nvSpPr>
        <p:spPr>
          <a:xfrm>
            <a:off x="812765" y="1330889"/>
            <a:ext cx="10883436" cy="52831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0"/>
                </a:solidFill>
                <a:latin typeface="IBM Plex Sans" pitchFamily="34" charset="0"/>
                <a:ea typeface="IBM Plex Sans" pitchFamily="34" charset="-122"/>
                <a:cs typeface="IBM Plex Sans" pitchFamily="34" charset="-120"/>
              </a:rPr>
              <a:t>De reținut și de citit</a:t>
            </a:r>
            <a:endParaRPr lang="en-US" sz="3600" dirty="0"/>
          </a:p>
        </p:txBody>
      </p:sp>
      <p:sp>
        <p:nvSpPr>
          <p:cNvPr id="4" name="Shape 2"/>
          <p:cNvSpPr/>
          <p:nvPr/>
        </p:nvSpPr>
        <p:spPr>
          <a:xfrm>
            <a:off x="815940" y="2225632"/>
            <a:ext cx="5175247" cy="3168628"/>
          </a:xfrm>
          <a:prstGeom prst="roundRect">
            <a:avLst>
              <a:gd name="adj" fmla="val 3106"/>
            </a:avLst>
          </a:prstGeom>
          <a:solidFill>
            <a:srgbClr val="FFFDF8"/>
          </a:solidFill>
          <a:ln w="6350">
            <a:solidFill>
              <a:srgbClr val="D9D3C5"/>
            </a:solidFill>
            <a:prstDash val="solid"/>
          </a:ln>
        </p:spPr>
      </p:sp>
      <p:sp>
        <p:nvSpPr>
          <p:cNvPr id="5" name="Text 3"/>
          <p:cNvSpPr/>
          <p:nvPr/>
        </p:nvSpPr>
        <p:spPr>
          <a:xfrm>
            <a:off x="1072531" y="2482224"/>
            <a:ext cx="4801927"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00A"/>
                </a:solidFill>
                <a:latin typeface="JetBrains Mono" pitchFamily="49" charset="0"/>
                <a:ea typeface="JetBrains Mono" pitchFamily="49" charset="-122"/>
                <a:cs typeface="JetBrains Mono" pitchFamily="49" charset="-120"/>
              </a:rPr>
              <a:t>De reținut</a:t>
            </a:r>
            <a:endParaRPr lang="en-US" sz="1200" dirty="0"/>
          </a:p>
        </p:txBody>
      </p:sp>
      <p:sp>
        <p:nvSpPr>
          <p:cNvPr id="6" name="Text 4"/>
          <p:cNvSpPr/>
          <p:nvPr/>
        </p:nvSpPr>
        <p:spPr>
          <a:xfrm>
            <a:off x="1072531" y="2797144"/>
            <a:ext cx="4801927"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Ingineria software acoperă tot drumul, de la specificare până la mentenanță, nu doar scrisul codului.</a:t>
            </a:r>
            <a:endParaRPr lang="en-US" sz="1400" dirty="0"/>
          </a:p>
        </p:txBody>
      </p:sp>
      <p:sp>
        <p:nvSpPr>
          <p:cNvPr id="7" name="Text 5"/>
          <p:cNvSpPr/>
          <p:nvPr/>
        </p:nvSpPr>
        <p:spPr>
          <a:xfrm>
            <a:off x="1072531" y="3396518"/>
            <a:ext cx="4801927"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Orice proces are patru activități: specification, development, validation, evolution.</a:t>
            </a:r>
            <a:endParaRPr lang="en-US" sz="1400" dirty="0"/>
          </a:p>
        </p:txBody>
      </p:sp>
      <p:sp>
        <p:nvSpPr>
          <p:cNvPr id="8" name="Text 6"/>
          <p:cNvSpPr/>
          <p:nvPr/>
        </p:nvSpPr>
        <p:spPr>
          <a:xfrm>
            <a:off x="1072531" y="3995893"/>
            <a:ext cx="4801927"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05C"/>
                </a:solidFill>
                <a:latin typeface="IBM Plex Sans" pitchFamily="34" charset="0"/>
                <a:ea typeface="IBM Plex Sans" pitchFamily="34" charset="-122"/>
                <a:cs typeface="IBM Plex Sans" pitchFamily="34" charset="-120"/>
              </a:rPr>
              <a:t>Evoluția e de obicei partea cea mai lungă și cea mai scumpă.</a:t>
            </a:r>
            <a:endParaRPr lang="en-US" sz="1400" dirty="0"/>
          </a:p>
        </p:txBody>
      </p:sp>
      <p:sp>
        <p:nvSpPr>
          <p:cNvPr id="9" name="Shape 7"/>
          <p:cNvSpPr/>
          <p:nvPr/>
        </p:nvSpPr>
        <p:spPr>
          <a:xfrm>
            <a:off x="6197565" y="2222457"/>
            <a:ext cx="5181597" cy="3174978"/>
          </a:xfrm>
          <a:prstGeom prst="roundRect">
            <a:avLst>
              <a:gd name="adj" fmla="val 3200"/>
            </a:avLst>
          </a:prstGeom>
          <a:solidFill>
            <a:srgbClr val="101820"/>
          </a:solidFill>
          <a:ln/>
        </p:spPr>
      </p:sp>
      <p:sp>
        <p:nvSpPr>
          <p:cNvPr id="10" name="Text 8"/>
          <p:cNvSpPr/>
          <p:nvPr/>
        </p:nvSpPr>
        <p:spPr>
          <a:xfrm>
            <a:off x="6451534" y="2476426"/>
            <a:ext cx="4813869"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B454"/>
                </a:solidFill>
                <a:latin typeface="JetBrains Mono" pitchFamily="49" charset="0"/>
                <a:ea typeface="JetBrains Mono" pitchFamily="49" charset="-122"/>
                <a:cs typeface="JetBrains Mono" pitchFamily="49" charset="-120"/>
              </a:rPr>
              <a:t>De citit · Sommerville, Software Engineering, ed. 10</a:t>
            </a:r>
            <a:endParaRPr lang="en-US" sz="1200" dirty="0"/>
          </a:p>
        </p:txBody>
      </p:sp>
      <p:sp>
        <p:nvSpPr>
          <p:cNvPr id="11" name="Text 9"/>
          <p:cNvSpPr/>
          <p:nvPr/>
        </p:nvSpPr>
        <p:spPr>
          <a:xfrm>
            <a:off x="6451534" y="3004697"/>
            <a:ext cx="4813869"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§1.1 Professional software development, p. 19–27</a:t>
            </a:r>
            <a:endParaRPr lang="en-US" sz="1400" dirty="0"/>
          </a:p>
        </p:txBody>
      </p:sp>
      <p:sp>
        <p:nvSpPr>
          <p:cNvPr id="12" name="Text 10"/>
          <p:cNvSpPr/>
          <p:nvPr/>
        </p:nvSpPr>
        <p:spPr>
          <a:xfrm>
            <a:off x="6451534" y="3355175"/>
            <a:ext cx="4813869"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§2.2 Process activities, p. 54–61</a:t>
            </a:r>
            <a:endParaRPr lang="en-US" sz="1400" dirty="0"/>
          </a:p>
        </p:txBody>
      </p:sp>
      <p:sp>
        <p:nvSpPr>
          <p:cNvPr id="13" name="Text 11"/>
          <p:cNvSpPr/>
          <p:nvPr/>
        </p:nvSpPr>
        <p:spPr>
          <a:xfrm>
            <a:off x="6451534" y="3705647"/>
            <a:ext cx="4813869"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§4.1 Functional and non-functional requirements, p. 105–111</a:t>
            </a:r>
            <a:endParaRPr lang="en-US" sz="1400" dirty="0"/>
          </a:p>
        </p:txBody>
      </p:sp>
      <p:sp>
        <p:nvSpPr>
          <p:cNvPr id="14" name="Text 12"/>
          <p:cNvSpPr/>
          <p:nvPr/>
        </p:nvSpPr>
        <p:spPr>
          <a:xfrm>
            <a:off x="812765" y="6238273"/>
            <a:ext cx="915666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IBM Plex Sans" pitchFamily="34" charset="0"/>
                <a:ea typeface="IBM Plex Sans" pitchFamily="34" charset="-122"/>
                <a:cs typeface="IBM Plex Sans" pitchFamily="34" charset="-120"/>
              </a:rPr>
              <a:t>Inginerie Software 2026–27 · Cursul 1 · SDLC</a:t>
            </a:r>
            <a:endParaRPr lang="en-US" sz="1200" dirty="0"/>
          </a:p>
        </p:txBody>
      </p:sp>
      <p:sp>
        <p:nvSpPr>
          <p:cNvPr id="15" name="Text 13"/>
          <p:cNvSpPr/>
          <p:nvPr/>
        </p:nvSpPr>
        <p:spPr>
          <a:xfrm>
            <a:off x="10312440" y="6238273"/>
            <a:ext cx="1066768"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7"/>
                </a:solidFill>
                <a:latin typeface="JetBrains Mono" pitchFamily="49" charset="0"/>
                <a:ea typeface="JetBrains Mono" pitchFamily="49" charset="-122"/>
                <a:cs typeface="JetBrains Mono" pitchFamily="49" charset="-120"/>
              </a:rPr>
              <a:t>14 / 14</a:t>
            </a:r>
            <a:endParaRPr lang="en-US" sz="1200" dirty="0"/>
          </a:p>
        </p:txBody>
      </p:sp>
    </p:spTree>
  </p:cSld>
  <p:clrMapOvr>
    <a:masterClrMapping/>
  </p:clrMapOvr>
</p:sld>
</file>

<file path=ppt/theme/theme1.xml><?xml version="1.0" encoding="utf-8"?>
<a:theme xmlns:a="http://schemas.openxmlformats.org/drawingml/2006/main" name="Inginerie Software 2026–27 — Cursul 1: SDLC">
  <a:themeElements>
    <a:clrScheme name="Inginerie Software 2026–27 — Cursul 1: SDLC">
      <a:dk1>
        <a:srgbClr val="101820"/>
      </a:dk1>
      <a:lt1>
        <a:srgbClr val="F6F4EE"/>
      </a:lt1>
      <a:dk2>
        <a:srgbClr val="4A4F54"/>
      </a:dk2>
      <a:lt2>
        <a:srgbClr val="DFDED9"/>
      </a:lt2>
      <a:accent1>
        <a:srgbClr val="B8400A"/>
      </a:accent1>
      <a:accent2>
        <a:srgbClr val="FFB454"/>
      </a:accent2>
      <a:accent3>
        <a:srgbClr val="46505C"/>
      </a:accent3>
      <a:accent4>
        <a:srgbClr val="5F6B77"/>
      </a:accent4>
      <a:accent5>
        <a:srgbClr val="B9C4CF"/>
      </a:accent5>
      <a:accent6>
        <a:srgbClr val="9AA0A6"/>
      </a:accent6>
      <a:hlink>
        <a:srgbClr val="0563C1"/>
      </a:hlink>
      <a:folHlink>
        <a:srgbClr val="954F72"/>
      </a:folHlink>
    </a:clrScheme>
    <a:fontScheme name="Inginerie Software 2026–27 — Cursul 1: SDLC">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85DF9904942542B875D072E27B4714" ma:contentTypeVersion="3" ma:contentTypeDescription="Create a new document." ma:contentTypeScope="" ma:versionID="8250e6376b3912942418301e7a2f30e3">
  <xsd:schema xmlns:xsd="http://www.w3.org/2001/XMLSchema" xmlns:xs="http://www.w3.org/2001/XMLSchema" xmlns:p="http://schemas.microsoft.com/office/2006/metadata/properties" xmlns:ns2="1e1288f1-694e-4aca-9a4c-52a213d010cd" targetNamespace="http://schemas.microsoft.com/office/2006/metadata/properties" ma:root="true" ma:fieldsID="baa1eb851d8289e3719488fa6df9a8d1" ns2:_="">
    <xsd:import namespace="1e1288f1-694e-4aca-9a4c-52a213d010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1288f1-694e-4aca-9a4c-52a213d010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55D429-CCFD-483F-A3D1-E1186A73E4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1288f1-694e-4aca-9a4c-52a213d010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7022EBE-BA6B-40FF-A163-1F5A0657E76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41D4B7C-FD72-4839-8D49-65AE206FBD0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Inginerie Software 2026–27 — Cursul 1: SDLC</vt:lpstr>
      <vt:lpstr>Software Development Life Cycle</vt:lpstr>
      <vt:lpstr>Un program nu e încă software</vt:lpstr>
      <vt:lpstr>Ce este ingineria software</vt:lpstr>
      <vt:lpstr>Ce înseamnă software bun</vt:lpstr>
      <vt:lpstr>Patru activități, în orice proces</vt:lpstr>
      <vt:lpstr>De la patru activități la etapele SDLC</vt:lpstr>
      <vt:lpstr>Specification: ce construim</vt:lpstr>
      <vt:lpstr>Development: design și implementare</vt:lpstr>
      <vt:lpstr>Validation: construim ce trebuie?</vt:lpstr>
      <vt:lpstr>Evolution: partea cea mai lungă</vt:lpstr>
      <vt:lpstr>Trei modele de proces</vt:lpstr>
      <vt:lpstr>Ce schimbă AI-ul în acest tablou</vt:lpstr>
      <vt:lpstr>Proiectul vostru începe la Evolution</vt:lpstr>
      <vt:lpstr>De reținut și de citit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Inginerie Software 2026–27 — Cursul 1: SDLC</dc:title>
  <dc:subject/>
  <dc:creator/>
  <cp:lastModifiedBy/>
  <cp:revision>2</cp:revision>
  <dcterms:created xsi:type="dcterms:W3CDTF">2026-10-05T10:40:12Z</dcterms:created>
  <dcterms:modified xsi:type="dcterms:W3CDTF">2026-10-10T13:11:17Z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0x010100A185DF9904942542B875D072E27B4714</vt:lpwstr>
  </property>
</Properties>
</file>