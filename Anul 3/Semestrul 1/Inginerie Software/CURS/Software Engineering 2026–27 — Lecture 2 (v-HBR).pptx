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25b890-e12e-2a3c-243b-394887ce61c2}">
          <p14:sldIdLst>
            <p14:sldId id="256"/>
            <p14:sldId id="257"/>
            <p14:sldId id="258"/>
            <p14:sldId id="259"/>
            <p14:sldId id="260"/>
          </p14:sldIdLst>
        </p14:section>
        <p14:section name="What a requirement is" id="{5bc8a4c9-63f4-2972-0aca-7e2e71e75147}">
          <p14:sldIdLst>
            <p14:sldId id="261"/>
            <p14:sldId id="262"/>
            <p14:sldId id="263"/>
            <p14:sldId id="264"/>
          </p14:sldIdLst>
        </p14:section>
        <p14:section name="What we have" id="{a00bf32e-b9a2-404e-796a-aa0320d4c0db}">
          <p14:sldIdLst>
            <p14:sldId id="265"/>
            <p14:sldId id="266"/>
            <p14:sldId id="267"/>
            <p14:sldId id="268"/>
            <p14:sldId id="269"/>
            <p14:sldId id="270"/>
            <p14:sldId id="271"/>
            <p14:sldId id="272"/>
            <p14:sldId id="273"/>
            <p14:sldId id="274"/>
            <p14:sldId id="275"/>
            <p14:sldId id="276"/>
            <p14:sldId id="277"/>
            <p14:sldId id="278"/>
          </p14:sldIdLst>
        </p14:section>
        <p14:section name="What we want" id="{d11af62a-d8da-660d-1041-e18d14f3c3aa}">
          <p14:sldIdLst>
            <p14:sldId id="279"/>
            <p14:sldId id="280"/>
            <p14:sldId id="281"/>
            <p14:sldId id="282"/>
            <p14:sldId id="283"/>
            <p14:sldId id="284"/>
            <p14:sldId id="285"/>
            <p14:sldId id="286"/>
            <p14:sldId id="287"/>
            <p14:sldId id="288"/>
          </p14:sldIdLst>
        </p14:section>
        <p14:section name="Closing" id="{96437749-553c-007f-1c9a-1b0bb3f849e0}">
          <p14:sldIdLst>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opens the specification block: this week 'what we have' and 'what we want', the first half of next week 'does it hold?'. Main sources: Sommerville, Software Engineering, 10th ed., chapters 4, 22 and 23; Richards and Ford, Fundamentals of Software Architecture, chapters 20 and 23. Every slide gives the book pages in its footer; the reading list at the end is what the quiz and the project rubric are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lecture 1. Sommerville describes three main activities of requirements engineering: elicitation and analysis, specification, validation. In the course's SDLC grouping, Analysis and Planning both belong to Specification. Sommerville notes that a feasibility study may come before all of this, and that in agile the activities are interleaved and done per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p. 129: the cost of fixing a requirements problem by making a system change is usually much greater than repairing design or coding errors, because the design and implementation must also change and the system must be retested. With AI, writing the code got cheaper; deciding what to write did not. If the requirement is wrong, an agent produces the wrong system faster. Link to MDS lecture 2 (the economics of abstraction: when software gets cheaper, demand for it explodes): the other side of that coin is that deciding what to build becomes the expensive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for the specification block. Today: what do we have and what do we want. Next week, first half: does it hold. Then the architecture lectures. Workshop 1 in W5 is where each team's direction is confirmed, so the optional homework at the end of today prepares exactly that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discussion, about 5 minutes. A story from experience: a project where the code was fine but the requirement was misunderstood or wrong. Ask the room whether anyone had this at MDS. Bridge: today is about catching this before the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only: at MDS, lecture 2 (after Sommerville), you saw user vs system requirements, functional vs non-functional requirements with a table of NFR types and metrics, and you wrote at least 10 user stories with acceptance criteria and a backlog generated with AI. We don't repeat any of that. Figure 4.1 (Mentcare) as a reminder: one user requirement, five system requirements. Requirements engineering = finding out, analyzing, documenting and checking (p. 102). Today is about the first verb, and about what comes before it: feasibility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readers need different levels: client managers read user requirements, developers read system requirements. Stakeholders range from end-users to regulators. At MDS students wrote personas, which describe users; stakeholders are a wider set, including people who never touch the system (regulators, an ethics manager, the people who pay). Rhetorical question for the room, no need to collect answers: for an MDS project, the original 'users' may have been imaginary; this year it's worth asking who really has an interest. This goes into the optional direction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feasibility study is short and focused, early in the RE process. The three questions are Sommerville's. The second one, schedule, budget and technology, is exactly what 'what do we have' is about: we can only answer it if we know our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4.6 replaces the sequential view of Figure 2.4. The time spent on each activity depends on the stage, the type of system and the budget. Today we are in the inner rings: feasibility and user requirements elicitation. Change management (requirements management) comes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part: the resources. This is the 'planning' half of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p. 674: at the beginning of planning you assess the constraints: required delivery date, staff available, overall budget, available tools. Assumptions should be pessimistic rather than optimistic, with contingency in the plan. For student teams the classic optimistic assumption is the number of hours each member will actually put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categories are how we organize the inventory in this course. Sommerville lists the cost parameters of a project (effort; hardware and software; travel and training). Richards and Ford, in 'Be pragmatic, yet visionary', list the factors a pragmatic architect takes into account: budget, time, skill set and skill level of the team, trade-offs, technical limitations. The next slides take the five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p. 656: the best size for a software engineering group is 4 to 6 members, never more than 12. Your teams are 4 to 5. p. 647: agile reduces some risks but, relying on people and informal communication, makes staff turnover more damaging. Figure 22.1 and 22.3 list staff turnover and key staff ill at critical times among the common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Richards and Ford, chapter 20, in the risk storming consensus step: one participant rated the Redis cache 9 while nobody else saw a risk; the reason was that they didn't know what Redis was. The authors' rule: unknown or unproven technology gets the highest rating, 9. The matrix itself comes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p. 669: three parameters when computing costs: effort, hardware and software (including maintenance and licences), travel and training. p. 673: the project plan includes hardware and software resource requirements. p. 671, in the discussion of 'pricing to win': often the cost is fixed and the requirements are negotiated so the project stays within budget. For a student team the budget is often zero: say so explicitly, it's a constraint like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course's own framing; the textbooks predate AI assistants. Treat AI access like the other resources: what you have, what it costs, and what you are not allowed to put into it. The fourth card bridges to the next slide: Telang, Hydari and Iqbal (HBR, September–October 2026, 'To Scale AI Agents Successfully, Think of Them as Team Members') argue that agents should not be treated as turnkey software that only needs installing, but as a new kind of workforce that requires management. The list of tools available at no cost is posted on Teams, not repeated here. Reminder of the course design: a better model may produce a better project, which is why 50 points are earned without tools and the project is graded on what you can explain and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Telang, Hydari and Iqbal, 'To Scale AI Agents Successfully, Think of Them as Team Members', Harvard Business Review, September–October 2026, p. 26–29. Their claim: like human employees, agents need a role, a defined scope of authority, approved sources of truth and clear escalation rules, plus supervision and audit trails, because you will be accountable for their actions. They name four frictions: identity (agents on broad shared service accounts; least privilege and a traceable identity instead), context (bad or outdated data leads to bad actions; external inputs are attack vectors, e.g. prompt injection), control (probabilistic systems need deterministic checks: the agent proposes, rules verify before execution), accountability (records of what the agent read and did; clear internal ownership; Moffatt v. Air Canada, 2024, where the tribunal held the airline responsible for its chatbot's misinformation). The autonomy ladder: assistive output, retrieval with guardrails, supervised actions, bounded autonomy; many good deployments deliberately stay on the lower rungs. The article is about enterprises; the mapping to a student project (permissions in the repo, the spec and direction sheet as sources of truth, CI and review as the deterministic boundary) is the course's adaptation. Question for the room: on which rung is the coding agent in your MDS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discussion, about 5–10 minutes. From experience: how an organization decides who gets which licence, what it costs, what data may not go into a model and why. The point for students: resource limits are normal in industry too; engineering means planning within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23.9, the estimate uncertainty curve: based on Boehm et al. 1995, if the initial estimate is x, the actual effort ranged from 0.25x to 4x; estimates improve as the project progresses. p. 684: project estimates are often self-fulfilling. The closing question has no answer in the book: algorithmic models use lines of code as the size metric; with generated code, lines are cheap and say little about effort. Open the question, don't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classifications. By what the risk affects: project, product, business (p. 644–645). By type, as a checklist for identification: estimation, organizational, people, requirements, technology, tools (p. 647, examples from Figure 22.3). The tools example was written for the 10th edition, before AI coding assistants: 'the code generated by software code generation tools is inefficient'.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Sommerville's process: identification, analysis, planning, monitoring, iterated through the project. For analysis he uses bands rather than numbers. Richards and Ford's matrix makes the bands simple: impact and likelihood each low (1), medium (2), high (3), multiplied: 1–2 low, 3–4 medium, 6–9 high. Their advice: consider the impact first, then the likelihood. We use this matrix in the direction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650: in risk planning you ask what-if questions about individual risks, combinations and external factors. Three strategies: avoidance (lower the probability), minimization (lower the impact), contingency plans (be ready for the worst). Best to avoid; if not, minimize; and always have a way to cope. The Figure 22.5 example is worth a smile: in the 2016 edition, automated code generation was already a strategy against underestimated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invented but typical example, using the tools of the previous slides. R1 is a people risk with high impact and medium likelihood: 6, high. Strategy: minimization, spreading the knowledge. R2 is a tools risk, medium: contingency, since the course already asks for a stub in CI. R3 applies the Richards and Ford rule: unknown technology is rated 9 regardless of the matrix; avoidance by a spike early or by choosing a known tool. This is exactly the format of section 6 of the direction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part: elicitation, the 'analysis' half of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Sommerville's five reasons, p. 112–113. The fourth, political factors, is highlighted because it leads to the discussion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discussion, about 5–10 minutes. A story of a requirement that had organizational or political reasons rather than technical ones. Link to Sommerville p. 116: interviews are not an effective way to learn about organizational requirements, because published structures rarely match how decisions are really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4.7, the key figure for the specification block. The cycle starts with discovery and ends with documentation, and repeats; understanding improves each round. Sommerville recommends organizing by viewpoints (groups of stakeholders with something in common) and holding regular stakeholder meetings: those who feel ignored may undermine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115–116. Two types of interviews, mixed in practice. Two difficulties with domain knowledge: jargon, and knowledge so familiar it isn't mentioned (the librarian example). Interviews don't capture organizational constraints because of power relationships. To be an effective interviewer: be open-minded, and prompt with a springboard question, a requirements proposal or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Ethnography: the analyst immerses in the working environment. Effective for two kinds of requirements: those from how people actually work, and those from cooperation and awareness of others' activities (both air traffic control examples, p. 117). Combined with prototyping (Figure 4.8). Limit, p. 118: helps understand existing systems, not innovation; the Nokia vs iPhone comment is Sommerville's.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Stories and scenarios describe how the system is used for a particular task; the difference is structure and level of detail. Figure 4.9 is the iLearn story (photo sharing in a primary school in Ullapool); Figure 4.10 develops part of it into the KidsTakePics upload scenario, with exactly these five parts. The XP remark on p. 119 connects to the user stories students wrote at MDS.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illustrative example, not a recorded session. The generic questions are useful as springboard questions. The right column maps onto the techniques of the previous slides: an implicit requirement found by observation (ethnography), a source that is an existing system, and a political requirement that interviews don't surface. Optional: try the request live with any assistant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Sommerville mentions existing systems and documents as a source in one sentence (p. 114–115); the rest is the course's extension. For the IS project, the MDS repository is the existing system: README and docs, the issue and PR history, commit messages, tests (requirements that already run), the code itself with its routes, schemas and validations, and configuration. This is section 1 of the direction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course's own content. AI is good at summarizing what a codebase does. But the code describes current behaviour, including its defects; the question 'what should it do' needs a stakeholder. Sommerville's guideline on p. 122, rationale and source for each requirement, is the habit that protects against this, and it opens next week's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two questions. Next week: Sommerville 4.1, 4.4, 4.5, 4.6 and negotiation from Richards and Ford chapter 23, then the start of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reading list is binding in one sense: quiz items and the specification part of the project rubric come from these pages, not from the slides alone. Page numbers are the printed book pages of the 10th edition (Global Edition) and the 2020 O'Reilly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and not graded. The sheet follows today's lecture: the system as-is (mining), the direction, stakeholders, the five resources, the three feasibility questions, the top risks with the matrix and a strategy each. Section 7, candidate requirements with source and rationale, is filled in after next week's lecture. Put it in the repository as DIRECTIE.md so it is part of the audit tag and visible before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the reading list, the optional direction sheet, workshop 1 in W5.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3246120"/>
            <a:ext cx="10881360" cy="1920240"/>
          </a:xfrm>
          <a:prstGeom prst="rect">
            <a:avLst/>
          </a:prstGeom>
          <a:noFill/>
          <a:ln/>
        </p:spPr>
        <p:txBody>
          <a:bodyPr wrap="square" rtlCol="0"/>
          <a:lstStyle>
            <a:lvl1pPr algn="l" indent="0" marL="0">
              <a:buNone/>
              <a:defRPr lang="en-US" sz="5400" b="1" dirty="0">
                <a:solidFill>
                  <a:schemeClr val="bg2"/>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188720"/>
            <a:ext cx="10881360" cy="56692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828800"/>
            <a:ext cx="10881360" cy="210312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SCUSSION">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1737360"/>
            <a:ext cx="10881360" cy="23774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3816" y="2468880"/>
            <a:ext cx="10881360" cy="1188720"/>
          </a:xfrm>
          <a:prstGeom prst="rect">
            <a:avLst/>
          </a:prstGeom>
          <a:noFill/>
          <a:ln/>
        </p:spPr>
        <p:txBody>
          <a:bodyPr wrap="square" rtlCol="0"/>
          <a:lstStyle>
            <a:lvl1pPr algn="l" indent="0" marL="0">
              <a:buNone/>
              <a:defRPr lang="en-US" sz="5400" b="1" dirty="0">
                <a:solidFill>
                  <a:schemeClr val="bg2"/>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SOFTWARE ENGINEERING · LECTURE 2 · W3 · 12–16 OCT</a:t>
            </a:r>
            <a:endParaRPr lang="en-US" sz="1200" dirty="0"/>
          </a:p>
        </p:txBody>
      </p:sp>
      <p:sp>
        <p:nvSpPr>
          <p:cNvPr id="3" name="Text 0"/>
          <p:cNvSpPr/>
          <p:nvPr>
            <p:ph idx="100" type="title" hasCustomPrompt="1"/>
          </p:nvPr>
        </p:nvSpPr>
        <p:spPr>
          <a:xfrm>
            <a:off x="813816" y="3246120"/>
            <a:ext cx="10881360" cy="1920240"/>
          </a:xfrm>
          <a:prstGeom prst="rect">
            <a:avLst/>
          </a:prstGeom>
          <a:noFill/>
          <a:ln/>
        </p:spPr>
        <p:txBody>
          <a:bodyPr wrap="square" lIns="0" tIns="0" rIns="0" bIns="0" rtlCol="0" anchor="b"/>
          <a:lstStyle/>
          <a:p>
            <a:pPr algn="l" indent="0" marL="0">
              <a:buNone/>
            </a:pPr>
            <a:r>
              <a:rPr lang="en-US" sz="5400" b="1" dirty="0">
                <a:solidFill>
                  <a:schemeClr val="bg2"/>
                </a:solidFill>
              </a:rPr>
              <a:t>Specification (I): what we have and what we want</a:t>
            </a:r>
            <a:endParaRPr lang="en-US" sz="5400" dirty="0"/>
          </a:p>
        </p:txBody>
      </p:sp>
      <p:sp>
        <p:nvSpPr>
          <p:cNvPr id="4" name="Text 2"/>
          <p:cNvSpPr txBox="1"/>
          <p:nvPr/>
        </p:nvSpPr>
        <p:spPr>
          <a:xfrm>
            <a:off x="813816" y="5349240"/>
            <a:ext cx="10881360" cy="411480"/>
          </a:xfrm>
          <a:prstGeom prst="rect">
            <a:avLst/>
          </a:prstGeom>
          <a:noFill/>
          <a:ln/>
        </p:spPr>
        <p:txBody>
          <a:bodyPr wrap="square" lIns="0" tIns="0" rIns="0" bIns="0" rtlCol="0" anchor="t"/>
          <a:lstStyle/>
          <a:p>
            <a:pPr indent="0" marL="0">
              <a:buNone/>
            </a:pPr>
            <a:r>
              <a:rPr lang="en-US" sz="2200" dirty="0">
                <a:solidFill>
                  <a:schemeClr val="accent5"/>
                </a:solidFill>
              </a:rPr>
              <a:t>Resources, constraints, risks, and finding out what is actually needed</a:t>
            </a:r>
            <a:endParaRPr lang="en-US" sz="2200" dirty="0"/>
          </a:p>
        </p:txBody>
      </p:sp>
      <p:sp>
        <p:nvSpPr>
          <p:cNvPr id="5" name="Text 3"/>
          <p:cNvSpPr txBox="1"/>
          <p:nvPr/>
        </p:nvSpPr>
        <p:spPr>
          <a:xfrm>
            <a:off x="813816" y="6236208"/>
            <a:ext cx="8503920" cy="274320"/>
          </a:xfrm>
          <a:prstGeom prst="rect">
            <a:avLst/>
          </a:prstGeom>
          <a:noFill/>
          <a:ln/>
        </p:spPr>
        <p:txBody>
          <a:bodyPr wrap="square" lIns="0" tIns="0" rIns="0" bIns="0" rtlCol="0" anchor="t"/>
          <a:lstStyle/>
          <a:p>
            <a:pPr indent="0" marL="0">
              <a:buNone/>
            </a:pPr>
            <a:r>
              <a:rPr lang="en-US" sz="1100" dirty="0">
                <a:solidFill>
                  <a:schemeClr val="accent5"/>
                </a:solidFill>
              </a:rPr>
              <a:t>Rareș Cristea · FMI-UB · 2026–27</a:t>
            </a:r>
            <a:endParaRPr lang="en-US" sz="1100" dirty="0"/>
          </a:p>
        </p:txBody>
      </p:sp>
      <p:sp>
        <p:nvSpPr>
          <p:cNvPr id="6" name="Text 4"/>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1 / 37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WHERE WE ARE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Specification joins analysis and planning</a:t>
            </a:r>
            <a:endParaRPr lang="en-US" sz="3600" dirty="0"/>
          </a:p>
        </p:txBody>
      </p:sp>
      <p:sp>
        <p:nvSpPr>
          <p:cNvPr id="4" name="Card"/>
          <p:cNvSpPr/>
          <p:nvPr/>
        </p:nvSpPr>
        <p:spPr>
          <a:xfrm>
            <a:off x="813816" y="2148840"/>
            <a:ext cx="4846320" cy="868680"/>
          </a:xfrm>
          <a:prstGeom prst="roundRect">
            <a:avLst>
              <a:gd name="adj" fmla="val 8421"/>
            </a:avLst>
          </a:prstGeom>
          <a:solidFill>
            <a:schemeClr val="bg1"/>
          </a:solidFill>
          <a:ln w="6350">
            <a:solidFill>
              <a:schemeClr val="accent4"/>
            </a:solidFill>
            <a:prstDash val="solid"/>
          </a:ln>
        </p:spPr>
      </p:sp>
      <p:sp>
        <p:nvSpPr>
          <p:cNvPr id="5" name="Text 3"/>
          <p:cNvSpPr txBox="1"/>
          <p:nvPr/>
        </p:nvSpPr>
        <p:spPr>
          <a:xfrm>
            <a:off x="1069848" y="2404872"/>
            <a:ext cx="433425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1 · Elicitation and analysis</a:t>
            </a:r>
            <a:endParaRPr lang="en-US" sz="1200" dirty="0"/>
          </a:p>
        </p:txBody>
      </p:sp>
      <p:sp>
        <p:nvSpPr>
          <p:cNvPr id="6" name="Text 4"/>
          <p:cNvSpPr txBox="1"/>
          <p:nvPr/>
        </p:nvSpPr>
        <p:spPr>
          <a:xfrm>
            <a:off x="1069848" y="2752344"/>
            <a:ext cx="4334256" cy="54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Find out what the system should do.</a:t>
            </a:r>
            <a:endParaRPr lang="en-US" sz="1400" dirty="0"/>
          </a:p>
        </p:txBody>
      </p:sp>
      <p:sp>
        <p:nvSpPr>
          <p:cNvPr id="7" name="Card"/>
          <p:cNvSpPr/>
          <p:nvPr/>
        </p:nvSpPr>
        <p:spPr>
          <a:xfrm>
            <a:off x="813816" y="3127248"/>
            <a:ext cx="4846320" cy="868680"/>
          </a:xfrm>
          <a:prstGeom prst="roundRect">
            <a:avLst>
              <a:gd name="adj" fmla="val 8421"/>
            </a:avLst>
          </a:prstGeom>
          <a:solidFill>
            <a:schemeClr val="bg1"/>
          </a:solidFill>
          <a:ln w="6350">
            <a:solidFill>
              <a:schemeClr val="accent4"/>
            </a:solidFill>
            <a:prstDash val="solid"/>
          </a:ln>
        </p:spPr>
      </p:sp>
      <p:sp>
        <p:nvSpPr>
          <p:cNvPr id="8" name="Text 6"/>
          <p:cNvSpPr txBox="1"/>
          <p:nvPr/>
        </p:nvSpPr>
        <p:spPr>
          <a:xfrm>
            <a:off x="1069848" y="3383280"/>
            <a:ext cx="433425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2 · Specification</a:t>
            </a:r>
            <a:endParaRPr lang="en-US" sz="1200" dirty="0"/>
          </a:p>
        </p:txBody>
      </p:sp>
      <p:sp>
        <p:nvSpPr>
          <p:cNvPr id="9" name="Text 7"/>
          <p:cNvSpPr txBox="1"/>
          <p:nvPr/>
        </p:nvSpPr>
        <p:spPr>
          <a:xfrm>
            <a:off x="1069848" y="3730752"/>
            <a:ext cx="4334256" cy="54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Write it down, at two levels.</a:t>
            </a:r>
            <a:endParaRPr lang="en-US" sz="1400" dirty="0"/>
          </a:p>
        </p:txBody>
      </p:sp>
      <p:sp>
        <p:nvSpPr>
          <p:cNvPr id="10" name="Card"/>
          <p:cNvSpPr/>
          <p:nvPr/>
        </p:nvSpPr>
        <p:spPr>
          <a:xfrm>
            <a:off x="813816" y="4105656"/>
            <a:ext cx="4846320" cy="868680"/>
          </a:xfrm>
          <a:prstGeom prst="roundRect">
            <a:avLst>
              <a:gd name="adj" fmla="val 8421"/>
            </a:avLst>
          </a:prstGeom>
          <a:solidFill>
            <a:schemeClr val="bg1"/>
          </a:solidFill>
          <a:ln w="6350">
            <a:solidFill>
              <a:schemeClr val="accent4"/>
            </a:solidFill>
            <a:prstDash val="solid"/>
          </a:ln>
        </p:spPr>
      </p:sp>
      <p:sp>
        <p:nvSpPr>
          <p:cNvPr id="11" name="Text 9"/>
          <p:cNvSpPr txBox="1"/>
          <p:nvPr/>
        </p:nvSpPr>
        <p:spPr>
          <a:xfrm>
            <a:off x="1069848" y="4361688"/>
            <a:ext cx="433425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3 · Validation</a:t>
            </a:r>
            <a:endParaRPr lang="en-US" sz="1200" dirty="0"/>
          </a:p>
        </p:txBody>
      </p:sp>
      <p:sp>
        <p:nvSpPr>
          <p:cNvPr id="12" name="Text 10"/>
          <p:cNvSpPr txBox="1"/>
          <p:nvPr/>
        </p:nvSpPr>
        <p:spPr>
          <a:xfrm>
            <a:off x="1069848" y="4709160"/>
            <a:ext cx="4334256" cy="54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Check it is realistic, consistent, complete.</a:t>
            </a:r>
            <a:endParaRPr lang="en-US" sz="1400" dirty="0"/>
          </a:p>
        </p:txBody>
      </p:sp>
      <p:sp>
        <p:nvSpPr>
          <p:cNvPr id="13" name="Figure card"/>
          <p:cNvSpPr/>
          <p:nvPr/>
        </p:nvSpPr>
        <p:spPr>
          <a:xfrm>
            <a:off x="5897880" y="2148840"/>
            <a:ext cx="5486400" cy="2825496"/>
          </a:xfrm>
          <a:prstGeom prst="roundRect">
            <a:avLst>
              <a:gd name="adj" fmla="val 2589"/>
            </a:avLst>
          </a:prstGeom>
          <a:solidFill>
            <a:schemeClr val="bg1"/>
          </a:solidFill>
          <a:ln w="6350">
            <a:solidFill>
              <a:schemeClr val="accent4"/>
            </a:solidFill>
            <a:prstDash val="solid"/>
          </a:ln>
        </p:spPr>
      </p:sp>
      <p:pic>
        <p:nvPicPr>
          <p:cNvPr id="14" name="Figure" descr="sommerville-fig2.4-procesul-RE-p55.png">    </p:cNvPr>
          <p:cNvPicPr>
            <a:picLocks noChangeAspect="1"/>
          </p:cNvPicPr>
          <p:nvPr/>
        </p:nvPicPr>
        <p:blipFill>
          <a:blip r:embed="rId1"/>
          <a:stretch>
            <a:fillRect/>
          </a:stretch>
        </p:blipFill>
        <p:spPr>
          <a:xfrm>
            <a:off x="6866309" y="2313432"/>
            <a:ext cx="3549542" cy="2496312"/>
          </a:xfrm>
          <a:prstGeom prst="rect">
            <a:avLst/>
          </a:prstGeom>
        </p:spPr>
      </p:pic>
      <p:sp>
        <p:nvSpPr>
          <p:cNvPr id="15" name="Callout"/>
          <p:cNvSpPr/>
          <p:nvPr/>
        </p:nvSpPr>
        <p:spPr>
          <a:xfrm>
            <a:off x="813816" y="5138928"/>
            <a:ext cx="10570464" cy="566928"/>
          </a:xfrm>
          <a:prstGeom prst="roundRect">
            <a:avLst>
              <a:gd name="adj" fmla="val 12903"/>
            </a:avLst>
          </a:prstGeom>
          <a:solidFill>
            <a:schemeClr val="tx1"/>
          </a:solidFill>
          <a:ln/>
        </p:spPr>
      </p:sp>
      <p:sp>
        <p:nvSpPr>
          <p:cNvPr id="16" name="Text 13"/>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In lecture 1, the SDLC stages Analysis and Planning sat under one activity: Specification. That is where we are for the next week and a half.</a:t>
            </a:r>
            <a:endParaRPr lang="en-US" sz="1400" dirty="0"/>
          </a:p>
        </p:txBody>
      </p:sp>
      <p:sp>
        <p:nvSpPr>
          <p:cNvPr id="17"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§2.2.1 and Figure 2.4, p. 54–55.</a:t>
            </a:r>
            <a:endParaRPr lang="en-US" sz="1100" dirty="0"/>
          </a:p>
        </p:txBody>
      </p:sp>
      <p:sp>
        <p:nvSpPr>
          <p:cNvPr id="18"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 / 37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3816" y="1828800"/>
            <a:ext cx="10881360" cy="2103120"/>
          </a:xfrm>
          <a:prstGeom prst="rect">
            <a:avLst/>
          </a:prstGeom>
          <a:noFill/>
          <a:ln/>
        </p:spPr>
        <p:txBody>
          <a:bodyPr wrap="square" lIns="0" tIns="0" rIns="0" bIns="0" rtlCol="0" anchor="b"/>
          <a:lstStyle/>
          <a:p>
            <a:pPr algn="l" indent="0" marL="0">
              <a:buNone/>
            </a:pPr>
            <a:r>
              <a:rPr lang="en-US" sz="5400" b="1" dirty="0">
                <a:solidFill>
                  <a:schemeClr val="tx1"/>
                </a:solidFill>
              </a:rPr>
              <a:t>When code is cheap, what stays expensive?</a:t>
            </a:r>
            <a:endParaRPr lang="en-US" sz="5400" dirty="0"/>
          </a:p>
        </p:txBody>
      </p:sp>
      <p:sp>
        <p:nvSpPr>
          <p:cNvPr id="3" name="Text 1"/>
          <p:cNvSpPr txBox="1"/>
          <p:nvPr/>
        </p:nvSpPr>
        <p:spPr>
          <a:xfrm>
            <a:off x="813816" y="4160520"/>
            <a:ext cx="10241280" cy="822960"/>
          </a:xfrm>
          <a:prstGeom prst="rect">
            <a:avLst/>
          </a:prstGeom>
          <a:noFill/>
          <a:ln/>
        </p:spPr>
        <p:txBody>
          <a:bodyPr wrap="square" lIns="0" tIns="0" rIns="0" bIns="0" rtlCol="0" anchor="t"/>
          <a:lstStyle/>
          <a:p>
            <a:pPr indent="0" marL="0">
              <a:buNone/>
            </a:pPr>
            <a:r>
              <a:rPr lang="en-US" sz="2200" dirty="0">
                <a:solidFill>
                  <a:schemeClr val="tx2"/>
                </a:solidFill>
              </a:rPr>
              <a:t>Knowing what you build, and with what. A requirements error means changing the requirement, then the design, the implementation and the tests.</a:t>
            </a:r>
            <a:endParaRPr lang="en-US" sz="2200" dirty="0"/>
          </a:p>
        </p:txBody>
      </p:sp>
      <p:sp>
        <p:nvSpPr>
          <p:cNvPr id="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§4.5, p. 129.</a:t>
            </a:r>
            <a:endParaRPr lang="en-US" sz="1100" dirty="0"/>
          </a:p>
        </p:txBody>
      </p:sp>
      <p:sp>
        <p:nvSpPr>
          <p:cNvPr id="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 / 37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TODAY AND NEXT WEEK</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Three questions before any architecture</a:t>
            </a:r>
            <a:endParaRPr lang="en-US" sz="3600" dirty="0"/>
          </a:p>
        </p:txBody>
      </p:sp>
      <p:sp>
        <p:nvSpPr>
          <p:cNvPr id="4" name="Card"/>
          <p:cNvSpPr/>
          <p:nvPr/>
        </p:nvSpPr>
        <p:spPr>
          <a:xfrm>
            <a:off x="813816" y="2148840"/>
            <a:ext cx="3374136" cy="2651760"/>
          </a:xfrm>
          <a:prstGeom prst="roundRect">
            <a:avLst>
              <a:gd name="adj" fmla="val 2759"/>
            </a:avLst>
          </a:prstGeom>
          <a:solidFill>
            <a:schemeClr val="bg1"/>
          </a:solidFill>
          <a:ln w="6350">
            <a:solidFill>
              <a:schemeClr val="accent4"/>
            </a:solidFill>
            <a:prstDash val="solid"/>
          </a:ln>
        </p:spPr>
      </p:sp>
      <p:sp>
        <p:nvSpPr>
          <p:cNvPr id="5" name="Text 3"/>
          <p:cNvSpPr txBox="1"/>
          <p:nvPr/>
        </p:nvSpPr>
        <p:spPr>
          <a:xfrm>
            <a:off x="1069848" y="2404872"/>
            <a:ext cx="2862072"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W3 · today</a:t>
            </a:r>
            <a:endParaRPr lang="en-US" sz="1200" dirty="0"/>
          </a:p>
        </p:txBody>
      </p:sp>
      <p:sp>
        <p:nvSpPr>
          <p:cNvPr id="6" name="Text 4"/>
          <p:cNvSpPr txBox="1"/>
          <p:nvPr/>
        </p:nvSpPr>
        <p:spPr>
          <a:xfrm>
            <a:off x="1069848" y="2752344"/>
            <a:ext cx="2862072" cy="365760"/>
          </a:xfrm>
          <a:prstGeom prst="rect">
            <a:avLst/>
          </a:prstGeom>
          <a:noFill/>
          <a:ln/>
        </p:spPr>
        <p:txBody>
          <a:bodyPr wrap="square" lIns="0" tIns="0" rIns="0" bIns="0" rtlCol="0" anchor="t"/>
          <a:lstStyle/>
          <a:p>
            <a:pPr indent="0" marL="0">
              <a:buNone/>
            </a:pPr>
            <a:r>
              <a:rPr lang="en-US" sz="2000" b="1" dirty="0">
                <a:solidFill>
                  <a:schemeClr val="tx1"/>
                </a:solidFill>
              </a:rPr>
              <a:t>What do we have?</a:t>
            </a:r>
            <a:endParaRPr lang="en-US" sz="2000" dirty="0"/>
          </a:p>
        </p:txBody>
      </p:sp>
      <p:sp>
        <p:nvSpPr>
          <p:cNvPr id="7" name="Text 5"/>
          <p:cNvSpPr txBox="1"/>
          <p:nvPr/>
        </p:nvSpPr>
        <p:spPr>
          <a:xfrm>
            <a:off x="1069848" y="3209544"/>
            <a:ext cx="2862072" cy="13807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People, knowledge, technical and financial resources, access to AI. The constraints they set and the risks they carry.</a:t>
            </a:r>
            <a:endParaRPr lang="en-US" sz="1400" dirty="0"/>
          </a:p>
        </p:txBody>
      </p:sp>
      <p:sp>
        <p:nvSpPr>
          <p:cNvPr id="8" name="Card"/>
          <p:cNvSpPr/>
          <p:nvPr/>
        </p:nvSpPr>
        <p:spPr>
          <a:xfrm>
            <a:off x="4407408" y="2148840"/>
            <a:ext cx="3374136" cy="2651760"/>
          </a:xfrm>
          <a:prstGeom prst="roundRect">
            <a:avLst>
              <a:gd name="adj" fmla="val 2759"/>
            </a:avLst>
          </a:prstGeom>
          <a:solidFill>
            <a:schemeClr val="bg1"/>
          </a:solidFill>
          <a:ln w="6350">
            <a:solidFill>
              <a:schemeClr val="accent4"/>
            </a:solidFill>
            <a:prstDash val="solid"/>
          </a:ln>
        </p:spPr>
      </p:sp>
      <p:sp>
        <p:nvSpPr>
          <p:cNvPr id="9" name="Text 7"/>
          <p:cNvSpPr txBox="1"/>
          <p:nvPr/>
        </p:nvSpPr>
        <p:spPr>
          <a:xfrm>
            <a:off x="4663440" y="2404872"/>
            <a:ext cx="2862072"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W3 · today</a:t>
            </a:r>
            <a:endParaRPr lang="en-US" sz="1200" dirty="0"/>
          </a:p>
        </p:txBody>
      </p:sp>
      <p:sp>
        <p:nvSpPr>
          <p:cNvPr id="10" name="Text 8"/>
          <p:cNvSpPr txBox="1"/>
          <p:nvPr/>
        </p:nvSpPr>
        <p:spPr>
          <a:xfrm>
            <a:off x="4663440" y="2752344"/>
            <a:ext cx="2862072" cy="365760"/>
          </a:xfrm>
          <a:prstGeom prst="rect">
            <a:avLst/>
          </a:prstGeom>
          <a:noFill/>
          <a:ln/>
        </p:spPr>
        <p:txBody>
          <a:bodyPr wrap="square" lIns="0" tIns="0" rIns="0" bIns="0" rtlCol="0" anchor="t"/>
          <a:lstStyle/>
          <a:p>
            <a:pPr indent="0" marL="0">
              <a:buNone/>
            </a:pPr>
            <a:r>
              <a:rPr lang="en-US" sz="2000" b="1" dirty="0">
                <a:solidFill>
                  <a:schemeClr val="tx1"/>
                </a:solidFill>
              </a:rPr>
              <a:t>What do we want?</a:t>
            </a:r>
            <a:endParaRPr lang="en-US" sz="2000" dirty="0"/>
          </a:p>
        </p:txBody>
      </p:sp>
      <p:sp>
        <p:nvSpPr>
          <p:cNvPr id="11" name="Text 9"/>
          <p:cNvSpPr txBox="1"/>
          <p:nvPr/>
        </p:nvSpPr>
        <p:spPr>
          <a:xfrm>
            <a:off x="4663440" y="3209544"/>
            <a:ext cx="2862072" cy="13807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Finding out the requirements: interviews, observation, stories and scenarios, and mining the system you already have.</a:t>
            </a:r>
            <a:endParaRPr lang="en-US" sz="1400" dirty="0"/>
          </a:p>
        </p:txBody>
      </p:sp>
      <p:sp>
        <p:nvSpPr>
          <p:cNvPr id="12" name="Card"/>
          <p:cNvSpPr/>
          <p:nvPr/>
        </p:nvSpPr>
        <p:spPr>
          <a:xfrm>
            <a:off x="8001000" y="2148840"/>
            <a:ext cx="3383280" cy="2651760"/>
          </a:xfrm>
          <a:prstGeom prst="roundRect">
            <a:avLst>
              <a:gd name="adj" fmla="val 2759"/>
            </a:avLst>
          </a:prstGeom>
          <a:solidFill>
            <a:schemeClr val="tx1"/>
          </a:solidFill>
          <a:ln/>
        </p:spPr>
      </p:sp>
      <p:sp>
        <p:nvSpPr>
          <p:cNvPr id="13" name="Text 11"/>
          <p:cNvSpPr txBox="1"/>
          <p:nvPr/>
        </p:nvSpPr>
        <p:spPr>
          <a:xfrm>
            <a:off x="8257032" y="240487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W4 · first half</a:t>
            </a:r>
            <a:endParaRPr lang="en-US" sz="1200" dirty="0"/>
          </a:p>
        </p:txBody>
      </p:sp>
      <p:sp>
        <p:nvSpPr>
          <p:cNvPr id="14" name="Text 12"/>
          <p:cNvSpPr txBox="1"/>
          <p:nvPr/>
        </p:nvSpPr>
        <p:spPr>
          <a:xfrm>
            <a:off x="8257032" y="2752344"/>
            <a:ext cx="2871216" cy="365760"/>
          </a:xfrm>
          <a:prstGeom prst="rect">
            <a:avLst/>
          </a:prstGeom>
          <a:noFill/>
          <a:ln/>
        </p:spPr>
        <p:txBody>
          <a:bodyPr wrap="square" lIns="0" tIns="0" rIns="0" bIns="0" rtlCol="0" anchor="t"/>
          <a:lstStyle/>
          <a:p>
            <a:pPr indent="0" marL="0">
              <a:buNone/>
            </a:pPr>
            <a:r>
              <a:rPr lang="en-US" sz="2000" b="1" dirty="0">
                <a:solidFill>
                  <a:schemeClr val="bg2"/>
                </a:solidFill>
              </a:rPr>
              <a:t>Does it hold?</a:t>
            </a:r>
            <a:endParaRPr lang="en-US" sz="2000" dirty="0"/>
          </a:p>
        </p:txBody>
      </p:sp>
      <p:sp>
        <p:nvSpPr>
          <p:cNvPr id="15" name="Text 13"/>
          <p:cNvSpPr txBox="1"/>
          <p:nvPr/>
        </p:nvSpPr>
        <p:spPr>
          <a:xfrm>
            <a:off x="8257032" y="3209544"/>
            <a:ext cx="2871216" cy="1380744"/>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Writing requirements down, checking they are realistic and consistent, resolving conflicts, managing change.</a:t>
            </a:r>
            <a:endParaRPr lang="en-US" sz="1400" dirty="0"/>
          </a:p>
        </p:txBody>
      </p:sp>
      <p:sp>
        <p:nvSpPr>
          <p:cNvPr id="16" name="Callout"/>
          <p:cNvSpPr/>
          <p:nvPr/>
        </p:nvSpPr>
        <p:spPr>
          <a:xfrm>
            <a:off x="813816" y="5138928"/>
            <a:ext cx="10570464" cy="566928"/>
          </a:xfrm>
          <a:prstGeom prst="roundRect">
            <a:avLst>
              <a:gd name="adj" fmla="val 12903"/>
            </a:avLst>
          </a:prstGeom>
          <a:solidFill>
            <a:schemeClr val="tx1"/>
          </a:solidFill>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Then architecture starts, in the second half of W4. Workshop 1 (W5) confirms the direction of your project, built on today's two questions.</a:t>
            </a:r>
            <a:endParaRPr lang="en-US" sz="1400" dirty="0"/>
          </a:p>
        </p:txBody>
      </p:sp>
      <p:sp>
        <p:nvSpPr>
          <p:cNvPr id="18"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19"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4 / 37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813816" y="1371600"/>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DISCUSSION</a:t>
            </a:r>
            <a:endParaRPr lang="en-US" sz="1200" dirty="0"/>
          </a:p>
        </p:txBody>
      </p:sp>
      <p:sp>
        <p:nvSpPr>
          <p:cNvPr id="3" name="Text 0"/>
          <p:cNvSpPr/>
          <p:nvPr>
            <p:ph idx="100" type="title" hasCustomPrompt="1"/>
          </p:nvPr>
        </p:nvSpPr>
        <p:spPr>
          <a:xfrm>
            <a:off x="813816" y="1737360"/>
            <a:ext cx="10881360" cy="2377440"/>
          </a:xfrm>
          <a:prstGeom prst="rect">
            <a:avLst/>
          </a:prstGeom>
          <a:noFill/>
          <a:ln/>
        </p:spPr>
        <p:txBody>
          <a:bodyPr wrap="square" lIns="0" tIns="0" rIns="0" bIns="0" rtlCol="0" anchor="b"/>
          <a:lstStyle/>
          <a:p>
            <a:pPr algn="l" indent="0" marL="0">
              <a:buNone/>
            </a:pPr>
            <a:r>
              <a:rPr lang="en-US" sz="5400" b="1" dirty="0">
                <a:solidFill>
                  <a:schemeClr val="tx1"/>
                </a:solidFill>
              </a:rPr>
              <a:t>Ever built the right code for the wrong requirement?</a:t>
            </a:r>
            <a:endParaRPr lang="en-US" sz="5400" dirty="0"/>
          </a:p>
        </p:txBody>
      </p:sp>
      <p:sp>
        <p:nvSpPr>
          <p:cNvPr id="4" name="Text 2"/>
          <p:cNvSpPr txBox="1"/>
          <p:nvPr/>
        </p:nvSpPr>
        <p:spPr>
          <a:xfrm>
            <a:off x="813816" y="4343400"/>
            <a:ext cx="10241280" cy="457200"/>
          </a:xfrm>
          <a:prstGeom prst="rect">
            <a:avLst/>
          </a:prstGeom>
          <a:noFill/>
          <a:ln/>
        </p:spPr>
        <p:txBody>
          <a:bodyPr wrap="square" lIns="0" tIns="0" rIns="0" bIns="0" rtlCol="0" anchor="t"/>
          <a:lstStyle/>
          <a:p>
            <a:pPr indent="0" marL="0">
              <a:buNone/>
            </a:pPr>
            <a:r>
              <a:rPr lang="en-US" sz="2000" dirty="0">
                <a:solidFill>
                  <a:schemeClr val="tx1"/>
                </a:solidFill>
              </a:rPr>
              <a:t>Working software, tests passing, and still not what was needed.</a:t>
            </a:r>
            <a:endParaRPr lang="en-US" sz="20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5 / 37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RECAP FROM MDS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What you already know from MDS</a:t>
            </a:r>
            <a:endParaRPr lang="en-US" sz="3600" dirty="0"/>
          </a:p>
        </p:txBody>
      </p:sp>
      <p:sp>
        <p:nvSpPr>
          <p:cNvPr id="4" name="Quote"/>
          <p:cNvSpPr/>
          <p:nvPr/>
        </p:nvSpPr>
        <p:spPr>
          <a:xfrm>
            <a:off x="813816" y="2057400"/>
            <a:ext cx="5175504" cy="1143000"/>
          </a:xfrm>
          <a:prstGeom prst="roundRect">
            <a:avLst>
              <a:gd name="adj" fmla="val 6400"/>
            </a:avLst>
          </a:prstGeom>
          <a:solidFill>
            <a:schemeClr val="tx1"/>
          </a:solidFill>
          <a:ln/>
        </p:spPr>
      </p:sp>
      <p:sp>
        <p:nvSpPr>
          <p:cNvPr id="5" name="Text 3"/>
          <p:cNvSpPr txBox="1"/>
          <p:nvPr/>
        </p:nvSpPr>
        <p:spPr>
          <a:xfrm>
            <a:off x="1069848" y="2057400"/>
            <a:ext cx="4663440" cy="1143000"/>
          </a:xfrm>
          <a:prstGeom prst="rect">
            <a:avLst/>
          </a:prstGeom>
          <a:noFill/>
          <a:ln/>
        </p:spPr>
        <p:txBody>
          <a:bodyPr wrap="square" lIns="0" tIns="0" rIns="0" bIns="0" rtlCol="0" anchor="ctr"/>
          <a:lstStyle/>
          <a:p>
            <a:pPr indent="0" marL="0">
              <a:buNone/>
            </a:pPr>
            <a:r>
              <a:rPr lang="en-US" sz="1600" dirty="0">
                <a:solidFill>
                  <a:schemeClr val="bg2"/>
                </a:solidFill>
              </a:rPr>
              <a:t>Requirements: “the descriptions of the services that a system should provide and the constraints on its operation.”</a:t>
            </a:r>
            <a:endParaRPr lang="en-US" sz="1600" dirty="0"/>
          </a:p>
        </p:txBody>
      </p:sp>
      <p:sp>
        <p:nvSpPr>
          <p:cNvPr id="6" name="Card"/>
          <p:cNvSpPr/>
          <p:nvPr/>
        </p:nvSpPr>
        <p:spPr>
          <a:xfrm>
            <a:off x="813816" y="3310128"/>
            <a:ext cx="5175504" cy="512064"/>
          </a:xfrm>
          <a:prstGeom prst="roundRect">
            <a:avLst>
              <a:gd name="adj" fmla="val 14286"/>
            </a:avLst>
          </a:prstGeom>
          <a:solidFill>
            <a:schemeClr val="bg1"/>
          </a:solidFill>
          <a:ln w="6350">
            <a:solidFill>
              <a:schemeClr val="accent4"/>
            </a:solidFill>
            <a:prstDash val="solid"/>
          </a:ln>
        </p:spPr>
      </p:sp>
      <p:sp>
        <p:nvSpPr>
          <p:cNvPr id="7" name="Text 5"/>
          <p:cNvSpPr txBox="1"/>
          <p:nvPr/>
        </p:nvSpPr>
        <p:spPr>
          <a:xfrm>
            <a:off x="950976" y="3447288"/>
            <a:ext cx="4901184" cy="2834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User vs system requirements  </a:t>
            </a:r>
            <a:pPr indent="0" marL="0">
              <a:spcAft>
                <a:spcPts val="400"/>
              </a:spcAft>
              <a:buNone/>
            </a:pPr>
            <a:r>
              <a:rPr lang="en-US" sz="1400" dirty="0">
                <a:solidFill>
                  <a:schemeClr val="tx2"/>
                </a:solidFill>
              </a:rPr>
              <a:t>two levels, two audiences</a:t>
            </a:r>
            <a:endParaRPr lang="en-US" sz="1400" dirty="0"/>
          </a:p>
        </p:txBody>
      </p:sp>
      <p:sp>
        <p:nvSpPr>
          <p:cNvPr id="8" name="Card"/>
          <p:cNvSpPr/>
          <p:nvPr/>
        </p:nvSpPr>
        <p:spPr>
          <a:xfrm>
            <a:off x="813816" y="3904488"/>
            <a:ext cx="5175504" cy="512064"/>
          </a:xfrm>
          <a:prstGeom prst="roundRect">
            <a:avLst>
              <a:gd name="adj" fmla="val 14286"/>
            </a:avLst>
          </a:prstGeom>
          <a:solidFill>
            <a:schemeClr val="bg1"/>
          </a:solidFill>
          <a:ln w="6350">
            <a:solidFill>
              <a:schemeClr val="accent4"/>
            </a:solidFill>
            <a:prstDash val="solid"/>
          </a:ln>
        </p:spPr>
      </p:sp>
      <p:sp>
        <p:nvSpPr>
          <p:cNvPr id="9" name="Text 7"/>
          <p:cNvSpPr txBox="1"/>
          <p:nvPr/>
        </p:nvSpPr>
        <p:spPr>
          <a:xfrm>
            <a:off x="950976" y="4041648"/>
            <a:ext cx="4901184" cy="2834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Functional vs non-functional  </a:t>
            </a:r>
            <a:pPr indent="0" marL="0">
              <a:spcAft>
                <a:spcPts val="400"/>
              </a:spcAft>
              <a:buNone/>
            </a:pPr>
            <a:r>
              <a:rPr lang="en-US" sz="1400" dirty="0">
                <a:solidFill>
                  <a:schemeClr val="tx2"/>
                </a:solidFill>
              </a:rPr>
              <a:t>with metrics for NFRs</a:t>
            </a:r>
            <a:endParaRPr lang="en-US" sz="1400" dirty="0"/>
          </a:p>
        </p:txBody>
      </p:sp>
      <p:sp>
        <p:nvSpPr>
          <p:cNvPr id="10" name="Card"/>
          <p:cNvSpPr/>
          <p:nvPr/>
        </p:nvSpPr>
        <p:spPr>
          <a:xfrm>
            <a:off x="813816" y="4498848"/>
            <a:ext cx="5175504" cy="512064"/>
          </a:xfrm>
          <a:prstGeom prst="roundRect">
            <a:avLst>
              <a:gd name="adj" fmla="val 14286"/>
            </a:avLst>
          </a:prstGeom>
          <a:solidFill>
            <a:schemeClr val="bg1"/>
          </a:solidFill>
          <a:ln w="6350">
            <a:solidFill>
              <a:schemeClr val="accent4"/>
            </a:solidFill>
            <a:prstDash val="solid"/>
          </a:ln>
        </p:spPr>
      </p:sp>
      <p:sp>
        <p:nvSpPr>
          <p:cNvPr id="11" name="Text 9"/>
          <p:cNvSpPr txBox="1"/>
          <p:nvPr/>
        </p:nvSpPr>
        <p:spPr>
          <a:xfrm>
            <a:off x="950976" y="4636008"/>
            <a:ext cx="4901184" cy="2834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User stories  </a:t>
            </a:r>
            <a:pPr indent="0" marL="0">
              <a:spcAft>
                <a:spcPts val="400"/>
              </a:spcAft>
              <a:buNone/>
            </a:pPr>
            <a:r>
              <a:rPr lang="en-US" sz="1400" dirty="0">
                <a:solidFill>
                  <a:schemeClr val="tx2"/>
                </a:solidFill>
              </a:rPr>
              <a:t>with acceptance criteria, backlog with AI</a:t>
            </a:r>
            <a:endParaRPr lang="en-US" sz="1400" dirty="0"/>
          </a:p>
        </p:txBody>
      </p:sp>
      <p:sp>
        <p:nvSpPr>
          <p:cNvPr id="12" name="Figure card"/>
          <p:cNvSpPr/>
          <p:nvPr/>
        </p:nvSpPr>
        <p:spPr>
          <a:xfrm>
            <a:off x="6208776" y="2057400"/>
            <a:ext cx="5175504" cy="2953512"/>
          </a:xfrm>
          <a:prstGeom prst="roundRect">
            <a:avLst>
              <a:gd name="adj" fmla="val 2477"/>
            </a:avLst>
          </a:prstGeom>
          <a:solidFill>
            <a:schemeClr val="bg1"/>
          </a:solidFill>
          <a:ln w="6350">
            <a:solidFill>
              <a:schemeClr val="accent4"/>
            </a:solidFill>
            <a:prstDash val="solid"/>
          </a:ln>
        </p:spPr>
      </p:sp>
      <p:pic>
        <p:nvPicPr>
          <p:cNvPr id="13" name="Figure" descr="sommerville-fig4.1-cerinte-utilizator-vs-sistem-p103.png">    </p:cNvPr>
          <p:cNvPicPr>
            <a:picLocks noChangeAspect="1"/>
          </p:cNvPicPr>
          <p:nvPr/>
        </p:nvPicPr>
        <p:blipFill>
          <a:blip r:embed="rId1"/>
          <a:stretch>
            <a:fillRect/>
          </a:stretch>
        </p:blipFill>
        <p:spPr>
          <a:xfrm>
            <a:off x="6990845" y="2221992"/>
            <a:ext cx="3611365" cy="2624328"/>
          </a:xfrm>
          <a:prstGeom prst="rect">
            <a:avLst/>
          </a:prstGeom>
        </p:spPr>
      </p:pic>
      <p:sp>
        <p:nvSpPr>
          <p:cNvPr id="14" name="Callout"/>
          <p:cNvSpPr/>
          <p:nvPr/>
        </p:nvSpPr>
        <p:spPr>
          <a:xfrm>
            <a:off x="813816" y="5212080"/>
            <a:ext cx="10570464" cy="548640"/>
          </a:xfrm>
          <a:prstGeom prst="roundRect">
            <a:avLst>
              <a:gd name="adj" fmla="val 13333"/>
            </a:avLst>
          </a:prstGeom>
          <a:solidFill>
            <a:schemeClr val="tx1"/>
          </a:solidFill>
          <a:ln/>
        </p:spPr>
      </p:sp>
      <p:sp>
        <p:nvSpPr>
          <p:cNvPr id="15" name="Text 12"/>
          <p:cNvSpPr txBox="1"/>
          <p:nvPr/>
        </p:nvSpPr>
        <p:spPr>
          <a:xfrm>
            <a:off x="1069848" y="5212080"/>
            <a:ext cx="10058400" cy="548640"/>
          </a:xfrm>
          <a:prstGeom prst="rect">
            <a:avLst/>
          </a:prstGeom>
          <a:noFill/>
          <a:ln/>
        </p:spPr>
        <p:txBody>
          <a:bodyPr wrap="square" lIns="0" tIns="0" rIns="0" bIns="0" rtlCol="0" anchor="ctr"/>
          <a:lstStyle/>
          <a:p>
            <a:pPr indent="0" marL="0">
              <a:buNone/>
            </a:pPr>
            <a:r>
              <a:rPr lang="en-US" sz="1400" dirty="0">
                <a:solidFill>
                  <a:schemeClr val="bg2"/>
                </a:solidFill>
              </a:rPr>
              <a:t>Today builds on this. New: whether it's worth doing, what you have to do it with, and where requirements actually come from.</a:t>
            </a:r>
            <a:endParaRPr lang="en-US" sz="1400" dirty="0"/>
          </a:p>
        </p:txBody>
      </p:sp>
      <p:sp>
        <p:nvSpPr>
          <p:cNvPr id="16"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p. 102–103, Figure 4.1; MDS 2026, lecture 2 (requirements).</a:t>
            </a:r>
            <a:endParaRPr lang="en-US" sz="1100" dirty="0"/>
          </a:p>
        </p:txBody>
      </p:sp>
      <p:sp>
        <p:nvSpPr>
          <p:cNvPr id="17"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6 / 37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BEYOND PERSONAS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Personas use it. Stakeholders are affected by it</a:t>
            </a:r>
            <a:endParaRPr lang="en-US" sz="3600" dirty="0"/>
          </a:p>
        </p:txBody>
      </p:sp>
      <p:sp>
        <p:nvSpPr>
          <p:cNvPr id="4" name="Figure card"/>
          <p:cNvSpPr/>
          <p:nvPr/>
        </p:nvSpPr>
        <p:spPr>
          <a:xfrm>
            <a:off x="813816" y="2148840"/>
            <a:ext cx="5029200" cy="2697480"/>
          </a:xfrm>
          <a:prstGeom prst="roundRect">
            <a:avLst>
              <a:gd name="adj" fmla="val 2712"/>
            </a:avLst>
          </a:prstGeom>
          <a:solidFill>
            <a:schemeClr val="bg1"/>
          </a:solidFill>
          <a:ln w="6350">
            <a:solidFill>
              <a:schemeClr val="accent4"/>
            </a:solidFill>
            <a:prstDash val="solid"/>
          </a:ln>
        </p:spPr>
      </p:sp>
      <p:pic>
        <p:nvPicPr>
          <p:cNvPr id="5" name="Figure" descr="sommerville-fig4.2-cititorii-cerintelor-p103.png">    </p:cNvPr>
          <p:cNvPicPr>
            <a:picLocks noChangeAspect="1"/>
          </p:cNvPicPr>
          <p:nvPr/>
        </p:nvPicPr>
        <p:blipFill>
          <a:blip r:embed="rId1"/>
          <a:stretch>
            <a:fillRect/>
          </a:stretch>
        </p:blipFill>
        <p:spPr>
          <a:xfrm>
            <a:off x="978408" y="2366823"/>
            <a:ext cx="4700016" cy="2261514"/>
          </a:xfrm>
          <a:prstGeom prst="rect">
            <a:avLst/>
          </a:prstGeom>
        </p:spPr>
      </p:pic>
      <p:sp>
        <p:nvSpPr>
          <p:cNvPr id="6" name="Card"/>
          <p:cNvSpPr/>
          <p:nvPr/>
        </p:nvSpPr>
        <p:spPr>
          <a:xfrm>
            <a:off x="6053328" y="2148840"/>
            <a:ext cx="5330952" cy="2697480"/>
          </a:xfrm>
          <a:prstGeom prst="roundRect">
            <a:avLst>
              <a:gd name="adj" fmla="val 2712"/>
            </a:avLst>
          </a:prstGeom>
          <a:solidFill>
            <a:schemeClr val="bg1"/>
          </a:solidFill>
          <a:ln w="6350">
            <a:solidFill>
              <a:schemeClr val="accent4"/>
            </a:solidFill>
            <a:prstDash val="solid"/>
          </a:ln>
        </p:spPr>
      </p:sp>
      <p:sp>
        <p:nvSpPr>
          <p:cNvPr id="7" name="Text 4"/>
          <p:cNvSpPr txBox="1"/>
          <p:nvPr/>
        </p:nvSpPr>
        <p:spPr>
          <a:xfrm>
            <a:off x="6309360" y="2404872"/>
            <a:ext cx="481888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Stakeholder</a:t>
            </a:r>
            <a:endParaRPr lang="en-US" sz="1200" dirty="0"/>
          </a:p>
        </p:txBody>
      </p:sp>
      <p:sp>
        <p:nvSpPr>
          <p:cNvPr id="8" name="Text 5"/>
          <p:cNvSpPr txBox="1"/>
          <p:nvPr/>
        </p:nvSpPr>
        <p:spPr>
          <a:xfrm>
            <a:off x="6309360" y="2752344"/>
            <a:ext cx="4818888" cy="1883664"/>
          </a:xfrm>
          <a:prstGeom prst="rect">
            <a:avLst/>
          </a:prstGeom>
          <a:noFill/>
          <a:ln/>
        </p:spPr>
        <p:txBody>
          <a:bodyPr wrap="square" lIns="0" tIns="0" rIns="0" bIns="0" rtlCol="0" anchor="t"/>
          <a:lstStyle/>
          <a:p>
            <a:pPr indent="0" marL="0">
              <a:spcAft>
                <a:spcPts val="400"/>
              </a:spcAft>
              <a:buNone/>
            </a:pPr>
            <a:r>
              <a:rPr lang="en-US" sz="1400" i="1" dirty="0">
                <a:solidFill>
                  <a:schemeClr val="tx2"/>
                </a:solidFill>
              </a:rPr>
              <a:t>“Anyone who is affected by the system in some way and so anyone who has a legitimate interest in it.”</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dirty="0">
                <a:solidFill>
                  <a:schemeClr val="tx2"/>
                </a:solidFill>
              </a:rPr>
              <a:t>Mentcare: patients and relatives, doctors, nurses, receptionists, IT staff, a medical ethics manager, health care managers, medical records staff.</a:t>
            </a:r>
            <a:endParaRPr lang="en-US" sz="1400" dirty="0"/>
          </a:p>
        </p:txBody>
      </p:sp>
      <p:sp>
        <p:nvSpPr>
          <p:cNvPr id="9" name="Callout"/>
          <p:cNvSpPr/>
          <p:nvPr/>
        </p:nvSpPr>
        <p:spPr>
          <a:xfrm>
            <a:off x="813816" y="5138928"/>
            <a:ext cx="10570464" cy="566928"/>
          </a:xfrm>
          <a:prstGeom prst="roundRect">
            <a:avLst>
              <a:gd name="adj" fmla="val 12903"/>
            </a:avLst>
          </a:prstGeom>
          <a:solidFill>
            <a:schemeClr val="tx1"/>
          </a:solidFill>
          <a:ln/>
        </p:spPr>
      </p:sp>
      <p:sp>
        <p:nvSpPr>
          <p:cNvPr id="10" name="Text 7"/>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At MDS you described personas: the people who use the system. Who are the stakeholders of your MDS system, and who actually has an interest in it now?</a:t>
            </a:r>
            <a:endParaRPr lang="en-US" sz="1400" dirty="0"/>
          </a:p>
        </p:txBody>
      </p:sp>
      <p:sp>
        <p:nvSpPr>
          <p:cNvPr id="11"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p. 103–104, Figure 4.2.</a:t>
            </a:r>
            <a:endParaRPr lang="en-US" sz="1100" dirty="0"/>
          </a:p>
        </p:txBody>
      </p:sp>
      <p:sp>
        <p:nvSpPr>
          <p:cNvPr id="12"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7 / 37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BEFORE ANYTHING</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Is it worth doing? Three questions</a:t>
            </a:r>
            <a:endParaRPr lang="en-US" sz="3600" dirty="0"/>
          </a:p>
        </p:txBody>
      </p:sp>
      <p:sp>
        <p:nvSpPr>
          <p:cNvPr id="4" name="Question card"/>
          <p:cNvSpPr/>
          <p:nvPr/>
        </p:nvSpPr>
        <p:spPr>
          <a:xfrm>
            <a:off x="813816" y="2148840"/>
            <a:ext cx="3383280" cy="2606040"/>
          </a:xfrm>
          <a:prstGeom prst="roundRect">
            <a:avLst>
              <a:gd name="adj" fmla="val 2807"/>
            </a:avLst>
          </a:prstGeom>
          <a:solidFill>
            <a:schemeClr val="bg1"/>
          </a:solidFill>
          <a:ln w="6350">
            <a:solidFill>
              <a:schemeClr val="accent4"/>
            </a:solidFill>
            <a:prstDash val="solid"/>
          </a:ln>
        </p:spPr>
      </p:sp>
      <p:sp>
        <p:nvSpPr>
          <p:cNvPr id="5" name="Text 3"/>
          <p:cNvSpPr txBox="1"/>
          <p:nvPr/>
        </p:nvSpPr>
        <p:spPr>
          <a:xfrm>
            <a:off x="1069848" y="2331720"/>
            <a:ext cx="914400" cy="822960"/>
          </a:xfrm>
          <a:prstGeom prst="rect">
            <a:avLst/>
          </a:prstGeom>
          <a:noFill/>
          <a:ln/>
        </p:spPr>
        <p:txBody>
          <a:bodyPr wrap="square" lIns="0" tIns="0" rIns="0" bIns="0" rtlCol="0" anchor="t"/>
          <a:lstStyle/>
          <a:p>
            <a:pPr indent="0" marL="0">
              <a:buNone/>
            </a:pPr>
            <a:r>
              <a:rPr lang="en-US" sz="4800" b="1" dirty="0">
                <a:solidFill>
                  <a:schemeClr val="accent1"/>
                </a:solidFill>
              </a:rPr>
              <a:t>1</a:t>
            </a:r>
            <a:endParaRPr lang="en-US" sz="4800" dirty="0"/>
          </a:p>
        </p:txBody>
      </p:sp>
      <p:sp>
        <p:nvSpPr>
          <p:cNvPr id="6" name="Text 4"/>
          <p:cNvSpPr txBox="1"/>
          <p:nvPr/>
        </p:nvSpPr>
        <p:spPr>
          <a:xfrm>
            <a:off x="1069848" y="3246120"/>
            <a:ext cx="2871216" cy="1371600"/>
          </a:xfrm>
          <a:prstGeom prst="rect">
            <a:avLst/>
          </a:prstGeom>
          <a:noFill/>
          <a:ln/>
        </p:spPr>
        <p:txBody>
          <a:bodyPr wrap="square" lIns="0" tIns="0" rIns="0" bIns="0" rtlCol="0" anchor="t"/>
          <a:lstStyle/>
          <a:p>
            <a:pPr indent="0" marL="0">
              <a:buNone/>
            </a:pPr>
            <a:r>
              <a:rPr lang="en-US" sz="1800" b="1" dirty="0">
                <a:solidFill>
                  <a:schemeClr val="tx1"/>
                </a:solidFill>
              </a:rPr>
              <a:t>Does it contribute to the organization's overall objectives?</a:t>
            </a:r>
            <a:endParaRPr lang="en-US" sz="1800" dirty="0"/>
          </a:p>
        </p:txBody>
      </p:sp>
      <p:sp>
        <p:nvSpPr>
          <p:cNvPr id="7" name="Question card"/>
          <p:cNvSpPr/>
          <p:nvPr/>
        </p:nvSpPr>
        <p:spPr>
          <a:xfrm>
            <a:off x="4407408" y="2148840"/>
            <a:ext cx="3383280" cy="2606040"/>
          </a:xfrm>
          <a:prstGeom prst="roundRect">
            <a:avLst>
              <a:gd name="adj" fmla="val 2807"/>
            </a:avLst>
          </a:prstGeom>
          <a:solidFill>
            <a:schemeClr val="tx1"/>
          </a:solidFill>
          <a:ln/>
        </p:spPr>
      </p:sp>
      <p:sp>
        <p:nvSpPr>
          <p:cNvPr id="8" name="Text 6"/>
          <p:cNvSpPr txBox="1"/>
          <p:nvPr/>
        </p:nvSpPr>
        <p:spPr>
          <a:xfrm>
            <a:off x="4663440" y="2331720"/>
            <a:ext cx="914400" cy="822960"/>
          </a:xfrm>
          <a:prstGeom prst="rect">
            <a:avLst/>
          </a:prstGeom>
          <a:noFill/>
          <a:ln/>
        </p:spPr>
        <p:txBody>
          <a:bodyPr wrap="square" lIns="0" tIns="0" rIns="0" bIns="0" rtlCol="0" anchor="t"/>
          <a:lstStyle/>
          <a:p>
            <a:pPr indent="0" marL="0">
              <a:buNone/>
            </a:pPr>
            <a:r>
              <a:rPr lang="en-US" sz="4800" b="1" dirty="0">
                <a:solidFill>
                  <a:schemeClr val="accent2"/>
                </a:solidFill>
              </a:rPr>
              <a:t>2</a:t>
            </a:r>
            <a:endParaRPr lang="en-US" sz="4800" dirty="0"/>
          </a:p>
        </p:txBody>
      </p:sp>
      <p:sp>
        <p:nvSpPr>
          <p:cNvPr id="9" name="Text 7"/>
          <p:cNvSpPr txBox="1"/>
          <p:nvPr/>
        </p:nvSpPr>
        <p:spPr>
          <a:xfrm>
            <a:off x="4663440" y="3246120"/>
            <a:ext cx="2871216" cy="1371600"/>
          </a:xfrm>
          <a:prstGeom prst="rect">
            <a:avLst/>
          </a:prstGeom>
          <a:noFill/>
          <a:ln/>
        </p:spPr>
        <p:txBody>
          <a:bodyPr wrap="square" lIns="0" tIns="0" rIns="0" bIns="0" rtlCol="0" anchor="t"/>
          <a:lstStyle/>
          <a:p>
            <a:pPr indent="0" marL="0">
              <a:buNone/>
            </a:pPr>
            <a:r>
              <a:rPr lang="en-US" sz="1800" b="1" dirty="0">
                <a:solidFill>
                  <a:schemeClr val="bg2"/>
                </a:solidFill>
              </a:rPr>
              <a:t>Can it be built within schedule and budget, using current technology?</a:t>
            </a:r>
            <a:endParaRPr lang="en-US" sz="1800" dirty="0"/>
          </a:p>
        </p:txBody>
      </p:sp>
      <p:sp>
        <p:nvSpPr>
          <p:cNvPr id="10" name="Question card"/>
          <p:cNvSpPr/>
          <p:nvPr/>
        </p:nvSpPr>
        <p:spPr>
          <a:xfrm>
            <a:off x="8001000" y="2148840"/>
            <a:ext cx="3383280" cy="2606040"/>
          </a:xfrm>
          <a:prstGeom prst="roundRect">
            <a:avLst>
              <a:gd name="adj" fmla="val 2807"/>
            </a:avLst>
          </a:prstGeom>
          <a:solidFill>
            <a:schemeClr val="bg1"/>
          </a:solidFill>
          <a:ln w="6350">
            <a:solidFill>
              <a:schemeClr val="accent4"/>
            </a:solidFill>
            <a:prstDash val="solid"/>
          </a:ln>
        </p:spPr>
      </p:sp>
      <p:sp>
        <p:nvSpPr>
          <p:cNvPr id="11" name="Text 9"/>
          <p:cNvSpPr txBox="1"/>
          <p:nvPr/>
        </p:nvSpPr>
        <p:spPr>
          <a:xfrm>
            <a:off x="8257032" y="2331720"/>
            <a:ext cx="914400" cy="822960"/>
          </a:xfrm>
          <a:prstGeom prst="rect">
            <a:avLst/>
          </a:prstGeom>
          <a:noFill/>
          <a:ln/>
        </p:spPr>
        <p:txBody>
          <a:bodyPr wrap="square" lIns="0" tIns="0" rIns="0" bIns="0" rtlCol="0" anchor="t"/>
          <a:lstStyle/>
          <a:p>
            <a:pPr indent="0" marL="0">
              <a:buNone/>
            </a:pPr>
            <a:r>
              <a:rPr lang="en-US" sz="4800" b="1" dirty="0">
                <a:solidFill>
                  <a:schemeClr val="accent1"/>
                </a:solidFill>
              </a:rPr>
              <a:t>3</a:t>
            </a:r>
            <a:endParaRPr lang="en-US" sz="4800" dirty="0"/>
          </a:p>
        </p:txBody>
      </p:sp>
      <p:sp>
        <p:nvSpPr>
          <p:cNvPr id="12" name="Text 10"/>
          <p:cNvSpPr txBox="1"/>
          <p:nvPr/>
        </p:nvSpPr>
        <p:spPr>
          <a:xfrm>
            <a:off x="8257032" y="3246120"/>
            <a:ext cx="2871216" cy="1371600"/>
          </a:xfrm>
          <a:prstGeom prst="rect">
            <a:avLst/>
          </a:prstGeom>
          <a:noFill/>
          <a:ln/>
        </p:spPr>
        <p:txBody>
          <a:bodyPr wrap="square" lIns="0" tIns="0" rIns="0" bIns="0" rtlCol="0" anchor="t"/>
          <a:lstStyle/>
          <a:p>
            <a:pPr indent="0" marL="0">
              <a:buNone/>
            </a:pPr>
            <a:r>
              <a:rPr lang="en-US" sz="1800" b="1" dirty="0">
                <a:solidFill>
                  <a:schemeClr val="tx1"/>
                </a:solidFill>
              </a:rPr>
              <a:t>Can it be integrated with the other systems already in use?</a:t>
            </a:r>
            <a:endParaRPr lang="en-US" sz="1800" dirty="0"/>
          </a:p>
        </p:txBody>
      </p:sp>
      <p:sp>
        <p:nvSpPr>
          <p:cNvPr id="13" name="Callout"/>
          <p:cNvSpPr/>
          <p:nvPr/>
        </p:nvSpPr>
        <p:spPr>
          <a:xfrm>
            <a:off x="813816" y="5138928"/>
            <a:ext cx="10570464" cy="566928"/>
          </a:xfrm>
          <a:prstGeom prst="roundRect">
            <a:avLst>
              <a:gd name="adj" fmla="val 12903"/>
            </a:avLst>
          </a:prstGeom>
          <a:solidFill>
            <a:schemeClr val="tx1"/>
          </a:solidFill>
          <a:ln/>
        </p:spPr>
      </p:sp>
      <p:sp>
        <p:nvSpPr>
          <p:cNvPr id="14" name="Text 1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“If the answer to any of these questions is no, you should probably not go ahead with the project.” Question 2 is the next part of today.</a:t>
            </a:r>
            <a:endParaRPr lang="en-US" sz="1400" dirty="0"/>
          </a:p>
        </p:txBody>
      </p:sp>
      <p:sp>
        <p:nvSpPr>
          <p:cNvPr id="1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box “Feasibility studies”, p. 104.</a:t>
            </a:r>
            <a:endParaRPr lang="en-US" sz="1100" dirty="0"/>
          </a:p>
        </p:txBody>
      </p:sp>
      <p:sp>
        <p:nvSpPr>
          <p:cNvPr id="1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8 / 37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NOT A STAGE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Requirements engineering is a spiral</a:t>
            </a:r>
            <a:endParaRPr lang="en-US" sz="3600" dirty="0"/>
          </a:p>
        </p:txBody>
      </p:sp>
      <p:sp>
        <p:nvSpPr>
          <p:cNvPr id="4" name="Figure card"/>
          <p:cNvSpPr/>
          <p:nvPr/>
        </p:nvSpPr>
        <p:spPr>
          <a:xfrm>
            <a:off x="813816" y="2057400"/>
            <a:ext cx="4206240" cy="3611880"/>
          </a:xfrm>
          <a:prstGeom prst="roundRect">
            <a:avLst>
              <a:gd name="adj" fmla="val 2025"/>
            </a:avLst>
          </a:prstGeom>
          <a:solidFill>
            <a:schemeClr val="bg1"/>
          </a:solidFill>
          <a:ln w="6350">
            <a:solidFill>
              <a:schemeClr val="accent4"/>
            </a:solidFill>
            <a:prstDash val="solid"/>
          </a:ln>
        </p:spPr>
      </p:sp>
      <p:pic>
        <p:nvPicPr>
          <p:cNvPr id="5" name="Figure" descr="sommerville-fig4.6-spirala-RE-p112.png">    </p:cNvPr>
          <p:cNvPicPr>
            <a:picLocks noChangeAspect="1"/>
          </p:cNvPicPr>
          <p:nvPr/>
        </p:nvPicPr>
        <p:blipFill>
          <a:blip r:embed="rId1"/>
          <a:stretch>
            <a:fillRect/>
          </a:stretch>
        </p:blipFill>
        <p:spPr>
          <a:xfrm>
            <a:off x="950976" y="2231834"/>
            <a:ext cx="3931920" cy="3263013"/>
          </a:xfrm>
          <a:prstGeom prst="rect">
            <a:avLst/>
          </a:prstGeom>
        </p:spPr>
      </p:pic>
      <p:sp>
        <p:nvSpPr>
          <p:cNvPr id="6" name="Card"/>
          <p:cNvSpPr/>
          <p:nvPr/>
        </p:nvSpPr>
        <p:spPr>
          <a:xfrm>
            <a:off x="5230368" y="2057400"/>
            <a:ext cx="6153912" cy="3611880"/>
          </a:xfrm>
          <a:prstGeom prst="roundRect">
            <a:avLst>
              <a:gd name="adj" fmla="val 2025"/>
            </a:avLst>
          </a:prstGeom>
          <a:solidFill>
            <a:schemeClr val="bg1"/>
          </a:solidFill>
          <a:ln w="6350">
            <a:solidFill>
              <a:schemeClr val="accent4"/>
            </a:solidFill>
            <a:prstDash val="solid"/>
          </a:ln>
        </p:spPr>
      </p:sp>
      <p:sp>
        <p:nvSpPr>
          <p:cNvPr id="7" name="Text 4"/>
          <p:cNvSpPr txBox="1"/>
          <p:nvPr/>
        </p:nvSpPr>
        <p:spPr>
          <a:xfrm>
            <a:off x="5486400" y="2313432"/>
            <a:ext cx="564184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How to read it</a:t>
            </a:r>
            <a:endParaRPr lang="en-US" sz="1200" dirty="0"/>
          </a:p>
        </p:txBody>
      </p:sp>
      <p:sp>
        <p:nvSpPr>
          <p:cNvPr id="8" name="Text 5"/>
          <p:cNvSpPr txBox="1"/>
          <p:nvPr/>
        </p:nvSpPr>
        <p:spPr>
          <a:xfrm>
            <a:off x="5486400" y="2660904"/>
            <a:ext cx="5641848" cy="279806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Elicitation, specification and validation are interleaved, round after round.</a:t>
            </a:r>
            <a:endParaRPr lang="en-US" sz="1500" dirty="0"/>
          </a:p>
          <a:p>
            <a:pPr marL="177800" indent="-177800">
              <a:spcAft>
                <a:spcPts val="400"/>
              </a:spcAft>
              <a:buSzPct val="100000"/>
              <a:buChar char="•"/>
            </a:pPr>
            <a:r>
              <a:rPr lang="en-US" sz="1500" dirty="0">
                <a:solidFill>
                  <a:schemeClr val="tx2"/>
                </a:solidFill>
              </a:rPr>
              <a:t>Early rounds: business and user requirements. Outer rounds: non-functional and detailed system requirements.</a:t>
            </a:r>
            <a:endParaRPr lang="en-US" sz="1500" dirty="0"/>
          </a:p>
          <a:p>
            <a:pPr marL="177800" indent="-177800">
              <a:spcAft>
                <a:spcPts val="400"/>
              </a:spcAft>
              <a:buSzPct val="100000"/>
              <a:buChar char="•"/>
            </a:pPr>
            <a:r>
              <a:rPr lang="en-US" sz="1500" dirty="0">
                <a:solidFill>
                  <a:schemeClr val="tx2"/>
                </a:solidFill>
              </a:rPr>
              <a:t>The feasibility study sits at the very start.</a:t>
            </a:r>
            <a:endParaRPr lang="en-US" sz="1500" dirty="0"/>
          </a:p>
          <a:p>
            <a:pPr marL="177800" indent="-177800">
              <a:spcAft>
                <a:spcPts val="400"/>
              </a:spcAft>
              <a:buSzPct val="100000"/>
              <a:buChar char="•"/>
            </a:pPr>
            <a:r>
              <a:rPr lang="en-US" sz="1500" dirty="0">
                <a:solidFill>
                  <a:schemeClr val="tx2"/>
                </a:solidFill>
              </a:rPr>
              <a:t>The number of rounds varies; in agile, requirements and implementation grow together.</a:t>
            </a:r>
            <a:endParaRPr lang="en-US" sz="1500" dirty="0"/>
          </a:p>
          <a:p>
            <a:pPr marL="177800" indent="-177800">
              <a:spcAft>
                <a:spcPts val="400"/>
              </a:spcAft>
              <a:buSzPct val="100000"/>
              <a:buChar char="•"/>
            </a:pPr>
            <a:r>
              <a:rPr lang="en-US" sz="1500" dirty="0">
                <a:solidFill>
                  <a:schemeClr val="tx2"/>
                </a:solidFill>
              </a:rPr>
              <a:t>Requirements change in virtually all systems: changes have to be managed.</a:t>
            </a:r>
            <a:endParaRPr lang="en-US" sz="1500" dirty="0"/>
          </a:p>
        </p:txBody>
      </p:sp>
      <p:sp>
        <p:nvSpPr>
          <p:cNvPr id="9"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§4.2, p. 111–112, Figure 4.6.</a:t>
            </a:r>
            <a:endParaRPr lang="en-US" sz="1100" dirty="0"/>
          </a:p>
        </p:txBody>
      </p:sp>
      <p:sp>
        <p:nvSpPr>
          <p:cNvPr id="10"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9 / 37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813816" y="2103120"/>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PART 1</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b"/>
          <a:lstStyle/>
          <a:p>
            <a:pPr algn="l" indent="0" marL="0">
              <a:buNone/>
            </a:pPr>
            <a:r>
              <a:rPr lang="en-US" sz="5400" b="1" dirty="0">
                <a:solidFill>
                  <a:schemeClr val="bg2"/>
                </a:solidFill>
              </a:rPr>
              <a:t>What we have</a:t>
            </a:r>
            <a:endParaRPr lang="en-US" sz="5400" dirty="0"/>
          </a:p>
        </p:txBody>
      </p:sp>
      <p:sp>
        <p:nvSpPr>
          <p:cNvPr id="4" name="Text 2"/>
          <p:cNvSpPr txBox="1"/>
          <p:nvPr/>
        </p:nvSpPr>
        <p:spPr>
          <a:xfrm>
            <a:off x="813816" y="3840480"/>
            <a:ext cx="10881360" cy="457200"/>
          </a:xfrm>
          <a:prstGeom prst="rect">
            <a:avLst/>
          </a:prstGeom>
          <a:noFill/>
          <a:ln/>
        </p:spPr>
        <p:txBody>
          <a:bodyPr wrap="square" lIns="0" tIns="0" rIns="0" bIns="0" rtlCol="0" anchor="t"/>
          <a:lstStyle/>
          <a:p>
            <a:pPr indent="0" marL="0">
              <a:buNone/>
            </a:pPr>
            <a:r>
              <a:rPr lang="en-US" sz="2200" dirty="0">
                <a:solidFill>
                  <a:schemeClr val="accent5"/>
                </a:solidFill>
              </a:rPr>
              <a:t>Resources, constraints, and the risks they carry</a:t>
            </a:r>
            <a:endParaRPr lang="en-US" sz="22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10 / 37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PLANNING STARTS HERE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Planning starts with constraints</a:t>
            </a:r>
            <a:endParaRPr lang="en-US" sz="3600" dirty="0"/>
          </a:p>
        </p:txBody>
      </p:sp>
      <p:sp>
        <p:nvSpPr>
          <p:cNvPr id="4" name="Card"/>
          <p:cNvSpPr/>
          <p:nvPr/>
        </p:nvSpPr>
        <p:spPr>
          <a:xfrm>
            <a:off x="813816" y="2148840"/>
            <a:ext cx="2487168" cy="1828800"/>
          </a:xfrm>
          <a:prstGeom prst="roundRect">
            <a:avLst>
              <a:gd name="adj" fmla="val 4000"/>
            </a:avLst>
          </a:prstGeom>
          <a:solidFill>
            <a:schemeClr val="bg1"/>
          </a:solidFill>
          <a:ln w="6350">
            <a:solidFill>
              <a:schemeClr val="accent4"/>
            </a:solidFill>
            <a:prstDash val="solid"/>
          </a:ln>
        </p:spPr>
      </p:sp>
      <p:sp>
        <p:nvSpPr>
          <p:cNvPr id="5" name="Text 3"/>
          <p:cNvSpPr txBox="1"/>
          <p:nvPr/>
        </p:nvSpPr>
        <p:spPr>
          <a:xfrm>
            <a:off x="106984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6" name="Text 4"/>
          <p:cNvSpPr txBox="1"/>
          <p:nvPr/>
        </p:nvSpPr>
        <p:spPr>
          <a:xfrm>
            <a:off x="1069848" y="2752344"/>
            <a:ext cx="1975104" cy="365760"/>
          </a:xfrm>
          <a:prstGeom prst="rect">
            <a:avLst/>
          </a:prstGeom>
          <a:noFill/>
          <a:ln/>
        </p:spPr>
        <p:txBody>
          <a:bodyPr wrap="square" lIns="0" tIns="0" rIns="0" bIns="0" rtlCol="0" anchor="t"/>
          <a:lstStyle/>
          <a:p>
            <a:pPr indent="0" marL="0">
              <a:buNone/>
            </a:pPr>
            <a:r>
              <a:rPr lang="en-US" sz="2000" b="1" dirty="0">
                <a:solidFill>
                  <a:schemeClr val="tx1"/>
                </a:solidFill>
              </a:rPr>
              <a:t>Delivery date</a:t>
            </a:r>
            <a:endParaRPr lang="en-US" sz="2000" dirty="0"/>
          </a:p>
        </p:txBody>
      </p:sp>
      <p:sp>
        <p:nvSpPr>
          <p:cNvPr id="7" name="Text 5"/>
          <p:cNvSpPr txBox="1"/>
          <p:nvPr/>
        </p:nvSpPr>
        <p:spPr>
          <a:xfrm>
            <a:off x="1069848" y="3209544"/>
            <a:ext cx="1975104"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When must it work?</a:t>
            </a:r>
            <a:endParaRPr lang="en-US" sz="1400" dirty="0"/>
          </a:p>
        </p:txBody>
      </p:sp>
      <p:sp>
        <p:nvSpPr>
          <p:cNvPr id="8" name="Card"/>
          <p:cNvSpPr/>
          <p:nvPr/>
        </p:nvSpPr>
        <p:spPr>
          <a:xfrm>
            <a:off x="3511296" y="2148840"/>
            <a:ext cx="2487168" cy="1828800"/>
          </a:xfrm>
          <a:prstGeom prst="roundRect">
            <a:avLst>
              <a:gd name="adj" fmla="val 4000"/>
            </a:avLst>
          </a:prstGeom>
          <a:solidFill>
            <a:schemeClr val="bg1"/>
          </a:solidFill>
          <a:ln w="6350">
            <a:solidFill>
              <a:schemeClr val="accent4"/>
            </a:solidFill>
            <a:prstDash val="solid"/>
          </a:ln>
        </p:spPr>
      </p:sp>
      <p:sp>
        <p:nvSpPr>
          <p:cNvPr id="9" name="Text 7"/>
          <p:cNvSpPr txBox="1"/>
          <p:nvPr/>
        </p:nvSpPr>
        <p:spPr>
          <a:xfrm>
            <a:off x="376732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0" name="Text 8"/>
          <p:cNvSpPr txBox="1"/>
          <p:nvPr/>
        </p:nvSpPr>
        <p:spPr>
          <a:xfrm>
            <a:off x="3767328" y="2752344"/>
            <a:ext cx="1975104" cy="365760"/>
          </a:xfrm>
          <a:prstGeom prst="rect">
            <a:avLst/>
          </a:prstGeom>
          <a:noFill/>
          <a:ln/>
        </p:spPr>
        <p:txBody>
          <a:bodyPr wrap="square" lIns="0" tIns="0" rIns="0" bIns="0" rtlCol="0" anchor="t"/>
          <a:lstStyle/>
          <a:p>
            <a:pPr indent="0" marL="0">
              <a:buNone/>
            </a:pPr>
            <a:r>
              <a:rPr lang="en-US" sz="2000" b="1" dirty="0">
                <a:solidFill>
                  <a:schemeClr val="tx1"/>
                </a:solidFill>
              </a:rPr>
              <a:t>Staff available</a:t>
            </a:r>
            <a:endParaRPr lang="en-US" sz="2000" dirty="0"/>
          </a:p>
        </p:txBody>
      </p:sp>
      <p:sp>
        <p:nvSpPr>
          <p:cNvPr id="11" name="Text 9"/>
          <p:cNvSpPr txBox="1"/>
          <p:nvPr/>
        </p:nvSpPr>
        <p:spPr>
          <a:xfrm>
            <a:off x="3767328" y="3209544"/>
            <a:ext cx="1975104"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Who, and how many hours?</a:t>
            </a:r>
            <a:endParaRPr lang="en-US" sz="1400" dirty="0"/>
          </a:p>
        </p:txBody>
      </p:sp>
      <p:sp>
        <p:nvSpPr>
          <p:cNvPr id="12" name="Card"/>
          <p:cNvSpPr/>
          <p:nvPr/>
        </p:nvSpPr>
        <p:spPr>
          <a:xfrm>
            <a:off x="6208776" y="2148840"/>
            <a:ext cx="2487168" cy="1828800"/>
          </a:xfrm>
          <a:prstGeom prst="roundRect">
            <a:avLst>
              <a:gd name="adj" fmla="val 4000"/>
            </a:avLst>
          </a:prstGeom>
          <a:solidFill>
            <a:schemeClr val="bg1"/>
          </a:solidFill>
          <a:ln w="6350">
            <a:solidFill>
              <a:schemeClr val="accent4"/>
            </a:solidFill>
            <a:prstDash val="solid"/>
          </a:ln>
        </p:spPr>
      </p:sp>
      <p:sp>
        <p:nvSpPr>
          <p:cNvPr id="13" name="Text 11"/>
          <p:cNvSpPr txBox="1"/>
          <p:nvPr/>
        </p:nvSpPr>
        <p:spPr>
          <a:xfrm>
            <a:off x="646480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4" name="Text 12"/>
          <p:cNvSpPr txBox="1"/>
          <p:nvPr/>
        </p:nvSpPr>
        <p:spPr>
          <a:xfrm>
            <a:off x="6464808" y="2752344"/>
            <a:ext cx="1975104" cy="365760"/>
          </a:xfrm>
          <a:prstGeom prst="rect">
            <a:avLst/>
          </a:prstGeom>
          <a:noFill/>
          <a:ln/>
        </p:spPr>
        <p:txBody>
          <a:bodyPr wrap="square" lIns="0" tIns="0" rIns="0" bIns="0" rtlCol="0" anchor="t"/>
          <a:lstStyle/>
          <a:p>
            <a:pPr indent="0" marL="0">
              <a:buNone/>
            </a:pPr>
            <a:r>
              <a:rPr lang="en-US" sz="2000" b="1" dirty="0">
                <a:solidFill>
                  <a:schemeClr val="tx1"/>
                </a:solidFill>
              </a:rPr>
              <a:t>Overall budget</a:t>
            </a:r>
            <a:endParaRPr lang="en-US" sz="2000" dirty="0"/>
          </a:p>
        </p:txBody>
      </p:sp>
      <p:sp>
        <p:nvSpPr>
          <p:cNvPr id="15" name="Text 13"/>
          <p:cNvSpPr txBox="1"/>
          <p:nvPr/>
        </p:nvSpPr>
        <p:spPr>
          <a:xfrm>
            <a:off x="6464808" y="3209544"/>
            <a:ext cx="1975104"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What can we pay for?</a:t>
            </a:r>
            <a:endParaRPr lang="en-US" sz="1400" dirty="0"/>
          </a:p>
        </p:txBody>
      </p:sp>
      <p:sp>
        <p:nvSpPr>
          <p:cNvPr id="16" name="Card"/>
          <p:cNvSpPr/>
          <p:nvPr/>
        </p:nvSpPr>
        <p:spPr>
          <a:xfrm>
            <a:off x="8906256" y="2148840"/>
            <a:ext cx="2487168" cy="1828800"/>
          </a:xfrm>
          <a:prstGeom prst="roundRect">
            <a:avLst>
              <a:gd name="adj" fmla="val 4000"/>
            </a:avLst>
          </a:prstGeom>
          <a:solidFill>
            <a:schemeClr val="bg1"/>
          </a:solidFill>
          <a:ln w="6350">
            <a:solidFill>
              <a:schemeClr val="accent4"/>
            </a:solidFill>
            <a:prstDash val="solid"/>
          </a:ln>
        </p:spPr>
      </p:sp>
      <p:sp>
        <p:nvSpPr>
          <p:cNvPr id="17" name="Text 15"/>
          <p:cNvSpPr txBox="1"/>
          <p:nvPr/>
        </p:nvSpPr>
        <p:spPr>
          <a:xfrm>
            <a:off x="916228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18" name="Text 16"/>
          <p:cNvSpPr txBox="1"/>
          <p:nvPr/>
        </p:nvSpPr>
        <p:spPr>
          <a:xfrm>
            <a:off x="9162288" y="2752344"/>
            <a:ext cx="1975104" cy="365760"/>
          </a:xfrm>
          <a:prstGeom prst="rect">
            <a:avLst/>
          </a:prstGeom>
          <a:noFill/>
          <a:ln/>
        </p:spPr>
        <p:txBody>
          <a:bodyPr wrap="square" lIns="0" tIns="0" rIns="0" bIns="0" rtlCol="0" anchor="t"/>
          <a:lstStyle/>
          <a:p>
            <a:pPr indent="0" marL="0">
              <a:buNone/>
            </a:pPr>
            <a:r>
              <a:rPr lang="en-US" sz="2000" b="1" dirty="0">
                <a:solidFill>
                  <a:schemeClr val="tx1"/>
                </a:solidFill>
              </a:rPr>
              <a:t>Available tools</a:t>
            </a:r>
            <a:endParaRPr lang="en-US" sz="2000" dirty="0"/>
          </a:p>
        </p:txBody>
      </p:sp>
      <p:sp>
        <p:nvSpPr>
          <p:cNvPr id="19" name="Text 17"/>
          <p:cNvSpPr txBox="1"/>
          <p:nvPr/>
        </p:nvSpPr>
        <p:spPr>
          <a:xfrm>
            <a:off x="9162288" y="3209544"/>
            <a:ext cx="1975104"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What do we work with?</a:t>
            </a:r>
            <a:endParaRPr lang="en-US" sz="1400" dirty="0"/>
          </a:p>
        </p:txBody>
      </p:sp>
      <p:sp>
        <p:nvSpPr>
          <p:cNvPr id="20" name="Quote card"/>
          <p:cNvSpPr/>
          <p:nvPr/>
        </p:nvSpPr>
        <p:spPr>
          <a:xfrm>
            <a:off x="813816" y="4160520"/>
            <a:ext cx="10570464" cy="777240"/>
          </a:xfrm>
          <a:prstGeom prst="roundRect">
            <a:avLst>
              <a:gd name="adj" fmla="val 9412"/>
            </a:avLst>
          </a:prstGeom>
          <a:solidFill>
            <a:schemeClr val="bg1"/>
          </a:solidFill>
          <a:ln w="6350">
            <a:solidFill>
              <a:schemeClr val="accent4"/>
            </a:solidFill>
            <a:prstDash val="solid"/>
          </a:ln>
        </p:spPr>
      </p:sp>
      <p:sp>
        <p:nvSpPr>
          <p:cNvPr id="21" name="Text 19"/>
          <p:cNvSpPr txBox="1"/>
          <p:nvPr/>
        </p:nvSpPr>
        <p:spPr>
          <a:xfrm>
            <a:off x="1069848" y="4160520"/>
            <a:ext cx="10058400" cy="777240"/>
          </a:xfrm>
          <a:prstGeom prst="rect">
            <a:avLst/>
          </a:prstGeom>
          <a:noFill/>
          <a:ln/>
        </p:spPr>
        <p:txBody>
          <a:bodyPr wrap="square" lIns="0" tIns="0" rIns="0" bIns="0" rtlCol="0" anchor="ctr"/>
          <a:lstStyle/>
          <a:p>
            <a:pPr indent="0" marL="0">
              <a:buNone/>
            </a:pPr>
            <a:r>
              <a:rPr lang="en-US" sz="1500" i="1" dirty="0">
                <a:solidFill>
                  <a:schemeClr val="tx1"/>
                </a:solidFill>
              </a:rPr>
              <a:t>“You should make realistic rather than optimistic assumptions when you are defining a project plan.” </a:t>
            </a:r>
            <a:pPr indent="0" marL="0">
              <a:buNone/>
            </a:pPr>
            <a:r>
              <a:rPr lang="en-US" sz="1500" dirty="0">
                <a:solidFill>
                  <a:schemeClr val="tx2"/>
                </a:solidFill>
              </a:rPr>
              <a:t>Problems always arise, so include contingency.</a:t>
            </a:r>
            <a:endParaRPr lang="en-US" sz="1500" dirty="0"/>
          </a:p>
        </p:txBody>
      </p:sp>
      <p:sp>
        <p:nvSpPr>
          <p:cNvPr id="22" name="Callout"/>
          <p:cNvSpPr/>
          <p:nvPr/>
        </p:nvSpPr>
        <p:spPr>
          <a:xfrm>
            <a:off x="813816" y="5138928"/>
            <a:ext cx="10570464" cy="566928"/>
          </a:xfrm>
          <a:prstGeom prst="roundRect">
            <a:avLst>
              <a:gd name="adj" fmla="val 12903"/>
            </a:avLst>
          </a:prstGeom>
          <a:solidFill>
            <a:schemeClr val="tx1"/>
          </a:solidFill>
          <a:ln/>
        </p:spPr>
      </p:sp>
      <p:sp>
        <p:nvSpPr>
          <p:cNvPr id="23" name="Text 21"/>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In Sommerville's planning process, the first step is “Identify constraints”, before risks and milestones.</a:t>
            </a:r>
            <a:endParaRPr lang="en-US" sz="1400" dirty="0"/>
          </a:p>
        </p:txBody>
      </p:sp>
      <p:sp>
        <p:nvSpPr>
          <p:cNvPr id="2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§23.2.2, p. 673–674.</a:t>
            </a:r>
            <a:endParaRPr lang="en-US" sz="1100" dirty="0"/>
          </a:p>
        </p:txBody>
      </p:sp>
      <p:sp>
        <p:nvSpPr>
          <p:cNvPr id="2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11 / 37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THE COURSE'S INVENTORY</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Five kinds of resources</a:t>
            </a:r>
            <a:endParaRPr lang="en-US" sz="3600" dirty="0"/>
          </a:p>
        </p:txBody>
      </p:sp>
      <p:sp>
        <p:nvSpPr>
          <p:cNvPr id="4" name="Card"/>
          <p:cNvSpPr/>
          <p:nvPr/>
        </p:nvSpPr>
        <p:spPr>
          <a:xfrm>
            <a:off x="813816" y="2057400"/>
            <a:ext cx="5669280" cy="512064"/>
          </a:xfrm>
          <a:prstGeom prst="roundRect">
            <a:avLst>
              <a:gd name="adj" fmla="val 14286"/>
            </a:avLst>
          </a:prstGeom>
          <a:solidFill>
            <a:schemeClr val="bg1"/>
          </a:solidFill>
          <a:ln w="6350">
            <a:solidFill>
              <a:schemeClr val="accent4"/>
            </a:solidFill>
            <a:prstDash val="solid"/>
          </a:ln>
        </p:spPr>
      </p:sp>
      <p:sp>
        <p:nvSpPr>
          <p:cNvPr id="5" name="Text 3"/>
          <p:cNvSpPr txBox="1"/>
          <p:nvPr/>
        </p:nvSpPr>
        <p:spPr>
          <a:xfrm>
            <a:off x="950976" y="2194560"/>
            <a:ext cx="5394960" cy="283464"/>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People  </a:t>
            </a:r>
            <a:pPr indent="0" marL="0">
              <a:spcAft>
                <a:spcPts val="400"/>
              </a:spcAft>
              <a:buNone/>
            </a:pPr>
            <a:r>
              <a:rPr lang="en-US" sz="1400" dirty="0">
                <a:solidFill>
                  <a:schemeClr val="tx2"/>
                </a:solidFill>
              </a:rPr>
              <a:t>who, how many hours</a:t>
            </a:r>
            <a:endParaRPr lang="en-US" sz="1400" dirty="0"/>
          </a:p>
        </p:txBody>
      </p:sp>
      <p:sp>
        <p:nvSpPr>
          <p:cNvPr id="6" name="Card"/>
          <p:cNvSpPr/>
          <p:nvPr/>
        </p:nvSpPr>
        <p:spPr>
          <a:xfrm>
            <a:off x="813816" y="2660904"/>
            <a:ext cx="5669280" cy="512064"/>
          </a:xfrm>
          <a:prstGeom prst="roundRect">
            <a:avLst>
              <a:gd name="adj" fmla="val 14286"/>
            </a:avLst>
          </a:prstGeom>
          <a:solidFill>
            <a:schemeClr val="bg1"/>
          </a:solidFill>
          <a:ln w="6350">
            <a:solidFill>
              <a:schemeClr val="accent4"/>
            </a:solidFill>
            <a:prstDash val="solid"/>
          </a:ln>
        </p:spPr>
      </p:sp>
      <p:sp>
        <p:nvSpPr>
          <p:cNvPr id="7" name="Text 5"/>
          <p:cNvSpPr txBox="1"/>
          <p:nvPr/>
        </p:nvSpPr>
        <p:spPr>
          <a:xfrm>
            <a:off x="950976" y="2798064"/>
            <a:ext cx="5394960" cy="283464"/>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Knowledge  </a:t>
            </a:r>
            <a:pPr indent="0" marL="0">
              <a:spcAft>
                <a:spcPts val="400"/>
              </a:spcAft>
              <a:buNone/>
            </a:pPr>
            <a:r>
              <a:rPr lang="en-US" sz="1400" dirty="0">
                <a:solidFill>
                  <a:schemeClr val="tx2"/>
                </a:solidFill>
              </a:rPr>
              <a:t>what the team knows, and doesn't</a:t>
            </a:r>
            <a:endParaRPr lang="en-US" sz="1400" dirty="0"/>
          </a:p>
        </p:txBody>
      </p:sp>
      <p:sp>
        <p:nvSpPr>
          <p:cNvPr id="8" name="Card"/>
          <p:cNvSpPr/>
          <p:nvPr/>
        </p:nvSpPr>
        <p:spPr>
          <a:xfrm>
            <a:off x="813816" y="3264408"/>
            <a:ext cx="5669280" cy="512064"/>
          </a:xfrm>
          <a:prstGeom prst="roundRect">
            <a:avLst>
              <a:gd name="adj" fmla="val 14286"/>
            </a:avLst>
          </a:prstGeom>
          <a:solidFill>
            <a:schemeClr val="bg1"/>
          </a:solidFill>
          <a:ln w="6350">
            <a:solidFill>
              <a:schemeClr val="accent4"/>
            </a:solidFill>
            <a:prstDash val="solid"/>
          </a:ln>
        </p:spPr>
      </p:sp>
      <p:sp>
        <p:nvSpPr>
          <p:cNvPr id="9" name="Text 7"/>
          <p:cNvSpPr txBox="1"/>
          <p:nvPr/>
        </p:nvSpPr>
        <p:spPr>
          <a:xfrm>
            <a:off x="950976" y="3401568"/>
            <a:ext cx="5394960" cy="283464"/>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Technical  </a:t>
            </a:r>
            <a:pPr indent="0" marL="0">
              <a:spcAft>
                <a:spcPts val="400"/>
              </a:spcAft>
              <a:buNone/>
            </a:pPr>
            <a:r>
              <a:rPr lang="en-US" sz="1400" dirty="0">
                <a:solidFill>
                  <a:schemeClr val="tx2"/>
                </a:solidFill>
              </a:rPr>
              <a:t>stack, environments, services</a:t>
            </a:r>
            <a:endParaRPr lang="en-US" sz="1400" dirty="0"/>
          </a:p>
        </p:txBody>
      </p:sp>
      <p:sp>
        <p:nvSpPr>
          <p:cNvPr id="10" name="Card"/>
          <p:cNvSpPr/>
          <p:nvPr/>
        </p:nvSpPr>
        <p:spPr>
          <a:xfrm>
            <a:off x="813816" y="3867912"/>
            <a:ext cx="5669280" cy="512064"/>
          </a:xfrm>
          <a:prstGeom prst="roundRect">
            <a:avLst>
              <a:gd name="adj" fmla="val 14286"/>
            </a:avLst>
          </a:prstGeom>
          <a:solidFill>
            <a:schemeClr val="bg1"/>
          </a:solidFill>
          <a:ln w="6350">
            <a:solidFill>
              <a:schemeClr val="accent4"/>
            </a:solidFill>
            <a:prstDash val="solid"/>
          </a:ln>
        </p:spPr>
      </p:sp>
      <p:sp>
        <p:nvSpPr>
          <p:cNvPr id="11" name="Text 9"/>
          <p:cNvSpPr txBox="1"/>
          <p:nvPr/>
        </p:nvSpPr>
        <p:spPr>
          <a:xfrm>
            <a:off x="950976" y="4005072"/>
            <a:ext cx="5394960" cy="283464"/>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Financial  </a:t>
            </a:r>
            <a:pPr indent="0" marL="0">
              <a:spcAft>
                <a:spcPts val="400"/>
              </a:spcAft>
              <a:buNone/>
            </a:pPr>
            <a:r>
              <a:rPr lang="en-US" sz="1400" dirty="0">
                <a:solidFill>
                  <a:schemeClr val="tx2"/>
                </a:solidFill>
              </a:rPr>
              <a:t>effort, licences, hosting</a:t>
            </a:r>
            <a:endParaRPr lang="en-US" sz="1400" dirty="0"/>
          </a:p>
        </p:txBody>
      </p:sp>
      <p:sp>
        <p:nvSpPr>
          <p:cNvPr id="12" name="Card"/>
          <p:cNvSpPr/>
          <p:nvPr/>
        </p:nvSpPr>
        <p:spPr>
          <a:xfrm>
            <a:off x="813816" y="4471416"/>
            <a:ext cx="5669280" cy="512064"/>
          </a:xfrm>
          <a:prstGeom prst="roundRect">
            <a:avLst>
              <a:gd name="adj" fmla="val 14286"/>
            </a:avLst>
          </a:prstGeom>
          <a:solidFill>
            <a:schemeClr val="bg1"/>
          </a:solidFill>
          <a:ln w="6350">
            <a:solidFill>
              <a:schemeClr val="accent4"/>
            </a:solidFill>
            <a:prstDash val="solid"/>
          </a:ln>
        </p:spPr>
      </p:sp>
      <p:sp>
        <p:nvSpPr>
          <p:cNvPr id="13" name="Text 11"/>
          <p:cNvSpPr txBox="1"/>
          <p:nvPr/>
        </p:nvSpPr>
        <p:spPr>
          <a:xfrm>
            <a:off x="950976" y="4608576"/>
            <a:ext cx="5394960" cy="283464"/>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Access to AI  </a:t>
            </a:r>
            <a:pPr indent="0" marL="0">
              <a:spcAft>
                <a:spcPts val="400"/>
              </a:spcAft>
              <a:buNone/>
            </a:pPr>
            <a:r>
              <a:rPr lang="en-US" sz="1400" dirty="0">
                <a:solidFill>
                  <a:schemeClr val="tx2"/>
                </a:solidFill>
              </a:rPr>
              <a:t>models, limits, data rules</a:t>
            </a:r>
            <a:endParaRPr lang="en-US" sz="1400" dirty="0"/>
          </a:p>
        </p:txBody>
      </p:sp>
      <p:sp>
        <p:nvSpPr>
          <p:cNvPr id="14" name="Figure card"/>
          <p:cNvSpPr/>
          <p:nvPr/>
        </p:nvSpPr>
        <p:spPr>
          <a:xfrm>
            <a:off x="6693408" y="2057400"/>
            <a:ext cx="4690872" cy="1965960"/>
          </a:xfrm>
          <a:prstGeom prst="roundRect">
            <a:avLst>
              <a:gd name="adj" fmla="val 3721"/>
            </a:avLst>
          </a:prstGeom>
          <a:solidFill>
            <a:schemeClr val="bg1"/>
          </a:solidFill>
          <a:ln w="6350">
            <a:solidFill>
              <a:schemeClr val="accent4"/>
            </a:solidFill>
            <a:prstDash val="solid"/>
          </a:ln>
        </p:spPr>
      </p:sp>
      <p:pic>
        <p:nvPicPr>
          <p:cNvPr id="15" name="Figure" descr="richards-ford-fig23-3-pragmatic-vs-visionary-p356.png">    </p:cNvPr>
          <p:cNvPicPr>
            <a:picLocks noChangeAspect="1"/>
          </p:cNvPicPr>
          <p:nvPr/>
        </p:nvPicPr>
        <p:blipFill>
          <a:blip r:embed="rId1"/>
          <a:stretch>
            <a:fillRect/>
          </a:stretch>
        </p:blipFill>
        <p:spPr>
          <a:xfrm>
            <a:off x="7947660" y="2221992"/>
            <a:ext cx="2182368" cy="1636776"/>
          </a:xfrm>
          <a:prstGeom prst="rect">
            <a:avLst/>
          </a:prstGeom>
        </p:spPr>
      </p:pic>
      <p:sp>
        <p:nvSpPr>
          <p:cNvPr id="16" name="Card"/>
          <p:cNvSpPr/>
          <p:nvPr/>
        </p:nvSpPr>
        <p:spPr>
          <a:xfrm>
            <a:off x="6693408" y="4133088"/>
            <a:ext cx="4690872" cy="841248"/>
          </a:xfrm>
          <a:prstGeom prst="roundRect">
            <a:avLst>
              <a:gd name="adj" fmla="val 8696"/>
            </a:avLst>
          </a:prstGeom>
          <a:solidFill>
            <a:schemeClr val="bg1"/>
          </a:solidFill>
          <a:ln w="6350">
            <a:solidFill>
              <a:schemeClr val="accent4"/>
            </a:solidFill>
            <a:prstDash val="solid"/>
          </a:ln>
        </p:spPr>
      </p:sp>
      <p:sp>
        <p:nvSpPr>
          <p:cNvPr id="17" name="Text 14"/>
          <p:cNvSpPr txBox="1"/>
          <p:nvPr/>
        </p:nvSpPr>
        <p:spPr>
          <a:xfrm>
            <a:off x="6876288" y="4315968"/>
            <a:ext cx="4325112" cy="5212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pragmatic architect weighs budget, time, the skill set and skill level of the team, trade-offs, technical limitations.</a:t>
            </a:r>
            <a:endParaRPr lang="en-US" sz="1300" dirty="0"/>
          </a:p>
        </p:txBody>
      </p:sp>
      <p:sp>
        <p:nvSpPr>
          <p:cNvPr id="18" name="Callout"/>
          <p:cNvSpPr/>
          <p:nvPr/>
        </p:nvSpPr>
        <p:spPr>
          <a:xfrm>
            <a:off x="813816" y="5138928"/>
            <a:ext cx="10570464" cy="566928"/>
          </a:xfrm>
          <a:prstGeom prst="roundRect">
            <a:avLst>
              <a:gd name="adj" fmla="val 12903"/>
            </a:avLst>
          </a:prstGeom>
          <a:solidFill>
            <a:schemeClr val="tx1"/>
          </a:solidFill>
          <a:ln/>
        </p:spPr>
      </p:sp>
      <p:sp>
        <p:nvSpPr>
          <p:cNvPr id="19" name="Text 16"/>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The grouping into five is the course's. The textbooks give the pieces: cost parameters (Sommerville) and the pragmatic constraints (Richards &amp; Ford).</a:t>
            </a:r>
            <a:endParaRPr lang="en-US" sz="1400" dirty="0"/>
          </a:p>
        </p:txBody>
      </p:sp>
      <p:sp>
        <p:nvSpPr>
          <p:cNvPr id="20"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p. 669; Richards &amp; Ford, 2020, Figure 23-3, p. 355–356.</a:t>
            </a:r>
            <a:endParaRPr lang="en-US" sz="1100" dirty="0"/>
          </a:p>
        </p:txBody>
      </p:sp>
      <p:sp>
        <p:nvSpPr>
          <p:cNvPr id="21"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12 / 37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RESOURCE 1 · PEOPLE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People: count hours, not heads</a:t>
            </a:r>
            <a:endParaRPr lang="en-US" sz="3600" dirty="0"/>
          </a:p>
        </p:txBody>
      </p:sp>
      <p:sp>
        <p:nvSpPr>
          <p:cNvPr id="4" name="Stat card"/>
          <p:cNvSpPr/>
          <p:nvPr/>
        </p:nvSpPr>
        <p:spPr>
          <a:xfrm>
            <a:off x="813816" y="2148840"/>
            <a:ext cx="3291840" cy="2788920"/>
          </a:xfrm>
          <a:prstGeom prst="roundRect">
            <a:avLst>
              <a:gd name="adj" fmla="val 2623"/>
            </a:avLst>
          </a:prstGeom>
          <a:solidFill>
            <a:schemeClr val="tx1"/>
          </a:solidFill>
          <a:ln/>
        </p:spPr>
      </p:sp>
      <p:sp>
        <p:nvSpPr>
          <p:cNvPr id="5" name="Text 3"/>
          <p:cNvSpPr txBox="1"/>
          <p:nvPr/>
        </p:nvSpPr>
        <p:spPr>
          <a:xfrm>
            <a:off x="1088136" y="2331720"/>
            <a:ext cx="2743200" cy="1097280"/>
          </a:xfrm>
          <a:prstGeom prst="rect">
            <a:avLst/>
          </a:prstGeom>
          <a:noFill/>
          <a:ln/>
        </p:spPr>
        <p:txBody>
          <a:bodyPr wrap="square" lIns="0" tIns="0" rIns="0" bIns="0" rtlCol="0" anchor="t"/>
          <a:lstStyle/>
          <a:p>
            <a:pPr indent="0" marL="0">
              <a:buNone/>
            </a:pPr>
            <a:r>
              <a:rPr lang="en-US" sz="6600" b="1" dirty="0">
                <a:solidFill>
                  <a:schemeClr val="accent2"/>
                </a:solidFill>
              </a:rPr>
              <a:t>4–6</a:t>
            </a:r>
            <a:endParaRPr lang="en-US" sz="6600" dirty="0"/>
          </a:p>
        </p:txBody>
      </p:sp>
      <p:sp>
        <p:nvSpPr>
          <p:cNvPr id="6" name="Text 4"/>
          <p:cNvSpPr txBox="1"/>
          <p:nvPr/>
        </p:nvSpPr>
        <p:spPr>
          <a:xfrm>
            <a:off x="1088136" y="3520440"/>
            <a:ext cx="2743200" cy="1097280"/>
          </a:xfrm>
          <a:prstGeom prst="rect">
            <a:avLst/>
          </a:prstGeom>
          <a:noFill/>
          <a:ln/>
        </p:spPr>
        <p:txBody>
          <a:bodyPr wrap="square" lIns="0" tIns="0" rIns="0" bIns="0" rtlCol="0" anchor="t"/>
          <a:lstStyle/>
          <a:p>
            <a:pPr indent="0" marL="0">
              <a:buNone/>
            </a:pPr>
            <a:r>
              <a:rPr lang="en-US" sz="1500" dirty="0">
                <a:solidFill>
                  <a:schemeClr val="bg2"/>
                </a:solidFill>
              </a:rPr>
              <a:t>the best size for a software engineering group; never more than 12</a:t>
            </a:r>
            <a:endParaRPr lang="en-US" sz="1500" dirty="0"/>
          </a:p>
        </p:txBody>
      </p:sp>
      <p:sp>
        <p:nvSpPr>
          <p:cNvPr id="7" name="Card"/>
          <p:cNvSpPr/>
          <p:nvPr/>
        </p:nvSpPr>
        <p:spPr>
          <a:xfrm>
            <a:off x="4315968" y="2148840"/>
            <a:ext cx="3429000" cy="2788920"/>
          </a:xfrm>
          <a:prstGeom prst="roundRect">
            <a:avLst>
              <a:gd name="adj" fmla="val 2623"/>
            </a:avLst>
          </a:prstGeom>
          <a:solidFill>
            <a:schemeClr val="bg1"/>
          </a:solidFill>
          <a:ln w="6350">
            <a:solidFill>
              <a:schemeClr val="accent4"/>
            </a:solidFill>
            <a:prstDash val="solid"/>
          </a:ln>
        </p:spPr>
      </p:sp>
      <p:sp>
        <p:nvSpPr>
          <p:cNvPr id="8" name="Text 6"/>
          <p:cNvSpPr txBox="1"/>
          <p:nvPr/>
        </p:nvSpPr>
        <p:spPr>
          <a:xfrm>
            <a:off x="4572000" y="2404872"/>
            <a:ext cx="291693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Realistic hours</a:t>
            </a:r>
            <a:endParaRPr lang="en-US" sz="1200" dirty="0"/>
          </a:p>
        </p:txBody>
      </p:sp>
      <p:sp>
        <p:nvSpPr>
          <p:cNvPr id="9" name="Text 7"/>
          <p:cNvSpPr txBox="1"/>
          <p:nvPr/>
        </p:nvSpPr>
        <p:spPr>
          <a:xfrm>
            <a:off x="4572000" y="2752344"/>
            <a:ext cx="2916936" cy="19751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many hours per week will each member actually put in, in which weeks? Exams, jobs, other projects. Plan with the pessimistic number.</a:t>
            </a:r>
            <a:endParaRPr lang="en-US" sz="1400" dirty="0"/>
          </a:p>
        </p:txBody>
      </p:sp>
      <p:sp>
        <p:nvSpPr>
          <p:cNvPr id="10" name="Card"/>
          <p:cNvSpPr/>
          <p:nvPr/>
        </p:nvSpPr>
        <p:spPr>
          <a:xfrm>
            <a:off x="7955280" y="2148840"/>
            <a:ext cx="3429000" cy="2788920"/>
          </a:xfrm>
          <a:prstGeom prst="roundRect">
            <a:avLst>
              <a:gd name="adj" fmla="val 2623"/>
            </a:avLst>
          </a:prstGeom>
          <a:solidFill>
            <a:schemeClr val="bg1"/>
          </a:solidFill>
          <a:ln w="6350">
            <a:solidFill>
              <a:schemeClr val="accent4"/>
            </a:solidFill>
            <a:prstDash val="solid"/>
          </a:ln>
        </p:spPr>
      </p:sp>
      <p:sp>
        <p:nvSpPr>
          <p:cNvPr id="11" name="Text 9"/>
          <p:cNvSpPr txBox="1"/>
          <p:nvPr/>
        </p:nvSpPr>
        <p:spPr>
          <a:xfrm>
            <a:off x="8211312" y="2404872"/>
            <a:ext cx="291693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Key people</a:t>
            </a:r>
            <a:endParaRPr lang="en-US" sz="1200" dirty="0"/>
          </a:p>
        </p:txBody>
      </p:sp>
      <p:sp>
        <p:nvSpPr>
          <p:cNvPr id="12" name="Text 10"/>
          <p:cNvSpPr txBox="1"/>
          <p:nvPr/>
        </p:nvSpPr>
        <p:spPr>
          <a:xfrm>
            <a:off x="8211312" y="2752344"/>
            <a:ext cx="2916936" cy="19751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In agile teams, with little documentation, losing a key person hurts continuity the most. Who is the only one who knows how part X works?</a:t>
            </a:r>
            <a:endParaRPr lang="en-US" sz="1400" dirty="0"/>
          </a:p>
        </p:txBody>
      </p:sp>
      <p:sp>
        <p:nvSpPr>
          <p:cNvPr id="13" name="Callout"/>
          <p:cNvSpPr/>
          <p:nvPr/>
        </p:nvSpPr>
        <p:spPr>
          <a:xfrm>
            <a:off x="813816" y="5138928"/>
            <a:ext cx="10570464" cy="566928"/>
          </a:xfrm>
          <a:prstGeom prst="roundRect">
            <a:avLst>
              <a:gd name="adj" fmla="val 12903"/>
            </a:avLst>
          </a:prstGeom>
          <a:solidFill>
            <a:schemeClr val="tx1"/>
          </a:solidFill>
          <a:ln/>
        </p:spPr>
      </p:sp>
      <p:sp>
        <p:nvSpPr>
          <p:cNvPr id="14" name="Text 12"/>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Staff turnover and key staff unavailable at critical times are on every list of common project risks.</a:t>
            </a:r>
            <a:endParaRPr lang="en-US" sz="1400" dirty="0"/>
          </a:p>
        </p:txBody>
      </p:sp>
      <p:sp>
        <p:nvSpPr>
          <p:cNvPr id="1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p. 646–648 and p. 656.</a:t>
            </a:r>
            <a:endParaRPr lang="en-US" sz="1100" dirty="0"/>
          </a:p>
        </p:txBody>
      </p:sp>
      <p:sp>
        <p:nvSpPr>
          <p:cNvPr id="1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13 / 37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RESOURCE 2 · KNOWLEDGE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What nobody on the team knows is a risk</a:t>
            </a:r>
            <a:endParaRPr lang="en-US" sz="3600" dirty="0"/>
          </a:p>
        </p:txBody>
      </p:sp>
      <p:sp>
        <p:nvSpPr>
          <p:cNvPr id="4" name="Stat card"/>
          <p:cNvSpPr/>
          <p:nvPr/>
        </p:nvSpPr>
        <p:spPr>
          <a:xfrm>
            <a:off x="813816" y="2148840"/>
            <a:ext cx="3291840" cy="2788920"/>
          </a:xfrm>
          <a:prstGeom prst="roundRect">
            <a:avLst>
              <a:gd name="adj" fmla="val 2623"/>
            </a:avLst>
          </a:prstGeom>
          <a:solidFill>
            <a:schemeClr val="tx1"/>
          </a:solidFill>
          <a:ln/>
        </p:spPr>
      </p:sp>
      <p:sp>
        <p:nvSpPr>
          <p:cNvPr id="5" name="Text 3"/>
          <p:cNvSpPr txBox="1"/>
          <p:nvPr/>
        </p:nvSpPr>
        <p:spPr>
          <a:xfrm>
            <a:off x="1088136" y="2240280"/>
            <a:ext cx="2743200" cy="1371600"/>
          </a:xfrm>
          <a:prstGeom prst="rect">
            <a:avLst/>
          </a:prstGeom>
          <a:noFill/>
          <a:ln/>
        </p:spPr>
        <p:txBody>
          <a:bodyPr wrap="square" lIns="0" tIns="0" rIns="0" bIns="0" rtlCol="0" anchor="t"/>
          <a:lstStyle/>
          <a:p>
            <a:pPr indent="0" marL="0">
              <a:buNone/>
            </a:pPr>
            <a:r>
              <a:rPr lang="en-US" sz="9600" b="1" dirty="0">
                <a:solidFill>
                  <a:schemeClr val="accent2"/>
                </a:solidFill>
              </a:rPr>
              <a:t>9</a:t>
            </a:r>
            <a:endParaRPr lang="en-US" sz="9600" dirty="0"/>
          </a:p>
        </p:txBody>
      </p:sp>
      <p:sp>
        <p:nvSpPr>
          <p:cNvPr id="6" name="Text 4"/>
          <p:cNvSpPr txBox="1"/>
          <p:nvPr/>
        </p:nvSpPr>
        <p:spPr>
          <a:xfrm>
            <a:off x="1088136" y="3703320"/>
            <a:ext cx="2743200" cy="914400"/>
          </a:xfrm>
          <a:prstGeom prst="rect">
            <a:avLst/>
          </a:prstGeom>
          <a:noFill/>
          <a:ln/>
        </p:spPr>
        <p:txBody>
          <a:bodyPr wrap="square" lIns="0" tIns="0" rIns="0" bIns="0" rtlCol="0" anchor="t"/>
          <a:lstStyle/>
          <a:p>
            <a:pPr indent="0" marL="0">
              <a:buNone/>
            </a:pPr>
            <a:r>
              <a:rPr lang="en-US" sz="1500" dirty="0">
                <a:solidFill>
                  <a:schemeClr val="bg2"/>
                </a:solidFill>
              </a:rPr>
              <a:t>the risk score for an unknown technology, out of 9</a:t>
            </a:r>
            <a:endParaRPr lang="en-US" sz="1500" dirty="0"/>
          </a:p>
        </p:txBody>
      </p:sp>
      <p:sp>
        <p:nvSpPr>
          <p:cNvPr id="7" name="Quote card"/>
          <p:cNvSpPr/>
          <p:nvPr/>
        </p:nvSpPr>
        <p:spPr>
          <a:xfrm>
            <a:off x="4315968" y="2148840"/>
            <a:ext cx="7068312" cy="1188720"/>
          </a:xfrm>
          <a:prstGeom prst="roundRect">
            <a:avLst>
              <a:gd name="adj" fmla="val 6154"/>
            </a:avLst>
          </a:prstGeom>
          <a:solidFill>
            <a:schemeClr val="bg1"/>
          </a:solidFill>
          <a:ln w="6350">
            <a:solidFill>
              <a:schemeClr val="accent4"/>
            </a:solidFill>
            <a:prstDash val="solid"/>
          </a:ln>
        </p:spPr>
      </p:sp>
      <p:sp>
        <p:nvSpPr>
          <p:cNvPr id="8" name="Text 6"/>
          <p:cNvSpPr txBox="1"/>
          <p:nvPr/>
        </p:nvSpPr>
        <p:spPr>
          <a:xfrm>
            <a:off x="4572000" y="2148840"/>
            <a:ext cx="6583680" cy="1188720"/>
          </a:xfrm>
          <a:prstGeom prst="rect">
            <a:avLst/>
          </a:prstGeom>
          <a:noFill/>
          <a:ln/>
        </p:spPr>
        <p:txBody>
          <a:bodyPr wrap="square" lIns="0" tIns="0" rIns="0" bIns="0" rtlCol="0" anchor="ctr"/>
          <a:lstStyle/>
          <a:p>
            <a:pPr indent="0" marL="0">
              <a:buNone/>
            </a:pPr>
            <a:r>
              <a:rPr lang="en-US" sz="1700" i="1" dirty="0">
                <a:solidFill>
                  <a:schemeClr val="tx1"/>
                </a:solidFill>
              </a:rPr>
              <a:t>“For unproven or unknown technologies, always assign the highest risk rating (9) since the risk matrix cannot be used for this dimension.”</a:t>
            </a:r>
            <a:endParaRPr lang="en-US" sz="1700" dirty="0"/>
          </a:p>
        </p:txBody>
      </p:sp>
      <p:sp>
        <p:nvSpPr>
          <p:cNvPr id="9" name="Card"/>
          <p:cNvSpPr/>
          <p:nvPr/>
        </p:nvSpPr>
        <p:spPr>
          <a:xfrm>
            <a:off x="4315968" y="3520440"/>
            <a:ext cx="7068312" cy="1417320"/>
          </a:xfrm>
          <a:prstGeom prst="roundRect">
            <a:avLst>
              <a:gd name="adj" fmla="val 5161"/>
            </a:avLst>
          </a:prstGeom>
          <a:solidFill>
            <a:schemeClr val="bg1"/>
          </a:solidFill>
          <a:ln w="6350">
            <a:solidFill>
              <a:schemeClr val="accent4"/>
            </a:solidFill>
            <a:prstDash val="solid"/>
          </a:ln>
        </p:spPr>
      </p:sp>
      <p:sp>
        <p:nvSpPr>
          <p:cNvPr id="10" name="Text 8"/>
          <p:cNvSpPr txBox="1"/>
          <p:nvPr/>
        </p:nvSpPr>
        <p:spPr>
          <a:xfrm>
            <a:off x="4572000" y="3776472"/>
            <a:ext cx="655624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The Redis story</a:t>
            </a:r>
            <a:endParaRPr lang="en-US" sz="1200" dirty="0"/>
          </a:p>
        </p:txBody>
      </p:sp>
      <p:sp>
        <p:nvSpPr>
          <p:cNvPr id="11" name="Text 9"/>
          <p:cNvSpPr txBox="1"/>
          <p:nvPr/>
        </p:nvSpPr>
        <p:spPr>
          <a:xfrm>
            <a:off x="4572000" y="4123944"/>
            <a:ext cx="6556248" cy="6035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In a risk session, one participant rated the Redis cache as high risk. Asked why: “What is a Redis cache?” Not knowing a technology is information about risk.</a:t>
            </a:r>
            <a:endParaRPr lang="en-US" sz="1400" dirty="0"/>
          </a:p>
        </p:txBody>
      </p:sp>
      <p:sp>
        <p:nvSpPr>
          <p:cNvPr id="12" name="Callout"/>
          <p:cNvSpPr/>
          <p:nvPr/>
        </p:nvSpPr>
        <p:spPr>
          <a:xfrm>
            <a:off x="813816" y="5138928"/>
            <a:ext cx="10570464" cy="566928"/>
          </a:xfrm>
          <a:prstGeom prst="roundRect">
            <a:avLst>
              <a:gd name="adj" fmla="val 12903"/>
            </a:avLst>
          </a:prstGeom>
          <a:solidFill>
            <a:schemeClr val="tx1"/>
          </a:solidFill>
          <a:ln/>
        </p:spPr>
      </p:sp>
      <p:sp>
        <p:nvSpPr>
          <p:cNvPr id="13" name="Text 11"/>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Inventory both sides: what the team masters, and what it would be using for the first time.</a:t>
            </a:r>
            <a:endParaRPr lang="en-US" sz="1400" dirty="0"/>
          </a:p>
        </p:txBody>
      </p:sp>
      <p:sp>
        <p:nvSpPr>
          <p:cNvPr id="1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Richards &amp; Ford, Fundamentals of Software Architecture, 2020, ch. 20, p. 306.</a:t>
            </a:r>
            <a:endParaRPr lang="en-US" sz="1100" dirty="0"/>
          </a:p>
        </p:txBody>
      </p:sp>
      <p:sp>
        <p:nvSpPr>
          <p:cNvPr id="1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14 / 37</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RESOURCES 3 AND 4 · TECHNICAL, FINANCIAL</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Technical and financial resources</a:t>
            </a:r>
            <a:endParaRPr lang="en-US" sz="3600" dirty="0"/>
          </a:p>
        </p:txBody>
      </p:sp>
      <p:sp>
        <p:nvSpPr>
          <p:cNvPr id="4" name="Card"/>
          <p:cNvSpPr/>
          <p:nvPr/>
        </p:nvSpPr>
        <p:spPr>
          <a:xfrm>
            <a:off x="813816" y="2148840"/>
            <a:ext cx="5175504" cy="2788920"/>
          </a:xfrm>
          <a:prstGeom prst="roundRect">
            <a:avLst>
              <a:gd name="adj" fmla="val 2623"/>
            </a:avLst>
          </a:prstGeom>
          <a:solidFill>
            <a:schemeClr val="bg1"/>
          </a:solidFill>
          <a:ln w="6350">
            <a:solidFill>
              <a:schemeClr val="accent4"/>
            </a:solidFill>
            <a:prstDash val="solid"/>
          </a:ln>
        </p:spPr>
      </p:sp>
      <p:sp>
        <p:nvSpPr>
          <p:cNvPr id="5" name="Text 3"/>
          <p:cNvSpPr txBox="1"/>
          <p:nvPr/>
        </p:nvSpPr>
        <p:spPr>
          <a:xfrm>
            <a:off x="1069848" y="240487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Technical</a:t>
            </a:r>
            <a:endParaRPr lang="en-US" sz="1200" dirty="0"/>
          </a:p>
        </p:txBody>
      </p:sp>
      <p:sp>
        <p:nvSpPr>
          <p:cNvPr id="6" name="Text 4"/>
          <p:cNvSpPr txBox="1"/>
          <p:nvPr/>
        </p:nvSpPr>
        <p:spPr>
          <a:xfrm>
            <a:off x="1069848" y="2752344"/>
            <a:ext cx="4663440" cy="197510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Stack and environments: development, test, production.</a:t>
            </a:r>
            <a:endParaRPr lang="en-US" sz="1500" dirty="0"/>
          </a:p>
          <a:p>
            <a:pPr marL="177800" indent="-177800">
              <a:spcAft>
                <a:spcPts val="400"/>
              </a:spcAft>
              <a:buSzPct val="100000"/>
              <a:buChar char="•"/>
            </a:pPr>
            <a:r>
              <a:rPr lang="en-US" sz="1500" dirty="0">
                <a:solidFill>
                  <a:schemeClr val="tx2"/>
                </a:solidFill>
              </a:rPr>
              <a:t>CI, hosting, external services and their limits.</a:t>
            </a:r>
            <a:endParaRPr lang="en-US" sz="1500" dirty="0"/>
          </a:p>
          <a:p>
            <a:pPr marL="177800" indent="-177800">
              <a:spcAft>
                <a:spcPts val="400"/>
              </a:spcAft>
              <a:buSzPct val="100000"/>
              <a:buChar char="•"/>
            </a:pPr>
            <a:r>
              <a:rPr lang="en-US" sz="1500" dirty="0">
                <a:solidFill>
                  <a:schemeClr val="tx2"/>
                </a:solidFill>
              </a:rPr>
              <a:t>A project plan has its own section: “hardware and software resource requirements”.</a:t>
            </a:r>
            <a:endParaRPr lang="en-US" sz="1500" dirty="0"/>
          </a:p>
        </p:txBody>
      </p:sp>
      <p:sp>
        <p:nvSpPr>
          <p:cNvPr id="7" name="Card"/>
          <p:cNvSpPr/>
          <p:nvPr/>
        </p:nvSpPr>
        <p:spPr>
          <a:xfrm>
            <a:off x="6208776" y="2148840"/>
            <a:ext cx="5175504" cy="2788920"/>
          </a:xfrm>
          <a:prstGeom prst="roundRect">
            <a:avLst>
              <a:gd name="adj" fmla="val 2623"/>
            </a:avLst>
          </a:prstGeom>
          <a:solidFill>
            <a:schemeClr val="bg1"/>
          </a:solidFill>
          <a:ln w="6350">
            <a:solidFill>
              <a:schemeClr val="accent4"/>
            </a:solidFill>
            <a:prstDash val="solid"/>
          </a:ln>
        </p:spPr>
      </p:sp>
      <p:sp>
        <p:nvSpPr>
          <p:cNvPr id="8" name="Text 6"/>
          <p:cNvSpPr txBox="1"/>
          <p:nvPr/>
        </p:nvSpPr>
        <p:spPr>
          <a:xfrm>
            <a:off x="6464808" y="240487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Financial</a:t>
            </a:r>
            <a:endParaRPr lang="en-US" sz="1200" dirty="0"/>
          </a:p>
        </p:txBody>
      </p:sp>
      <p:sp>
        <p:nvSpPr>
          <p:cNvPr id="9" name="Text 7"/>
          <p:cNvSpPr txBox="1"/>
          <p:nvPr/>
        </p:nvSpPr>
        <p:spPr>
          <a:xfrm>
            <a:off x="6464808" y="2752344"/>
            <a:ext cx="4663440" cy="197510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Effort costs: usually the biggest.</a:t>
            </a:r>
            <a:endParaRPr lang="en-US" sz="1500" dirty="0"/>
          </a:p>
          <a:p>
            <a:pPr marL="177800" indent="-177800">
              <a:spcAft>
                <a:spcPts val="400"/>
              </a:spcAft>
              <a:buSzPct val="100000"/>
              <a:buChar char="•"/>
            </a:pPr>
            <a:r>
              <a:rPr lang="en-US" sz="1500" dirty="0">
                <a:solidFill>
                  <a:schemeClr val="tx2"/>
                </a:solidFill>
              </a:rPr>
              <a:t>Hardware and software costs, licences and support included.</a:t>
            </a:r>
            <a:endParaRPr lang="en-US" sz="1500" dirty="0"/>
          </a:p>
          <a:p>
            <a:pPr marL="177800" indent="-177800">
              <a:spcAft>
                <a:spcPts val="400"/>
              </a:spcAft>
              <a:buSzPct val="100000"/>
              <a:buChar char="•"/>
            </a:pPr>
            <a:r>
              <a:rPr lang="en-US" sz="1500" dirty="0">
                <a:solidFill>
                  <a:schemeClr val="tx2"/>
                </a:solidFill>
              </a:rPr>
              <a:t>Travel and training costs.</a:t>
            </a:r>
            <a:endParaRPr lang="en-US" sz="1500" dirty="0"/>
          </a:p>
        </p:txBody>
      </p:sp>
      <p:sp>
        <p:nvSpPr>
          <p:cNvPr id="10" name="Callout"/>
          <p:cNvSpPr/>
          <p:nvPr/>
        </p:nvSpPr>
        <p:spPr>
          <a:xfrm>
            <a:off x="813816" y="5138928"/>
            <a:ext cx="10570464" cy="566928"/>
          </a:xfrm>
          <a:prstGeom prst="roundRect">
            <a:avLst>
              <a:gd name="adj" fmla="val 12903"/>
            </a:avLst>
          </a:prstGeom>
          <a:solidFill>
            <a:schemeClr val="tx1"/>
          </a:solidFill>
          <a:ln/>
        </p:spPr>
      </p:sp>
      <p:sp>
        <p:nvSpPr>
          <p:cNvPr id="11" name="Text 9"/>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“The fixed factor in many projects is not the project requirements but the cost.” Requirements get negotiated to fit the budget.</a:t>
            </a:r>
            <a:endParaRPr lang="en-US" sz="1400" dirty="0"/>
          </a:p>
        </p:txBody>
      </p:sp>
      <p:sp>
        <p:nvSpPr>
          <p:cNvPr id="12"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p. 669, p. 671, p. 673.</a:t>
            </a:r>
            <a:endParaRPr lang="en-US" sz="1100" dirty="0"/>
          </a:p>
        </p:txBody>
      </p:sp>
      <p:sp>
        <p:nvSpPr>
          <p:cNvPr id="13"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15 / 37</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RESOURCE 5 · ACCESS TO AI</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Access to AI: a resource, but not a turnkey one</a:t>
            </a:r>
            <a:endParaRPr lang="en-US" sz="3600" dirty="0"/>
          </a:p>
        </p:txBody>
      </p:sp>
      <p:sp>
        <p:nvSpPr>
          <p:cNvPr id="4" name="Card"/>
          <p:cNvSpPr/>
          <p:nvPr/>
        </p:nvSpPr>
        <p:spPr>
          <a:xfrm>
            <a:off x="813816" y="2148840"/>
            <a:ext cx="2487168" cy="2697480"/>
          </a:xfrm>
          <a:prstGeom prst="roundRect">
            <a:avLst>
              <a:gd name="adj" fmla="val 2941"/>
            </a:avLst>
          </a:prstGeom>
          <a:solidFill>
            <a:schemeClr val="bg1"/>
          </a:solidFill>
          <a:ln w="6350">
            <a:solidFill>
              <a:schemeClr val="accent4"/>
            </a:solidFill>
            <a:prstDash val="solid"/>
          </a:ln>
        </p:spPr>
      </p:sp>
      <p:sp>
        <p:nvSpPr>
          <p:cNvPr id="5" name="Text 3"/>
          <p:cNvSpPr txBox="1"/>
          <p:nvPr/>
        </p:nvSpPr>
        <p:spPr>
          <a:xfrm>
            <a:off x="106984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Capability</a:t>
            </a:r>
            <a:endParaRPr lang="en-US" sz="1200" dirty="0"/>
          </a:p>
        </p:txBody>
      </p:sp>
      <p:sp>
        <p:nvSpPr>
          <p:cNvPr id="6" name="Text 4"/>
          <p:cNvSpPr txBox="1"/>
          <p:nvPr/>
        </p:nvSpPr>
        <p:spPr>
          <a:xfrm>
            <a:off x="1069848" y="2752344"/>
            <a:ext cx="1975104" cy="188366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Which models, on which plan, and who on the team has them. Usage limits.</a:t>
            </a:r>
            <a:endParaRPr lang="en-US" sz="1600" dirty="0"/>
          </a:p>
        </p:txBody>
      </p:sp>
      <p:sp>
        <p:nvSpPr>
          <p:cNvPr id="7" name="Card"/>
          <p:cNvSpPr/>
          <p:nvPr/>
        </p:nvSpPr>
        <p:spPr>
          <a:xfrm>
            <a:off x="3511296" y="2148840"/>
            <a:ext cx="2487168" cy="2697480"/>
          </a:xfrm>
          <a:prstGeom prst="roundRect">
            <a:avLst>
              <a:gd name="adj" fmla="val 2941"/>
            </a:avLst>
          </a:prstGeom>
          <a:solidFill>
            <a:schemeClr val="bg1"/>
          </a:solidFill>
          <a:ln w="6350">
            <a:solidFill>
              <a:schemeClr val="accent4"/>
            </a:solidFill>
            <a:prstDash val="solid"/>
          </a:ln>
        </p:spPr>
      </p:sp>
      <p:sp>
        <p:nvSpPr>
          <p:cNvPr id="8" name="Text 6"/>
          <p:cNvSpPr txBox="1"/>
          <p:nvPr/>
        </p:nvSpPr>
        <p:spPr>
          <a:xfrm>
            <a:off x="376732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Cost</a:t>
            </a:r>
            <a:endParaRPr lang="en-US" sz="1200" dirty="0"/>
          </a:p>
        </p:txBody>
      </p:sp>
      <p:sp>
        <p:nvSpPr>
          <p:cNvPr id="9" name="Text 7"/>
          <p:cNvSpPr txBox="1"/>
          <p:nvPr/>
        </p:nvSpPr>
        <p:spPr>
          <a:xfrm>
            <a:off x="3767328" y="2752344"/>
            <a:ext cx="1975104" cy="188366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Subscriptions and tokens. In Sommerville's terms: hardware and software costs.</a:t>
            </a:r>
            <a:endParaRPr lang="en-US" sz="1600" dirty="0"/>
          </a:p>
        </p:txBody>
      </p:sp>
      <p:sp>
        <p:nvSpPr>
          <p:cNvPr id="10" name="Card"/>
          <p:cNvSpPr/>
          <p:nvPr/>
        </p:nvSpPr>
        <p:spPr>
          <a:xfrm>
            <a:off x="6208776" y="2148840"/>
            <a:ext cx="2487168" cy="2697480"/>
          </a:xfrm>
          <a:prstGeom prst="roundRect">
            <a:avLst>
              <a:gd name="adj" fmla="val 2941"/>
            </a:avLst>
          </a:prstGeom>
          <a:solidFill>
            <a:schemeClr val="bg1"/>
          </a:solidFill>
          <a:ln w="6350">
            <a:solidFill>
              <a:schemeClr val="accent4"/>
            </a:solidFill>
            <a:prstDash val="solid"/>
          </a:ln>
        </p:spPr>
      </p:sp>
      <p:sp>
        <p:nvSpPr>
          <p:cNvPr id="11" name="Text 9"/>
          <p:cNvSpPr txBox="1"/>
          <p:nvPr/>
        </p:nvSpPr>
        <p:spPr>
          <a:xfrm>
            <a:off x="6464808" y="2404872"/>
            <a:ext cx="197510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Data constraints</a:t>
            </a:r>
            <a:endParaRPr lang="en-US" sz="1200" dirty="0"/>
          </a:p>
        </p:txBody>
      </p:sp>
      <p:sp>
        <p:nvSpPr>
          <p:cNvPr id="12" name="Text 10"/>
          <p:cNvSpPr txBox="1"/>
          <p:nvPr/>
        </p:nvSpPr>
        <p:spPr>
          <a:xfrm>
            <a:off x="6464808" y="2752344"/>
            <a:ext cx="1975104" cy="188366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What data may go into which model: personal data, the client's data, secrets.</a:t>
            </a:r>
            <a:endParaRPr lang="en-US" sz="1600" dirty="0"/>
          </a:p>
        </p:txBody>
      </p:sp>
      <p:sp>
        <p:nvSpPr>
          <p:cNvPr id="13" name="Card"/>
          <p:cNvSpPr/>
          <p:nvPr/>
        </p:nvSpPr>
        <p:spPr>
          <a:xfrm>
            <a:off x="8906256" y="2148840"/>
            <a:ext cx="2487168" cy="2697480"/>
          </a:xfrm>
          <a:prstGeom prst="roundRect">
            <a:avLst>
              <a:gd name="adj" fmla="val 2941"/>
            </a:avLst>
          </a:prstGeom>
          <a:solidFill>
            <a:schemeClr val="tx1"/>
          </a:solidFill>
          <a:ln/>
        </p:spPr>
      </p:sp>
      <p:sp>
        <p:nvSpPr>
          <p:cNvPr id="14" name="Text 12"/>
          <p:cNvSpPr txBox="1"/>
          <p:nvPr/>
        </p:nvSpPr>
        <p:spPr>
          <a:xfrm>
            <a:off x="9162288" y="2404872"/>
            <a:ext cx="1975104"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Not turnkey</a:t>
            </a:r>
            <a:endParaRPr lang="en-US" sz="1200" dirty="0"/>
          </a:p>
        </p:txBody>
      </p:sp>
      <p:sp>
        <p:nvSpPr>
          <p:cNvPr id="15" name="Text 13"/>
          <p:cNvSpPr txBox="1"/>
          <p:nvPr/>
        </p:nvSpPr>
        <p:spPr>
          <a:xfrm>
            <a:off x="9162288" y="2752344"/>
            <a:ext cx="1975104" cy="1883664"/>
          </a:xfrm>
          <a:prstGeom prst="rect">
            <a:avLst/>
          </a:prstGeom>
          <a:noFill/>
          <a:ln/>
        </p:spPr>
        <p:txBody>
          <a:bodyPr wrap="square" lIns="0" tIns="0" rIns="0" bIns="0" rtlCol="0" anchor="t"/>
          <a:lstStyle/>
          <a:p>
            <a:pPr indent="0" marL="0">
              <a:spcAft>
                <a:spcPts val="400"/>
              </a:spcAft>
              <a:buNone/>
            </a:pPr>
            <a:r>
              <a:rPr lang="en-US" sz="1500" dirty="0">
                <a:solidFill>
                  <a:schemeClr val="accent5"/>
                </a:solidFill>
              </a:rPr>
              <a:t>An agent that can act needs what a new colleague needs: a role, a scope, sources of truth, someone to escalate to. Next slide.</a:t>
            </a:r>
            <a:endParaRPr lang="en-US" sz="1500" dirty="0"/>
          </a:p>
        </p:txBody>
      </p:sp>
      <p:sp>
        <p:nvSpPr>
          <p:cNvPr id="16" name="Callout"/>
          <p:cNvSpPr/>
          <p:nvPr/>
        </p:nvSpPr>
        <p:spPr>
          <a:xfrm>
            <a:off x="813816" y="5138928"/>
            <a:ext cx="10570464" cy="566928"/>
          </a:xfrm>
          <a:prstGeom prst="roundRect">
            <a:avLst>
              <a:gd name="adj" fmla="val 12903"/>
            </a:avLst>
          </a:prstGeom>
          <a:solidFill>
            <a:schemeClr val="tx1"/>
          </a:solidFill>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In companies, too, access is budgeted and uneven: someone decides who gets which model. Planning with what you actually have is part of the job.</a:t>
            </a:r>
            <a:endParaRPr lang="en-US" sz="1400" dirty="0"/>
          </a:p>
        </p:txBody>
      </p:sp>
      <p:sp>
        <p:nvSpPr>
          <p:cNvPr id="18"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Course framing; cost category: Sommerville, Software Engineering, 10th ed., p. 669; “not turnkey”: Telang, Hydari, Iqbal, HBR, Sep–Oct 2026.</a:t>
            </a:r>
            <a:endParaRPr lang="en-US" sz="1100" dirty="0"/>
          </a:p>
        </p:txBody>
      </p:sp>
      <p:sp>
        <p:nvSpPr>
          <p:cNvPr id="19"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16 / 37</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RESOURCE 5 · ACCESS TO AI, CONTINUED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Onboard the agent like a team member</a:t>
            </a:r>
            <a:endParaRPr lang="en-US" sz="3600" dirty="0"/>
          </a:p>
        </p:txBody>
      </p:sp>
      <p:sp>
        <p:nvSpPr>
          <p:cNvPr id="4" name="Card"/>
          <p:cNvSpPr/>
          <p:nvPr/>
        </p:nvSpPr>
        <p:spPr>
          <a:xfrm>
            <a:off x="813816" y="2057400"/>
            <a:ext cx="3017520" cy="1417320"/>
          </a:xfrm>
          <a:prstGeom prst="roundRect">
            <a:avLst>
              <a:gd name="adj" fmla="val 5161"/>
            </a:avLst>
          </a:prstGeom>
          <a:solidFill>
            <a:schemeClr val="bg1"/>
          </a:solidFill>
          <a:ln w="6350">
            <a:solidFill>
              <a:schemeClr val="accent4"/>
            </a:solidFill>
            <a:prstDash val="solid"/>
          </a:ln>
        </p:spPr>
      </p:sp>
      <p:sp>
        <p:nvSpPr>
          <p:cNvPr id="5" name="Text 3"/>
          <p:cNvSpPr txBox="1"/>
          <p:nvPr/>
        </p:nvSpPr>
        <p:spPr>
          <a:xfrm>
            <a:off x="996696" y="2240280"/>
            <a:ext cx="26517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Identity and scope</a:t>
            </a:r>
            <a:endParaRPr lang="en-US" sz="1200" dirty="0"/>
          </a:p>
        </p:txBody>
      </p:sp>
      <p:sp>
        <p:nvSpPr>
          <p:cNvPr id="6" name="Text 4"/>
          <p:cNvSpPr txBox="1"/>
          <p:nvPr/>
        </p:nvSpPr>
        <p:spPr>
          <a:xfrm>
            <a:off x="996696" y="2587752"/>
            <a:ext cx="2651760"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Its own permissions, least privilege. In your repo: what may the agent touch? Can it push to main?</a:t>
            </a:r>
            <a:endParaRPr lang="en-US" sz="1300" dirty="0"/>
          </a:p>
        </p:txBody>
      </p:sp>
      <p:sp>
        <p:nvSpPr>
          <p:cNvPr id="7" name="Card"/>
          <p:cNvSpPr/>
          <p:nvPr/>
        </p:nvSpPr>
        <p:spPr>
          <a:xfrm>
            <a:off x="3968496" y="2057400"/>
            <a:ext cx="3017520" cy="1417320"/>
          </a:xfrm>
          <a:prstGeom prst="roundRect">
            <a:avLst>
              <a:gd name="adj" fmla="val 5161"/>
            </a:avLst>
          </a:prstGeom>
          <a:solidFill>
            <a:schemeClr val="bg1"/>
          </a:solidFill>
          <a:ln w="6350">
            <a:solidFill>
              <a:schemeClr val="accent4"/>
            </a:solidFill>
            <a:prstDash val="solid"/>
          </a:ln>
        </p:spPr>
      </p:sp>
      <p:sp>
        <p:nvSpPr>
          <p:cNvPr id="8" name="Text 6"/>
          <p:cNvSpPr txBox="1"/>
          <p:nvPr/>
        </p:nvSpPr>
        <p:spPr>
          <a:xfrm>
            <a:off x="4151376" y="2240280"/>
            <a:ext cx="26517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Sources of truth</a:t>
            </a:r>
            <a:endParaRPr lang="en-US" sz="1200" dirty="0"/>
          </a:p>
        </p:txBody>
      </p:sp>
      <p:sp>
        <p:nvSpPr>
          <p:cNvPr id="9" name="Text 7"/>
          <p:cNvSpPr txBox="1"/>
          <p:nvPr/>
        </p:nvSpPr>
        <p:spPr>
          <a:xfrm>
            <a:off x="4151376" y="2587752"/>
            <a:ext cx="2651760"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Which documents it trusts: the spec, the README, your direction sheet. Outdated context leads to wrong actions.</a:t>
            </a:r>
            <a:endParaRPr lang="en-US" sz="1300" dirty="0"/>
          </a:p>
        </p:txBody>
      </p:sp>
      <p:sp>
        <p:nvSpPr>
          <p:cNvPr id="10" name="Card"/>
          <p:cNvSpPr/>
          <p:nvPr/>
        </p:nvSpPr>
        <p:spPr>
          <a:xfrm>
            <a:off x="813816" y="3566160"/>
            <a:ext cx="3017520" cy="1417320"/>
          </a:xfrm>
          <a:prstGeom prst="roundRect">
            <a:avLst>
              <a:gd name="adj" fmla="val 5161"/>
            </a:avLst>
          </a:prstGeom>
          <a:solidFill>
            <a:schemeClr val="bg1"/>
          </a:solidFill>
          <a:ln w="6350">
            <a:solidFill>
              <a:schemeClr val="accent4"/>
            </a:solidFill>
            <a:prstDash val="solid"/>
          </a:ln>
        </p:spPr>
      </p:sp>
      <p:sp>
        <p:nvSpPr>
          <p:cNvPr id="11" name="Text 9"/>
          <p:cNvSpPr txBox="1"/>
          <p:nvPr/>
        </p:nvSpPr>
        <p:spPr>
          <a:xfrm>
            <a:off x="996696" y="3749040"/>
            <a:ext cx="26517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Hard boundaries</a:t>
            </a:r>
            <a:endParaRPr lang="en-US" sz="1200" dirty="0"/>
          </a:p>
        </p:txBody>
      </p:sp>
      <p:sp>
        <p:nvSpPr>
          <p:cNvPr id="12" name="Text 10"/>
          <p:cNvSpPr txBox="1"/>
          <p:nvPr/>
        </p:nvSpPr>
        <p:spPr>
          <a:xfrm>
            <a:off x="996696" y="4096512"/>
            <a:ext cx="2651760"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agent proposes, deterministic checks decide: tests, CI, review before merge.</a:t>
            </a:r>
            <a:endParaRPr lang="en-US" sz="1300" dirty="0"/>
          </a:p>
        </p:txBody>
      </p:sp>
      <p:sp>
        <p:nvSpPr>
          <p:cNvPr id="13" name="Card"/>
          <p:cNvSpPr/>
          <p:nvPr/>
        </p:nvSpPr>
        <p:spPr>
          <a:xfrm>
            <a:off x="3968496" y="3566160"/>
            <a:ext cx="3017520" cy="1417320"/>
          </a:xfrm>
          <a:prstGeom prst="roundRect">
            <a:avLst>
              <a:gd name="adj" fmla="val 5161"/>
            </a:avLst>
          </a:prstGeom>
          <a:solidFill>
            <a:schemeClr val="bg1"/>
          </a:solidFill>
          <a:ln w="6350">
            <a:solidFill>
              <a:schemeClr val="accent4"/>
            </a:solidFill>
            <a:prstDash val="solid"/>
          </a:ln>
        </p:spPr>
      </p:sp>
      <p:sp>
        <p:nvSpPr>
          <p:cNvPr id="14" name="Text 12"/>
          <p:cNvSpPr txBox="1"/>
          <p:nvPr/>
        </p:nvSpPr>
        <p:spPr>
          <a:xfrm>
            <a:off x="4151376" y="3749040"/>
            <a:ext cx="265176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Accountability</a:t>
            </a:r>
            <a:endParaRPr lang="en-US" sz="1200" dirty="0"/>
          </a:p>
        </p:txBody>
      </p:sp>
      <p:sp>
        <p:nvSpPr>
          <p:cNvPr id="15" name="Text 13"/>
          <p:cNvSpPr txBox="1"/>
          <p:nvPr/>
        </p:nvSpPr>
        <p:spPr>
          <a:xfrm>
            <a:off x="4151376" y="4096512"/>
            <a:ext cx="2651760"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Someone owns what it does. Air Canada was held responsible for its chatbot's answer (Moffatt v. Air Canada, 2024).</a:t>
            </a:r>
            <a:endParaRPr lang="en-US" sz="1300" dirty="0"/>
          </a:p>
        </p:txBody>
      </p:sp>
      <p:sp>
        <p:nvSpPr>
          <p:cNvPr id="16" name="Autonomy ladder"/>
          <p:cNvSpPr/>
          <p:nvPr/>
        </p:nvSpPr>
        <p:spPr>
          <a:xfrm>
            <a:off x="7242048" y="2057400"/>
            <a:ext cx="4142232" cy="2926080"/>
          </a:xfrm>
          <a:prstGeom prst="roundRect">
            <a:avLst>
              <a:gd name="adj" fmla="val 2500"/>
            </a:avLst>
          </a:prstGeom>
          <a:solidFill>
            <a:schemeClr val="tx1"/>
          </a:solidFill>
          <a:ln/>
        </p:spPr>
      </p:sp>
      <p:sp>
        <p:nvSpPr>
          <p:cNvPr id="17" name="Text 15"/>
          <p:cNvSpPr txBox="1"/>
          <p:nvPr/>
        </p:nvSpPr>
        <p:spPr>
          <a:xfrm>
            <a:off x="7424928" y="2212848"/>
            <a:ext cx="374904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The autonomy ladder</a:t>
            </a:r>
            <a:endParaRPr lang="en-US" sz="1200" dirty="0"/>
          </a:p>
        </p:txBody>
      </p:sp>
      <p:sp>
        <p:nvSpPr>
          <p:cNvPr id="18" name="Rung"/>
          <p:cNvSpPr/>
          <p:nvPr/>
        </p:nvSpPr>
        <p:spPr>
          <a:xfrm>
            <a:off x="7424928" y="2578608"/>
            <a:ext cx="3776472" cy="493776"/>
          </a:xfrm>
          <a:prstGeom prst="roundRect">
            <a:avLst>
              <a:gd name="adj" fmla="val 11111"/>
            </a:avLst>
          </a:prstGeom>
          <a:solidFill>
            <a:schemeClr val="accent2"/>
          </a:solidFill>
          <a:ln/>
        </p:spPr>
      </p:sp>
      <p:sp>
        <p:nvSpPr>
          <p:cNvPr id="19" name="Text 17"/>
          <p:cNvSpPr txBox="1"/>
          <p:nvPr/>
        </p:nvSpPr>
        <p:spPr>
          <a:xfrm>
            <a:off x="7543800" y="2578608"/>
            <a:ext cx="320040" cy="493776"/>
          </a:xfrm>
          <a:prstGeom prst="rect">
            <a:avLst/>
          </a:prstGeom>
          <a:noFill/>
          <a:ln/>
        </p:spPr>
        <p:txBody>
          <a:bodyPr wrap="square" lIns="0" tIns="0" rIns="0" bIns="0" rtlCol="0" anchor="ctr"/>
          <a:lstStyle/>
          <a:p>
            <a:pPr indent="0" marL="0">
              <a:buNone/>
            </a:pPr>
            <a:r>
              <a:rPr lang="en-US" sz="1600" b="1" dirty="0">
                <a:solidFill>
                  <a:schemeClr val="tx1"/>
                </a:solidFill>
              </a:rPr>
              <a:t>4</a:t>
            </a:r>
            <a:endParaRPr lang="en-US" sz="1600" dirty="0"/>
          </a:p>
        </p:txBody>
      </p:sp>
      <p:sp>
        <p:nvSpPr>
          <p:cNvPr id="20" name="Text 18"/>
          <p:cNvSpPr txBox="1"/>
          <p:nvPr/>
        </p:nvSpPr>
        <p:spPr>
          <a:xfrm>
            <a:off x="7882128" y="2578608"/>
            <a:ext cx="3246120" cy="493776"/>
          </a:xfrm>
          <a:prstGeom prst="rect">
            <a:avLst/>
          </a:prstGeom>
          <a:noFill/>
          <a:ln/>
        </p:spPr>
        <p:txBody>
          <a:bodyPr wrap="square" lIns="0" tIns="0" rIns="0" bIns="0" rtlCol="0" anchor="ctr"/>
          <a:lstStyle/>
          <a:p>
            <a:pPr indent="0" marL="0">
              <a:buNone/>
            </a:pPr>
            <a:r>
              <a:rPr lang="en-US" sz="1300" b="1" dirty="0">
                <a:solidFill>
                  <a:schemeClr val="tx1"/>
                </a:solidFill>
              </a:rPr>
              <a:t>Bounded autonomy</a:t>
            </a:r>
            <a:endParaRPr lang="en-US" sz="1300" dirty="0"/>
          </a:p>
          <a:p>
            <a:pPr indent="0" marL="0">
              <a:buNone/>
            </a:pPr>
            <a:r>
              <a:rPr lang="en-US" sz="1100" dirty="0">
                <a:solidFill>
                  <a:schemeClr val="tx1"/>
                </a:solidFill>
              </a:rPr>
              <a:t>acts alone, within narrow limits</a:t>
            </a:r>
            <a:endParaRPr lang="en-US" sz="1300" dirty="0"/>
          </a:p>
        </p:txBody>
      </p:sp>
      <p:sp>
        <p:nvSpPr>
          <p:cNvPr id="21" name="Rung"/>
          <p:cNvSpPr/>
          <p:nvPr/>
        </p:nvSpPr>
        <p:spPr>
          <a:xfrm>
            <a:off x="7424928" y="3154680"/>
            <a:ext cx="3776472" cy="493776"/>
          </a:xfrm>
          <a:prstGeom prst="roundRect">
            <a:avLst>
              <a:gd name="adj" fmla="val 11111"/>
            </a:avLst>
          </a:prstGeom>
          <a:solidFill>
            <a:schemeClr val="tx2"/>
          </a:solidFill>
          <a:ln/>
        </p:spPr>
      </p:sp>
      <p:sp>
        <p:nvSpPr>
          <p:cNvPr id="22" name="Text 20"/>
          <p:cNvSpPr txBox="1"/>
          <p:nvPr/>
        </p:nvSpPr>
        <p:spPr>
          <a:xfrm>
            <a:off x="7543800" y="3154680"/>
            <a:ext cx="320040" cy="493776"/>
          </a:xfrm>
          <a:prstGeom prst="rect">
            <a:avLst/>
          </a:prstGeom>
          <a:noFill/>
          <a:ln/>
        </p:spPr>
        <p:txBody>
          <a:bodyPr wrap="square" lIns="0" tIns="0" rIns="0" bIns="0" rtlCol="0" anchor="ctr"/>
          <a:lstStyle/>
          <a:p>
            <a:pPr indent="0" marL="0">
              <a:buNone/>
            </a:pPr>
            <a:r>
              <a:rPr lang="en-US" sz="1600" b="1" dirty="0">
                <a:solidFill>
                  <a:schemeClr val="accent2"/>
                </a:solidFill>
              </a:rPr>
              <a:t>3</a:t>
            </a:r>
            <a:endParaRPr lang="en-US" sz="1600" dirty="0"/>
          </a:p>
        </p:txBody>
      </p:sp>
      <p:sp>
        <p:nvSpPr>
          <p:cNvPr id="23" name="Text 21"/>
          <p:cNvSpPr txBox="1"/>
          <p:nvPr/>
        </p:nvSpPr>
        <p:spPr>
          <a:xfrm>
            <a:off x="7882128" y="3154680"/>
            <a:ext cx="3246120" cy="493776"/>
          </a:xfrm>
          <a:prstGeom prst="rect">
            <a:avLst/>
          </a:prstGeom>
          <a:noFill/>
          <a:ln/>
        </p:spPr>
        <p:txBody>
          <a:bodyPr wrap="square" lIns="0" tIns="0" rIns="0" bIns="0" rtlCol="0" anchor="ctr"/>
          <a:lstStyle/>
          <a:p>
            <a:pPr indent="0" marL="0">
              <a:buNone/>
            </a:pPr>
            <a:r>
              <a:rPr lang="en-US" sz="1300" b="1" dirty="0">
                <a:solidFill>
                  <a:schemeClr val="bg2"/>
                </a:solidFill>
              </a:rPr>
              <a:t>Supervised actions</a:t>
            </a:r>
            <a:endParaRPr lang="en-US" sz="1300" dirty="0"/>
          </a:p>
          <a:p>
            <a:pPr indent="0" marL="0">
              <a:buNone/>
            </a:pPr>
            <a:r>
              <a:rPr lang="en-US" sz="1100" dirty="0">
                <a:solidFill>
                  <a:schemeClr val="bg2"/>
                </a:solidFill>
              </a:rPr>
              <a:t>proposes, a person confirms</a:t>
            </a:r>
            <a:endParaRPr lang="en-US" sz="1300" dirty="0"/>
          </a:p>
        </p:txBody>
      </p:sp>
      <p:sp>
        <p:nvSpPr>
          <p:cNvPr id="24" name="Rung"/>
          <p:cNvSpPr/>
          <p:nvPr/>
        </p:nvSpPr>
        <p:spPr>
          <a:xfrm>
            <a:off x="7424928" y="3730752"/>
            <a:ext cx="3776472" cy="493776"/>
          </a:xfrm>
          <a:prstGeom prst="roundRect">
            <a:avLst>
              <a:gd name="adj" fmla="val 11111"/>
            </a:avLst>
          </a:prstGeom>
          <a:solidFill>
            <a:schemeClr val="tx2"/>
          </a:solidFill>
          <a:ln/>
        </p:spPr>
      </p:sp>
      <p:sp>
        <p:nvSpPr>
          <p:cNvPr id="25" name="Text 23"/>
          <p:cNvSpPr txBox="1"/>
          <p:nvPr/>
        </p:nvSpPr>
        <p:spPr>
          <a:xfrm>
            <a:off x="7543800" y="3730752"/>
            <a:ext cx="320040" cy="493776"/>
          </a:xfrm>
          <a:prstGeom prst="rect">
            <a:avLst/>
          </a:prstGeom>
          <a:noFill/>
          <a:ln/>
        </p:spPr>
        <p:txBody>
          <a:bodyPr wrap="square" lIns="0" tIns="0" rIns="0" bIns="0" rtlCol="0" anchor="ctr"/>
          <a:lstStyle/>
          <a:p>
            <a:pPr indent="0" marL="0">
              <a:buNone/>
            </a:pPr>
            <a:r>
              <a:rPr lang="en-US" sz="1600" b="1" dirty="0">
                <a:solidFill>
                  <a:schemeClr val="accent2"/>
                </a:solidFill>
              </a:rPr>
              <a:t>2</a:t>
            </a:r>
            <a:endParaRPr lang="en-US" sz="1600" dirty="0"/>
          </a:p>
        </p:txBody>
      </p:sp>
      <p:sp>
        <p:nvSpPr>
          <p:cNvPr id="26" name="Text 24"/>
          <p:cNvSpPr txBox="1"/>
          <p:nvPr/>
        </p:nvSpPr>
        <p:spPr>
          <a:xfrm>
            <a:off x="7882128" y="3730752"/>
            <a:ext cx="3246120" cy="493776"/>
          </a:xfrm>
          <a:prstGeom prst="rect">
            <a:avLst/>
          </a:prstGeom>
          <a:noFill/>
          <a:ln/>
        </p:spPr>
        <p:txBody>
          <a:bodyPr wrap="square" lIns="0" tIns="0" rIns="0" bIns="0" rtlCol="0" anchor="ctr"/>
          <a:lstStyle/>
          <a:p>
            <a:pPr indent="0" marL="0">
              <a:buNone/>
            </a:pPr>
            <a:r>
              <a:rPr lang="en-US" sz="1300" b="1" dirty="0">
                <a:solidFill>
                  <a:schemeClr val="bg2"/>
                </a:solidFill>
              </a:rPr>
              <a:t>Retrieval with guardrails</a:t>
            </a:r>
            <a:endParaRPr lang="en-US" sz="1300" dirty="0"/>
          </a:p>
          <a:p>
            <a:pPr indent="0" marL="0">
              <a:buNone/>
            </a:pPr>
            <a:r>
              <a:rPr lang="en-US" sz="1100" dirty="0">
                <a:solidFill>
                  <a:schemeClr val="bg2"/>
                </a:solidFill>
              </a:rPr>
              <a:t>answers from governed sources</a:t>
            </a:r>
            <a:endParaRPr lang="en-US" sz="1300" dirty="0"/>
          </a:p>
        </p:txBody>
      </p:sp>
      <p:sp>
        <p:nvSpPr>
          <p:cNvPr id="27" name="Rung"/>
          <p:cNvSpPr/>
          <p:nvPr/>
        </p:nvSpPr>
        <p:spPr>
          <a:xfrm>
            <a:off x="7424928" y="4306824"/>
            <a:ext cx="3776472" cy="493776"/>
          </a:xfrm>
          <a:prstGeom prst="roundRect">
            <a:avLst>
              <a:gd name="adj" fmla="val 11111"/>
            </a:avLst>
          </a:prstGeom>
          <a:solidFill>
            <a:schemeClr val="tx2"/>
          </a:solidFill>
          <a:ln/>
        </p:spPr>
      </p:sp>
      <p:sp>
        <p:nvSpPr>
          <p:cNvPr id="28" name="Text 26"/>
          <p:cNvSpPr txBox="1"/>
          <p:nvPr/>
        </p:nvSpPr>
        <p:spPr>
          <a:xfrm>
            <a:off x="7543800" y="4306824"/>
            <a:ext cx="320040" cy="493776"/>
          </a:xfrm>
          <a:prstGeom prst="rect">
            <a:avLst/>
          </a:prstGeom>
          <a:noFill/>
          <a:ln/>
        </p:spPr>
        <p:txBody>
          <a:bodyPr wrap="square" lIns="0" tIns="0" rIns="0" bIns="0" rtlCol="0" anchor="ctr"/>
          <a:lstStyle/>
          <a:p>
            <a:pPr indent="0" marL="0">
              <a:buNone/>
            </a:pPr>
            <a:r>
              <a:rPr lang="en-US" sz="1600" b="1" dirty="0">
                <a:solidFill>
                  <a:schemeClr val="accent2"/>
                </a:solidFill>
              </a:rPr>
              <a:t>1</a:t>
            </a:r>
            <a:endParaRPr lang="en-US" sz="1600" dirty="0"/>
          </a:p>
        </p:txBody>
      </p:sp>
      <p:sp>
        <p:nvSpPr>
          <p:cNvPr id="29" name="Text 27"/>
          <p:cNvSpPr txBox="1"/>
          <p:nvPr/>
        </p:nvSpPr>
        <p:spPr>
          <a:xfrm>
            <a:off x="7882128" y="4306824"/>
            <a:ext cx="3246120" cy="493776"/>
          </a:xfrm>
          <a:prstGeom prst="rect">
            <a:avLst/>
          </a:prstGeom>
          <a:noFill/>
          <a:ln/>
        </p:spPr>
        <p:txBody>
          <a:bodyPr wrap="square" lIns="0" tIns="0" rIns="0" bIns="0" rtlCol="0" anchor="ctr"/>
          <a:lstStyle/>
          <a:p>
            <a:pPr indent="0" marL="0">
              <a:buNone/>
            </a:pPr>
            <a:r>
              <a:rPr lang="en-US" sz="1300" b="1" dirty="0">
                <a:solidFill>
                  <a:schemeClr val="bg2"/>
                </a:solidFill>
              </a:rPr>
              <a:t>Assistive output</a:t>
            </a:r>
            <a:endParaRPr lang="en-US" sz="1300" dirty="0"/>
          </a:p>
          <a:p>
            <a:pPr indent="0" marL="0">
              <a:buNone/>
            </a:pPr>
            <a:r>
              <a:rPr lang="en-US" sz="1100" dirty="0">
                <a:solidFill>
                  <a:schemeClr val="bg2"/>
                </a:solidFill>
              </a:rPr>
              <a:t>drafts that humans review</a:t>
            </a:r>
            <a:endParaRPr lang="en-US" sz="1300" dirty="0"/>
          </a:p>
        </p:txBody>
      </p:sp>
      <p:sp>
        <p:nvSpPr>
          <p:cNvPr id="30" name="Callout"/>
          <p:cNvSpPr/>
          <p:nvPr/>
        </p:nvSpPr>
        <p:spPr>
          <a:xfrm>
            <a:off x="813816" y="5138928"/>
            <a:ext cx="10570464" cy="566928"/>
          </a:xfrm>
          <a:prstGeom prst="roundRect">
            <a:avLst>
              <a:gd name="adj" fmla="val 12903"/>
            </a:avLst>
          </a:prstGeom>
          <a:solidFill>
            <a:schemeClr val="tx1"/>
          </a:solidFill>
          <a:ln/>
        </p:spPr>
      </p:sp>
      <p:sp>
        <p:nvSpPr>
          <p:cNvPr id="31" name="Text 29"/>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 chatbot creates content risk: it might say something wrong. An agent creates execution risk: it might do something wrong.</a:t>
            </a:r>
            <a:endParaRPr lang="en-US" sz="1400" dirty="0"/>
          </a:p>
        </p:txBody>
      </p:sp>
      <p:sp>
        <p:nvSpPr>
          <p:cNvPr id="32"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Telang, Hydari, Iqbal, “Think of Them as Team Members”, HBR, Sep–Oct 2026, p. 26–29; adapted.</a:t>
            </a:r>
            <a:endParaRPr lang="en-US" sz="1100" dirty="0"/>
          </a:p>
        </p:txBody>
      </p:sp>
      <p:sp>
        <p:nvSpPr>
          <p:cNvPr id="33"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17 / 37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813816" y="1371600"/>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DISCUSSION</a:t>
            </a:r>
            <a:endParaRPr lang="en-US" sz="1200" dirty="0"/>
          </a:p>
        </p:txBody>
      </p:sp>
      <p:sp>
        <p:nvSpPr>
          <p:cNvPr id="3" name="Text 0"/>
          <p:cNvSpPr/>
          <p:nvPr>
            <p:ph idx="100" type="title" hasCustomPrompt="1"/>
          </p:nvPr>
        </p:nvSpPr>
        <p:spPr>
          <a:xfrm>
            <a:off x="813816" y="1737360"/>
            <a:ext cx="10881360" cy="2377440"/>
          </a:xfrm>
          <a:prstGeom prst="rect">
            <a:avLst/>
          </a:prstGeom>
          <a:noFill/>
          <a:ln/>
        </p:spPr>
        <p:txBody>
          <a:bodyPr wrap="square" lIns="0" tIns="0" rIns="0" bIns="0" rtlCol="0" anchor="b"/>
          <a:lstStyle/>
          <a:p>
            <a:pPr algn="l" indent="0" marL="0">
              <a:buNone/>
            </a:pPr>
            <a:r>
              <a:rPr lang="en-US" sz="5400" b="1" dirty="0">
                <a:solidFill>
                  <a:schemeClr val="tx1"/>
                </a:solidFill>
              </a:rPr>
              <a:t>Who decides who gets which model, and what may go into it?</a:t>
            </a:r>
            <a:endParaRPr lang="en-US" sz="5400" dirty="0"/>
          </a:p>
        </p:txBody>
      </p:sp>
      <p:sp>
        <p:nvSpPr>
          <p:cNvPr id="4" name="Text 2"/>
          <p:cNvSpPr txBox="1"/>
          <p:nvPr/>
        </p:nvSpPr>
        <p:spPr>
          <a:xfrm>
            <a:off x="813816" y="4343400"/>
            <a:ext cx="10241280" cy="457200"/>
          </a:xfrm>
          <a:prstGeom prst="rect">
            <a:avLst/>
          </a:prstGeom>
          <a:noFill/>
          <a:ln/>
        </p:spPr>
        <p:txBody>
          <a:bodyPr wrap="square" lIns="0" tIns="0" rIns="0" bIns="0" rtlCol="0" anchor="t"/>
          <a:lstStyle/>
          <a:p>
            <a:pPr indent="0" marL="0">
              <a:buNone/>
            </a:pPr>
            <a:r>
              <a:rPr lang="en-US" sz="2000" dirty="0">
                <a:solidFill>
                  <a:schemeClr val="tx1"/>
                </a:solidFill>
              </a:rPr>
              <a:t>How access to AI is planned, paid for and restricted in a real organization.</a:t>
            </a:r>
            <a:endParaRPr lang="en-US" sz="20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18 / 37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ESTIMATION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Early estimates are wide and self-fulfilling</a:t>
            </a:r>
            <a:endParaRPr lang="en-US" sz="3600" dirty="0"/>
          </a:p>
        </p:txBody>
      </p:sp>
      <p:sp>
        <p:nvSpPr>
          <p:cNvPr id="4" name="Figure card"/>
          <p:cNvSpPr/>
          <p:nvPr/>
        </p:nvSpPr>
        <p:spPr>
          <a:xfrm>
            <a:off x="813816" y="2148840"/>
            <a:ext cx="5760720" cy="2788920"/>
          </a:xfrm>
          <a:prstGeom prst="roundRect">
            <a:avLst>
              <a:gd name="adj" fmla="val 2623"/>
            </a:avLst>
          </a:prstGeom>
          <a:solidFill>
            <a:schemeClr val="bg1"/>
          </a:solidFill>
          <a:ln w="6350">
            <a:solidFill>
              <a:schemeClr val="accent4"/>
            </a:solidFill>
            <a:prstDash val="solid"/>
          </a:ln>
        </p:spPr>
      </p:sp>
      <p:pic>
        <p:nvPicPr>
          <p:cNvPr id="5" name="Figure" descr="sommerville-fig23.9-conul-incertitudinii-p683.png">    </p:cNvPr>
          <p:cNvPicPr>
            <a:picLocks noChangeAspect="1"/>
          </p:cNvPicPr>
          <p:nvPr/>
        </p:nvPicPr>
        <p:blipFill>
          <a:blip r:embed="rId1"/>
          <a:stretch>
            <a:fillRect/>
          </a:stretch>
        </p:blipFill>
        <p:spPr>
          <a:xfrm>
            <a:off x="1605836" y="2313432"/>
            <a:ext cx="4176680" cy="2459736"/>
          </a:xfrm>
          <a:prstGeom prst="rect">
            <a:avLst/>
          </a:prstGeom>
        </p:spPr>
      </p:pic>
      <p:sp>
        <p:nvSpPr>
          <p:cNvPr id="6" name="Card"/>
          <p:cNvSpPr/>
          <p:nvPr/>
        </p:nvSpPr>
        <p:spPr>
          <a:xfrm>
            <a:off x="6784848" y="2148840"/>
            <a:ext cx="4599432" cy="1325880"/>
          </a:xfrm>
          <a:prstGeom prst="roundRect">
            <a:avLst>
              <a:gd name="adj" fmla="val 5517"/>
            </a:avLst>
          </a:prstGeom>
          <a:solidFill>
            <a:schemeClr val="bg1"/>
          </a:solidFill>
          <a:ln w="6350">
            <a:solidFill>
              <a:schemeClr val="accent4"/>
            </a:solidFill>
            <a:prstDash val="solid"/>
          </a:ln>
        </p:spPr>
      </p:sp>
      <p:sp>
        <p:nvSpPr>
          <p:cNvPr id="7" name="Text 4"/>
          <p:cNvSpPr txBox="1"/>
          <p:nvPr/>
        </p:nvSpPr>
        <p:spPr>
          <a:xfrm>
            <a:off x="7040880" y="2404872"/>
            <a:ext cx="408736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0.25x to 4x</a:t>
            </a:r>
            <a:endParaRPr lang="en-US" sz="1200" dirty="0"/>
          </a:p>
        </p:txBody>
      </p:sp>
      <p:sp>
        <p:nvSpPr>
          <p:cNvPr id="8" name="Text 5"/>
          <p:cNvSpPr txBox="1"/>
          <p:nvPr/>
        </p:nvSpPr>
        <p:spPr>
          <a:xfrm>
            <a:off x="7040880" y="2752344"/>
            <a:ext cx="4087368" cy="51206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At the feasibility stage, the actual effort ranged from a quarter to four times the estimate (Boehm et al.).</a:t>
            </a:r>
            <a:endParaRPr lang="en-US" sz="1300" dirty="0"/>
          </a:p>
        </p:txBody>
      </p:sp>
      <p:sp>
        <p:nvSpPr>
          <p:cNvPr id="9" name="Card"/>
          <p:cNvSpPr/>
          <p:nvPr/>
        </p:nvSpPr>
        <p:spPr>
          <a:xfrm>
            <a:off x="6784848" y="3611880"/>
            <a:ext cx="4599432" cy="1325880"/>
          </a:xfrm>
          <a:prstGeom prst="roundRect">
            <a:avLst>
              <a:gd name="adj" fmla="val 5517"/>
            </a:avLst>
          </a:prstGeom>
          <a:solidFill>
            <a:schemeClr val="bg1"/>
          </a:solidFill>
          <a:ln w="6350">
            <a:solidFill>
              <a:schemeClr val="accent4"/>
            </a:solidFill>
            <a:prstDash val="solid"/>
          </a:ln>
        </p:spPr>
      </p:sp>
      <p:sp>
        <p:nvSpPr>
          <p:cNvPr id="10" name="Text 7"/>
          <p:cNvSpPr txBox="1"/>
          <p:nvPr/>
        </p:nvSpPr>
        <p:spPr>
          <a:xfrm>
            <a:off x="7040880" y="3867912"/>
            <a:ext cx="408736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Self-fulfilling</a:t>
            </a:r>
            <a:endParaRPr lang="en-US" sz="1200" dirty="0"/>
          </a:p>
        </p:txBody>
      </p:sp>
      <p:sp>
        <p:nvSpPr>
          <p:cNvPr id="11" name="Text 8"/>
          <p:cNvSpPr txBox="1"/>
          <p:nvPr/>
        </p:nvSpPr>
        <p:spPr>
          <a:xfrm>
            <a:off x="7040880" y="4215384"/>
            <a:ext cx="4087368" cy="51206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estimate becomes the budget, and the product is adjusted to fit it, often at the expense of features.</a:t>
            </a:r>
            <a:endParaRPr lang="en-US" sz="1300" dirty="0"/>
          </a:p>
        </p:txBody>
      </p:sp>
      <p:sp>
        <p:nvSpPr>
          <p:cNvPr id="12" name="Callout"/>
          <p:cNvSpPr/>
          <p:nvPr/>
        </p:nvSpPr>
        <p:spPr>
          <a:xfrm>
            <a:off x="813816" y="5138928"/>
            <a:ext cx="10570464" cy="566928"/>
          </a:xfrm>
          <a:prstGeom prst="roundRect">
            <a:avLst>
              <a:gd name="adj" fmla="val 12903"/>
            </a:avLst>
          </a:prstGeom>
          <a:solidFill>
            <a:schemeClr val="tx1"/>
          </a:solidFill>
          <a:ln/>
        </p:spPr>
      </p:sp>
      <p:sp>
        <p:nvSpPr>
          <p:cNvPr id="13" name="Text 10"/>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Sommerville measures size in lines of code. Question for you: what does the “size” of a system mean when the code is generated?</a:t>
            </a:r>
            <a:endParaRPr lang="en-US" sz="1400" dirty="0"/>
          </a:p>
        </p:txBody>
      </p:sp>
      <p:sp>
        <p:nvSpPr>
          <p:cNvPr id="1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§23.5, p. 682–685, Figure 23.9.</a:t>
            </a:r>
            <a:endParaRPr lang="en-US" sz="1100" dirty="0"/>
          </a:p>
        </p:txBody>
      </p:sp>
      <p:sp>
        <p:nvSpPr>
          <p:cNvPr id="1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19 / 37</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FROM RESOURCES TO RISKS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Resources turn into risks</a:t>
            </a:r>
            <a:endParaRPr lang="en-US" sz="3600" dirty="0"/>
          </a:p>
        </p:txBody>
      </p:sp>
      <p:sp>
        <p:nvSpPr>
          <p:cNvPr id="4" name="Card"/>
          <p:cNvSpPr/>
          <p:nvPr/>
        </p:nvSpPr>
        <p:spPr>
          <a:xfrm>
            <a:off x="813816" y="2057400"/>
            <a:ext cx="3291840" cy="3611880"/>
          </a:xfrm>
          <a:prstGeom prst="roundRect">
            <a:avLst>
              <a:gd name="adj" fmla="val 2222"/>
            </a:avLst>
          </a:prstGeom>
          <a:solidFill>
            <a:schemeClr val="bg1"/>
          </a:solidFill>
          <a:ln w="6350">
            <a:solidFill>
              <a:schemeClr val="accent4"/>
            </a:solidFill>
            <a:prstDash val="solid"/>
          </a:ln>
        </p:spPr>
      </p:sp>
      <p:sp>
        <p:nvSpPr>
          <p:cNvPr id="5" name="Text 3"/>
          <p:cNvSpPr txBox="1"/>
          <p:nvPr/>
        </p:nvSpPr>
        <p:spPr>
          <a:xfrm>
            <a:off x="1069848" y="2313432"/>
            <a:ext cx="277977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a risk affects</a:t>
            </a:r>
            <a:endParaRPr lang="en-US" sz="1200" dirty="0"/>
          </a:p>
        </p:txBody>
      </p:sp>
      <p:sp>
        <p:nvSpPr>
          <p:cNvPr id="6" name="Text 4"/>
          <p:cNvSpPr txBox="1"/>
          <p:nvPr/>
        </p:nvSpPr>
        <p:spPr>
          <a:xfrm>
            <a:off x="1069848" y="2660904"/>
            <a:ext cx="2779776" cy="2798064"/>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Project</a:t>
            </a:r>
            <a:endParaRPr lang="en-US" sz="1400" dirty="0"/>
          </a:p>
          <a:p>
            <a:pPr indent="0" marL="0">
              <a:spcAft>
                <a:spcPts val="400"/>
              </a:spcAft>
              <a:buNone/>
            </a:pPr>
            <a:r>
              <a:rPr lang="en-US" sz="1400" dirty="0">
                <a:solidFill>
                  <a:schemeClr val="tx2"/>
                </a:solidFill>
              </a:rPr>
              <a:t>schedule or resources</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b="1" dirty="0">
                <a:solidFill>
                  <a:schemeClr val="tx1"/>
                </a:solidFill>
              </a:rPr>
              <a:t>Product</a:t>
            </a:r>
            <a:endParaRPr lang="en-US" sz="1400" dirty="0"/>
          </a:p>
          <a:p>
            <a:pPr indent="0" marL="0">
              <a:spcAft>
                <a:spcPts val="400"/>
              </a:spcAft>
              <a:buNone/>
            </a:pPr>
            <a:r>
              <a:rPr lang="en-US" sz="1400" dirty="0">
                <a:solidFill>
                  <a:schemeClr val="tx2"/>
                </a:solidFill>
              </a:rPr>
              <a:t>quality or performance</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b="1" dirty="0">
                <a:solidFill>
                  <a:schemeClr val="tx1"/>
                </a:solidFill>
              </a:rPr>
              <a:t>Business</a:t>
            </a:r>
            <a:endParaRPr lang="en-US" sz="1400" dirty="0"/>
          </a:p>
          <a:p>
            <a:pPr indent="0" marL="0">
              <a:spcAft>
                <a:spcPts val="400"/>
              </a:spcAft>
              <a:buNone/>
            </a:pPr>
            <a:r>
              <a:rPr lang="en-US" sz="1400" dirty="0">
                <a:solidFill>
                  <a:schemeClr val="tx2"/>
                </a:solidFill>
              </a:rPr>
              <a:t>the organization</a:t>
            </a:r>
            <a:endParaRPr lang="en-US" sz="1400" dirty="0"/>
          </a:p>
        </p:txBody>
      </p:sp>
      <p:sp>
        <p:nvSpPr>
          <p:cNvPr id="7" name="Risk table"/>
          <p:cNvSpPr/>
          <p:nvPr/>
        </p:nvSpPr>
        <p:spPr>
          <a:xfrm>
            <a:off x="4315968" y="2057400"/>
            <a:ext cx="7068312" cy="3611880"/>
          </a:xfrm>
          <a:prstGeom prst="roundRect">
            <a:avLst>
              <a:gd name="adj" fmla="val 2025"/>
            </a:avLst>
          </a:prstGeom>
          <a:solidFill>
            <a:schemeClr val="bg1"/>
          </a:solidFill>
          <a:ln w="6350">
            <a:solidFill>
              <a:schemeClr val="accent4"/>
            </a:solidFill>
            <a:prstDash val="solid"/>
          </a:ln>
        </p:spPr>
      </p:sp>
      <p:sp>
        <p:nvSpPr>
          <p:cNvPr id="8" name="Text 6"/>
          <p:cNvSpPr txBox="1"/>
          <p:nvPr/>
        </p:nvSpPr>
        <p:spPr>
          <a:xfrm>
            <a:off x="4572000" y="2240280"/>
            <a:ext cx="65836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Six types to check, with Sommerville's examples</a:t>
            </a:r>
            <a:endParaRPr lang="en-US" sz="1200" dirty="0"/>
          </a:p>
        </p:txBody>
      </p:sp>
      <p:sp>
        <p:nvSpPr>
          <p:cNvPr id="9" name="Text 7"/>
          <p:cNvSpPr txBox="1"/>
          <p:nvPr/>
        </p:nvSpPr>
        <p:spPr>
          <a:xfrm>
            <a:off x="4572000" y="2633472"/>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Estimation</a:t>
            </a:r>
            <a:endParaRPr lang="en-US" sz="1400" dirty="0"/>
          </a:p>
        </p:txBody>
      </p:sp>
      <p:sp>
        <p:nvSpPr>
          <p:cNvPr id="10" name="Text 8"/>
          <p:cNvSpPr txBox="1"/>
          <p:nvPr/>
        </p:nvSpPr>
        <p:spPr>
          <a:xfrm>
            <a:off x="6309360" y="2633472"/>
            <a:ext cx="4892040" cy="411480"/>
          </a:xfrm>
          <a:prstGeom prst="rect">
            <a:avLst/>
          </a:prstGeom>
          <a:noFill/>
          <a:ln/>
        </p:spPr>
        <p:txBody>
          <a:bodyPr wrap="square" lIns="0" tIns="0" rIns="0" bIns="0" rtlCol="0" anchor="ctr"/>
          <a:lstStyle/>
          <a:p>
            <a:pPr indent="0" marL="0">
              <a:buNone/>
            </a:pPr>
            <a:r>
              <a:rPr lang="en-US" sz="1300" dirty="0">
                <a:solidFill>
                  <a:schemeClr val="tx2"/>
                </a:solidFill>
              </a:rPr>
              <a:t>The time required to develop the software is underestimated.</a:t>
            </a:r>
            <a:endParaRPr lang="en-US" sz="1300" dirty="0"/>
          </a:p>
        </p:txBody>
      </p:sp>
      <p:sp>
        <p:nvSpPr>
          <p:cNvPr id="11" name="Text 9"/>
          <p:cNvSpPr txBox="1"/>
          <p:nvPr/>
        </p:nvSpPr>
        <p:spPr>
          <a:xfrm>
            <a:off x="4572000" y="3118104"/>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Organizational</a:t>
            </a:r>
            <a:endParaRPr lang="en-US" sz="1400" dirty="0"/>
          </a:p>
        </p:txBody>
      </p:sp>
      <p:sp>
        <p:nvSpPr>
          <p:cNvPr id="12" name="Text 10"/>
          <p:cNvSpPr txBox="1"/>
          <p:nvPr/>
        </p:nvSpPr>
        <p:spPr>
          <a:xfrm>
            <a:off x="6309360" y="3118104"/>
            <a:ext cx="4892040" cy="411480"/>
          </a:xfrm>
          <a:prstGeom prst="rect">
            <a:avLst/>
          </a:prstGeom>
          <a:noFill/>
          <a:ln/>
        </p:spPr>
        <p:txBody>
          <a:bodyPr wrap="square" lIns="0" tIns="0" rIns="0" bIns="0" rtlCol="0" anchor="ctr"/>
          <a:lstStyle/>
          <a:p>
            <a:pPr indent="0" marL="0">
              <a:buNone/>
            </a:pPr>
            <a:r>
              <a:rPr lang="en-US" sz="1300" dirty="0">
                <a:solidFill>
                  <a:schemeClr val="tx2"/>
                </a:solidFill>
              </a:rPr>
              <a:t>Financial problems force reductions in the project budget.</a:t>
            </a:r>
            <a:endParaRPr lang="en-US" sz="1300" dirty="0"/>
          </a:p>
        </p:txBody>
      </p:sp>
      <p:sp>
        <p:nvSpPr>
          <p:cNvPr id="13" name="Text 11"/>
          <p:cNvSpPr txBox="1"/>
          <p:nvPr/>
        </p:nvSpPr>
        <p:spPr>
          <a:xfrm>
            <a:off x="4572000" y="3602736"/>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People</a:t>
            </a:r>
            <a:endParaRPr lang="en-US" sz="1400" dirty="0"/>
          </a:p>
        </p:txBody>
      </p:sp>
      <p:sp>
        <p:nvSpPr>
          <p:cNvPr id="14" name="Text 12"/>
          <p:cNvSpPr txBox="1"/>
          <p:nvPr/>
        </p:nvSpPr>
        <p:spPr>
          <a:xfrm>
            <a:off x="6309360" y="3602736"/>
            <a:ext cx="4892040" cy="411480"/>
          </a:xfrm>
          <a:prstGeom prst="rect">
            <a:avLst/>
          </a:prstGeom>
          <a:noFill/>
          <a:ln/>
        </p:spPr>
        <p:txBody>
          <a:bodyPr wrap="square" lIns="0" tIns="0" rIns="0" bIns="0" rtlCol="0" anchor="ctr"/>
          <a:lstStyle/>
          <a:p>
            <a:pPr indent="0" marL="0">
              <a:buNone/>
            </a:pPr>
            <a:r>
              <a:rPr lang="en-US" sz="1300" dirty="0">
                <a:solidFill>
                  <a:schemeClr val="tx2"/>
                </a:solidFill>
              </a:rPr>
              <a:t>It is impossible to recruit staff with the skills required.</a:t>
            </a:r>
            <a:endParaRPr lang="en-US" sz="1300" dirty="0"/>
          </a:p>
        </p:txBody>
      </p:sp>
      <p:sp>
        <p:nvSpPr>
          <p:cNvPr id="15" name="Text 13"/>
          <p:cNvSpPr txBox="1"/>
          <p:nvPr/>
        </p:nvSpPr>
        <p:spPr>
          <a:xfrm>
            <a:off x="4572000" y="4087368"/>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Requirements</a:t>
            </a:r>
            <a:endParaRPr lang="en-US" sz="1400" dirty="0"/>
          </a:p>
        </p:txBody>
      </p:sp>
      <p:sp>
        <p:nvSpPr>
          <p:cNvPr id="16" name="Text 14"/>
          <p:cNvSpPr txBox="1"/>
          <p:nvPr/>
        </p:nvSpPr>
        <p:spPr>
          <a:xfrm>
            <a:off x="6309360" y="4087368"/>
            <a:ext cx="4892040" cy="411480"/>
          </a:xfrm>
          <a:prstGeom prst="rect">
            <a:avLst/>
          </a:prstGeom>
          <a:noFill/>
          <a:ln/>
        </p:spPr>
        <p:txBody>
          <a:bodyPr wrap="square" lIns="0" tIns="0" rIns="0" bIns="0" rtlCol="0" anchor="ctr"/>
          <a:lstStyle/>
          <a:p>
            <a:pPr indent="0" marL="0">
              <a:buNone/>
            </a:pPr>
            <a:r>
              <a:rPr lang="en-US" sz="1300" dirty="0">
                <a:solidFill>
                  <a:schemeClr val="tx2"/>
                </a:solidFill>
              </a:rPr>
              <a:t>Changes that require major design rework are proposed.</a:t>
            </a:r>
            <a:endParaRPr lang="en-US" sz="1300" dirty="0"/>
          </a:p>
        </p:txBody>
      </p:sp>
      <p:sp>
        <p:nvSpPr>
          <p:cNvPr id="17" name="Text 15"/>
          <p:cNvSpPr txBox="1"/>
          <p:nvPr/>
        </p:nvSpPr>
        <p:spPr>
          <a:xfrm>
            <a:off x="4572000" y="4572000"/>
            <a:ext cx="1691640" cy="411480"/>
          </a:xfrm>
          <a:prstGeom prst="rect">
            <a:avLst/>
          </a:prstGeom>
          <a:noFill/>
          <a:ln/>
        </p:spPr>
        <p:txBody>
          <a:bodyPr wrap="square" lIns="0" tIns="0" rIns="0" bIns="0" rtlCol="0" anchor="ctr"/>
          <a:lstStyle/>
          <a:p>
            <a:pPr indent="0" marL="0">
              <a:buNone/>
            </a:pPr>
            <a:r>
              <a:rPr lang="en-US" sz="1400" b="1" dirty="0">
                <a:solidFill>
                  <a:schemeClr val="tx1"/>
                </a:solidFill>
              </a:rPr>
              <a:t>Technology</a:t>
            </a:r>
            <a:endParaRPr lang="en-US" sz="1400" dirty="0"/>
          </a:p>
        </p:txBody>
      </p:sp>
      <p:sp>
        <p:nvSpPr>
          <p:cNvPr id="18" name="Text 16"/>
          <p:cNvSpPr txBox="1"/>
          <p:nvPr/>
        </p:nvSpPr>
        <p:spPr>
          <a:xfrm>
            <a:off x="6309360" y="4572000"/>
            <a:ext cx="4892040" cy="411480"/>
          </a:xfrm>
          <a:prstGeom prst="rect">
            <a:avLst/>
          </a:prstGeom>
          <a:noFill/>
          <a:ln/>
        </p:spPr>
        <p:txBody>
          <a:bodyPr wrap="square" lIns="0" tIns="0" rIns="0" bIns="0" rtlCol="0" anchor="ctr"/>
          <a:lstStyle/>
          <a:p>
            <a:pPr indent="0" marL="0">
              <a:buNone/>
            </a:pPr>
            <a:r>
              <a:rPr lang="en-US" sz="1300" dirty="0">
                <a:solidFill>
                  <a:schemeClr val="tx2"/>
                </a:solidFill>
              </a:rPr>
              <a:t>The database cannot process as many transactions as expected.</a:t>
            </a:r>
            <a:endParaRPr lang="en-US" sz="1300" dirty="0"/>
          </a:p>
        </p:txBody>
      </p:sp>
      <p:sp>
        <p:nvSpPr>
          <p:cNvPr id="19" name="Text 17"/>
          <p:cNvSpPr txBox="1"/>
          <p:nvPr/>
        </p:nvSpPr>
        <p:spPr>
          <a:xfrm>
            <a:off x="4572000" y="5056632"/>
            <a:ext cx="1691640" cy="411480"/>
          </a:xfrm>
          <a:prstGeom prst="rect">
            <a:avLst/>
          </a:prstGeom>
          <a:noFill/>
          <a:ln/>
        </p:spPr>
        <p:txBody>
          <a:bodyPr wrap="square" lIns="0" tIns="0" rIns="0" bIns="0" rtlCol="0" anchor="ctr"/>
          <a:lstStyle/>
          <a:p>
            <a:pPr indent="0" marL="0">
              <a:buNone/>
            </a:pPr>
            <a:r>
              <a:rPr lang="en-US" sz="1400" b="1" dirty="0">
                <a:solidFill>
                  <a:schemeClr val="accent1"/>
                </a:solidFill>
              </a:rPr>
              <a:t>Tools</a:t>
            </a:r>
            <a:endParaRPr lang="en-US" sz="1400" dirty="0"/>
          </a:p>
        </p:txBody>
      </p:sp>
      <p:sp>
        <p:nvSpPr>
          <p:cNvPr id="20" name="Text 18"/>
          <p:cNvSpPr txBox="1"/>
          <p:nvPr/>
        </p:nvSpPr>
        <p:spPr>
          <a:xfrm>
            <a:off x="6309360" y="5056632"/>
            <a:ext cx="4892040" cy="411480"/>
          </a:xfrm>
          <a:prstGeom prst="rect">
            <a:avLst/>
          </a:prstGeom>
          <a:noFill/>
          <a:ln/>
        </p:spPr>
        <p:txBody>
          <a:bodyPr wrap="square" lIns="0" tIns="0" rIns="0" bIns="0" rtlCol="0" anchor="ctr"/>
          <a:lstStyle/>
          <a:p>
            <a:pPr indent="0" marL="0">
              <a:buNone/>
            </a:pPr>
            <a:r>
              <a:rPr lang="en-US" sz="1300" dirty="0">
                <a:solidFill>
                  <a:schemeClr val="tx2"/>
                </a:solidFill>
              </a:rPr>
              <a:t>The code generated by code generation tools is inefficient.</a:t>
            </a:r>
            <a:endParaRPr lang="en-US" sz="1300" dirty="0"/>
          </a:p>
        </p:txBody>
      </p:sp>
      <p:sp>
        <p:nvSpPr>
          <p:cNvPr id="21"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§22.1, p. 644–648, Figures 22.1 and 22.3.</a:t>
            </a:r>
            <a:endParaRPr lang="en-US" sz="1100" dirty="0"/>
          </a:p>
        </p:txBody>
      </p:sp>
      <p:sp>
        <p:nvSpPr>
          <p:cNvPr id="22"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20 / 37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ANALYSING RISK</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Identify, analyse, plan, monitor</a:t>
            </a:r>
            <a:endParaRPr lang="en-US" sz="3600" dirty="0"/>
          </a:p>
        </p:txBody>
      </p:sp>
      <p:sp>
        <p:nvSpPr>
          <p:cNvPr id="4" name="Figure card"/>
          <p:cNvSpPr/>
          <p:nvPr/>
        </p:nvSpPr>
        <p:spPr>
          <a:xfrm>
            <a:off x="813816" y="2057400"/>
            <a:ext cx="5760720" cy="1828800"/>
          </a:xfrm>
          <a:prstGeom prst="roundRect">
            <a:avLst>
              <a:gd name="adj" fmla="val 4000"/>
            </a:avLst>
          </a:prstGeom>
          <a:solidFill>
            <a:schemeClr val="bg1"/>
          </a:solidFill>
          <a:ln w="6350">
            <a:solidFill>
              <a:schemeClr val="accent4"/>
            </a:solidFill>
            <a:prstDash val="solid"/>
          </a:ln>
        </p:spPr>
      </p:sp>
      <p:pic>
        <p:nvPicPr>
          <p:cNvPr id="5" name="Figure" descr="sommerville-fig22.2-procesul-de-risc-p646.png">    </p:cNvPr>
          <p:cNvPicPr>
            <a:picLocks noChangeAspect="1"/>
          </p:cNvPicPr>
          <p:nvPr/>
        </p:nvPicPr>
        <p:blipFill>
          <a:blip r:embed="rId1"/>
          <a:stretch>
            <a:fillRect/>
          </a:stretch>
        </p:blipFill>
        <p:spPr>
          <a:xfrm>
            <a:off x="1095592" y="2221992"/>
            <a:ext cx="5197167" cy="1499616"/>
          </a:xfrm>
          <a:prstGeom prst="rect">
            <a:avLst/>
          </a:prstGeom>
        </p:spPr>
      </p:pic>
      <p:sp>
        <p:nvSpPr>
          <p:cNvPr id="6" name="Card"/>
          <p:cNvSpPr/>
          <p:nvPr/>
        </p:nvSpPr>
        <p:spPr>
          <a:xfrm>
            <a:off x="813816" y="4023360"/>
            <a:ext cx="5760720" cy="1645920"/>
          </a:xfrm>
          <a:prstGeom prst="roundRect">
            <a:avLst>
              <a:gd name="adj" fmla="val 4444"/>
            </a:avLst>
          </a:prstGeom>
          <a:solidFill>
            <a:schemeClr val="bg1"/>
          </a:solidFill>
          <a:ln w="6350">
            <a:solidFill>
              <a:schemeClr val="accent4"/>
            </a:solidFill>
            <a:prstDash val="solid"/>
          </a:ln>
        </p:spPr>
      </p:sp>
      <p:sp>
        <p:nvSpPr>
          <p:cNvPr id="7" name="Text 4"/>
          <p:cNvSpPr txBox="1"/>
          <p:nvPr/>
        </p:nvSpPr>
        <p:spPr>
          <a:xfrm>
            <a:off x="1069848" y="4279392"/>
            <a:ext cx="5248656"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Analysis without false precision</a:t>
            </a:r>
            <a:endParaRPr lang="en-US" sz="1200" dirty="0"/>
          </a:p>
        </p:txBody>
      </p:sp>
      <p:sp>
        <p:nvSpPr>
          <p:cNvPr id="8" name="Text 5"/>
          <p:cNvSpPr txBox="1"/>
          <p:nvPr/>
        </p:nvSpPr>
        <p:spPr>
          <a:xfrm>
            <a:off x="1069848" y="4626864"/>
            <a:ext cx="5248656" cy="83210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Precise numbers are impossible. Use bands: probability from insignificant to very high, effects from insignificant to catastrophic. Monitor all catastrophic risks and the serious ones above moderate.</a:t>
            </a:r>
            <a:endParaRPr lang="en-US" sz="1300" dirty="0"/>
          </a:p>
        </p:txBody>
      </p:sp>
      <p:sp>
        <p:nvSpPr>
          <p:cNvPr id="9" name="Figure card"/>
          <p:cNvSpPr/>
          <p:nvPr/>
        </p:nvSpPr>
        <p:spPr>
          <a:xfrm>
            <a:off x="6784848" y="2057400"/>
            <a:ext cx="4599432" cy="3108960"/>
          </a:xfrm>
          <a:prstGeom prst="roundRect">
            <a:avLst>
              <a:gd name="adj" fmla="val 2353"/>
            </a:avLst>
          </a:prstGeom>
          <a:solidFill>
            <a:schemeClr val="bg1"/>
          </a:solidFill>
          <a:ln w="6350">
            <a:solidFill>
              <a:schemeClr val="accent4"/>
            </a:solidFill>
            <a:prstDash val="solid"/>
          </a:ln>
        </p:spPr>
      </p:sp>
      <p:pic>
        <p:nvPicPr>
          <p:cNvPr id="10" name="Figure" descr="richards-ford-fig20-1-matricea-de-risc-p298.png">    </p:cNvPr>
          <p:cNvPicPr>
            <a:picLocks noChangeAspect="1"/>
          </p:cNvPicPr>
          <p:nvPr/>
        </p:nvPicPr>
        <p:blipFill>
          <a:blip r:embed="rId2"/>
          <a:stretch>
            <a:fillRect/>
          </a:stretch>
        </p:blipFill>
        <p:spPr>
          <a:xfrm>
            <a:off x="7003906" y="2221992"/>
            <a:ext cx="4161316" cy="2779776"/>
          </a:xfrm>
          <a:prstGeom prst="rect">
            <a:avLst/>
          </a:prstGeom>
        </p:spPr>
      </p:pic>
      <p:sp>
        <p:nvSpPr>
          <p:cNvPr id="11" name="Text 7"/>
          <p:cNvSpPr txBox="1"/>
          <p:nvPr/>
        </p:nvSpPr>
        <p:spPr>
          <a:xfrm>
            <a:off x="6784848" y="5257800"/>
            <a:ext cx="4599432" cy="411480"/>
          </a:xfrm>
          <a:prstGeom prst="rect">
            <a:avLst/>
          </a:prstGeom>
          <a:noFill/>
          <a:ln/>
        </p:spPr>
        <p:txBody>
          <a:bodyPr wrap="square" lIns="0" tIns="0" rIns="0" bIns="0" rtlCol="0" anchor="t"/>
          <a:lstStyle/>
          <a:p>
            <a:pPr indent="0" marL="0">
              <a:buNone/>
            </a:pPr>
            <a:r>
              <a:rPr lang="en-US" sz="1300" dirty="0">
                <a:solidFill>
                  <a:schemeClr val="tx2"/>
                </a:solidFill>
              </a:rPr>
              <a:t>Impact × likelihood, 1–9. Rate the impact first, then the likelihood.</a:t>
            </a:r>
            <a:endParaRPr lang="en-US" sz="1300" dirty="0"/>
          </a:p>
        </p:txBody>
      </p:sp>
      <p:sp>
        <p:nvSpPr>
          <p:cNvPr id="12"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Sources: Sommerville, Software Engineering, 10th ed., p. 646–650, Fig. 22.2; Richards &amp; Ford, 2020, Fig. 20-1, p. 297–298.</a:t>
            </a:r>
            <a:endParaRPr lang="en-US" sz="1100" dirty="0"/>
          </a:p>
        </p:txBody>
      </p:sp>
      <p:sp>
        <p:nvSpPr>
          <p:cNvPr id="13"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21 / 37</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PLANNING FOR RISK</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Ask “what if”, then pick a strategy</a:t>
            </a:r>
            <a:endParaRPr lang="en-US" sz="3600" dirty="0"/>
          </a:p>
        </p:txBody>
      </p:sp>
      <p:sp>
        <p:nvSpPr>
          <p:cNvPr id="4" name="Card"/>
          <p:cNvSpPr/>
          <p:nvPr/>
        </p:nvSpPr>
        <p:spPr>
          <a:xfrm>
            <a:off x="813816" y="2148840"/>
            <a:ext cx="2212848" cy="2788920"/>
          </a:xfrm>
          <a:prstGeom prst="roundRect">
            <a:avLst>
              <a:gd name="adj" fmla="val 3306"/>
            </a:avLst>
          </a:prstGeom>
          <a:solidFill>
            <a:schemeClr val="bg1"/>
          </a:solidFill>
          <a:ln w="6350">
            <a:solidFill>
              <a:schemeClr val="accent4"/>
            </a:solidFill>
            <a:prstDash val="solid"/>
          </a:ln>
        </p:spPr>
      </p:sp>
      <p:sp>
        <p:nvSpPr>
          <p:cNvPr id="5" name="Text 3"/>
          <p:cNvSpPr txBox="1"/>
          <p:nvPr/>
        </p:nvSpPr>
        <p:spPr>
          <a:xfrm>
            <a:off x="1069848" y="2404872"/>
            <a:ext cx="170078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6" name="Text 4"/>
          <p:cNvSpPr txBox="1"/>
          <p:nvPr/>
        </p:nvSpPr>
        <p:spPr>
          <a:xfrm>
            <a:off x="1069848" y="2752344"/>
            <a:ext cx="1700784" cy="292608"/>
          </a:xfrm>
          <a:prstGeom prst="rect">
            <a:avLst/>
          </a:prstGeom>
          <a:noFill/>
          <a:ln/>
        </p:spPr>
        <p:txBody>
          <a:bodyPr wrap="square" lIns="0" tIns="0" rIns="0" bIns="0" rtlCol="0" anchor="t"/>
          <a:lstStyle/>
          <a:p>
            <a:pPr indent="0" marL="0">
              <a:buNone/>
            </a:pPr>
            <a:r>
              <a:rPr lang="en-US" sz="1800" b="1" dirty="0">
                <a:solidFill>
                  <a:schemeClr val="tx1"/>
                </a:solidFill>
              </a:rPr>
              <a:t>Avoidance</a:t>
            </a:r>
            <a:endParaRPr lang="en-US" sz="1800" dirty="0"/>
          </a:p>
        </p:txBody>
      </p:sp>
      <p:sp>
        <p:nvSpPr>
          <p:cNvPr id="7" name="Text 5"/>
          <p:cNvSpPr txBox="1"/>
          <p:nvPr/>
        </p:nvSpPr>
        <p:spPr>
          <a:xfrm>
            <a:off x="1069848" y="3136392"/>
            <a:ext cx="1700784" cy="159105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Reduce the probability that the risk arises.</a:t>
            </a:r>
            <a:endParaRPr lang="en-US" sz="1400" dirty="0"/>
          </a:p>
        </p:txBody>
      </p:sp>
      <p:sp>
        <p:nvSpPr>
          <p:cNvPr id="8" name="Card"/>
          <p:cNvSpPr/>
          <p:nvPr/>
        </p:nvSpPr>
        <p:spPr>
          <a:xfrm>
            <a:off x="3191256" y="2148840"/>
            <a:ext cx="2212848" cy="2788920"/>
          </a:xfrm>
          <a:prstGeom prst="roundRect">
            <a:avLst>
              <a:gd name="adj" fmla="val 3306"/>
            </a:avLst>
          </a:prstGeom>
          <a:solidFill>
            <a:schemeClr val="bg1"/>
          </a:solidFill>
          <a:ln w="6350">
            <a:solidFill>
              <a:schemeClr val="accent4"/>
            </a:solidFill>
            <a:prstDash val="solid"/>
          </a:ln>
        </p:spPr>
      </p:sp>
      <p:sp>
        <p:nvSpPr>
          <p:cNvPr id="9" name="Text 7"/>
          <p:cNvSpPr txBox="1"/>
          <p:nvPr/>
        </p:nvSpPr>
        <p:spPr>
          <a:xfrm>
            <a:off x="3447288" y="2404872"/>
            <a:ext cx="170078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0" name="Text 8"/>
          <p:cNvSpPr txBox="1"/>
          <p:nvPr/>
        </p:nvSpPr>
        <p:spPr>
          <a:xfrm>
            <a:off x="3447288" y="2752344"/>
            <a:ext cx="1700784" cy="292608"/>
          </a:xfrm>
          <a:prstGeom prst="rect">
            <a:avLst/>
          </a:prstGeom>
          <a:noFill/>
          <a:ln/>
        </p:spPr>
        <p:txBody>
          <a:bodyPr wrap="square" lIns="0" tIns="0" rIns="0" bIns="0" rtlCol="0" anchor="t"/>
          <a:lstStyle/>
          <a:p>
            <a:pPr indent="0" marL="0">
              <a:buNone/>
            </a:pPr>
            <a:r>
              <a:rPr lang="en-US" sz="1800" b="1" dirty="0">
                <a:solidFill>
                  <a:schemeClr val="tx1"/>
                </a:solidFill>
              </a:rPr>
              <a:t>Minimization</a:t>
            </a:r>
            <a:endParaRPr lang="en-US" sz="1800" dirty="0"/>
          </a:p>
        </p:txBody>
      </p:sp>
      <p:sp>
        <p:nvSpPr>
          <p:cNvPr id="11" name="Text 9"/>
          <p:cNvSpPr txBox="1"/>
          <p:nvPr/>
        </p:nvSpPr>
        <p:spPr>
          <a:xfrm>
            <a:off x="3447288" y="3136392"/>
            <a:ext cx="1700784" cy="159105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Reduce the impact if it does arise.</a:t>
            </a:r>
            <a:endParaRPr lang="en-US" sz="1400" dirty="0"/>
          </a:p>
        </p:txBody>
      </p:sp>
      <p:sp>
        <p:nvSpPr>
          <p:cNvPr id="12" name="Card"/>
          <p:cNvSpPr/>
          <p:nvPr/>
        </p:nvSpPr>
        <p:spPr>
          <a:xfrm>
            <a:off x="5568696" y="2148840"/>
            <a:ext cx="2212848" cy="2788920"/>
          </a:xfrm>
          <a:prstGeom prst="roundRect">
            <a:avLst>
              <a:gd name="adj" fmla="val 3306"/>
            </a:avLst>
          </a:prstGeom>
          <a:solidFill>
            <a:schemeClr val="bg1"/>
          </a:solidFill>
          <a:ln w="6350">
            <a:solidFill>
              <a:schemeClr val="accent4"/>
            </a:solidFill>
            <a:prstDash val="solid"/>
          </a:ln>
        </p:spPr>
      </p:sp>
      <p:sp>
        <p:nvSpPr>
          <p:cNvPr id="13" name="Text 11"/>
          <p:cNvSpPr txBox="1"/>
          <p:nvPr/>
        </p:nvSpPr>
        <p:spPr>
          <a:xfrm>
            <a:off x="5824728" y="2404872"/>
            <a:ext cx="170078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4" name="Text 12"/>
          <p:cNvSpPr txBox="1"/>
          <p:nvPr/>
        </p:nvSpPr>
        <p:spPr>
          <a:xfrm>
            <a:off x="5824728" y="2752344"/>
            <a:ext cx="1700784" cy="292608"/>
          </a:xfrm>
          <a:prstGeom prst="rect">
            <a:avLst/>
          </a:prstGeom>
          <a:noFill/>
          <a:ln/>
        </p:spPr>
        <p:txBody>
          <a:bodyPr wrap="square" lIns="0" tIns="0" rIns="0" bIns="0" rtlCol="0" anchor="t"/>
          <a:lstStyle/>
          <a:p>
            <a:pPr indent="0" marL="0">
              <a:buNone/>
            </a:pPr>
            <a:r>
              <a:rPr lang="en-US" sz="1800" b="1" dirty="0">
                <a:solidFill>
                  <a:schemeClr val="tx1"/>
                </a:solidFill>
              </a:rPr>
              <a:t>Contingency</a:t>
            </a:r>
            <a:endParaRPr lang="en-US" sz="1800" dirty="0"/>
          </a:p>
        </p:txBody>
      </p:sp>
      <p:sp>
        <p:nvSpPr>
          <p:cNvPr id="15" name="Text 13"/>
          <p:cNvSpPr txBox="1"/>
          <p:nvPr/>
        </p:nvSpPr>
        <p:spPr>
          <a:xfrm>
            <a:off x="5824728" y="3136392"/>
            <a:ext cx="1700784" cy="159105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Be prepared for the worst, with a plan ready.</a:t>
            </a:r>
            <a:endParaRPr lang="en-US" sz="1400" dirty="0"/>
          </a:p>
        </p:txBody>
      </p:sp>
      <p:sp>
        <p:nvSpPr>
          <p:cNvPr id="16" name="Card"/>
          <p:cNvSpPr/>
          <p:nvPr/>
        </p:nvSpPr>
        <p:spPr>
          <a:xfrm>
            <a:off x="8001000" y="2148840"/>
            <a:ext cx="3383280" cy="2788920"/>
          </a:xfrm>
          <a:prstGeom prst="roundRect">
            <a:avLst>
              <a:gd name="adj" fmla="val 2623"/>
            </a:avLst>
          </a:prstGeom>
          <a:solidFill>
            <a:schemeClr val="tx1"/>
          </a:solidFill>
          <a:ln/>
        </p:spPr>
      </p:sp>
      <p:sp>
        <p:nvSpPr>
          <p:cNvPr id="17" name="Text 15"/>
          <p:cNvSpPr txBox="1"/>
          <p:nvPr/>
        </p:nvSpPr>
        <p:spPr>
          <a:xfrm>
            <a:off x="8257032" y="2404872"/>
            <a:ext cx="2871216"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Figure 22.5, 2016</a:t>
            </a:r>
            <a:endParaRPr lang="en-US" sz="1200" dirty="0"/>
          </a:p>
        </p:txBody>
      </p:sp>
      <p:sp>
        <p:nvSpPr>
          <p:cNvPr id="18" name="Text 16"/>
          <p:cNvSpPr txBox="1"/>
          <p:nvPr/>
        </p:nvSpPr>
        <p:spPr>
          <a:xfrm>
            <a:off x="8257032" y="2752344"/>
            <a:ext cx="2871216" cy="1975104"/>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For “underestimated development time”, the suggested strategy: “Investigate buying-in components; investigate use of automated code generation.”</a:t>
            </a:r>
            <a:endParaRPr lang="en-US" sz="1400" dirty="0"/>
          </a:p>
        </p:txBody>
      </p:sp>
      <p:sp>
        <p:nvSpPr>
          <p:cNvPr id="19" name="Callout"/>
          <p:cNvSpPr/>
          <p:nvPr/>
        </p:nvSpPr>
        <p:spPr>
          <a:xfrm>
            <a:off x="813816" y="5138928"/>
            <a:ext cx="10570464" cy="566928"/>
          </a:xfrm>
          <a:prstGeom prst="roundRect">
            <a:avLst>
              <a:gd name="adj" fmla="val 12903"/>
            </a:avLst>
          </a:prstGeom>
          <a:solidFill>
            <a:schemeClr val="tx1"/>
          </a:solidFill>
          <a:ln/>
        </p:spPr>
      </p:sp>
      <p:sp>
        <p:nvSpPr>
          <p:cNvPr id="20" name="Text 18"/>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What if two people are ill in the same week? What if the only expert on a library leaves? What if the client sends the revised requirements late?</a:t>
            </a:r>
            <a:endParaRPr lang="en-US" sz="1400" dirty="0"/>
          </a:p>
        </p:txBody>
      </p:sp>
      <p:sp>
        <p:nvSpPr>
          <p:cNvPr id="21"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§22.1.3, p. 650–651, Figure 22.5.</a:t>
            </a:r>
            <a:endParaRPr lang="en-US" sz="1100" dirty="0"/>
          </a:p>
        </p:txBody>
      </p:sp>
      <p:sp>
        <p:nvSpPr>
          <p:cNvPr id="22"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22 / 37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WORKED EXAMPLE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Three risks of a typical MDS project</a:t>
            </a:r>
            <a:endParaRPr lang="en-US" sz="3600" dirty="0"/>
          </a:p>
        </p:txBody>
      </p:sp>
      <p:sp>
        <p:nvSpPr>
          <p:cNvPr id="4" name="Text 2"/>
          <p:cNvSpPr txBox="1"/>
          <p:nvPr/>
        </p:nvSpPr>
        <p:spPr>
          <a:xfrm>
            <a:off x="1271016" y="2057400"/>
            <a:ext cx="2606040" cy="274320"/>
          </a:xfrm>
          <a:prstGeom prst="rect">
            <a:avLst/>
          </a:prstGeom>
          <a:noFill/>
          <a:ln/>
        </p:spPr>
        <p:txBody>
          <a:bodyPr wrap="square" lIns="0" tIns="0" rIns="0" bIns="0" rtlCol="0" anchor="t"/>
          <a:lstStyle/>
          <a:p>
            <a:pPr algn="ctr" indent="0" marL="0">
              <a:buNone/>
            </a:pPr>
            <a:r>
              <a:rPr lang="en-US" sz="1200" dirty="0">
                <a:solidFill>
                  <a:schemeClr val="accent3"/>
                </a:solidFill>
              </a:rPr>
              <a:t>Likelihood →</a:t>
            </a:r>
            <a:endParaRPr lang="en-US" sz="1200" dirty="0"/>
          </a:p>
        </p:txBody>
      </p:sp>
      <p:sp>
        <p:nvSpPr>
          <p:cNvPr id="5" name="Text 3"/>
          <p:cNvSpPr txBox="1"/>
          <p:nvPr/>
        </p:nvSpPr>
        <p:spPr>
          <a:xfrm>
            <a:off x="768096" y="2514600"/>
            <a:ext cx="457200" cy="2286000"/>
          </a:xfrm>
          <a:prstGeom prst="rect">
            <a:avLst/>
          </a:prstGeom>
          <a:noFill/>
          <a:ln/>
        </p:spPr>
        <p:txBody>
          <a:bodyPr wrap="square" lIns="0" tIns="0" rIns="0" bIns="0" rtlCol="0" anchor="ctr" vert="vert270"/>
          <a:lstStyle/>
          <a:p>
            <a:pPr algn="ctr" indent="0" marL="0">
              <a:buNone/>
            </a:pPr>
            <a:r>
              <a:rPr lang="en-US" sz="1200" dirty="0">
                <a:solidFill>
                  <a:schemeClr val="accent3"/>
                </a:solidFill>
              </a:rPr>
              <a:t>← Impact</a:t>
            </a:r>
            <a:endParaRPr lang="en-US" sz="1200" dirty="0"/>
          </a:p>
        </p:txBody>
      </p:sp>
      <p:sp>
        <p:nvSpPr>
          <p:cNvPr id="6" name="Matrix cell"/>
          <p:cNvSpPr/>
          <p:nvPr/>
        </p:nvSpPr>
        <p:spPr>
          <a:xfrm>
            <a:off x="1271016" y="2377440"/>
            <a:ext cx="813816" cy="813816"/>
          </a:xfrm>
          <a:prstGeom prst="roundRect">
            <a:avLst>
              <a:gd name="adj" fmla="val 6742"/>
            </a:avLst>
          </a:prstGeom>
          <a:solidFill>
            <a:schemeClr val="accent6"/>
          </a:solidFill>
          <a:ln/>
        </p:spPr>
      </p:sp>
      <p:sp>
        <p:nvSpPr>
          <p:cNvPr id="7" name="Text 5"/>
          <p:cNvSpPr txBox="1"/>
          <p:nvPr/>
        </p:nvSpPr>
        <p:spPr>
          <a:xfrm>
            <a:off x="1271016" y="242316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1</a:t>
            </a:r>
            <a:endParaRPr lang="en-US" sz="1100" dirty="0"/>
          </a:p>
        </p:txBody>
      </p:sp>
      <p:sp>
        <p:nvSpPr>
          <p:cNvPr id="8" name="Matrix cell"/>
          <p:cNvSpPr/>
          <p:nvPr/>
        </p:nvSpPr>
        <p:spPr>
          <a:xfrm>
            <a:off x="2139696" y="2377440"/>
            <a:ext cx="813816" cy="813816"/>
          </a:xfrm>
          <a:prstGeom prst="roundRect">
            <a:avLst>
              <a:gd name="adj" fmla="val 6742"/>
            </a:avLst>
          </a:prstGeom>
          <a:solidFill>
            <a:schemeClr val="accent6"/>
          </a:solidFill>
          <a:ln/>
        </p:spPr>
      </p:sp>
      <p:sp>
        <p:nvSpPr>
          <p:cNvPr id="9" name="Text 7"/>
          <p:cNvSpPr txBox="1"/>
          <p:nvPr/>
        </p:nvSpPr>
        <p:spPr>
          <a:xfrm>
            <a:off x="2139696" y="242316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2</a:t>
            </a:r>
            <a:endParaRPr lang="en-US" sz="1100" dirty="0"/>
          </a:p>
        </p:txBody>
      </p:sp>
      <p:sp>
        <p:nvSpPr>
          <p:cNvPr id="10" name="Matrix cell"/>
          <p:cNvSpPr/>
          <p:nvPr/>
        </p:nvSpPr>
        <p:spPr>
          <a:xfrm>
            <a:off x="3008376" y="2377440"/>
            <a:ext cx="813816" cy="813816"/>
          </a:xfrm>
          <a:prstGeom prst="roundRect">
            <a:avLst>
              <a:gd name="adj" fmla="val 6742"/>
            </a:avLst>
          </a:prstGeom>
          <a:solidFill>
            <a:schemeClr val="accent2"/>
          </a:solidFill>
          <a:ln/>
        </p:spPr>
      </p:sp>
      <p:sp>
        <p:nvSpPr>
          <p:cNvPr id="11" name="Text 9"/>
          <p:cNvSpPr txBox="1"/>
          <p:nvPr/>
        </p:nvSpPr>
        <p:spPr>
          <a:xfrm>
            <a:off x="3008376" y="242316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3</a:t>
            </a:r>
            <a:endParaRPr lang="en-US" sz="1100" dirty="0"/>
          </a:p>
        </p:txBody>
      </p:sp>
      <p:sp>
        <p:nvSpPr>
          <p:cNvPr id="12" name="Matrix cell"/>
          <p:cNvSpPr/>
          <p:nvPr/>
        </p:nvSpPr>
        <p:spPr>
          <a:xfrm>
            <a:off x="1271016" y="3246120"/>
            <a:ext cx="813816" cy="813816"/>
          </a:xfrm>
          <a:prstGeom prst="roundRect">
            <a:avLst>
              <a:gd name="adj" fmla="val 6742"/>
            </a:avLst>
          </a:prstGeom>
          <a:solidFill>
            <a:schemeClr val="accent6"/>
          </a:solidFill>
          <a:ln/>
        </p:spPr>
      </p:sp>
      <p:sp>
        <p:nvSpPr>
          <p:cNvPr id="13" name="Text 11"/>
          <p:cNvSpPr txBox="1"/>
          <p:nvPr/>
        </p:nvSpPr>
        <p:spPr>
          <a:xfrm>
            <a:off x="1271016" y="329184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2</a:t>
            </a:r>
            <a:endParaRPr lang="en-US" sz="1100" dirty="0"/>
          </a:p>
        </p:txBody>
      </p:sp>
      <p:sp>
        <p:nvSpPr>
          <p:cNvPr id="14" name="Matrix cell"/>
          <p:cNvSpPr/>
          <p:nvPr/>
        </p:nvSpPr>
        <p:spPr>
          <a:xfrm>
            <a:off x="2139696" y="3246120"/>
            <a:ext cx="813816" cy="813816"/>
          </a:xfrm>
          <a:prstGeom prst="roundRect">
            <a:avLst>
              <a:gd name="adj" fmla="val 6742"/>
            </a:avLst>
          </a:prstGeom>
          <a:solidFill>
            <a:schemeClr val="accent2"/>
          </a:solidFill>
          <a:ln/>
        </p:spPr>
      </p:sp>
      <p:sp>
        <p:nvSpPr>
          <p:cNvPr id="15" name="Text 13"/>
          <p:cNvSpPr txBox="1"/>
          <p:nvPr/>
        </p:nvSpPr>
        <p:spPr>
          <a:xfrm>
            <a:off x="2139696" y="329184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4</a:t>
            </a:r>
            <a:endParaRPr lang="en-US" sz="1100" dirty="0"/>
          </a:p>
        </p:txBody>
      </p:sp>
      <p:sp>
        <p:nvSpPr>
          <p:cNvPr id="16" name="Matrix cell"/>
          <p:cNvSpPr/>
          <p:nvPr/>
        </p:nvSpPr>
        <p:spPr>
          <a:xfrm>
            <a:off x="3008376" y="3246120"/>
            <a:ext cx="813816" cy="813816"/>
          </a:xfrm>
          <a:prstGeom prst="roundRect">
            <a:avLst>
              <a:gd name="adj" fmla="val 6742"/>
            </a:avLst>
          </a:prstGeom>
          <a:solidFill>
            <a:schemeClr val="accent1"/>
          </a:solidFill>
          <a:ln/>
        </p:spPr>
      </p:sp>
      <p:sp>
        <p:nvSpPr>
          <p:cNvPr id="17" name="Text 15"/>
          <p:cNvSpPr txBox="1"/>
          <p:nvPr/>
        </p:nvSpPr>
        <p:spPr>
          <a:xfrm>
            <a:off x="3008376" y="3291840"/>
            <a:ext cx="758952" cy="274320"/>
          </a:xfrm>
          <a:prstGeom prst="rect">
            <a:avLst/>
          </a:prstGeom>
          <a:noFill/>
          <a:ln/>
        </p:spPr>
        <p:txBody>
          <a:bodyPr wrap="square" lIns="0" tIns="0" rIns="0" bIns="0" rtlCol="0" anchor="t"/>
          <a:lstStyle/>
          <a:p>
            <a:pPr algn="r" indent="0" marL="0">
              <a:buNone/>
            </a:pPr>
            <a:r>
              <a:rPr lang="en-US" sz="1100" dirty="0">
                <a:solidFill>
                  <a:schemeClr val="bg2"/>
                </a:solidFill>
              </a:rPr>
              <a:t>6</a:t>
            </a:r>
            <a:endParaRPr lang="en-US" sz="1100" dirty="0"/>
          </a:p>
        </p:txBody>
      </p:sp>
      <p:sp>
        <p:nvSpPr>
          <p:cNvPr id="18" name="Matrix cell"/>
          <p:cNvSpPr/>
          <p:nvPr/>
        </p:nvSpPr>
        <p:spPr>
          <a:xfrm>
            <a:off x="1271016" y="4114800"/>
            <a:ext cx="813816" cy="813816"/>
          </a:xfrm>
          <a:prstGeom prst="roundRect">
            <a:avLst>
              <a:gd name="adj" fmla="val 6742"/>
            </a:avLst>
          </a:prstGeom>
          <a:solidFill>
            <a:schemeClr val="accent2"/>
          </a:solidFill>
          <a:ln/>
        </p:spPr>
      </p:sp>
      <p:sp>
        <p:nvSpPr>
          <p:cNvPr id="19" name="Text 17"/>
          <p:cNvSpPr txBox="1"/>
          <p:nvPr/>
        </p:nvSpPr>
        <p:spPr>
          <a:xfrm>
            <a:off x="1271016" y="4160520"/>
            <a:ext cx="758952" cy="274320"/>
          </a:xfrm>
          <a:prstGeom prst="rect">
            <a:avLst/>
          </a:prstGeom>
          <a:noFill/>
          <a:ln/>
        </p:spPr>
        <p:txBody>
          <a:bodyPr wrap="square" lIns="0" tIns="0" rIns="0" bIns="0" rtlCol="0" anchor="t"/>
          <a:lstStyle/>
          <a:p>
            <a:pPr algn="r" indent="0" marL="0">
              <a:buNone/>
            </a:pPr>
            <a:r>
              <a:rPr lang="en-US" sz="1100" dirty="0">
                <a:solidFill>
                  <a:schemeClr val="tx2"/>
                </a:solidFill>
              </a:rPr>
              <a:t>3</a:t>
            </a:r>
            <a:endParaRPr lang="en-US" sz="1100" dirty="0"/>
          </a:p>
        </p:txBody>
      </p:sp>
      <p:sp>
        <p:nvSpPr>
          <p:cNvPr id="20" name="Matrix cell"/>
          <p:cNvSpPr/>
          <p:nvPr/>
        </p:nvSpPr>
        <p:spPr>
          <a:xfrm>
            <a:off x="2139696" y="4114800"/>
            <a:ext cx="813816" cy="813816"/>
          </a:xfrm>
          <a:prstGeom prst="roundRect">
            <a:avLst>
              <a:gd name="adj" fmla="val 6742"/>
            </a:avLst>
          </a:prstGeom>
          <a:solidFill>
            <a:schemeClr val="accent1"/>
          </a:solidFill>
          <a:ln/>
        </p:spPr>
      </p:sp>
      <p:sp>
        <p:nvSpPr>
          <p:cNvPr id="21" name="Text 19"/>
          <p:cNvSpPr txBox="1"/>
          <p:nvPr/>
        </p:nvSpPr>
        <p:spPr>
          <a:xfrm>
            <a:off x="2139696" y="4160520"/>
            <a:ext cx="758952" cy="274320"/>
          </a:xfrm>
          <a:prstGeom prst="rect">
            <a:avLst/>
          </a:prstGeom>
          <a:noFill/>
          <a:ln/>
        </p:spPr>
        <p:txBody>
          <a:bodyPr wrap="square" lIns="0" tIns="0" rIns="0" bIns="0" rtlCol="0" anchor="t"/>
          <a:lstStyle/>
          <a:p>
            <a:pPr algn="r" indent="0" marL="0">
              <a:buNone/>
            </a:pPr>
            <a:r>
              <a:rPr lang="en-US" sz="1100" dirty="0">
                <a:solidFill>
                  <a:schemeClr val="bg2"/>
                </a:solidFill>
              </a:rPr>
              <a:t>6</a:t>
            </a:r>
            <a:endParaRPr lang="en-US" sz="1100" dirty="0"/>
          </a:p>
        </p:txBody>
      </p:sp>
      <p:sp>
        <p:nvSpPr>
          <p:cNvPr id="22" name="Matrix cell"/>
          <p:cNvSpPr/>
          <p:nvPr/>
        </p:nvSpPr>
        <p:spPr>
          <a:xfrm>
            <a:off x="3008376" y="4114800"/>
            <a:ext cx="813816" cy="813816"/>
          </a:xfrm>
          <a:prstGeom prst="roundRect">
            <a:avLst>
              <a:gd name="adj" fmla="val 6742"/>
            </a:avLst>
          </a:prstGeom>
          <a:solidFill>
            <a:schemeClr val="accent1"/>
          </a:solidFill>
          <a:ln/>
        </p:spPr>
      </p:sp>
      <p:sp>
        <p:nvSpPr>
          <p:cNvPr id="23" name="Text 21"/>
          <p:cNvSpPr txBox="1"/>
          <p:nvPr/>
        </p:nvSpPr>
        <p:spPr>
          <a:xfrm>
            <a:off x="3008376" y="4160520"/>
            <a:ext cx="758952" cy="274320"/>
          </a:xfrm>
          <a:prstGeom prst="rect">
            <a:avLst/>
          </a:prstGeom>
          <a:noFill/>
          <a:ln/>
        </p:spPr>
        <p:txBody>
          <a:bodyPr wrap="square" lIns="0" tIns="0" rIns="0" bIns="0" rtlCol="0" anchor="t"/>
          <a:lstStyle/>
          <a:p>
            <a:pPr algn="r" indent="0" marL="0">
              <a:buNone/>
            </a:pPr>
            <a:r>
              <a:rPr lang="en-US" sz="1100" dirty="0">
                <a:solidFill>
                  <a:schemeClr val="bg2"/>
                </a:solidFill>
              </a:rPr>
              <a:t>9</a:t>
            </a:r>
            <a:endParaRPr lang="en-US" sz="1100" dirty="0"/>
          </a:p>
        </p:txBody>
      </p:sp>
      <p:sp>
        <p:nvSpPr>
          <p:cNvPr id="24" name="Risk marker"/>
          <p:cNvSpPr/>
          <p:nvPr/>
        </p:nvSpPr>
        <p:spPr>
          <a:xfrm>
            <a:off x="2295144" y="4343400"/>
            <a:ext cx="512064" cy="512064"/>
          </a:xfrm>
          <a:prstGeom prst="ellipse">
            <a:avLst/>
          </a:prstGeom>
          <a:solidFill>
            <a:schemeClr val="tx1"/>
          </a:solidFill>
          <a:ln/>
        </p:spPr>
      </p:sp>
      <p:sp>
        <p:nvSpPr>
          <p:cNvPr id="25" name="Text 23"/>
          <p:cNvSpPr txBox="1"/>
          <p:nvPr/>
        </p:nvSpPr>
        <p:spPr>
          <a:xfrm>
            <a:off x="2295144" y="4343400"/>
            <a:ext cx="512064" cy="512064"/>
          </a:xfrm>
          <a:prstGeom prst="rect">
            <a:avLst/>
          </a:prstGeom>
          <a:noFill/>
          <a:ln/>
        </p:spPr>
        <p:txBody>
          <a:bodyPr wrap="square" lIns="0" tIns="0" rIns="0" bIns="0" rtlCol="0" anchor="ctr"/>
          <a:lstStyle/>
          <a:p>
            <a:pPr algn="ctr" indent="0" marL="0">
              <a:buNone/>
            </a:pPr>
            <a:r>
              <a:rPr lang="en-US" sz="1200" b="1" dirty="0">
                <a:solidFill>
                  <a:schemeClr val="bg2"/>
                </a:solidFill>
              </a:rPr>
              <a:t>R1</a:t>
            </a:r>
            <a:endParaRPr lang="en-US" sz="1200" dirty="0"/>
          </a:p>
        </p:txBody>
      </p:sp>
      <p:sp>
        <p:nvSpPr>
          <p:cNvPr id="26" name="Risk marker"/>
          <p:cNvSpPr/>
          <p:nvPr/>
        </p:nvSpPr>
        <p:spPr>
          <a:xfrm>
            <a:off x="2295144" y="3474720"/>
            <a:ext cx="512064" cy="512064"/>
          </a:xfrm>
          <a:prstGeom prst="ellipse">
            <a:avLst/>
          </a:prstGeom>
          <a:solidFill>
            <a:schemeClr val="tx1"/>
          </a:solidFill>
          <a:ln/>
        </p:spPr>
      </p:sp>
      <p:sp>
        <p:nvSpPr>
          <p:cNvPr id="27" name="Text 25"/>
          <p:cNvSpPr txBox="1"/>
          <p:nvPr/>
        </p:nvSpPr>
        <p:spPr>
          <a:xfrm>
            <a:off x="2295144" y="3474720"/>
            <a:ext cx="512064" cy="512064"/>
          </a:xfrm>
          <a:prstGeom prst="rect">
            <a:avLst/>
          </a:prstGeom>
          <a:noFill/>
          <a:ln/>
        </p:spPr>
        <p:txBody>
          <a:bodyPr wrap="square" lIns="0" tIns="0" rIns="0" bIns="0" rtlCol="0" anchor="ctr"/>
          <a:lstStyle/>
          <a:p>
            <a:pPr algn="ctr" indent="0" marL="0">
              <a:buNone/>
            </a:pPr>
            <a:r>
              <a:rPr lang="en-US" sz="1200" b="1" dirty="0">
                <a:solidFill>
                  <a:schemeClr val="bg2"/>
                </a:solidFill>
              </a:rPr>
              <a:t>R2</a:t>
            </a:r>
            <a:endParaRPr lang="en-US" sz="1200" dirty="0"/>
          </a:p>
        </p:txBody>
      </p:sp>
      <p:sp>
        <p:nvSpPr>
          <p:cNvPr id="28" name="Risk marker"/>
          <p:cNvSpPr/>
          <p:nvPr/>
        </p:nvSpPr>
        <p:spPr>
          <a:xfrm>
            <a:off x="3163824" y="4343400"/>
            <a:ext cx="512064" cy="512064"/>
          </a:xfrm>
          <a:prstGeom prst="ellipse">
            <a:avLst/>
          </a:prstGeom>
          <a:solidFill>
            <a:schemeClr val="tx1"/>
          </a:solidFill>
          <a:ln/>
        </p:spPr>
      </p:sp>
      <p:sp>
        <p:nvSpPr>
          <p:cNvPr id="29" name="Text 27"/>
          <p:cNvSpPr txBox="1"/>
          <p:nvPr/>
        </p:nvSpPr>
        <p:spPr>
          <a:xfrm>
            <a:off x="3163824" y="4343400"/>
            <a:ext cx="512064" cy="512064"/>
          </a:xfrm>
          <a:prstGeom prst="rect">
            <a:avLst/>
          </a:prstGeom>
          <a:noFill/>
          <a:ln/>
        </p:spPr>
        <p:txBody>
          <a:bodyPr wrap="square" lIns="0" tIns="0" rIns="0" bIns="0" rtlCol="0" anchor="ctr"/>
          <a:lstStyle/>
          <a:p>
            <a:pPr algn="ctr" indent="0" marL="0">
              <a:buNone/>
            </a:pPr>
            <a:r>
              <a:rPr lang="en-US" sz="1200" b="1" dirty="0">
                <a:solidFill>
                  <a:schemeClr val="bg2"/>
                </a:solidFill>
              </a:rPr>
              <a:t>R3</a:t>
            </a:r>
            <a:endParaRPr lang="en-US" sz="1200" dirty="0"/>
          </a:p>
        </p:txBody>
      </p:sp>
      <p:sp>
        <p:nvSpPr>
          <p:cNvPr id="30" name="Card"/>
          <p:cNvSpPr/>
          <p:nvPr/>
        </p:nvSpPr>
        <p:spPr>
          <a:xfrm>
            <a:off x="4206240" y="2057400"/>
            <a:ext cx="7178040" cy="1097280"/>
          </a:xfrm>
          <a:prstGeom prst="roundRect">
            <a:avLst>
              <a:gd name="adj" fmla="val 6667"/>
            </a:avLst>
          </a:prstGeom>
          <a:solidFill>
            <a:schemeClr val="bg1"/>
          </a:solidFill>
          <a:ln w="6350">
            <a:solidFill>
              <a:schemeClr val="accent4"/>
            </a:solidFill>
            <a:prstDash val="solid"/>
          </a:ln>
        </p:spPr>
      </p:sp>
      <p:sp>
        <p:nvSpPr>
          <p:cNvPr id="31" name="Text 29"/>
          <p:cNvSpPr txBox="1"/>
          <p:nvPr/>
        </p:nvSpPr>
        <p:spPr>
          <a:xfrm>
            <a:off x="4389120" y="2240280"/>
            <a:ext cx="68122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R1 · People · 3×2 = 6</a:t>
            </a:r>
            <a:endParaRPr lang="en-US" sz="1200" dirty="0"/>
          </a:p>
        </p:txBody>
      </p:sp>
      <p:sp>
        <p:nvSpPr>
          <p:cNvPr id="32" name="Text 30"/>
          <p:cNvSpPr txBox="1"/>
          <p:nvPr/>
        </p:nvSpPr>
        <p:spPr>
          <a:xfrm>
            <a:off x="4389120" y="2587752"/>
            <a:ext cx="6812280" cy="429768"/>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Only one member understands the LLM integration. </a:t>
            </a:r>
            <a:pPr indent="0" marL="0">
              <a:spcAft>
                <a:spcPts val="400"/>
              </a:spcAft>
              <a:buNone/>
            </a:pPr>
            <a:r>
              <a:rPr lang="en-US" sz="1300" dirty="0">
                <a:solidFill>
                  <a:schemeClr val="tx2"/>
                </a:solidFill>
              </a:rPr>
              <a:t>Minimize: pair on it, write down how it works.</a:t>
            </a:r>
            <a:endParaRPr lang="en-US" sz="1300" dirty="0"/>
          </a:p>
        </p:txBody>
      </p:sp>
      <p:sp>
        <p:nvSpPr>
          <p:cNvPr id="33" name="Card"/>
          <p:cNvSpPr/>
          <p:nvPr/>
        </p:nvSpPr>
        <p:spPr>
          <a:xfrm>
            <a:off x="4206240" y="3273552"/>
            <a:ext cx="7178040" cy="1097280"/>
          </a:xfrm>
          <a:prstGeom prst="roundRect">
            <a:avLst>
              <a:gd name="adj" fmla="val 6667"/>
            </a:avLst>
          </a:prstGeom>
          <a:solidFill>
            <a:schemeClr val="bg1"/>
          </a:solidFill>
          <a:ln w="6350">
            <a:solidFill>
              <a:schemeClr val="accent4"/>
            </a:solidFill>
            <a:prstDash val="solid"/>
          </a:ln>
        </p:spPr>
      </p:sp>
      <p:sp>
        <p:nvSpPr>
          <p:cNvPr id="34" name="Text 32"/>
          <p:cNvSpPr txBox="1"/>
          <p:nvPr/>
        </p:nvSpPr>
        <p:spPr>
          <a:xfrm>
            <a:off x="4389120" y="3456432"/>
            <a:ext cx="68122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R2 · Tools · 2×2 = 4</a:t>
            </a:r>
            <a:endParaRPr lang="en-US" sz="1200" dirty="0"/>
          </a:p>
        </p:txBody>
      </p:sp>
      <p:sp>
        <p:nvSpPr>
          <p:cNvPr id="35" name="Text 33"/>
          <p:cNvSpPr txBox="1"/>
          <p:nvPr/>
        </p:nvSpPr>
        <p:spPr>
          <a:xfrm>
            <a:off x="4389120" y="3803904"/>
            <a:ext cx="6812280" cy="429768"/>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The free tier of the model API changes or runs out mid-semester. </a:t>
            </a:r>
            <a:pPr indent="0" marL="0">
              <a:spcAft>
                <a:spcPts val="400"/>
              </a:spcAft>
              <a:buNone/>
            </a:pPr>
            <a:r>
              <a:rPr lang="en-US" sz="1300" dirty="0">
                <a:solidFill>
                  <a:schemeClr val="tx2"/>
                </a:solidFill>
              </a:rPr>
              <a:t>Contingency: stub in CI, a local model as fallback.</a:t>
            </a:r>
            <a:endParaRPr lang="en-US" sz="1300" dirty="0"/>
          </a:p>
        </p:txBody>
      </p:sp>
      <p:sp>
        <p:nvSpPr>
          <p:cNvPr id="36" name="Card"/>
          <p:cNvSpPr/>
          <p:nvPr/>
        </p:nvSpPr>
        <p:spPr>
          <a:xfrm>
            <a:off x="4206240" y="4489704"/>
            <a:ext cx="7178040" cy="1097280"/>
          </a:xfrm>
          <a:prstGeom prst="roundRect">
            <a:avLst>
              <a:gd name="adj" fmla="val 6667"/>
            </a:avLst>
          </a:prstGeom>
          <a:solidFill>
            <a:schemeClr val="bg1"/>
          </a:solidFill>
          <a:ln w="6350">
            <a:solidFill>
              <a:schemeClr val="accent4"/>
            </a:solidFill>
            <a:prstDash val="solid"/>
          </a:ln>
        </p:spPr>
      </p:sp>
      <p:sp>
        <p:nvSpPr>
          <p:cNvPr id="37" name="Text 35"/>
          <p:cNvSpPr txBox="1"/>
          <p:nvPr/>
        </p:nvSpPr>
        <p:spPr>
          <a:xfrm>
            <a:off x="4389120" y="4672584"/>
            <a:ext cx="681228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R3 · Knowledge · 9</a:t>
            </a:r>
            <a:endParaRPr lang="en-US" sz="1200" dirty="0"/>
          </a:p>
        </p:txBody>
      </p:sp>
      <p:sp>
        <p:nvSpPr>
          <p:cNvPr id="38" name="Text 36"/>
          <p:cNvSpPr txBox="1"/>
          <p:nvPr/>
        </p:nvSpPr>
        <p:spPr>
          <a:xfrm>
            <a:off x="4389120" y="5020056"/>
            <a:ext cx="6812280" cy="429768"/>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Nobody has used the end-to-end testing tool the team picked. </a:t>
            </a:r>
            <a:pPr indent="0" marL="0">
              <a:spcAft>
                <a:spcPts val="400"/>
              </a:spcAft>
              <a:buNone/>
            </a:pPr>
            <a:r>
              <a:rPr lang="en-US" sz="1300" dirty="0">
                <a:solidFill>
                  <a:schemeClr val="tx2"/>
                </a:solidFill>
              </a:rPr>
              <a:t>Avoid: a short spike in the first week, or a tool someone knows.</a:t>
            </a:r>
            <a:endParaRPr lang="en-US" sz="1300" dirty="0"/>
          </a:p>
        </p:txBody>
      </p:sp>
      <p:sp>
        <p:nvSpPr>
          <p:cNvPr id="39"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Illustrative example. Methods: Sommerville, Software Engineering, 10th ed., p. 647–651; Richards &amp; Ford, 2020, p. 297–298, 306.</a:t>
            </a:r>
            <a:endParaRPr lang="en-US" sz="1100" dirty="0"/>
          </a:p>
        </p:txBody>
      </p:sp>
      <p:sp>
        <p:nvSpPr>
          <p:cNvPr id="40"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23 / 37</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813816" y="2103120"/>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PART 2</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b"/>
          <a:lstStyle/>
          <a:p>
            <a:pPr algn="l" indent="0" marL="0">
              <a:buNone/>
            </a:pPr>
            <a:r>
              <a:rPr lang="en-US" sz="5400" b="1" dirty="0">
                <a:solidFill>
                  <a:schemeClr val="bg2"/>
                </a:solidFill>
              </a:rPr>
              <a:t>What we want</a:t>
            </a:r>
            <a:endParaRPr lang="en-US" sz="5400" dirty="0"/>
          </a:p>
        </p:txBody>
      </p:sp>
      <p:sp>
        <p:nvSpPr>
          <p:cNvPr id="4" name="Text 2"/>
          <p:cNvSpPr txBox="1"/>
          <p:nvPr/>
        </p:nvSpPr>
        <p:spPr>
          <a:xfrm>
            <a:off x="813816" y="3840480"/>
            <a:ext cx="10881360" cy="457200"/>
          </a:xfrm>
          <a:prstGeom prst="rect">
            <a:avLst/>
          </a:prstGeom>
          <a:noFill/>
          <a:ln/>
        </p:spPr>
        <p:txBody>
          <a:bodyPr wrap="square" lIns="0" tIns="0" rIns="0" bIns="0" rtlCol="0" anchor="t"/>
          <a:lstStyle/>
          <a:p>
            <a:pPr indent="0" marL="0">
              <a:buNone/>
            </a:pPr>
            <a:r>
              <a:rPr lang="en-US" sz="2200" dirty="0">
                <a:solidFill>
                  <a:schemeClr val="accent5"/>
                </a:solidFill>
              </a:rPr>
              <a:t>Eliciting requirements, and mining the system you already have</a:t>
            </a:r>
            <a:endParaRPr lang="en-US" sz="22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24 / 37</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ELICITATION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Why eliciting requirements is hard</a:t>
            </a:r>
            <a:endParaRPr lang="en-US" sz="3600" dirty="0"/>
          </a:p>
        </p:txBody>
      </p:sp>
      <p:sp>
        <p:nvSpPr>
          <p:cNvPr id="4" name="Row"/>
          <p:cNvSpPr/>
          <p:nvPr/>
        </p:nvSpPr>
        <p:spPr>
          <a:xfrm>
            <a:off x="813816" y="2057400"/>
            <a:ext cx="10570464" cy="621792"/>
          </a:xfrm>
          <a:prstGeom prst="roundRect">
            <a:avLst>
              <a:gd name="adj" fmla="val 11765"/>
            </a:avLst>
          </a:prstGeom>
          <a:solidFill>
            <a:schemeClr val="bg1"/>
          </a:solidFill>
          <a:ln w="6350">
            <a:solidFill>
              <a:schemeClr val="accent4"/>
            </a:solidFill>
            <a:prstDash val="solid"/>
          </a:ln>
        </p:spPr>
      </p:sp>
      <p:sp>
        <p:nvSpPr>
          <p:cNvPr id="5" name="Text 3"/>
          <p:cNvSpPr txBox="1"/>
          <p:nvPr/>
        </p:nvSpPr>
        <p:spPr>
          <a:xfrm>
            <a:off x="1042416" y="2057400"/>
            <a:ext cx="365760" cy="621792"/>
          </a:xfrm>
          <a:prstGeom prst="rect">
            <a:avLst/>
          </a:prstGeom>
          <a:noFill/>
          <a:ln/>
        </p:spPr>
        <p:txBody>
          <a:bodyPr wrap="square" lIns="0" tIns="0" rIns="0" bIns="0" rtlCol="0" anchor="ctr"/>
          <a:lstStyle/>
          <a:p>
            <a:pPr indent="0" marL="0">
              <a:buNone/>
            </a:pPr>
            <a:r>
              <a:rPr lang="en-US" sz="2200" b="1" dirty="0">
                <a:solidFill>
                  <a:schemeClr val="accent1"/>
                </a:solidFill>
              </a:rPr>
              <a:t>1</a:t>
            </a:r>
            <a:endParaRPr lang="en-US" sz="2200" dirty="0"/>
          </a:p>
        </p:txBody>
      </p:sp>
      <p:sp>
        <p:nvSpPr>
          <p:cNvPr id="6" name="Text 4"/>
          <p:cNvSpPr txBox="1"/>
          <p:nvPr/>
        </p:nvSpPr>
        <p:spPr>
          <a:xfrm>
            <a:off x="1545336" y="2057400"/>
            <a:ext cx="9610344" cy="621792"/>
          </a:xfrm>
          <a:prstGeom prst="rect">
            <a:avLst/>
          </a:prstGeom>
          <a:noFill/>
          <a:ln/>
        </p:spPr>
        <p:txBody>
          <a:bodyPr wrap="square" lIns="0" tIns="0" rIns="0" bIns="0" rtlCol="0" anchor="ctr"/>
          <a:lstStyle/>
          <a:p>
            <a:pPr indent="0" marL="0">
              <a:buNone/>
            </a:pPr>
            <a:r>
              <a:rPr lang="en-US" sz="1500" b="1" dirty="0">
                <a:solidFill>
                  <a:schemeClr val="tx1"/>
                </a:solidFill>
              </a:rPr>
              <a:t>Stakeholders don't know what they want: </a:t>
            </a:r>
            <a:pPr indent="0" marL="0">
              <a:buNone/>
            </a:pPr>
            <a:r>
              <a:rPr lang="en-US" sz="1500" dirty="0">
                <a:solidFill>
                  <a:schemeClr val="tx2"/>
                </a:solidFill>
              </a:rPr>
              <a:t>beyond general terms, and may ask for the unrealistic, not knowing what is feasible.</a:t>
            </a:r>
            <a:endParaRPr lang="en-US" sz="1500" dirty="0"/>
          </a:p>
        </p:txBody>
      </p:sp>
      <p:sp>
        <p:nvSpPr>
          <p:cNvPr id="7" name="Row"/>
          <p:cNvSpPr/>
          <p:nvPr/>
        </p:nvSpPr>
        <p:spPr>
          <a:xfrm>
            <a:off x="813816" y="2770632"/>
            <a:ext cx="10570464" cy="621792"/>
          </a:xfrm>
          <a:prstGeom prst="roundRect">
            <a:avLst>
              <a:gd name="adj" fmla="val 11765"/>
            </a:avLst>
          </a:prstGeom>
          <a:solidFill>
            <a:schemeClr val="bg1"/>
          </a:solidFill>
          <a:ln w="6350">
            <a:solidFill>
              <a:schemeClr val="accent4"/>
            </a:solidFill>
            <a:prstDash val="solid"/>
          </a:ln>
        </p:spPr>
      </p:sp>
      <p:sp>
        <p:nvSpPr>
          <p:cNvPr id="8" name="Text 6"/>
          <p:cNvSpPr txBox="1"/>
          <p:nvPr/>
        </p:nvSpPr>
        <p:spPr>
          <a:xfrm>
            <a:off x="1042416" y="2770632"/>
            <a:ext cx="365760" cy="621792"/>
          </a:xfrm>
          <a:prstGeom prst="rect">
            <a:avLst/>
          </a:prstGeom>
          <a:noFill/>
          <a:ln/>
        </p:spPr>
        <p:txBody>
          <a:bodyPr wrap="square" lIns="0" tIns="0" rIns="0" bIns="0" rtlCol="0" anchor="ctr"/>
          <a:lstStyle/>
          <a:p>
            <a:pPr indent="0" marL="0">
              <a:buNone/>
            </a:pPr>
            <a:r>
              <a:rPr lang="en-US" sz="2200" b="1" dirty="0">
                <a:solidFill>
                  <a:schemeClr val="accent1"/>
                </a:solidFill>
              </a:rPr>
              <a:t>2</a:t>
            </a:r>
            <a:endParaRPr lang="en-US" sz="2200" dirty="0"/>
          </a:p>
        </p:txBody>
      </p:sp>
      <p:sp>
        <p:nvSpPr>
          <p:cNvPr id="9" name="Text 7"/>
          <p:cNvSpPr txBox="1"/>
          <p:nvPr/>
        </p:nvSpPr>
        <p:spPr>
          <a:xfrm>
            <a:off x="1545336" y="2770632"/>
            <a:ext cx="9610344" cy="621792"/>
          </a:xfrm>
          <a:prstGeom prst="rect">
            <a:avLst/>
          </a:prstGeom>
          <a:noFill/>
          <a:ln/>
        </p:spPr>
        <p:txBody>
          <a:bodyPr wrap="square" lIns="0" tIns="0" rIns="0" bIns="0" rtlCol="0" anchor="ctr"/>
          <a:lstStyle/>
          <a:p>
            <a:pPr indent="0" marL="0">
              <a:buNone/>
            </a:pPr>
            <a:r>
              <a:rPr lang="en-US" sz="1500" b="1" dirty="0">
                <a:solidFill>
                  <a:schemeClr val="tx1"/>
                </a:solidFill>
              </a:rPr>
              <a:t>They speak their own language: </a:t>
            </a:r>
            <a:pPr indent="0" marL="0">
              <a:buNone/>
            </a:pPr>
            <a:r>
              <a:rPr lang="en-US" sz="1500" dirty="0">
                <a:solidFill>
                  <a:schemeClr val="tx2"/>
                </a:solidFill>
              </a:rPr>
              <a:t>with implicit knowledge of their work that engineers may not understand.</a:t>
            </a:r>
            <a:endParaRPr lang="en-US" sz="1500" dirty="0"/>
          </a:p>
        </p:txBody>
      </p:sp>
      <p:sp>
        <p:nvSpPr>
          <p:cNvPr id="10" name="Row"/>
          <p:cNvSpPr/>
          <p:nvPr/>
        </p:nvSpPr>
        <p:spPr>
          <a:xfrm>
            <a:off x="813816" y="3483864"/>
            <a:ext cx="10570464" cy="621792"/>
          </a:xfrm>
          <a:prstGeom prst="roundRect">
            <a:avLst>
              <a:gd name="adj" fmla="val 11765"/>
            </a:avLst>
          </a:prstGeom>
          <a:solidFill>
            <a:schemeClr val="bg1"/>
          </a:solidFill>
          <a:ln w="6350">
            <a:solidFill>
              <a:schemeClr val="accent4"/>
            </a:solidFill>
            <a:prstDash val="solid"/>
          </a:ln>
        </p:spPr>
      </p:sp>
      <p:sp>
        <p:nvSpPr>
          <p:cNvPr id="11" name="Text 9"/>
          <p:cNvSpPr txBox="1"/>
          <p:nvPr/>
        </p:nvSpPr>
        <p:spPr>
          <a:xfrm>
            <a:off x="1042416" y="3483864"/>
            <a:ext cx="365760" cy="621792"/>
          </a:xfrm>
          <a:prstGeom prst="rect">
            <a:avLst/>
          </a:prstGeom>
          <a:noFill/>
          <a:ln/>
        </p:spPr>
        <p:txBody>
          <a:bodyPr wrap="square" lIns="0" tIns="0" rIns="0" bIns="0" rtlCol="0" anchor="ctr"/>
          <a:lstStyle/>
          <a:p>
            <a:pPr indent="0" marL="0">
              <a:buNone/>
            </a:pPr>
            <a:r>
              <a:rPr lang="en-US" sz="2200" b="1" dirty="0">
                <a:solidFill>
                  <a:schemeClr val="accent1"/>
                </a:solidFill>
              </a:rPr>
              <a:t>3</a:t>
            </a:r>
            <a:endParaRPr lang="en-US" sz="2200" dirty="0"/>
          </a:p>
        </p:txBody>
      </p:sp>
      <p:sp>
        <p:nvSpPr>
          <p:cNvPr id="12" name="Text 10"/>
          <p:cNvSpPr txBox="1"/>
          <p:nvPr/>
        </p:nvSpPr>
        <p:spPr>
          <a:xfrm>
            <a:off x="1545336" y="3483864"/>
            <a:ext cx="9610344" cy="621792"/>
          </a:xfrm>
          <a:prstGeom prst="rect">
            <a:avLst/>
          </a:prstGeom>
          <a:noFill/>
          <a:ln/>
        </p:spPr>
        <p:txBody>
          <a:bodyPr wrap="square" lIns="0" tIns="0" rIns="0" bIns="0" rtlCol="0" anchor="ctr"/>
          <a:lstStyle/>
          <a:p>
            <a:pPr indent="0" marL="0">
              <a:buNone/>
            </a:pPr>
            <a:r>
              <a:rPr lang="en-US" sz="1500" b="1" dirty="0">
                <a:solidFill>
                  <a:schemeClr val="tx1"/>
                </a:solidFill>
              </a:rPr>
              <a:t>Different stakeholders, different requirements: </a:t>
            </a:r>
            <a:pPr indent="0" marL="0">
              <a:buNone/>
            </a:pPr>
            <a:r>
              <a:rPr lang="en-US" sz="1500" dirty="0">
                <a:solidFill>
                  <a:schemeClr val="tx2"/>
                </a:solidFill>
              </a:rPr>
              <a:t>expressed in different ways, with commonalities and conflicts to discover.</a:t>
            </a:r>
            <a:endParaRPr lang="en-US" sz="1500" dirty="0"/>
          </a:p>
        </p:txBody>
      </p:sp>
      <p:sp>
        <p:nvSpPr>
          <p:cNvPr id="13" name="Row"/>
          <p:cNvSpPr/>
          <p:nvPr/>
        </p:nvSpPr>
        <p:spPr>
          <a:xfrm>
            <a:off x="813816" y="4197096"/>
            <a:ext cx="10570464" cy="621792"/>
          </a:xfrm>
          <a:prstGeom prst="roundRect">
            <a:avLst>
              <a:gd name="adj" fmla="val 11765"/>
            </a:avLst>
          </a:prstGeom>
          <a:solidFill>
            <a:schemeClr val="tx1"/>
          </a:solidFill>
          <a:ln/>
        </p:spPr>
      </p:sp>
      <p:sp>
        <p:nvSpPr>
          <p:cNvPr id="14" name="Text 12"/>
          <p:cNvSpPr txBox="1"/>
          <p:nvPr/>
        </p:nvSpPr>
        <p:spPr>
          <a:xfrm>
            <a:off x="1042416" y="4197096"/>
            <a:ext cx="365760" cy="621792"/>
          </a:xfrm>
          <a:prstGeom prst="rect">
            <a:avLst/>
          </a:prstGeom>
          <a:noFill/>
          <a:ln/>
        </p:spPr>
        <p:txBody>
          <a:bodyPr wrap="square" lIns="0" tIns="0" rIns="0" bIns="0" rtlCol="0" anchor="ctr"/>
          <a:lstStyle/>
          <a:p>
            <a:pPr indent="0" marL="0">
              <a:buNone/>
            </a:pPr>
            <a:r>
              <a:rPr lang="en-US" sz="2200" b="1" dirty="0">
                <a:solidFill>
                  <a:schemeClr val="accent2"/>
                </a:solidFill>
              </a:rPr>
              <a:t>4</a:t>
            </a:r>
            <a:endParaRPr lang="en-US" sz="2200" dirty="0"/>
          </a:p>
        </p:txBody>
      </p:sp>
      <p:sp>
        <p:nvSpPr>
          <p:cNvPr id="15" name="Text 13"/>
          <p:cNvSpPr txBox="1"/>
          <p:nvPr/>
        </p:nvSpPr>
        <p:spPr>
          <a:xfrm>
            <a:off x="1545336" y="4197096"/>
            <a:ext cx="9610344" cy="621792"/>
          </a:xfrm>
          <a:prstGeom prst="rect">
            <a:avLst/>
          </a:prstGeom>
          <a:noFill/>
          <a:ln/>
        </p:spPr>
        <p:txBody>
          <a:bodyPr wrap="square" lIns="0" tIns="0" rIns="0" bIns="0" rtlCol="0" anchor="ctr"/>
          <a:lstStyle/>
          <a:p>
            <a:pPr indent="0" marL="0">
              <a:buNone/>
            </a:pPr>
            <a:r>
              <a:rPr lang="en-US" sz="1500" b="1" dirty="0">
                <a:solidFill>
                  <a:schemeClr val="bg2"/>
                </a:solidFill>
              </a:rPr>
              <a:t>Political factors: </a:t>
            </a:r>
            <a:pPr indent="0" marL="0">
              <a:buNone/>
            </a:pPr>
            <a:r>
              <a:rPr lang="en-US" sz="1500" dirty="0">
                <a:solidFill>
                  <a:schemeClr val="accent5"/>
                </a:solidFill>
              </a:rPr>
              <a:t>a manager may demand a requirement because it increases their influence.</a:t>
            </a:r>
            <a:endParaRPr lang="en-US" sz="1500" dirty="0"/>
          </a:p>
        </p:txBody>
      </p:sp>
      <p:sp>
        <p:nvSpPr>
          <p:cNvPr id="16" name="Row"/>
          <p:cNvSpPr/>
          <p:nvPr/>
        </p:nvSpPr>
        <p:spPr>
          <a:xfrm>
            <a:off x="813816" y="4910328"/>
            <a:ext cx="10570464" cy="621792"/>
          </a:xfrm>
          <a:prstGeom prst="roundRect">
            <a:avLst>
              <a:gd name="adj" fmla="val 11765"/>
            </a:avLst>
          </a:prstGeom>
          <a:solidFill>
            <a:schemeClr val="bg1"/>
          </a:solidFill>
          <a:ln w="6350">
            <a:solidFill>
              <a:schemeClr val="accent4"/>
            </a:solidFill>
            <a:prstDash val="solid"/>
          </a:ln>
        </p:spPr>
      </p:sp>
      <p:sp>
        <p:nvSpPr>
          <p:cNvPr id="17" name="Text 15"/>
          <p:cNvSpPr txBox="1"/>
          <p:nvPr/>
        </p:nvSpPr>
        <p:spPr>
          <a:xfrm>
            <a:off x="1042416" y="4910328"/>
            <a:ext cx="365760" cy="621792"/>
          </a:xfrm>
          <a:prstGeom prst="rect">
            <a:avLst/>
          </a:prstGeom>
          <a:noFill/>
          <a:ln/>
        </p:spPr>
        <p:txBody>
          <a:bodyPr wrap="square" lIns="0" tIns="0" rIns="0" bIns="0" rtlCol="0" anchor="ctr"/>
          <a:lstStyle/>
          <a:p>
            <a:pPr indent="0" marL="0">
              <a:buNone/>
            </a:pPr>
            <a:r>
              <a:rPr lang="en-US" sz="2200" b="1" dirty="0">
                <a:solidFill>
                  <a:schemeClr val="accent1"/>
                </a:solidFill>
              </a:rPr>
              <a:t>5</a:t>
            </a:r>
            <a:endParaRPr lang="en-US" sz="2200" dirty="0"/>
          </a:p>
        </p:txBody>
      </p:sp>
      <p:sp>
        <p:nvSpPr>
          <p:cNvPr id="18" name="Text 16"/>
          <p:cNvSpPr txBox="1"/>
          <p:nvPr/>
        </p:nvSpPr>
        <p:spPr>
          <a:xfrm>
            <a:off x="1545336" y="4910328"/>
            <a:ext cx="9610344" cy="621792"/>
          </a:xfrm>
          <a:prstGeom prst="rect">
            <a:avLst/>
          </a:prstGeom>
          <a:noFill/>
          <a:ln/>
        </p:spPr>
        <p:txBody>
          <a:bodyPr wrap="square" lIns="0" tIns="0" rIns="0" bIns="0" rtlCol="0" anchor="ctr"/>
          <a:lstStyle/>
          <a:p>
            <a:pPr indent="0" marL="0">
              <a:buNone/>
            </a:pPr>
            <a:r>
              <a:rPr lang="en-US" sz="1500" b="1" dirty="0">
                <a:solidFill>
                  <a:schemeClr val="tx1"/>
                </a:solidFill>
              </a:rPr>
              <a:t>The environment changes: </a:t>
            </a:r>
            <a:pPr indent="0" marL="0">
              <a:buNone/>
            </a:pPr>
            <a:r>
              <a:rPr lang="en-US" sz="1500" dirty="0">
                <a:solidFill>
                  <a:schemeClr val="tx2"/>
                </a:solidFill>
              </a:rPr>
              <a:t>during the analysis itself; new stakeholders bring new requirements.</a:t>
            </a:r>
            <a:endParaRPr lang="en-US" sz="1500" dirty="0"/>
          </a:p>
        </p:txBody>
      </p:sp>
      <p:sp>
        <p:nvSpPr>
          <p:cNvPr id="19"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 p. 112–113.</a:t>
            </a:r>
            <a:endParaRPr lang="en-US" sz="1100" dirty="0"/>
          </a:p>
        </p:txBody>
      </p:sp>
      <p:sp>
        <p:nvSpPr>
          <p:cNvPr id="20"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25 / 37</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813816" y="1371600"/>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DISCUSSION</a:t>
            </a:r>
            <a:endParaRPr lang="en-US" sz="1200" dirty="0"/>
          </a:p>
        </p:txBody>
      </p:sp>
      <p:sp>
        <p:nvSpPr>
          <p:cNvPr id="3" name="Text 0"/>
          <p:cNvSpPr/>
          <p:nvPr>
            <p:ph idx="100" type="title" hasCustomPrompt="1"/>
          </p:nvPr>
        </p:nvSpPr>
        <p:spPr>
          <a:xfrm>
            <a:off x="813816" y="1737360"/>
            <a:ext cx="10881360" cy="2377440"/>
          </a:xfrm>
          <a:prstGeom prst="rect">
            <a:avLst/>
          </a:prstGeom>
          <a:noFill/>
          <a:ln/>
        </p:spPr>
        <p:txBody>
          <a:bodyPr wrap="square" lIns="0" tIns="0" rIns="0" bIns="0" rtlCol="0" anchor="b"/>
          <a:lstStyle/>
          <a:p>
            <a:pPr algn="l" indent="0" marL="0">
              <a:buNone/>
            </a:pPr>
            <a:r>
              <a:rPr lang="en-US" sz="5400" b="1" dirty="0">
                <a:solidFill>
                  <a:schemeClr val="tx1"/>
                </a:solidFill>
              </a:rPr>
              <a:t>A requirement that came from politics, not from the problem</a:t>
            </a:r>
            <a:endParaRPr lang="en-US" sz="5400" dirty="0"/>
          </a:p>
        </p:txBody>
      </p:sp>
      <p:sp>
        <p:nvSpPr>
          <p:cNvPr id="4" name="Text 2"/>
          <p:cNvSpPr txBox="1"/>
          <p:nvPr/>
        </p:nvSpPr>
        <p:spPr>
          <a:xfrm>
            <a:off x="813816" y="4343400"/>
            <a:ext cx="10241280" cy="457200"/>
          </a:xfrm>
          <a:prstGeom prst="rect">
            <a:avLst/>
          </a:prstGeom>
          <a:noFill/>
          <a:ln/>
        </p:spPr>
        <p:txBody>
          <a:bodyPr wrap="square" lIns="0" tIns="0" rIns="0" bIns="0" rtlCol="0" anchor="t"/>
          <a:lstStyle/>
          <a:p>
            <a:pPr indent="0" marL="0">
              <a:buNone/>
            </a:pPr>
            <a:r>
              <a:rPr lang="en-US" sz="2000" dirty="0">
                <a:solidFill>
                  <a:schemeClr val="tx1"/>
                </a:solidFill>
              </a:rPr>
              <a:t>Who asked for it, why, and what it did to the system.</a:t>
            </a:r>
            <a:endParaRPr lang="en-US" sz="20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26 / 37</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THE PROCESS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Elicitation and analysis, in four activities</a:t>
            </a:r>
            <a:endParaRPr lang="en-US" sz="3600" dirty="0"/>
          </a:p>
        </p:txBody>
      </p:sp>
      <p:sp>
        <p:nvSpPr>
          <p:cNvPr id="4" name="Figure card"/>
          <p:cNvSpPr/>
          <p:nvPr/>
        </p:nvSpPr>
        <p:spPr>
          <a:xfrm>
            <a:off x="813816" y="2057400"/>
            <a:ext cx="4846320" cy="3108960"/>
          </a:xfrm>
          <a:prstGeom prst="roundRect">
            <a:avLst>
              <a:gd name="adj" fmla="val 2353"/>
            </a:avLst>
          </a:prstGeom>
          <a:solidFill>
            <a:schemeClr val="bg1"/>
          </a:solidFill>
          <a:ln w="6350">
            <a:solidFill>
              <a:schemeClr val="accent4"/>
            </a:solidFill>
            <a:prstDash val="solid"/>
          </a:ln>
        </p:spPr>
      </p:sp>
      <p:pic>
        <p:nvPicPr>
          <p:cNvPr id="5" name="Figure" descr="sommerville-fig4.7-elicitation-analysis-p113.png">    </p:cNvPr>
          <p:cNvPicPr>
            <a:picLocks noChangeAspect="1"/>
          </p:cNvPicPr>
          <p:nvPr/>
        </p:nvPicPr>
        <p:blipFill>
          <a:blip r:embed="rId1"/>
          <a:stretch>
            <a:fillRect/>
          </a:stretch>
        </p:blipFill>
        <p:spPr>
          <a:xfrm>
            <a:off x="1072211" y="2221992"/>
            <a:ext cx="4329529" cy="2779776"/>
          </a:xfrm>
          <a:prstGeom prst="rect">
            <a:avLst/>
          </a:prstGeom>
        </p:spPr>
      </p:pic>
      <p:sp>
        <p:nvSpPr>
          <p:cNvPr id="6" name="Card"/>
          <p:cNvSpPr/>
          <p:nvPr/>
        </p:nvSpPr>
        <p:spPr>
          <a:xfrm>
            <a:off x="5870448" y="2057400"/>
            <a:ext cx="5513832" cy="3108960"/>
          </a:xfrm>
          <a:prstGeom prst="roundRect">
            <a:avLst>
              <a:gd name="adj" fmla="val 2353"/>
            </a:avLst>
          </a:prstGeom>
          <a:solidFill>
            <a:schemeClr val="bg1"/>
          </a:solidFill>
          <a:ln w="6350">
            <a:solidFill>
              <a:schemeClr val="accent4"/>
            </a:solidFill>
            <a:prstDash val="solid"/>
          </a:ln>
        </p:spPr>
      </p:sp>
      <p:sp>
        <p:nvSpPr>
          <p:cNvPr id="7" name="Text 4"/>
          <p:cNvSpPr txBox="1"/>
          <p:nvPr/>
        </p:nvSpPr>
        <p:spPr>
          <a:xfrm>
            <a:off x="6126480" y="2313432"/>
            <a:ext cx="5001768"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The cycle</a:t>
            </a:r>
            <a:endParaRPr lang="en-US" sz="1200" dirty="0"/>
          </a:p>
        </p:txBody>
      </p:sp>
      <p:sp>
        <p:nvSpPr>
          <p:cNvPr id="8" name="Text 5"/>
          <p:cNvSpPr txBox="1"/>
          <p:nvPr/>
        </p:nvSpPr>
        <p:spPr>
          <a:xfrm>
            <a:off x="6126480" y="2660904"/>
            <a:ext cx="5001768" cy="2295144"/>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Discovery and understanding: talk to stakeholders, read documents, find domain requirements.</a:t>
            </a:r>
            <a:endParaRPr lang="en-US" sz="1400" dirty="0"/>
          </a:p>
          <a:p>
            <a:pPr marL="177800" indent="-177800">
              <a:spcAft>
                <a:spcPts val="400"/>
              </a:spcAft>
              <a:buSzPct val="100000"/>
              <a:buChar char="•"/>
            </a:pPr>
            <a:r>
              <a:rPr lang="en-US" sz="1400" dirty="0">
                <a:solidFill>
                  <a:schemeClr val="tx2"/>
                </a:solidFill>
              </a:rPr>
              <a:t>Classification and organization: group related requirements into coherent clusters.</a:t>
            </a:r>
            <a:endParaRPr lang="en-US" sz="1400" dirty="0"/>
          </a:p>
          <a:p>
            <a:pPr marL="177800" indent="-177800">
              <a:spcAft>
                <a:spcPts val="400"/>
              </a:spcAft>
              <a:buSzPct val="100000"/>
              <a:buChar char="•"/>
            </a:pPr>
            <a:r>
              <a:rPr lang="en-US" sz="1400" dirty="0">
                <a:solidFill>
                  <a:schemeClr val="tx2"/>
                </a:solidFill>
              </a:rPr>
              <a:t>Prioritization and negotiation: requirements will conflict; find and resolve the conflicts.</a:t>
            </a:r>
            <a:endParaRPr lang="en-US" sz="1400" dirty="0"/>
          </a:p>
          <a:p>
            <a:pPr marL="177800" indent="-177800">
              <a:spcAft>
                <a:spcPts val="400"/>
              </a:spcAft>
              <a:buSzPct val="100000"/>
              <a:buChar char="•"/>
            </a:pPr>
            <a:r>
              <a:rPr lang="en-US" sz="1400" dirty="0">
                <a:solidFill>
                  <a:schemeClr val="tx2"/>
                </a:solidFill>
              </a:rPr>
              <a:t>Documentation: write them down, input to the next round.</a:t>
            </a:r>
            <a:endParaRPr lang="en-US" sz="1400" dirty="0"/>
          </a:p>
        </p:txBody>
      </p:sp>
      <p:sp>
        <p:nvSpPr>
          <p:cNvPr id="9" name="Callout"/>
          <p:cNvSpPr/>
          <p:nvPr/>
        </p:nvSpPr>
        <p:spPr>
          <a:xfrm>
            <a:off x="813816" y="5321808"/>
            <a:ext cx="10570464" cy="566928"/>
          </a:xfrm>
          <a:prstGeom prst="roundRect">
            <a:avLst>
              <a:gd name="adj" fmla="val 12903"/>
            </a:avLst>
          </a:prstGeom>
          <a:solidFill>
            <a:schemeClr val="tx1"/>
          </a:solidFill>
          <a:ln/>
        </p:spPr>
      </p:sp>
      <p:sp>
        <p:nvSpPr>
          <p:cNvPr id="10" name="Text 7"/>
          <p:cNvSpPr txBox="1"/>
          <p:nvPr/>
        </p:nvSpPr>
        <p:spPr>
          <a:xfrm>
            <a:off x="1069848" y="5321808"/>
            <a:ext cx="10058400" cy="566928"/>
          </a:xfrm>
          <a:prstGeom prst="rect">
            <a:avLst/>
          </a:prstGeom>
          <a:noFill/>
          <a:ln/>
        </p:spPr>
        <p:txBody>
          <a:bodyPr wrap="square" lIns="0" tIns="0" rIns="0" bIns="0" rtlCol="0" anchor="ctr"/>
          <a:lstStyle/>
          <a:p>
            <a:pPr indent="0" marL="0">
              <a:buNone/>
            </a:pPr>
            <a:r>
              <a:rPr lang="en-US" sz="1400" dirty="0">
                <a:solidFill>
                  <a:schemeClr val="bg2"/>
                </a:solidFill>
              </a:rPr>
              <a:t>Today: discovery. Next week: classification, negotiation, documentation. Group what you find by viewpoint: stakeholders who have something in common.</a:t>
            </a:r>
            <a:endParaRPr lang="en-US" sz="1400" dirty="0"/>
          </a:p>
        </p:txBody>
      </p:sp>
      <p:sp>
        <p:nvSpPr>
          <p:cNvPr id="11"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 p. 113–114, Figure 4.7, box “Viewpoints”.</a:t>
            </a:r>
            <a:endParaRPr lang="en-US" sz="1100" dirty="0"/>
          </a:p>
        </p:txBody>
      </p:sp>
      <p:sp>
        <p:nvSpPr>
          <p:cNvPr id="12"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27 / 37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TECHNIQUE 1 · INTERVIEWING</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Interviews: start from something concrete</a:t>
            </a:r>
            <a:endParaRPr lang="en-US" sz="3600" dirty="0"/>
          </a:p>
        </p:txBody>
      </p:sp>
      <p:sp>
        <p:nvSpPr>
          <p:cNvPr id="4" name="Card"/>
          <p:cNvSpPr/>
          <p:nvPr/>
        </p:nvSpPr>
        <p:spPr>
          <a:xfrm>
            <a:off x="813816" y="2148840"/>
            <a:ext cx="5175504" cy="1325880"/>
          </a:xfrm>
          <a:prstGeom prst="roundRect">
            <a:avLst>
              <a:gd name="adj" fmla="val 5517"/>
            </a:avLst>
          </a:prstGeom>
          <a:solidFill>
            <a:schemeClr val="bg1"/>
          </a:solidFill>
          <a:ln w="6350">
            <a:solidFill>
              <a:schemeClr val="accent4"/>
            </a:solidFill>
            <a:prstDash val="solid"/>
          </a:ln>
        </p:spPr>
      </p:sp>
      <p:sp>
        <p:nvSpPr>
          <p:cNvPr id="5" name="Text 3"/>
          <p:cNvSpPr txBox="1"/>
          <p:nvPr/>
        </p:nvSpPr>
        <p:spPr>
          <a:xfrm>
            <a:off x="1069848" y="240487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Closed and open</a:t>
            </a:r>
            <a:endParaRPr lang="en-US" sz="1200" dirty="0"/>
          </a:p>
        </p:txBody>
      </p:sp>
      <p:sp>
        <p:nvSpPr>
          <p:cNvPr id="6" name="Text 4"/>
          <p:cNvSpPr txBox="1"/>
          <p:nvPr/>
        </p:nvSpPr>
        <p:spPr>
          <a:xfrm>
            <a:off x="1069848" y="2752344"/>
            <a:ext cx="4663440" cy="51206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Predefined questions, or an open exploration. In practice a mix: completely open discussions rarely work.</a:t>
            </a:r>
            <a:endParaRPr lang="en-US" sz="1300" dirty="0"/>
          </a:p>
        </p:txBody>
      </p:sp>
      <p:sp>
        <p:nvSpPr>
          <p:cNvPr id="7" name="Card"/>
          <p:cNvSpPr/>
          <p:nvPr/>
        </p:nvSpPr>
        <p:spPr>
          <a:xfrm>
            <a:off x="6208776" y="2148840"/>
            <a:ext cx="5175504" cy="1325880"/>
          </a:xfrm>
          <a:prstGeom prst="roundRect">
            <a:avLst>
              <a:gd name="adj" fmla="val 5517"/>
            </a:avLst>
          </a:prstGeom>
          <a:solidFill>
            <a:schemeClr val="tx1"/>
          </a:solidFill>
          <a:ln/>
        </p:spPr>
      </p:sp>
      <p:sp>
        <p:nvSpPr>
          <p:cNvPr id="8" name="Text 6"/>
          <p:cNvSpPr txBox="1"/>
          <p:nvPr/>
        </p:nvSpPr>
        <p:spPr>
          <a:xfrm>
            <a:off x="6464808" y="2404872"/>
            <a:ext cx="466344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Springboard</a:t>
            </a:r>
            <a:endParaRPr lang="en-US" sz="1200" dirty="0"/>
          </a:p>
        </p:txBody>
      </p:sp>
      <p:sp>
        <p:nvSpPr>
          <p:cNvPr id="9" name="Text 7"/>
          <p:cNvSpPr txBox="1"/>
          <p:nvPr/>
        </p:nvSpPr>
        <p:spPr>
          <a:xfrm>
            <a:off x="6464808" y="2752344"/>
            <a:ext cx="4663440" cy="512064"/>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“Tell me what you want” rarely works. Start from a question, a requirements proposal, or a prototype.</a:t>
            </a:r>
            <a:endParaRPr lang="en-US" sz="1300" dirty="0"/>
          </a:p>
        </p:txBody>
      </p:sp>
      <p:sp>
        <p:nvSpPr>
          <p:cNvPr id="10" name="Card"/>
          <p:cNvSpPr/>
          <p:nvPr/>
        </p:nvSpPr>
        <p:spPr>
          <a:xfrm>
            <a:off x="813816" y="3611880"/>
            <a:ext cx="5175504" cy="1325880"/>
          </a:xfrm>
          <a:prstGeom prst="roundRect">
            <a:avLst>
              <a:gd name="adj" fmla="val 5517"/>
            </a:avLst>
          </a:prstGeom>
          <a:solidFill>
            <a:schemeClr val="bg1"/>
          </a:solidFill>
          <a:ln w="6350">
            <a:solidFill>
              <a:schemeClr val="accent4"/>
            </a:solidFill>
            <a:prstDash val="solid"/>
          </a:ln>
        </p:spPr>
      </p:sp>
      <p:sp>
        <p:nvSpPr>
          <p:cNvPr id="11" name="Text 9"/>
          <p:cNvSpPr txBox="1"/>
          <p:nvPr/>
        </p:nvSpPr>
        <p:spPr>
          <a:xfrm>
            <a:off x="1069848" y="386791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Jargon and tacit knowledge</a:t>
            </a:r>
            <a:endParaRPr lang="en-US" sz="1200" dirty="0"/>
          </a:p>
        </p:txBody>
      </p:sp>
      <p:sp>
        <p:nvSpPr>
          <p:cNvPr id="12" name="Text 10"/>
          <p:cNvSpPr txBox="1"/>
          <p:nvPr/>
        </p:nvSpPr>
        <p:spPr>
          <a:xfrm>
            <a:off x="1069848" y="4215384"/>
            <a:ext cx="4663440" cy="51206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For a librarian it goes without saying that acquisitions are catalogued first. Nobody mentions it.</a:t>
            </a:r>
            <a:endParaRPr lang="en-US" sz="1300" dirty="0"/>
          </a:p>
        </p:txBody>
      </p:sp>
      <p:sp>
        <p:nvSpPr>
          <p:cNvPr id="13" name="Card"/>
          <p:cNvSpPr/>
          <p:nvPr/>
        </p:nvSpPr>
        <p:spPr>
          <a:xfrm>
            <a:off x="6208776" y="3611880"/>
            <a:ext cx="5175504" cy="1325880"/>
          </a:xfrm>
          <a:prstGeom prst="roundRect">
            <a:avLst>
              <a:gd name="adj" fmla="val 5517"/>
            </a:avLst>
          </a:prstGeom>
          <a:solidFill>
            <a:schemeClr val="bg1"/>
          </a:solidFill>
          <a:ln w="6350">
            <a:solidFill>
              <a:schemeClr val="accent4"/>
            </a:solidFill>
            <a:prstDash val="solid"/>
          </a:ln>
        </p:spPr>
      </p:sp>
      <p:sp>
        <p:nvSpPr>
          <p:cNvPr id="14" name="Text 12"/>
          <p:cNvSpPr txBox="1"/>
          <p:nvPr/>
        </p:nvSpPr>
        <p:spPr>
          <a:xfrm>
            <a:off x="6464808" y="386791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interviews miss</a:t>
            </a:r>
            <a:endParaRPr lang="en-US" sz="1200" dirty="0"/>
          </a:p>
        </p:txBody>
      </p:sp>
      <p:sp>
        <p:nvSpPr>
          <p:cNvPr id="15" name="Text 13"/>
          <p:cNvSpPr txBox="1"/>
          <p:nvPr/>
        </p:nvSpPr>
        <p:spPr>
          <a:xfrm>
            <a:off x="6464808" y="4215384"/>
            <a:ext cx="4663440" cy="512064"/>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Organizational requirements and politics: people won't reveal the real decision structure to a stranger.</a:t>
            </a:r>
            <a:endParaRPr lang="en-US" sz="1300" dirty="0"/>
          </a:p>
        </p:txBody>
      </p:sp>
      <p:sp>
        <p:nvSpPr>
          <p:cNvPr id="16" name="Callout"/>
          <p:cNvSpPr/>
          <p:nvPr/>
        </p:nvSpPr>
        <p:spPr>
          <a:xfrm>
            <a:off x="813816" y="5138928"/>
            <a:ext cx="10570464" cy="566928"/>
          </a:xfrm>
          <a:prstGeom prst="roundRect">
            <a:avLst>
              <a:gd name="adj" fmla="val 12903"/>
            </a:avLst>
          </a:prstGeom>
          <a:solidFill>
            <a:schemeClr val="tx1"/>
          </a:solidFill>
          <a:ln/>
        </p:spPr>
      </p:sp>
      <p:sp>
        <p:nvSpPr>
          <p:cNvPr id="17" name="Text 1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Be open-minded, avoid preconceived ideas, and combine interviews with other techniques: on their own, they miss essential information.</a:t>
            </a:r>
            <a:endParaRPr lang="en-US" sz="1400" dirty="0"/>
          </a:p>
        </p:txBody>
      </p:sp>
      <p:sp>
        <p:nvSpPr>
          <p:cNvPr id="18"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§4.3.1.1, p. 115–116.</a:t>
            </a:r>
            <a:endParaRPr lang="en-US" sz="1100" dirty="0"/>
          </a:p>
        </p:txBody>
      </p:sp>
      <p:sp>
        <p:nvSpPr>
          <p:cNvPr id="19"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28 / 37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TECHNIQUE 2 · OBSERVATION</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Ethnography: watch how people really work</a:t>
            </a:r>
            <a:endParaRPr lang="en-US" sz="3600" dirty="0"/>
          </a:p>
        </p:txBody>
      </p:sp>
      <p:sp>
        <p:nvSpPr>
          <p:cNvPr id="4" name="Card"/>
          <p:cNvSpPr/>
          <p:nvPr/>
        </p:nvSpPr>
        <p:spPr>
          <a:xfrm>
            <a:off x="813816" y="2057400"/>
            <a:ext cx="5175504" cy="2011680"/>
          </a:xfrm>
          <a:prstGeom prst="roundRect">
            <a:avLst>
              <a:gd name="adj" fmla="val 3636"/>
            </a:avLst>
          </a:prstGeom>
          <a:solidFill>
            <a:schemeClr val="bg1"/>
          </a:solidFill>
          <a:ln w="6350">
            <a:solidFill>
              <a:schemeClr val="accent4"/>
            </a:solidFill>
            <a:prstDash val="solid"/>
          </a:ln>
        </p:spPr>
      </p:sp>
      <p:sp>
        <p:nvSpPr>
          <p:cNvPr id="5" name="Text 3"/>
          <p:cNvSpPr txBox="1"/>
          <p:nvPr/>
        </p:nvSpPr>
        <p:spPr>
          <a:xfrm>
            <a:off x="106984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Real work, not the formal process</a:t>
            </a:r>
            <a:endParaRPr lang="en-US" sz="1200" dirty="0"/>
          </a:p>
        </p:txBody>
      </p:sp>
      <p:sp>
        <p:nvSpPr>
          <p:cNvPr id="6" name="Text 4"/>
          <p:cNvSpPr txBox="1"/>
          <p:nvPr/>
        </p:nvSpPr>
        <p:spPr>
          <a:xfrm>
            <a:off x="1069848" y="2660904"/>
            <a:ext cx="4663440" cy="1197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Air traffic controllers may switch off a conflict alert system that is too sensitive, even though procedures say it should be used. A requirement nobody would state in an interview.</a:t>
            </a:r>
            <a:endParaRPr lang="en-US" sz="1400" dirty="0"/>
          </a:p>
        </p:txBody>
      </p:sp>
      <p:sp>
        <p:nvSpPr>
          <p:cNvPr id="7" name="Card"/>
          <p:cNvSpPr/>
          <p:nvPr/>
        </p:nvSpPr>
        <p:spPr>
          <a:xfrm>
            <a:off x="6208776" y="2057400"/>
            <a:ext cx="5175504" cy="2011680"/>
          </a:xfrm>
          <a:prstGeom prst="roundRect">
            <a:avLst>
              <a:gd name="adj" fmla="val 3636"/>
            </a:avLst>
          </a:prstGeom>
          <a:solidFill>
            <a:schemeClr val="bg1"/>
          </a:solidFill>
          <a:ln w="6350">
            <a:solidFill>
              <a:schemeClr val="accent4"/>
            </a:solidFill>
            <a:prstDash val="solid"/>
          </a:ln>
        </p:spPr>
      </p:sp>
      <p:sp>
        <p:nvSpPr>
          <p:cNvPr id="8" name="Text 6"/>
          <p:cNvSpPr txBox="1"/>
          <p:nvPr/>
        </p:nvSpPr>
        <p:spPr>
          <a:xfrm>
            <a:off x="646480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Cooperation and awareness</a:t>
            </a:r>
            <a:endParaRPr lang="en-US" sz="1200" dirty="0"/>
          </a:p>
        </p:txBody>
      </p:sp>
      <p:sp>
        <p:nvSpPr>
          <p:cNvPr id="9" name="Text 7"/>
          <p:cNvSpPr txBox="1"/>
          <p:nvPr/>
        </p:nvSpPr>
        <p:spPr>
          <a:xfrm>
            <a:off x="6464808" y="2660904"/>
            <a:ext cx="4663440" cy="1197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Controllers watch adjacent sectors to predict their own workload. A system should give that visibility.</a:t>
            </a:r>
            <a:endParaRPr lang="en-US" sz="1400" dirty="0"/>
          </a:p>
        </p:txBody>
      </p:sp>
      <p:sp>
        <p:nvSpPr>
          <p:cNvPr id="10" name="Figure card"/>
          <p:cNvSpPr/>
          <p:nvPr/>
        </p:nvSpPr>
        <p:spPr>
          <a:xfrm>
            <a:off x="813816" y="4206240"/>
            <a:ext cx="5852160" cy="1463040"/>
          </a:xfrm>
          <a:prstGeom prst="roundRect">
            <a:avLst>
              <a:gd name="adj" fmla="val 5000"/>
            </a:avLst>
          </a:prstGeom>
          <a:solidFill>
            <a:schemeClr val="bg1"/>
          </a:solidFill>
          <a:ln w="6350">
            <a:solidFill>
              <a:schemeClr val="accent4"/>
            </a:solidFill>
            <a:prstDash val="solid"/>
          </a:ln>
        </p:spPr>
      </p:sp>
      <p:pic>
        <p:nvPicPr>
          <p:cNvPr id="11" name="Figure" descr="sommerville-fig4.8-etnografie-prototip-p118.png">    </p:cNvPr>
          <p:cNvPicPr>
            <a:picLocks noChangeAspect="1"/>
          </p:cNvPicPr>
          <p:nvPr/>
        </p:nvPicPr>
        <p:blipFill>
          <a:blip r:embed="rId1"/>
          <a:stretch>
            <a:fillRect/>
          </a:stretch>
        </p:blipFill>
        <p:spPr>
          <a:xfrm>
            <a:off x="1764080" y="4315968"/>
            <a:ext cx="3951632" cy="1243584"/>
          </a:xfrm>
          <a:prstGeom prst="rect">
            <a:avLst/>
          </a:prstGeom>
        </p:spPr>
      </p:pic>
      <p:sp>
        <p:nvSpPr>
          <p:cNvPr id="12" name="Card"/>
          <p:cNvSpPr/>
          <p:nvPr/>
        </p:nvSpPr>
        <p:spPr>
          <a:xfrm>
            <a:off x="6876288" y="4206240"/>
            <a:ext cx="4507992" cy="1463040"/>
          </a:xfrm>
          <a:prstGeom prst="roundRect">
            <a:avLst>
              <a:gd name="adj" fmla="val 5000"/>
            </a:avLst>
          </a:prstGeom>
          <a:solidFill>
            <a:schemeClr val="tx1"/>
          </a:solidFill>
          <a:ln/>
        </p:spPr>
      </p:sp>
      <p:sp>
        <p:nvSpPr>
          <p:cNvPr id="13" name="Text 10"/>
          <p:cNvSpPr txBox="1"/>
          <p:nvPr/>
        </p:nvSpPr>
        <p:spPr>
          <a:xfrm>
            <a:off x="7132320" y="4462272"/>
            <a:ext cx="3995928"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Its limit</a:t>
            </a:r>
            <a:endParaRPr lang="en-US" sz="1200" dirty="0"/>
          </a:p>
        </p:txBody>
      </p:sp>
      <p:sp>
        <p:nvSpPr>
          <p:cNvPr id="14" name="Text 11"/>
          <p:cNvSpPr txBox="1"/>
          <p:nvPr/>
        </p:nvSpPr>
        <p:spPr>
          <a:xfrm>
            <a:off x="7132320" y="4809744"/>
            <a:ext cx="3995928" cy="649224"/>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Understands what exists, doesn't invent. Nokia studied phone use; the iPhone ignored it.</a:t>
            </a:r>
            <a:endParaRPr lang="en-US" sz="1300" dirty="0"/>
          </a:p>
        </p:txBody>
      </p:sp>
      <p:sp>
        <p:nvSpPr>
          <p:cNvPr id="1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§4.3.1.2, p. 116–118, Figure 4.8.</a:t>
            </a:r>
            <a:endParaRPr lang="en-US" sz="1100" dirty="0"/>
          </a:p>
        </p:txBody>
      </p:sp>
      <p:sp>
        <p:nvSpPr>
          <p:cNvPr id="1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29 / 37</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TECHNIQUE 3 · STORIES AND SCENARIOS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Stories give the picture, scenarios the detail</a:t>
            </a:r>
            <a:endParaRPr lang="en-US" sz="3600" dirty="0"/>
          </a:p>
        </p:txBody>
      </p:sp>
      <p:sp>
        <p:nvSpPr>
          <p:cNvPr id="4" name="Card"/>
          <p:cNvSpPr/>
          <p:nvPr/>
        </p:nvSpPr>
        <p:spPr>
          <a:xfrm>
            <a:off x="813816" y="2057400"/>
            <a:ext cx="3374136" cy="3017520"/>
          </a:xfrm>
          <a:prstGeom prst="roundRect">
            <a:avLst>
              <a:gd name="adj" fmla="val 2424"/>
            </a:avLst>
          </a:prstGeom>
          <a:solidFill>
            <a:schemeClr val="bg1"/>
          </a:solidFill>
          <a:ln w="6350">
            <a:solidFill>
              <a:schemeClr val="accent4"/>
            </a:solidFill>
            <a:prstDash val="solid"/>
          </a:ln>
        </p:spPr>
      </p:sp>
      <p:sp>
        <p:nvSpPr>
          <p:cNvPr id="5" name="Text 3"/>
          <p:cNvSpPr txBox="1"/>
          <p:nvPr/>
        </p:nvSpPr>
        <p:spPr>
          <a:xfrm>
            <a:off x="1069848" y="2313432"/>
            <a:ext cx="2862072"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Story</a:t>
            </a:r>
            <a:endParaRPr lang="en-US" sz="1200" dirty="0"/>
          </a:p>
        </p:txBody>
      </p:sp>
      <p:sp>
        <p:nvSpPr>
          <p:cNvPr id="6" name="Text 4"/>
          <p:cNvSpPr txBox="1"/>
          <p:nvPr/>
        </p:nvSpPr>
        <p:spPr>
          <a:xfrm>
            <a:off x="1069848" y="2660904"/>
            <a:ext cx="2862072" cy="22037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Narrative, high level. Example: a teacher in Ullapool needs a photo-sharing site for a class project on the fishing industry. Easy for anyone to relate to and comment on.</a:t>
            </a:r>
            <a:endParaRPr lang="en-US" sz="1400" dirty="0"/>
          </a:p>
        </p:txBody>
      </p:sp>
      <p:sp>
        <p:nvSpPr>
          <p:cNvPr id="7" name="Scenario card"/>
          <p:cNvSpPr/>
          <p:nvPr/>
        </p:nvSpPr>
        <p:spPr>
          <a:xfrm>
            <a:off x="4407408" y="2057400"/>
            <a:ext cx="6976872" cy="3017520"/>
          </a:xfrm>
          <a:prstGeom prst="roundRect">
            <a:avLst>
              <a:gd name="adj" fmla="val 2424"/>
            </a:avLst>
          </a:prstGeom>
          <a:solidFill>
            <a:schemeClr val="bg1"/>
          </a:solidFill>
          <a:ln w="6350">
            <a:solidFill>
              <a:schemeClr val="accent4"/>
            </a:solidFill>
            <a:prstDash val="solid"/>
          </a:ln>
        </p:spPr>
      </p:sp>
      <p:sp>
        <p:nvSpPr>
          <p:cNvPr id="8" name="Text 6"/>
          <p:cNvSpPr txBox="1"/>
          <p:nvPr/>
        </p:nvSpPr>
        <p:spPr>
          <a:xfrm>
            <a:off x="4663440" y="2286000"/>
            <a:ext cx="640080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Scenario: five parts</a:t>
            </a:r>
            <a:endParaRPr lang="en-US" sz="1200" dirty="0"/>
          </a:p>
        </p:txBody>
      </p:sp>
      <p:sp>
        <p:nvSpPr>
          <p:cNvPr id="9" name="Step"/>
          <p:cNvSpPr/>
          <p:nvPr/>
        </p:nvSpPr>
        <p:spPr>
          <a:xfrm>
            <a:off x="4663440" y="2706624"/>
            <a:ext cx="329184" cy="329184"/>
          </a:xfrm>
          <a:prstGeom prst="ellipse">
            <a:avLst/>
          </a:prstGeom>
          <a:solidFill>
            <a:schemeClr val="tx1"/>
          </a:solidFill>
          <a:ln/>
        </p:spPr>
      </p:sp>
      <p:sp>
        <p:nvSpPr>
          <p:cNvPr id="10" name="Text 8"/>
          <p:cNvSpPr txBox="1"/>
          <p:nvPr/>
        </p:nvSpPr>
        <p:spPr>
          <a:xfrm>
            <a:off x="4663440" y="2706624"/>
            <a:ext cx="329184" cy="329184"/>
          </a:xfrm>
          <a:prstGeom prst="rect">
            <a:avLst/>
          </a:prstGeom>
          <a:noFill/>
          <a:ln/>
        </p:spPr>
        <p:txBody>
          <a:bodyPr wrap="square" lIns="0" tIns="0" rIns="0" bIns="0" rtlCol="0" anchor="ctr"/>
          <a:lstStyle/>
          <a:p>
            <a:pPr algn="ctr" indent="0" marL="0">
              <a:buNone/>
            </a:pPr>
            <a:r>
              <a:rPr lang="en-US" sz="1200" b="1" dirty="0">
                <a:solidFill>
                  <a:schemeClr val="bg2"/>
                </a:solidFill>
              </a:rPr>
              <a:t>1</a:t>
            </a:r>
            <a:endParaRPr lang="en-US" sz="1200" dirty="0"/>
          </a:p>
        </p:txBody>
      </p:sp>
      <p:sp>
        <p:nvSpPr>
          <p:cNvPr id="11" name="Text 9"/>
          <p:cNvSpPr txBox="1"/>
          <p:nvPr/>
        </p:nvSpPr>
        <p:spPr>
          <a:xfrm>
            <a:off x="5138928" y="2670048"/>
            <a:ext cx="6035040" cy="402336"/>
          </a:xfrm>
          <a:prstGeom prst="rect">
            <a:avLst/>
          </a:prstGeom>
          <a:noFill/>
          <a:ln/>
        </p:spPr>
        <p:txBody>
          <a:bodyPr wrap="square" lIns="0" tIns="0" rIns="0" bIns="0" rtlCol="0" anchor="ctr"/>
          <a:lstStyle/>
          <a:p>
            <a:pPr indent="0" marL="0">
              <a:buNone/>
            </a:pPr>
            <a:r>
              <a:rPr lang="en-US" sz="1500" dirty="0">
                <a:solidFill>
                  <a:schemeClr val="tx1"/>
                </a:solidFill>
              </a:rPr>
              <a:t>What the system and users expect when it starts</a:t>
            </a:r>
            <a:endParaRPr lang="en-US" sz="1500" dirty="0"/>
          </a:p>
        </p:txBody>
      </p:sp>
      <p:sp>
        <p:nvSpPr>
          <p:cNvPr id="12" name="Step"/>
          <p:cNvSpPr/>
          <p:nvPr/>
        </p:nvSpPr>
        <p:spPr>
          <a:xfrm>
            <a:off x="4663440" y="3163824"/>
            <a:ext cx="329184" cy="329184"/>
          </a:xfrm>
          <a:prstGeom prst="ellipse">
            <a:avLst/>
          </a:prstGeom>
          <a:solidFill>
            <a:schemeClr val="tx1"/>
          </a:solidFill>
          <a:ln/>
        </p:spPr>
      </p:sp>
      <p:sp>
        <p:nvSpPr>
          <p:cNvPr id="13" name="Text 11"/>
          <p:cNvSpPr txBox="1"/>
          <p:nvPr/>
        </p:nvSpPr>
        <p:spPr>
          <a:xfrm>
            <a:off x="4663440" y="3163824"/>
            <a:ext cx="329184" cy="329184"/>
          </a:xfrm>
          <a:prstGeom prst="rect">
            <a:avLst/>
          </a:prstGeom>
          <a:noFill/>
          <a:ln/>
        </p:spPr>
        <p:txBody>
          <a:bodyPr wrap="square" lIns="0" tIns="0" rIns="0" bIns="0" rtlCol="0" anchor="ctr"/>
          <a:lstStyle/>
          <a:p>
            <a:pPr algn="ctr" indent="0" marL="0">
              <a:buNone/>
            </a:pPr>
            <a:r>
              <a:rPr lang="en-US" sz="1200" b="1" dirty="0">
                <a:solidFill>
                  <a:schemeClr val="bg2"/>
                </a:solidFill>
              </a:rPr>
              <a:t>2</a:t>
            </a:r>
            <a:endParaRPr lang="en-US" sz="1200" dirty="0"/>
          </a:p>
        </p:txBody>
      </p:sp>
      <p:sp>
        <p:nvSpPr>
          <p:cNvPr id="14" name="Text 12"/>
          <p:cNvSpPr txBox="1"/>
          <p:nvPr/>
        </p:nvSpPr>
        <p:spPr>
          <a:xfrm>
            <a:off x="5138928" y="3127248"/>
            <a:ext cx="6035040" cy="402336"/>
          </a:xfrm>
          <a:prstGeom prst="rect">
            <a:avLst/>
          </a:prstGeom>
          <a:noFill/>
          <a:ln/>
        </p:spPr>
        <p:txBody>
          <a:bodyPr wrap="square" lIns="0" tIns="0" rIns="0" bIns="0" rtlCol="0" anchor="ctr"/>
          <a:lstStyle/>
          <a:p>
            <a:pPr indent="0" marL="0">
              <a:buNone/>
            </a:pPr>
            <a:r>
              <a:rPr lang="en-US" sz="1500" dirty="0">
                <a:solidFill>
                  <a:schemeClr val="tx1"/>
                </a:solidFill>
              </a:rPr>
              <a:t>The normal flow of events</a:t>
            </a:r>
            <a:endParaRPr lang="en-US" sz="1500" dirty="0"/>
          </a:p>
        </p:txBody>
      </p:sp>
      <p:sp>
        <p:nvSpPr>
          <p:cNvPr id="15" name="Step"/>
          <p:cNvSpPr/>
          <p:nvPr/>
        </p:nvSpPr>
        <p:spPr>
          <a:xfrm>
            <a:off x="4663440" y="3621024"/>
            <a:ext cx="329184" cy="329184"/>
          </a:xfrm>
          <a:prstGeom prst="ellipse">
            <a:avLst/>
          </a:prstGeom>
          <a:solidFill>
            <a:schemeClr val="tx1"/>
          </a:solidFill>
          <a:ln/>
        </p:spPr>
      </p:sp>
      <p:sp>
        <p:nvSpPr>
          <p:cNvPr id="16" name="Text 14"/>
          <p:cNvSpPr txBox="1"/>
          <p:nvPr/>
        </p:nvSpPr>
        <p:spPr>
          <a:xfrm>
            <a:off x="4663440" y="3621024"/>
            <a:ext cx="329184" cy="329184"/>
          </a:xfrm>
          <a:prstGeom prst="rect">
            <a:avLst/>
          </a:prstGeom>
          <a:noFill/>
          <a:ln/>
        </p:spPr>
        <p:txBody>
          <a:bodyPr wrap="square" lIns="0" tIns="0" rIns="0" bIns="0" rtlCol="0" anchor="ctr"/>
          <a:lstStyle/>
          <a:p>
            <a:pPr algn="ctr" indent="0" marL="0">
              <a:buNone/>
            </a:pPr>
            <a:r>
              <a:rPr lang="en-US" sz="1200" b="1" dirty="0">
                <a:solidFill>
                  <a:schemeClr val="bg2"/>
                </a:solidFill>
              </a:rPr>
              <a:t>3</a:t>
            </a:r>
            <a:endParaRPr lang="en-US" sz="1200" dirty="0"/>
          </a:p>
        </p:txBody>
      </p:sp>
      <p:sp>
        <p:nvSpPr>
          <p:cNvPr id="17" name="Text 15"/>
          <p:cNvSpPr txBox="1"/>
          <p:nvPr/>
        </p:nvSpPr>
        <p:spPr>
          <a:xfrm>
            <a:off x="5138928" y="3584448"/>
            <a:ext cx="6035040" cy="402336"/>
          </a:xfrm>
          <a:prstGeom prst="rect">
            <a:avLst/>
          </a:prstGeom>
          <a:noFill/>
          <a:ln/>
        </p:spPr>
        <p:txBody>
          <a:bodyPr wrap="square" lIns="0" tIns="0" rIns="0" bIns="0" rtlCol="0" anchor="ctr"/>
          <a:lstStyle/>
          <a:p>
            <a:pPr indent="0" marL="0">
              <a:buNone/>
            </a:pPr>
            <a:r>
              <a:rPr lang="en-US" sz="1500" dirty="0">
                <a:solidFill>
                  <a:schemeClr val="tx1"/>
                </a:solidFill>
              </a:rPr>
              <a:t>What can go wrong, and how it is handled</a:t>
            </a:r>
            <a:endParaRPr lang="en-US" sz="1500" dirty="0"/>
          </a:p>
        </p:txBody>
      </p:sp>
      <p:sp>
        <p:nvSpPr>
          <p:cNvPr id="18" name="Step"/>
          <p:cNvSpPr/>
          <p:nvPr/>
        </p:nvSpPr>
        <p:spPr>
          <a:xfrm>
            <a:off x="4663440" y="4078224"/>
            <a:ext cx="329184" cy="329184"/>
          </a:xfrm>
          <a:prstGeom prst="ellipse">
            <a:avLst/>
          </a:prstGeom>
          <a:solidFill>
            <a:schemeClr val="tx1"/>
          </a:solidFill>
          <a:ln/>
        </p:spPr>
      </p:sp>
      <p:sp>
        <p:nvSpPr>
          <p:cNvPr id="19" name="Text 17"/>
          <p:cNvSpPr txBox="1"/>
          <p:nvPr/>
        </p:nvSpPr>
        <p:spPr>
          <a:xfrm>
            <a:off x="4663440" y="4078224"/>
            <a:ext cx="329184" cy="329184"/>
          </a:xfrm>
          <a:prstGeom prst="rect">
            <a:avLst/>
          </a:prstGeom>
          <a:noFill/>
          <a:ln/>
        </p:spPr>
        <p:txBody>
          <a:bodyPr wrap="square" lIns="0" tIns="0" rIns="0" bIns="0" rtlCol="0" anchor="ctr"/>
          <a:lstStyle/>
          <a:p>
            <a:pPr algn="ctr" indent="0" marL="0">
              <a:buNone/>
            </a:pPr>
            <a:r>
              <a:rPr lang="en-US" sz="1200" b="1" dirty="0">
                <a:solidFill>
                  <a:schemeClr val="bg2"/>
                </a:solidFill>
              </a:rPr>
              <a:t>4</a:t>
            </a:r>
            <a:endParaRPr lang="en-US" sz="1200" dirty="0"/>
          </a:p>
        </p:txBody>
      </p:sp>
      <p:sp>
        <p:nvSpPr>
          <p:cNvPr id="20" name="Text 18"/>
          <p:cNvSpPr txBox="1"/>
          <p:nvPr/>
        </p:nvSpPr>
        <p:spPr>
          <a:xfrm>
            <a:off x="5138928" y="4041648"/>
            <a:ext cx="6035040" cy="402336"/>
          </a:xfrm>
          <a:prstGeom prst="rect">
            <a:avLst/>
          </a:prstGeom>
          <a:noFill/>
          <a:ln/>
        </p:spPr>
        <p:txBody>
          <a:bodyPr wrap="square" lIns="0" tIns="0" rIns="0" bIns="0" rtlCol="0" anchor="ctr"/>
          <a:lstStyle/>
          <a:p>
            <a:pPr indent="0" marL="0">
              <a:buNone/>
            </a:pPr>
            <a:r>
              <a:rPr lang="en-US" sz="1500" dirty="0">
                <a:solidFill>
                  <a:schemeClr val="tx1"/>
                </a:solidFill>
              </a:rPr>
              <a:t>Other activities going on at the same time</a:t>
            </a:r>
            <a:endParaRPr lang="en-US" sz="1500" dirty="0"/>
          </a:p>
        </p:txBody>
      </p:sp>
      <p:sp>
        <p:nvSpPr>
          <p:cNvPr id="21" name="Step"/>
          <p:cNvSpPr/>
          <p:nvPr/>
        </p:nvSpPr>
        <p:spPr>
          <a:xfrm>
            <a:off x="4663440" y="4535424"/>
            <a:ext cx="329184" cy="329184"/>
          </a:xfrm>
          <a:prstGeom prst="ellipse">
            <a:avLst/>
          </a:prstGeom>
          <a:solidFill>
            <a:schemeClr val="tx1"/>
          </a:solidFill>
          <a:ln/>
        </p:spPr>
      </p:sp>
      <p:sp>
        <p:nvSpPr>
          <p:cNvPr id="22" name="Text 20"/>
          <p:cNvSpPr txBox="1"/>
          <p:nvPr/>
        </p:nvSpPr>
        <p:spPr>
          <a:xfrm>
            <a:off x="4663440" y="4535424"/>
            <a:ext cx="329184" cy="329184"/>
          </a:xfrm>
          <a:prstGeom prst="rect">
            <a:avLst/>
          </a:prstGeom>
          <a:noFill/>
          <a:ln/>
        </p:spPr>
        <p:txBody>
          <a:bodyPr wrap="square" lIns="0" tIns="0" rIns="0" bIns="0" rtlCol="0" anchor="ctr"/>
          <a:lstStyle/>
          <a:p>
            <a:pPr algn="ctr" indent="0" marL="0">
              <a:buNone/>
            </a:pPr>
            <a:r>
              <a:rPr lang="en-US" sz="1200" b="1" dirty="0">
                <a:solidFill>
                  <a:schemeClr val="bg2"/>
                </a:solidFill>
              </a:rPr>
              <a:t>5</a:t>
            </a:r>
            <a:endParaRPr lang="en-US" sz="1200" dirty="0"/>
          </a:p>
        </p:txBody>
      </p:sp>
      <p:sp>
        <p:nvSpPr>
          <p:cNvPr id="23" name="Text 21"/>
          <p:cNvSpPr txBox="1"/>
          <p:nvPr/>
        </p:nvSpPr>
        <p:spPr>
          <a:xfrm>
            <a:off x="5138928" y="4498848"/>
            <a:ext cx="6035040" cy="402336"/>
          </a:xfrm>
          <a:prstGeom prst="rect">
            <a:avLst/>
          </a:prstGeom>
          <a:noFill/>
          <a:ln/>
        </p:spPr>
        <p:txBody>
          <a:bodyPr wrap="square" lIns="0" tIns="0" rIns="0" bIns="0" rtlCol="0" anchor="ctr"/>
          <a:lstStyle/>
          <a:p>
            <a:pPr indent="0" marL="0">
              <a:buNone/>
            </a:pPr>
            <a:r>
              <a:rPr lang="en-US" sz="1500" dirty="0">
                <a:solidFill>
                  <a:schemeClr val="tx1"/>
                </a:solidFill>
              </a:rPr>
              <a:t>The state of the system when it ends</a:t>
            </a:r>
            <a:endParaRPr lang="en-US" sz="1500" dirty="0"/>
          </a:p>
        </p:txBody>
      </p:sp>
      <p:sp>
        <p:nvSpPr>
          <p:cNvPr id="24" name="Callout"/>
          <p:cNvSpPr/>
          <p:nvPr/>
        </p:nvSpPr>
        <p:spPr>
          <a:xfrm>
            <a:off x="813816" y="5230368"/>
            <a:ext cx="10570464" cy="566928"/>
          </a:xfrm>
          <a:prstGeom prst="roundRect">
            <a:avLst>
              <a:gd name="adj" fmla="val 12903"/>
            </a:avLst>
          </a:prstGeom>
          <a:solidFill>
            <a:schemeClr val="tx1"/>
          </a:solidFill>
          <a:ln/>
        </p:spPr>
      </p:sp>
      <p:sp>
        <p:nvSpPr>
          <p:cNvPr id="25" name="Text 23"/>
          <p:cNvSpPr txBox="1"/>
          <p:nvPr/>
        </p:nvSpPr>
        <p:spPr>
          <a:xfrm>
            <a:off x="1069848" y="523036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At MDS you wrote user stories. Sommerville: user stories in agile methods such as XP “are actually narrative scenarios rather than general stories”.</a:t>
            </a:r>
            <a:endParaRPr lang="en-US" sz="1400" dirty="0"/>
          </a:p>
        </p:txBody>
      </p:sp>
      <p:sp>
        <p:nvSpPr>
          <p:cNvPr id="26"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§4.3.2, p. 118–120, Figures 4.9 and 4.10.</a:t>
            </a:r>
            <a:endParaRPr lang="en-US" sz="1100" dirty="0"/>
          </a:p>
        </p:txBody>
      </p:sp>
      <p:sp>
        <p:nvSpPr>
          <p:cNvPr id="27"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30 / 37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WORKED EXAMPLE</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A vague request, given to an AI assistant</a:t>
            </a:r>
            <a:endParaRPr lang="en-US" sz="3600" dirty="0"/>
          </a:p>
        </p:txBody>
      </p:sp>
      <p:sp>
        <p:nvSpPr>
          <p:cNvPr id="4" name="Request"/>
          <p:cNvSpPr/>
          <p:nvPr/>
        </p:nvSpPr>
        <p:spPr>
          <a:xfrm>
            <a:off x="813816" y="2057400"/>
            <a:ext cx="10570464" cy="566928"/>
          </a:xfrm>
          <a:prstGeom prst="roundRect">
            <a:avLst>
              <a:gd name="adj" fmla="val 12903"/>
            </a:avLst>
          </a:prstGeom>
          <a:solidFill>
            <a:schemeClr val="bg1"/>
          </a:solidFill>
          <a:ln w="6350">
            <a:solidFill>
              <a:schemeClr val="accent4"/>
            </a:solidFill>
            <a:prstDash val="solid"/>
          </a:ln>
        </p:spPr>
      </p:sp>
      <p:sp>
        <p:nvSpPr>
          <p:cNvPr id="5" name="Text 3"/>
          <p:cNvSpPr txBox="1"/>
          <p:nvPr/>
        </p:nvSpPr>
        <p:spPr>
          <a:xfrm>
            <a:off x="1069848" y="2057400"/>
            <a:ext cx="10058400" cy="566928"/>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Request:  </a:t>
            </a:r>
            <a:pPr indent="0" marL="0">
              <a:buNone/>
            </a:pPr>
            <a:r>
              <a:rPr lang="en-US" sz="1600" b="1" dirty="0">
                <a:solidFill>
                  <a:schemeClr val="tx1"/>
                </a:solidFill>
              </a:rPr>
              <a:t>“We want an app for booking seats in the library reading rooms.”</a:t>
            </a:r>
            <a:endParaRPr lang="en-US" sz="1200" dirty="0"/>
          </a:p>
        </p:txBody>
      </p:sp>
      <p:sp>
        <p:nvSpPr>
          <p:cNvPr id="6" name="Card"/>
          <p:cNvSpPr/>
          <p:nvPr/>
        </p:nvSpPr>
        <p:spPr>
          <a:xfrm>
            <a:off x="813816" y="2761488"/>
            <a:ext cx="5175504" cy="2240280"/>
          </a:xfrm>
          <a:prstGeom prst="roundRect">
            <a:avLst>
              <a:gd name="adj" fmla="val 3265"/>
            </a:avLst>
          </a:prstGeom>
          <a:solidFill>
            <a:schemeClr val="bg1"/>
          </a:solidFill>
          <a:ln w="6350">
            <a:solidFill>
              <a:schemeClr val="accent4"/>
            </a:solidFill>
            <a:prstDash val="solid"/>
          </a:ln>
        </p:spPr>
      </p:sp>
      <p:sp>
        <p:nvSpPr>
          <p:cNvPr id="7" name="Text 5"/>
          <p:cNvSpPr txBox="1"/>
          <p:nvPr/>
        </p:nvSpPr>
        <p:spPr>
          <a:xfrm>
            <a:off x="1069848" y="3017520"/>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it can ask</a:t>
            </a:r>
            <a:endParaRPr lang="en-US" sz="1200" dirty="0"/>
          </a:p>
        </p:txBody>
      </p:sp>
      <p:sp>
        <p:nvSpPr>
          <p:cNvPr id="8" name="Text 6"/>
          <p:cNvSpPr txBox="1"/>
          <p:nvPr/>
        </p:nvSpPr>
        <p:spPr>
          <a:xfrm>
            <a:off x="1069848" y="3364992"/>
            <a:ext cx="4663440" cy="1426464"/>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Who are the users? How do they log in?</a:t>
            </a:r>
            <a:endParaRPr lang="en-US" sz="1400" dirty="0"/>
          </a:p>
          <a:p>
            <a:pPr marL="177800" indent="-177800">
              <a:spcAft>
                <a:spcPts val="400"/>
              </a:spcAft>
              <a:buSzPct val="100000"/>
              <a:buChar char="•"/>
            </a:pPr>
            <a:r>
              <a:rPr lang="en-US" sz="1400" dirty="0">
                <a:solidFill>
                  <a:schemeClr val="tx2"/>
                </a:solidFill>
              </a:rPr>
              <a:t>Opening hours, peak times, how long a booking lasts.</a:t>
            </a:r>
            <a:endParaRPr lang="en-US" sz="1400" dirty="0"/>
          </a:p>
          <a:p>
            <a:pPr marL="177800" indent="-177800">
              <a:spcAft>
                <a:spcPts val="400"/>
              </a:spcAft>
              <a:buSzPct val="100000"/>
              <a:buChar char="•"/>
            </a:pPr>
            <a:r>
              <a:rPr lang="en-US" sz="1400" dirty="0">
                <a:solidFill>
                  <a:schemeClr val="tx2"/>
                </a:solidFill>
              </a:rPr>
              <a:t>Cancellations, no-shows, notifications.</a:t>
            </a:r>
            <a:endParaRPr lang="en-US" sz="1400" dirty="0"/>
          </a:p>
        </p:txBody>
      </p:sp>
      <p:sp>
        <p:nvSpPr>
          <p:cNvPr id="9" name="Card"/>
          <p:cNvSpPr/>
          <p:nvPr/>
        </p:nvSpPr>
        <p:spPr>
          <a:xfrm>
            <a:off x="6208776" y="2761488"/>
            <a:ext cx="5175504" cy="2240280"/>
          </a:xfrm>
          <a:prstGeom prst="roundRect">
            <a:avLst>
              <a:gd name="adj" fmla="val 3265"/>
            </a:avLst>
          </a:prstGeom>
          <a:solidFill>
            <a:schemeClr val="tx1"/>
          </a:solidFill>
          <a:ln/>
        </p:spPr>
      </p:sp>
      <p:sp>
        <p:nvSpPr>
          <p:cNvPr id="10" name="Text 8"/>
          <p:cNvSpPr txBox="1"/>
          <p:nvPr/>
        </p:nvSpPr>
        <p:spPr>
          <a:xfrm>
            <a:off x="6464808" y="3017520"/>
            <a:ext cx="466344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What it cannot know</a:t>
            </a:r>
            <a:endParaRPr lang="en-US" sz="1200" dirty="0"/>
          </a:p>
        </p:txBody>
      </p:sp>
      <p:sp>
        <p:nvSpPr>
          <p:cNvPr id="11" name="Text 9"/>
          <p:cNvSpPr txBox="1"/>
          <p:nvPr/>
        </p:nvSpPr>
        <p:spPr>
          <a:xfrm>
            <a:off x="6464808" y="3364992"/>
            <a:ext cx="4663440" cy="1426464"/>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accent5"/>
                </a:solidFill>
              </a:rPr>
              <a:t>Students hold seats by leaving a backpack (observation).</a:t>
            </a:r>
            <a:endParaRPr lang="en-US" sz="1400" dirty="0"/>
          </a:p>
          <a:p>
            <a:pPr marL="177800" indent="-177800">
              <a:spcAft>
                <a:spcPts val="400"/>
              </a:spcAft>
              <a:buSzPct val="100000"/>
              <a:buChar char="•"/>
            </a:pPr>
            <a:r>
              <a:rPr lang="en-US" sz="1400" dirty="0">
                <a:solidFill>
                  <a:schemeClr val="accent5"/>
                </a:solidFill>
              </a:rPr>
              <a:t>Turnstiles already log every entry (existing system).</a:t>
            </a:r>
            <a:endParaRPr lang="en-US" sz="1400" dirty="0"/>
          </a:p>
          <a:p>
            <a:pPr marL="177800" indent="-177800">
              <a:spcAft>
                <a:spcPts val="400"/>
              </a:spcAft>
              <a:buSzPct val="100000"/>
              <a:buChar char="•"/>
            </a:pPr>
            <a:r>
              <a:rPr lang="en-US" sz="1400" dirty="0">
                <a:solidFill>
                  <a:schemeClr val="accent5"/>
                </a:solidFill>
              </a:rPr>
              <a:t>The director wants occupancy figures for the budget (politics).</a:t>
            </a:r>
            <a:endParaRPr lang="en-US" sz="1400" dirty="0"/>
          </a:p>
        </p:txBody>
      </p:sp>
      <p:sp>
        <p:nvSpPr>
          <p:cNvPr id="12" name="Callout"/>
          <p:cNvSpPr/>
          <p:nvPr/>
        </p:nvSpPr>
        <p:spPr>
          <a:xfrm>
            <a:off x="813816" y="5138928"/>
            <a:ext cx="10570464" cy="566928"/>
          </a:xfrm>
          <a:prstGeom prst="roundRect">
            <a:avLst>
              <a:gd name="adj" fmla="val 12903"/>
            </a:avLst>
          </a:prstGeom>
          <a:solidFill>
            <a:schemeClr val="tx1"/>
          </a:solidFill>
          <a:ln/>
        </p:spPr>
      </p:sp>
      <p:sp>
        <p:nvSpPr>
          <p:cNvPr id="13" name="Text 11"/>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An AI can play a stakeholder and propose good questions. It can't observe how people work, and it doesn't know what nobody told it.</a:t>
            </a:r>
            <a:endParaRPr lang="en-US" sz="1400" dirty="0"/>
          </a:p>
        </p:txBody>
      </p:sp>
      <p:sp>
        <p:nvSpPr>
          <p:cNvPr id="1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Illustrative example (course). Techniques: Sommerville, Software Engineering, 10th ed., §4.3, p. 112–120.</a:t>
            </a:r>
            <a:endParaRPr lang="en-US" sz="1100" dirty="0"/>
          </a:p>
        </p:txBody>
      </p:sp>
      <p:sp>
        <p:nvSpPr>
          <p:cNvPr id="1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31 / 37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TECHNIQUE 4 · EXISTING SYSTEMS</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Mining the system you already have</a:t>
            </a:r>
            <a:endParaRPr lang="en-US" sz="3600" dirty="0"/>
          </a:p>
        </p:txBody>
      </p:sp>
      <p:sp>
        <p:nvSpPr>
          <p:cNvPr id="4" name="Quote"/>
          <p:cNvSpPr/>
          <p:nvPr/>
        </p:nvSpPr>
        <p:spPr>
          <a:xfrm>
            <a:off x="813816" y="2057400"/>
            <a:ext cx="10570464" cy="777240"/>
          </a:xfrm>
          <a:prstGeom prst="roundRect">
            <a:avLst>
              <a:gd name="adj" fmla="val 9412"/>
            </a:avLst>
          </a:prstGeom>
          <a:solidFill>
            <a:schemeClr val="tx1"/>
          </a:solidFill>
          <a:ln/>
        </p:spPr>
      </p:sp>
      <p:sp>
        <p:nvSpPr>
          <p:cNvPr id="5" name="Text 3"/>
          <p:cNvSpPr txBox="1"/>
          <p:nvPr/>
        </p:nvSpPr>
        <p:spPr>
          <a:xfrm>
            <a:off x="1069848" y="2057400"/>
            <a:ext cx="10058400" cy="777240"/>
          </a:xfrm>
          <a:prstGeom prst="rect">
            <a:avLst/>
          </a:prstGeom>
          <a:noFill/>
          <a:ln/>
        </p:spPr>
        <p:txBody>
          <a:bodyPr wrap="square" lIns="0" tIns="0" rIns="0" bIns="0" rtlCol="0" anchor="ctr"/>
          <a:lstStyle/>
          <a:p>
            <a:pPr indent="0" marL="0">
              <a:buNone/>
            </a:pPr>
            <a:r>
              <a:rPr lang="en-US" sz="1500" dirty="0">
                <a:solidFill>
                  <a:schemeClr val="bg2"/>
                </a:solidFill>
              </a:rPr>
              <a:t>Sommerville: supplement what stakeholders say “with knowledge of existing systems and their usage and information from documents of various kinds.” </a:t>
            </a:r>
            <a:pPr indent="0" marL="0">
              <a:buNone/>
            </a:pPr>
            <a:r>
              <a:rPr lang="en-US" sz="1500" b="1" dirty="0">
                <a:solidFill>
                  <a:schemeClr val="accent2"/>
                </a:solidFill>
              </a:rPr>
              <a:t>For you, the existing system is the MDS repository.</a:t>
            </a:r>
            <a:endParaRPr lang="en-US" sz="1500" dirty="0"/>
          </a:p>
        </p:txBody>
      </p:sp>
      <p:sp>
        <p:nvSpPr>
          <p:cNvPr id="6" name="Card"/>
          <p:cNvSpPr/>
          <p:nvPr/>
        </p:nvSpPr>
        <p:spPr>
          <a:xfrm>
            <a:off x="813816" y="3017520"/>
            <a:ext cx="1975104" cy="1965960"/>
          </a:xfrm>
          <a:prstGeom prst="roundRect">
            <a:avLst>
              <a:gd name="adj" fmla="val 3721"/>
            </a:avLst>
          </a:prstGeom>
          <a:solidFill>
            <a:schemeClr val="bg1"/>
          </a:solidFill>
          <a:ln w="6350">
            <a:solidFill>
              <a:schemeClr val="accent4"/>
            </a:solidFill>
            <a:prstDash val="solid"/>
          </a:ln>
        </p:spPr>
      </p:sp>
      <p:sp>
        <p:nvSpPr>
          <p:cNvPr id="7" name="Text 5"/>
          <p:cNvSpPr txBox="1"/>
          <p:nvPr/>
        </p:nvSpPr>
        <p:spPr>
          <a:xfrm>
            <a:off x="996696" y="3200400"/>
            <a:ext cx="160934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8" name="Text 6"/>
          <p:cNvSpPr txBox="1"/>
          <p:nvPr/>
        </p:nvSpPr>
        <p:spPr>
          <a:xfrm>
            <a:off x="996696" y="3547872"/>
            <a:ext cx="1609344" cy="457200"/>
          </a:xfrm>
          <a:prstGeom prst="rect">
            <a:avLst/>
          </a:prstGeom>
          <a:noFill/>
          <a:ln/>
        </p:spPr>
        <p:txBody>
          <a:bodyPr wrap="square" lIns="0" tIns="0" rIns="0" bIns="0" rtlCol="0" anchor="t"/>
          <a:lstStyle/>
          <a:p>
            <a:pPr indent="0" marL="0">
              <a:buNone/>
            </a:pPr>
            <a:r>
              <a:rPr lang="en-US" sz="1500" b="1" dirty="0">
                <a:solidFill>
                  <a:schemeClr val="tx1"/>
                </a:solidFill>
              </a:rPr>
              <a:t>README, docs</a:t>
            </a:r>
            <a:endParaRPr lang="en-US" sz="1500" dirty="0"/>
          </a:p>
        </p:txBody>
      </p:sp>
      <p:sp>
        <p:nvSpPr>
          <p:cNvPr id="9" name="Text 7"/>
          <p:cNvSpPr txBox="1"/>
          <p:nvPr/>
        </p:nvSpPr>
        <p:spPr>
          <a:xfrm>
            <a:off x="996696" y="4096512"/>
            <a:ext cx="1609344"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what the authors said it does</a:t>
            </a:r>
            <a:endParaRPr lang="en-US" sz="1300" dirty="0"/>
          </a:p>
        </p:txBody>
      </p:sp>
      <p:sp>
        <p:nvSpPr>
          <p:cNvPr id="10" name="Card"/>
          <p:cNvSpPr/>
          <p:nvPr/>
        </p:nvSpPr>
        <p:spPr>
          <a:xfrm>
            <a:off x="2962656" y="3017520"/>
            <a:ext cx="1975104" cy="1965960"/>
          </a:xfrm>
          <a:prstGeom prst="roundRect">
            <a:avLst>
              <a:gd name="adj" fmla="val 3721"/>
            </a:avLst>
          </a:prstGeom>
          <a:solidFill>
            <a:schemeClr val="bg1"/>
          </a:solidFill>
          <a:ln w="6350">
            <a:solidFill>
              <a:schemeClr val="accent4"/>
            </a:solidFill>
            <a:prstDash val="solid"/>
          </a:ln>
        </p:spPr>
      </p:sp>
      <p:sp>
        <p:nvSpPr>
          <p:cNvPr id="11" name="Text 9"/>
          <p:cNvSpPr txBox="1"/>
          <p:nvPr/>
        </p:nvSpPr>
        <p:spPr>
          <a:xfrm>
            <a:off x="3145536" y="3200400"/>
            <a:ext cx="160934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2" name="Text 10"/>
          <p:cNvSpPr txBox="1"/>
          <p:nvPr/>
        </p:nvSpPr>
        <p:spPr>
          <a:xfrm>
            <a:off x="3145536" y="3547872"/>
            <a:ext cx="1609344" cy="457200"/>
          </a:xfrm>
          <a:prstGeom prst="rect">
            <a:avLst/>
          </a:prstGeom>
          <a:noFill/>
          <a:ln/>
        </p:spPr>
        <p:txBody>
          <a:bodyPr wrap="square" lIns="0" tIns="0" rIns="0" bIns="0" rtlCol="0" anchor="t"/>
          <a:lstStyle/>
          <a:p>
            <a:pPr indent="0" marL="0">
              <a:buNone/>
            </a:pPr>
            <a:r>
              <a:rPr lang="en-US" sz="1500" b="1" dirty="0">
                <a:solidFill>
                  <a:schemeClr val="tx1"/>
                </a:solidFill>
              </a:rPr>
              <a:t>Issues, PRs, commits</a:t>
            </a:r>
            <a:endParaRPr lang="en-US" sz="1500" dirty="0"/>
          </a:p>
        </p:txBody>
      </p:sp>
      <p:sp>
        <p:nvSpPr>
          <p:cNvPr id="13" name="Text 11"/>
          <p:cNvSpPr txBox="1"/>
          <p:nvPr/>
        </p:nvSpPr>
        <p:spPr>
          <a:xfrm>
            <a:off x="3145536" y="4096512"/>
            <a:ext cx="1609344"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what was asked, discussed, decided</a:t>
            </a:r>
            <a:endParaRPr lang="en-US" sz="1300" dirty="0"/>
          </a:p>
        </p:txBody>
      </p:sp>
      <p:sp>
        <p:nvSpPr>
          <p:cNvPr id="14" name="Card"/>
          <p:cNvSpPr/>
          <p:nvPr/>
        </p:nvSpPr>
        <p:spPr>
          <a:xfrm>
            <a:off x="5111496" y="3017520"/>
            <a:ext cx="1975104" cy="1965960"/>
          </a:xfrm>
          <a:prstGeom prst="roundRect">
            <a:avLst>
              <a:gd name="adj" fmla="val 3721"/>
            </a:avLst>
          </a:prstGeom>
          <a:solidFill>
            <a:schemeClr val="bg1"/>
          </a:solidFill>
          <a:ln w="6350">
            <a:solidFill>
              <a:schemeClr val="accent4"/>
            </a:solidFill>
            <a:prstDash val="solid"/>
          </a:ln>
        </p:spPr>
      </p:sp>
      <p:sp>
        <p:nvSpPr>
          <p:cNvPr id="15" name="Text 13"/>
          <p:cNvSpPr txBox="1"/>
          <p:nvPr/>
        </p:nvSpPr>
        <p:spPr>
          <a:xfrm>
            <a:off x="5294376" y="3200400"/>
            <a:ext cx="160934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6" name="Text 14"/>
          <p:cNvSpPr txBox="1"/>
          <p:nvPr/>
        </p:nvSpPr>
        <p:spPr>
          <a:xfrm>
            <a:off x="5294376" y="3547872"/>
            <a:ext cx="1609344" cy="457200"/>
          </a:xfrm>
          <a:prstGeom prst="rect">
            <a:avLst/>
          </a:prstGeom>
          <a:noFill/>
          <a:ln/>
        </p:spPr>
        <p:txBody>
          <a:bodyPr wrap="square" lIns="0" tIns="0" rIns="0" bIns="0" rtlCol="0" anchor="t"/>
          <a:lstStyle/>
          <a:p>
            <a:pPr indent="0" marL="0">
              <a:buNone/>
            </a:pPr>
            <a:r>
              <a:rPr lang="en-US" sz="1500" b="1" dirty="0">
                <a:solidFill>
                  <a:schemeClr val="tx1"/>
                </a:solidFill>
              </a:rPr>
              <a:t>Tests</a:t>
            </a:r>
            <a:endParaRPr lang="en-US" sz="1500" dirty="0"/>
          </a:p>
        </p:txBody>
      </p:sp>
      <p:sp>
        <p:nvSpPr>
          <p:cNvPr id="17" name="Text 15"/>
          <p:cNvSpPr txBox="1"/>
          <p:nvPr/>
        </p:nvSpPr>
        <p:spPr>
          <a:xfrm>
            <a:off x="5294376" y="4096512"/>
            <a:ext cx="1609344"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requirements that already execute</a:t>
            </a:r>
            <a:endParaRPr lang="en-US" sz="1300" dirty="0"/>
          </a:p>
        </p:txBody>
      </p:sp>
      <p:sp>
        <p:nvSpPr>
          <p:cNvPr id="18" name="Card"/>
          <p:cNvSpPr/>
          <p:nvPr/>
        </p:nvSpPr>
        <p:spPr>
          <a:xfrm>
            <a:off x="7260336" y="3017520"/>
            <a:ext cx="1975104" cy="1965960"/>
          </a:xfrm>
          <a:prstGeom prst="roundRect">
            <a:avLst>
              <a:gd name="adj" fmla="val 3721"/>
            </a:avLst>
          </a:prstGeom>
          <a:solidFill>
            <a:schemeClr val="bg1"/>
          </a:solidFill>
          <a:ln w="6350">
            <a:solidFill>
              <a:schemeClr val="accent4"/>
            </a:solidFill>
            <a:prstDash val="solid"/>
          </a:ln>
        </p:spPr>
      </p:sp>
      <p:sp>
        <p:nvSpPr>
          <p:cNvPr id="19" name="Text 17"/>
          <p:cNvSpPr txBox="1"/>
          <p:nvPr/>
        </p:nvSpPr>
        <p:spPr>
          <a:xfrm>
            <a:off x="7443216" y="3200400"/>
            <a:ext cx="160934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20" name="Text 18"/>
          <p:cNvSpPr txBox="1"/>
          <p:nvPr/>
        </p:nvSpPr>
        <p:spPr>
          <a:xfrm>
            <a:off x="7443216" y="3547872"/>
            <a:ext cx="1609344" cy="457200"/>
          </a:xfrm>
          <a:prstGeom prst="rect">
            <a:avLst/>
          </a:prstGeom>
          <a:noFill/>
          <a:ln/>
        </p:spPr>
        <p:txBody>
          <a:bodyPr wrap="square" lIns="0" tIns="0" rIns="0" bIns="0" rtlCol="0" anchor="t"/>
          <a:lstStyle/>
          <a:p>
            <a:pPr indent="0" marL="0">
              <a:buNone/>
            </a:pPr>
            <a:r>
              <a:rPr lang="en-US" sz="1500" b="1" dirty="0">
                <a:solidFill>
                  <a:schemeClr val="tx1"/>
                </a:solidFill>
              </a:rPr>
              <a:t>Code</a:t>
            </a:r>
            <a:endParaRPr lang="en-US" sz="1500" dirty="0"/>
          </a:p>
        </p:txBody>
      </p:sp>
      <p:sp>
        <p:nvSpPr>
          <p:cNvPr id="21" name="Text 19"/>
          <p:cNvSpPr txBox="1"/>
          <p:nvPr/>
        </p:nvSpPr>
        <p:spPr>
          <a:xfrm>
            <a:off x="7443216" y="4096512"/>
            <a:ext cx="1609344"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routes, data schemas, validations: implicit rules</a:t>
            </a:r>
            <a:endParaRPr lang="en-US" sz="1300" dirty="0"/>
          </a:p>
        </p:txBody>
      </p:sp>
      <p:sp>
        <p:nvSpPr>
          <p:cNvPr id="22" name="Card"/>
          <p:cNvSpPr/>
          <p:nvPr/>
        </p:nvSpPr>
        <p:spPr>
          <a:xfrm>
            <a:off x="9409176" y="3017520"/>
            <a:ext cx="1975104" cy="1965960"/>
          </a:xfrm>
          <a:prstGeom prst="roundRect">
            <a:avLst>
              <a:gd name="adj" fmla="val 3721"/>
            </a:avLst>
          </a:prstGeom>
          <a:solidFill>
            <a:schemeClr val="bg1"/>
          </a:solidFill>
          <a:ln w="6350">
            <a:solidFill>
              <a:schemeClr val="accent4"/>
            </a:solidFill>
            <a:prstDash val="solid"/>
          </a:ln>
        </p:spPr>
      </p:sp>
      <p:sp>
        <p:nvSpPr>
          <p:cNvPr id="23" name="Text 21"/>
          <p:cNvSpPr txBox="1"/>
          <p:nvPr/>
        </p:nvSpPr>
        <p:spPr>
          <a:xfrm>
            <a:off x="9592056" y="3200400"/>
            <a:ext cx="1609344"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05</a:t>
            </a:r>
            <a:endParaRPr lang="en-US" sz="1200" dirty="0"/>
          </a:p>
        </p:txBody>
      </p:sp>
      <p:sp>
        <p:nvSpPr>
          <p:cNvPr id="24" name="Text 22"/>
          <p:cNvSpPr txBox="1"/>
          <p:nvPr/>
        </p:nvSpPr>
        <p:spPr>
          <a:xfrm>
            <a:off x="9592056" y="3547872"/>
            <a:ext cx="1609344" cy="457200"/>
          </a:xfrm>
          <a:prstGeom prst="rect">
            <a:avLst/>
          </a:prstGeom>
          <a:noFill/>
          <a:ln/>
        </p:spPr>
        <p:txBody>
          <a:bodyPr wrap="square" lIns="0" tIns="0" rIns="0" bIns="0" rtlCol="0" anchor="t"/>
          <a:lstStyle/>
          <a:p>
            <a:pPr indent="0" marL="0">
              <a:buNone/>
            </a:pPr>
            <a:r>
              <a:rPr lang="en-US" sz="1500" b="1" dirty="0">
                <a:solidFill>
                  <a:schemeClr val="tx1"/>
                </a:solidFill>
              </a:rPr>
              <a:t>Configuration</a:t>
            </a:r>
            <a:endParaRPr lang="en-US" sz="1500" dirty="0"/>
          </a:p>
        </p:txBody>
      </p:sp>
      <p:sp>
        <p:nvSpPr>
          <p:cNvPr id="25" name="Text 23"/>
          <p:cNvSpPr txBox="1"/>
          <p:nvPr/>
        </p:nvSpPr>
        <p:spPr>
          <a:xfrm>
            <a:off x="9592056" y="4096512"/>
            <a:ext cx="1609344" cy="74980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environments, services, limits</a:t>
            </a:r>
            <a:endParaRPr lang="en-US" sz="1300" dirty="0"/>
          </a:p>
        </p:txBody>
      </p:sp>
      <p:sp>
        <p:nvSpPr>
          <p:cNvPr id="26" name="Callout"/>
          <p:cNvSpPr/>
          <p:nvPr/>
        </p:nvSpPr>
        <p:spPr>
          <a:xfrm>
            <a:off x="813816" y="5138928"/>
            <a:ext cx="10570464" cy="566928"/>
          </a:xfrm>
          <a:prstGeom prst="roundRect">
            <a:avLst>
              <a:gd name="adj" fmla="val 12903"/>
            </a:avLst>
          </a:prstGeom>
          <a:solidFill>
            <a:schemeClr val="tx1"/>
          </a:solidFill>
          <a:ln/>
        </p:spPr>
      </p:sp>
      <p:sp>
        <p:nvSpPr>
          <p:cNvPr id="27" name="Text 25"/>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Requirements mining from code and repositories is the course's extension of Sommerville's “existing systems” source.</a:t>
            </a:r>
            <a:endParaRPr lang="en-US" sz="1400" dirty="0"/>
          </a:p>
        </p:txBody>
      </p:sp>
      <p:sp>
        <p:nvSpPr>
          <p:cNvPr id="28"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Source: Sommerville, Software Engineering, 10th ed., §4.3.1, p. 114–115; mining: course content.</a:t>
            </a:r>
            <a:endParaRPr lang="en-US" sz="1100" dirty="0"/>
          </a:p>
        </p:txBody>
      </p:sp>
      <p:sp>
        <p:nvSpPr>
          <p:cNvPr id="29"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32 / 37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MINING WITH AI</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Code says what it does, not what it should do</a:t>
            </a:r>
            <a:endParaRPr lang="en-US" sz="3600" dirty="0"/>
          </a:p>
        </p:txBody>
      </p:sp>
      <p:sp>
        <p:nvSpPr>
          <p:cNvPr id="4" name="Card"/>
          <p:cNvSpPr/>
          <p:nvPr/>
        </p:nvSpPr>
        <p:spPr>
          <a:xfrm>
            <a:off x="813816" y="2057400"/>
            <a:ext cx="5175504" cy="2880360"/>
          </a:xfrm>
          <a:prstGeom prst="roundRect">
            <a:avLst>
              <a:gd name="adj" fmla="val 2540"/>
            </a:avLst>
          </a:prstGeom>
          <a:solidFill>
            <a:schemeClr val="bg1"/>
          </a:solidFill>
          <a:ln w="6350">
            <a:solidFill>
              <a:schemeClr val="accent4"/>
            </a:solidFill>
            <a:prstDash val="solid"/>
          </a:ln>
        </p:spPr>
      </p:sp>
      <p:sp>
        <p:nvSpPr>
          <p:cNvPr id="5" name="Text 3"/>
          <p:cNvSpPr txBox="1"/>
          <p:nvPr/>
        </p:nvSpPr>
        <p:spPr>
          <a:xfrm>
            <a:off x="106984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Where AI helps</a:t>
            </a:r>
            <a:endParaRPr lang="en-US" sz="1200" dirty="0"/>
          </a:p>
        </p:txBody>
      </p:sp>
      <p:sp>
        <p:nvSpPr>
          <p:cNvPr id="6" name="Text 4"/>
          <p:cNvSpPr txBox="1"/>
          <p:nvPr/>
        </p:nvSpPr>
        <p:spPr>
          <a:xfrm>
            <a:off x="1069848" y="2660904"/>
            <a:ext cx="4663440" cy="206654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2"/>
                </a:solidFill>
              </a:rPr>
              <a:t>Inventory of features and endpoints.</a:t>
            </a:r>
            <a:endParaRPr lang="en-US" sz="1500" dirty="0"/>
          </a:p>
          <a:p>
            <a:pPr marL="177800" indent="-177800">
              <a:spcAft>
                <a:spcPts val="400"/>
              </a:spcAft>
              <a:buSzPct val="100000"/>
              <a:buChar char="•"/>
            </a:pPr>
            <a:r>
              <a:rPr lang="en-US" sz="1500" dirty="0">
                <a:solidFill>
                  <a:schemeClr val="tx2"/>
                </a:solidFill>
              </a:rPr>
              <a:t>Describing the current behaviour.</a:t>
            </a:r>
            <a:endParaRPr lang="en-US" sz="1500" dirty="0"/>
          </a:p>
          <a:p>
            <a:pPr marL="177800" indent="-177800">
              <a:spcAft>
                <a:spcPts val="400"/>
              </a:spcAft>
              <a:buSzPct val="100000"/>
              <a:buChar char="•"/>
            </a:pPr>
            <a:r>
              <a:rPr lang="en-US" sz="1500" dirty="0">
                <a:solidFill>
                  <a:schemeClr val="tx2"/>
                </a:solidFill>
              </a:rPr>
              <a:t>Finding implicit rules in validations and schemas.</a:t>
            </a:r>
            <a:endParaRPr lang="en-US" sz="1500" dirty="0"/>
          </a:p>
        </p:txBody>
      </p:sp>
      <p:sp>
        <p:nvSpPr>
          <p:cNvPr id="7" name="Card"/>
          <p:cNvSpPr/>
          <p:nvPr/>
        </p:nvSpPr>
        <p:spPr>
          <a:xfrm>
            <a:off x="6208776" y="2057400"/>
            <a:ext cx="5175504" cy="2880360"/>
          </a:xfrm>
          <a:prstGeom prst="roundRect">
            <a:avLst>
              <a:gd name="adj" fmla="val 2540"/>
            </a:avLst>
          </a:prstGeom>
          <a:solidFill>
            <a:schemeClr val="tx1"/>
          </a:solidFill>
          <a:ln/>
        </p:spPr>
      </p:sp>
      <p:sp>
        <p:nvSpPr>
          <p:cNvPr id="8" name="Text 6"/>
          <p:cNvSpPr txBox="1"/>
          <p:nvPr/>
        </p:nvSpPr>
        <p:spPr>
          <a:xfrm>
            <a:off x="6464808" y="2313432"/>
            <a:ext cx="4663440"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The trap</a:t>
            </a:r>
            <a:endParaRPr lang="en-US" sz="1200" dirty="0"/>
          </a:p>
        </p:txBody>
      </p:sp>
      <p:sp>
        <p:nvSpPr>
          <p:cNvPr id="9" name="Text 7"/>
          <p:cNvSpPr txBox="1"/>
          <p:nvPr/>
        </p:nvSpPr>
        <p:spPr>
          <a:xfrm>
            <a:off x="6464808" y="2660904"/>
            <a:ext cx="4663440" cy="2066544"/>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accent5"/>
                </a:solidFill>
              </a:rPr>
              <a:t>A bug read from the code becomes a “requirement”.</a:t>
            </a:r>
            <a:endParaRPr lang="en-US" sz="1500" dirty="0"/>
          </a:p>
          <a:p>
            <a:pPr marL="177800" indent="-177800">
              <a:spcAft>
                <a:spcPts val="400"/>
              </a:spcAft>
              <a:buSzPct val="100000"/>
              <a:buChar char="•"/>
            </a:pPr>
            <a:r>
              <a:rPr lang="en-US" sz="1500" dirty="0">
                <a:solidFill>
                  <a:schemeClr val="accent5"/>
                </a:solidFill>
              </a:rPr>
              <a:t>As-is is not to-be.</a:t>
            </a:r>
            <a:endParaRPr lang="en-US" sz="1500" dirty="0"/>
          </a:p>
          <a:p>
            <a:pPr marL="177800" indent="-177800">
              <a:spcAft>
                <a:spcPts val="400"/>
              </a:spcAft>
              <a:buSzPct val="100000"/>
              <a:buChar char="•"/>
            </a:pPr>
            <a:r>
              <a:rPr lang="en-US" sz="1500" dirty="0">
                <a:solidFill>
                  <a:schemeClr val="accent5"/>
                </a:solidFill>
              </a:rPr>
              <a:t>Features “found” by the AI may not exist: check them in the code.</a:t>
            </a:r>
            <a:endParaRPr lang="en-US" sz="1500" dirty="0"/>
          </a:p>
        </p:txBody>
      </p:sp>
      <p:sp>
        <p:nvSpPr>
          <p:cNvPr id="10" name="Callout"/>
          <p:cNvSpPr/>
          <p:nvPr/>
        </p:nvSpPr>
        <p:spPr>
          <a:xfrm>
            <a:off x="813816" y="5138928"/>
            <a:ext cx="10570464" cy="566928"/>
          </a:xfrm>
          <a:prstGeom prst="roundRect">
            <a:avLst>
              <a:gd name="adj" fmla="val 12903"/>
            </a:avLst>
          </a:prstGeom>
          <a:solidFill>
            <a:schemeClr val="tx1"/>
          </a:solidFill>
          <a:ln/>
        </p:spPr>
      </p:sp>
      <p:sp>
        <p:nvSpPr>
          <p:cNvPr id="11" name="Text 9"/>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Every mined requirement needs a source and a confirmation. Sommerville asks for a rationale and a source for each requirement: more next week.</a:t>
            </a:r>
            <a:endParaRPr lang="en-US" sz="1400" dirty="0"/>
          </a:p>
        </p:txBody>
      </p:sp>
      <p:sp>
        <p:nvSpPr>
          <p:cNvPr id="12"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Course content. Rationale and source: Sommerville, Software Engineering, 10th ed., §4.4.1, p. 122.</a:t>
            </a:r>
            <a:endParaRPr lang="en-US" sz="1100" dirty="0"/>
          </a:p>
        </p:txBody>
      </p:sp>
      <p:sp>
        <p:nvSpPr>
          <p:cNvPr id="13"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33 / 37</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RECAP</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What we have, what we want</a:t>
            </a:r>
            <a:endParaRPr lang="en-US" sz="3600" dirty="0"/>
          </a:p>
        </p:txBody>
      </p:sp>
      <p:sp>
        <p:nvSpPr>
          <p:cNvPr id="4" name="Card"/>
          <p:cNvSpPr/>
          <p:nvPr/>
        </p:nvSpPr>
        <p:spPr>
          <a:xfrm>
            <a:off x="813816" y="2057400"/>
            <a:ext cx="5175504" cy="2880360"/>
          </a:xfrm>
          <a:prstGeom prst="roundRect">
            <a:avLst>
              <a:gd name="adj" fmla="val 2540"/>
            </a:avLst>
          </a:prstGeom>
          <a:solidFill>
            <a:schemeClr val="bg1"/>
          </a:solidFill>
          <a:ln w="6350">
            <a:solidFill>
              <a:schemeClr val="accent4"/>
            </a:solidFill>
            <a:prstDash val="solid"/>
          </a:ln>
        </p:spPr>
      </p:sp>
      <p:sp>
        <p:nvSpPr>
          <p:cNvPr id="5" name="Text 3"/>
          <p:cNvSpPr txBox="1"/>
          <p:nvPr/>
        </p:nvSpPr>
        <p:spPr>
          <a:xfrm>
            <a:off x="106984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we have</a:t>
            </a:r>
            <a:endParaRPr lang="en-US" sz="1200" dirty="0"/>
          </a:p>
        </p:txBody>
      </p:sp>
      <p:sp>
        <p:nvSpPr>
          <p:cNvPr id="6" name="Text 4"/>
          <p:cNvSpPr txBox="1"/>
          <p:nvPr/>
        </p:nvSpPr>
        <p:spPr>
          <a:xfrm>
            <a:off x="1069848" y="2660904"/>
            <a:ext cx="4663440" cy="292608"/>
          </a:xfrm>
          <a:prstGeom prst="rect">
            <a:avLst/>
          </a:prstGeom>
          <a:noFill/>
          <a:ln/>
        </p:spPr>
        <p:txBody>
          <a:bodyPr wrap="square" lIns="0" tIns="0" rIns="0" bIns="0" rtlCol="0" anchor="t"/>
          <a:lstStyle/>
          <a:p>
            <a:pPr indent="0" marL="0">
              <a:buNone/>
            </a:pPr>
            <a:r>
              <a:rPr lang="en-US" sz="1800" b="1" dirty="0">
                <a:solidFill>
                  <a:schemeClr val="tx1"/>
                </a:solidFill>
              </a:rPr>
              <a:t>Resources → constraints → risks</a:t>
            </a:r>
            <a:endParaRPr lang="en-US" sz="1800" dirty="0"/>
          </a:p>
        </p:txBody>
      </p:sp>
      <p:sp>
        <p:nvSpPr>
          <p:cNvPr id="7" name="Text 5"/>
          <p:cNvSpPr txBox="1"/>
          <p:nvPr/>
        </p:nvSpPr>
        <p:spPr>
          <a:xfrm>
            <a:off x="1069848" y="3044952"/>
            <a:ext cx="4663440" cy="168249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Feasibility, the five resources, realistic estimates, six risk types, the 3×3 matrix, three strategies.</a:t>
            </a:r>
            <a:endParaRPr lang="en-US" sz="1400" dirty="0"/>
          </a:p>
        </p:txBody>
      </p:sp>
      <p:sp>
        <p:nvSpPr>
          <p:cNvPr id="8" name="Card"/>
          <p:cNvSpPr/>
          <p:nvPr/>
        </p:nvSpPr>
        <p:spPr>
          <a:xfrm>
            <a:off x="6208776" y="2057400"/>
            <a:ext cx="5175504" cy="2880360"/>
          </a:xfrm>
          <a:prstGeom prst="roundRect">
            <a:avLst>
              <a:gd name="adj" fmla="val 2540"/>
            </a:avLst>
          </a:prstGeom>
          <a:solidFill>
            <a:schemeClr val="bg1"/>
          </a:solidFill>
          <a:ln w="6350">
            <a:solidFill>
              <a:schemeClr val="accent4"/>
            </a:solidFill>
            <a:prstDash val="solid"/>
          </a:ln>
        </p:spPr>
      </p:sp>
      <p:sp>
        <p:nvSpPr>
          <p:cNvPr id="9" name="Text 7"/>
          <p:cNvSpPr txBox="1"/>
          <p:nvPr/>
        </p:nvSpPr>
        <p:spPr>
          <a:xfrm>
            <a:off x="6464808" y="2313432"/>
            <a:ext cx="4663440" cy="237744"/>
          </a:xfrm>
          <a:prstGeom prst="rect">
            <a:avLst/>
          </a:prstGeom>
          <a:noFill/>
          <a:ln/>
        </p:spPr>
        <p:txBody>
          <a:bodyPr wrap="square" lIns="0" tIns="0" rIns="0" bIns="0" rtlCol="0" anchor="t"/>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What we want</a:t>
            </a:r>
            <a:endParaRPr lang="en-US" sz="1200" dirty="0"/>
          </a:p>
        </p:txBody>
      </p:sp>
      <p:sp>
        <p:nvSpPr>
          <p:cNvPr id="10" name="Text 8"/>
          <p:cNvSpPr txBox="1"/>
          <p:nvPr/>
        </p:nvSpPr>
        <p:spPr>
          <a:xfrm>
            <a:off x="6464808" y="2660904"/>
            <a:ext cx="4663440" cy="292608"/>
          </a:xfrm>
          <a:prstGeom prst="rect">
            <a:avLst/>
          </a:prstGeom>
          <a:noFill/>
          <a:ln/>
        </p:spPr>
        <p:txBody>
          <a:bodyPr wrap="square" lIns="0" tIns="0" rIns="0" bIns="0" rtlCol="0" anchor="t"/>
          <a:lstStyle/>
          <a:p>
            <a:pPr indent="0" marL="0">
              <a:buNone/>
            </a:pPr>
            <a:r>
              <a:rPr lang="en-US" sz="1800" b="1" dirty="0">
                <a:solidFill>
                  <a:schemeClr val="tx1"/>
                </a:solidFill>
              </a:rPr>
              <a:t>Elicitation + mining</a:t>
            </a:r>
            <a:endParaRPr lang="en-US" sz="1800" dirty="0"/>
          </a:p>
        </p:txBody>
      </p:sp>
      <p:sp>
        <p:nvSpPr>
          <p:cNvPr id="11" name="Text 9"/>
          <p:cNvSpPr txBox="1"/>
          <p:nvPr/>
        </p:nvSpPr>
        <p:spPr>
          <a:xfrm>
            <a:off x="6464808" y="3044952"/>
            <a:ext cx="4663440" cy="168249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Why it's hard, the four-activity cycle, interviews, observation, stories and scenarios, mining the MDS repository.</a:t>
            </a:r>
            <a:endParaRPr lang="en-US" sz="1400" dirty="0"/>
          </a:p>
        </p:txBody>
      </p:sp>
      <p:sp>
        <p:nvSpPr>
          <p:cNvPr id="12" name="Callout"/>
          <p:cNvSpPr/>
          <p:nvPr/>
        </p:nvSpPr>
        <p:spPr>
          <a:xfrm>
            <a:off x="813816" y="5138928"/>
            <a:ext cx="10570464" cy="566928"/>
          </a:xfrm>
          <a:prstGeom prst="roundRect">
            <a:avLst>
              <a:gd name="adj" fmla="val 12903"/>
            </a:avLst>
          </a:prstGeom>
          <a:solidFill>
            <a:schemeClr val="tx1"/>
          </a:solidFill>
          <a:ln/>
        </p:spPr>
      </p:sp>
      <p:sp>
        <p:nvSpPr>
          <p:cNvPr id="13" name="Text 11"/>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Next week, first half: Does it hold? Functional and non-functional requirements, writing them, validation, conflicts and negotiation, change. Then architecture.</a:t>
            </a:r>
            <a:endParaRPr lang="en-US" sz="1400" dirty="0"/>
          </a:p>
        </p:txBody>
      </p:sp>
      <p:sp>
        <p:nvSpPr>
          <p:cNvPr id="14"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15"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34 / 37</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TO READ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Reading for this lecture</a:t>
            </a:r>
            <a:endParaRPr lang="en-US" sz="3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13816" y="2011680"/>
          <a:ext cx="10570464" cy="914400"/>
        </p:xfrm>
        <a:graphic>
          <a:graphicData uri="http://schemas.openxmlformats.org/drawingml/2006/table">
            <a:tbl>
              <a:tblPr/>
              <a:tblGrid>
                <a:gridCol w="2377440"/>
                <a:gridCol w="6729984"/>
                <a:gridCol w="1463040"/>
              </a:tblGrid>
              <a:tr h="274320">
                <a:tc>
                  <a:txBody>
                    <a:bodyPr/>
                    <a:lstStyle/>
                    <a:p>
                      <a:pPr indent="0" marL="0">
                        <a:buNone/>
                      </a:pPr>
                      <a:r>
                        <a:rPr lang="en-US" sz="1300" b="1" dirty="0">
                          <a:solidFill>
                            <a:schemeClr val="bg2"/>
                          </a:solidFill>
                        </a:rPr>
                        <a:t>Book</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2"/>
                          </a:solidFill>
                        </a:rPr>
                        <a:t>Section</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2"/>
                          </a:solidFill>
                        </a:rPr>
                        <a:t>Pages</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tx1"/>
                    </a:solidFill>
                  </a:tcPr>
                </a:tc>
              </a:tr>
              <a:tr h="274320">
                <a:tc>
                  <a:txBody>
                    <a:bodyPr/>
                    <a:lstStyle/>
                    <a:p>
                      <a:pPr indent="0" marL="0">
                        <a:buNone/>
                      </a:pPr>
                      <a:r>
                        <a:rPr lang="en-US" sz="1300" b="1" dirty="0">
                          <a:solidFill>
                            <a:schemeClr val="tx1"/>
                          </a:solidFill>
                        </a:rPr>
                        <a:t>Sommerville, 10th ed.</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Ch. 4 intro, incl. box “Feasibility studies”</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101–105</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4.2 Requirements engineering processes</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111–112</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4.3 Requirements elicitation</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112–120</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22.1 Risk management</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644–652</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Ch. 23 intro: costs of a project</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667–669</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23.2.2 The planning process</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673–675</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23.5 Estimation techniques, up to 23.5.1</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682–684</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r>
                        <a:rPr lang="en-US" sz="1300" b="1" dirty="0">
                          <a:solidFill>
                            <a:schemeClr val="tx1"/>
                          </a:solidFill>
                        </a:rPr>
                        <a:t>Richards &amp; Ford</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Ch. 20: Risk Matrix</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297–298</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Ch. 20: unknown technologies (Risk Storming, Consensus)</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306</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r h="274320">
                <a:tc>
                  <a:txBody>
                    <a:bodyPr/>
                    <a:lstStyle/>
                    <a:p>
                      <a:pPr indent="0" marL="0">
                        <a:buNone/>
                      </a:pP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Ch. 23: Be Pragmatic, Yet Visionary</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355–357</a:t>
                      </a:r>
                      <a:endParaRPr lang="en-US" sz="1300" dirty="0"/>
                    </a:p>
                  </a:txBody>
                  <a:tcPr marL="109728" marR="109728" marT="36576" marB="36576" anchor="ctr">
                    <a:lnL w="6350" cap="flat" cmpd="sng" algn="ctr">
                      <a:solidFill>
                        <a:srgbClr val="D9D3C5"/>
                      </a:solidFill>
                      <a:prstDash val="solid"/>
                      <a:round/>
                      <a:headEnd type="none" w="med" len="med"/>
                      <a:tailEnd type="none" w="med" len="med"/>
                    </a:lnL>
                    <a:lnR w="6350" cap="flat" cmpd="sng" algn="ctr">
                      <a:solidFill>
                        <a:srgbClr val="D9D3C5"/>
                      </a:solidFill>
                      <a:prstDash val="solid"/>
                      <a:round/>
                      <a:headEnd type="none" w="med" len="med"/>
                      <a:tailEnd type="none" w="med" len="med"/>
                    </a:lnR>
                    <a:lnT w="6350" cap="flat" cmpd="sng" algn="ctr">
                      <a:solidFill>
                        <a:srgbClr val="D9D3C5"/>
                      </a:solidFill>
                      <a:prstDash val="solid"/>
                      <a:round/>
                      <a:headEnd type="none" w="med" len="med"/>
                      <a:tailEnd type="none" w="med" len="med"/>
                    </a:lnT>
                    <a:lnB w="6350" cap="flat" cmpd="sng" algn="ctr">
                      <a:solidFill>
                        <a:srgbClr val="D9D3C5"/>
                      </a:solidFill>
                      <a:prstDash val="solid"/>
                      <a:round/>
                      <a:headEnd type="none" w="med" len="med"/>
                      <a:tailEnd type="none" w="med" len="med"/>
                    </a:lnB>
                    <a:solidFill>
                      <a:schemeClr val="bg1"/>
                    </a:solidFill>
                  </a:tcPr>
                </a:tc>
              </a:tr>
            </a:tbl>
          </a:graphicData>
        </a:graphic>
      </p:graphicFrame>
      <p:sp>
        <p:nvSpPr>
          <p:cNvPr id="5" name="Callout"/>
          <p:cNvSpPr/>
          <p:nvPr/>
        </p:nvSpPr>
        <p:spPr>
          <a:xfrm>
            <a:off x="813816" y="5321808"/>
            <a:ext cx="10570464" cy="566928"/>
          </a:xfrm>
          <a:prstGeom prst="roundRect">
            <a:avLst>
              <a:gd name="adj" fmla="val 12903"/>
            </a:avLst>
          </a:prstGeom>
          <a:solidFill>
            <a:schemeClr val="tx1"/>
          </a:solidFill>
          <a:ln/>
        </p:spPr>
      </p:sp>
      <p:sp>
        <p:nvSpPr>
          <p:cNvPr id="6" name="Text 3"/>
          <p:cNvSpPr txBox="1"/>
          <p:nvPr/>
        </p:nvSpPr>
        <p:spPr>
          <a:xfrm>
            <a:off x="1069848" y="5321808"/>
            <a:ext cx="10058400" cy="566928"/>
          </a:xfrm>
          <a:prstGeom prst="rect">
            <a:avLst/>
          </a:prstGeom>
          <a:noFill/>
          <a:ln/>
        </p:spPr>
        <p:txBody>
          <a:bodyPr wrap="square" lIns="0" tIns="0" rIns="0" bIns="0" rtlCol="0" anchor="ctr"/>
          <a:lstStyle/>
          <a:p>
            <a:pPr indent="0" marL="0">
              <a:buNone/>
            </a:pPr>
            <a:r>
              <a:rPr lang="en-US" sz="1400" dirty="0">
                <a:solidFill>
                  <a:schemeClr val="bg2"/>
                </a:solidFill>
              </a:rPr>
              <a:t>About 35 pages. These pages are what the quiz questions and the project rubric for specification are built on.</a:t>
            </a:r>
            <a:endParaRPr lang="en-US" sz="1400" dirty="0"/>
          </a:p>
        </p:txBody>
      </p:sp>
      <p:sp>
        <p:nvSpPr>
          <p:cNvPr id="7"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8"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35 / 37</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spc="100" kern="0" dirty="0">
                <a:solidFill>
                  <a:schemeClr val="accent1"/>
                </a:solidFill>
                <a:latin typeface="JetBrains Mono" pitchFamily="34" charset="0"/>
                <a:ea typeface="JetBrains Mono" pitchFamily="34" charset="-122"/>
                <a:cs typeface="JetBrains Mono" pitchFamily="34" charset="-120"/>
              </a:rPr>
              <a:t>OPTIONAL · NOT GRADED</a:t>
            </a:r>
            <a:endParaRPr lang="en-US" sz="1200" dirty="0"/>
          </a:p>
        </p:txBody>
      </p:sp>
      <p:sp>
        <p:nvSpPr>
          <p:cNvPr id="3" name="Text 0"/>
          <p:cNvSpPr/>
          <p:nvPr>
            <p:ph idx="100" type="title" hasCustomPrompt="1"/>
          </p:nvPr>
        </p:nvSpPr>
        <p:spPr>
          <a:xfrm>
            <a:off x="813816" y="1188720"/>
            <a:ext cx="10881360" cy="566928"/>
          </a:xfrm>
          <a:prstGeom prst="rect">
            <a:avLst/>
          </a:prstGeom>
          <a:noFill/>
          <a:ln/>
        </p:spPr>
        <p:txBody>
          <a:bodyPr wrap="square" lIns="0" tIns="0" rIns="0" bIns="0" rtlCol="0" anchor="t"/>
          <a:lstStyle/>
          <a:p>
            <a:pPr algn="l" indent="0" marL="0">
              <a:buNone/>
            </a:pPr>
            <a:r>
              <a:rPr lang="en-US" sz="3600" b="1" dirty="0">
                <a:solidFill>
                  <a:schemeClr val="tx1"/>
                </a:solidFill>
              </a:rPr>
              <a:t>Before workshop 1: the direction sheet</a:t>
            </a:r>
            <a:endParaRPr lang="en-US" sz="3600" dirty="0"/>
          </a:p>
        </p:txBody>
      </p:sp>
      <p:sp>
        <p:nvSpPr>
          <p:cNvPr id="4" name="Section"/>
          <p:cNvSpPr/>
          <p:nvPr/>
        </p:nvSpPr>
        <p:spPr>
          <a:xfrm>
            <a:off x="813816" y="2057400"/>
            <a:ext cx="3127248" cy="621792"/>
          </a:xfrm>
          <a:prstGeom prst="roundRect">
            <a:avLst>
              <a:gd name="adj" fmla="val 11765"/>
            </a:avLst>
          </a:prstGeom>
          <a:solidFill>
            <a:schemeClr val="bg1"/>
          </a:solidFill>
          <a:ln w="6350">
            <a:solidFill>
              <a:schemeClr val="accent4"/>
            </a:solidFill>
            <a:prstDash val="solid"/>
          </a:ln>
        </p:spPr>
      </p:sp>
      <p:sp>
        <p:nvSpPr>
          <p:cNvPr id="5" name="Text 3"/>
          <p:cNvSpPr txBox="1"/>
          <p:nvPr/>
        </p:nvSpPr>
        <p:spPr>
          <a:xfrm>
            <a:off x="996696" y="205740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1</a:t>
            </a:r>
            <a:endParaRPr lang="en-US" sz="1800" dirty="0"/>
          </a:p>
        </p:txBody>
      </p:sp>
      <p:sp>
        <p:nvSpPr>
          <p:cNvPr id="6" name="Text 4"/>
          <p:cNvSpPr txBox="1"/>
          <p:nvPr/>
        </p:nvSpPr>
        <p:spPr>
          <a:xfrm>
            <a:off x="1362456" y="2057400"/>
            <a:ext cx="2468880" cy="621792"/>
          </a:xfrm>
          <a:prstGeom prst="rect">
            <a:avLst/>
          </a:prstGeom>
          <a:noFill/>
          <a:ln/>
        </p:spPr>
        <p:txBody>
          <a:bodyPr wrap="square" lIns="0" tIns="0" rIns="0" bIns="0" rtlCol="0" anchor="ctr"/>
          <a:lstStyle/>
          <a:p>
            <a:pPr indent="0" marL="0">
              <a:buNone/>
            </a:pPr>
            <a:r>
              <a:rPr lang="en-US" sz="1400" dirty="0">
                <a:solidFill>
                  <a:schemeClr val="tx1"/>
                </a:solidFill>
              </a:rPr>
              <a:t>The system as it is</a:t>
            </a:r>
            <a:endParaRPr lang="en-US" sz="1400" dirty="0"/>
          </a:p>
        </p:txBody>
      </p:sp>
      <p:sp>
        <p:nvSpPr>
          <p:cNvPr id="7" name="Section"/>
          <p:cNvSpPr/>
          <p:nvPr/>
        </p:nvSpPr>
        <p:spPr>
          <a:xfrm>
            <a:off x="4105656" y="2057400"/>
            <a:ext cx="3127248" cy="621792"/>
          </a:xfrm>
          <a:prstGeom prst="roundRect">
            <a:avLst>
              <a:gd name="adj" fmla="val 11765"/>
            </a:avLst>
          </a:prstGeom>
          <a:solidFill>
            <a:schemeClr val="bg1"/>
          </a:solidFill>
          <a:ln w="6350">
            <a:solidFill>
              <a:schemeClr val="accent4"/>
            </a:solidFill>
            <a:prstDash val="solid"/>
          </a:ln>
        </p:spPr>
      </p:sp>
      <p:sp>
        <p:nvSpPr>
          <p:cNvPr id="8" name="Text 6"/>
          <p:cNvSpPr txBox="1"/>
          <p:nvPr/>
        </p:nvSpPr>
        <p:spPr>
          <a:xfrm>
            <a:off x="4288536" y="205740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2</a:t>
            </a:r>
            <a:endParaRPr lang="en-US" sz="1800" dirty="0"/>
          </a:p>
        </p:txBody>
      </p:sp>
      <p:sp>
        <p:nvSpPr>
          <p:cNvPr id="9" name="Text 7"/>
          <p:cNvSpPr txBox="1"/>
          <p:nvPr/>
        </p:nvSpPr>
        <p:spPr>
          <a:xfrm>
            <a:off x="4654296" y="2057400"/>
            <a:ext cx="2468880" cy="621792"/>
          </a:xfrm>
          <a:prstGeom prst="rect">
            <a:avLst/>
          </a:prstGeom>
          <a:noFill/>
          <a:ln/>
        </p:spPr>
        <p:txBody>
          <a:bodyPr wrap="square" lIns="0" tIns="0" rIns="0" bIns="0" rtlCol="0" anchor="ctr"/>
          <a:lstStyle/>
          <a:p>
            <a:pPr indent="0" marL="0">
              <a:buNone/>
            </a:pPr>
            <a:r>
              <a:rPr lang="en-US" sz="1400" dirty="0">
                <a:solidFill>
                  <a:schemeClr val="tx1"/>
                </a:solidFill>
              </a:rPr>
              <a:t>Direction: at most three goals</a:t>
            </a:r>
            <a:endParaRPr lang="en-US" sz="1400" dirty="0"/>
          </a:p>
        </p:txBody>
      </p:sp>
      <p:sp>
        <p:nvSpPr>
          <p:cNvPr id="10" name="Section"/>
          <p:cNvSpPr/>
          <p:nvPr/>
        </p:nvSpPr>
        <p:spPr>
          <a:xfrm>
            <a:off x="813816" y="2788920"/>
            <a:ext cx="3127248" cy="621792"/>
          </a:xfrm>
          <a:prstGeom prst="roundRect">
            <a:avLst>
              <a:gd name="adj" fmla="val 11765"/>
            </a:avLst>
          </a:prstGeom>
          <a:solidFill>
            <a:schemeClr val="bg1"/>
          </a:solidFill>
          <a:ln w="6350">
            <a:solidFill>
              <a:schemeClr val="accent4"/>
            </a:solidFill>
            <a:prstDash val="solid"/>
          </a:ln>
        </p:spPr>
      </p:sp>
      <p:sp>
        <p:nvSpPr>
          <p:cNvPr id="11" name="Text 9"/>
          <p:cNvSpPr txBox="1"/>
          <p:nvPr/>
        </p:nvSpPr>
        <p:spPr>
          <a:xfrm>
            <a:off x="996696" y="278892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3</a:t>
            </a:r>
            <a:endParaRPr lang="en-US" sz="1800" dirty="0"/>
          </a:p>
        </p:txBody>
      </p:sp>
      <p:sp>
        <p:nvSpPr>
          <p:cNvPr id="12" name="Text 10"/>
          <p:cNvSpPr txBox="1"/>
          <p:nvPr/>
        </p:nvSpPr>
        <p:spPr>
          <a:xfrm>
            <a:off x="1362456" y="2788920"/>
            <a:ext cx="2468880" cy="621792"/>
          </a:xfrm>
          <a:prstGeom prst="rect">
            <a:avLst/>
          </a:prstGeom>
          <a:noFill/>
          <a:ln/>
        </p:spPr>
        <p:txBody>
          <a:bodyPr wrap="square" lIns="0" tIns="0" rIns="0" bIns="0" rtlCol="0" anchor="ctr"/>
          <a:lstStyle/>
          <a:p>
            <a:pPr indent="0" marL="0">
              <a:buNone/>
            </a:pPr>
            <a:r>
              <a:rPr lang="en-US" sz="1400" dirty="0">
                <a:solidFill>
                  <a:schemeClr val="tx1"/>
                </a:solidFill>
              </a:rPr>
              <a:t>Stakeholders</a:t>
            </a:r>
            <a:endParaRPr lang="en-US" sz="1400" dirty="0"/>
          </a:p>
        </p:txBody>
      </p:sp>
      <p:sp>
        <p:nvSpPr>
          <p:cNvPr id="13" name="Section"/>
          <p:cNvSpPr/>
          <p:nvPr/>
        </p:nvSpPr>
        <p:spPr>
          <a:xfrm>
            <a:off x="4105656" y="2788920"/>
            <a:ext cx="3127248" cy="621792"/>
          </a:xfrm>
          <a:prstGeom prst="roundRect">
            <a:avLst>
              <a:gd name="adj" fmla="val 11765"/>
            </a:avLst>
          </a:prstGeom>
          <a:solidFill>
            <a:schemeClr val="bg1"/>
          </a:solidFill>
          <a:ln w="6350">
            <a:solidFill>
              <a:schemeClr val="accent4"/>
            </a:solidFill>
            <a:prstDash val="solid"/>
          </a:ln>
        </p:spPr>
      </p:sp>
      <p:sp>
        <p:nvSpPr>
          <p:cNvPr id="14" name="Text 12"/>
          <p:cNvSpPr txBox="1"/>
          <p:nvPr/>
        </p:nvSpPr>
        <p:spPr>
          <a:xfrm>
            <a:off x="4288536" y="278892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4</a:t>
            </a:r>
            <a:endParaRPr lang="en-US" sz="1800" dirty="0"/>
          </a:p>
        </p:txBody>
      </p:sp>
      <p:sp>
        <p:nvSpPr>
          <p:cNvPr id="15" name="Text 13"/>
          <p:cNvSpPr txBox="1"/>
          <p:nvPr/>
        </p:nvSpPr>
        <p:spPr>
          <a:xfrm>
            <a:off x="4654296" y="2788920"/>
            <a:ext cx="2468880" cy="621792"/>
          </a:xfrm>
          <a:prstGeom prst="rect">
            <a:avLst/>
          </a:prstGeom>
          <a:noFill/>
          <a:ln/>
        </p:spPr>
        <p:txBody>
          <a:bodyPr wrap="square" lIns="0" tIns="0" rIns="0" bIns="0" rtlCol="0" anchor="ctr"/>
          <a:lstStyle/>
          <a:p>
            <a:pPr indent="0" marL="0">
              <a:buNone/>
            </a:pPr>
            <a:r>
              <a:rPr lang="en-US" sz="1400" dirty="0">
                <a:solidFill>
                  <a:schemeClr val="tx1"/>
                </a:solidFill>
              </a:rPr>
              <a:t>Your five resources</a:t>
            </a:r>
            <a:endParaRPr lang="en-US" sz="1400" dirty="0"/>
          </a:p>
        </p:txBody>
      </p:sp>
      <p:sp>
        <p:nvSpPr>
          <p:cNvPr id="16" name="Section"/>
          <p:cNvSpPr/>
          <p:nvPr/>
        </p:nvSpPr>
        <p:spPr>
          <a:xfrm>
            <a:off x="813816" y="3520440"/>
            <a:ext cx="3127248" cy="621792"/>
          </a:xfrm>
          <a:prstGeom prst="roundRect">
            <a:avLst>
              <a:gd name="adj" fmla="val 11765"/>
            </a:avLst>
          </a:prstGeom>
          <a:solidFill>
            <a:schemeClr val="bg1"/>
          </a:solidFill>
          <a:ln w="6350">
            <a:solidFill>
              <a:schemeClr val="accent4"/>
            </a:solidFill>
            <a:prstDash val="solid"/>
          </a:ln>
        </p:spPr>
      </p:sp>
      <p:sp>
        <p:nvSpPr>
          <p:cNvPr id="17" name="Text 15"/>
          <p:cNvSpPr txBox="1"/>
          <p:nvPr/>
        </p:nvSpPr>
        <p:spPr>
          <a:xfrm>
            <a:off x="996696" y="352044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5</a:t>
            </a:r>
            <a:endParaRPr lang="en-US" sz="1800" dirty="0"/>
          </a:p>
        </p:txBody>
      </p:sp>
      <p:sp>
        <p:nvSpPr>
          <p:cNvPr id="18" name="Text 16"/>
          <p:cNvSpPr txBox="1"/>
          <p:nvPr/>
        </p:nvSpPr>
        <p:spPr>
          <a:xfrm>
            <a:off x="1362456" y="3520440"/>
            <a:ext cx="2468880" cy="621792"/>
          </a:xfrm>
          <a:prstGeom prst="rect">
            <a:avLst/>
          </a:prstGeom>
          <a:noFill/>
          <a:ln/>
        </p:spPr>
        <p:txBody>
          <a:bodyPr wrap="square" lIns="0" tIns="0" rIns="0" bIns="0" rtlCol="0" anchor="ctr"/>
          <a:lstStyle/>
          <a:p>
            <a:pPr indent="0" marL="0">
              <a:buNone/>
            </a:pPr>
            <a:r>
              <a:rPr lang="en-US" sz="1400" dirty="0">
                <a:solidFill>
                  <a:schemeClr val="tx1"/>
                </a:solidFill>
              </a:rPr>
              <a:t>Feasibility: three questions</a:t>
            </a:r>
            <a:endParaRPr lang="en-US" sz="1400" dirty="0"/>
          </a:p>
        </p:txBody>
      </p:sp>
      <p:sp>
        <p:nvSpPr>
          <p:cNvPr id="19" name="Section"/>
          <p:cNvSpPr/>
          <p:nvPr/>
        </p:nvSpPr>
        <p:spPr>
          <a:xfrm>
            <a:off x="4105656" y="3520440"/>
            <a:ext cx="3127248" cy="621792"/>
          </a:xfrm>
          <a:prstGeom prst="roundRect">
            <a:avLst>
              <a:gd name="adj" fmla="val 11765"/>
            </a:avLst>
          </a:prstGeom>
          <a:solidFill>
            <a:schemeClr val="bg1"/>
          </a:solidFill>
          <a:ln w="6350">
            <a:solidFill>
              <a:schemeClr val="accent4"/>
            </a:solidFill>
            <a:prstDash val="solid"/>
          </a:ln>
        </p:spPr>
      </p:sp>
      <p:sp>
        <p:nvSpPr>
          <p:cNvPr id="20" name="Text 18"/>
          <p:cNvSpPr txBox="1"/>
          <p:nvPr/>
        </p:nvSpPr>
        <p:spPr>
          <a:xfrm>
            <a:off x="4288536" y="352044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6</a:t>
            </a:r>
            <a:endParaRPr lang="en-US" sz="1800" dirty="0"/>
          </a:p>
        </p:txBody>
      </p:sp>
      <p:sp>
        <p:nvSpPr>
          <p:cNvPr id="21" name="Text 19"/>
          <p:cNvSpPr txBox="1"/>
          <p:nvPr/>
        </p:nvSpPr>
        <p:spPr>
          <a:xfrm>
            <a:off x="4654296" y="3520440"/>
            <a:ext cx="2468880" cy="621792"/>
          </a:xfrm>
          <a:prstGeom prst="rect">
            <a:avLst/>
          </a:prstGeom>
          <a:noFill/>
          <a:ln/>
        </p:spPr>
        <p:txBody>
          <a:bodyPr wrap="square" lIns="0" tIns="0" rIns="0" bIns="0" rtlCol="0" anchor="ctr"/>
          <a:lstStyle/>
          <a:p>
            <a:pPr indent="0" marL="0">
              <a:buNone/>
            </a:pPr>
            <a:r>
              <a:rPr lang="en-US" sz="1400" dirty="0">
                <a:solidFill>
                  <a:schemeClr val="tx1"/>
                </a:solidFill>
              </a:rPr>
              <a:t>Top five risks, in the matrix</a:t>
            </a:r>
            <a:endParaRPr lang="en-US" sz="1400" dirty="0"/>
          </a:p>
        </p:txBody>
      </p:sp>
      <p:sp>
        <p:nvSpPr>
          <p:cNvPr id="22" name="Section"/>
          <p:cNvSpPr/>
          <p:nvPr/>
        </p:nvSpPr>
        <p:spPr>
          <a:xfrm>
            <a:off x="813816" y="4251960"/>
            <a:ext cx="3127248" cy="621792"/>
          </a:xfrm>
          <a:prstGeom prst="roundRect">
            <a:avLst>
              <a:gd name="adj" fmla="val 11765"/>
            </a:avLst>
          </a:prstGeom>
          <a:solidFill>
            <a:schemeClr val="tx1"/>
          </a:solidFill>
          <a:ln/>
        </p:spPr>
      </p:sp>
      <p:sp>
        <p:nvSpPr>
          <p:cNvPr id="23" name="Text 21"/>
          <p:cNvSpPr txBox="1"/>
          <p:nvPr/>
        </p:nvSpPr>
        <p:spPr>
          <a:xfrm>
            <a:off x="996696" y="4251960"/>
            <a:ext cx="320040" cy="621792"/>
          </a:xfrm>
          <a:prstGeom prst="rect">
            <a:avLst/>
          </a:prstGeom>
          <a:noFill/>
          <a:ln/>
        </p:spPr>
        <p:txBody>
          <a:bodyPr wrap="square" lIns="0" tIns="0" rIns="0" bIns="0" rtlCol="0" anchor="ctr"/>
          <a:lstStyle/>
          <a:p>
            <a:pPr indent="0" marL="0">
              <a:buNone/>
            </a:pPr>
            <a:r>
              <a:rPr lang="en-US" sz="1800" b="1" dirty="0">
                <a:solidFill>
                  <a:schemeClr val="accent2"/>
                </a:solidFill>
              </a:rPr>
              <a:t>7</a:t>
            </a:r>
            <a:endParaRPr lang="en-US" sz="1800" dirty="0"/>
          </a:p>
        </p:txBody>
      </p:sp>
      <p:sp>
        <p:nvSpPr>
          <p:cNvPr id="24" name="Text 22"/>
          <p:cNvSpPr txBox="1"/>
          <p:nvPr/>
        </p:nvSpPr>
        <p:spPr>
          <a:xfrm>
            <a:off x="1362456" y="4251960"/>
            <a:ext cx="2468880" cy="621792"/>
          </a:xfrm>
          <a:prstGeom prst="rect">
            <a:avLst/>
          </a:prstGeom>
          <a:noFill/>
          <a:ln/>
        </p:spPr>
        <p:txBody>
          <a:bodyPr wrap="square" lIns="0" tIns="0" rIns="0" bIns="0" rtlCol="0" anchor="ctr"/>
          <a:lstStyle/>
          <a:p>
            <a:pPr indent="0" marL="0">
              <a:buNone/>
            </a:pPr>
            <a:r>
              <a:rPr lang="en-US" sz="1400" dirty="0">
                <a:solidFill>
                  <a:schemeClr val="bg2"/>
                </a:solidFill>
              </a:rPr>
              <a:t>Candidate requirements (after W4)</a:t>
            </a:r>
            <a:endParaRPr lang="en-US" sz="1400" dirty="0"/>
          </a:p>
        </p:txBody>
      </p:sp>
      <p:sp>
        <p:nvSpPr>
          <p:cNvPr id="25" name="Section"/>
          <p:cNvSpPr/>
          <p:nvPr/>
        </p:nvSpPr>
        <p:spPr>
          <a:xfrm>
            <a:off x="4105656" y="4251960"/>
            <a:ext cx="3127248" cy="621792"/>
          </a:xfrm>
          <a:prstGeom prst="roundRect">
            <a:avLst>
              <a:gd name="adj" fmla="val 11765"/>
            </a:avLst>
          </a:prstGeom>
          <a:solidFill>
            <a:schemeClr val="bg1"/>
          </a:solidFill>
          <a:ln w="6350">
            <a:solidFill>
              <a:schemeClr val="accent4"/>
            </a:solidFill>
            <a:prstDash val="solid"/>
          </a:ln>
        </p:spPr>
      </p:sp>
      <p:sp>
        <p:nvSpPr>
          <p:cNvPr id="26" name="Text 24"/>
          <p:cNvSpPr txBox="1"/>
          <p:nvPr/>
        </p:nvSpPr>
        <p:spPr>
          <a:xfrm>
            <a:off x="4288536" y="4251960"/>
            <a:ext cx="320040" cy="621792"/>
          </a:xfrm>
          <a:prstGeom prst="rect">
            <a:avLst/>
          </a:prstGeom>
          <a:noFill/>
          <a:ln/>
        </p:spPr>
        <p:txBody>
          <a:bodyPr wrap="square" lIns="0" tIns="0" rIns="0" bIns="0" rtlCol="0" anchor="ctr"/>
          <a:lstStyle/>
          <a:p>
            <a:pPr indent="0" marL="0">
              <a:buNone/>
            </a:pPr>
            <a:r>
              <a:rPr lang="en-US" sz="1800" b="1" dirty="0">
                <a:solidFill>
                  <a:schemeClr val="accent1"/>
                </a:solidFill>
              </a:rPr>
              <a:t>8</a:t>
            </a:r>
            <a:endParaRPr lang="en-US" sz="1800" dirty="0"/>
          </a:p>
        </p:txBody>
      </p:sp>
      <p:sp>
        <p:nvSpPr>
          <p:cNvPr id="27" name="Text 25"/>
          <p:cNvSpPr txBox="1"/>
          <p:nvPr/>
        </p:nvSpPr>
        <p:spPr>
          <a:xfrm>
            <a:off x="4654296" y="4251960"/>
            <a:ext cx="2468880" cy="621792"/>
          </a:xfrm>
          <a:prstGeom prst="rect">
            <a:avLst/>
          </a:prstGeom>
          <a:noFill/>
          <a:ln/>
        </p:spPr>
        <p:txBody>
          <a:bodyPr wrap="square" lIns="0" tIns="0" rIns="0" bIns="0" rtlCol="0" anchor="ctr"/>
          <a:lstStyle/>
          <a:p>
            <a:pPr indent="0" marL="0">
              <a:buNone/>
            </a:pPr>
            <a:r>
              <a:rPr lang="en-US" sz="1400" dirty="0">
                <a:solidFill>
                  <a:schemeClr val="tx1"/>
                </a:solidFill>
              </a:rPr>
              <a:t>Questions for the workshop</a:t>
            </a:r>
            <a:endParaRPr lang="en-US" sz="1400" dirty="0"/>
          </a:p>
        </p:txBody>
      </p:sp>
      <p:sp>
        <p:nvSpPr>
          <p:cNvPr id="28" name="Card"/>
          <p:cNvSpPr/>
          <p:nvPr/>
        </p:nvSpPr>
        <p:spPr>
          <a:xfrm>
            <a:off x="7607808" y="2057400"/>
            <a:ext cx="3776472" cy="2816352"/>
          </a:xfrm>
          <a:prstGeom prst="roundRect">
            <a:avLst>
              <a:gd name="adj" fmla="val 2597"/>
            </a:avLst>
          </a:prstGeom>
          <a:solidFill>
            <a:schemeClr val="tx1"/>
          </a:solidFill>
          <a:ln/>
        </p:spPr>
      </p:sp>
      <p:sp>
        <p:nvSpPr>
          <p:cNvPr id="29" name="Text 27"/>
          <p:cNvSpPr txBox="1"/>
          <p:nvPr/>
        </p:nvSpPr>
        <p:spPr>
          <a:xfrm>
            <a:off x="7863840" y="2313432"/>
            <a:ext cx="3264408" cy="237744"/>
          </a:xfrm>
          <a:prstGeom prst="rect">
            <a:avLst/>
          </a:prstGeom>
          <a:noFill/>
          <a:ln/>
        </p:spPr>
        <p:txBody>
          <a:bodyPr wrap="square" lIns="0" tIns="0" rIns="0" bIns="0" rtlCol="0" anchor="t"/>
          <a:lstStyle/>
          <a:p>
            <a:pPr indent="0" marL="0">
              <a:buNone/>
            </a:pPr>
            <a:r>
              <a:rPr lang="en-US" sz="1200" dirty="0">
                <a:solidFill>
                  <a:schemeClr val="accent2"/>
                </a:solidFill>
                <a:latin typeface="JetBrains Mono" pitchFamily="34" charset="0"/>
                <a:ea typeface="JetBrains Mono" pitchFamily="34" charset="-122"/>
                <a:cs typeface="JetBrains Mono" pitchFamily="34" charset="-120"/>
              </a:rPr>
              <a:t>How</a:t>
            </a:r>
            <a:endParaRPr lang="en-US" sz="1200" dirty="0"/>
          </a:p>
        </p:txBody>
      </p:sp>
      <p:sp>
        <p:nvSpPr>
          <p:cNvPr id="30" name="Text 28"/>
          <p:cNvSpPr txBox="1"/>
          <p:nvPr/>
        </p:nvSpPr>
        <p:spPr>
          <a:xfrm>
            <a:off x="7863840" y="2660904"/>
            <a:ext cx="3264408" cy="200253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accent5"/>
                </a:solidFill>
              </a:rPr>
              <a:t>At most two pages, bullet points.</a:t>
            </a:r>
            <a:endParaRPr lang="en-US" sz="1300" dirty="0"/>
          </a:p>
          <a:p>
            <a:pPr marL="177800" indent="-177800">
              <a:spcAft>
                <a:spcPts val="400"/>
              </a:spcAft>
              <a:buSzPct val="100000"/>
              <a:buChar char="•"/>
            </a:pPr>
            <a:r>
              <a:rPr lang="en-US" sz="1300" dirty="0">
                <a:solidFill>
                  <a:schemeClr val="accent5"/>
                </a:solidFill>
              </a:rPr>
              <a:t>In your repo as DIRECTIE.md, before the audit tag.</a:t>
            </a:r>
            <a:endParaRPr lang="en-US" sz="1300" dirty="0"/>
          </a:p>
          <a:p>
            <a:pPr marL="177800" indent="-177800">
              <a:spcAft>
                <a:spcPts val="400"/>
              </a:spcAft>
              <a:buSzPct val="100000"/>
              <a:buChar char="•"/>
            </a:pPr>
            <a:r>
              <a:rPr lang="en-US" sz="1300" dirty="0">
                <a:solidFill>
                  <a:schemeClr val="accent5"/>
                </a:solidFill>
              </a:rPr>
              <a:t>Sections 1–6 after today, 7 after W4.</a:t>
            </a:r>
            <a:endParaRPr lang="en-US" sz="1300" dirty="0"/>
          </a:p>
          <a:p>
            <a:pPr marL="177800" indent="-177800">
              <a:spcAft>
                <a:spcPts val="400"/>
              </a:spcAft>
              <a:buSzPct val="100000"/>
              <a:buChar char="•"/>
            </a:pPr>
            <a:r>
              <a:rPr lang="en-US" sz="1300" dirty="0">
                <a:solidFill>
                  <a:schemeClr val="accent5"/>
                </a:solidFill>
              </a:rPr>
              <a:t>AI allowed and declared; every member can explain every line.</a:t>
            </a:r>
            <a:endParaRPr lang="en-US" sz="1300" dirty="0"/>
          </a:p>
        </p:txBody>
      </p:sp>
      <p:sp>
        <p:nvSpPr>
          <p:cNvPr id="31" name="Callout"/>
          <p:cNvSpPr/>
          <p:nvPr/>
        </p:nvSpPr>
        <p:spPr>
          <a:xfrm>
            <a:off x="813816" y="5138928"/>
            <a:ext cx="10570464" cy="566928"/>
          </a:xfrm>
          <a:prstGeom prst="roundRect">
            <a:avLst>
              <a:gd name="adj" fmla="val 12903"/>
            </a:avLst>
          </a:prstGeom>
          <a:solidFill>
            <a:schemeClr val="tx1"/>
          </a:solidFill>
          <a:ln/>
        </p:spPr>
      </p:sp>
      <p:sp>
        <p:nvSpPr>
          <p:cNvPr id="32" name="Text 30"/>
          <p:cNvSpPr txBox="1"/>
          <p:nvPr/>
        </p:nvSpPr>
        <p:spPr>
          <a:xfrm>
            <a:off x="1069848" y="5138928"/>
            <a:ext cx="10058400" cy="566928"/>
          </a:xfrm>
          <a:prstGeom prst="rect">
            <a:avLst/>
          </a:prstGeom>
          <a:noFill/>
          <a:ln/>
        </p:spPr>
        <p:txBody>
          <a:bodyPr wrap="square" lIns="0" tIns="0" rIns="0" bIns="0" rtlCol="0" anchor="ctr"/>
          <a:lstStyle/>
          <a:p>
            <a:pPr indent="0" marL="0">
              <a:buNone/>
            </a:pPr>
            <a:r>
              <a:rPr lang="en-US" sz="1400" dirty="0">
                <a:solidFill>
                  <a:schemeClr val="bg2"/>
                </a:solidFill>
              </a:rPr>
              <a:t>Workshop 1 (W5, 26–30 Oct) confirms your direction. Teams that bring the sheet get a shorter, sharper discussion. Template on Teams.</a:t>
            </a:r>
            <a:endParaRPr lang="en-US" sz="1400" dirty="0"/>
          </a:p>
        </p:txBody>
      </p:sp>
      <p:sp>
        <p:nvSpPr>
          <p:cNvPr id="33"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3"/>
                </a:solidFill>
              </a:rPr>
              <a:t>Software Engineering 2026–27 · Lecture 2</a:t>
            </a:r>
            <a:endParaRPr lang="en-US" sz="1100" dirty="0"/>
          </a:p>
        </p:txBody>
      </p:sp>
      <p:sp>
        <p:nvSpPr>
          <p:cNvPr id="34"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3"/>
                </a:solidFill>
              </a:rPr>
              <a:t>36 / 37</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
          <p:cNvSpPr txBox="1"/>
          <p:nvPr/>
        </p:nvSpPr>
        <p:spPr>
          <a:xfrm>
            <a:off x="813816" y="2103120"/>
            <a:ext cx="10881360" cy="237744"/>
          </a:xfrm>
          <a:prstGeom prst="rect">
            <a:avLst/>
          </a:prstGeom>
          <a:noFill/>
          <a:ln/>
        </p:spPr>
        <p:txBody>
          <a:bodyPr wrap="square" lIns="0" tIns="0" rIns="0" bIns="0" rtlCol="0" anchor="t"/>
          <a:lstStyle/>
          <a:p>
            <a:pPr indent="0" marL="0">
              <a:buNone/>
            </a:pPr>
            <a:r>
              <a:rPr lang="en-US" sz="1200" spc="100" kern="0" dirty="0">
                <a:solidFill>
                  <a:schemeClr val="accent2"/>
                </a:solidFill>
                <a:latin typeface="JetBrains Mono" pitchFamily="34" charset="0"/>
                <a:ea typeface="JetBrains Mono" pitchFamily="34" charset="-122"/>
                <a:cs typeface="JetBrains Mono" pitchFamily="34" charset="-120"/>
              </a:rPr>
              <a:t>LECTURE 2 · W3</a:t>
            </a:r>
            <a:endParaRPr lang="en-US" sz="1200" dirty="0"/>
          </a:p>
        </p:txBody>
      </p:sp>
      <p:sp>
        <p:nvSpPr>
          <p:cNvPr id="3" name="Text 0"/>
          <p:cNvSpPr/>
          <p:nvPr>
            <p:ph idx="100" type="title" hasCustomPrompt="1"/>
          </p:nvPr>
        </p:nvSpPr>
        <p:spPr>
          <a:xfrm>
            <a:off x="813816" y="2468880"/>
            <a:ext cx="10881360" cy="1188720"/>
          </a:xfrm>
          <a:prstGeom prst="rect">
            <a:avLst/>
          </a:prstGeom>
          <a:noFill/>
          <a:ln/>
        </p:spPr>
        <p:txBody>
          <a:bodyPr wrap="square" lIns="0" tIns="0" rIns="0" bIns="0" rtlCol="0" anchor="b"/>
          <a:lstStyle/>
          <a:p>
            <a:pPr algn="l" indent="0" marL="0">
              <a:buNone/>
            </a:pPr>
            <a:r>
              <a:rPr lang="en-US" sz="5400" b="1" dirty="0">
                <a:solidFill>
                  <a:schemeClr val="bg2"/>
                </a:solidFill>
              </a:rPr>
              <a:t>Questions?</a:t>
            </a:r>
            <a:endParaRPr lang="en-US" sz="5400" dirty="0"/>
          </a:p>
        </p:txBody>
      </p:sp>
      <p:sp>
        <p:nvSpPr>
          <p:cNvPr id="4" name="Text 2"/>
          <p:cNvSpPr txBox="1"/>
          <p:nvPr/>
        </p:nvSpPr>
        <p:spPr>
          <a:xfrm>
            <a:off x="813816" y="3840480"/>
            <a:ext cx="10881360" cy="457200"/>
          </a:xfrm>
          <a:prstGeom prst="rect">
            <a:avLst/>
          </a:prstGeom>
          <a:noFill/>
          <a:ln/>
        </p:spPr>
        <p:txBody>
          <a:bodyPr wrap="square" lIns="0" tIns="0" rIns="0" bIns="0" rtlCol="0" anchor="t"/>
          <a:lstStyle/>
          <a:p>
            <a:pPr indent="0" marL="0">
              <a:buNone/>
            </a:pPr>
            <a:r>
              <a:rPr lang="en-US" sz="2200" dirty="0">
                <a:solidFill>
                  <a:schemeClr val="accent5"/>
                </a:solidFill>
              </a:rPr>
              <a:t>Next week: Does it hold?</a:t>
            </a:r>
            <a:endParaRPr lang="en-US" sz="2200" dirty="0"/>
          </a:p>
        </p:txBody>
      </p:sp>
      <p:sp>
        <p:nvSpPr>
          <p:cNvPr id="5" name="Source"/>
          <p:cNvSpPr txBox="1"/>
          <p:nvPr/>
        </p:nvSpPr>
        <p:spPr>
          <a:xfrm>
            <a:off x="813816" y="6236208"/>
            <a:ext cx="9235440" cy="274320"/>
          </a:xfrm>
          <a:prstGeom prst="rect">
            <a:avLst/>
          </a:prstGeom>
          <a:noFill/>
          <a:ln/>
        </p:spPr>
        <p:txBody>
          <a:bodyPr wrap="square" lIns="0" tIns="0" rIns="0" bIns="0" rtlCol="0" anchor="t"/>
          <a:lstStyle/>
          <a:p>
            <a:pPr indent="0" marL="0">
              <a:buNone/>
            </a:pPr>
            <a:r>
              <a:rPr lang="en-US" sz="1100" dirty="0">
                <a:solidFill>
                  <a:schemeClr val="accent5"/>
                </a:solidFill>
              </a:rPr>
              <a:t>Software Engineering 2026–27 · Lecture 2</a:t>
            </a:r>
            <a:endParaRPr lang="en-US" sz="1100" dirty="0"/>
          </a:p>
        </p:txBody>
      </p:sp>
      <p:sp>
        <p:nvSpPr>
          <p:cNvPr id="6" name="Page"/>
          <p:cNvSpPr txBox="1"/>
          <p:nvPr/>
        </p:nvSpPr>
        <p:spPr>
          <a:xfrm>
            <a:off x="10314432" y="6236208"/>
            <a:ext cx="1069848" cy="274320"/>
          </a:xfrm>
          <a:prstGeom prst="rect">
            <a:avLst/>
          </a:prstGeom>
          <a:noFill/>
          <a:ln/>
        </p:spPr>
        <p:txBody>
          <a:bodyPr wrap="square" lIns="0" tIns="0" rIns="0" bIns="0" rtlCol="0" anchor="t"/>
          <a:lstStyle/>
          <a:p>
            <a:pPr algn="r" indent="0" marL="0">
              <a:buNone/>
            </a:pPr>
            <a:r>
              <a:rPr lang="en-US" sz="1100" dirty="0">
                <a:solidFill>
                  <a:schemeClr val="accent5"/>
                </a:solidFill>
              </a:rPr>
              <a:t>37 / 37</a:t>
            </a:r>
            <a:endParaRPr lang="en-US" sz="1100" dirty="0"/>
          </a:p>
        </p:txBody>
      </p:sp>
    </p:spTree>
  </p:cSld>
  <p:clrMapOvr>
    <a:masterClrMapping/>
  </p:clrMapOvr>
</p:sld>
</file>

<file path=ppt/theme/theme1.xml><?xml version="1.0" encoding="utf-8"?>
<a:theme xmlns:a="http://schemas.openxmlformats.org/drawingml/2006/main" name="Software Engineering 2026-27">
  <a:themeElements>
    <a:clrScheme name="Software Engineering 2026-27">
      <a:dk1>
        <a:srgbClr val="101820"/>
      </a:dk1>
      <a:lt1>
        <a:srgbClr val="FFFDF8"/>
      </a:lt1>
      <a:dk2>
        <a:srgbClr val="46505C"/>
      </a:dk2>
      <a:lt2>
        <a:srgbClr val="F6F4EE"/>
      </a:lt2>
      <a:accent1>
        <a:srgbClr val="B8400A"/>
      </a:accent1>
      <a:accent2>
        <a:srgbClr val="FFB454"/>
      </a:accent2>
      <a:accent3>
        <a:srgbClr val="5F6B77"/>
      </a:accent3>
      <a:accent4>
        <a:srgbClr val="D9D3C5"/>
      </a:accent4>
      <a:accent5>
        <a:srgbClr val="B9C4CF"/>
      </a:accent5>
      <a:accent6>
        <a:srgbClr val="ECE8DD"/>
      </a:accent6>
      <a:hlink>
        <a:srgbClr val="B8400A"/>
      </a:hlink>
      <a:folHlink>
        <a:srgbClr val="5F6B77"/>
      </a:folHlink>
    </a:clrScheme>
    <a:fontScheme name="Software Engineering 2026-27">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85DF9904942542B875D072E27B4714" ma:contentTypeVersion="3" ma:contentTypeDescription="Create a new document." ma:contentTypeScope="" ma:versionID="8250e6376b3912942418301e7a2f30e3">
  <xsd:schema xmlns:xsd="http://www.w3.org/2001/XMLSchema" xmlns:xs="http://www.w3.org/2001/XMLSchema" xmlns:p="http://schemas.microsoft.com/office/2006/metadata/properties" xmlns:ns2="1e1288f1-694e-4aca-9a4c-52a213d010cd" targetNamespace="http://schemas.microsoft.com/office/2006/metadata/properties" ma:root="true" ma:fieldsID="baa1eb851d8289e3719488fa6df9a8d1" ns2:_="">
    <xsd:import namespace="1e1288f1-694e-4aca-9a4c-52a213d010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1288f1-694e-4aca-9a4c-52a213d0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9EE3A7-5D45-4B7C-9CD0-82F531E22DD5}"/>
</file>

<file path=customXml/itemProps2.xml><?xml version="1.0" encoding="utf-8"?>
<ds:datastoreItem xmlns:ds="http://schemas.openxmlformats.org/officeDocument/2006/customXml" ds:itemID="{0304A8C4-3E47-45CB-9D54-F7D634AFA4A1}"/>
</file>

<file path=customXml/itemProps3.xml><?xml version="1.0" encoding="utf-8"?>
<ds:datastoreItem xmlns:ds="http://schemas.openxmlformats.org/officeDocument/2006/customXml" ds:itemID="{A0AF4EA4-3D92-48B0-9237-D543875242C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2026–27 — Lecture 2: Specification (I)</dc:title>
  <dc:subject>PptxGenJS Presentation</dc:subject>
  <dc:creator>Rareș Cristea</dc:creator>
  <cp:lastModifiedBy>Rareș Cristea</cp:lastModifiedBy>
  <cp:revision>1</cp:revision>
  <dcterms:created xsi:type="dcterms:W3CDTF">2026-10-12T10:44:37Z</dcterms:created>
  <dcterms:modified xsi:type="dcterms:W3CDTF">2026-10-12T10:44:37Z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0x010100A185DF9904942542B875D072E27B4714</vt:lpwstr>
  </property>
</Properties>
</file>