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182834b-34ab-7bfc-073a-6a07db13f01d}">
          <p14:sldIdLst>
            <p14:sldId id="256"/>
            <p14:sldId id="257"/>
          </p14:sldIdLst>
        </p14:section>
        <p14:section name="Part 1 · Does it hold?" id="{dac8b46a-379f-ed09-4199-3c73ef106ebe}">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Part 2 · What must it support?" id="{bc625e2a-c252-1c28-62c9-38e945b535eb}">
          <p14:sldIdLst>
            <p14:sldId id="274"/>
            <p14:sldId id="275"/>
            <p14:sldId id="276"/>
            <p14:sldId id="277"/>
            <p14:sldId id="278"/>
            <p14:sldId id="279"/>
            <p14:sldId id="280"/>
            <p14:sldId id="281"/>
            <p14:sldId id="282"/>
            <p14:sldId id="283"/>
            <p14:sldId id="284"/>
          </p14:sldIdLst>
        </p14:section>
        <p14:section name="Closing" id="{134c347e-5fa0-cabb-09d2-9a15dc6e2506}">
          <p14:sldIdLst>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3, school week 4. First half closes the specification block that started last week; second half opens architecture. Workshop 1 is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overview slide of the lecture. Last week: what we have and what we want. Today two questions: whether the requirements we found hold up, and what they mean for the architecture. No separate agenda or recap slide: the two part dividers mark the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50 minutes. Sommerville chapter 4 (sections 4.1, 4.4, 4.5, 4.6), plus the negotiation section of Richards &amp; Ford chapter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Sommerville's own example. The requirement looks clear until two people read it. The rationale (confused patients going to the wrong clinic) is exactly what was missing from the sentence; we come back to rationale in a few slides. The third card is the course's: an agent resolves ambiguity silently, in the direction of whatever is simplest to generate. That is why the rest of this part is about writing requirements so they leave less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4.3 is the classification; the right-hand side gives Sommerville's Mentcare example for each branch (Figure 4.4). The new part compared to MDS is the three branches, not the list of qualities. The callout is a requirement of the kind teams now meet in practice: a rule about which data may go into an AI service. It is non-functional (it constrains how the system works, not what it does), and its source decides the type: the clinic's own policy makes it organizational, data-protection law makes it external. The type tells you who can change it: the client can relax its own policy, nobody can relax GDPR.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non-functional requirements, right after their three sources: this is where they most often go wrong, because stakeholders state them as general goals (ease of use, recovery from failure, rapid response). Sommerville rewrites the manager's usability goal so that you can instrument the system and count errors during testing. The metrics table (Figure 4.5) was covered at MDS, so it is only a reminder in the corner. The callout is Sommerville's own caveat: some goals have no simple measure, clients can't always relate to the numbers, and objective verification can be expensive. Functional requirements get the same treatment later, through acceptance criteria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is Sommerville's: the card-reader requirement from Figure 4.4 collides with mobile access, and the text concludes that some alternative identification method may have to be supported. Point: requirements are not independent items in a list. A change or a constraint in one ripples into others, which is why validation (next) checks consistency, and why change management needs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Sommerville's five guidelines, with rule 2 extended. Sommerville's rule: use language consistently to separate mandatory requirements ('shall') from desirable ones ('should'). MoSCoW, from Dai Clegg's RAD work (1994) and later DSDM, makes the same distinction with four levels: Must have (without it the delivery fails), Should have (important, can wait for a later increment), Could have (desirable, if time allows), Won't have this time (agreed out of scope for now, not 'would like'). Its known weakness: it does not rank within a level, and it says nothing about why something is a Must. Rule 5 is the one promised last week: every requirement mined from the MDS repository needs a source and a reason. The rationale is what you consult when someone wants to change the requirement: it tells you what the change would break. The example is from the book; note 'shall' and the rationale in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form keeps the free text but forces each requirement to state inputs, outputs, preconditions and side effects; omissions become visible as empty fields. Tables (Figure 4.14) help when there are several alternative situations. Use cases were covered at MDS; Sommerville's personal view is that stakeholders don't find them useful for discussing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Spec-driven development (SDD) is the 2025 name for writing a specification before letting an agent write code. The definition is still unsettled; some people use 'spec' to mean a detailed prompt. Böckeler (Thoughtworks) distinguishes three levels: spec-first (a spec guides the current task), spec-anchored (the spec is kept and maintained with the feature), spec-as-source (humans only edit the spec, code is regenerated, marked 'do not edit'). Tools: GitHub Spec Kit (Spec → Plan → Tasks → Implement, plus a 'constitution' of project-wide principles), Kiro from AWS (requirements → design → tasks; requirements as user stories with GIVEN/WHEN/THEN), Tessl (exploring spec-as-source). Her caveats: one workflow for all problem sizes is overkill for small changes; reviewing many verbose Markdown files is a burden; agents still ignore or over-apply instructions; spec-as-source may inherit the rigidity of model-driven development plus the non-determinism of LLMs. Why it may be valuable for them: the spec is the requirement with rationale and acceptance criteria, which is exactly what this lecture asks for, and it gives the agent a source of truth. We come back to it at workshop 3, where the change request starts from a spec. The closing quote is GitHub's, quoted in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requirements document (SRS) is the official statement of what to implement. Sommerville's own position for business systems with unstable requirements is the middle column plus a short document for system-wide requirements. That fits a student project: stories or issues for features, and a short file in the repo for the requirements that apply to everything (availability, privacy,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Sommerville's five checks, in his order. Verifiability is highlighted because it is the bridge to the acceptance criteria slide. Realism uses last week's material: resources, budget and schedule. We apply all five to one example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Sommerville's three techniques; the third, test-case generation, gets its own slide next. The dark card is the course's: a generated prototype makes the review concrete, but a screen that looks right says nothing about the validation rules, permissions or data constraints behind it. The callout is Sommerville's warning that validation never finds everything, which is the reason for the change management slide at the end of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Test-case generation is Sommerville's third validation technique: if a test is difficult or impossible to design, the requirement will be difficult to implement and should be reconsidered (p. 130). The example is requirements-based testing from chapter 8: one requirement, five tests, and traceability records that link the tests to the requirement (p. 246). In XP the customer helps write the acceptance tests, and writing tests first defines both an interface and a specification of behaviour (p. 82). The dark box is the course's point: when an agent writes both the code and the tests, the tests describe what the code does. Acceptance criteria are what keeps them tied to what it should do. The mechanics (frameworks, CI gates, mutation testing) are Petru's lecture in W7.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Continues last week's vague request (seat booking in the library reading rooms), so no new context to explain. Each candidate fails one of the five checks; the rework shows the kind of answer expected. The figures (2 seconds, 95%, 30 minutes) are illustrative: in a real project they come from stakeholders and measurements. The backpack observation from last week becomes the no-show rule; the turnstiles that already log entries make the sensor requirement unnecessary; the director's wish for occupancy figures becomes a conflict with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Richards &amp; Ford's scenario 1. Five nines is about five minutes a year, one second a day; three nines is 86 seconds a day, reasonable for the case. The techniques are theirs, in their order. Sommerville's side of the same activity: in elicitation, 'prioritization and negotiation' is the step where conflicts are found and resolved, and the final requirements are inevitably a compromise in which some stakeholders get priority (p. 113–114, 131). Ask the room for the equivalent in their own projects: what is the 'five nines' their imagined client would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discussion, 5–10 minutes. A story from practice: a requirement that was unrealistic or over-specified, how the negotiation went, and whether translating it into time or money (or into minutes of downtime) was what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4.19: problem analysis and change specification, change analysis and costing (using traceability), change implementation. The enduring/volatile distinction is Sommerville's box on p. 132. On who decides: in agile the user prioritizes the change, but users are not necessarily the best judges of whether a change is cost-effective; an independent authority that balances all stakeholders is often better (p. 132). For the project: the live change request at workshop 3 is this process, and traceability is what makes 'costing' possible in the time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45 minutes. Richards &amp; Ford chapters 4 and 5. Measuring and governing characteristics (chapter 6), styles and the LLM component follow in W6.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bridge between the two vocabularies. Richards &amp; Ford say explicitly why they reject the other two names. Everything that follows in the architecture lectures uses their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Richards &amp; Ford's definition in plain words: something is an architecture characteristic only if all three hold. 1. It is a 'nondomain design consideration': not a feature of the domain, but a criterion for how the features must be built or run (their example: no requirements document says 'prevent technical debt', yet it is a design concern). 2. It 'influences some structural aspect of the design': security is in every system, but it becomes architectural only when it needs special structure; handing payments to a third-party processor needs only good hygiene, processing them yourself needs an isolated module. 3. It is 'critical or important to application success': every characteristic you support adds complexity, so the architect's job is to pick the fewest. In the figure the three criteria are the sides of a triangle that holds up the design; 'explicit' and 'implicit' on its sides come back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as the authors say. Read the definitions in the tables at home; some overlap (availability and reliability). Their recommendation from domain-driven design: a ubiquitous language within the team, so that one word means one thing. The 'Italy-ility' box on p. 60 is a nice story about a characteristic invented for one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many characteristics lead to generic architectures that try to solve every problem and rarely work. The authors' conclusion: make the architecture as iterative as possible, so that you don't have to get everything right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'lost in translation' problem: architects talk about scalability and fault tolerance, stakeholders about mergers and time to market. Table 5-1 is a starting translation. The trap is to translate a concern into its most obvious characteristic only; the fund-pricing example lists the five others an effective architect would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Over-specifying characteristics is as damaging as under-specifying them. The Vasa was meant to be a troop transport and a gunship at once, with two gun decks and oversized cannons; the shipbuilders had doubts but could not say no to King Gustavus Adolphus. It sailed into the harbour, fired a salute from one side and capsized. Salvaged in the 20th century, it is now in the Vasa Museum in Stockholm (the photo). Instead of ranking every characteristic, which wastes time and causes disagreement, ask stakeholders to choose the top three in any order: easier consensus, and it starts the right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own example, a university class registration system. The point: domain knowledge produces characteristics that nobody writes down. Ask the room what the load on a quiz or a registration system looks like a minute before the deadline. In their own projects, the equivalent question is: what do you know about your users that your requirements don't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kata format (description, users, requirements, additional context) is Ted Neward's, adapted by the authors. Walk through it as they do: users imply scalability; mealtimes imply elasticity; external mapping services are an integration point (should the site fail if traffic data is down, or degrade?); specials imply customizability. Security: if payments go to a third party, standard hygiene is enough, so no special structure. Franchising brings cost constraints: check feasibility, maybe a simple architecture is warranted. Expansion overseas and cheap labour drive design (i18n, usability), not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characteristics from the kata that students most often confuse. A hotel booking system has steady load; a ticket sale has spikes. The question for their projects: does your load grow, spike, or neither? An honest 'neither' is a legitimate answer and keeps the architecture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elasticity story. 15 November 2022, Eras Tour presale on Ticketmaster: 3.5 billion system requests, four times their previous peak (Ticketmaster's own statement, 17 Nov 2022). The Verified Fan programme had invited 1.5 million fans with codes and put about 2 million more on a waiting list; bots and fans without codes drove the traffic anyway. Ticketmaster slowed and postponed sales to stabilise the system; fans waited for hours, some lost their place; more than 2 million tickets were still sold that day; the general public sale on 18 November was cancelled. At the US Senate hearing (24 Jan 2023), Live Nation's Joe Berchtold said bot traffic was three times anything they had seen before. The architectural answer is the virtual waiting room (Ticketmaster calls theirs Smart Queue): fans join a waiting room before the sale, get a place in line, and are admitted at a controlled rate; Ticketmaster's guide says only a few hundred people can shop at once, and your place is held for 10 minutes when your turn comes. Commercial waiting rooms such as Queue-it let the site set the outflow rate to what it can handle and randomise those who arrived before the start. Link to the lecture: elasticity is expensive and has limits; a queue is a deliberate trade-off between latency and availability, an architecture decision, not a bug. Ask the room: which of their own systems would need a queue, and which would only need to say 'try again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sections 4.1, 4.4 (without the use cases subsection), 4.5 and 4.6; the requirements-based testing subsection from chapter 8 for the acceptance criteria slide. Richards &amp; Ford chapters 4 and 5 in full, and the first negotiation section of chapter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for workshop 1: a booking calendar will be posted on Teams; each team picks a slot within the 4-hour window and works on its direction with Rareș and Petru. Section 7 of the direction sheet was planned for after this lecture. The second card applies Part 2 to their own system; it gives workshop 1 a concrete starting point for the architecture discussion in W6.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18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3246120"/>
            <a:ext cx="10881360" cy="1920240"/>
          </a:xfrm>
          <a:prstGeom prst="rect">
            <a:avLst/>
          </a:prstGeom>
          <a:noFill/>
          <a:ln/>
        </p:spPr>
        <p:txBody>
          <a:bodyPr wrap="square" rtlCol="0"/>
          <a:lstStyle>
            <a:lvl1pPr algn="l" indent="0" marL="0">
              <a:buNone/>
              <a:defRPr lang="en-US" sz="5400" b="1" dirty="0">
                <a:solidFill>
                  <a:schemeClr val="bg2"/>
                </a:solidFill>
                <a:latin typeface="IBM Plex Sans" pitchFamily="34" charset="0"/>
                <a:ea typeface="IBM Plex Sans" pitchFamily="34" charset="-122"/>
                <a:cs typeface="IBM Plex Sans" pitchFamily="34" charset="-120"/>
              </a:defRPr>
            </a:lvl1pPr>
          </a:lstStyle>
          <a:p>
            <a:pPr algn="l" indent="0" marL="0">
              <a:buNone/>
            </a:pPr>
            <a:r>
              <a:rPr lang="en-US" sz="5400" b="1" dirty="0">
                <a:solidFill>
                  <a:schemeClr val="bg2"/>
                </a:solidFill>
                <a:latin typeface="IBM Plex Sans" pitchFamily="34" charset="0"/>
                <a:ea typeface="IBM Plex Sans" pitchFamily="34" charset="-122"/>
                <a:cs typeface="IBM Plex Sans" pitchFamily="34" charset="-120"/>
              </a:rPr>
              <a:t>Title</a:t>
            </a: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188720"/>
            <a:ext cx="10881360" cy="566928"/>
          </a:xfrm>
          <a:prstGeom prst="rect">
            <a:avLst/>
          </a:prstGeom>
          <a:noFill/>
          <a:ln/>
        </p:spPr>
        <p:txBody>
          <a:bodyPr wrap="square" rtlCol="0"/>
          <a:lstStyle>
            <a:lvl1pPr algn="l" indent="0" marL="0">
              <a:buNone/>
              <a:defRPr lang="en-US" sz="3600" b="1" dirty="0">
                <a:solidFill>
                  <a:schemeClr val="tx1"/>
                </a:solidFill>
                <a:latin typeface="IBM Plex Sans" pitchFamily="34" charset="0"/>
                <a:ea typeface="IBM Plex Sans" pitchFamily="34" charset="-122"/>
                <a:cs typeface="IBM Plex Sans" pitchFamily="34" charset="-120"/>
              </a:defRPr>
            </a:lvl1pPr>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Title</a:t>
            </a: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ECE8D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828800"/>
            <a:ext cx="10881360" cy="2103120"/>
          </a:xfrm>
          <a:prstGeom prst="rect">
            <a:avLst/>
          </a:prstGeom>
          <a:noFill/>
          <a:ln/>
        </p:spPr>
        <p:txBody>
          <a:bodyPr wrap="square" rtlCol="0"/>
          <a:lstStyle>
            <a:lvl1pPr algn="l" indent="0" marL="0">
              <a:buNone/>
              <a:defRPr lang="en-US" sz="4400" b="1" dirty="0">
                <a:solidFill>
                  <a:schemeClr val="tx1"/>
                </a:solidFill>
                <a:latin typeface="IBM Plex Sans" pitchFamily="34" charset="0"/>
                <a:ea typeface="IBM Plex Sans" pitchFamily="34" charset="-122"/>
                <a:cs typeface="IBM Plex Sans" pitchFamily="34" charset="-120"/>
              </a:defRPr>
            </a:lvl1pPr>
          </a:lstStyle>
          <a:p>
            <a:pPr algn="l" indent="0" marL="0">
              <a:buNone/>
            </a:pPr>
            <a:r>
              <a:rPr lang="en-US" sz="4400" b="1" dirty="0">
                <a:solidFill>
                  <a:schemeClr val="tx1"/>
                </a:solidFill>
                <a:latin typeface="IBM Plex Sans" pitchFamily="34" charset="0"/>
                <a:ea typeface="IBM Plex Sans" pitchFamily="34" charset="-122"/>
                <a:cs typeface="IBM Plex Sans" pitchFamily="34" charset="-120"/>
              </a:rPr>
              <a:t>Title</a:t>
            </a: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SCUSSION">
    <p:bg>
      <p:bgPr>
        <a:solidFill>
          <a:srgbClr val="FFB45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737360"/>
            <a:ext cx="10881360" cy="2377440"/>
          </a:xfrm>
          <a:prstGeom prst="rect">
            <a:avLst/>
          </a:prstGeom>
          <a:noFill/>
          <a:ln/>
        </p:spPr>
        <p:txBody>
          <a:bodyPr wrap="square" rtlCol="0"/>
          <a:lstStyle>
            <a:lvl1pPr algn="l" indent="0" marL="0">
              <a:buNone/>
              <a:defRPr lang="en-US" sz="5400" b="1" dirty="0">
                <a:solidFill>
                  <a:schemeClr val="tx1"/>
                </a:solidFill>
                <a:latin typeface="IBM Plex Sans" pitchFamily="34" charset="0"/>
                <a:ea typeface="IBM Plex Sans" pitchFamily="34" charset="-122"/>
                <a:cs typeface="IBM Plex Sans" pitchFamily="34" charset="-120"/>
              </a:defRPr>
            </a:lvl1pPr>
          </a:lstStyle>
          <a:p>
            <a:pPr algn="l" indent="0" marL="0">
              <a:buNone/>
            </a:pPr>
            <a:r>
              <a:rPr lang="en-US" sz="5400" b="1" dirty="0">
                <a:solidFill>
                  <a:schemeClr val="tx1"/>
                </a:solidFill>
                <a:latin typeface="IBM Plex Sans" pitchFamily="34" charset="0"/>
                <a:ea typeface="IBM Plex Sans" pitchFamily="34" charset="-122"/>
                <a:cs typeface="IBM Plex Sans" pitchFamily="34" charset="-120"/>
              </a:rPr>
              <a:t>Title</a:t>
            </a:r>
            <a:endParaRPr lang="en-US" sz="5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018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2468880"/>
            <a:ext cx="10881360" cy="1188720"/>
          </a:xfrm>
          <a:prstGeom prst="rect">
            <a:avLst/>
          </a:prstGeom>
          <a:noFill/>
          <a:ln/>
        </p:spPr>
        <p:txBody>
          <a:bodyPr wrap="square" rtlCol="0"/>
          <a:lstStyle>
            <a:lvl1pPr algn="l" indent="0" marL="0">
              <a:buNone/>
              <a:defRPr lang="en-US" sz="5400" b="1" dirty="0">
                <a:solidFill>
                  <a:schemeClr val="bg2"/>
                </a:solidFill>
                <a:latin typeface="IBM Plex Sans" pitchFamily="34" charset="0"/>
                <a:ea typeface="IBM Plex Sans" pitchFamily="34" charset="-122"/>
                <a:cs typeface="IBM Plex Sans" pitchFamily="34" charset="-120"/>
              </a:defRPr>
            </a:lvl1pPr>
          </a:lstStyle>
          <a:p>
            <a:pPr algn="l" indent="0" marL="0">
              <a:buNone/>
            </a:pPr>
            <a:r>
              <a:rPr lang="en-US" sz="5400" b="1" dirty="0">
                <a:solidFill>
                  <a:schemeClr val="bg2"/>
                </a:solidFill>
                <a:latin typeface="IBM Plex Sans" pitchFamily="34" charset="0"/>
                <a:ea typeface="IBM Plex Sans" pitchFamily="34" charset="-122"/>
                <a:cs typeface="IBM Plex Sans" pitchFamily="34" charset="-120"/>
              </a:rPr>
              <a:t>Title</a:t>
            </a: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SOFTWARE ENGINEERING · LECTURE 3 · W4 · 19–23 OCT</a:t>
            </a:r>
            <a:endParaRPr lang="en-US" sz="1200" dirty="0"/>
          </a:p>
        </p:txBody>
      </p:sp>
      <p:sp>
        <p:nvSpPr>
          <p:cNvPr id="3" name="Text 0"/>
          <p:cNvSpPr/>
          <p:nvPr>
            <p:ph idx="100" type="title" hasCustomPrompt="1"/>
          </p:nvPr>
        </p:nvSpPr>
        <p:spPr>
          <a:xfrm>
            <a:off x="813816" y="3246120"/>
            <a:ext cx="10881360" cy="1920240"/>
          </a:xfrm>
          <a:prstGeom prst="rect">
            <a:avLst/>
          </a:prstGeom>
          <a:noFill/>
          <a:ln/>
        </p:spPr>
        <p:txBody>
          <a:bodyPr wrap="square" lIns="0" tIns="0" rIns="0" bIns="0" rtlCol="0" anchor="t"/>
          <a:lstStyle/>
          <a:p>
            <a:pPr algn="l" indent="0" marL="0">
              <a:buNone/>
            </a:pPr>
            <a:r>
              <a:rPr lang="en-US" sz="5400" b="1" dirty="0">
                <a:solidFill>
                  <a:schemeClr val="bg2"/>
                </a:solidFill>
                <a:latin typeface="IBM Plex Sans" pitchFamily="34" charset="0"/>
                <a:ea typeface="IBM Plex Sans" pitchFamily="34" charset="-122"/>
                <a:cs typeface="IBM Plex Sans" pitchFamily="34" charset="-120"/>
              </a:rPr>
              <a:t>Specification (II) and architecture (I)</a:t>
            </a:r>
            <a:endParaRPr lang="en-US" sz="5400" dirty="0"/>
          </a:p>
        </p:txBody>
      </p:sp>
      <p:sp>
        <p:nvSpPr>
          <p:cNvPr id="4" name="Text 2"/>
          <p:cNvSpPr txBox="1"/>
          <p:nvPr/>
        </p:nvSpPr>
        <p:spPr>
          <a:xfrm>
            <a:off x="813816" y="5349240"/>
            <a:ext cx="10881360" cy="411480"/>
          </a:xfrm>
          <a:prstGeom prst="rect">
            <a:avLst/>
          </a:prstGeom>
          <a:noFill/>
          <a:ln/>
        </p:spPr>
        <p:txBody>
          <a:bodyPr wrap="square" lIns="0" tIns="0" rIns="0" bIns="0" rtlCol="0" anchor="t"/>
          <a:lstStyle/>
          <a:p>
            <a:pPr indent="0" marL="0">
              <a:buNone/>
            </a:pPr>
            <a:r>
              <a:rPr lang="en-US" sz="2200" dirty="0">
                <a:solidFill>
                  <a:schemeClr val="accent5"/>
                </a:solidFill>
              </a:rPr>
              <a:t>Does it hold? And what must the architecture support?</a:t>
            </a:r>
            <a:endParaRPr lang="en-US" sz="2200" dirty="0"/>
          </a:p>
        </p:txBody>
      </p:sp>
      <p:sp>
        <p:nvSpPr>
          <p:cNvPr id="5"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Rareș Cristea · FMI-UB · 2026–27</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1 / 32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WHERE WE ARE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From requirements to architecture</a:t>
            </a:r>
            <a:endParaRPr lang="en-US" sz="3600" dirty="0"/>
          </a:p>
        </p:txBody>
      </p:sp>
      <p:sp>
        <p:nvSpPr>
          <p:cNvPr id="4" name="Card"/>
          <p:cNvSpPr/>
          <p:nvPr/>
        </p:nvSpPr>
        <p:spPr>
          <a:xfrm>
            <a:off x="813816" y="2148840"/>
            <a:ext cx="2514600" cy="2651760"/>
          </a:xfrm>
          <a:prstGeom prst="roundRect">
            <a:avLst>
              <a:gd name="adj" fmla="val 2909"/>
            </a:avLst>
          </a:prstGeom>
          <a:solidFill>
            <a:schemeClr val="bg1"/>
          </a:solidFill>
          <a:ln w="6350">
            <a:solidFill>
              <a:schemeClr val="accent4"/>
            </a:solidFill>
            <a:prstDash val="solid"/>
          </a:ln>
        </p:spPr>
      </p:sp>
      <p:sp>
        <p:nvSpPr>
          <p:cNvPr id="5" name="Text 3"/>
          <p:cNvSpPr txBox="1"/>
          <p:nvPr/>
        </p:nvSpPr>
        <p:spPr>
          <a:xfrm>
            <a:off x="1042416" y="2377440"/>
            <a:ext cx="2103120" cy="237744"/>
          </a:xfrm>
          <a:prstGeom prst="rect">
            <a:avLst/>
          </a:prstGeom>
          <a:noFill/>
          <a:ln/>
        </p:spPr>
        <p:txBody>
          <a:bodyPr wrap="square" lIns="0" tIns="0" rIns="0" bIns="0" rtlCol="0" anchor="t"/>
          <a:lstStyle/>
          <a:p>
            <a:pPr indent="0" marL="0">
              <a:buNone/>
            </a:pPr>
            <a:r>
              <a:rPr lang="en-US" sz="1200" dirty="0">
                <a:solidFill>
                  <a:schemeClr val="accent3"/>
                </a:solidFill>
                <a:latin typeface="JetBrains Mono" pitchFamily="34" charset="0"/>
                <a:ea typeface="JetBrains Mono" pitchFamily="34" charset="-122"/>
                <a:cs typeface="JetBrains Mono" pitchFamily="34" charset="-120"/>
              </a:rPr>
              <a:t>W3 · done</a:t>
            </a:r>
            <a:endParaRPr lang="en-US" sz="1200" dirty="0"/>
          </a:p>
        </p:txBody>
      </p:sp>
      <p:sp>
        <p:nvSpPr>
          <p:cNvPr id="6" name="Text 4"/>
          <p:cNvSpPr txBox="1"/>
          <p:nvPr/>
        </p:nvSpPr>
        <p:spPr>
          <a:xfrm>
            <a:off x="1042416" y="2743200"/>
            <a:ext cx="2103120" cy="731520"/>
          </a:xfrm>
          <a:prstGeom prst="rect">
            <a:avLst/>
          </a:prstGeom>
          <a:noFill/>
          <a:ln/>
        </p:spPr>
        <p:txBody>
          <a:bodyPr wrap="square" lIns="0" tIns="0" rIns="0" bIns="0" rtlCol="0" anchor="t"/>
          <a:lstStyle/>
          <a:p>
            <a:pPr indent="0" marL="0">
              <a:buNone/>
            </a:pPr>
            <a:r>
              <a:rPr lang="en-US" sz="2000" b="1" dirty="0">
                <a:solidFill>
                  <a:schemeClr val="accent3"/>
                </a:solidFill>
              </a:rPr>
              <a:t>What do we have?</a:t>
            </a:r>
            <a:endParaRPr lang="en-US" sz="2000" dirty="0"/>
          </a:p>
        </p:txBody>
      </p:sp>
      <p:sp>
        <p:nvSpPr>
          <p:cNvPr id="7" name="Text 5"/>
          <p:cNvSpPr txBox="1"/>
          <p:nvPr/>
        </p:nvSpPr>
        <p:spPr>
          <a:xfrm>
            <a:off x="1042416" y="3520440"/>
            <a:ext cx="2103120" cy="1143000"/>
          </a:xfrm>
          <a:prstGeom prst="rect">
            <a:avLst/>
          </a:prstGeom>
          <a:noFill/>
          <a:ln/>
        </p:spPr>
        <p:txBody>
          <a:bodyPr wrap="square" lIns="0" tIns="0" rIns="0" bIns="0" rtlCol="0" anchor="t"/>
          <a:lstStyle/>
          <a:p>
            <a:pPr indent="0" marL="0">
              <a:buNone/>
            </a:pPr>
            <a:r>
              <a:rPr lang="en-US" sz="1400" dirty="0">
                <a:solidFill>
                  <a:schemeClr val="accent3"/>
                </a:solidFill>
              </a:rPr>
              <a:t>Resources, constraints, risks.</a:t>
            </a:r>
            <a:endParaRPr lang="en-US" sz="1400" dirty="0"/>
          </a:p>
        </p:txBody>
      </p:sp>
      <p:sp>
        <p:nvSpPr>
          <p:cNvPr id="8" name="Card"/>
          <p:cNvSpPr/>
          <p:nvPr/>
        </p:nvSpPr>
        <p:spPr>
          <a:xfrm>
            <a:off x="3511296" y="2148840"/>
            <a:ext cx="2514600" cy="2651760"/>
          </a:xfrm>
          <a:prstGeom prst="roundRect">
            <a:avLst>
              <a:gd name="adj" fmla="val 2909"/>
            </a:avLst>
          </a:prstGeom>
          <a:solidFill>
            <a:schemeClr val="bg1"/>
          </a:solidFill>
          <a:ln w="6350">
            <a:solidFill>
              <a:schemeClr val="accent4"/>
            </a:solidFill>
            <a:prstDash val="solid"/>
          </a:ln>
        </p:spPr>
      </p:sp>
      <p:sp>
        <p:nvSpPr>
          <p:cNvPr id="9" name="Text 7"/>
          <p:cNvSpPr txBox="1"/>
          <p:nvPr/>
        </p:nvSpPr>
        <p:spPr>
          <a:xfrm>
            <a:off x="3739896" y="2377440"/>
            <a:ext cx="2103120" cy="237744"/>
          </a:xfrm>
          <a:prstGeom prst="rect">
            <a:avLst/>
          </a:prstGeom>
          <a:noFill/>
          <a:ln/>
        </p:spPr>
        <p:txBody>
          <a:bodyPr wrap="square" lIns="0" tIns="0" rIns="0" bIns="0" rtlCol="0" anchor="t"/>
          <a:lstStyle/>
          <a:p>
            <a:pPr indent="0" marL="0">
              <a:buNone/>
            </a:pPr>
            <a:r>
              <a:rPr lang="en-US" sz="1200" dirty="0">
                <a:solidFill>
                  <a:schemeClr val="accent3"/>
                </a:solidFill>
                <a:latin typeface="JetBrains Mono" pitchFamily="34" charset="0"/>
                <a:ea typeface="JetBrains Mono" pitchFamily="34" charset="-122"/>
                <a:cs typeface="JetBrains Mono" pitchFamily="34" charset="-120"/>
              </a:rPr>
              <a:t>W3 · done</a:t>
            </a:r>
            <a:endParaRPr lang="en-US" sz="1200" dirty="0"/>
          </a:p>
        </p:txBody>
      </p:sp>
      <p:sp>
        <p:nvSpPr>
          <p:cNvPr id="10" name="Text 8"/>
          <p:cNvSpPr txBox="1"/>
          <p:nvPr/>
        </p:nvSpPr>
        <p:spPr>
          <a:xfrm>
            <a:off x="3739896" y="2743200"/>
            <a:ext cx="2103120" cy="731520"/>
          </a:xfrm>
          <a:prstGeom prst="rect">
            <a:avLst/>
          </a:prstGeom>
          <a:noFill/>
          <a:ln/>
        </p:spPr>
        <p:txBody>
          <a:bodyPr wrap="square" lIns="0" tIns="0" rIns="0" bIns="0" rtlCol="0" anchor="t"/>
          <a:lstStyle/>
          <a:p>
            <a:pPr indent="0" marL="0">
              <a:buNone/>
            </a:pPr>
            <a:r>
              <a:rPr lang="en-US" sz="2000" b="1" dirty="0">
                <a:solidFill>
                  <a:schemeClr val="accent3"/>
                </a:solidFill>
              </a:rPr>
              <a:t>What do we want?</a:t>
            </a:r>
            <a:endParaRPr lang="en-US" sz="2000" dirty="0"/>
          </a:p>
        </p:txBody>
      </p:sp>
      <p:sp>
        <p:nvSpPr>
          <p:cNvPr id="11" name="Text 9"/>
          <p:cNvSpPr txBox="1"/>
          <p:nvPr/>
        </p:nvSpPr>
        <p:spPr>
          <a:xfrm>
            <a:off x="3739896" y="3520440"/>
            <a:ext cx="2103120" cy="1143000"/>
          </a:xfrm>
          <a:prstGeom prst="rect">
            <a:avLst/>
          </a:prstGeom>
          <a:noFill/>
          <a:ln/>
        </p:spPr>
        <p:txBody>
          <a:bodyPr wrap="square" lIns="0" tIns="0" rIns="0" bIns="0" rtlCol="0" anchor="t"/>
          <a:lstStyle/>
          <a:p>
            <a:pPr indent="0" marL="0">
              <a:buNone/>
            </a:pPr>
            <a:r>
              <a:rPr lang="en-US" sz="1400" dirty="0">
                <a:solidFill>
                  <a:schemeClr val="accent3"/>
                </a:solidFill>
              </a:rPr>
              <a:t>Elicitation, and mining the MDS repository.</a:t>
            </a:r>
            <a:endParaRPr lang="en-US" sz="1400" dirty="0"/>
          </a:p>
        </p:txBody>
      </p:sp>
      <p:sp>
        <p:nvSpPr>
          <p:cNvPr id="12" name="Card"/>
          <p:cNvSpPr/>
          <p:nvPr/>
        </p:nvSpPr>
        <p:spPr>
          <a:xfrm>
            <a:off x="6208776" y="2148840"/>
            <a:ext cx="2514600" cy="2651760"/>
          </a:xfrm>
          <a:prstGeom prst="roundRect">
            <a:avLst>
              <a:gd name="adj" fmla="val 2909"/>
            </a:avLst>
          </a:prstGeom>
          <a:solidFill>
            <a:schemeClr val="tx1"/>
          </a:solidFill>
          <a:ln w="6350">
            <a:solidFill>
              <a:schemeClr val="tx1"/>
            </a:solidFill>
            <a:prstDash val="solid"/>
          </a:ln>
        </p:spPr>
      </p:sp>
      <p:sp>
        <p:nvSpPr>
          <p:cNvPr id="13" name="Text 11"/>
          <p:cNvSpPr txBox="1"/>
          <p:nvPr/>
        </p:nvSpPr>
        <p:spPr>
          <a:xfrm>
            <a:off x="6437376" y="2377440"/>
            <a:ext cx="210312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W4 · first half</a:t>
            </a:r>
            <a:endParaRPr lang="en-US" sz="1200" dirty="0"/>
          </a:p>
        </p:txBody>
      </p:sp>
      <p:sp>
        <p:nvSpPr>
          <p:cNvPr id="14" name="Text 12"/>
          <p:cNvSpPr txBox="1"/>
          <p:nvPr/>
        </p:nvSpPr>
        <p:spPr>
          <a:xfrm>
            <a:off x="6437376" y="2743200"/>
            <a:ext cx="2103120" cy="731520"/>
          </a:xfrm>
          <a:prstGeom prst="rect">
            <a:avLst/>
          </a:prstGeom>
          <a:noFill/>
          <a:ln/>
        </p:spPr>
        <p:txBody>
          <a:bodyPr wrap="square" lIns="0" tIns="0" rIns="0" bIns="0" rtlCol="0" anchor="t"/>
          <a:lstStyle/>
          <a:p>
            <a:pPr indent="0" marL="0">
              <a:buNone/>
            </a:pPr>
            <a:r>
              <a:rPr lang="en-US" sz="2000" b="1" dirty="0">
                <a:solidFill>
                  <a:schemeClr val="bg2"/>
                </a:solidFill>
              </a:rPr>
              <a:t>Does it hold?</a:t>
            </a:r>
            <a:endParaRPr lang="en-US" sz="2000" dirty="0"/>
          </a:p>
        </p:txBody>
      </p:sp>
      <p:sp>
        <p:nvSpPr>
          <p:cNvPr id="15" name="Text 13"/>
          <p:cNvSpPr txBox="1"/>
          <p:nvPr/>
        </p:nvSpPr>
        <p:spPr>
          <a:xfrm>
            <a:off x="6437376" y="3520440"/>
            <a:ext cx="2103120" cy="1143000"/>
          </a:xfrm>
          <a:prstGeom prst="rect">
            <a:avLst/>
          </a:prstGeom>
          <a:noFill/>
          <a:ln/>
        </p:spPr>
        <p:txBody>
          <a:bodyPr wrap="square" lIns="0" tIns="0" rIns="0" bIns="0" rtlCol="0" anchor="t"/>
          <a:lstStyle/>
          <a:p>
            <a:pPr indent="0" marL="0">
              <a:buNone/>
            </a:pPr>
            <a:r>
              <a:rPr lang="en-US" sz="1400" dirty="0">
                <a:solidFill>
                  <a:schemeClr val="accent5"/>
                </a:solidFill>
              </a:rPr>
              <a:t>Written so it can be checked, validated, negotiated, kept under change.</a:t>
            </a:r>
            <a:endParaRPr lang="en-US" sz="1400" dirty="0"/>
          </a:p>
        </p:txBody>
      </p:sp>
      <p:sp>
        <p:nvSpPr>
          <p:cNvPr id="16" name="Card"/>
          <p:cNvSpPr/>
          <p:nvPr/>
        </p:nvSpPr>
        <p:spPr>
          <a:xfrm>
            <a:off x="8906256" y="2148840"/>
            <a:ext cx="2514600" cy="2651760"/>
          </a:xfrm>
          <a:prstGeom prst="roundRect">
            <a:avLst>
              <a:gd name="adj" fmla="val 2909"/>
            </a:avLst>
          </a:prstGeom>
          <a:solidFill>
            <a:schemeClr val="tx1"/>
          </a:solidFill>
          <a:ln w="6350">
            <a:solidFill>
              <a:schemeClr val="tx1"/>
            </a:solidFill>
            <a:prstDash val="solid"/>
          </a:ln>
        </p:spPr>
      </p:sp>
      <p:sp>
        <p:nvSpPr>
          <p:cNvPr id="17" name="Text 15"/>
          <p:cNvSpPr txBox="1"/>
          <p:nvPr/>
        </p:nvSpPr>
        <p:spPr>
          <a:xfrm>
            <a:off x="9134856" y="2377440"/>
            <a:ext cx="210312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W4 · second half</a:t>
            </a:r>
            <a:endParaRPr lang="en-US" sz="1200" dirty="0"/>
          </a:p>
        </p:txBody>
      </p:sp>
      <p:sp>
        <p:nvSpPr>
          <p:cNvPr id="18" name="Text 16"/>
          <p:cNvSpPr txBox="1"/>
          <p:nvPr/>
        </p:nvSpPr>
        <p:spPr>
          <a:xfrm>
            <a:off x="9134856" y="2743200"/>
            <a:ext cx="2103120" cy="731520"/>
          </a:xfrm>
          <a:prstGeom prst="rect">
            <a:avLst/>
          </a:prstGeom>
          <a:noFill/>
          <a:ln/>
        </p:spPr>
        <p:txBody>
          <a:bodyPr wrap="square" lIns="0" tIns="0" rIns="0" bIns="0" rtlCol="0" anchor="t"/>
          <a:lstStyle/>
          <a:p>
            <a:pPr indent="0" marL="0">
              <a:buNone/>
            </a:pPr>
            <a:r>
              <a:rPr lang="en-US" sz="2000" b="1" dirty="0">
                <a:solidFill>
                  <a:schemeClr val="bg2"/>
                </a:solidFill>
              </a:rPr>
              <a:t>What must it support?</a:t>
            </a:r>
            <a:endParaRPr lang="en-US" sz="2000" dirty="0"/>
          </a:p>
        </p:txBody>
      </p:sp>
      <p:sp>
        <p:nvSpPr>
          <p:cNvPr id="19" name="Text 17"/>
          <p:cNvSpPr txBox="1"/>
          <p:nvPr/>
        </p:nvSpPr>
        <p:spPr>
          <a:xfrm>
            <a:off x="9134856" y="3520440"/>
            <a:ext cx="2103120" cy="1143000"/>
          </a:xfrm>
          <a:prstGeom prst="rect">
            <a:avLst/>
          </a:prstGeom>
          <a:noFill/>
          <a:ln/>
        </p:spPr>
        <p:txBody>
          <a:bodyPr wrap="square" lIns="0" tIns="0" rIns="0" bIns="0" rtlCol="0" anchor="t"/>
          <a:lstStyle/>
          <a:p>
            <a:pPr indent="0" marL="0">
              <a:buNone/>
            </a:pPr>
            <a:r>
              <a:rPr lang="en-US" sz="1400" dirty="0">
                <a:solidFill>
                  <a:schemeClr val="accent5"/>
                </a:solidFill>
              </a:rPr>
              <a:t>The few architecture characteristics that shape the structure.</a:t>
            </a:r>
            <a:endParaRPr lang="en-US" sz="1400" dirty="0"/>
          </a:p>
        </p:txBody>
      </p:sp>
      <p:sp>
        <p:nvSpPr>
          <p:cNvPr id="20"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21" name="Text 19"/>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Next week is workshop 1 (W5, 26–30 Oct): you bring the direction of your project, and we confirm it there.</a:t>
            </a:r>
            <a:endParaRPr lang="en-US" sz="1400" dirty="0"/>
          </a:p>
        </p:txBody>
      </p:sp>
      <p:sp>
        <p:nvSpPr>
          <p:cNvPr id="22" name="Text 20"/>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3</a:t>
            </a:r>
            <a:endParaRPr lang="en-US" sz="1100" dirty="0"/>
          </a:p>
        </p:txBody>
      </p:sp>
      <p:sp>
        <p:nvSpPr>
          <p:cNvPr id="23" name="Text 21"/>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 / 32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PART 1</a:t>
            </a:r>
            <a:endParaRPr lang="en-US" sz="1200" dirty="0"/>
          </a:p>
        </p:txBody>
      </p:sp>
      <p:sp>
        <p:nvSpPr>
          <p:cNvPr id="3" name="Text 0"/>
          <p:cNvSpPr/>
          <p:nvPr>
            <p:ph idx="100" type="title" hasCustomPrompt="1"/>
          </p:nvPr>
        </p:nvSpPr>
        <p:spPr>
          <a:xfrm>
            <a:off x="813816" y="2468880"/>
            <a:ext cx="10881360" cy="1188720"/>
          </a:xfrm>
          <a:prstGeom prst="rect">
            <a:avLst/>
          </a:prstGeom>
          <a:noFill/>
          <a:ln/>
        </p:spPr>
        <p:txBody>
          <a:bodyPr wrap="square" lIns="0" tIns="0" rIns="0" bIns="0" rtlCol="0" anchor="t"/>
          <a:lstStyle/>
          <a:p>
            <a:pPr algn="l" indent="0" marL="0">
              <a:buNone/>
            </a:pPr>
            <a:r>
              <a:rPr lang="en-US" sz="5400" b="1" dirty="0">
                <a:solidFill>
                  <a:schemeClr val="bg2"/>
                </a:solidFill>
                <a:latin typeface="IBM Plex Sans" pitchFamily="34" charset="0"/>
                <a:ea typeface="IBM Plex Sans" pitchFamily="34" charset="-122"/>
                <a:cs typeface="IBM Plex Sans" pitchFamily="34" charset="-120"/>
              </a:rPr>
              <a:t>Does it hold?</a:t>
            </a:r>
            <a:endParaRPr lang="en-US" sz="5400" dirty="0"/>
          </a:p>
        </p:txBody>
      </p:sp>
      <p:sp>
        <p:nvSpPr>
          <p:cNvPr id="4" name="Text 2"/>
          <p:cNvSpPr txBox="1"/>
          <p:nvPr/>
        </p:nvSpPr>
        <p:spPr>
          <a:xfrm>
            <a:off x="813816" y="3794760"/>
            <a:ext cx="10881360" cy="457200"/>
          </a:xfrm>
          <a:prstGeom prst="rect">
            <a:avLst/>
          </a:prstGeom>
          <a:noFill/>
          <a:ln/>
        </p:spPr>
        <p:txBody>
          <a:bodyPr wrap="square" lIns="0" tIns="0" rIns="0" bIns="0" rtlCol="0" anchor="t"/>
          <a:lstStyle/>
          <a:p>
            <a:pPr indent="0" marL="0">
              <a:buNone/>
            </a:pPr>
            <a:r>
              <a:rPr lang="en-US" sz="2200" dirty="0">
                <a:solidFill>
                  <a:schemeClr val="accent5"/>
                </a:solidFill>
              </a:rPr>
              <a:t>Requirements that can be checked, agreed on, and kept true as they change</a:t>
            </a:r>
            <a:endParaRPr lang="en-US" sz="2200" dirty="0"/>
          </a:p>
        </p:txBody>
      </p:sp>
      <p:sp>
        <p:nvSpPr>
          <p:cNvPr id="5"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Software Engineering 2026–27 · Lecture 3</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3 / 32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THE COST OF AMBIGUITY</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One requirement, two readings</a:t>
            </a:r>
            <a:endParaRPr lang="en-US" sz="3600" dirty="0"/>
          </a:p>
        </p:txBody>
      </p:sp>
      <p:sp>
        <p:nvSpPr>
          <p:cNvPr id="4" name="Card"/>
          <p:cNvSpPr/>
          <p:nvPr/>
        </p:nvSpPr>
        <p:spPr>
          <a:xfrm>
            <a:off x="813816" y="2057400"/>
            <a:ext cx="10570464" cy="685800"/>
          </a:xfrm>
          <a:prstGeom prst="roundRect">
            <a:avLst>
              <a:gd name="adj" fmla="val 10667"/>
            </a:avLst>
          </a:prstGeom>
          <a:solidFill>
            <a:schemeClr val="bg1"/>
          </a:solidFill>
          <a:ln w="6350">
            <a:solidFill>
              <a:schemeClr val="accent4"/>
            </a:solidFill>
            <a:prstDash val="solid"/>
          </a:ln>
        </p:spPr>
      </p:sp>
      <p:sp>
        <p:nvSpPr>
          <p:cNvPr id="5" name="Text 3"/>
          <p:cNvSpPr txBox="1"/>
          <p:nvPr/>
        </p:nvSpPr>
        <p:spPr>
          <a:xfrm>
            <a:off x="1069848" y="2057400"/>
            <a:ext cx="10058400" cy="6858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Mentcare:  </a:t>
            </a:r>
            <a:pPr indent="0" marL="0">
              <a:buNone/>
            </a:pPr>
            <a:r>
              <a:rPr lang="en-US" sz="1800" b="1" dirty="0">
                <a:solidFill>
                  <a:schemeClr val="tx1"/>
                </a:solidFill>
              </a:rPr>
              <a:t>“A user shall be able to search the appointments lists for all clinics.”</a:t>
            </a:r>
            <a:endParaRPr lang="en-US" sz="1400" dirty="0"/>
          </a:p>
        </p:txBody>
      </p:sp>
      <p:sp>
        <p:nvSpPr>
          <p:cNvPr id="6" name="Card"/>
          <p:cNvSpPr/>
          <p:nvPr/>
        </p:nvSpPr>
        <p:spPr>
          <a:xfrm>
            <a:off x="813816" y="2926080"/>
            <a:ext cx="3383280" cy="2011680"/>
          </a:xfrm>
          <a:prstGeom prst="roundRect">
            <a:avLst>
              <a:gd name="adj" fmla="val 3636"/>
            </a:avLst>
          </a:prstGeom>
          <a:solidFill>
            <a:schemeClr val="bg1"/>
          </a:solidFill>
          <a:ln w="6350">
            <a:solidFill>
              <a:schemeClr val="accent4"/>
            </a:solidFill>
            <a:prstDash val="solid"/>
          </a:ln>
        </p:spPr>
      </p:sp>
      <p:sp>
        <p:nvSpPr>
          <p:cNvPr id="7" name="Text 5"/>
          <p:cNvSpPr txBox="1"/>
          <p:nvPr/>
        </p:nvSpPr>
        <p:spPr>
          <a:xfrm>
            <a:off x="1069848" y="318211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the medical staff meant</a:t>
            </a:r>
            <a:endParaRPr lang="en-US" sz="1200" dirty="0"/>
          </a:p>
        </p:txBody>
      </p:sp>
      <p:sp>
        <p:nvSpPr>
          <p:cNvPr id="8" name="Text 6"/>
          <p:cNvSpPr txBox="1"/>
          <p:nvPr/>
        </p:nvSpPr>
        <p:spPr>
          <a:xfrm>
            <a:off x="1069848" y="3529584"/>
            <a:ext cx="2871216" cy="122529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Type a patient's name, search all appointments at all clinics. Confused patients sometimes turn up at the wrong clinic.</a:t>
            </a:r>
            <a:endParaRPr lang="en-US" sz="1400" dirty="0"/>
          </a:p>
        </p:txBody>
      </p:sp>
      <p:sp>
        <p:nvSpPr>
          <p:cNvPr id="9" name="Card"/>
          <p:cNvSpPr/>
          <p:nvPr/>
        </p:nvSpPr>
        <p:spPr>
          <a:xfrm>
            <a:off x="4407408" y="2926080"/>
            <a:ext cx="3383280" cy="2011680"/>
          </a:xfrm>
          <a:prstGeom prst="roundRect">
            <a:avLst>
              <a:gd name="adj" fmla="val 3636"/>
            </a:avLst>
          </a:prstGeom>
          <a:solidFill>
            <a:schemeClr val="bg1"/>
          </a:solidFill>
          <a:ln w="6350">
            <a:solidFill>
              <a:schemeClr val="accent4"/>
            </a:solidFill>
            <a:prstDash val="solid"/>
          </a:ln>
        </p:spPr>
      </p:sp>
      <p:sp>
        <p:nvSpPr>
          <p:cNvPr id="10" name="Text 8"/>
          <p:cNvSpPr txBox="1"/>
          <p:nvPr/>
        </p:nvSpPr>
        <p:spPr>
          <a:xfrm>
            <a:off x="4663440" y="318211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was easier to build</a:t>
            </a:r>
            <a:endParaRPr lang="en-US" sz="1200" dirty="0"/>
          </a:p>
        </p:txBody>
      </p:sp>
      <p:sp>
        <p:nvSpPr>
          <p:cNvPr id="11" name="Text 9"/>
          <p:cNvSpPr txBox="1"/>
          <p:nvPr/>
        </p:nvSpPr>
        <p:spPr>
          <a:xfrm>
            <a:off x="4663440" y="3529584"/>
            <a:ext cx="2871216" cy="122529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Pick a clinic first, then search the patients of that clinic. More input, slower, and not what was needed.</a:t>
            </a:r>
            <a:endParaRPr lang="en-US" sz="1400" dirty="0"/>
          </a:p>
        </p:txBody>
      </p:sp>
      <p:sp>
        <p:nvSpPr>
          <p:cNvPr id="12" name="Card"/>
          <p:cNvSpPr/>
          <p:nvPr/>
        </p:nvSpPr>
        <p:spPr>
          <a:xfrm>
            <a:off x="8001000" y="2926080"/>
            <a:ext cx="3383280" cy="2011680"/>
          </a:xfrm>
          <a:prstGeom prst="roundRect">
            <a:avLst>
              <a:gd name="adj" fmla="val 3636"/>
            </a:avLst>
          </a:prstGeom>
          <a:solidFill>
            <a:schemeClr val="tx1"/>
          </a:solidFill>
          <a:ln w="6350">
            <a:solidFill>
              <a:schemeClr val="tx1"/>
            </a:solidFill>
            <a:prstDash val="solid"/>
          </a:ln>
        </p:spPr>
      </p:sp>
      <p:sp>
        <p:nvSpPr>
          <p:cNvPr id="13" name="Text 11"/>
          <p:cNvSpPr txBox="1"/>
          <p:nvPr/>
        </p:nvSpPr>
        <p:spPr>
          <a:xfrm>
            <a:off x="8257032" y="3182112"/>
            <a:ext cx="287121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Same with an agent</a:t>
            </a:r>
            <a:endParaRPr lang="en-US" sz="1200" dirty="0"/>
          </a:p>
        </p:txBody>
      </p:sp>
      <p:sp>
        <p:nvSpPr>
          <p:cNvPr id="14" name="Text 12"/>
          <p:cNvSpPr txBox="1"/>
          <p:nvPr/>
        </p:nvSpPr>
        <p:spPr>
          <a:xfrm>
            <a:off x="8257032" y="3529584"/>
            <a:ext cx="2871216" cy="1225296"/>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A coding agent given this sentence also picks a reading. Unless told to ask, it won't, and its choice looks plausible in review.</a:t>
            </a:r>
            <a:endParaRPr lang="en-US" sz="1400" dirty="0"/>
          </a:p>
        </p:txBody>
      </p:sp>
      <p:sp>
        <p:nvSpPr>
          <p:cNvPr id="15"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6" name="Text 14"/>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“It is natural for a system developer to interpret an ambiguous requirement in a way that simplifies its implementation.”</a:t>
            </a:r>
            <a:endParaRPr lang="en-US" sz="1400" dirty="0"/>
          </a:p>
        </p:txBody>
      </p:sp>
      <p:sp>
        <p:nvSpPr>
          <p:cNvPr id="17" name="Text 15"/>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§4.1.1, p. 106–107. Third card: course content.</a:t>
            </a:r>
            <a:endParaRPr lang="en-US" sz="1100" dirty="0"/>
          </a:p>
        </p:txBody>
      </p:sp>
      <p:sp>
        <p:nvSpPr>
          <p:cNvPr id="18" name="Text 16"/>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4 / 32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NON-FUNCTIONAL · WHERE THEY COME FROM</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Product, organizational, external</a:t>
            </a:r>
            <a:endParaRPr lang="en-US" sz="3600" dirty="0"/>
          </a:p>
        </p:txBody>
      </p:sp>
      <p:sp>
        <p:nvSpPr>
          <p:cNvPr id="4" name="Card"/>
          <p:cNvSpPr/>
          <p:nvPr/>
        </p:nvSpPr>
        <p:spPr>
          <a:xfrm>
            <a:off x="813816" y="2057400"/>
            <a:ext cx="5486400" cy="2926080"/>
          </a:xfrm>
          <a:prstGeom prst="roundRect">
            <a:avLst>
              <a:gd name="adj" fmla="val 2500"/>
            </a:avLst>
          </a:prstGeom>
          <a:solidFill>
            <a:schemeClr val="bg1"/>
          </a:solidFill>
          <a:ln w="6350">
            <a:solidFill>
              <a:schemeClr val="accent4"/>
            </a:solidFill>
            <a:prstDash val="solid"/>
          </a:ln>
        </p:spPr>
      </p:sp>
      <p:pic>
        <p:nvPicPr>
          <p:cNvPr id="5" name="Image 0" descr="fig/sommerville-fig4.3-tipuri-NFR-p108.png">    </p:cNvPr>
          <p:cNvPicPr>
            <a:picLocks noChangeAspect="1"/>
          </p:cNvPicPr>
          <p:nvPr/>
        </p:nvPicPr>
        <p:blipFill>
          <a:blip r:embed="rId1"/>
          <a:stretch>
            <a:fillRect/>
          </a:stretch>
        </p:blipFill>
        <p:spPr>
          <a:xfrm>
            <a:off x="1133856" y="2157984"/>
            <a:ext cx="4846320" cy="2718312"/>
          </a:xfrm>
          <a:prstGeom prst="rect">
            <a:avLst/>
          </a:prstGeom>
        </p:spPr>
      </p:pic>
      <p:sp>
        <p:nvSpPr>
          <p:cNvPr id="6" name="Card"/>
          <p:cNvSpPr/>
          <p:nvPr/>
        </p:nvSpPr>
        <p:spPr>
          <a:xfrm>
            <a:off x="6510528" y="2057400"/>
            <a:ext cx="4873752" cy="914400"/>
          </a:xfrm>
          <a:prstGeom prst="roundRect">
            <a:avLst>
              <a:gd name="adj" fmla="val 8000"/>
            </a:avLst>
          </a:prstGeom>
          <a:solidFill>
            <a:schemeClr val="bg1"/>
          </a:solidFill>
          <a:ln w="6350">
            <a:solidFill>
              <a:schemeClr val="accent4"/>
            </a:solidFill>
            <a:prstDash val="solid"/>
          </a:ln>
        </p:spPr>
      </p:sp>
      <p:sp>
        <p:nvSpPr>
          <p:cNvPr id="7" name="Text 4"/>
          <p:cNvSpPr txBox="1"/>
          <p:nvPr/>
        </p:nvSpPr>
        <p:spPr>
          <a:xfrm>
            <a:off x="6720840" y="2185416"/>
            <a:ext cx="44805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Product</a:t>
            </a:r>
            <a:endParaRPr lang="en-US" sz="1200" dirty="0"/>
          </a:p>
        </p:txBody>
      </p:sp>
      <p:sp>
        <p:nvSpPr>
          <p:cNvPr id="8" name="Text 5"/>
          <p:cNvSpPr txBox="1"/>
          <p:nvPr/>
        </p:nvSpPr>
        <p:spPr>
          <a:xfrm>
            <a:off x="6720840" y="2441448"/>
            <a:ext cx="4480560" cy="502920"/>
          </a:xfrm>
          <a:prstGeom prst="rect">
            <a:avLst/>
          </a:prstGeom>
          <a:noFill/>
          <a:ln/>
        </p:spPr>
        <p:txBody>
          <a:bodyPr wrap="square" lIns="0" tIns="0" rIns="0" bIns="0" rtlCol="0" anchor="t"/>
          <a:lstStyle/>
          <a:p>
            <a:pPr indent="0" marL="0">
              <a:buNone/>
            </a:pPr>
            <a:r>
              <a:rPr lang="en-US" sz="1300" b="1" dirty="0">
                <a:solidFill>
                  <a:schemeClr val="tx1"/>
                </a:solidFill>
              </a:rPr>
              <a:t>Constrain runtime behaviour. </a:t>
            </a:r>
            <a:pPr indent="0" marL="0">
              <a:buNone/>
            </a:pPr>
            <a:r>
              <a:rPr lang="en-US" sz="1300" dirty="0">
                <a:solidFill>
                  <a:schemeClr val="tx2"/>
                </a:solidFill>
              </a:rPr>
              <a:t>Mentcare: open Mon–Fri 08:30–17:30, under 5 s downtime a day.</a:t>
            </a:r>
            <a:endParaRPr lang="en-US" sz="1300" dirty="0"/>
          </a:p>
        </p:txBody>
      </p:sp>
      <p:sp>
        <p:nvSpPr>
          <p:cNvPr id="9" name="Card"/>
          <p:cNvSpPr/>
          <p:nvPr/>
        </p:nvSpPr>
        <p:spPr>
          <a:xfrm>
            <a:off x="6510528" y="3063240"/>
            <a:ext cx="4873752" cy="914400"/>
          </a:xfrm>
          <a:prstGeom prst="roundRect">
            <a:avLst>
              <a:gd name="adj" fmla="val 8000"/>
            </a:avLst>
          </a:prstGeom>
          <a:solidFill>
            <a:schemeClr val="bg1"/>
          </a:solidFill>
          <a:ln w="6350">
            <a:solidFill>
              <a:schemeClr val="accent4"/>
            </a:solidFill>
            <a:prstDash val="solid"/>
          </a:ln>
        </p:spPr>
      </p:sp>
      <p:sp>
        <p:nvSpPr>
          <p:cNvPr id="10" name="Text 7"/>
          <p:cNvSpPr txBox="1"/>
          <p:nvPr/>
        </p:nvSpPr>
        <p:spPr>
          <a:xfrm>
            <a:off x="6720840" y="3191256"/>
            <a:ext cx="44805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Organizational</a:t>
            </a:r>
            <a:endParaRPr lang="en-US" sz="1200" dirty="0"/>
          </a:p>
        </p:txBody>
      </p:sp>
      <p:sp>
        <p:nvSpPr>
          <p:cNvPr id="11" name="Text 8"/>
          <p:cNvSpPr txBox="1"/>
          <p:nvPr/>
        </p:nvSpPr>
        <p:spPr>
          <a:xfrm>
            <a:off x="6720840" y="3447288"/>
            <a:ext cx="4480560" cy="502920"/>
          </a:xfrm>
          <a:prstGeom prst="rect">
            <a:avLst/>
          </a:prstGeom>
          <a:noFill/>
          <a:ln/>
        </p:spPr>
        <p:txBody>
          <a:bodyPr wrap="square" lIns="0" tIns="0" rIns="0" bIns="0" rtlCol="0" anchor="t"/>
          <a:lstStyle/>
          <a:p>
            <a:pPr indent="0" marL="0">
              <a:buNone/>
            </a:pPr>
            <a:r>
              <a:rPr lang="en-US" sz="1300" b="1" dirty="0">
                <a:solidFill>
                  <a:schemeClr val="tx1"/>
                </a:solidFill>
              </a:rPr>
              <a:t>From the organizations' policies. </a:t>
            </a:r>
            <a:pPr indent="0" marL="0">
              <a:buNone/>
            </a:pPr>
            <a:r>
              <a:rPr lang="en-US" sz="1300" dirty="0">
                <a:solidFill>
                  <a:schemeClr val="tx2"/>
                </a:solidFill>
              </a:rPr>
              <a:t>Mentcare: users log in with their ID card.</a:t>
            </a:r>
            <a:endParaRPr lang="en-US" sz="1300" dirty="0"/>
          </a:p>
        </p:txBody>
      </p:sp>
      <p:sp>
        <p:nvSpPr>
          <p:cNvPr id="12" name="Card"/>
          <p:cNvSpPr/>
          <p:nvPr/>
        </p:nvSpPr>
        <p:spPr>
          <a:xfrm>
            <a:off x="6510528" y="4069080"/>
            <a:ext cx="4873752" cy="914400"/>
          </a:xfrm>
          <a:prstGeom prst="roundRect">
            <a:avLst>
              <a:gd name="adj" fmla="val 8000"/>
            </a:avLst>
          </a:prstGeom>
          <a:solidFill>
            <a:schemeClr val="bg1"/>
          </a:solidFill>
          <a:ln w="6350">
            <a:solidFill>
              <a:schemeClr val="accent4"/>
            </a:solidFill>
            <a:prstDash val="solid"/>
          </a:ln>
        </p:spPr>
      </p:sp>
      <p:sp>
        <p:nvSpPr>
          <p:cNvPr id="13" name="Text 10"/>
          <p:cNvSpPr txBox="1"/>
          <p:nvPr/>
        </p:nvSpPr>
        <p:spPr>
          <a:xfrm>
            <a:off x="6720840" y="4197096"/>
            <a:ext cx="44805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External</a:t>
            </a:r>
            <a:endParaRPr lang="en-US" sz="1200" dirty="0"/>
          </a:p>
        </p:txBody>
      </p:sp>
      <p:sp>
        <p:nvSpPr>
          <p:cNvPr id="14" name="Text 11"/>
          <p:cNvSpPr txBox="1"/>
          <p:nvPr/>
        </p:nvSpPr>
        <p:spPr>
          <a:xfrm>
            <a:off x="6720840" y="4453128"/>
            <a:ext cx="4480560" cy="502920"/>
          </a:xfrm>
          <a:prstGeom prst="rect">
            <a:avLst/>
          </a:prstGeom>
          <a:noFill/>
          <a:ln/>
        </p:spPr>
        <p:txBody>
          <a:bodyPr wrap="square" lIns="0" tIns="0" rIns="0" bIns="0" rtlCol="0" anchor="t"/>
          <a:lstStyle/>
          <a:p>
            <a:pPr indent="0" marL="0">
              <a:buNone/>
            </a:pPr>
            <a:r>
              <a:rPr lang="en-US" sz="1300" b="1" dirty="0">
                <a:solidFill>
                  <a:schemeClr val="tx1"/>
                </a:solidFill>
              </a:rPr>
              <a:t>From laws, regulators, ethics. </a:t>
            </a:r>
            <a:pPr indent="0" marL="0">
              <a:buNone/>
            </a:pPr>
            <a:r>
              <a:rPr lang="en-US" sz="1300" dirty="0">
                <a:solidFill>
                  <a:schemeClr val="tx2"/>
                </a:solidFill>
              </a:rPr>
              <a:t>Mentcare: follows the national patient privacy standard.</a:t>
            </a:r>
            <a:endParaRPr lang="en-US" sz="1300" dirty="0"/>
          </a:p>
        </p:txBody>
      </p:sp>
      <p:sp>
        <p:nvSpPr>
          <p:cNvPr id="15"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6" name="Text 13"/>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“Patient data shall not be sent to an external AI service.” Organizational if it is the clinic's policy, external if it follows from GDPR.</a:t>
            </a:r>
            <a:endParaRPr lang="en-US" sz="1400" dirty="0"/>
          </a:p>
        </p:txBody>
      </p:sp>
      <p:sp>
        <p:nvSpPr>
          <p:cNvPr id="17" name="Text 14"/>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§4.1.2, p. 108–109, Figures 4.3 and 4.4.</a:t>
            </a:r>
            <a:endParaRPr lang="en-US" sz="1100" dirty="0"/>
          </a:p>
        </p:txBody>
      </p:sp>
      <p:sp>
        <p:nvSpPr>
          <p:cNvPr id="18" name="Text 15"/>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5 / 32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NON-FUNCTIONAL · FROM GOALS TO REQUIREMENTS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A goal is not a requirement</a:t>
            </a:r>
            <a:endParaRPr lang="en-US" sz="3600" dirty="0"/>
          </a:p>
        </p:txBody>
      </p:sp>
      <p:sp>
        <p:nvSpPr>
          <p:cNvPr id="4" name="Card"/>
          <p:cNvSpPr/>
          <p:nvPr/>
        </p:nvSpPr>
        <p:spPr>
          <a:xfrm>
            <a:off x="813816" y="2057400"/>
            <a:ext cx="6309360" cy="1097280"/>
          </a:xfrm>
          <a:prstGeom prst="roundRect">
            <a:avLst>
              <a:gd name="adj" fmla="val 6667"/>
            </a:avLst>
          </a:prstGeom>
          <a:solidFill>
            <a:schemeClr val="bg1"/>
          </a:solidFill>
          <a:ln w="6350">
            <a:solidFill>
              <a:schemeClr val="accent4"/>
            </a:solidFill>
            <a:prstDash val="solid"/>
          </a:ln>
        </p:spPr>
      </p:sp>
      <p:sp>
        <p:nvSpPr>
          <p:cNvPr id="5" name="Text 3"/>
          <p:cNvSpPr txBox="1"/>
          <p:nvPr/>
        </p:nvSpPr>
        <p:spPr>
          <a:xfrm>
            <a:off x="1069848" y="2313432"/>
            <a:ext cx="579729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Usability goal, as a manager would say it</a:t>
            </a:r>
            <a:endParaRPr lang="en-US" sz="1200" dirty="0"/>
          </a:p>
        </p:txBody>
      </p:sp>
      <p:sp>
        <p:nvSpPr>
          <p:cNvPr id="6" name="Text 4"/>
          <p:cNvSpPr txBox="1"/>
          <p:nvPr/>
        </p:nvSpPr>
        <p:spPr>
          <a:xfrm>
            <a:off x="1069848" y="2660904"/>
            <a:ext cx="5797296" cy="310896"/>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“The system should be easy to use by medical staff and should be organized in such a way that user errors are minimized.”</a:t>
            </a:r>
            <a:endParaRPr lang="en-US" sz="1500" dirty="0"/>
          </a:p>
        </p:txBody>
      </p:sp>
      <p:sp>
        <p:nvSpPr>
          <p:cNvPr id="7" name="Card"/>
          <p:cNvSpPr/>
          <p:nvPr/>
        </p:nvSpPr>
        <p:spPr>
          <a:xfrm>
            <a:off x="813816" y="3246120"/>
            <a:ext cx="6309360" cy="1737360"/>
          </a:xfrm>
          <a:prstGeom prst="roundRect">
            <a:avLst>
              <a:gd name="adj" fmla="val 4211"/>
            </a:avLst>
          </a:prstGeom>
          <a:solidFill>
            <a:schemeClr val="tx1"/>
          </a:solidFill>
          <a:ln w="6350">
            <a:solidFill>
              <a:schemeClr val="tx1"/>
            </a:solidFill>
            <a:prstDash val="solid"/>
          </a:ln>
        </p:spPr>
      </p:sp>
      <p:sp>
        <p:nvSpPr>
          <p:cNvPr id="8" name="Text 6"/>
          <p:cNvSpPr txBox="1"/>
          <p:nvPr/>
        </p:nvSpPr>
        <p:spPr>
          <a:xfrm>
            <a:off x="1069848" y="3502152"/>
            <a:ext cx="579729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The same, as a verifiable usability requirement</a:t>
            </a:r>
            <a:endParaRPr lang="en-US" sz="1200" dirty="0"/>
          </a:p>
        </p:txBody>
      </p:sp>
      <p:sp>
        <p:nvSpPr>
          <p:cNvPr id="9" name="Text 7"/>
          <p:cNvSpPr txBox="1"/>
          <p:nvPr/>
        </p:nvSpPr>
        <p:spPr>
          <a:xfrm>
            <a:off x="1069848" y="3849624"/>
            <a:ext cx="5797296" cy="950976"/>
          </a:xfrm>
          <a:prstGeom prst="rect">
            <a:avLst/>
          </a:prstGeom>
          <a:noFill/>
          <a:ln/>
        </p:spPr>
        <p:txBody>
          <a:bodyPr wrap="square" lIns="0" tIns="0" rIns="0" bIns="0" rtlCol="0" anchor="t"/>
          <a:lstStyle/>
          <a:p>
            <a:pPr indent="0" marL="0">
              <a:spcAft>
                <a:spcPts val="400"/>
              </a:spcAft>
              <a:buNone/>
            </a:pPr>
            <a:r>
              <a:rPr lang="en-US" sz="1500" dirty="0">
                <a:solidFill>
                  <a:schemeClr val="accent5"/>
                </a:solidFill>
              </a:rPr>
              <a:t>“Medical staff shall be able to use all the system functions after two hours of training. After this training, the average number of errors made by experienced users shall not exceed two per hour of system use.”</a:t>
            </a:r>
            <a:endParaRPr lang="en-US" sz="1500" dirty="0"/>
          </a:p>
        </p:txBody>
      </p:sp>
      <p:sp>
        <p:nvSpPr>
          <p:cNvPr id="10" name="Card"/>
          <p:cNvSpPr/>
          <p:nvPr/>
        </p:nvSpPr>
        <p:spPr>
          <a:xfrm>
            <a:off x="7333488" y="2057400"/>
            <a:ext cx="4050792" cy="1097280"/>
          </a:xfrm>
          <a:prstGeom prst="roundRect">
            <a:avLst>
              <a:gd name="adj" fmla="val 6667"/>
            </a:avLst>
          </a:prstGeom>
          <a:solidFill>
            <a:schemeClr val="bg1"/>
          </a:solidFill>
          <a:ln w="6350">
            <a:solidFill>
              <a:schemeClr val="accent4"/>
            </a:solidFill>
            <a:prstDash val="solid"/>
          </a:ln>
        </p:spPr>
      </p:sp>
      <p:sp>
        <p:nvSpPr>
          <p:cNvPr id="11" name="Text 9"/>
          <p:cNvSpPr txBox="1"/>
          <p:nvPr/>
        </p:nvSpPr>
        <p:spPr>
          <a:xfrm>
            <a:off x="7589520" y="2313432"/>
            <a:ext cx="353872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Why goals hurt</a:t>
            </a:r>
            <a:endParaRPr lang="en-US" sz="1200" dirty="0"/>
          </a:p>
        </p:txBody>
      </p:sp>
      <p:sp>
        <p:nvSpPr>
          <p:cNvPr id="12" name="Text 10"/>
          <p:cNvSpPr txBox="1"/>
          <p:nvPr/>
        </p:nvSpPr>
        <p:spPr>
          <a:xfrm>
            <a:off x="7589520" y="2660904"/>
            <a:ext cx="3538728" cy="31089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Open to interpretation, then to dispute after delivery.</a:t>
            </a:r>
            <a:endParaRPr lang="en-US" sz="1400" dirty="0"/>
          </a:p>
        </p:txBody>
      </p:sp>
      <p:sp>
        <p:nvSpPr>
          <p:cNvPr id="13" name="Card"/>
          <p:cNvSpPr/>
          <p:nvPr/>
        </p:nvSpPr>
        <p:spPr>
          <a:xfrm>
            <a:off x="7333488" y="3246120"/>
            <a:ext cx="4050792" cy="1737360"/>
          </a:xfrm>
          <a:prstGeom prst="roundRect">
            <a:avLst>
              <a:gd name="adj" fmla="val 4211"/>
            </a:avLst>
          </a:prstGeom>
          <a:solidFill>
            <a:schemeClr val="bg1"/>
          </a:solidFill>
          <a:ln w="6350">
            <a:solidFill>
              <a:schemeClr val="accent4"/>
            </a:solidFill>
            <a:prstDash val="solid"/>
          </a:ln>
        </p:spPr>
      </p:sp>
      <p:sp>
        <p:nvSpPr>
          <p:cNvPr id="14" name="Text 12"/>
          <p:cNvSpPr txBox="1"/>
          <p:nvPr/>
        </p:nvSpPr>
        <p:spPr>
          <a:xfrm>
            <a:off x="7589520" y="3474720"/>
            <a:ext cx="35661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From MDS: property → measure</a:t>
            </a:r>
            <a:endParaRPr lang="en-US" sz="1200" dirty="0"/>
          </a:p>
        </p:txBody>
      </p:sp>
      <p:sp>
        <p:nvSpPr>
          <p:cNvPr id="15" name="Text 13"/>
          <p:cNvSpPr txBox="1"/>
          <p:nvPr/>
        </p:nvSpPr>
        <p:spPr>
          <a:xfrm>
            <a:off x="7589520" y="3840480"/>
            <a:ext cx="3566160" cy="1005840"/>
          </a:xfrm>
          <a:prstGeom prst="rect">
            <a:avLst/>
          </a:prstGeom>
          <a:noFill/>
          <a:ln/>
        </p:spPr>
        <p:txBody>
          <a:bodyPr wrap="square" lIns="0" tIns="0" rIns="0" bIns="0" rtlCol="0" anchor="t"/>
          <a:lstStyle/>
          <a:p>
            <a:pPr indent="0" marL="0">
              <a:buNone/>
            </a:pPr>
            <a:r>
              <a:rPr lang="en-US" sz="1300" b="1" dirty="0">
                <a:solidFill>
                  <a:schemeClr val="tx1"/>
                </a:solidFill>
              </a:rPr>
              <a:t>Speed  </a:t>
            </a:r>
            <a:pPr indent="0" marL="0">
              <a:buNone/>
            </a:pPr>
            <a:r>
              <a:rPr lang="en-US" sz="1300" dirty="0">
                <a:solidFill>
                  <a:schemeClr val="tx2"/>
                </a:solidFill>
              </a:rPr>
              <a:t>response time</a:t>
            </a:r>
            <a:endParaRPr lang="en-US" sz="1300" dirty="0"/>
          </a:p>
          <a:p>
            <a:pPr indent="0" marL="0">
              <a:buNone/>
            </a:pPr>
            <a:r>
              <a:rPr lang="en-US" sz="1300" b="1" dirty="0">
                <a:solidFill>
                  <a:schemeClr val="tx1"/>
                </a:solidFill>
              </a:rPr>
              <a:t>Ease of use  </a:t>
            </a:r>
            <a:pPr indent="0" marL="0">
              <a:buNone/>
            </a:pPr>
            <a:r>
              <a:rPr lang="en-US" sz="1300" dirty="0">
                <a:solidFill>
                  <a:schemeClr val="tx2"/>
                </a:solidFill>
              </a:rPr>
              <a:t>training time</a:t>
            </a:r>
            <a:endParaRPr lang="en-US" sz="1300" dirty="0"/>
          </a:p>
          <a:p>
            <a:pPr indent="0" marL="0">
              <a:buNone/>
            </a:pPr>
            <a:r>
              <a:rPr lang="en-US" sz="1300" b="1" dirty="0">
                <a:solidFill>
                  <a:schemeClr val="tx1"/>
                </a:solidFill>
              </a:rPr>
              <a:t>Reliability  </a:t>
            </a:r>
            <a:pPr indent="0" marL="0">
              <a:buNone/>
            </a:pPr>
            <a:r>
              <a:rPr lang="en-US" sz="1300" dirty="0">
                <a:solidFill>
                  <a:schemeClr val="tx2"/>
                </a:solidFill>
              </a:rPr>
              <a:t>mean time to failure</a:t>
            </a:r>
            <a:endParaRPr lang="en-US" sz="1300" dirty="0"/>
          </a:p>
          <a:p>
            <a:pPr indent="0" marL="0">
              <a:buNone/>
            </a:pPr>
            <a:r>
              <a:rPr lang="en-US" sz="1300" b="1" dirty="0">
                <a:solidFill>
                  <a:schemeClr val="tx1"/>
                </a:solidFill>
              </a:rPr>
              <a:t>Robustness  </a:t>
            </a:r>
            <a:pPr indent="0" marL="0">
              <a:buNone/>
            </a:pPr>
            <a:r>
              <a:rPr lang="en-US" sz="1300" dirty="0">
                <a:solidFill>
                  <a:schemeClr val="tx2"/>
                </a:solidFill>
              </a:rPr>
              <a:t>time to restart</a:t>
            </a:r>
            <a:endParaRPr lang="en-US" sz="1300" dirty="0"/>
          </a:p>
        </p:txBody>
      </p:sp>
      <p:sp>
        <p:nvSpPr>
          <p:cNvPr id="16"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7" name="Text 1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Not everything quantifies easily: maintainability has no simple metric, and verifying a number can cost more than the client will pay for.</a:t>
            </a:r>
            <a:endParaRPr lang="en-US" sz="1400" dirty="0"/>
          </a:p>
        </p:txBody>
      </p:sp>
      <p:sp>
        <p:nvSpPr>
          <p:cNvPr id="18" name="Text 16"/>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§4.1.2, p. 109–110, Figure 4.5.</a:t>
            </a:r>
            <a:endParaRPr lang="en-US" sz="1100" dirty="0"/>
          </a:p>
        </p:txBody>
      </p:sp>
      <p:sp>
        <p:nvSpPr>
          <p:cNvPr id="19" name="Text 17"/>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6 / 32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REQUIREMENTS INTERACT</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Requirements generate other requirements</a:t>
            </a:r>
            <a:endParaRPr lang="en-US" sz="3600" dirty="0"/>
          </a:p>
        </p:txBody>
      </p:sp>
      <p:sp>
        <p:nvSpPr>
          <p:cNvPr id="4" name="Card"/>
          <p:cNvSpPr/>
          <p:nvPr/>
        </p:nvSpPr>
        <p:spPr>
          <a:xfrm>
            <a:off x="813816" y="2103120"/>
            <a:ext cx="2377440" cy="1600200"/>
          </a:xfrm>
          <a:prstGeom prst="roundRect">
            <a:avLst>
              <a:gd name="adj" fmla="val 4571"/>
            </a:avLst>
          </a:prstGeom>
          <a:solidFill>
            <a:schemeClr val="bg1"/>
          </a:solidFill>
          <a:ln w="6350">
            <a:solidFill>
              <a:schemeClr val="accent4"/>
            </a:solidFill>
            <a:prstDash val="solid"/>
          </a:ln>
        </p:spPr>
      </p:sp>
      <p:sp>
        <p:nvSpPr>
          <p:cNvPr id="5" name="Text 3"/>
          <p:cNvSpPr txBox="1"/>
          <p:nvPr/>
        </p:nvSpPr>
        <p:spPr>
          <a:xfrm>
            <a:off x="1014984" y="2286000"/>
            <a:ext cx="20116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Organizational</a:t>
            </a:r>
            <a:endParaRPr lang="en-US" sz="1200" dirty="0"/>
          </a:p>
        </p:txBody>
      </p:sp>
      <p:sp>
        <p:nvSpPr>
          <p:cNvPr id="6" name="Text 4"/>
          <p:cNvSpPr txBox="1"/>
          <p:nvPr/>
        </p:nvSpPr>
        <p:spPr>
          <a:xfrm>
            <a:off x="1014984" y="2651760"/>
            <a:ext cx="2011680" cy="960120"/>
          </a:xfrm>
          <a:prstGeom prst="rect">
            <a:avLst/>
          </a:prstGeom>
          <a:noFill/>
          <a:ln/>
        </p:spPr>
        <p:txBody>
          <a:bodyPr wrap="square" lIns="0" tIns="0" rIns="0" bIns="0" rtlCol="0" anchor="t"/>
          <a:lstStyle/>
          <a:p>
            <a:pPr indent="0" marL="0">
              <a:buNone/>
            </a:pPr>
            <a:r>
              <a:rPr lang="en-US" sz="1500" b="1" dirty="0">
                <a:solidFill>
                  <a:schemeClr val="tx1"/>
                </a:solidFill>
              </a:rPr>
              <a:t>Users identify with their ID card</a:t>
            </a:r>
            <a:endParaRPr lang="en-US" sz="1500" dirty="0"/>
          </a:p>
        </p:txBody>
      </p:sp>
      <p:sp>
        <p:nvSpPr>
          <p:cNvPr id="7" name="Text 5"/>
          <p:cNvSpPr txBox="1"/>
          <p:nvPr/>
        </p:nvSpPr>
        <p:spPr>
          <a:xfrm>
            <a:off x="3191256" y="2606040"/>
            <a:ext cx="32004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8" name="Card"/>
          <p:cNvSpPr/>
          <p:nvPr/>
        </p:nvSpPr>
        <p:spPr>
          <a:xfrm>
            <a:off x="3511296" y="2103120"/>
            <a:ext cx="2377440" cy="1600200"/>
          </a:xfrm>
          <a:prstGeom prst="roundRect">
            <a:avLst>
              <a:gd name="adj" fmla="val 4571"/>
            </a:avLst>
          </a:prstGeom>
          <a:solidFill>
            <a:schemeClr val="bg1"/>
          </a:solidFill>
          <a:ln w="6350">
            <a:solidFill>
              <a:schemeClr val="accent4"/>
            </a:solidFill>
            <a:prstDash val="solid"/>
          </a:ln>
        </p:spPr>
      </p:sp>
      <p:sp>
        <p:nvSpPr>
          <p:cNvPr id="9" name="Text 7"/>
          <p:cNvSpPr txBox="1"/>
          <p:nvPr/>
        </p:nvSpPr>
        <p:spPr>
          <a:xfrm>
            <a:off x="3712464" y="2286000"/>
            <a:ext cx="20116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Generates</a:t>
            </a:r>
            <a:endParaRPr lang="en-US" sz="1200" dirty="0"/>
          </a:p>
        </p:txBody>
      </p:sp>
      <p:sp>
        <p:nvSpPr>
          <p:cNvPr id="10" name="Text 8"/>
          <p:cNvSpPr txBox="1"/>
          <p:nvPr/>
        </p:nvSpPr>
        <p:spPr>
          <a:xfrm>
            <a:off x="3712464" y="2651760"/>
            <a:ext cx="2011680" cy="960120"/>
          </a:xfrm>
          <a:prstGeom prst="rect">
            <a:avLst/>
          </a:prstGeom>
          <a:noFill/>
          <a:ln/>
        </p:spPr>
        <p:txBody>
          <a:bodyPr wrap="square" lIns="0" tIns="0" rIns="0" bIns="0" rtlCol="0" anchor="t"/>
          <a:lstStyle/>
          <a:p>
            <a:pPr indent="0" marL="0">
              <a:buNone/>
            </a:pPr>
            <a:r>
              <a:rPr lang="en-US" sz="1500" b="1" dirty="0">
                <a:solidFill>
                  <a:schemeClr val="tx1"/>
                </a:solidFill>
              </a:rPr>
              <a:t>A card reader on every computer that connects</a:t>
            </a:r>
            <a:endParaRPr lang="en-US" sz="1500" dirty="0"/>
          </a:p>
        </p:txBody>
      </p:sp>
      <p:sp>
        <p:nvSpPr>
          <p:cNvPr id="11" name="Text 9"/>
          <p:cNvSpPr txBox="1"/>
          <p:nvPr/>
        </p:nvSpPr>
        <p:spPr>
          <a:xfrm>
            <a:off x="5888736" y="2606040"/>
            <a:ext cx="32004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12" name="Card"/>
          <p:cNvSpPr/>
          <p:nvPr/>
        </p:nvSpPr>
        <p:spPr>
          <a:xfrm>
            <a:off x="6208776" y="2103120"/>
            <a:ext cx="2377440" cy="1600200"/>
          </a:xfrm>
          <a:prstGeom prst="roundRect">
            <a:avLst>
              <a:gd name="adj" fmla="val 4571"/>
            </a:avLst>
          </a:prstGeom>
          <a:solidFill>
            <a:schemeClr val="tx1"/>
          </a:solidFill>
          <a:ln w="6350">
            <a:solidFill>
              <a:schemeClr val="tx1"/>
            </a:solidFill>
            <a:prstDash val="solid"/>
          </a:ln>
        </p:spPr>
      </p:sp>
      <p:sp>
        <p:nvSpPr>
          <p:cNvPr id="13" name="Text 11"/>
          <p:cNvSpPr txBox="1"/>
          <p:nvPr/>
        </p:nvSpPr>
        <p:spPr>
          <a:xfrm>
            <a:off x="6409944" y="2286000"/>
            <a:ext cx="201168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Conflicts with</a:t>
            </a:r>
            <a:endParaRPr lang="en-US" sz="1200" dirty="0"/>
          </a:p>
        </p:txBody>
      </p:sp>
      <p:sp>
        <p:nvSpPr>
          <p:cNvPr id="14" name="Text 12"/>
          <p:cNvSpPr txBox="1"/>
          <p:nvPr/>
        </p:nvSpPr>
        <p:spPr>
          <a:xfrm>
            <a:off x="6409944" y="2651760"/>
            <a:ext cx="2011680" cy="960120"/>
          </a:xfrm>
          <a:prstGeom prst="rect">
            <a:avLst/>
          </a:prstGeom>
          <a:noFill/>
          <a:ln/>
        </p:spPr>
        <p:txBody>
          <a:bodyPr wrap="square" lIns="0" tIns="0" rIns="0" bIns="0" rtlCol="0" anchor="t"/>
          <a:lstStyle/>
          <a:p>
            <a:pPr indent="0" marL="0">
              <a:buNone/>
            </a:pPr>
            <a:r>
              <a:rPr lang="en-US" sz="1500" b="1" dirty="0">
                <a:solidFill>
                  <a:schemeClr val="bg2"/>
                </a:solidFill>
              </a:rPr>
              <a:t>Mobile access from doctors' and nurses' tablets</a:t>
            </a:r>
            <a:endParaRPr lang="en-US" sz="1500" dirty="0"/>
          </a:p>
        </p:txBody>
      </p:sp>
      <p:sp>
        <p:nvSpPr>
          <p:cNvPr id="15" name="Text 13"/>
          <p:cNvSpPr txBox="1"/>
          <p:nvPr/>
        </p:nvSpPr>
        <p:spPr>
          <a:xfrm>
            <a:off x="8586216" y="2606040"/>
            <a:ext cx="32004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16" name="Card"/>
          <p:cNvSpPr/>
          <p:nvPr/>
        </p:nvSpPr>
        <p:spPr>
          <a:xfrm>
            <a:off x="8906256" y="2103120"/>
            <a:ext cx="2377440" cy="1600200"/>
          </a:xfrm>
          <a:prstGeom prst="roundRect">
            <a:avLst>
              <a:gd name="adj" fmla="val 4571"/>
            </a:avLst>
          </a:prstGeom>
          <a:solidFill>
            <a:schemeClr val="bg1"/>
          </a:solidFill>
          <a:ln w="6350">
            <a:solidFill>
              <a:schemeClr val="accent4"/>
            </a:solidFill>
            <a:prstDash val="solid"/>
          </a:ln>
        </p:spPr>
      </p:sp>
      <p:sp>
        <p:nvSpPr>
          <p:cNvPr id="17" name="Text 15"/>
          <p:cNvSpPr txBox="1"/>
          <p:nvPr/>
        </p:nvSpPr>
        <p:spPr>
          <a:xfrm>
            <a:off x="9107424" y="2286000"/>
            <a:ext cx="20116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Resolution</a:t>
            </a:r>
            <a:endParaRPr lang="en-US" sz="1200" dirty="0"/>
          </a:p>
        </p:txBody>
      </p:sp>
      <p:sp>
        <p:nvSpPr>
          <p:cNvPr id="18" name="Text 16"/>
          <p:cNvSpPr txBox="1"/>
          <p:nvPr/>
        </p:nvSpPr>
        <p:spPr>
          <a:xfrm>
            <a:off x="9107424" y="2651760"/>
            <a:ext cx="2011680" cy="960120"/>
          </a:xfrm>
          <a:prstGeom prst="rect">
            <a:avLst/>
          </a:prstGeom>
          <a:noFill/>
          <a:ln/>
        </p:spPr>
        <p:txBody>
          <a:bodyPr wrap="square" lIns="0" tIns="0" rIns="0" bIns="0" rtlCol="0" anchor="t"/>
          <a:lstStyle/>
          <a:p>
            <a:pPr indent="0" marL="0">
              <a:buNone/>
            </a:pPr>
            <a:r>
              <a:rPr lang="en-US" sz="1500" b="1" dirty="0">
                <a:solidFill>
                  <a:schemeClr val="tx1"/>
                </a:solidFill>
              </a:rPr>
              <a:t>Support an alternative identification method</a:t>
            </a:r>
            <a:endParaRPr lang="en-US" sz="1500" dirty="0"/>
          </a:p>
        </p:txBody>
      </p:sp>
      <p:sp>
        <p:nvSpPr>
          <p:cNvPr id="19" name="Card"/>
          <p:cNvSpPr/>
          <p:nvPr/>
        </p:nvSpPr>
        <p:spPr>
          <a:xfrm>
            <a:off x="813816" y="3886200"/>
            <a:ext cx="5175504" cy="1097280"/>
          </a:xfrm>
          <a:prstGeom prst="roundRect">
            <a:avLst>
              <a:gd name="adj" fmla="val 6667"/>
            </a:avLst>
          </a:prstGeom>
          <a:solidFill>
            <a:schemeClr val="bg1"/>
          </a:solidFill>
          <a:ln w="6350">
            <a:solidFill>
              <a:schemeClr val="accent4"/>
            </a:solidFill>
            <a:prstDash val="solid"/>
          </a:ln>
        </p:spPr>
      </p:sp>
      <p:sp>
        <p:nvSpPr>
          <p:cNvPr id="20" name="Text 18"/>
          <p:cNvSpPr txBox="1"/>
          <p:nvPr/>
        </p:nvSpPr>
        <p:spPr>
          <a:xfrm>
            <a:off x="1069848" y="4142232"/>
            <a:ext cx="4663440" cy="6583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 security requirement that limits access, developed in detail, becomes functional requirements: authentication facilities.</a:t>
            </a:r>
            <a:endParaRPr lang="en-US" sz="1400" dirty="0"/>
          </a:p>
        </p:txBody>
      </p:sp>
      <p:sp>
        <p:nvSpPr>
          <p:cNvPr id="21" name="Card"/>
          <p:cNvSpPr/>
          <p:nvPr/>
        </p:nvSpPr>
        <p:spPr>
          <a:xfrm>
            <a:off x="6208776" y="3886200"/>
            <a:ext cx="5175504" cy="1097280"/>
          </a:xfrm>
          <a:prstGeom prst="roundRect">
            <a:avLst>
              <a:gd name="adj" fmla="val 6667"/>
            </a:avLst>
          </a:prstGeom>
          <a:solidFill>
            <a:schemeClr val="bg1"/>
          </a:solidFill>
          <a:ln w="6350">
            <a:solidFill>
              <a:schemeClr val="accent4"/>
            </a:solidFill>
            <a:prstDash val="solid"/>
          </a:ln>
        </p:spPr>
      </p:sp>
      <p:sp>
        <p:nvSpPr>
          <p:cNvPr id="22" name="Text 20"/>
          <p:cNvSpPr txBox="1"/>
          <p:nvPr/>
        </p:nvSpPr>
        <p:spPr>
          <a:xfrm>
            <a:off x="6464808" y="4142232"/>
            <a:ext cx="4663440" cy="6583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Complete and consistent requirements are achievable only for very small systems: many stakeholders, different and often inconsistent needs.</a:t>
            </a:r>
            <a:endParaRPr lang="en-US" sz="1400" dirty="0"/>
          </a:p>
        </p:txBody>
      </p:sp>
      <p:sp>
        <p:nvSpPr>
          <p:cNvPr id="23"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24" name="Text 22"/>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Non-functional requirements are often more critical than functional ones: users work around a missing function, not around a system that is unusable.</a:t>
            </a:r>
            <a:endParaRPr lang="en-US" sz="1400" dirty="0"/>
          </a:p>
        </p:txBody>
      </p:sp>
      <p:sp>
        <p:nvSpPr>
          <p:cNvPr id="25" name="Text 2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§4.1, p. 105, 107–111.</a:t>
            </a:r>
            <a:endParaRPr lang="en-US" sz="1100" dirty="0"/>
          </a:p>
        </p:txBody>
      </p:sp>
      <p:sp>
        <p:nvSpPr>
          <p:cNvPr id="26" name="Text 2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7 / 32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WRITING IT DOWN</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Five rules for writing requirements</a:t>
            </a:r>
            <a:endParaRPr lang="en-US" sz="3600" dirty="0"/>
          </a:p>
        </p:txBody>
      </p:sp>
      <p:sp>
        <p:nvSpPr>
          <p:cNvPr id="4" name="Card"/>
          <p:cNvSpPr/>
          <p:nvPr/>
        </p:nvSpPr>
        <p:spPr>
          <a:xfrm>
            <a:off x="813816" y="2057400"/>
            <a:ext cx="1984248" cy="2057400"/>
          </a:xfrm>
          <a:prstGeom prst="roundRect">
            <a:avLst>
              <a:gd name="adj" fmla="val 3687"/>
            </a:avLst>
          </a:prstGeom>
          <a:solidFill>
            <a:schemeClr val="bg1"/>
          </a:solidFill>
          <a:ln w="6350">
            <a:solidFill>
              <a:schemeClr val="accent4"/>
            </a:solidFill>
            <a:prstDash val="solid"/>
          </a:ln>
        </p:spPr>
      </p:sp>
      <p:sp>
        <p:nvSpPr>
          <p:cNvPr id="5" name="Text 3"/>
          <p:cNvSpPr txBox="1"/>
          <p:nvPr/>
        </p:nvSpPr>
        <p:spPr>
          <a:xfrm>
            <a:off x="996696" y="2212848"/>
            <a:ext cx="164592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6" name="Text 4"/>
          <p:cNvSpPr txBox="1"/>
          <p:nvPr/>
        </p:nvSpPr>
        <p:spPr>
          <a:xfrm>
            <a:off x="996696" y="2487168"/>
            <a:ext cx="1691640" cy="566928"/>
          </a:xfrm>
          <a:prstGeom prst="rect">
            <a:avLst/>
          </a:prstGeom>
          <a:noFill/>
          <a:ln/>
        </p:spPr>
        <p:txBody>
          <a:bodyPr wrap="square" lIns="0" tIns="0" rIns="0" bIns="0" rtlCol="0" anchor="t"/>
          <a:lstStyle/>
          <a:p>
            <a:pPr indent="0" marL="0">
              <a:buNone/>
            </a:pPr>
            <a:r>
              <a:rPr lang="en-US" sz="1600" b="1" dirty="0">
                <a:solidFill>
                  <a:schemeClr val="tx1"/>
                </a:solidFill>
              </a:rPr>
              <a:t>One format</a:t>
            </a:r>
            <a:endParaRPr lang="en-US" sz="1600" dirty="0"/>
          </a:p>
        </p:txBody>
      </p:sp>
      <p:sp>
        <p:nvSpPr>
          <p:cNvPr id="7" name="Text 5"/>
          <p:cNvSpPr txBox="1"/>
          <p:nvPr/>
        </p:nvSpPr>
        <p:spPr>
          <a:xfrm>
            <a:off x="996696" y="3108960"/>
            <a:ext cx="1691640" cy="914400"/>
          </a:xfrm>
          <a:prstGeom prst="rect">
            <a:avLst/>
          </a:prstGeom>
          <a:noFill/>
          <a:ln/>
        </p:spPr>
        <p:txBody>
          <a:bodyPr wrap="square" lIns="0" tIns="0" rIns="0" bIns="0" rtlCol="0" anchor="t"/>
          <a:lstStyle/>
          <a:p>
            <a:pPr indent="0" marL="0">
              <a:buNone/>
            </a:pPr>
            <a:r>
              <a:rPr lang="en-US" sz="1300" dirty="0">
                <a:solidFill>
                  <a:schemeClr val="tx2"/>
                </a:solidFill>
              </a:rPr>
              <a:t>One or two sentences, the same shape every time.</a:t>
            </a:r>
            <a:endParaRPr lang="en-US" sz="1300" dirty="0"/>
          </a:p>
        </p:txBody>
      </p:sp>
      <p:sp>
        <p:nvSpPr>
          <p:cNvPr id="8" name="Card"/>
          <p:cNvSpPr/>
          <p:nvPr/>
        </p:nvSpPr>
        <p:spPr>
          <a:xfrm>
            <a:off x="2944368" y="2057400"/>
            <a:ext cx="1984248" cy="2057400"/>
          </a:xfrm>
          <a:prstGeom prst="roundRect">
            <a:avLst>
              <a:gd name="adj" fmla="val 3687"/>
            </a:avLst>
          </a:prstGeom>
          <a:solidFill>
            <a:schemeClr val="bg1"/>
          </a:solidFill>
          <a:ln w="6350">
            <a:solidFill>
              <a:schemeClr val="accent4"/>
            </a:solidFill>
            <a:prstDash val="solid"/>
          </a:ln>
        </p:spPr>
      </p:sp>
      <p:sp>
        <p:nvSpPr>
          <p:cNvPr id="9" name="Text 7"/>
          <p:cNvSpPr txBox="1"/>
          <p:nvPr/>
        </p:nvSpPr>
        <p:spPr>
          <a:xfrm>
            <a:off x="3127248" y="2212848"/>
            <a:ext cx="164592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0" name="Text 8"/>
          <p:cNvSpPr txBox="1"/>
          <p:nvPr/>
        </p:nvSpPr>
        <p:spPr>
          <a:xfrm>
            <a:off x="3127248" y="2487168"/>
            <a:ext cx="1691640" cy="566928"/>
          </a:xfrm>
          <a:prstGeom prst="rect">
            <a:avLst/>
          </a:prstGeom>
          <a:noFill/>
          <a:ln/>
        </p:spPr>
        <p:txBody>
          <a:bodyPr wrap="square" lIns="0" tIns="0" rIns="0" bIns="0" rtlCol="0" anchor="t"/>
          <a:lstStyle/>
          <a:p>
            <a:pPr indent="0" marL="0">
              <a:buNone/>
            </a:pPr>
            <a:r>
              <a:rPr lang="en-US" sz="1600" b="1" dirty="0">
                <a:solidFill>
                  <a:schemeClr val="tx1"/>
                </a:solidFill>
              </a:rPr>
              <a:t>Must, should, could, won't</a:t>
            </a:r>
            <a:endParaRPr lang="en-US" sz="1600" dirty="0"/>
          </a:p>
        </p:txBody>
      </p:sp>
      <p:sp>
        <p:nvSpPr>
          <p:cNvPr id="11" name="Text 9"/>
          <p:cNvSpPr txBox="1"/>
          <p:nvPr/>
        </p:nvSpPr>
        <p:spPr>
          <a:xfrm>
            <a:off x="3127248" y="3108960"/>
            <a:ext cx="1691640" cy="914400"/>
          </a:xfrm>
          <a:prstGeom prst="rect">
            <a:avLst/>
          </a:prstGeom>
          <a:noFill/>
          <a:ln/>
        </p:spPr>
        <p:txBody>
          <a:bodyPr wrap="square" lIns="0" tIns="0" rIns="0" bIns="0" rtlCol="0" anchor="t"/>
          <a:lstStyle/>
          <a:p>
            <a:pPr indent="0" marL="0">
              <a:buNone/>
            </a:pPr>
            <a:r>
              <a:rPr lang="en-US" sz="1300" dirty="0">
                <a:solidFill>
                  <a:schemeClr val="tx2"/>
                </a:solidFill>
              </a:rPr>
              <a:t>Priority, said the same way every time. Won't = not this time.</a:t>
            </a:r>
            <a:endParaRPr lang="en-US" sz="1300" dirty="0"/>
          </a:p>
        </p:txBody>
      </p:sp>
      <p:sp>
        <p:nvSpPr>
          <p:cNvPr id="12" name="Card"/>
          <p:cNvSpPr/>
          <p:nvPr/>
        </p:nvSpPr>
        <p:spPr>
          <a:xfrm>
            <a:off x="5074920" y="2057400"/>
            <a:ext cx="1984248" cy="2057400"/>
          </a:xfrm>
          <a:prstGeom prst="roundRect">
            <a:avLst>
              <a:gd name="adj" fmla="val 3687"/>
            </a:avLst>
          </a:prstGeom>
          <a:solidFill>
            <a:schemeClr val="bg1"/>
          </a:solidFill>
          <a:ln w="6350">
            <a:solidFill>
              <a:schemeClr val="accent4"/>
            </a:solidFill>
            <a:prstDash val="solid"/>
          </a:ln>
        </p:spPr>
      </p:sp>
      <p:sp>
        <p:nvSpPr>
          <p:cNvPr id="13" name="Text 11"/>
          <p:cNvSpPr txBox="1"/>
          <p:nvPr/>
        </p:nvSpPr>
        <p:spPr>
          <a:xfrm>
            <a:off x="5257800" y="2212848"/>
            <a:ext cx="164592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4" name="Text 12"/>
          <p:cNvSpPr txBox="1"/>
          <p:nvPr/>
        </p:nvSpPr>
        <p:spPr>
          <a:xfrm>
            <a:off x="5257800" y="2487168"/>
            <a:ext cx="1691640" cy="566928"/>
          </a:xfrm>
          <a:prstGeom prst="rect">
            <a:avLst/>
          </a:prstGeom>
          <a:noFill/>
          <a:ln/>
        </p:spPr>
        <p:txBody>
          <a:bodyPr wrap="square" lIns="0" tIns="0" rIns="0" bIns="0" rtlCol="0" anchor="t"/>
          <a:lstStyle/>
          <a:p>
            <a:pPr indent="0" marL="0">
              <a:buNone/>
            </a:pPr>
            <a:r>
              <a:rPr lang="en-US" sz="1600" b="1" dirty="0">
                <a:solidFill>
                  <a:schemeClr val="tx1"/>
                </a:solidFill>
              </a:rPr>
              <a:t>Highlight</a:t>
            </a:r>
            <a:endParaRPr lang="en-US" sz="1600" dirty="0"/>
          </a:p>
        </p:txBody>
      </p:sp>
      <p:sp>
        <p:nvSpPr>
          <p:cNvPr id="15" name="Text 13"/>
          <p:cNvSpPr txBox="1"/>
          <p:nvPr/>
        </p:nvSpPr>
        <p:spPr>
          <a:xfrm>
            <a:off x="5257800" y="3108960"/>
            <a:ext cx="1691640" cy="914400"/>
          </a:xfrm>
          <a:prstGeom prst="rect">
            <a:avLst/>
          </a:prstGeom>
          <a:noFill/>
          <a:ln/>
        </p:spPr>
        <p:txBody>
          <a:bodyPr wrap="square" lIns="0" tIns="0" rIns="0" bIns="0" rtlCol="0" anchor="t"/>
          <a:lstStyle/>
          <a:p>
            <a:pPr indent="0" marL="0">
              <a:buNone/>
            </a:pPr>
            <a:r>
              <a:rPr lang="en-US" sz="1300" dirty="0">
                <a:solidFill>
                  <a:schemeClr val="tx2"/>
                </a:solidFill>
              </a:rPr>
              <a:t>Bold or colour on the key part.</a:t>
            </a:r>
            <a:endParaRPr lang="en-US" sz="1300" dirty="0"/>
          </a:p>
        </p:txBody>
      </p:sp>
      <p:sp>
        <p:nvSpPr>
          <p:cNvPr id="16" name="Card"/>
          <p:cNvSpPr/>
          <p:nvPr/>
        </p:nvSpPr>
        <p:spPr>
          <a:xfrm>
            <a:off x="7205472" y="2057400"/>
            <a:ext cx="1984248" cy="2057400"/>
          </a:xfrm>
          <a:prstGeom prst="roundRect">
            <a:avLst>
              <a:gd name="adj" fmla="val 3687"/>
            </a:avLst>
          </a:prstGeom>
          <a:solidFill>
            <a:schemeClr val="bg1"/>
          </a:solidFill>
          <a:ln w="6350">
            <a:solidFill>
              <a:schemeClr val="accent4"/>
            </a:solidFill>
            <a:prstDash val="solid"/>
          </a:ln>
        </p:spPr>
      </p:sp>
      <p:sp>
        <p:nvSpPr>
          <p:cNvPr id="17" name="Text 15"/>
          <p:cNvSpPr txBox="1"/>
          <p:nvPr/>
        </p:nvSpPr>
        <p:spPr>
          <a:xfrm>
            <a:off x="7388352" y="2212848"/>
            <a:ext cx="164592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18" name="Text 16"/>
          <p:cNvSpPr txBox="1"/>
          <p:nvPr/>
        </p:nvSpPr>
        <p:spPr>
          <a:xfrm>
            <a:off x="7388352" y="2487168"/>
            <a:ext cx="1691640" cy="566928"/>
          </a:xfrm>
          <a:prstGeom prst="rect">
            <a:avLst/>
          </a:prstGeom>
          <a:noFill/>
          <a:ln/>
        </p:spPr>
        <p:txBody>
          <a:bodyPr wrap="square" lIns="0" tIns="0" rIns="0" bIns="0" rtlCol="0" anchor="t"/>
          <a:lstStyle/>
          <a:p>
            <a:pPr indent="0" marL="0">
              <a:buNone/>
            </a:pPr>
            <a:r>
              <a:rPr lang="en-US" sz="1600" b="1" dirty="0">
                <a:solidFill>
                  <a:schemeClr val="tx1"/>
                </a:solidFill>
              </a:rPr>
              <a:t>No jargon</a:t>
            </a:r>
            <a:endParaRPr lang="en-US" sz="1600" dirty="0"/>
          </a:p>
        </p:txBody>
      </p:sp>
      <p:sp>
        <p:nvSpPr>
          <p:cNvPr id="19" name="Text 17"/>
          <p:cNvSpPr txBox="1"/>
          <p:nvPr/>
        </p:nvSpPr>
        <p:spPr>
          <a:xfrm>
            <a:off x="7388352" y="3108960"/>
            <a:ext cx="1691640" cy="914400"/>
          </a:xfrm>
          <a:prstGeom prst="rect">
            <a:avLst/>
          </a:prstGeom>
          <a:noFill/>
          <a:ln/>
        </p:spPr>
        <p:txBody>
          <a:bodyPr wrap="square" lIns="0" tIns="0" rIns="0" bIns="0" rtlCol="0" anchor="t"/>
          <a:lstStyle/>
          <a:p>
            <a:pPr indent="0" marL="0">
              <a:buNone/>
            </a:pPr>
            <a:r>
              <a:rPr lang="en-US" sz="1300" dirty="0">
                <a:solidFill>
                  <a:schemeClr val="tx2"/>
                </a:solidFill>
              </a:rPr>
              <a:t>“Module” and “architecture” mean other things to readers.</a:t>
            </a:r>
            <a:endParaRPr lang="en-US" sz="1300" dirty="0"/>
          </a:p>
        </p:txBody>
      </p:sp>
      <p:sp>
        <p:nvSpPr>
          <p:cNvPr id="20" name="Card"/>
          <p:cNvSpPr/>
          <p:nvPr/>
        </p:nvSpPr>
        <p:spPr>
          <a:xfrm>
            <a:off x="9336024" y="2057400"/>
            <a:ext cx="1984248" cy="2057400"/>
          </a:xfrm>
          <a:prstGeom prst="roundRect">
            <a:avLst>
              <a:gd name="adj" fmla="val 3687"/>
            </a:avLst>
          </a:prstGeom>
          <a:solidFill>
            <a:schemeClr val="tx1"/>
          </a:solidFill>
          <a:ln w="6350">
            <a:solidFill>
              <a:schemeClr val="tx1"/>
            </a:solidFill>
            <a:prstDash val="solid"/>
          </a:ln>
        </p:spPr>
      </p:sp>
      <p:sp>
        <p:nvSpPr>
          <p:cNvPr id="21" name="Text 19"/>
          <p:cNvSpPr txBox="1"/>
          <p:nvPr/>
        </p:nvSpPr>
        <p:spPr>
          <a:xfrm>
            <a:off x="9518904" y="2212848"/>
            <a:ext cx="164592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05</a:t>
            </a:r>
            <a:endParaRPr lang="en-US" sz="1200" dirty="0"/>
          </a:p>
        </p:txBody>
      </p:sp>
      <p:sp>
        <p:nvSpPr>
          <p:cNvPr id="22" name="Text 20"/>
          <p:cNvSpPr txBox="1"/>
          <p:nvPr/>
        </p:nvSpPr>
        <p:spPr>
          <a:xfrm>
            <a:off x="9518904" y="2487168"/>
            <a:ext cx="1691640" cy="566928"/>
          </a:xfrm>
          <a:prstGeom prst="rect">
            <a:avLst/>
          </a:prstGeom>
          <a:noFill/>
          <a:ln/>
        </p:spPr>
        <p:txBody>
          <a:bodyPr wrap="square" lIns="0" tIns="0" rIns="0" bIns="0" rtlCol="0" anchor="t"/>
          <a:lstStyle/>
          <a:p>
            <a:pPr indent="0" marL="0">
              <a:buNone/>
            </a:pPr>
            <a:r>
              <a:rPr lang="en-US" sz="1600" b="1" dirty="0">
                <a:solidFill>
                  <a:schemeClr val="bg2"/>
                </a:solidFill>
              </a:rPr>
              <a:t>Rationale and source</a:t>
            </a:r>
            <a:endParaRPr lang="en-US" sz="1600" dirty="0"/>
          </a:p>
        </p:txBody>
      </p:sp>
      <p:sp>
        <p:nvSpPr>
          <p:cNvPr id="23" name="Text 21"/>
          <p:cNvSpPr txBox="1"/>
          <p:nvPr/>
        </p:nvSpPr>
        <p:spPr>
          <a:xfrm>
            <a:off x="9518904" y="3108960"/>
            <a:ext cx="1691640" cy="914400"/>
          </a:xfrm>
          <a:prstGeom prst="rect">
            <a:avLst/>
          </a:prstGeom>
          <a:noFill/>
          <a:ln/>
        </p:spPr>
        <p:txBody>
          <a:bodyPr wrap="square" lIns="0" tIns="0" rIns="0" bIns="0" rtlCol="0" anchor="t"/>
          <a:lstStyle/>
          <a:p>
            <a:pPr indent="0" marL="0">
              <a:buNone/>
            </a:pPr>
            <a:r>
              <a:rPr lang="en-US" sz="1300" dirty="0">
                <a:solidFill>
                  <a:schemeClr val="accent5"/>
                </a:solidFill>
              </a:rPr>
              <a:t>Why it is there and who asked: whom to consult when it changes.</a:t>
            </a:r>
            <a:endParaRPr lang="en-US" sz="1300" dirty="0"/>
          </a:p>
        </p:txBody>
      </p:sp>
      <p:sp>
        <p:nvSpPr>
          <p:cNvPr id="24" name="Card"/>
          <p:cNvSpPr/>
          <p:nvPr/>
        </p:nvSpPr>
        <p:spPr>
          <a:xfrm>
            <a:off x="813816" y="4251960"/>
            <a:ext cx="10570464" cy="1463040"/>
          </a:xfrm>
          <a:prstGeom prst="roundRect">
            <a:avLst>
              <a:gd name="adj" fmla="val 5000"/>
            </a:avLst>
          </a:prstGeom>
          <a:solidFill>
            <a:schemeClr val="bg1"/>
          </a:solidFill>
          <a:ln w="6350">
            <a:solidFill>
              <a:schemeClr val="accent4"/>
            </a:solidFill>
            <a:prstDash val="solid"/>
          </a:ln>
        </p:spPr>
      </p:sp>
      <p:sp>
        <p:nvSpPr>
          <p:cNvPr id="25" name="Text 23"/>
          <p:cNvSpPr txBox="1"/>
          <p:nvPr/>
        </p:nvSpPr>
        <p:spPr>
          <a:xfrm>
            <a:off x="1069848" y="4389120"/>
            <a:ext cx="1005840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Insulin pump, Figure 4.12 · requirement + rationale</a:t>
            </a:r>
            <a:endParaRPr lang="en-US" sz="1200" dirty="0"/>
          </a:p>
        </p:txBody>
      </p:sp>
      <p:sp>
        <p:nvSpPr>
          <p:cNvPr id="26" name="Text 24"/>
          <p:cNvSpPr txBox="1"/>
          <p:nvPr/>
        </p:nvSpPr>
        <p:spPr>
          <a:xfrm>
            <a:off x="1069848" y="4681728"/>
            <a:ext cx="10058400" cy="960120"/>
          </a:xfrm>
          <a:prstGeom prst="rect">
            <a:avLst/>
          </a:prstGeom>
          <a:noFill/>
          <a:ln/>
        </p:spPr>
        <p:txBody>
          <a:bodyPr wrap="square" lIns="0" tIns="0" rIns="0" bIns="0" rtlCol="0" anchor="t"/>
          <a:lstStyle/>
          <a:p>
            <a:pPr indent="0" marL="0">
              <a:buNone/>
            </a:pPr>
            <a:r>
              <a:rPr lang="en-US" sz="1500" dirty="0">
                <a:solidFill>
                  <a:schemeClr val="tx1"/>
                </a:solidFill>
              </a:rPr>
              <a:t>3.2 The system </a:t>
            </a:r>
            <a:pPr indent="0" marL="0">
              <a:buNone/>
            </a:pPr>
            <a:r>
              <a:rPr lang="en-US" sz="1500" b="1" dirty="0">
                <a:solidFill>
                  <a:schemeClr val="accent1"/>
                </a:solidFill>
              </a:rPr>
              <a:t>shall</a:t>
            </a:r>
            <a:pPr indent="0" marL="0">
              <a:buNone/>
            </a:pPr>
            <a:r>
              <a:rPr lang="en-US" sz="1500" dirty="0">
                <a:solidFill>
                  <a:schemeClr val="tx1"/>
                </a:solidFill>
              </a:rPr>
              <a:t> measure the blood sugar and deliver insulin, if required, </a:t>
            </a:r>
            <a:pPr indent="0" marL="0">
              <a:buNone/>
            </a:pPr>
            <a:r>
              <a:rPr lang="en-US" sz="1500" b="1" dirty="0">
                <a:solidFill>
                  <a:schemeClr val="tx1"/>
                </a:solidFill>
              </a:rPr>
              <a:t>every 10 minutes.</a:t>
            </a:r>
            <a:endParaRPr lang="en-US" sz="1500" dirty="0"/>
          </a:p>
          <a:p>
            <a:pPr indent="0" marL="0">
              <a:buNone/>
            </a:pPr>
            <a:r>
              <a:rPr lang="en-US" sz="1500" i="1" dirty="0">
                <a:solidFill>
                  <a:schemeClr val="tx2"/>
                </a:solidFill>
              </a:rPr>
              <a:t>(Changes in blood sugar are relatively slow, so more frequent measurement is unnecessary; less frequent measurement could lead to unnecessarily high sugar levels.)</a:t>
            </a:r>
            <a:endParaRPr lang="en-US" sz="1500" dirty="0"/>
          </a:p>
        </p:txBody>
      </p:sp>
      <p:sp>
        <p:nvSpPr>
          <p:cNvPr id="27" name="Text 25"/>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Sommerville, Software Engineering, 10th ed., §4.4.1, p. 121–122, Figure 4.12. MoSCoW: Clegg &amp; Barker, 1994; DSDM.</a:t>
            </a:r>
            <a:endParaRPr lang="en-US" sz="1100" dirty="0"/>
          </a:p>
        </p:txBody>
      </p:sp>
      <p:sp>
        <p:nvSpPr>
          <p:cNvPr id="28" name="Text 26"/>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8 / 32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BEYOND SENTENCES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When a sentence is not enough</a:t>
            </a:r>
            <a:endParaRPr lang="en-US" sz="3600" dirty="0"/>
          </a:p>
        </p:txBody>
      </p:sp>
      <p:sp>
        <p:nvSpPr>
          <p:cNvPr id="4" name="Card"/>
          <p:cNvSpPr/>
          <p:nvPr/>
        </p:nvSpPr>
        <p:spPr>
          <a:xfrm>
            <a:off x="813816" y="2057400"/>
            <a:ext cx="6309360" cy="3611880"/>
          </a:xfrm>
          <a:prstGeom prst="roundRect">
            <a:avLst>
              <a:gd name="adj" fmla="val 2025"/>
            </a:avLst>
          </a:prstGeom>
          <a:solidFill>
            <a:schemeClr val="bg1"/>
          </a:solidFill>
          <a:ln w="6350">
            <a:solidFill>
              <a:schemeClr val="accent4"/>
            </a:solidFill>
            <a:prstDash val="solid"/>
          </a:ln>
        </p:spPr>
      </p:sp>
      <p:sp>
        <p:nvSpPr>
          <p:cNvPr id="5" name="Text 3"/>
          <p:cNvSpPr txBox="1"/>
          <p:nvPr/>
        </p:nvSpPr>
        <p:spPr>
          <a:xfrm>
            <a:off x="1069848" y="2212848"/>
            <a:ext cx="58521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Structured specification · insulin pump, Figure 4.13</a:t>
            </a:r>
            <a:endParaRPr lang="en-US" sz="1200" dirty="0"/>
          </a:p>
        </p:txBody>
      </p:sp>
      <p:sp>
        <p:nvSpPr>
          <p:cNvPr id="6" name="Text 4"/>
          <p:cNvSpPr txBox="1"/>
          <p:nvPr/>
        </p:nvSpPr>
        <p:spPr>
          <a:xfrm>
            <a:off x="1069848" y="2578608"/>
            <a:ext cx="1600200" cy="329184"/>
          </a:xfrm>
          <a:prstGeom prst="rect">
            <a:avLst/>
          </a:prstGeom>
          <a:noFill/>
          <a:ln/>
        </p:spPr>
        <p:txBody>
          <a:bodyPr wrap="square" lIns="0" tIns="0" rIns="0" bIns="0" rtlCol="0" anchor="t"/>
          <a:lstStyle/>
          <a:p>
            <a:pPr indent="0" marL="0">
              <a:buNone/>
            </a:pPr>
            <a:r>
              <a:rPr lang="en-US" sz="1300" b="1" dirty="0">
                <a:solidFill>
                  <a:schemeClr val="tx1"/>
                </a:solidFill>
              </a:rPr>
              <a:t>Function</a:t>
            </a:r>
            <a:endParaRPr lang="en-US" sz="1300" dirty="0"/>
          </a:p>
        </p:txBody>
      </p:sp>
      <p:sp>
        <p:nvSpPr>
          <p:cNvPr id="7" name="Text 5"/>
          <p:cNvSpPr txBox="1"/>
          <p:nvPr/>
        </p:nvSpPr>
        <p:spPr>
          <a:xfrm>
            <a:off x="2697480" y="2578608"/>
            <a:ext cx="4297680" cy="329184"/>
          </a:xfrm>
          <a:prstGeom prst="rect">
            <a:avLst/>
          </a:prstGeom>
          <a:noFill/>
          <a:ln/>
        </p:spPr>
        <p:txBody>
          <a:bodyPr wrap="square" lIns="0" tIns="0" rIns="0" bIns="0" rtlCol="0" anchor="t"/>
          <a:lstStyle/>
          <a:p>
            <a:pPr indent="0" marL="0">
              <a:buNone/>
            </a:pPr>
            <a:r>
              <a:rPr lang="en-US" sz="1300" dirty="0">
                <a:solidFill>
                  <a:schemeClr val="tx2"/>
                </a:solidFill>
              </a:rPr>
              <a:t>Compute insulin dose: safe sugar level</a:t>
            </a:r>
            <a:endParaRPr lang="en-US" sz="1300" dirty="0"/>
          </a:p>
        </p:txBody>
      </p:sp>
      <p:sp>
        <p:nvSpPr>
          <p:cNvPr id="8" name="Text 6"/>
          <p:cNvSpPr txBox="1"/>
          <p:nvPr/>
        </p:nvSpPr>
        <p:spPr>
          <a:xfrm>
            <a:off x="1069848" y="2953512"/>
            <a:ext cx="1600200" cy="329184"/>
          </a:xfrm>
          <a:prstGeom prst="rect">
            <a:avLst/>
          </a:prstGeom>
          <a:noFill/>
          <a:ln/>
        </p:spPr>
        <p:txBody>
          <a:bodyPr wrap="square" lIns="0" tIns="0" rIns="0" bIns="0" rtlCol="0" anchor="t"/>
          <a:lstStyle/>
          <a:p>
            <a:pPr indent="0" marL="0">
              <a:buNone/>
            </a:pPr>
            <a:r>
              <a:rPr lang="en-US" sz="1300" b="1" dirty="0">
                <a:solidFill>
                  <a:schemeClr val="tx1"/>
                </a:solidFill>
              </a:rPr>
              <a:t>Inputs</a:t>
            </a:r>
            <a:endParaRPr lang="en-US" sz="1300" dirty="0"/>
          </a:p>
        </p:txBody>
      </p:sp>
      <p:sp>
        <p:nvSpPr>
          <p:cNvPr id="9" name="Text 7"/>
          <p:cNvSpPr txBox="1"/>
          <p:nvPr/>
        </p:nvSpPr>
        <p:spPr>
          <a:xfrm>
            <a:off x="2697480" y="2953512"/>
            <a:ext cx="4297680" cy="329184"/>
          </a:xfrm>
          <a:prstGeom prst="rect">
            <a:avLst/>
          </a:prstGeom>
          <a:noFill/>
          <a:ln/>
        </p:spPr>
        <p:txBody>
          <a:bodyPr wrap="square" lIns="0" tIns="0" rIns="0" bIns="0" rtlCol="0" anchor="t"/>
          <a:lstStyle/>
          <a:p>
            <a:pPr indent="0" marL="0">
              <a:buNone/>
            </a:pPr>
            <a:r>
              <a:rPr lang="en-US" sz="1300" dirty="0">
                <a:solidFill>
                  <a:schemeClr val="tx2"/>
                </a:solidFill>
              </a:rPr>
              <a:t>Current reading r2; previous readings r0, r1</a:t>
            </a:r>
            <a:endParaRPr lang="en-US" sz="1300" dirty="0"/>
          </a:p>
        </p:txBody>
      </p:sp>
      <p:sp>
        <p:nvSpPr>
          <p:cNvPr id="10" name="Text 8"/>
          <p:cNvSpPr txBox="1"/>
          <p:nvPr/>
        </p:nvSpPr>
        <p:spPr>
          <a:xfrm>
            <a:off x="1069848" y="3328416"/>
            <a:ext cx="1600200" cy="329184"/>
          </a:xfrm>
          <a:prstGeom prst="rect">
            <a:avLst/>
          </a:prstGeom>
          <a:noFill/>
          <a:ln/>
        </p:spPr>
        <p:txBody>
          <a:bodyPr wrap="square" lIns="0" tIns="0" rIns="0" bIns="0" rtlCol="0" anchor="t"/>
          <a:lstStyle/>
          <a:p>
            <a:pPr indent="0" marL="0">
              <a:buNone/>
            </a:pPr>
            <a:r>
              <a:rPr lang="en-US" sz="1300" b="1" dirty="0">
                <a:solidFill>
                  <a:schemeClr val="tx1"/>
                </a:solidFill>
              </a:rPr>
              <a:t>Source</a:t>
            </a:r>
            <a:endParaRPr lang="en-US" sz="1300" dirty="0"/>
          </a:p>
        </p:txBody>
      </p:sp>
      <p:sp>
        <p:nvSpPr>
          <p:cNvPr id="11" name="Text 9"/>
          <p:cNvSpPr txBox="1"/>
          <p:nvPr/>
        </p:nvSpPr>
        <p:spPr>
          <a:xfrm>
            <a:off x="2697480" y="3328416"/>
            <a:ext cx="4297680" cy="329184"/>
          </a:xfrm>
          <a:prstGeom prst="rect">
            <a:avLst/>
          </a:prstGeom>
          <a:noFill/>
          <a:ln/>
        </p:spPr>
        <p:txBody>
          <a:bodyPr wrap="square" lIns="0" tIns="0" rIns="0" bIns="0" rtlCol="0" anchor="t"/>
          <a:lstStyle/>
          <a:p>
            <a:pPr indent="0" marL="0">
              <a:buNone/>
            </a:pPr>
            <a:r>
              <a:rPr lang="en-US" sz="1300" dirty="0">
                <a:solidFill>
                  <a:schemeClr val="tx2"/>
                </a:solidFill>
              </a:rPr>
              <a:t>Sensor; memory</a:t>
            </a:r>
            <a:endParaRPr lang="en-US" sz="1300" dirty="0"/>
          </a:p>
        </p:txBody>
      </p:sp>
      <p:sp>
        <p:nvSpPr>
          <p:cNvPr id="12" name="Text 10"/>
          <p:cNvSpPr txBox="1"/>
          <p:nvPr/>
        </p:nvSpPr>
        <p:spPr>
          <a:xfrm>
            <a:off x="1069848" y="3703320"/>
            <a:ext cx="1600200" cy="329184"/>
          </a:xfrm>
          <a:prstGeom prst="rect">
            <a:avLst/>
          </a:prstGeom>
          <a:noFill/>
          <a:ln/>
        </p:spPr>
        <p:txBody>
          <a:bodyPr wrap="square" lIns="0" tIns="0" rIns="0" bIns="0" rtlCol="0" anchor="t"/>
          <a:lstStyle/>
          <a:p>
            <a:pPr indent="0" marL="0">
              <a:buNone/>
            </a:pPr>
            <a:r>
              <a:rPr lang="en-US" sz="1300" b="1" dirty="0">
                <a:solidFill>
                  <a:schemeClr val="tx1"/>
                </a:solidFill>
              </a:rPr>
              <a:t>Outputs</a:t>
            </a:r>
            <a:endParaRPr lang="en-US" sz="1300" dirty="0"/>
          </a:p>
        </p:txBody>
      </p:sp>
      <p:sp>
        <p:nvSpPr>
          <p:cNvPr id="13" name="Text 11"/>
          <p:cNvSpPr txBox="1"/>
          <p:nvPr/>
        </p:nvSpPr>
        <p:spPr>
          <a:xfrm>
            <a:off x="2697480" y="3703320"/>
            <a:ext cx="4297680" cy="329184"/>
          </a:xfrm>
          <a:prstGeom prst="rect">
            <a:avLst/>
          </a:prstGeom>
          <a:noFill/>
          <a:ln/>
        </p:spPr>
        <p:txBody>
          <a:bodyPr wrap="square" lIns="0" tIns="0" rIns="0" bIns="0" rtlCol="0" anchor="t"/>
          <a:lstStyle/>
          <a:p>
            <a:pPr indent="0" marL="0">
              <a:buNone/>
            </a:pPr>
            <a:r>
              <a:rPr lang="en-US" sz="1300" dirty="0">
                <a:solidFill>
                  <a:schemeClr val="tx2"/>
                </a:solidFill>
              </a:rPr>
              <a:t>CompDose, the dose to deliver</a:t>
            </a:r>
            <a:endParaRPr lang="en-US" sz="1300" dirty="0"/>
          </a:p>
        </p:txBody>
      </p:sp>
      <p:sp>
        <p:nvSpPr>
          <p:cNvPr id="14" name="Text 12"/>
          <p:cNvSpPr txBox="1"/>
          <p:nvPr/>
        </p:nvSpPr>
        <p:spPr>
          <a:xfrm>
            <a:off x="1069848" y="4078224"/>
            <a:ext cx="1600200" cy="329184"/>
          </a:xfrm>
          <a:prstGeom prst="rect">
            <a:avLst/>
          </a:prstGeom>
          <a:noFill/>
          <a:ln/>
        </p:spPr>
        <p:txBody>
          <a:bodyPr wrap="square" lIns="0" tIns="0" rIns="0" bIns="0" rtlCol="0" anchor="t"/>
          <a:lstStyle/>
          <a:p>
            <a:pPr indent="0" marL="0">
              <a:buNone/>
            </a:pPr>
            <a:r>
              <a:rPr lang="en-US" sz="1300" b="1" dirty="0">
                <a:solidFill>
                  <a:schemeClr val="tx1"/>
                </a:solidFill>
              </a:rPr>
              <a:t>Requires</a:t>
            </a:r>
            <a:endParaRPr lang="en-US" sz="1300" dirty="0"/>
          </a:p>
        </p:txBody>
      </p:sp>
      <p:sp>
        <p:nvSpPr>
          <p:cNvPr id="15" name="Text 13"/>
          <p:cNvSpPr txBox="1"/>
          <p:nvPr/>
        </p:nvSpPr>
        <p:spPr>
          <a:xfrm>
            <a:off x="2697480" y="4078224"/>
            <a:ext cx="4297680" cy="329184"/>
          </a:xfrm>
          <a:prstGeom prst="rect">
            <a:avLst/>
          </a:prstGeom>
          <a:noFill/>
          <a:ln/>
        </p:spPr>
        <p:txBody>
          <a:bodyPr wrap="square" lIns="0" tIns="0" rIns="0" bIns="0" rtlCol="0" anchor="t"/>
          <a:lstStyle/>
          <a:p>
            <a:pPr indent="0" marL="0">
              <a:buNone/>
            </a:pPr>
            <a:r>
              <a:rPr lang="en-US" sz="1300" dirty="0">
                <a:solidFill>
                  <a:schemeClr val="tx2"/>
                </a:solidFill>
              </a:rPr>
              <a:t>Two previous readings, to compute the rate of change</a:t>
            </a:r>
            <a:endParaRPr lang="en-US" sz="1300" dirty="0"/>
          </a:p>
        </p:txBody>
      </p:sp>
      <p:sp>
        <p:nvSpPr>
          <p:cNvPr id="16" name="Text 14"/>
          <p:cNvSpPr txBox="1"/>
          <p:nvPr/>
        </p:nvSpPr>
        <p:spPr>
          <a:xfrm>
            <a:off x="1069848" y="4453128"/>
            <a:ext cx="1600200" cy="329184"/>
          </a:xfrm>
          <a:prstGeom prst="rect">
            <a:avLst/>
          </a:prstGeom>
          <a:noFill/>
          <a:ln/>
        </p:spPr>
        <p:txBody>
          <a:bodyPr wrap="square" lIns="0" tIns="0" rIns="0" bIns="0" rtlCol="0" anchor="t"/>
          <a:lstStyle/>
          <a:p>
            <a:pPr indent="0" marL="0">
              <a:buNone/>
            </a:pPr>
            <a:r>
              <a:rPr lang="en-US" sz="1300" b="1" dirty="0">
                <a:solidFill>
                  <a:schemeClr val="tx1"/>
                </a:solidFill>
              </a:rPr>
              <a:t>Precondition</a:t>
            </a:r>
            <a:endParaRPr lang="en-US" sz="1300" dirty="0"/>
          </a:p>
        </p:txBody>
      </p:sp>
      <p:sp>
        <p:nvSpPr>
          <p:cNvPr id="17" name="Text 15"/>
          <p:cNvSpPr txBox="1"/>
          <p:nvPr/>
        </p:nvSpPr>
        <p:spPr>
          <a:xfrm>
            <a:off x="2697480" y="4453128"/>
            <a:ext cx="4297680" cy="329184"/>
          </a:xfrm>
          <a:prstGeom prst="rect">
            <a:avLst/>
          </a:prstGeom>
          <a:noFill/>
          <a:ln/>
        </p:spPr>
        <p:txBody>
          <a:bodyPr wrap="square" lIns="0" tIns="0" rIns="0" bIns="0" rtlCol="0" anchor="t"/>
          <a:lstStyle/>
          <a:p>
            <a:pPr indent="0" marL="0">
              <a:buNone/>
            </a:pPr>
            <a:r>
              <a:rPr lang="en-US" sz="1300" dirty="0">
                <a:solidFill>
                  <a:schemeClr val="tx2"/>
                </a:solidFill>
              </a:rPr>
              <a:t>Reservoir holds at least the maximum single dose</a:t>
            </a:r>
            <a:endParaRPr lang="en-US" sz="1300" dirty="0"/>
          </a:p>
        </p:txBody>
      </p:sp>
      <p:sp>
        <p:nvSpPr>
          <p:cNvPr id="18" name="Text 16"/>
          <p:cNvSpPr txBox="1"/>
          <p:nvPr/>
        </p:nvSpPr>
        <p:spPr>
          <a:xfrm>
            <a:off x="1069848" y="4828032"/>
            <a:ext cx="1600200" cy="329184"/>
          </a:xfrm>
          <a:prstGeom prst="rect">
            <a:avLst/>
          </a:prstGeom>
          <a:noFill/>
          <a:ln/>
        </p:spPr>
        <p:txBody>
          <a:bodyPr wrap="square" lIns="0" tIns="0" rIns="0" bIns="0" rtlCol="0" anchor="t"/>
          <a:lstStyle/>
          <a:p>
            <a:pPr indent="0" marL="0">
              <a:buNone/>
            </a:pPr>
            <a:r>
              <a:rPr lang="en-US" sz="1300" b="1" dirty="0">
                <a:solidFill>
                  <a:schemeClr val="tx1"/>
                </a:solidFill>
              </a:rPr>
              <a:t>Postcondition</a:t>
            </a:r>
            <a:endParaRPr lang="en-US" sz="1300" dirty="0"/>
          </a:p>
        </p:txBody>
      </p:sp>
      <p:sp>
        <p:nvSpPr>
          <p:cNvPr id="19" name="Text 17"/>
          <p:cNvSpPr txBox="1"/>
          <p:nvPr/>
        </p:nvSpPr>
        <p:spPr>
          <a:xfrm>
            <a:off x="2697480" y="4828032"/>
            <a:ext cx="4297680" cy="329184"/>
          </a:xfrm>
          <a:prstGeom prst="rect">
            <a:avLst/>
          </a:prstGeom>
          <a:noFill/>
          <a:ln/>
        </p:spPr>
        <p:txBody>
          <a:bodyPr wrap="square" lIns="0" tIns="0" rIns="0" bIns="0" rtlCol="0" anchor="t"/>
          <a:lstStyle/>
          <a:p>
            <a:pPr indent="0" marL="0">
              <a:buNone/>
            </a:pPr>
            <a:r>
              <a:rPr lang="en-US" sz="1300" dirty="0">
                <a:solidFill>
                  <a:schemeClr val="tx2"/>
                </a:solidFill>
              </a:rPr>
              <a:t>r0 is replaced by r1, then r1 by r2</a:t>
            </a:r>
            <a:endParaRPr lang="en-US" sz="1300" dirty="0"/>
          </a:p>
        </p:txBody>
      </p:sp>
      <p:sp>
        <p:nvSpPr>
          <p:cNvPr id="20" name="Text 18"/>
          <p:cNvSpPr txBox="1"/>
          <p:nvPr/>
        </p:nvSpPr>
        <p:spPr>
          <a:xfrm>
            <a:off x="1069848" y="5202936"/>
            <a:ext cx="1600200" cy="329184"/>
          </a:xfrm>
          <a:prstGeom prst="rect">
            <a:avLst/>
          </a:prstGeom>
          <a:noFill/>
          <a:ln/>
        </p:spPr>
        <p:txBody>
          <a:bodyPr wrap="square" lIns="0" tIns="0" rIns="0" bIns="0" rtlCol="0" anchor="t"/>
          <a:lstStyle/>
          <a:p>
            <a:pPr indent="0" marL="0">
              <a:buNone/>
            </a:pPr>
            <a:r>
              <a:rPr lang="en-US" sz="1300" b="1" dirty="0">
                <a:solidFill>
                  <a:schemeClr val="tx1"/>
                </a:solidFill>
              </a:rPr>
              <a:t>Side effects</a:t>
            </a:r>
            <a:endParaRPr lang="en-US" sz="1300" dirty="0"/>
          </a:p>
        </p:txBody>
      </p:sp>
      <p:sp>
        <p:nvSpPr>
          <p:cNvPr id="21" name="Text 19"/>
          <p:cNvSpPr txBox="1"/>
          <p:nvPr/>
        </p:nvSpPr>
        <p:spPr>
          <a:xfrm>
            <a:off x="2697480" y="5202936"/>
            <a:ext cx="4297680" cy="329184"/>
          </a:xfrm>
          <a:prstGeom prst="rect">
            <a:avLst/>
          </a:prstGeom>
          <a:noFill/>
          <a:ln/>
        </p:spPr>
        <p:txBody>
          <a:bodyPr wrap="square" lIns="0" tIns="0" rIns="0" bIns="0" rtlCol="0" anchor="t"/>
          <a:lstStyle/>
          <a:p>
            <a:pPr indent="0" marL="0">
              <a:buNone/>
            </a:pPr>
            <a:r>
              <a:rPr lang="en-US" sz="1300" dirty="0">
                <a:solidFill>
                  <a:schemeClr val="tx2"/>
                </a:solidFill>
              </a:rPr>
              <a:t>None</a:t>
            </a:r>
            <a:endParaRPr lang="en-US" sz="1300" dirty="0"/>
          </a:p>
        </p:txBody>
      </p:sp>
      <p:sp>
        <p:nvSpPr>
          <p:cNvPr id="22" name="Card"/>
          <p:cNvSpPr/>
          <p:nvPr/>
        </p:nvSpPr>
        <p:spPr>
          <a:xfrm>
            <a:off x="7333488" y="2057400"/>
            <a:ext cx="4050792" cy="2057400"/>
          </a:xfrm>
          <a:prstGeom prst="roundRect">
            <a:avLst>
              <a:gd name="adj" fmla="val 3556"/>
            </a:avLst>
          </a:prstGeom>
          <a:solidFill>
            <a:schemeClr val="bg1"/>
          </a:solidFill>
          <a:ln w="6350">
            <a:solidFill>
              <a:schemeClr val="accent4"/>
            </a:solidFill>
            <a:prstDash val="solid"/>
          </a:ln>
        </p:spPr>
      </p:sp>
      <p:sp>
        <p:nvSpPr>
          <p:cNvPr id="23" name="Text 21"/>
          <p:cNvSpPr txBox="1"/>
          <p:nvPr/>
        </p:nvSpPr>
        <p:spPr>
          <a:xfrm>
            <a:off x="7589520" y="2212848"/>
            <a:ext cx="35661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Four notations</a:t>
            </a:r>
            <a:endParaRPr lang="en-US" sz="1200" dirty="0"/>
          </a:p>
        </p:txBody>
      </p:sp>
      <p:sp>
        <p:nvSpPr>
          <p:cNvPr id="24" name="Text 22"/>
          <p:cNvSpPr txBox="1"/>
          <p:nvPr/>
        </p:nvSpPr>
        <p:spPr>
          <a:xfrm>
            <a:off x="7589520" y="2514600"/>
            <a:ext cx="3611880" cy="155448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Natural language sentences</a:t>
            </a:r>
            <a:endParaRPr lang="en-US" sz="1300" dirty="0"/>
          </a:p>
          <a:p>
            <a:pPr indent="0" marL="0">
              <a:spcAft>
                <a:spcPts val="400"/>
              </a:spcAft>
              <a:buNone/>
            </a:pPr>
            <a:r>
              <a:rPr lang="en-US" sz="1300" b="1" dirty="0">
                <a:solidFill>
                  <a:schemeClr val="tx1"/>
                </a:solidFill>
              </a:rPr>
              <a:t>Structured natural language: a form</a:t>
            </a:r>
            <a:endParaRPr lang="en-US" sz="1300" dirty="0"/>
          </a:p>
          <a:p>
            <a:pPr indent="0" marL="0">
              <a:spcAft>
                <a:spcPts val="400"/>
              </a:spcAft>
              <a:buNone/>
            </a:pPr>
            <a:r>
              <a:rPr lang="en-US" sz="1300" b="1" dirty="0">
                <a:solidFill>
                  <a:schemeClr val="tx1"/>
                </a:solidFill>
              </a:rPr>
              <a:t>Graphical: UML use cases, sequences</a:t>
            </a:r>
            <a:endParaRPr lang="en-US" sz="1300" dirty="0"/>
          </a:p>
          <a:p>
            <a:pPr indent="0" marL="0">
              <a:spcAft>
                <a:spcPts val="400"/>
              </a:spcAft>
              <a:buNone/>
            </a:pPr>
            <a:r>
              <a:rPr lang="en-US" sz="1300" b="1" dirty="0">
                <a:solidFill>
                  <a:schemeClr val="tx1"/>
                </a:solidFill>
              </a:rPr>
              <a:t>Mathematical: </a:t>
            </a:r>
            <a:pPr indent="0" marL="0">
              <a:spcAft>
                <a:spcPts val="400"/>
              </a:spcAft>
              <a:buNone/>
            </a:pPr>
            <a:r>
              <a:rPr lang="en-US" sz="1300" dirty="0">
                <a:solidFill>
                  <a:schemeClr val="tx2"/>
                </a:solidFill>
              </a:rPr>
              <a:t>unambiguous, but most customers cannot check it</a:t>
            </a:r>
            <a:endParaRPr lang="en-US" sz="1300" dirty="0"/>
          </a:p>
        </p:txBody>
      </p:sp>
      <p:sp>
        <p:nvSpPr>
          <p:cNvPr id="25" name="Card"/>
          <p:cNvSpPr/>
          <p:nvPr/>
        </p:nvSpPr>
        <p:spPr>
          <a:xfrm>
            <a:off x="7333488" y="4251960"/>
            <a:ext cx="4050792" cy="1417320"/>
          </a:xfrm>
          <a:prstGeom prst="roundRect">
            <a:avLst>
              <a:gd name="adj" fmla="val 5161"/>
            </a:avLst>
          </a:prstGeom>
          <a:solidFill>
            <a:schemeClr val="tx1"/>
          </a:solidFill>
          <a:ln w="6350">
            <a:solidFill>
              <a:schemeClr val="tx1"/>
            </a:solidFill>
            <a:prstDash val="solid"/>
          </a:ln>
        </p:spPr>
      </p:sp>
      <p:sp>
        <p:nvSpPr>
          <p:cNvPr id="26" name="Text 24"/>
          <p:cNvSpPr txBox="1"/>
          <p:nvPr/>
        </p:nvSpPr>
        <p:spPr>
          <a:xfrm>
            <a:off x="7589520" y="4507992"/>
            <a:ext cx="3538728"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On use cases</a:t>
            </a:r>
            <a:endParaRPr lang="en-US" sz="1200" dirty="0"/>
          </a:p>
        </p:txBody>
      </p:sp>
      <p:sp>
        <p:nvSpPr>
          <p:cNvPr id="27" name="Text 25"/>
          <p:cNvSpPr txBox="1"/>
          <p:nvPr/>
        </p:nvSpPr>
        <p:spPr>
          <a:xfrm>
            <a:off x="7589520" y="4855464"/>
            <a:ext cx="3538728" cy="630936"/>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Too fine-grained for discussing requirements; more helpful in design.</a:t>
            </a:r>
            <a:endParaRPr lang="en-US" sz="1300" dirty="0"/>
          </a:p>
        </p:txBody>
      </p:sp>
      <p:sp>
        <p:nvSpPr>
          <p:cNvPr id="28" name="Text 26"/>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§4.4.2–4.4.3, p. 121–126, Figures 4.11 and 4.13.</a:t>
            </a:r>
            <a:endParaRPr lang="en-US" sz="1100" dirty="0"/>
          </a:p>
        </p:txBody>
      </p:sp>
      <p:sp>
        <p:nvSpPr>
          <p:cNvPr id="29" name="Text 27"/>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9 / 32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BEYOND SENTENCES · WITH AGENTS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Spec-driven development</a:t>
            </a:r>
            <a:endParaRPr lang="en-US" sz="3600" dirty="0"/>
          </a:p>
        </p:txBody>
      </p:sp>
      <p:sp>
        <p:nvSpPr>
          <p:cNvPr id="4" name="Text 2"/>
          <p:cNvSpPr txBox="1"/>
          <p:nvPr/>
        </p:nvSpPr>
        <p:spPr>
          <a:xfrm>
            <a:off x="813816" y="1920240"/>
            <a:ext cx="10570464" cy="365760"/>
          </a:xfrm>
          <a:prstGeom prst="rect">
            <a:avLst/>
          </a:prstGeom>
          <a:noFill/>
          <a:ln/>
        </p:spPr>
        <p:txBody>
          <a:bodyPr wrap="square" lIns="0" tIns="0" rIns="0" bIns="0" rtlCol="0" anchor="t"/>
          <a:lstStyle/>
          <a:p>
            <a:pPr indent="0" marL="0">
              <a:buNone/>
            </a:pPr>
            <a:r>
              <a:rPr lang="en-US" sz="1600" dirty="0">
                <a:solidFill>
                  <a:schemeClr val="tx1"/>
                </a:solidFill>
              </a:rPr>
              <a:t>Write the spec before the code; the spec becomes the reference for both the human and the AI agent.</a:t>
            </a:r>
            <a:endParaRPr lang="en-US" sz="1600" dirty="0"/>
          </a:p>
        </p:txBody>
      </p:sp>
      <p:sp>
        <p:nvSpPr>
          <p:cNvPr id="5" name="Card"/>
          <p:cNvSpPr/>
          <p:nvPr/>
        </p:nvSpPr>
        <p:spPr>
          <a:xfrm>
            <a:off x="813816" y="2468880"/>
            <a:ext cx="1600200" cy="1051560"/>
          </a:xfrm>
          <a:prstGeom prst="roundRect">
            <a:avLst>
              <a:gd name="adj" fmla="val 6957"/>
            </a:avLst>
          </a:prstGeom>
          <a:solidFill>
            <a:schemeClr val="bg1"/>
          </a:solidFill>
          <a:ln w="6350">
            <a:solidFill>
              <a:schemeClr val="accent4"/>
            </a:solidFill>
            <a:prstDash val="solid"/>
          </a:ln>
        </p:spPr>
      </p:sp>
      <p:sp>
        <p:nvSpPr>
          <p:cNvPr id="6" name="Text 4"/>
          <p:cNvSpPr txBox="1"/>
          <p:nvPr/>
        </p:nvSpPr>
        <p:spPr>
          <a:xfrm>
            <a:off x="978408" y="2606040"/>
            <a:ext cx="1325880" cy="320040"/>
          </a:xfrm>
          <a:prstGeom prst="rect">
            <a:avLst/>
          </a:prstGeom>
          <a:noFill/>
          <a:ln/>
        </p:spPr>
        <p:txBody>
          <a:bodyPr wrap="square" lIns="0" tIns="0" rIns="0" bIns="0" rtlCol="0" anchor="t"/>
          <a:lstStyle/>
          <a:p>
            <a:pPr indent="0" marL="0">
              <a:buNone/>
            </a:pPr>
            <a:r>
              <a:rPr lang="en-US" sz="1600" b="1" dirty="0">
                <a:solidFill>
                  <a:schemeClr val="tx1"/>
                </a:solidFill>
              </a:rPr>
              <a:t>Spec</a:t>
            </a:r>
            <a:endParaRPr lang="en-US" sz="1600" dirty="0"/>
          </a:p>
        </p:txBody>
      </p:sp>
      <p:sp>
        <p:nvSpPr>
          <p:cNvPr id="7" name="Text 5"/>
          <p:cNvSpPr txBox="1"/>
          <p:nvPr/>
        </p:nvSpPr>
        <p:spPr>
          <a:xfrm>
            <a:off x="978408" y="2944368"/>
            <a:ext cx="1325880" cy="502920"/>
          </a:xfrm>
          <a:prstGeom prst="rect">
            <a:avLst/>
          </a:prstGeom>
          <a:noFill/>
          <a:ln/>
        </p:spPr>
        <p:txBody>
          <a:bodyPr wrap="square" lIns="0" tIns="0" rIns="0" bIns="0" rtlCol="0" anchor="t"/>
          <a:lstStyle/>
          <a:p>
            <a:pPr indent="0" marL="0">
              <a:buNone/>
            </a:pPr>
            <a:r>
              <a:rPr lang="en-US" sz="1200" dirty="0">
                <a:solidFill>
                  <a:schemeClr val="tx2"/>
                </a:solidFill>
              </a:rPr>
              <a:t>what and why</a:t>
            </a:r>
            <a:endParaRPr lang="en-US" sz="1200" dirty="0"/>
          </a:p>
        </p:txBody>
      </p:sp>
      <p:sp>
        <p:nvSpPr>
          <p:cNvPr id="8" name="Text 6"/>
          <p:cNvSpPr txBox="1"/>
          <p:nvPr/>
        </p:nvSpPr>
        <p:spPr>
          <a:xfrm>
            <a:off x="2395728" y="2715768"/>
            <a:ext cx="274320" cy="411480"/>
          </a:xfrm>
          <a:prstGeom prst="rect">
            <a:avLst/>
          </a:prstGeom>
          <a:noFill/>
          <a:ln/>
        </p:spPr>
        <p:txBody>
          <a:bodyPr wrap="square" lIns="0" tIns="0" rIns="0" bIns="0" rtlCol="0" anchor="t"/>
          <a:lstStyle/>
          <a:p>
            <a:pPr algn="ctr" indent="0" marL="0">
              <a:buNone/>
            </a:pPr>
            <a:r>
              <a:rPr lang="en-US" sz="1800" b="1" dirty="0">
                <a:solidFill>
                  <a:schemeClr val="accent1"/>
                </a:solidFill>
              </a:rPr>
              <a:t>→</a:t>
            </a:r>
            <a:endParaRPr lang="en-US" sz="1800" dirty="0"/>
          </a:p>
        </p:txBody>
      </p:sp>
      <p:sp>
        <p:nvSpPr>
          <p:cNvPr id="9" name="Card"/>
          <p:cNvSpPr/>
          <p:nvPr/>
        </p:nvSpPr>
        <p:spPr>
          <a:xfrm>
            <a:off x="2642616" y="2468880"/>
            <a:ext cx="1600200" cy="1051560"/>
          </a:xfrm>
          <a:prstGeom prst="roundRect">
            <a:avLst>
              <a:gd name="adj" fmla="val 6957"/>
            </a:avLst>
          </a:prstGeom>
          <a:solidFill>
            <a:schemeClr val="bg1"/>
          </a:solidFill>
          <a:ln w="6350">
            <a:solidFill>
              <a:schemeClr val="accent4"/>
            </a:solidFill>
            <a:prstDash val="solid"/>
          </a:ln>
        </p:spPr>
      </p:sp>
      <p:sp>
        <p:nvSpPr>
          <p:cNvPr id="10" name="Text 8"/>
          <p:cNvSpPr txBox="1"/>
          <p:nvPr/>
        </p:nvSpPr>
        <p:spPr>
          <a:xfrm>
            <a:off x="2807208" y="2606040"/>
            <a:ext cx="1325880" cy="320040"/>
          </a:xfrm>
          <a:prstGeom prst="rect">
            <a:avLst/>
          </a:prstGeom>
          <a:noFill/>
          <a:ln/>
        </p:spPr>
        <p:txBody>
          <a:bodyPr wrap="square" lIns="0" tIns="0" rIns="0" bIns="0" rtlCol="0" anchor="t"/>
          <a:lstStyle/>
          <a:p>
            <a:pPr indent="0" marL="0">
              <a:buNone/>
            </a:pPr>
            <a:r>
              <a:rPr lang="en-US" sz="1600" b="1" dirty="0">
                <a:solidFill>
                  <a:schemeClr val="tx1"/>
                </a:solidFill>
              </a:rPr>
              <a:t>Plan</a:t>
            </a:r>
            <a:endParaRPr lang="en-US" sz="1600" dirty="0"/>
          </a:p>
        </p:txBody>
      </p:sp>
      <p:sp>
        <p:nvSpPr>
          <p:cNvPr id="11" name="Text 9"/>
          <p:cNvSpPr txBox="1"/>
          <p:nvPr/>
        </p:nvSpPr>
        <p:spPr>
          <a:xfrm>
            <a:off x="2807208" y="2944368"/>
            <a:ext cx="1325880" cy="502920"/>
          </a:xfrm>
          <a:prstGeom prst="rect">
            <a:avLst/>
          </a:prstGeom>
          <a:noFill/>
          <a:ln/>
        </p:spPr>
        <p:txBody>
          <a:bodyPr wrap="square" lIns="0" tIns="0" rIns="0" bIns="0" rtlCol="0" anchor="t"/>
          <a:lstStyle/>
          <a:p>
            <a:pPr indent="0" marL="0">
              <a:buNone/>
            </a:pPr>
            <a:r>
              <a:rPr lang="en-US" sz="1200" dirty="0">
                <a:solidFill>
                  <a:schemeClr val="tx2"/>
                </a:solidFill>
              </a:rPr>
              <a:t>how, with which stack</a:t>
            </a:r>
            <a:endParaRPr lang="en-US" sz="1200" dirty="0"/>
          </a:p>
        </p:txBody>
      </p:sp>
      <p:sp>
        <p:nvSpPr>
          <p:cNvPr id="12" name="Text 10"/>
          <p:cNvSpPr txBox="1"/>
          <p:nvPr/>
        </p:nvSpPr>
        <p:spPr>
          <a:xfrm>
            <a:off x="4224528" y="2715768"/>
            <a:ext cx="274320" cy="411480"/>
          </a:xfrm>
          <a:prstGeom prst="rect">
            <a:avLst/>
          </a:prstGeom>
          <a:noFill/>
          <a:ln/>
        </p:spPr>
        <p:txBody>
          <a:bodyPr wrap="square" lIns="0" tIns="0" rIns="0" bIns="0" rtlCol="0" anchor="t"/>
          <a:lstStyle/>
          <a:p>
            <a:pPr algn="ctr" indent="0" marL="0">
              <a:buNone/>
            </a:pPr>
            <a:r>
              <a:rPr lang="en-US" sz="1800" b="1" dirty="0">
                <a:solidFill>
                  <a:schemeClr val="accent1"/>
                </a:solidFill>
              </a:rPr>
              <a:t>→</a:t>
            </a:r>
            <a:endParaRPr lang="en-US" sz="1800" dirty="0"/>
          </a:p>
        </p:txBody>
      </p:sp>
      <p:sp>
        <p:nvSpPr>
          <p:cNvPr id="13" name="Card"/>
          <p:cNvSpPr/>
          <p:nvPr/>
        </p:nvSpPr>
        <p:spPr>
          <a:xfrm>
            <a:off x="4471416" y="2468880"/>
            <a:ext cx="1600200" cy="1051560"/>
          </a:xfrm>
          <a:prstGeom prst="roundRect">
            <a:avLst>
              <a:gd name="adj" fmla="val 6957"/>
            </a:avLst>
          </a:prstGeom>
          <a:solidFill>
            <a:schemeClr val="bg1"/>
          </a:solidFill>
          <a:ln w="6350">
            <a:solidFill>
              <a:schemeClr val="accent4"/>
            </a:solidFill>
            <a:prstDash val="solid"/>
          </a:ln>
        </p:spPr>
      </p:sp>
      <p:sp>
        <p:nvSpPr>
          <p:cNvPr id="14" name="Text 12"/>
          <p:cNvSpPr txBox="1"/>
          <p:nvPr/>
        </p:nvSpPr>
        <p:spPr>
          <a:xfrm>
            <a:off x="4636008" y="2606040"/>
            <a:ext cx="1325880" cy="320040"/>
          </a:xfrm>
          <a:prstGeom prst="rect">
            <a:avLst/>
          </a:prstGeom>
          <a:noFill/>
          <a:ln/>
        </p:spPr>
        <p:txBody>
          <a:bodyPr wrap="square" lIns="0" tIns="0" rIns="0" bIns="0" rtlCol="0" anchor="t"/>
          <a:lstStyle/>
          <a:p>
            <a:pPr indent="0" marL="0">
              <a:buNone/>
            </a:pPr>
            <a:r>
              <a:rPr lang="en-US" sz="1600" b="1" dirty="0">
                <a:solidFill>
                  <a:schemeClr val="tx1"/>
                </a:solidFill>
              </a:rPr>
              <a:t>Tasks</a:t>
            </a:r>
            <a:endParaRPr lang="en-US" sz="1600" dirty="0"/>
          </a:p>
        </p:txBody>
      </p:sp>
      <p:sp>
        <p:nvSpPr>
          <p:cNvPr id="15" name="Text 13"/>
          <p:cNvSpPr txBox="1"/>
          <p:nvPr/>
        </p:nvSpPr>
        <p:spPr>
          <a:xfrm>
            <a:off x="4636008" y="2944368"/>
            <a:ext cx="1325880" cy="502920"/>
          </a:xfrm>
          <a:prstGeom prst="rect">
            <a:avLst/>
          </a:prstGeom>
          <a:noFill/>
          <a:ln/>
        </p:spPr>
        <p:txBody>
          <a:bodyPr wrap="square" lIns="0" tIns="0" rIns="0" bIns="0" rtlCol="0" anchor="t"/>
          <a:lstStyle/>
          <a:p>
            <a:pPr indent="0" marL="0">
              <a:buNone/>
            </a:pPr>
            <a:r>
              <a:rPr lang="en-US" sz="1200" dirty="0">
                <a:solidFill>
                  <a:schemeClr val="tx2"/>
                </a:solidFill>
              </a:rPr>
              <a:t>small, reviewable steps</a:t>
            </a:r>
            <a:endParaRPr lang="en-US" sz="1200" dirty="0"/>
          </a:p>
        </p:txBody>
      </p:sp>
      <p:sp>
        <p:nvSpPr>
          <p:cNvPr id="16" name="Text 14"/>
          <p:cNvSpPr txBox="1"/>
          <p:nvPr/>
        </p:nvSpPr>
        <p:spPr>
          <a:xfrm>
            <a:off x="6053328" y="2715768"/>
            <a:ext cx="274320" cy="411480"/>
          </a:xfrm>
          <a:prstGeom prst="rect">
            <a:avLst/>
          </a:prstGeom>
          <a:noFill/>
          <a:ln/>
        </p:spPr>
        <p:txBody>
          <a:bodyPr wrap="square" lIns="0" tIns="0" rIns="0" bIns="0" rtlCol="0" anchor="t"/>
          <a:lstStyle/>
          <a:p>
            <a:pPr algn="ctr" indent="0" marL="0">
              <a:buNone/>
            </a:pPr>
            <a:r>
              <a:rPr lang="en-US" sz="1800" b="1" dirty="0">
                <a:solidFill>
                  <a:schemeClr val="accent1"/>
                </a:solidFill>
              </a:rPr>
              <a:t>→</a:t>
            </a:r>
            <a:endParaRPr lang="en-US" sz="1800" dirty="0"/>
          </a:p>
        </p:txBody>
      </p:sp>
      <p:sp>
        <p:nvSpPr>
          <p:cNvPr id="17" name="Card"/>
          <p:cNvSpPr/>
          <p:nvPr/>
        </p:nvSpPr>
        <p:spPr>
          <a:xfrm>
            <a:off x="6300216" y="2468880"/>
            <a:ext cx="1600200" cy="1051560"/>
          </a:xfrm>
          <a:prstGeom prst="roundRect">
            <a:avLst>
              <a:gd name="adj" fmla="val 6957"/>
            </a:avLst>
          </a:prstGeom>
          <a:solidFill>
            <a:schemeClr val="tx1"/>
          </a:solidFill>
          <a:ln w="6350">
            <a:solidFill>
              <a:schemeClr val="tx1"/>
            </a:solidFill>
            <a:prstDash val="solid"/>
          </a:ln>
        </p:spPr>
      </p:sp>
      <p:sp>
        <p:nvSpPr>
          <p:cNvPr id="18" name="Text 16"/>
          <p:cNvSpPr txBox="1"/>
          <p:nvPr/>
        </p:nvSpPr>
        <p:spPr>
          <a:xfrm>
            <a:off x="6464808" y="2606040"/>
            <a:ext cx="1325880" cy="320040"/>
          </a:xfrm>
          <a:prstGeom prst="rect">
            <a:avLst/>
          </a:prstGeom>
          <a:noFill/>
          <a:ln/>
        </p:spPr>
        <p:txBody>
          <a:bodyPr wrap="square" lIns="0" tIns="0" rIns="0" bIns="0" rtlCol="0" anchor="t"/>
          <a:lstStyle/>
          <a:p>
            <a:pPr indent="0" marL="0">
              <a:buNone/>
            </a:pPr>
            <a:r>
              <a:rPr lang="en-US" sz="1600" b="1" dirty="0">
                <a:solidFill>
                  <a:schemeClr val="bg2"/>
                </a:solidFill>
              </a:rPr>
              <a:t>Implement</a:t>
            </a:r>
            <a:endParaRPr lang="en-US" sz="1600" dirty="0"/>
          </a:p>
        </p:txBody>
      </p:sp>
      <p:sp>
        <p:nvSpPr>
          <p:cNvPr id="19" name="Text 17"/>
          <p:cNvSpPr txBox="1"/>
          <p:nvPr/>
        </p:nvSpPr>
        <p:spPr>
          <a:xfrm>
            <a:off x="6464808" y="2944368"/>
            <a:ext cx="1325880" cy="502920"/>
          </a:xfrm>
          <a:prstGeom prst="rect">
            <a:avLst/>
          </a:prstGeom>
          <a:noFill/>
          <a:ln/>
        </p:spPr>
        <p:txBody>
          <a:bodyPr wrap="square" lIns="0" tIns="0" rIns="0" bIns="0" rtlCol="0" anchor="t"/>
          <a:lstStyle/>
          <a:p>
            <a:pPr indent="0" marL="0">
              <a:buNone/>
            </a:pPr>
            <a:r>
              <a:rPr lang="en-US" sz="1200" dirty="0">
                <a:solidFill>
                  <a:schemeClr val="accent5"/>
                </a:solidFill>
              </a:rPr>
              <a:t>the agent writes code</a:t>
            </a:r>
            <a:endParaRPr lang="en-US" sz="1200" dirty="0"/>
          </a:p>
        </p:txBody>
      </p:sp>
      <p:sp>
        <p:nvSpPr>
          <p:cNvPr id="20" name="Text 18"/>
          <p:cNvSpPr txBox="1"/>
          <p:nvPr/>
        </p:nvSpPr>
        <p:spPr>
          <a:xfrm>
            <a:off x="813816" y="3639312"/>
            <a:ext cx="7086600" cy="548640"/>
          </a:xfrm>
          <a:prstGeom prst="rect">
            <a:avLst/>
          </a:prstGeom>
          <a:noFill/>
          <a:ln/>
        </p:spPr>
        <p:txBody>
          <a:bodyPr wrap="square" lIns="0" tIns="0" rIns="0" bIns="0" rtlCol="0" anchor="t"/>
          <a:lstStyle/>
          <a:p>
            <a:pPr indent="0" marL="0">
              <a:buNone/>
            </a:pPr>
            <a:r>
              <a:rPr lang="en-US" sz="1250" dirty="0">
                <a:solidFill>
                  <a:schemeClr val="tx2"/>
                </a:solidFill>
              </a:rPr>
              <a:t>GitHub Spec Kit: each step is a Markdown file that feeds the next. Kiro (AWS): requirements as user stories with GIVEN / WHEN / THEN acceptance criteria.</a:t>
            </a:r>
            <a:endParaRPr lang="en-US" sz="1250" dirty="0"/>
          </a:p>
        </p:txBody>
      </p:sp>
      <p:sp>
        <p:nvSpPr>
          <p:cNvPr id="21" name="Card"/>
          <p:cNvSpPr/>
          <p:nvPr/>
        </p:nvSpPr>
        <p:spPr>
          <a:xfrm>
            <a:off x="813816" y="4279392"/>
            <a:ext cx="7086600" cy="731520"/>
          </a:xfrm>
          <a:prstGeom prst="roundRect">
            <a:avLst>
              <a:gd name="adj" fmla="val 10000"/>
            </a:avLst>
          </a:prstGeom>
          <a:solidFill>
            <a:schemeClr val="bg1"/>
          </a:solidFill>
          <a:ln w="6350">
            <a:solidFill>
              <a:schemeClr val="accent4"/>
            </a:solidFill>
            <a:prstDash val="solid"/>
          </a:ln>
        </p:spPr>
      </p:sp>
      <p:sp>
        <p:nvSpPr>
          <p:cNvPr id="22" name="Text 20"/>
          <p:cNvSpPr txBox="1"/>
          <p:nvPr/>
        </p:nvSpPr>
        <p:spPr>
          <a:xfrm>
            <a:off x="1005840" y="4279392"/>
            <a:ext cx="6766560" cy="731520"/>
          </a:xfrm>
          <a:prstGeom prst="rect">
            <a:avLst/>
          </a:prstGeom>
          <a:noFill/>
          <a:ln/>
        </p:spPr>
        <p:txBody>
          <a:bodyPr wrap="square" lIns="0" tIns="0" rIns="0" bIns="0" rtlCol="0" anchor="ctr"/>
          <a:lstStyle/>
          <a:p>
            <a:pPr indent="0" marL="0">
              <a:buNone/>
            </a:pPr>
            <a:r>
              <a:rPr lang="en-US" sz="1300" b="1" dirty="0">
                <a:solidFill>
                  <a:schemeClr val="tx1"/>
                </a:solidFill>
              </a:rPr>
              <a:t>spec-first</a:t>
            </a:r>
            <a:pPr indent="0" marL="0">
              <a:buNone/>
            </a:pPr>
            <a:r>
              <a:rPr lang="en-US" sz="1300" dirty="0">
                <a:solidFill>
                  <a:schemeClr val="tx2"/>
                </a:solidFill>
              </a:rPr>
              <a:t> written for this task  ·  </a:t>
            </a:r>
            <a:pPr indent="0" marL="0">
              <a:buNone/>
            </a:pPr>
            <a:r>
              <a:rPr lang="en-US" sz="1300" b="1" dirty="0">
                <a:solidFill>
                  <a:schemeClr val="tx1"/>
                </a:solidFill>
              </a:rPr>
              <a:t>spec-anchored</a:t>
            </a:r>
            <a:pPr indent="0" marL="0">
              <a:buNone/>
            </a:pPr>
            <a:r>
              <a:rPr lang="en-US" sz="1300" dirty="0">
                <a:solidFill>
                  <a:schemeClr val="tx2"/>
                </a:solidFill>
              </a:rPr>
              <a:t> kept and evolved  ·  </a:t>
            </a:r>
            <a:pPr indent="0" marL="0">
              <a:buNone/>
            </a:pPr>
            <a:r>
              <a:rPr lang="en-US" sz="1300" b="1" dirty="0">
                <a:solidFill>
                  <a:schemeClr val="tx1"/>
                </a:solidFill>
              </a:rPr>
              <a:t>spec-as-source</a:t>
            </a:r>
            <a:pPr indent="0" marL="0">
              <a:buNone/>
            </a:pPr>
            <a:r>
              <a:rPr lang="en-US" sz="1300" dirty="0">
                <a:solidFill>
                  <a:schemeClr val="tx2"/>
                </a:solidFill>
              </a:rPr>
              <a:t> humans edit only the spec</a:t>
            </a:r>
            <a:endParaRPr lang="en-US" sz="1300" dirty="0"/>
          </a:p>
        </p:txBody>
      </p:sp>
      <p:sp>
        <p:nvSpPr>
          <p:cNvPr id="23" name="Card"/>
          <p:cNvSpPr/>
          <p:nvPr/>
        </p:nvSpPr>
        <p:spPr>
          <a:xfrm>
            <a:off x="8110728" y="2468880"/>
            <a:ext cx="3273552" cy="2542032"/>
          </a:xfrm>
          <a:prstGeom prst="roundRect">
            <a:avLst>
              <a:gd name="adj" fmla="val 2878"/>
            </a:avLst>
          </a:prstGeom>
          <a:solidFill>
            <a:schemeClr val="tx1"/>
          </a:solidFill>
          <a:ln w="6350">
            <a:solidFill>
              <a:schemeClr val="tx1"/>
            </a:solidFill>
            <a:prstDash val="solid"/>
          </a:ln>
        </p:spPr>
      </p:sp>
      <p:sp>
        <p:nvSpPr>
          <p:cNvPr id="24" name="Text 22"/>
          <p:cNvSpPr txBox="1"/>
          <p:nvPr/>
        </p:nvSpPr>
        <p:spPr>
          <a:xfrm>
            <a:off x="8366760" y="2724912"/>
            <a:ext cx="2761488"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Caveats, 2025</a:t>
            </a:r>
            <a:endParaRPr lang="en-US" sz="1200" dirty="0"/>
          </a:p>
        </p:txBody>
      </p:sp>
      <p:sp>
        <p:nvSpPr>
          <p:cNvPr id="25" name="Text 23"/>
          <p:cNvSpPr txBox="1"/>
          <p:nvPr/>
        </p:nvSpPr>
        <p:spPr>
          <a:xfrm>
            <a:off x="8366760" y="3072384"/>
            <a:ext cx="2761488" cy="1755648"/>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A small bug became 4 user stories with 16 acceptance criteria. Agents still ignored instructions. “I'd rather review code than all these markdown files.”</a:t>
            </a:r>
            <a:endParaRPr lang="en-US" sz="1300" dirty="0"/>
          </a:p>
        </p:txBody>
      </p:sp>
      <p:sp>
        <p:nvSpPr>
          <p:cNvPr id="26" name="Callout"/>
          <p:cNvSpPr/>
          <p:nvPr/>
        </p:nvSpPr>
        <p:spPr>
          <a:xfrm>
            <a:off x="813816" y="5193792"/>
            <a:ext cx="10570464" cy="566928"/>
          </a:xfrm>
          <a:prstGeom prst="roundRect">
            <a:avLst>
              <a:gd name="adj" fmla="val 9677"/>
            </a:avLst>
          </a:prstGeom>
          <a:solidFill>
            <a:schemeClr val="tx1"/>
          </a:solidFill>
          <a:ln w="6350">
            <a:solidFill>
              <a:schemeClr val="tx1"/>
            </a:solidFill>
            <a:prstDash val="solid"/>
          </a:ln>
        </p:spPr>
      </p:sp>
      <p:sp>
        <p:nvSpPr>
          <p:cNvPr id="27" name="Text 25"/>
          <p:cNvSpPr txBox="1"/>
          <p:nvPr/>
        </p:nvSpPr>
        <p:spPr>
          <a:xfrm>
            <a:off x="1069848" y="5193792"/>
            <a:ext cx="10058400" cy="566928"/>
          </a:xfrm>
          <a:prstGeom prst="rect">
            <a:avLst/>
          </a:prstGeom>
          <a:noFill/>
          <a:ln/>
        </p:spPr>
        <p:txBody>
          <a:bodyPr wrap="square" lIns="0" tIns="0" rIns="0" bIns="0" rtlCol="0" anchor="ctr"/>
          <a:lstStyle/>
          <a:p>
            <a:pPr indent="0" marL="0">
              <a:buNone/>
            </a:pPr>
            <a:r>
              <a:rPr lang="en-US" sz="1400" dirty="0">
                <a:solidFill>
                  <a:schemeClr val="bg2"/>
                </a:solidFill>
              </a:rPr>
              <a:t>Sommerville's structured specification, written for a new reader: the agent. Still yours: “your role isn't just to steer. It's to verify.”</a:t>
            </a:r>
            <a:endParaRPr lang="en-US" sz="1400" dirty="0"/>
          </a:p>
        </p:txBody>
      </p:sp>
      <p:sp>
        <p:nvSpPr>
          <p:cNvPr id="28" name="Text 26"/>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Böckeler, “Understanding Spec-Driven-Development”, martinfowler.com, 2025; GitHub Spec Kit docs.</a:t>
            </a:r>
            <a:endParaRPr lang="en-US" sz="1100" dirty="0"/>
          </a:p>
        </p:txBody>
      </p:sp>
      <p:sp>
        <p:nvSpPr>
          <p:cNvPr id="29" name="Text 27"/>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10 / 32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THE REQUIREMENTS DOCUMENT</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Do you need a requirements document?</a:t>
            </a:r>
            <a:endParaRPr lang="en-US" sz="3600" dirty="0"/>
          </a:p>
        </p:txBody>
      </p:sp>
      <p:sp>
        <p:nvSpPr>
          <p:cNvPr id="4" name="Card"/>
          <p:cNvSpPr/>
          <p:nvPr/>
        </p:nvSpPr>
        <p:spPr>
          <a:xfrm>
            <a:off x="813816" y="2057400"/>
            <a:ext cx="3383280" cy="2880360"/>
          </a:xfrm>
          <a:prstGeom prst="roundRect">
            <a:avLst>
              <a:gd name="adj" fmla="val 2540"/>
            </a:avLst>
          </a:prstGeom>
          <a:solidFill>
            <a:schemeClr val="bg1"/>
          </a:solidFill>
          <a:ln w="6350">
            <a:solidFill>
              <a:schemeClr val="accent4"/>
            </a:solidFill>
            <a:prstDash val="solid"/>
          </a:ln>
        </p:spPr>
      </p:sp>
      <p:sp>
        <p:nvSpPr>
          <p:cNvPr id="5" name="Text 3"/>
          <p:cNvSpPr txBox="1"/>
          <p:nvPr/>
        </p:nvSpPr>
        <p:spPr>
          <a:xfrm>
            <a:off x="1069848" y="2313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Essential when</a:t>
            </a:r>
            <a:endParaRPr lang="en-US" sz="1200" dirty="0"/>
          </a:p>
        </p:txBody>
      </p:sp>
      <p:sp>
        <p:nvSpPr>
          <p:cNvPr id="6" name="Text 4"/>
          <p:cNvSpPr txBox="1"/>
          <p:nvPr/>
        </p:nvSpPr>
        <p:spPr>
          <a:xfrm>
            <a:off x="1069848" y="2660904"/>
            <a:ext cx="2871216" cy="209397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Development is outsourced.</a:t>
            </a:r>
            <a:endParaRPr lang="en-US" sz="1400" dirty="0"/>
          </a:p>
          <a:p>
            <a:pPr indent="0" marL="0">
              <a:spcAft>
                <a:spcPts val="400"/>
              </a:spcAft>
              <a:buNone/>
            </a:pPr>
            <a:r>
              <a:rPr lang="en-US" sz="1400" dirty="0">
                <a:solidFill>
                  <a:schemeClr val="tx2"/>
                </a:solidFill>
              </a:rPr>
              <a:t>Different teams build different parts.</a:t>
            </a:r>
            <a:endParaRPr lang="en-US" sz="1400" dirty="0"/>
          </a:p>
          <a:p>
            <a:pPr indent="0" marL="0">
              <a:spcAft>
                <a:spcPts val="400"/>
              </a:spcAft>
              <a:buNone/>
            </a:pPr>
            <a:r>
              <a:rPr lang="en-US" sz="1400" dirty="0">
                <a:solidFill>
                  <a:schemeClr val="tx2"/>
                </a:solidFill>
              </a:rPr>
              <a:t>A detailed analysis is mandatory.</a:t>
            </a:r>
            <a:endParaRPr lang="en-US" sz="1400" dirty="0"/>
          </a:p>
        </p:txBody>
      </p:sp>
      <p:sp>
        <p:nvSpPr>
          <p:cNvPr id="7" name="Card"/>
          <p:cNvSpPr/>
          <p:nvPr/>
        </p:nvSpPr>
        <p:spPr>
          <a:xfrm>
            <a:off x="4407408" y="2057400"/>
            <a:ext cx="3383280" cy="2880360"/>
          </a:xfrm>
          <a:prstGeom prst="roundRect">
            <a:avLst>
              <a:gd name="adj" fmla="val 2540"/>
            </a:avLst>
          </a:prstGeom>
          <a:solidFill>
            <a:schemeClr val="bg1"/>
          </a:solidFill>
          <a:ln w="6350">
            <a:solidFill>
              <a:schemeClr val="accent4"/>
            </a:solidFill>
            <a:prstDash val="solid"/>
          </a:ln>
        </p:spPr>
      </p:sp>
      <p:sp>
        <p:nvSpPr>
          <p:cNvPr id="8" name="Text 6"/>
          <p:cNvSpPr txBox="1"/>
          <p:nvPr/>
        </p:nvSpPr>
        <p:spPr>
          <a:xfrm>
            <a:off x="4663440" y="2313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Agile instead</a:t>
            </a:r>
            <a:endParaRPr lang="en-US" sz="1200" dirty="0"/>
          </a:p>
        </p:txBody>
      </p:sp>
      <p:sp>
        <p:nvSpPr>
          <p:cNvPr id="9" name="Text 7"/>
          <p:cNvSpPr txBox="1"/>
          <p:nvPr/>
        </p:nvSpPr>
        <p:spPr>
          <a:xfrm>
            <a:off x="4663440" y="2660904"/>
            <a:ext cx="2871216" cy="209397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Requirements change so fast that a document is out of date when written. Short user stories, prioritized for the next increment.</a:t>
            </a:r>
            <a:endParaRPr lang="en-US" sz="1400" dirty="0"/>
          </a:p>
        </p:txBody>
      </p:sp>
      <p:sp>
        <p:nvSpPr>
          <p:cNvPr id="10" name="Card"/>
          <p:cNvSpPr/>
          <p:nvPr/>
        </p:nvSpPr>
        <p:spPr>
          <a:xfrm>
            <a:off x="8001000" y="2057400"/>
            <a:ext cx="3383280" cy="2880360"/>
          </a:xfrm>
          <a:prstGeom prst="roundRect">
            <a:avLst>
              <a:gd name="adj" fmla="val 2540"/>
            </a:avLst>
          </a:prstGeom>
          <a:solidFill>
            <a:schemeClr val="tx1"/>
          </a:solidFill>
          <a:ln w="6350">
            <a:solidFill>
              <a:schemeClr val="tx1"/>
            </a:solidFill>
            <a:prstDash val="solid"/>
          </a:ln>
        </p:spPr>
      </p:sp>
      <p:sp>
        <p:nvSpPr>
          <p:cNvPr id="11" name="Text 9"/>
          <p:cNvSpPr txBox="1"/>
          <p:nvPr/>
        </p:nvSpPr>
        <p:spPr>
          <a:xfrm>
            <a:off x="8257032" y="2313432"/>
            <a:ext cx="287121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Sommerville's middle way</a:t>
            </a:r>
            <a:endParaRPr lang="en-US" sz="1200" dirty="0"/>
          </a:p>
        </p:txBody>
      </p:sp>
      <p:sp>
        <p:nvSpPr>
          <p:cNvPr id="12" name="Text 10"/>
          <p:cNvSpPr txBox="1"/>
          <p:nvPr/>
        </p:nvSpPr>
        <p:spPr>
          <a:xfrm>
            <a:off x="8257032" y="2660904"/>
            <a:ext cx="2871216" cy="2093976"/>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A short supporting document for the business and dependability requirements: those that apply to the whole system are easy to forget when you focus on the next release.</a:t>
            </a:r>
            <a:endParaRPr lang="en-US" sz="1400" dirty="0"/>
          </a:p>
        </p:txBody>
      </p:sp>
      <p:sp>
        <p:nvSpPr>
          <p:cNvPr id="13"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4" name="Text 12"/>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For your project: requirements live in the repository, next to the code and the tests that check them.</a:t>
            </a:r>
            <a:endParaRPr lang="en-US" sz="1400" dirty="0"/>
          </a:p>
        </p:txBody>
      </p:sp>
      <p:sp>
        <p:nvSpPr>
          <p:cNvPr id="15" name="Text 1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§4.4.4, p. 126.</a:t>
            </a:r>
            <a:endParaRPr lang="en-US" sz="1100" dirty="0"/>
          </a:p>
        </p:txBody>
      </p:sp>
      <p:sp>
        <p:nvSpPr>
          <p:cNvPr id="16" name="Text 1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11 / 32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VALIDATION</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Five checks before you build</a:t>
            </a:r>
            <a:endParaRPr lang="en-US" sz="3600" dirty="0"/>
          </a:p>
        </p:txBody>
      </p:sp>
      <p:sp>
        <p:nvSpPr>
          <p:cNvPr id="4" name="Card"/>
          <p:cNvSpPr/>
          <p:nvPr/>
        </p:nvSpPr>
        <p:spPr>
          <a:xfrm>
            <a:off x="813816" y="2057400"/>
            <a:ext cx="1984248" cy="2834640"/>
          </a:xfrm>
          <a:prstGeom prst="roundRect">
            <a:avLst>
              <a:gd name="adj" fmla="val 3687"/>
            </a:avLst>
          </a:prstGeom>
          <a:solidFill>
            <a:schemeClr val="bg1"/>
          </a:solidFill>
          <a:ln w="6350">
            <a:solidFill>
              <a:schemeClr val="accent4"/>
            </a:solidFill>
            <a:prstDash val="solid"/>
          </a:ln>
        </p:spPr>
      </p:sp>
      <p:sp>
        <p:nvSpPr>
          <p:cNvPr id="5" name="Text 3"/>
          <p:cNvSpPr txBox="1"/>
          <p:nvPr/>
        </p:nvSpPr>
        <p:spPr>
          <a:xfrm>
            <a:off x="996696" y="2194560"/>
            <a:ext cx="914400" cy="777240"/>
          </a:xfrm>
          <a:prstGeom prst="rect">
            <a:avLst/>
          </a:prstGeom>
          <a:noFill/>
          <a:ln/>
        </p:spPr>
        <p:txBody>
          <a:bodyPr wrap="square" lIns="0" tIns="0" rIns="0" bIns="0" rtlCol="0" anchor="t"/>
          <a:lstStyle/>
          <a:p>
            <a:pPr indent="0" marL="0">
              <a:buNone/>
            </a:pPr>
            <a:r>
              <a:rPr lang="en-US" sz="4400" b="1" dirty="0">
                <a:solidFill>
                  <a:schemeClr val="accent1"/>
                </a:solidFill>
              </a:rPr>
              <a:t>1</a:t>
            </a:r>
            <a:endParaRPr lang="en-US" sz="4400" dirty="0"/>
          </a:p>
        </p:txBody>
      </p:sp>
      <p:sp>
        <p:nvSpPr>
          <p:cNvPr id="6" name="Text 4"/>
          <p:cNvSpPr txBox="1"/>
          <p:nvPr/>
        </p:nvSpPr>
        <p:spPr>
          <a:xfrm>
            <a:off x="996696" y="3017520"/>
            <a:ext cx="1691640" cy="365760"/>
          </a:xfrm>
          <a:prstGeom prst="rect">
            <a:avLst/>
          </a:prstGeom>
          <a:noFill/>
          <a:ln/>
        </p:spPr>
        <p:txBody>
          <a:bodyPr wrap="square" lIns="0" tIns="0" rIns="0" bIns="0" rtlCol="0" anchor="t"/>
          <a:lstStyle/>
          <a:p>
            <a:pPr indent="0" marL="0">
              <a:buNone/>
            </a:pPr>
            <a:r>
              <a:rPr lang="en-US" sz="1700" b="1" dirty="0">
                <a:solidFill>
                  <a:schemeClr val="tx1"/>
                </a:solidFill>
              </a:rPr>
              <a:t>Validity</a:t>
            </a:r>
            <a:endParaRPr lang="en-US" sz="1700" dirty="0"/>
          </a:p>
        </p:txBody>
      </p:sp>
      <p:sp>
        <p:nvSpPr>
          <p:cNvPr id="7" name="Text 5"/>
          <p:cNvSpPr txBox="1"/>
          <p:nvPr/>
        </p:nvSpPr>
        <p:spPr>
          <a:xfrm>
            <a:off x="996696" y="3429000"/>
            <a:ext cx="1691640" cy="1371600"/>
          </a:xfrm>
          <a:prstGeom prst="rect">
            <a:avLst/>
          </a:prstGeom>
          <a:noFill/>
          <a:ln/>
        </p:spPr>
        <p:txBody>
          <a:bodyPr wrap="square" lIns="0" tIns="0" rIns="0" bIns="0" rtlCol="0" anchor="t"/>
          <a:lstStyle/>
          <a:p>
            <a:pPr indent="0" marL="0">
              <a:buNone/>
            </a:pPr>
            <a:r>
              <a:rPr lang="en-US" sz="1300" dirty="0">
                <a:solidFill>
                  <a:schemeClr val="tx2"/>
                </a:solidFill>
              </a:rPr>
              <a:t>Reflects real needs, which may have changed since elicitation.</a:t>
            </a:r>
            <a:endParaRPr lang="en-US" sz="1300" dirty="0"/>
          </a:p>
        </p:txBody>
      </p:sp>
      <p:sp>
        <p:nvSpPr>
          <p:cNvPr id="8" name="Card"/>
          <p:cNvSpPr/>
          <p:nvPr/>
        </p:nvSpPr>
        <p:spPr>
          <a:xfrm>
            <a:off x="2944368" y="2057400"/>
            <a:ext cx="1984248" cy="2834640"/>
          </a:xfrm>
          <a:prstGeom prst="roundRect">
            <a:avLst>
              <a:gd name="adj" fmla="val 3687"/>
            </a:avLst>
          </a:prstGeom>
          <a:solidFill>
            <a:schemeClr val="bg1"/>
          </a:solidFill>
          <a:ln w="6350">
            <a:solidFill>
              <a:schemeClr val="accent4"/>
            </a:solidFill>
            <a:prstDash val="solid"/>
          </a:ln>
        </p:spPr>
      </p:sp>
      <p:sp>
        <p:nvSpPr>
          <p:cNvPr id="9" name="Text 7"/>
          <p:cNvSpPr txBox="1"/>
          <p:nvPr/>
        </p:nvSpPr>
        <p:spPr>
          <a:xfrm>
            <a:off x="3127248" y="2194560"/>
            <a:ext cx="914400" cy="777240"/>
          </a:xfrm>
          <a:prstGeom prst="rect">
            <a:avLst/>
          </a:prstGeom>
          <a:noFill/>
          <a:ln/>
        </p:spPr>
        <p:txBody>
          <a:bodyPr wrap="square" lIns="0" tIns="0" rIns="0" bIns="0" rtlCol="0" anchor="t"/>
          <a:lstStyle/>
          <a:p>
            <a:pPr indent="0" marL="0">
              <a:buNone/>
            </a:pPr>
            <a:r>
              <a:rPr lang="en-US" sz="4400" b="1" dirty="0">
                <a:solidFill>
                  <a:schemeClr val="accent1"/>
                </a:solidFill>
              </a:rPr>
              <a:t>2</a:t>
            </a:r>
            <a:endParaRPr lang="en-US" sz="4400" dirty="0"/>
          </a:p>
        </p:txBody>
      </p:sp>
      <p:sp>
        <p:nvSpPr>
          <p:cNvPr id="10" name="Text 8"/>
          <p:cNvSpPr txBox="1"/>
          <p:nvPr/>
        </p:nvSpPr>
        <p:spPr>
          <a:xfrm>
            <a:off x="3127248" y="3017520"/>
            <a:ext cx="1691640" cy="365760"/>
          </a:xfrm>
          <a:prstGeom prst="rect">
            <a:avLst/>
          </a:prstGeom>
          <a:noFill/>
          <a:ln/>
        </p:spPr>
        <p:txBody>
          <a:bodyPr wrap="square" lIns="0" tIns="0" rIns="0" bIns="0" rtlCol="0" anchor="t"/>
          <a:lstStyle/>
          <a:p>
            <a:pPr indent="0" marL="0">
              <a:buNone/>
            </a:pPr>
            <a:r>
              <a:rPr lang="en-US" sz="1700" b="1" dirty="0">
                <a:solidFill>
                  <a:schemeClr val="tx1"/>
                </a:solidFill>
              </a:rPr>
              <a:t>Consistency</a:t>
            </a:r>
            <a:endParaRPr lang="en-US" sz="1700" dirty="0"/>
          </a:p>
        </p:txBody>
      </p:sp>
      <p:sp>
        <p:nvSpPr>
          <p:cNvPr id="11" name="Text 9"/>
          <p:cNvSpPr txBox="1"/>
          <p:nvPr/>
        </p:nvSpPr>
        <p:spPr>
          <a:xfrm>
            <a:off x="3127248" y="3429000"/>
            <a:ext cx="1691640" cy="1371600"/>
          </a:xfrm>
          <a:prstGeom prst="rect">
            <a:avLst/>
          </a:prstGeom>
          <a:noFill/>
          <a:ln/>
        </p:spPr>
        <p:txBody>
          <a:bodyPr wrap="square" lIns="0" tIns="0" rIns="0" bIns="0" rtlCol="0" anchor="t"/>
          <a:lstStyle/>
          <a:p>
            <a:pPr indent="0" marL="0">
              <a:buNone/>
            </a:pPr>
            <a:r>
              <a:rPr lang="en-US" sz="1300" dirty="0">
                <a:solidFill>
                  <a:schemeClr val="tx2"/>
                </a:solidFill>
              </a:rPr>
              <a:t>No contradictory constraints, no two descriptions of one function.</a:t>
            </a:r>
            <a:endParaRPr lang="en-US" sz="1300" dirty="0"/>
          </a:p>
        </p:txBody>
      </p:sp>
      <p:sp>
        <p:nvSpPr>
          <p:cNvPr id="12" name="Card"/>
          <p:cNvSpPr/>
          <p:nvPr/>
        </p:nvSpPr>
        <p:spPr>
          <a:xfrm>
            <a:off x="5074920" y="2057400"/>
            <a:ext cx="1984248" cy="2834640"/>
          </a:xfrm>
          <a:prstGeom prst="roundRect">
            <a:avLst>
              <a:gd name="adj" fmla="val 3687"/>
            </a:avLst>
          </a:prstGeom>
          <a:solidFill>
            <a:schemeClr val="bg1"/>
          </a:solidFill>
          <a:ln w="6350">
            <a:solidFill>
              <a:schemeClr val="accent4"/>
            </a:solidFill>
            <a:prstDash val="solid"/>
          </a:ln>
        </p:spPr>
      </p:sp>
      <p:sp>
        <p:nvSpPr>
          <p:cNvPr id="13" name="Text 11"/>
          <p:cNvSpPr txBox="1"/>
          <p:nvPr/>
        </p:nvSpPr>
        <p:spPr>
          <a:xfrm>
            <a:off x="5257800" y="2194560"/>
            <a:ext cx="914400" cy="777240"/>
          </a:xfrm>
          <a:prstGeom prst="rect">
            <a:avLst/>
          </a:prstGeom>
          <a:noFill/>
          <a:ln/>
        </p:spPr>
        <p:txBody>
          <a:bodyPr wrap="square" lIns="0" tIns="0" rIns="0" bIns="0" rtlCol="0" anchor="t"/>
          <a:lstStyle/>
          <a:p>
            <a:pPr indent="0" marL="0">
              <a:buNone/>
            </a:pPr>
            <a:r>
              <a:rPr lang="en-US" sz="4400" b="1" dirty="0">
                <a:solidFill>
                  <a:schemeClr val="accent1"/>
                </a:solidFill>
              </a:rPr>
              <a:t>3</a:t>
            </a:r>
            <a:endParaRPr lang="en-US" sz="4400" dirty="0"/>
          </a:p>
        </p:txBody>
      </p:sp>
      <p:sp>
        <p:nvSpPr>
          <p:cNvPr id="14" name="Text 12"/>
          <p:cNvSpPr txBox="1"/>
          <p:nvPr/>
        </p:nvSpPr>
        <p:spPr>
          <a:xfrm>
            <a:off x="5257800" y="3017520"/>
            <a:ext cx="1691640" cy="365760"/>
          </a:xfrm>
          <a:prstGeom prst="rect">
            <a:avLst/>
          </a:prstGeom>
          <a:noFill/>
          <a:ln/>
        </p:spPr>
        <p:txBody>
          <a:bodyPr wrap="square" lIns="0" tIns="0" rIns="0" bIns="0" rtlCol="0" anchor="t"/>
          <a:lstStyle/>
          <a:p>
            <a:pPr indent="0" marL="0">
              <a:buNone/>
            </a:pPr>
            <a:r>
              <a:rPr lang="en-US" sz="1700" b="1" dirty="0">
                <a:solidFill>
                  <a:schemeClr val="tx1"/>
                </a:solidFill>
              </a:rPr>
              <a:t>Completeness</a:t>
            </a:r>
            <a:endParaRPr lang="en-US" sz="1700" dirty="0"/>
          </a:p>
        </p:txBody>
      </p:sp>
      <p:sp>
        <p:nvSpPr>
          <p:cNvPr id="15" name="Text 13"/>
          <p:cNvSpPr txBox="1"/>
          <p:nvPr/>
        </p:nvSpPr>
        <p:spPr>
          <a:xfrm>
            <a:off x="5257800" y="3429000"/>
            <a:ext cx="1691640" cy="1371600"/>
          </a:xfrm>
          <a:prstGeom prst="rect">
            <a:avLst/>
          </a:prstGeom>
          <a:noFill/>
          <a:ln/>
        </p:spPr>
        <p:txBody>
          <a:bodyPr wrap="square" lIns="0" tIns="0" rIns="0" bIns="0" rtlCol="0" anchor="t"/>
          <a:lstStyle/>
          <a:p>
            <a:pPr indent="0" marL="0">
              <a:buNone/>
            </a:pPr>
            <a:r>
              <a:rPr lang="en-US" sz="1300" dirty="0">
                <a:solidFill>
                  <a:schemeClr val="tx2"/>
                </a:solidFill>
              </a:rPr>
              <a:t>All the functions and constraints the user intends.</a:t>
            </a:r>
            <a:endParaRPr lang="en-US" sz="1300" dirty="0"/>
          </a:p>
        </p:txBody>
      </p:sp>
      <p:sp>
        <p:nvSpPr>
          <p:cNvPr id="16" name="Card"/>
          <p:cNvSpPr/>
          <p:nvPr/>
        </p:nvSpPr>
        <p:spPr>
          <a:xfrm>
            <a:off x="7205472" y="2057400"/>
            <a:ext cx="1984248" cy="2834640"/>
          </a:xfrm>
          <a:prstGeom prst="roundRect">
            <a:avLst>
              <a:gd name="adj" fmla="val 3687"/>
            </a:avLst>
          </a:prstGeom>
          <a:solidFill>
            <a:schemeClr val="bg1"/>
          </a:solidFill>
          <a:ln w="6350">
            <a:solidFill>
              <a:schemeClr val="accent4"/>
            </a:solidFill>
            <a:prstDash val="solid"/>
          </a:ln>
        </p:spPr>
      </p:sp>
      <p:sp>
        <p:nvSpPr>
          <p:cNvPr id="17" name="Text 15"/>
          <p:cNvSpPr txBox="1"/>
          <p:nvPr/>
        </p:nvSpPr>
        <p:spPr>
          <a:xfrm>
            <a:off x="7388352" y="2194560"/>
            <a:ext cx="914400" cy="777240"/>
          </a:xfrm>
          <a:prstGeom prst="rect">
            <a:avLst/>
          </a:prstGeom>
          <a:noFill/>
          <a:ln/>
        </p:spPr>
        <p:txBody>
          <a:bodyPr wrap="square" lIns="0" tIns="0" rIns="0" bIns="0" rtlCol="0" anchor="t"/>
          <a:lstStyle/>
          <a:p>
            <a:pPr indent="0" marL="0">
              <a:buNone/>
            </a:pPr>
            <a:r>
              <a:rPr lang="en-US" sz="4400" b="1" dirty="0">
                <a:solidFill>
                  <a:schemeClr val="accent1"/>
                </a:solidFill>
              </a:rPr>
              <a:t>4</a:t>
            </a:r>
            <a:endParaRPr lang="en-US" sz="4400" dirty="0"/>
          </a:p>
        </p:txBody>
      </p:sp>
      <p:sp>
        <p:nvSpPr>
          <p:cNvPr id="18" name="Text 16"/>
          <p:cNvSpPr txBox="1"/>
          <p:nvPr/>
        </p:nvSpPr>
        <p:spPr>
          <a:xfrm>
            <a:off x="7388352" y="3017520"/>
            <a:ext cx="1691640" cy="365760"/>
          </a:xfrm>
          <a:prstGeom prst="rect">
            <a:avLst/>
          </a:prstGeom>
          <a:noFill/>
          <a:ln/>
        </p:spPr>
        <p:txBody>
          <a:bodyPr wrap="square" lIns="0" tIns="0" rIns="0" bIns="0" rtlCol="0" anchor="t"/>
          <a:lstStyle/>
          <a:p>
            <a:pPr indent="0" marL="0">
              <a:buNone/>
            </a:pPr>
            <a:r>
              <a:rPr lang="en-US" sz="1700" b="1" dirty="0">
                <a:solidFill>
                  <a:schemeClr val="tx1"/>
                </a:solidFill>
              </a:rPr>
              <a:t>Realism</a:t>
            </a:r>
            <a:endParaRPr lang="en-US" sz="1700" dirty="0"/>
          </a:p>
        </p:txBody>
      </p:sp>
      <p:sp>
        <p:nvSpPr>
          <p:cNvPr id="19" name="Text 17"/>
          <p:cNvSpPr txBox="1"/>
          <p:nvPr/>
        </p:nvSpPr>
        <p:spPr>
          <a:xfrm>
            <a:off x="7388352" y="3429000"/>
            <a:ext cx="1691640" cy="1371600"/>
          </a:xfrm>
          <a:prstGeom prst="rect">
            <a:avLst/>
          </a:prstGeom>
          <a:noFill/>
          <a:ln/>
        </p:spPr>
        <p:txBody>
          <a:bodyPr wrap="square" lIns="0" tIns="0" rIns="0" bIns="0" rtlCol="0" anchor="t"/>
          <a:lstStyle/>
          <a:p>
            <a:pPr indent="0" marL="0">
              <a:buNone/>
            </a:pPr>
            <a:r>
              <a:rPr lang="en-US" sz="1300" dirty="0">
                <a:solidFill>
                  <a:schemeClr val="tx2"/>
                </a:solidFill>
              </a:rPr>
              <a:t>Buildable with current technology, within budget and schedule.</a:t>
            </a:r>
            <a:endParaRPr lang="en-US" sz="1300" dirty="0"/>
          </a:p>
        </p:txBody>
      </p:sp>
      <p:sp>
        <p:nvSpPr>
          <p:cNvPr id="20" name="Card"/>
          <p:cNvSpPr/>
          <p:nvPr/>
        </p:nvSpPr>
        <p:spPr>
          <a:xfrm>
            <a:off x="9336024" y="2057400"/>
            <a:ext cx="1984248" cy="2834640"/>
          </a:xfrm>
          <a:prstGeom prst="roundRect">
            <a:avLst>
              <a:gd name="adj" fmla="val 3687"/>
            </a:avLst>
          </a:prstGeom>
          <a:solidFill>
            <a:schemeClr val="tx1"/>
          </a:solidFill>
          <a:ln w="6350">
            <a:solidFill>
              <a:schemeClr val="tx1"/>
            </a:solidFill>
            <a:prstDash val="solid"/>
          </a:ln>
        </p:spPr>
      </p:sp>
      <p:sp>
        <p:nvSpPr>
          <p:cNvPr id="21" name="Text 19"/>
          <p:cNvSpPr txBox="1"/>
          <p:nvPr/>
        </p:nvSpPr>
        <p:spPr>
          <a:xfrm>
            <a:off x="9518904" y="2194560"/>
            <a:ext cx="914400" cy="777240"/>
          </a:xfrm>
          <a:prstGeom prst="rect">
            <a:avLst/>
          </a:prstGeom>
          <a:noFill/>
          <a:ln/>
        </p:spPr>
        <p:txBody>
          <a:bodyPr wrap="square" lIns="0" tIns="0" rIns="0" bIns="0" rtlCol="0" anchor="t"/>
          <a:lstStyle/>
          <a:p>
            <a:pPr indent="0" marL="0">
              <a:buNone/>
            </a:pPr>
            <a:r>
              <a:rPr lang="en-US" sz="4400" b="1" dirty="0">
                <a:solidFill>
                  <a:schemeClr val="accent2"/>
                </a:solidFill>
              </a:rPr>
              <a:t>5</a:t>
            </a:r>
            <a:endParaRPr lang="en-US" sz="4400" dirty="0"/>
          </a:p>
        </p:txBody>
      </p:sp>
      <p:sp>
        <p:nvSpPr>
          <p:cNvPr id="22" name="Text 20"/>
          <p:cNvSpPr txBox="1"/>
          <p:nvPr/>
        </p:nvSpPr>
        <p:spPr>
          <a:xfrm>
            <a:off x="9518904" y="3017520"/>
            <a:ext cx="1691640" cy="365760"/>
          </a:xfrm>
          <a:prstGeom prst="rect">
            <a:avLst/>
          </a:prstGeom>
          <a:noFill/>
          <a:ln/>
        </p:spPr>
        <p:txBody>
          <a:bodyPr wrap="square" lIns="0" tIns="0" rIns="0" bIns="0" rtlCol="0" anchor="t"/>
          <a:lstStyle/>
          <a:p>
            <a:pPr indent="0" marL="0">
              <a:buNone/>
            </a:pPr>
            <a:r>
              <a:rPr lang="en-US" sz="1700" b="1" dirty="0">
                <a:solidFill>
                  <a:schemeClr val="bg2"/>
                </a:solidFill>
              </a:rPr>
              <a:t>Verifiability</a:t>
            </a:r>
            <a:endParaRPr lang="en-US" sz="1700" dirty="0"/>
          </a:p>
        </p:txBody>
      </p:sp>
      <p:sp>
        <p:nvSpPr>
          <p:cNvPr id="23" name="Text 21"/>
          <p:cNvSpPr txBox="1"/>
          <p:nvPr/>
        </p:nvSpPr>
        <p:spPr>
          <a:xfrm>
            <a:off x="9518904" y="3429000"/>
            <a:ext cx="1691640" cy="1371600"/>
          </a:xfrm>
          <a:prstGeom prst="rect">
            <a:avLst/>
          </a:prstGeom>
          <a:noFill/>
          <a:ln/>
        </p:spPr>
        <p:txBody>
          <a:bodyPr wrap="square" lIns="0" tIns="0" rIns="0" bIns="0" rtlCol="0" anchor="t"/>
          <a:lstStyle/>
          <a:p>
            <a:pPr indent="0" marL="0">
              <a:buNone/>
            </a:pPr>
            <a:r>
              <a:rPr lang="en-US" sz="1300" dirty="0">
                <a:solidFill>
                  <a:schemeClr val="accent5"/>
                </a:solidFill>
              </a:rPr>
              <a:t>You can write tests that show it is met.</a:t>
            </a:r>
            <a:endParaRPr lang="en-US" sz="1300" dirty="0"/>
          </a:p>
        </p:txBody>
      </p:sp>
      <p:sp>
        <p:nvSpPr>
          <p:cNvPr id="24"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25" name="Text 23"/>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Validation overlaps with elicitation: its job is to find problems in the requirements, not to approve them.</a:t>
            </a:r>
            <a:endParaRPr lang="en-US" sz="1400" dirty="0"/>
          </a:p>
        </p:txBody>
      </p:sp>
      <p:sp>
        <p:nvSpPr>
          <p:cNvPr id="26" name="Text 24"/>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§4.5, p. 129.</a:t>
            </a:r>
            <a:endParaRPr lang="en-US" sz="1100" dirty="0"/>
          </a:p>
        </p:txBody>
      </p:sp>
      <p:sp>
        <p:nvSpPr>
          <p:cNvPr id="27" name="Text 25"/>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12 / 32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VALIDATION TECHNIQUES 1 AND 2</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Reviews and prototypes</a:t>
            </a:r>
            <a:endParaRPr lang="en-US" sz="3600" dirty="0"/>
          </a:p>
        </p:txBody>
      </p:sp>
      <p:sp>
        <p:nvSpPr>
          <p:cNvPr id="4" name="Card"/>
          <p:cNvSpPr/>
          <p:nvPr/>
        </p:nvSpPr>
        <p:spPr>
          <a:xfrm>
            <a:off x="813816" y="2057400"/>
            <a:ext cx="3383280" cy="2834640"/>
          </a:xfrm>
          <a:prstGeom prst="roundRect">
            <a:avLst>
              <a:gd name="adj" fmla="val 2581"/>
            </a:avLst>
          </a:prstGeom>
          <a:solidFill>
            <a:schemeClr val="bg1"/>
          </a:solidFill>
          <a:ln w="6350">
            <a:solidFill>
              <a:schemeClr val="accent4"/>
            </a:solidFill>
            <a:prstDash val="solid"/>
          </a:ln>
        </p:spPr>
      </p:sp>
      <p:sp>
        <p:nvSpPr>
          <p:cNvPr id="5" name="Text 3"/>
          <p:cNvSpPr txBox="1"/>
          <p:nvPr/>
        </p:nvSpPr>
        <p:spPr>
          <a:xfrm>
            <a:off x="1069848" y="2313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Requirements review</a:t>
            </a:r>
            <a:endParaRPr lang="en-US" sz="1200" dirty="0"/>
          </a:p>
        </p:txBody>
      </p:sp>
      <p:sp>
        <p:nvSpPr>
          <p:cNvPr id="6" name="Text 4"/>
          <p:cNvSpPr txBox="1"/>
          <p:nvPr/>
        </p:nvSpPr>
        <p:spPr>
          <a:xfrm>
            <a:off x="1069848" y="2660904"/>
            <a:ext cx="2871216" cy="365760"/>
          </a:xfrm>
          <a:prstGeom prst="rect">
            <a:avLst/>
          </a:prstGeom>
          <a:noFill/>
          <a:ln/>
        </p:spPr>
        <p:txBody>
          <a:bodyPr wrap="square" lIns="0" tIns="0" rIns="0" bIns="0" rtlCol="0" anchor="t"/>
          <a:lstStyle/>
          <a:p>
            <a:pPr indent="0" marL="0">
              <a:buNone/>
            </a:pPr>
            <a:r>
              <a:rPr lang="en-US" sz="2000" b="1" dirty="0">
                <a:solidFill>
                  <a:schemeClr val="tx1"/>
                </a:solidFill>
              </a:rPr>
              <a:t>Read it together</a:t>
            </a:r>
            <a:endParaRPr lang="en-US" sz="2000" dirty="0"/>
          </a:p>
        </p:txBody>
      </p:sp>
      <p:sp>
        <p:nvSpPr>
          <p:cNvPr id="7" name="Text 5"/>
          <p:cNvSpPr txBox="1"/>
          <p:nvPr/>
        </p:nvSpPr>
        <p:spPr>
          <a:xfrm>
            <a:off x="1069848" y="3136392"/>
            <a:ext cx="2871216" cy="15727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Customer and developer go through the requirements looking for errors, anomalies and inconsistencies, then negotiate how each is solved.</a:t>
            </a:r>
            <a:endParaRPr lang="en-US" sz="1400" dirty="0"/>
          </a:p>
        </p:txBody>
      </p:sp>
      <p:sp>
        <p:nvSpPr>
          <p:cNvPr id="8" name="Card"/>
          <p:cNvSpPr/>
          <p:nvPr/>
        </p:nvSpPr>
        <p:spPr>
          <a:xfrm>
            <a:off x="4407408" y="2057400"/>
            <a:ext cx="3383280" cy="2834640"/>
          </a:xfrm>
          <a:prstGeom prst="roundRect">
            <a:avLst>
              <a:gd name="adj" fmla="val 2581"/>
            </a:avLst>
          </a:prstGeom>
          <a:solidFill>
            <a:schemeClr val="bg1"/>
          </a:solidFill>
          <a:ln w="6350">
            <a:solidFill>
              <a:schemeClr val="accent4"/>
            </a:solidFill>
            <a:prstDash val="solid"/>
          </a:ln>
        </p:spPr>
      </p:sp>
      <p:sp>
        <p:nvSpPr>
          <p:cNvPr id="9" name="Text 7"/>
          <p:cNvSpPr txBox="1"/>
          <p:nvPr/>
        </p:nvSpPr>
        <p:spPr>
          <a:xfrm>
            <a:off x="4663440" y="2313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Prototyping</a:t>
            </a:r>
            <a:endParaRPr lang="en-US" sz="1200" dirty="0"/>
          </a:p>
        </p:txBody>
      </p:sp>
      <p:sp>
        <p:nvSpPr>
          <p:cNvPr id="10" name="Text 8"/>
          <p:cNvSpPr txBox="1"/>
          <p:nvPr/>
        </p:nvSpPr>
        <p:spPr>
          <a:xfrm>
            <a:off x="4663440" y="2660904"/>
            <a:ext cx="2871216" cy="365760"/>
          </a:xfrm>
          <a:prstGeom prst="rect">
            <a:avLst/>
          </a:prstGeom>
          <a:noFill/>
          <a:ln/>
        </p:spPr>
        <p:txBody>
          <a:bodyPr wrap="square" lIns="0" tIns="0" rIns="0" bIns="0" rtlCol="0" anchor="t"/>
          <a:lstStyle/>
          <a:p>
            <a:pPr indent="0" marL="0">
              <a:buNone/>
            </a:pPr>
            <a:r>
              <a:rPr lang="en-US" sz="2000" b="1" dirty="0">
                <a:solidFill>
                  <a:schemeClr val="tx1"/>
                </a:solidFill>
              </a:rPr>
              <a:t>Let them try it</a:t>
            </a:r>
            <a:endParaRPr lang="en-US" sz="2000" dirty="0"/>
          </a:p>
        </p:txBody>
      </p:sp>
      <p:sp>
        <p:nvSpPr>
          <p:cNvPr id="11" name="Text 9"/>
          <p:cNvSpPr txBox="1"/>
          <p:nvPr/>
        </p:nvSpPr>
        <p:spPr>
          <a:xfrm>
            <a:off x="4663440" y="3136392"/>
            <a:ext cx="2871216" cy="15727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An executable model that end users and customers experiment with. What they discover comes back as requirements changes.</a:t>
            </a:r>
            <a:endParaRPr lang="en-US" sz="1400" dirty="0"/>
          </a:p>
        </p:txBody>
      </p:sp>
      <p:sp>
        <p:nvSpPr>
          <p:cNvPr id="12" name="Card"/>
          <p:cNvSpPr/>
          <p:nvPr/>
        </p:nvSpPr>
        <p:spPr>
          <a:xfrm>
            <a:off x="8001000" y="2057400"/>
            <a:ext cx="3383280" cy="2834640"/>
          </a:xfrm>
          <a:prstGeom prst="roundRect">
            <a:avLst>
              <a:gd name="adj" fmla="val 2581"/>
            </a:avLst>
          </a:prstGeom>
          <a:solidFill>
            <a:schemeClr val="tx1"/>
          </a:solidFill>
          <a:ln w="6350">
            <a:solidFill>
              <a:schemeClr val="tx1"/>
            </a:solidFill>
            <a:prstDash val="solid"/>
          </a:ln>
        </p:spPr>
      </p:sp>
      <p:sp>
        <p:nvSpPr>
          <p:cNvPr id="13" name="Text 11"/>
          <p:cNvSpPr txBox="1"/>
          <p:nvPr/>
        </p:nvSpPr>
        <p:spPr>
          <a:xfrm>
            <a:off x="8257032" y="2313432"/>
            <a:ext cx="287121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Prototypes got cheap</a:t>
            </a:r>
            <a:endParaRPr lang="en-US" sz="1200" dirty="0"/>
          </a:p>
        </p:txBody>
      </p:sp>
      <p:sp>
        <p:nvSpPr>
          <p:cNvPr id="14" name="Text 12"/>
          <p:cNvSpPr txBox="1"/>
          <p:nvPr/>
        </p:nvSpPr>
        <p:spPr>
          <a:xfrm>
            <a:off x="8257032" y="2660904"/>
            <a:ext cx="2871216" cy="365760"/>
          </a:xfrm>
          <a:prstGeom prst="rect">
            <a:avLst/>
          </a:prstGeom>
          <a:noFill/>
          <a:ln/>
        </p:spPr>
        <p:txBody>
          <a:bodyPr wrap="square" lIns="0" tIns="0" rIns="0" bIns="0" rtlCol="0" anchor="t"/>
          <a:lstStyle/>
          <a:p>
            <a:pPr indent="0" marL="0">
              <a:buNone/>
            </a:pPr>
            <a:r>
              <a:rPr lang="en-US" sz="2000" b="1" dirty="0">
                <a:solidFill>
                  <a:schemeClr val="bg2"/>
                </a:solidFill>
              </a:rPr>
              <a:t>Hours, not weeks</a:t>
            </a:r>
            <a:endParaRPr lang="en-US" sz="2000" dirty="0"/>
          </a:p>
        </p:txBody>
      </p:sp>
      <p:sp>
        <p:nvSpPr>
          <p:cNvPr id="15" name="Text 13"/>
          <p:cNvSpPr txBox="1"/>
          <p:nvPr/>
        </p:nvSpPr>
        <p:spPr>
          <a:xfrm>
            <a:off x="8257032" y="3136392"/>
            <a:ext cx="2871216" cy="1572768"/>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With AI assistants a clickable prototype is fast to build. It validates what users see, not the rules underneath.</a:t>
            </a:r>
            <a:endParaRPr lang="en-US" sz="1400" dirty="0"/>
          </a:p>
        </p:txBody>
      </p:sp>
      <p:sp>
        <p:nvSpPr>
          <p:cNvPr id="16"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7" name="Text 1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You rarely find all the problems: users have to picture the system in their own work, which is hard even for professionals.</a:t>
            </a:r>
            <a:endParaRPr lang="en-US" sz="1400" dirty="0"/>
          </a:p>
        </p:txBody>
      </p:sp>
      <p:sp>
        <p:nvSpPr>
          <p:cNvPr id="18" name="Text 16"/>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§4.5, p. 130. Third card: course content.</a:t>
            </a:r>
            <a:endParaRPr lang="en-US" sz="1100" dirty="0"/>
          </a:p>
        </p:txBody>
      </p:sp>
      <p:sp>
        <p:nvSpPr>
          <p:cNvPr id="19" name="Text 17"/>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13 / 32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VALIDATION TECHNIQUE 3 · ACCEPTANCE CRITERIA</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Acceptance criteria you can run</a:t>
            </a:r>
            <a:endParaRPr lang="en-US" sz="3600" dirty="0"/>
          </a:p>
        </p:txBody>
      </p:sp>
      <p:sp>
        <p:nvSpPr>
          <p:cNvPr id="4" name="Card"/>
          <p:cNvSpPr/>
          <p:nvPr/>
        </p:nvSpPr>
        <p:spPr>
          <a:xfrm>
            <a:off x="813816" y="2057400"/>
            <a:ext cx="3383280" cy="2331720"/>
          </a:xfrm>
          <a:prstGeom prst="roundRect">
            <a:avLst>
              <a:gd name="adj" fmla="val 3137"/>
            </a:avLst>
          </a:prstGeom>
          <a:solidFill>
            <a:schemeClr val="bg1"/>
          </a:solidFill>
          <a:ln w="6350">
            <a:solidFill>
              <a:schemeClr val="accent4"/>
            </a:solidFill>
            <a:prstDash val="solid"/>
          </a:ln>
        </p:spPr>
      </p:sp>
      <p:sp>
        <p:nvSpPr>
          <p:cNvPr id="5" name="Text 3"/>
          <p:cNvSpPr txBox="1"/>
          <p:nvPr/>
        </p:nvSpPr>
        <p:spPr>
          <a:xfrm>
            <a:off x="1069848" y="2313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Requirement · Mentcare</a:t>
            </a:r>
            <a:endParaRPr lang="en-US" sz="1200" dirty="0"/>
          </a:p>
        </p:txBody>
      </p:sp>
      <p:sp>
        <p:nvSpPr>
          <p:cNvPr id="6" name="Text 4"/>
          <p:cNvSpPr txBox="1"/>
          <p:nvPr/>
        </p:nvSpPr>
        <p:spPr>
          <a:xfrm>
            <a:off x="1069848" y="2660904"/>
            <a:ext cx="2871216" cy="154533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If a patient is known to be allergic to a medication, prescribing it shall result in a warning. A prescriber who ignores the warning shall provide a reason.</a:t>
            </a:r>
            <a:endParaRPr lang="en-US" sz="1400" dirty="0"/>
          </a:p>
        </p:txBody>
      </p:sp>
      <p:sp>
        <p:nvSpPr>
          <p:cNvPr id="7" name="Text 5"/>
          <p:cNvSpPr txBox="1"/>
          <p:nvPr/>
        </p:nvSpPr>
        <p:spPr>
          <a:xfrm>
            <a:off x="4206240" y="2880360"/>
            <a:ext cx="365760" cy="457200"/>
          </a:xfrm>
          <a:prstGeom prst="rect">
            <a:avLst/>
          </a:prstGeom>
          <a:noFill/>
          <a:ln/>
        </p:spPr>
        <p:txBody>
          <a:bodyPr wrap="square" lIns="0" tIns="0" rIns="0" bIns="0" rtlCol="0" anchor="t"/>
          <a:lstStyle/>
          <a:p>
            <a:pPr algn="ctr" indent="0" marL="0">
              <a:buNone/>
            </a:pPr>
            <a:r>
              <a:rPr lang="en-US" sz="2600" b="1" dirty="0">
                <a:solidFill>
                  <a:schemeClr val="accent1"/>
                </a:solidFill>
              </a:rPr>
              <a:t>→</a:t>
            </a:r>
            <a:endParaRPr lang="en-US" sz="2600" dirty="0"/>
          </a:p>
        </p:txBody>
      </p:sp>
      <p:sp>
        <p:nvSpPr>
          <p:cNvPr id="8" name="Card"/>
          <p:cNvSpPr/>
          <p:nvPr/>
        </p:nvSpPr>
        <p:spPr>
          <a:xfrm>
            <a:off x="4590288" y="2057400"/>
            <a:ext cx="6793992" cy="2331720"/>
          </a:xfrm>
          <a:prstGeom prst="roundRect">
            <a:avLst>
              <a:gd name="adj" fmla="val 3137"/>
            </a:avLst>
          </a:prstGeom>
          <a:solidFill>
            <a:schemeClr val="bg1"/>
          </a:solidFill>
          <a:ln w="6350">
            <a:solidFill>
              <a:schemeClr val="accent4"/>
            </a:solidFill>
            <a:prstDash val="solid"/>
          </a:ln>
        </p:spPr>
      </p:sp>
      <p:sp>
        <p:nvSpPr>
          <p:cNvPr id="9" name="Text 7"/>
          <p:cNvSpPr txBox="1"/>
          <p:nvPr/>
        </p:nvSpPr>
        <p:spPr>
          <a:xfrm>
            <a:off x="4846320" y="2212848"/>
            <a:ext cx="63093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Tests derived from it</a:t>
            </a:r>
            <a:endParaRPr lang="en-US" sz="1200" dirty="0"/>
          </a:p>
        </p:txBody>
      </p:sp>
      <p:sp>
        <p:nvSpPr>
          <p:cNvPr id="10" name="Text 8"/>
          <p:cNvSpPr txBox="1"/>
          <p:nvPr/>
        </p:nvSpPr>
        <p:spPr>
          <a:xfrm>
            <a:off x="4846320" y="2542032"/>
            <a:ext cx="6355080" cy="17830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No known allergies, prescribe a drug → no warning</a:t>
            </a:r>
            <a:endParaRPr lang="en-US" sz="1400" dirty="0"/>
          </a:p>
          <a:p>
            <a:pPr marL="342900" indent="-342900">
              <a:spcAft>
                <a:spcPts val="300"/>
              </a:spcAft>
              <a:buSzPct val="100000"/>
              <a:buFont typeface="+mj-lt"/>
              <a:buAutoNum type="arabicPeriod" startAt="1"/>
            </a:pPr>
            <a:r>
              <a:rPr lang="en-US" sz="1400" dirty="0">
                <a:solidFill>
                  <a:schemeClr val="tx1"/>
                </a:solidFill>
              </a:rPr>
              <a:t>Known allergy, prescribe that drug → warning</a:t>
            </a:r>
            <a:endParaRPr lang="en-US" sz="1400" dirty="0"/>
          </a:p>
          <a:p>
            <a:pPr marL="342900" indent="-342900">
              <a:spcAft>
                <a:spcPts val="300"/>
              </a:spcAft>
              <a:buSzPct val="100000"/>
              <a:buFont typeface="+mj-lt"/>
              <a:buAutoNum type="arabicPeriod" startAt="1"/>
            </a:pPr>
            <a:r>
              <a:rPr lang="en-US" sz="1400" dirty="0">
                <a:solidFill>
                  <a:schemeClr val="tx1"/>
                </a:solidFill>
              </a:rPr>
              <a:t>Two allergies, prescribe each separately → the right warning each time</a:t>
            </a:r>
            <a:endParaRPr lang="en-US" sz="1400" dirty="0"/>
          </a:p>
          <a:p>
            <a:pPr marL="342900" indent="-342900">
              <a:spcAft>
                <a:spcPts val="300"/>
              </a:spcAft>
              <a:buSzPct val="100000"/>
              <a:buFont typeface="+mj-lt"/>
              <a:buAutoNum type="arabicPeriod" startAt="1"/>
            </a:pPr>
            <a:r>
              <a:rPr lang="en-US" sz="1400" dirty="0">
                <a:solidFill>
                  <a:schemeClr val="tx1"/>
                </a:solidFill>
              </a:rPr>
              <a:t>Prescribe both drugs together → two warnings</a:t>
            </a:r>
            <a:endParaRPr lang="en-US" sz="1400" dirty="0"/>
          </a:p>
          <a:p>
            <a:pPr marL="342900" indent="-342900">
              <a:spcAft>
                <a:spcPts val="300"/>
              </a:spcAft>
              <a:buSzPct val="100000"/>
              <a:buFont typeface="+mj-lt"/>
              <a:buAutoNum type="arabicPeriod" startAt="1"/>
            </a:pPr>
            <a:r>
              <a:rPr lang="en-US" sz="1400" dirty="0">
                <a:solidFill>
                  <a:schemeClr val="tx1"/>
                </a:solidFill>
              </a:rPr>
              <a:t>Overrule a warning → a reason is required</a:t>
            </a:r>
            <a:endParaRPr lang="en-US" sz="1400" dirty="0"/>
          </a:p>
        </p:txBody>
      </p:sp>
      <p:sp>
        <p:nvSpPr>
          <p:cNvPr id="11" name="Card"/>
          <p:cNvSpPr/>
          <p:nvPr/>
        </p:nvSpPr>
        <p:spPr>
          <a:xfrm>
            <a:off x="813816" y="4526280"/>
            <a:ext cx="3383280" cy="566928"/>
          </a:xfrm>
          <a:prstGeom prst="roundRect">
            <a:avLst>
              <a:gd name="adj" fmla="val 12903"/>
            </a:avLst>
          </a:prstGeom>
          <a:solidFill>
            <a:schemeClr val="bg1"/>
          </a:solidFill>
          <a:ln w="6350">
            <a:solidFill>
              <a:schemeClr val="accent4"/>
            </a:solidFill>
            <a:prstDash val="solid"/>
          </a:ln>
        </p:spPr>
      </p:sp>
      <p:sp>
        <p:nvSpPr>
          <p:cNvPr id="12" name="Text 10"/>
          <p:cNvSpPr txBox="1"/>
          <p:nvPr/>
        </p:nvSpPr>
        <p:spPr>
          <a:xfrm>
            <a:off x="1014984" y="4526280"/>
            <a:ext cx="3017520" cy="566928"/>
          </a:xfrm>
          <a:prstGeom prst="rect">
            <a:avLst/>
          </a:prstGeom>
          <a:noFill/>
          <a:ln/>
        </p:spPr>
        <p:txBody>
          <a:bodyPr wrap="square" lIns="0" tIns="0" rIns="0" bIns="0" rtlCol="0" anchor="ctr"/>
          <a:lstStyle/>
          <a:p>
            <a:pPr indent="0" marL="0">
              <a:buNone/>
            </a:pPr>
            <a:r>
              <a:rPr lang="en-US" sz="1300" b="1" dirty="0">
                <a:solidFill>
                  <a:schemeClr val="tx1"/>
                </a:solidFill>
              </a:rPr>
              <a:t>One requirement, several tests</a:t>
            </a:r>
            <a:endParaRPr lang="en-US" sz="1300" dirty="0"/>
          </a:p>
        </p:txBody>
      </p:sp>
      <p:sp>
        <p:nvSpPr>
          <p:cNvPr id="13" name="Card"/>
          <p:cNvSpPr/>
          <p:nvPr/>
        </p:nvSpPr>
        <p:spPr>
          <a:xfrm>
            <a:off x="4407408" y="4526280"/>
            <a:ext cx="3383280" cy="566928"/>
          </a:xfrm>
          <a:prstGeom prst="roundRect">
            <a:avLst>
              <a:gd name="adj" fmla="val 12903"/>
            </a:avLst>
          </a:prstGeom>
          <a:solidFill>
            <a:schemeClr val="bg1"/>
          </a:solidFill>
          <a:ln w="6350">
            <a:solidFill>
              <a:schemeClr val="accent4"/>
            </a:solidFill>
            <a:prstDash val="solid"/>
          </a:ln>
        </p:spPr>
      </p:sp>
      <p:sp>
        <p:nvSpPr>
          <p:cNvPr id="14" name="Text 12"/>
          <p:cNvSpPr txBox="1"/>
          <p:nvPr/>
        </p:nvSpPr>
        <p:spPr>
          <a:xfrm>
            <a:off x="4608576" y="4526280"/>
            <a:ext cx="3017520" cy="566928"/>
          </a:xfrm>
          <a:prstGeom prst="rect">
            <a:avLst/>
          </a:prstGeom>
          <a:noFill/>
          <a:ln/>
        </p:spPr>
        <p:txBody>
          <a:bodyPr wrap="square" lIns="0" tIns="0" rIns="0" bIns="0" rtlCol="0" anchor="ctr"/>
          <a:lstStyle/>
          <a:p>
            <a:pPr indent="0" marL="0">
              <a:buNone/>
            </a:pPr>
            <a:r>
              <a:rPr lang="en-US" sz="1300" b="1" dirty="0">
                <a:solidFill>
                  <a:schemeClr val="tx1"/>
                </a:solidFill>
              </a:rPr>
              <a:t>Can't design a test? Rethink the requirement</a:t>
            </a:r>
            <a:endParaRPr lang="en-US" sz="1300" dirty="0"/>
          </a:p>
        </p:txBody>
      </p:sp>
      <p:sp>
        <p:nvSpPr>
          <p:cNvPr id="15" name="Card"/>
          <p:cNvSpPr/>
          <p:nvPr/>
        </p:nvSpPr>
        <p:spPr>
          <a:xfrm>
            <a:off x="8001000" y="4526280"/>
            <a:ext cx="3383280" cy="566928"/>
          </a:xfrm>
          <a:prstGeom prst="roundRect">
            <a:avLst>
              <a:gd name="adj" fmla="val 12903"/>
            </a:avLst>
          </a:prstGeom>
          <a:solidFill>
            <a:schemeClr val="tx1"/>
          </a:solidFill>
          <a:ln w="6350">
            <a:solidFill>
              <a:schemeClr val="tx1"/>
            </a:solidFill>
            <a:prstDash val="solid"/>
          </a:ln>
        </p:spPr>
      </p:sp>
      <p:sp>
        <p:nvSpPr>
          <p:cNvPr id="16" name="Text 14"/>
          <p:cNvSpPr txBox="1"/>
          <p:nvPr/>
        </p:nvSpPr>
        <p:spPr>
          <a:xfrm>
            <a:off x="8202168" y="4526280"/>
            <a:ext cx="3017520" cy="566928"/>
          </a:xfrm>
          <a:prstGeom prst="rect">
            <a:avLst/>
          </a:prstGeom>
          <a:noFill/>
          <a:ln/>
        </p:spPr>
        <p:txBody>
          <a:bodyPr wrap="square" lIns="0" tIns="0" rIns="0" bIns="0" rtlCol="0" anchor="ctr"/>
          <a:lstStyle/>
          <a:p>
            <a:pPr indent="0" marL="0">
              <a:buNone/>
            </a:pPr>
            <a:r>
              <a:rPr lang="en-US" sz="1300" b="1" dirty="0">
                <a:solidFill>
                  <a:schemeClr val="bg2"/>
                </a:solidFill>
              </a:rPr>
              <a:t>Tests come from the requirement, not from the code</a:t>
            </a:r>
            <a:endParaRPr lang="en-US" sz="1300" dirty="0"/>
          </a:p>
        </p:txBody>
      </p:sp>
      <p:sp>
        <p:nvSpPr>
          <p:cNvPr id="17" name="Callout"/>
          <p:cNvSpPr/>
          <p:nvPr/>
        </p:nvSpPr>
        <p:spPr>
          <a:xfrm>
            <a:off x="813816" y="5230368"/>
            <a:ext cx="10570464" cy="566928"/>
          </a:xfrm>
          <a:prstGeom prst="roundRect">
            <a:avLst>
              <a:gd name="adj" fmla="val 9677"/>
            </a:avLst>
          </a:prstGeom>
          <a:solidFill>
            <a:schemeClr val="tx1"/>
          </a:solidFill>
          <a:ln w="6350">
            <a:solidFill>
              <a:schemeClr val="tx1"/>
            </a:solidFill>
            <a:prstDash val="solid"/>
          </a:ln>
        </p:spPr>
      </p:sp>
      <p:sp>
        <p:nvSpPr>
          <p:cNvPr id="18" name="Text 16"/>
          <p:cNvSpPr txBox="1"/>
          <p:nvPr/>
        </p:nvSpPr>
        <p:spPr>
          <a:xfrm>
            <a:off x="1069848" y="523036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At MDS you wrote acceptance criteria inside user stories. Here each one becomes tests linked back to its requirement. Running them well: W7, with Petru.</a:t>
            </a:r>
            <a:endParaRPr lang="en-US" sz="1400" dirty="0"/>
          </a:p>
        </p:txBody>
      </p:sp>
      <p:sp>
        <p:nvSpPr>
          <p:cNvPr id="19" name="Text 17"/>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Sommerville, Software Engineering, 10th ed., §4.5, p. 130; §8.3.1, p. 245–246; §3.2.3, p. 82. Third box: course content.</a:t>
            </a:r>
            <a:endParaRPr lang="en-US" sz="1100" dirty="0"/>
          </a:p>
        </p:txBody>
      </p:sp>
      <p:sp>
        <p:nvSpPr>
          <p:cNvPr id="20" name="Text 18"/>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14 / 32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WORKED EXAMPLE · LIBRARY SEAT BOOKING</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Five candidates, five checks</a:t>
            </a:r>
            <a:endParaRPr lang="en-US" sz="3600" dirty="0"/>
          </a:p>
        </p:txBody>
      </p:sp>
      <p:sp>
        <p:nvSpPr>
          <p:cNvPr id="4" name="Text 2"/>
          <p:cNvSpPr txBox="1"/>
          <p:nvPr/>
        </p:nvSpPr>
        <p:spPr>
          <a:xfrm>
            <a:off x="1005840" y="1938528"/>
            <a:ext cx="3931920" cy="237744"/>
          </a:xfrm>
          <a:prstGeom prst="rect">
            <a:avLst/>
          </a:prstGeom>
          <a:noFill/>
          <a:ln/>
        </p:spPr>
        <p:txBody>
          <a:bodyPr wrap="square" lIns="0" tIns="0" rIns="0" bIns="0" rtlCol="0" anchor="t"/>
          <a:lstStyle/>
          <a:p>
            <a:pPr indent="0" marL="0">
              <a:buNone/>
            </a:pPr>
            <a:r>
              <a:rPr lang="en-US" sz="1200" dirty="0">
                <a:solidFill>
                  <a:schemeClr val="accent3"/>
                </a:solidFill>
                <a:latin typeface="JetBrains Mono" pitchFamily="34" charset="0"/>
                <a:ea typeface="JetBrains Mono" pitchFamily="34" charset="-122"/>
                <a:cs typeface="JetBrains Mono" pitchFamily="34" charset="-120"/>
              </a:rPr>
              <a:t>Candidate</a:t>
            </a:r>
            <a:endParaRPr lang="en-US" sz="1200" dirty="0"/>
          </a:p>
        </p:txBody>
      </p:sp>
      <p:sp>
        <p:nvSpPr>
          <p:cNvPr id="5" name="Text 3"/>
          <p:cNvSpPr txBox="1"/>
          <p:nvPr/>
        </p:nvSpPr>
        <p:spPr>
          <a:xfrm>
            <a:off x="5074920" y="1938528"/>
            <a:ext cx="1645920" cy="237744"/>
          </a:xfrm>
          <a:prstGeom prst="rect">
            <a:avLst/>
          </a:prstGeom>
          <a:noFill/>
          <a:ln/>
        </p:spPr>
        <p:txBody>
          <a:bodyPr wrap="square" lIns="0" tIns="0" rIns="0" bIns="0" rtlCol="0" anchor="t"/>
          <a:lstStyle/>
          <a:p>
            <a:pPr indent="0" marL="0">
              <a:buNone/>
            </a:pPr>
            <a:r>
              <a:rPr lang="en-US" sz="1200" dirty="0">
                <a:solidFill>
                  <a:schemeClr val="accent3"/>
                </a:solidFill>
                <a:latin typeface="JetBrains Mono" pitchFamily="34" charset="0"/>
                <a:ea typeface="JetBrains Mono" pitchFamily="34" charset="-122"/>
                <a:cs typeface="JetBrains Mono" pitchFamily="34" charset="-120"/>
              </a:rPr>
              <a:t>Fails</a:t>
            </a:r>
            <a:endParaRPr lang="en-US" sz="1200" dirty="0"/>
          </a:p>
        </p:txBody>
      </p:sp>
      <p:sp>
        <p:nvSpPr>
          <p:cNvPr id="6" name="Text 4"/>
          <p:cNvSpPr txBox="1"/>
          <p:nvPr/>
        </p:nvSpPr>
        <p:spPr>
          <a:xfrm>
            <a:off x="6858000" y="1938528"/>
            <a:ext cx="4389120" cy="237744"/>
          </a:xfrm>
          <a:prstGeom prst="rect">
            <a:avLst/>
          </a:prstGeom>
          <a:noFill/>
          <a:ln/>
        </p:spPr>
        <p:txBody>
          <a:bodyPr wrap="square" lIns="0" tIns="0" rIns="0" bIns="0" rtlCol="0" anchor="t"/>
          <a:lstStyle/>
          <a:p>
            <a:pPr indent="0" marL="0">
              <a:buNone/>
            </a:pPr>
            <a:r>
              <a:rPr lang="en-US" sz="1200" dirty="0">
                <a:solidFill>
                  <a:schemeClr val="accent3"/>
                </a:solidFill>
                <a:latin typeface="JetBrains Mono" pitchFamily="34" charset="0"/>
                <a:ea typeface="JetBrains Mono" pitchFamily="34" charset="-122"/>
                <a:cs typeface="JetBrains Mono" pitchFamily="34" charset="-120"/>
              </a:rPr>
              <a:t>Reworked</a:t>
            </a:r>
            <a:endParaRPr lang="en-US" sz="1200" dirty="0"/>
          </a:p>
        </p:txBody>
      </p:sp>
      <p:sp>
        <p:nvSpPr>
          <p:cNvPr id="7" name="Card"/>
          <p:cNvSpPr/>
          <p:nvPr/>
        </p:nvSpPr>
        <p:spPr>
          <a:xfrm>
            <a:off x="813816" y="2240280"/>
            <a:ext cx="10570464" cy="530352"/>
          </a:xfrm>
          <a:prstGeom prst="roundRect">
            <a:avLst>
              <a:gd name="adj" fmla="val 13793"/>
            </a:avLst>
          </a:prstGeom>
          <a:solidFill>
            <a:schemeClr val="bg1"/>
          </a:solidFill>
          <a:ln w="6350">
            <a:solidFill>
              <a:schemeClr val="accent4"/>
            </a:solidFill>
            <a:prstDash val="solid"/>
          </a:ln>
        </p:spPr>
      </p:sp>
      <p:sp>
        <p:nvSpPr>
          <p:cNvPr id="8" name="Text 6"/>
          <p:cNvSpPr txBox="1"/>
          <p:nvPr/>
        </p:nvSpPr>
        <p:spPr>
          <a:xfrm>
            <a:off x="1005840" y="2240280"/>
            <a:ext cx="3931920" cy="530352"/>
          </a:xfrm>
          <a:prstGeom prst="rect">
            <a:avLst/>
          </a:prstGeom>
          <a:noFill/>
          <a:ln/>
        </p:spPr>
        <p:txBody>
          <a:bodyPr wrap="square" lIns="0" tIns="0" rIns="0" bIns="0" rtlCol="0" anchor="ctr"/>
          <a:lstStyle/>
          <a:p>
            <a:pPr indent="0" marL="0">
              <a:buNone/>
            </a:pPr>
            <a:r>
              <a:rPr lang="en-US" sz="1300" b="1" dirty="0">
                <a:solidFill>
                  <a:schemeClr val="tx1"/>
                </a:solidFill>
              </a:rPr>
              <a:t>“The app should be fast.”</a:t>
            </a:r>
            <a:endParaRPr lang="en-US" sz="1300" dirty="0"/>
          </a:p>
        </p:txBody>
      </p:sp>
      <p:sp>
        <p:nvSpPr>
          <p:cNvPr id="9" name="Check tag"/>
          <p:cNvSpPr/>
          <p:nvPr/>
        </p:nvSpPr>
        <p:spPr>
          <a:xfrm>
            <a:off x="5029200" y="2350008"/>
            <a:ext cx="1600200" cy="310896"/>
          </a:xfrm>
          <a:prstGeom prst="roundRect">
            <a:avLst>
              <a:gd name="adj" fmla="val 23529"/>
            </a:avLst>
          </a:prstGeom>
          <a:solidFill>
            <a:schemeClr val="tx1"/>
          </a:solidFill>
          <a:ln w="6350">
            <a:solidFill>
              <a:schemeClr val="tx1"/>
            </a:solidFill>
            <a:prstDash val="solid"/>
          </a:ln>
        </p:spPr>
      </p:sp>
      <p:sp>
        <p:nvSpPr>
          <p:cNvPr id="10" name="Text 8"/>
          <p:cNvSpPr txBox="1"/>
          <p:nvPr/>
        </p:nvSpPr>
        <p:spPr>
          <a:xfrm>
            <a:off x="5029200" y="2350008"/>
            <a:ext cx="160020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JetBrains Mono" pitchFamily="34" charset="0"/>
                <a:ea typeface="JetBrains Mono" pitchFamily="34" charset="-122"/>
                <a:cs typeface="JetBrains Mono" pitchFamily="34" charset="-120"/>
              </a:rPr>
              <a:t>Verifiability</a:t>
            </a:r>
            <a:endParaRPr lang="en-US" sz="1200" dirty="0"/>
          </a:p>
        </p:txBody>
      </p:sp>
      <p:sp>
        <p:nvSpPr>
          <p:cNvPr id="11" name="Text 9"/>
          <p:cNvSpPr txBox="1"/>
          <p:nvPr/>
        </p:nvSpPr>
        <p:spPr>
          <a:xfrm>
            <a:off x="6858000" y="2240280"/>
            <a:ext cx="4389120" cy="530352"/>
          </a:xfrm>
          <a:prstGeom prst="rect">
            <a:avLst/>
          </a:prstGeom>
          <a:noFill/>
          <a:ln/>
        </p:spPr>
        <p:txBody>
          <a:bodyPr wrap="square" lIns="0" tIns="0" rIns="0" bIns="0" rtlCol="0" anchor="ctr"/>
          <a:lstStyle/>
          <a:p>
            <a:pPr indent="0" marL="0">
              <a:buNone/>
            </a:pPr>
            <a:r>
              <a:rPr lang="en-US" sz="1300" dirty="0">
                <a:solidFill>
                  <a:schemeClr val="tx2"/>
                </a:solidFill>
              </a:rPr>
              <a:t>The seat map loads in under 2 s for 95% of requests during the exam session.</a:t>
            </a:r>
            <a:endParaRPr lang="en-US" sz="1300" dirty="0"/>
          </a:p>
        </p:txBody>
      </p:sp>
      <p:sp>
        <p:nvSpPr>
          <p:cNvPr id="12" name="Card"/>
          <p:cNvSpPr/>
          <p:nvPr/>
        </p:nvSpPr>
        <p:spPr>
          <a:xfrm>
            <a:off x="813816" y="2843784"/>
            <a:ext cx="10570464" cy="530352"/>
          </a:xfrm>
          <a:prstGeom prst="roundRect">
            <a:avLst>
              <a:gd name="adj" fmla="val 13793"/>
            </a:avLst>
          </a:prstGeom>
          <a:solidFill>
            <a:schemeClr val="bg1"/>
          </a:solidFill>
          <a:ln w="6350">
            <a:solidFill>
              <a:schemeClr val="accent4"/>
            </a:solidFill>
            <a:prstDash val="solid"/>
          </a:ln>
        </p:spPr>
      </p:sp>
      <p:sp>
        <p:nvSpPr>
          <p:cNvPr id="13" name="Text 11"/>
          <p:cNvSpPr txBox="1"/>
          <p:nvPr/>
        </p:nvSpPr>
        <p:spPr>
          <a:xfrm>
            <a:off x="1005840" y="2843784"/>
            <a:ext cx="3931920" cy="530352"/>
          </a:xfrm>
          <a:prstGeom prst="rect">
            <a:avLst/>
          </a:prstGeom>
          <a:noFill/>
          <a:ln/>
        </p:spPr>
        <p:txBody>
          <a:bodyPr wrap="square" lIns="0" tIns="0" rIns="0" bIns="0" rtlCol="0" anchor="ctr"/>
          <a:lstStyle/>
          <a:p>
            <a:pPr indent="0" marL="0">
              <a:buNone/>
            </a:pPr>
            <a:r>
              <a:rPr lang="en-US" sz="1300" b="1" dirty="0">
                <a:solidFill>
                  <a:schemeClr val="tx1"/>
                </a:solidFill>
              </a:rPr>
              <a:t>“Students book with their university account.”</a:t>
            </a:r>
            <a:endParaRPr lang="en-US" sz="1300" dirty="0"/>
          </a:p>
        </p:txBody>
      </p:sp>
      <p:sp>
        <p:nvSpPr>
          <p:cNvPr id="14" name="Check tag"/>
          <p:cNvSpPr/>
          <p:nvPr/>
        </p:nvSpPr>
        <p:spPr>
          <a:xfrm>
            <a:off x="5029200" y="2953512"/>
            <a:ext cx="1600200" cy="310896"/>
          </a:xfrm>
          <a:prstGeom prst="roundRect">
            <a:avLst>
              <a:gd name="adj" fmla="val 23529"/>
            </a:avLst>
          </a:prstGeom>
          <a:solidFill>
            <a:schemeClr val="tx1"/>
          </a:solidFill>
          <a:ln w="6350">
            <a:solidFill>
              <a:schemeClr val="tx1"/>
            </a:solidFill>
            <a:prstDash val="solid"/>
          </a:ln>
        </p:spPr>
      </p:sp>
      <p:sp>
        <p:nvSpPr>
          <p:cNvPr id="15" name="Text 13"/>
          <p:cNvSpPr txBox="1"/>
          <p:nvPr/>
        </p:nvSpPr>
        <p:spPr>
          <a:xfrm>
            <a:off x="5029200" y="2953512"/>
            <a:ext cx="160020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JetBrains Mono" pitchFamily="34" charset="0"/>
                <a:ea typeface="JetBrains Mono" pitchFamily="34" charset="-122"/>
                <a:cs typeface="JetBrains Mono" pitchFamily="34" charset="-120"/>
              </a:rPr>
              <a:t>Validity</a:t>
            </a:r>
            <a:endParaRPr lang="en-US" sz="1200" dirty="0"/>
          </a:p>
        </p:txBody>
      </p:sp>
      <p:sp>
        <p:nvSpPr>
          <p:cNvPr id="16" name="Text 14"/>
          <p:cNvSpPr txBox="1"/>
          <p:nvPr/>
        </p:nvSpPr>
        <p:spPr>
          <a:xfrm>
            <a:off x="6858000" y="2843784"/>
            <a:ext cx="4389120" cy="530352"/>
          </a:xfrm>
          <a:prstGeom prst="rect">
            <a:avLst/>
          </a:prstGeom>
          <a:noFill/>
          <a:ln/>
        </p:spPr>
        <p:txBody>
          <a:bodyPr wrap="square" lIns="0" tIns="0" rIns="0" bIns="0" rtlCol="0" anchor="ctr"/>
          <a:lstStyle/>
          <a:p>
            <a:pPr indent="0" marL="0">
              <a:buNone/>
            </a:pPr>
            <a:r>
              <a:rPr lang="en-US" sz="1300" dirty="0">
                <a:solidFill>
                  <a:schemeClr val="tx2"/>
                </a:solidFill>
              </a:rPr>
              <a:t>Doctoral students and staff use the rooms too: observed, never said.</a:t>
            </a:r>
            <a:endParaRPr lang="en-US" sz="1300" dirty="0"/>
          </a:p>
        </p:txBody>
      </p:sp>
      <p:sp>
        <p:nvSpPr>
          <p:cNvPr id="17" name="Card"/>
          <p:cNvSpPr/>
          <p:nvPr/>
        </p:nvSpPr>
        <p:spPr>
          <a:xfrm>
            <a:off x="813816" y="3447288"/>
            <a:ext cx="10570464" cy="530352"/>
          </a:xfrm>
          <a:prstGeom prst="roundRect">
            <a:avLst>
              <a:gd name="adj" fmla="val 13793"/>
            </a:avLst>
          </a:prstGeom>
          <a:solidFill>
            <a:schemeClr val="bg1"/>
          </a:solidFill>
          <a:ln w="6350">
            <a:solidFill>
              <a:schemeClr val="accent4"/>
            </a:solidFill>
            <a:prstDash val="solid"/>
          </a:ln>
        </p:spPr>
      </p:sp>
      <p:sp>
        <p:nvSpPr>
          <p:cNvPr id="18" name="Text 16"/>
          <p:cNvSpPr txBox="1"/>
          <p:nvPr/>
        </p:nvSpPr>
        <p:spPr>
          <a:xfrm>
            <a:off x="1005840" y="3447288"/>
            <a:ext cx="3931920" cy="530352"/>
          </a:xfrm>
          <a:prstGeom prst="rect">
            <a:avLst/>
          </a:prstGeom>
          <a:noFill/>
          <a:ln/>
        </p:spPr>
        <p:txBody>
          <a:bodyPr wrap="square" lIns="0" tIns="0" rIns="0" bIns="0" rtlCol="0" anchor="ctr"/>
          <a:lstStyle/>
          <a:p>
            <a:pPr indent="0" marL="0">
              <a:buNone/>
            </a:pPr>
            <a:r>
              <a:rPr lang="en-US" sz="1300" b="1" dirty="0">
                <a:solidFill>
                  <a:schemeClr val="tx1"/>
                </a:solidFill>
              </a:rPr>
              <a:t>“A sensor on every desk detects occupancy.”</a:t>
            </a:r>
            <a:endParaRPr lang="en-US" sz="1300" dirty="0"/>
          </a:p>
        </p:txBody>
      </p:sp>
      <p:sp>
        <p:nvSpPr>
          <p:cNvPr id="19" name="Check tag"/>
          <p:cNvSpPr/>
          <p:nvPr/>
        </p:nvSpPr>
        <p:spPr>
          <a:xfrm>
            <a:off x="5029200" y="3557016"/>
            <a:ext cx="1600200" cy="310896"/>
          </a:xfrm>
          <a:prstGeom prst="roundRect">
            <a:avLst>
              <a:gd name="adj" fmla="val 23529"/>
            </a:avLst>
          </a:prstGeom>
          <a:solidFill>
            <a:schemeClr val="tx1"/>
          </a:solidFill>
          <a:ln w="6350">
            <a:solidFill>
              <a:schemeClr val="tx1"/>
            </a:solidFill>
            <a:prstDash val="solid"/>
          </a:ln>
        </p:spPr>
      </p:sp>
      <p:sp>
        <p:nvSpPr>
          <p:cNvPr id="20" name="Text 18"/>
          <p:cNvSpPr txBox="1"/>
          <p:nvPr/>
        </p:nvSpPr>
        <p:spPr>
          <a:xfrm>
            <a:off x="5029200" y="3557016"/>
            <a:ext cx="160020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JetBrains Mono" pitchFamily="34" charset="0"/>
                <a:ea typeface="JetBrains Mono" pitchFamily="34" charset="-122"/>
                <a:cs typeface="JetBrains Mono" pitchFamily="34" charset="-120"/>
              </a:rPr>
              <a:t>Realism</a:t>
            </a:r>
            <a:endParaRPr lang="en-US" sz="1200" dirty="0"/>
          </a:p>
        </p:txBody>
      </p:sp>
      <p:sp>
        <p:nvSpPr>
          <p:cNvPr id="21" name="Text 19"/>
          <p:cNvSpPr txBox="1"/>
          <p:nvPr/>
        </p:nvSpPr>
        <p:spPr>
          <a:xfrm>
            <a:off x="6858000" y="3447288"/>
            <a:ext cx="4389120" cy="530352"/>
          </a:xfrm>
          <a:prstGeom prst="rect">
            <a:avLst/>
          </a:prstGeom>
          <a:noFill/>
          <a:ln/>
        </p:spPr>
        <p:txBody>
          <a:bodyPr wrap="square" lIns="0" tIns="0" rIns="0" bIns="0" rtlCol="0" anchor="ctr"/>
          <a:lstStyle/>
          <a:p>
            <a:pPr indent="0" marL="0">
              <a:buNone/>
            </a:pPr>
            <a:r>
              <a:rPr lang="en-US" sz="1300" dirty="0">
                <a:solidFill>
                  <a:schemeClr val="tx2"/>
                </a:solidFill>
              </a:rPr>
              <a:t>QR check-in at the desk; the turnstiles already count entries.</a:t>
            </a:r>
            <a:endParaRPr lang="en-US" sz="1300" dirty="0"/>
          </a:p>
        </p:txBody>
      </p:sp>
      <p:sp>
        <p:nvSpPr>
          <p:cNvPr id="22" name="Card"/>
          <p:cNvSpPr/>
          <p:nvPr/>
        </p:nvSpPr>
        <p:spPr>
          <a:xfrm>
            <a:off x="813816" y="4050792"/>
            <a:ext cx="10570464" cy="530352"/>
          </a:xfrm>
          <a:prstGeom prst="roundRect">
            <a:avLst>
              <a:gd name="adj" fmla="val 13793"/>
            </a:avLst>
          </a:prstGeom>
          <a:solidFill>
            <a:schemeClr val="bg1"/>
          </a:solidFill>
          <a:ln w="6350">
            <a:solidFill>
              <a:schemeClr val="accent4"/>
            </a:solidFill>
            <a:prstDash val="solid"/>
          </a:ln>
        </p:spPr>
      </p:sp>
      <p:sp>
        <p:nvSpPr>
          <p:cNvPr id="23" name="Text 21"/>
          <p:cNvSpPr txBox="1"/>
          <p:nvPr/>
        </p:nvSpPr>
        <p:spPr>
          <a:xfrm>
            <a:off x="1005840" y="4050792"/>
            <a:ext cx="3931920" cy="530352"/>
          </a:xfrm>
          <a:prstGeom prst="rect">
            <a:avLst/>
          </a:prstGeom>
          <a:noFill/>
          <a:ln/>
        </p:spPr>
        <p:txBody>
          <a:bodyPr wrap="square" lIns="0" tIns="0" rIns="0" bIns="0" rtlCol="0" anchor="ctr"/>
          <a:lstStyle/>
          <a:p>
            <a:pPr indent="0" marL="0">
              <a:buNone/>
            </a:pPr>
            <a:r>
              <a:rPr lang="en-US" sz="1300" b="1" dirty="0">
                <a:solidFill>
                  <a:schemeClr val="tx1"/>
                </a:solidFill>
              </a:rPr>
              <a:t>“The director gets daily occupancy per student.”</a:t>
            </a:r>
            <a:endParaRPr lang="en-US" sz="1300" dirty="0"/>
          </a:p>
        </p:txBody>
      </p:sp>
      <p:sp>
        <p:nvSpPr>
          <p:cNvPr id="24" name="Check tag"/>
          <p:cNvSpPr/>
          <p:nvPr/>
        </p:nvSpPr>
        <p:spPr>
          <a:xfrm>
            <a:off x="5029200" y="4160520"/>
            <a:ext cx="1600200" cy="310896"/>
          </a:xfrm>
          <a:prstGeom prst="roundRect">
            <a:avLst>
              <a:gd name="adj" fmla="val 23529"/>
            </a:avLst>
          </a:prstGeom>
          <a:solidFill>
            <a:schemeClr val="tx1"/>
          </a:solidFill>
          <a:ln w="6350">
            <a:solidFill>
              <a:schemeClr val="tx1"/>
            </a:solidFill>
            <a:prstDash val="solid"/>
          </a:ln>
        </p:spPr>
      </p:sp>
      <p:sp>
        <p:nvSpPr>
          <p:cNvPr id="25" name="Text 23"/>
          <p:cNvSpPr txBox="1"/>
          <p:nvPr/>
        </p:nvSpPr>
        <p:spPr>
          <a:xfrm>
            <a:off x="5029200" y="4160520"/>
            <a:ext cx="160020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JetBrains Mono" pitchFamily="34" charset="0"/>
                <a:ea typeface="JetBrains Mono" pitchFamily="34" charset="-122"/>
                <a:cs typeface="JetBrains Mono" pitchFamily="34" charset="-120"/>
              </a:rPr>
              <a:t>Consistency</a:t>
            </a:r>
            <a:endParaRPr lang="en-US" sz="1200" dirty="0"/>
          </a:p>
        </p:txBody>
      </p:sp>
      <p:sp>
        <p:nvSpPr>
          <p:cNvPr id="26" name="Text 24"/>
          <p:cNvSpPr txBox="1"/>
          <p:nvPr/>
        </p:nvSpPr>
        <p:spPr>
          <a:xfrm>
            <a:off x="6858000" y="4050792"/>
            <a:ext cx="4389120" cy="530352"/>
          </a:xfrm>
          <a:prstGeom prst="rect">
            <a:avLst/>
          </a:prstGeom>
          <a:noFill/>
          <a:ln/>
        </p:spPr>
        <p:txBody>
          <a:bodyPr wrap="square" lIns="0" tIns="0" rIns="0" bIns="0" rtlCol="0" anchor="ctr"/>
          <a:lstStyle/>
          <a:p>
            <a:pPr indent="0" marL="0">
              <a:buNone/>
            </a:pPr>
            <a:r>
              <a:rPr lang="en-US" sz="1300" dirty="0">
                <a:solidFill>
                  <a:schemeClr val="tx2"/>
                </a:solidFill>
              </a:rPr>
              <a:t>Clashes with data minimisation (GDPR): occupancy per room and hour.</a:t>
            </a:r>
            <a:endParaRPr lang="en-US" sz="1300" dirty="0"/>
          </a:p>
        </p:txBody>
      </p:sp>
      <p:sp>
        <p:nvSpPr>
          <p:cNvPr id="27" name="Card"/>
          <p:cNvSpPr/>
          <p:nvPr/>
        </p:nvSpPr>
        <p:spPr>
          <a:xfrm>
            <a:off x="813816" y="4654296"/>
            <a:ext cx="10570464" cy="530352"/>
          </a:xfrm>
          <a:prstGeom prst="roundRect">
            <a:avLst>
              <a:gd name="adj" fmla="val 13793"/>
            </a:avLst>
          </a:prstGeom>
          <a:solidFill>
            <a:schemeClr val="bg1"/>
          </a:solidFill>
          <a:ln w="6350">
            <a:solidFill>
              <a:schemeClr val="accent4"/>
            </a:solidFill>
            <a:prstDash val="solid"/>
          </a:ln>
        </p:spPr>
      </p:sp>
      <p:sp>
        <p:nvSpPr>
          <p:cNvPr id="28" name="Text 26"/>
          <p:cNvSpPr txBox="1"/>
          <p:nvPr/>
        </p:nvSpPr>
        <p:spPr>
          <a:xfrm>
            <a:off x="1005840" y="4654296"/>
            <a:ext cx="3931920" cy="530352"/>
          </a:xfrm>
          <a:prstGeom prst="rect">
            <a:avLst/>
          </a:prstGeom>
          <a:noFill/>
          <a:ln/>
        </p:spPr>
        <p:txBody>
          <a:bodyPr wrap="square" lIns="0" tIns="0" rIns="0" bIns="0" rtlCol="0" anchor="ctr"/>
          <a:lstStyle/>
          <a:p>
            <a:pPr indent="0" marL="0">
              <a:buNone/>
            </a:pPr>
            <a:r>
              <a:rPr lang="en-US" sz="1300" b="1" dirty="0">
                <a:solidFill>
                  <a:schemeClr val="tx1"/>
                </a:solidFill>
              </a:rPr>
              <a:t>“A booking holds the seat for the whole day.”</a:t>
            </a:r>
            <a:endParaRPr lang="en-US" sz="1300" dirty="0"/>
          </a:p>
        </p:txBody>
      </p:sp>
      <p:sp>
        <p:nvSpPr>
          <p:cNvPr id="29" name="Check tag"/>
          <p:cNvSpPr/>
          <p:nvPr/>
        </p:nvSpPr>
        <p:spPr>
          <a:xfrm>
            <a:off x="5029200" y="4764024"/>
            <a:ext cx="1600200" cy="310896"/>
          </a:xfrm>
          <a:prstGeom prst="roundRect">
            <a:avLst>
              <a:gd name="adj" fmla="val 23529"/>
            </a:avLst>
          </a:prstGeom>
          <a:solidFill>
            <a:schemeClr val="tx1"/>
          </a:solidFill>
          <a:ln w="6350">
            <a:solidFill>
              <a:schemeClr val="tx1"/>
            </a:solidFill>
            <a:prstDash val="solid"/>
          </a:ln>
        </p:spPr>
      </p:sp>
      <p:sp>
        <p:nvSpPr>
          <p:cNvPr id="30" name="Text 28"/>
          <p:cNvSpPr txBox="1"/>
          <p:nvPr/>
        </p:nvSpPr>
        <p:spPr>
          <a:xfrm>
            <a:off x="5029200" y="4764024"/>
            <a:ext cx="1600200" cy="310896"/>
          </a:xfrm>
          <a:prstGeom prst="rect">
            <a:avLst/>
          </a:prstGeom>
          <a:noFill/>
          <a:ln/>
        </p:spPr>
        <p:txBody>
          <a:bodyPr wrap="square" lIns="0" tIns="0" rIns="0" bIns="0" rtlCol="0" anchor="ctr"/>
          <a:lstStyle/>
          <a:p>
            <a:pPr algn="ctr" indent="0" marL="0">
              <a:buNone/>
            </a:pPr>
            <a:r>
              <a:rPr lang="en-US" sz="1200" dirty="0">
                <a:solidFill>
                  <a:schemeClr val="accent2"/>
                </a:solidFill>
                <a:latin typeface="JetBrains Mono" pitchFamily="34" charset="0"/>
                <a:ea typeface="JetBrains Mono" pitchFamily="34" charset="-122"/>
                <a:cs typeface="JetBrains Mono" pitchFamily="34" charset="-120"/>
              </a:rPr>
              <a:t>Completeness</a:t>
            </a:r>
            <a:endParaRPr lang="en-US" sz="1200" dirty="0"/>
          </a:p>
        </p:txBody>
      </p:sp>
      <p:sp>
        <p:nvSpPr>
          <p:cNvPr id="31" name="Text 29"/>
          <p:cNvSpPr txBox="1"/>
          <p:nvPr/>
        </p:nvSpPr>
        <p:spPr>
          <a:xfrm>
            <a:off x="6858000" y="4654296"/>
            <a:ext cx="4389120" cy="530352"/>
          </a:xfrm>
          <a:prstGeom prst="rect">
            <a:avLst/>
          </a:prstGeom>
          <a:noFill/>
          <a:ln/>
        </p:spPr>
        <p:txBody>
          <a:bodyPr wrap="square" lIns="0" tIns="0" rIns="0" bIns="0" rtlCol="0" anchor="ctr"/>
          <a:lstStyle/>
          <a:p>
            <a:pPr indent="0" marL="0">
              <a:buNone/>
            </a:pPr>
            <a:r>
              <a:rPr lang="en-US" sz="1300" dirty="0">
                <a:solidFill>
                  <a:schemeClr val="tx2"/>
                </a:solidFill>
              </a:rPr>
              <a:t>No rule for no-shows: release after 30 minutes without check-in.</a:t>
            </a:r>
            <a:endParaRPr lang="en-US" sz="1300" dirty="0"/>
          </a:p>
        </p:txBody>
      </p:sp>
      <p:sp>
        <p:nvSpPr>
          <p:cNvPr id="32" name="Callout"/>
          <p:cNvSpPr/>
          <p:nvPr/>
        </p:nvSpPr>
        <p:spPr>
          <a:xfrm>
            <a:off x="813816" y="5349240"/>
            <a:ext cx="10570464" cy="502920"/>
          </a:xfrm>
          <a:prstGeom prst="roundRect">
            <a:avLst>
              <a:gd name="adj" fmla="val 10909"/>
            </a:avLst>
          </a:prstGeom>
          <a:solidFill>
            <a:schemeClr val="tx1"/>
          </a:solidFill>
          <a:ln w="6350">
            <a:solidFill>
              <a:schemeClr val="tx1"/>
            </a:solidFill>
            <a:prstDash val="solid"/>
          </a:ln>
        </p:spPr>
      </p:sp>
      <p:sp>
        <p:nvSpPr>
          <p:cNvPr id="33" name="Text 31"/>
          <p:cNvSpPr txBox="1"/>
          <p:nvPr/>
        </p:nvSpPr>
        <p:spPr>
          <a:xfrm>
            <a:off x="1069848" y="5349240"/>
            <a:ext cx="10058400" cy="502920"/>
          </a:xfrm>
          <a:prstGeom prst="rect">
            <a:avLst/>
          </a:prstGeom>
          <a:noFill/>
          <a:ln/>
        </p:spPr>
        <p:txBody>
          <a:bodyPr wrap="square" lIns="0" tIns="0" rIns="0" bIns="0" rtlCol="0" anchor="ctr"/>
          <a:lstStyle/>
          <a:p>
            <a:pPr indent="0" marL="0">
              <a:buNone/>
            </a:pPr>
            <a:r>
              <a:rPr lang="en-US" sz="1400" dirty="0">
                <a:solidFill>
                  <a:schemeClr val="bg2"/>
                </a:solidFill>
              </a:rPr>
              <a:t>Last week's backpacks, turnstiles and director are back: as the no-show rule, the realistic alternative, and the conflict.</a:t>
            </a:r>
            <a:endParaRPr lang="en-US" sz="1400" dirty="0"/>
          </a:p>
        </p:txBody>
      </p:sp>
      <p:sp>
        <p:nvSpPr>
          <p:cNvPr id="34" name="Text 32"/>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Illustrative example. Checks: Sommerville, Software Engineering, 10th ed., §4.5, p. 129.</a:t>
            </a:r>
            <a:endParaRPr lang="en-US" sz="1100" dirty="0"/>
          </a:p>
        </p:txBody>
      </p:sp>
      <p:sp>
        <p:nvSpPr>
          <p:cNvPr id="35" name="Text 33"/>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15 / 32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NEGOTIATION</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“Five nines”: translate before you argue</a:t>
            </a:r>
            <a:endParaRPr lang="en-US" sz="3600" dirty="0"/>
          </a:p>
        </p:txBody>
      </p:sp>
      <p:sp>
        <p:nvSpPr>
          <p:cNvPr id="4" name="Card"/>
          <p:cNvSpPr/>
          <p:nvPr/>
        </p:nvSpPr>
        <p:spPr>
          <a:xfrm>
            <a:off x="813816" y="2057400"/>
            <a:ext cx="4480560" cy="2926080"/>
          </a:xfrm>
          <a:prstGeom prst="roundRect">
            <a:avLst>
              <a:gd name="adj" fmla="val 2500"/>
            </a:avLst>
          </a:prstGeom>
          <a:solidFill>
            <a:schemeClr val="bg1"/>
          </a:solidFill>
          <a:ln w="6350">
            <a:solidFill>
              <a:schemeClr val="accent4"/>
            </a:solidFill>
            <a:prstDash val="solid"/>
          </a:ln>
        </p:spPr>
      </p:sp>
      <p:sp>
        <p:nvSpPr>
          <p:cNvPr id="5" name="Text 3"/>
          <p:cNvSpPr txBox="1"/>
          <p:nvPr/>
        </p:nvSpPr>
        <p:spPr>
          <a:xfrm>
            <a:off x="1069848" y="2212848"/>
            <a:ext cx="40233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Downtime allowed · Table 23-1</a:t>
            </a:r>
            <a:endParaRPr lang="en-US" sz="1200" dirty="0"/>
          </a:p>
        </p:txBody>
      </p:sp>
      <p:sp>
        <p:nvSpPr>
          <p:cNvPr id="6" name="Text 4"/>
          <p:cNvSpPr txBox="1"/>
          <p:nvPr/>
        </p:nvSpPr>
        <p:spPr>
          <a:xfrm>
            <a:off x="1069848" y="2560320"/>
            <a:ext cx="1188720" cy="228600"/>
          </a:xfrm>
          <a:prstGeom prst="rect">
            <a:avLst/>
          </a:prstGeom>
          <a:noFill/>
          <a:ln/>
        </p:spPr>
        <p:txBody>
          <a:bodyPr wrap="square" lIns="0" tIns="0" rIns="0" bIns="0" rtlCol="0" anchor="t"/>
          <a:lstStyle/>
          <a:p>
            <a:pPr indent="0" marL="0">
              <a:buNone/>
            </a:pPr>
            <a:r>
              <a:rPr lang="en-US" sz="1100" dirty="0">
                <a:solidFill>
                  <a:schemeClr val="accent3"/>
                </a:solidFill>
              </a:rPr>
              <a:t>uptime</a:t>
            </a:r>
            <a:endParaRPr lang="en-US" sz="1100" dirty="0"/>
          </a:p>
        </p:txBody>
      </p:sp>
      <p:sp>
        <p:nvSpPr>
          <p:cNvPr id="7" name="Text 5"/>
          <p:cNvSpPr txBox="1"/>
          <p:nvPr/>
        </p:nvSpPr>
        <p:spPr>
          <a:xfrm>
            <a:off x="2331720" y="2560320"/>
            <a:ext cx="1554480" cy="228600"/>
          </a:xfrm>
          <a:prstGeom prst="rect">
            <a:avLst/>
          </a:prstGeom>
          <a:noFill/>
          <a:ln/>
        </p:spPr>
        <p:txBody>
          <a:bodyPr wrap="square" lIns="0" tIns="0" rIns="0" bIns="0" rtlCol="0" anchor="t"/>
          <a:lstStyle/>
          <a:p>
            <a:pPr indent="0" marL="0">
              <a:buNone/>
            </a:pPr>
            <a:r>
              <a:rPr lang="en-US" sz="1100" dirty="0">
                <a:solidFill>
                  <a:schemeClr val="accent3"/>
                </a:solidFill>
              </a:rPr>
              <a:t>per year</a:t>
            </a:r>
            <a:endParaRPr lang="en-US" sz="1100" dirty="0"/>
          </a:p>
        </p:txBody>
      </p:sp>
      <p:sp>
        <p:nvSpPr>
          <p:cNvPr id="8" name="Text 6"/>
          <p:cNvSpPr txBox="1"/>
          <p:nvPr/>
        </p:nvSpPr>
        <p:spPr>
          <a:xfrm>
            <a:off x="3931920" y="2560320"/>
            <a:ext cx="1097280" cy="228600"/>
          </a:xfrm>
          <a:prstGeom prst="rect">
            <a:avLst/>
          </a:prstGeom>
          <a:noFill/>
          <a:ln/>
        </p:spPr>
        <p:txBody>
          <a:bodyPr wrap="square" lIns="0" tIns="0" rIns="0" bIns="0" rtlCol="0" anchor="t"/>
          <a:lstStyle/>
          <a:p>
            <a:pPr indent="0" marL="0">
              <a:buNone/>
            </a:pPr>
            <a:r>
              <a:rPr lang="en-US" sz="1100" dirty="0">
                <a:solidFill>
                  <a:schemeClr val="accent3"/>
                </a:solidFill>
              </a:rPr>
              <a:t>per day</a:t>
            </a:r>
            <a:endParaRPr lang="en-US" sz="1100" dirty="0"/>
          </a:p>
        </p:txBody>
      </p:sp>
      <p:sp>
        <p:nvSpPr>
          <p:cNvPr id="9" name="Text 7"/>
          <p:cNvSpPr txBox="1"/>
          <p:nvPr/>
        </p:nvSpPr>
        <p:spPr>
          <a:xfrm>
            <a:off x="1069848" y="2852928"/>
            <a:ext cx="1234440" cy="411480"/>
          </a:xfrm>
          <a:prstGeom prst="rect">
            <a:avLst/>
          </a:prstGeom>
          <a:noFill/>
          <a:ln/>
        </p:spPr>
        <p:txBody>
          <a:bodyPr wrap="square" lIns="0" tIns="0" rIns="0" bIns="0" rtlCol="0" anchor="t"/>
          <a:lstStyle/>
          <a:p>
            <a:pPr indent="0" marL="0">
              <a:buNone/>
            </a:pPr>
            <a:r>
              <a:rPr lang="en-US" sz="1800" b="1" dirty="0">
                <a:solidFill>
                  <a:schemeClr val="tx1"/>
                </a:solidFill>
              </a:rPr>
              <a:t>99%</a:t>
            </a:r>
            <a:endParaRPr lang="en-US" sz="1800" dirty="0"/>
          </a:p>
        </p:txBody>
      </p:sp>
      <p:sp>
        <p:nvSpPr>
          <p:cNvPr id="10" name="Text 8"/>
          <p:cNvSpPr txBox="1"/>
          <p:nvPr/>
        </p:nvSpPr>
        <p:spPr>
          <a:xfrm>
            <a:off x="2331720" y="2852928"/>
            <a:ext cx="1600200" cy="411480"/>
          </a:xfrm>
          <a:prstGeom prst="rect">
            <a:avLst/>
          </a:prstGeom>
          <a:noFill/>
          <a:ln/>
        </p:spPr>
        <p:txBody>
          <a:bodyPr wrap="square" lIns="0" tIns="0" rIns="0" bIns="0" rtlCol="0" anchor="t"/>
          <a:lstStyle/>
          <a:p>
            <a:pPr indent="0" marL="0">
              <a:buNone/>
            </a:pPr>
            <a:r>
              <a:rPr lang="en-US" sz="1500" dirty="0">
                <a:solidFill>
                  <a:schemeClr val="tx1"/>
                </a:solidFill>
              </a:rPr>
              <a:t>87 h 46 min</a:t>
            </a:r>
            <a:endParaRPr lang="en-US" sz="1500" dirty="0"/>
          </a:p>
        </p:txBody>
      </p:sp>
      <p:sp>
        <p:nvSpPr>
          <p:cNvPr id="11" name="Text 9"/>
          <p:cNvSpPr txBox="1"/>
          <p:nvPr/>
        </p:nvSpPr>
        <p:spPr>
          <a:xfrm>
            <a:off x="3931920" y="2852928"/>
            <a:ext cx="1188720" cy="411480"/>
          </a:xfrm>
          <a:prstGeom prst="rect">
            <a:avLst/>
          </a:prstGeom>
          <a:noFill/>
          <a:ln/>
        </p:spPr>
        <p:txBody>
          <a:bodyPr wrap="square" lIns="0" tIns="0" rIns="0" bIns="0" rtlCol="0" anchor="t"/>
          <a:lstStyle/>
          <a:p>
            <a:pPr indent="0" marL="0">
              <a:buNone/>
            </a:pPr>
            <a:r>
              <a:rPr lang="en-US" sz="1500" dirty="0">
                <a:solidFill>
                  <a:schemeClr val="tx1"/>
                </a:solidFill>
              </a:rPr>
              <a:t>14 min</a:t>
            </a:r>
            <a:endParaRPr lang="en-US" sz="1500" dirty="0"/>
          </a:p>
        </p:txBody>
      </p:sp>
      <p:sp>
        <p:nvSpPr>
          <p:cNvPr id="12" name="Text 10"/>
          <p:cNvSpPr txBox="1"/>
          <p:nvPr/>
        </p:nvSpPr>
        <p:spPr>
          <a:xfrm>
            <a:off x="1069848" y="3355848"/>
            <a:ext cx="1234440" cy="411480"/>
          </a:xfrm>
          <a:prstGeom prst="rect">
            <a:avLst/>
          </a:prstGeom>
          <a:noFill/>
          <a:ln/>
        </p:spPr>
        <p:txBody>
          <a:bodyPr wrap="square" lIns="0" tIns="0" rIns="0" bIns="0" rtlCol="0" anchor="t"/>
          <a:lstStyle/>
          <a:p>
            <a:pPr indent="0" marL="0">
              <a:buNone/>
            </a:pPr>
            <a:r>
              <a:rPr lang="en-US" sz="1800" b="1" dirty="0">
                <a:solidFill>
                  <a:schemeClr val="tx1"/>
                </a:solidFill>
              </a:rPr>
              <a:t>99.9%</a:t>
            </a:r>
            <a:endParaRPr lang="en-US" sz="1800" dirty="0"/>
          </a:p>
        </p:txBody>
      </p:sp>
      <p:sp>
        <p:nvSpPr>
          <p:cNvPr id="13" name="Text 11"/>
          <p:cNvSpPr txBox="1"/>
          <p:nvPr/>
        </p:nvSpPr>
        <p:spPr>
          <a:xfrm>
            <a:off x="2331720" y="3355848"/>
            <a:ext cx="1600200" cy="411480"/>
          </a:xfrm>
          <a:prstGeom prst="rect">
            <a:avLst/>
          </a:prstGeom>
          <a:noFill/>
          <a:ln/>
        </p:spPr>
        <p:txBody>
          <a:bodyPr wrap="square" lIns="0" tIns="0" rIns="0" bIns="0" rtlCol="0" anchor="t"/>
          <a:lstStyle/>
          <a:p>
            <a:pPr indent="0" marL="0">
              <a:buNone/>
            </a:pPr>
            <a:r>
              <a:rPr lang="en-US" sz="1500" dirty="0">
                <a:solidFill>
                  <a:schemeClr val="tx1"/>
                </a:solidFill>
              </a:rPr>
              <a:t>8 h 46 min</a:t>
            </a:r>
            <a:endParaRPr lang="en-US" sz="1500" dirty="0"/>
          </a:p>
        </p:txBody>
      </p:sp>
      <p:sp>
        <p:nvSpPr>
          <p:cNvPr id="14" name="Text 12"/>
          <p:cNvSpPr txBox="1"/>
          <p:nvPr/>
        </p:nvSpPr>
        <p:spPr>
          <a:xfrm>
            <a:off x="3931920" y="3355848"/>
            <a:ext cx="1188720" cy="411480"/>
          </a:xfrm>
          <a:prstGeom prst="rect">
            <a:avLst/>
          </a:prstGeom>
          <a:noFill/>
          <a:ln/>
        </p:spPr>
        <p:txBody>
          <a:bodyPr wrap="square" lIns="0" tIns="0" rIns="0" bIns="0" rtlCol="0" anchor="t"/>
          <a:lstStyle/>
          <a:p>
            <a:pPr indent="0" marL="0">
              <a:buNone/>
            </a:pPr>
            <a:r>
              <a:rPr lang="en-US" sz="1500" dirty="0">
                <a:solidFill>
                  <a:schemeClr val="tx1"/>
                </a:solidFill>
              </a:rPr>
              <a:t>86 s</a:t>
            </a:r>
            <a:endParaRPr lang="en-US" sz="1500" dirty="0"/>
          </a:p>
        </p:txBody>
      </p:sp>
      <p:sp>
        <p:nvSpPr>
          <p:cNvPr id="15" name="Text 13"/>
          <p:cNvSpPr txBox="1"/>
          <p:nvPr/>
        </p:nvSpPr>
        <p:spPr>
          <a:xfrm>
            <a:off x="1069848" y="3858768"/>
            <a:ext cx="1234440" cy="411480"/>
          </a:xfrm>
          <a:prstGeom prst="rect">
            <a:avLst/>
          </a:prstGeom>
          <a:noFill/>
          <a:ln/>
        </p:spPr>
        <p:txBody>
          <a:bodyPr wrap="square" lIns="0" tIns="0" rIns="0" bIns="0" rtlCol="0" anchor="t"/>
          <a:lstStyle/>
          <a:p>
            <a:pPr indent="0" marL="0">
              <a:buNone/>
            </a:pPr>
            <a:r>
              <a:rPr lang="en-US" sz="1800" b="1" dirty="0">
                <a:solidFill>
                  <a:schemeClr val="tx1"/>
                </a:solidFill>
              </a:rPr>
              <a:t>99.99%</a:t>
            </a:r>
            <a:endParaRPr lang="en-US" sz="1800" dirty="0"/>
          </a:p>
        </p:txBody>
      </p:sp>
      <p:sp>
        <p:nvSpPr>
          <p:cNvPr id="16" name="Text 14"/>
          <p:cNvSpPr txBox="1"/>
          <p:nvPr/>
        </p:nvSpPr>
        <p:spPr>
          <a:xfrm>
            <a:off x="2331720" y="3858768"/>
            <a:ext cx="1600200" cy="411480"/>
          </a:xfrm>
          <a:prstGeom prst="rect">
            <a:avLst/>
          </a:prstGeom>
          <a:noFill/>
          <a:ln/>
        </p:spPr>
        <p:txBody>
          <a:bodyPr wrap="square" lIns="0" tIns="0" rIns="0" bIns="0" rtlCol="0" anchor="t"/>
          <a:lstStyle/>
          <a:p>
            <a:pPr indent="0" marL="0">
              <a:buNone/>
            </a:pPr>
            <a:r>
              <a:rPr lang="en-US" sz="1500" dirty="0">
                <a:solidFill>
                  <a:schemeClr val="tx1"/>
                </a:solidFill>
              </a:rPr>
              <a:t>52 min 33 s</a:t>
            </a:r>
            <a:endParaRPr lang="en-US" sz="1500" dirty="0"/>
          </a:p>
        </p:txBody>
      </p:sp>
      <p:sp>
        <p:nvSpPr>
          <p:cNvPr id="17" name="Text 15"/>
          <p:cNvSpPr txBox="1"/>
          <p:nvPr/>
        </p:nvSpPr>
        <p:spPr>
          <a:xfrm>
            <a:off x="3931920" y="3858768"/>
            <a:ext cx="1188720" cy="411480"/>
          </a:xfrm>
          <a:prstGeom prst="rect">
            <a:avLst/>
          </a:prstGeom>
          <a:noFill/>
          <a:ln/>
        </p:spPr>
        <p:txBody>
          <a:bodyPr wrap="square" lIns="0" tIns="0" rIns="0" bIns="0" rtlCol="0" anchor="t"/>
          <a:lstStyle/>
          <a:p>
            <a:pPr indent="0" marL="0">
              <a:buNone/>
            </a:pPr>
            <a:r>
              <a:rPr lang="en-US" sz="1500" dirty="0">
                <a:solidFill>
                  <a:schemeClr val="tx1"/>
                </a:solidFill>
              </a:rPr>
              <a:t>7 s</a:t>
            </a:r>
            <a:endParaRPr lang="en-US" sz="1500" dirty="0"/>
          </a:p>
        </p:txBody>
      </p:sp>
      <p:sp>
        <p:nvSpPr>
          <p:cNvPr id="18" name="Text 16"/>
          <p:cNvSpPr txBox="1"/>
          <p:nvPr/>
        </p:nvSpPr>
        <p:spPr>
          <a:xfrm>
            <a:off x="1069848" y="4361688"/>
            <a:ext cx="1234440" cy="411480"/>
          </a:xfrm>
          <a:prstGeom prst="rect">
            <a:avLst/>
          </a:prstGeom>
          <a:noFill/>
          <a:ln/>
        </p:spPr>
        <p:txBody>
          <a:bodyPr wrap="square" lIns="0" tIns="0" rIns="0" bIns="0" rtlCol="0" anchor="t"/>
          <a:lstStyle/>
          <a:p>
            <a:pPr indent="0" marL="0">
              <a:buNone/>
            </a:pPr>
            <a:r>
              <a:rPr lang="en-US" sz="1800" b="1" dirty="0">
                <a:solidFill>
                  <a:schemeClr val="accent1"/>
                </a:solidFill>
              </a:rPr>
              <a:t>99.999%</a:t>
            </a:r>
            <a:endParaRPr lang="en-US" sz="1800" dirty="0"/>
          </a:p>
        </p:txBody>
      </p:sp>
      <p:sp>
        <p:nvSpPr>
          <p:cNvPr id="19" name="Text 17"/>
          <p:cNvSpPr txBox="1"/>
          <p:nvPr/>
        </p:nvSpPr>
        <p:spPr>
          <a:xfrm>
            <a:off x="2331720" y="4361688"/>
            <a:ext cx="1600200" cy="411480"/>
          </a:xfrm>
          <a:prstGeom prst="rect">
            <a:avLst/>
          </a:prstGeom>
          <a:noFill/>
          <a:ln/>
        </p:spPr>
        <p:txBody>
          <a:bodyPr wrap="square" lIns="0" tIns="0" rIns="0" bIns="0" rtlCol="0" anchor="t"/>
          <a:lstStyle/>
          <a:p>
            <a:pPr indent="0" marL="0">
              <a:buNone/>
            </a:pPr>
            <a:r>
              <a:rPr lang="en-US" sz="1500" dirty="0">
                <a:solidFill>
                  <a:schemeClr val="tx1"/>
                </a:solidFill>
              </a:rPr>
              <a:t>5 min 35 s</a:t>
            </a:r>
            <a:endParaRPr lang="en-US" sz="1500" dirty="0"/>
          </a:p>
        </p:txBody>
      </p:sp>
      <p:sp>
        <p:nvSpPr>
          <p:cNvPr id="20" name="Text 18"/>
          <p:cNvSpPr txBox="1"/>
          <p:nvPr/>
        </p:nvSpPr>
        <p:spPr>
          <a:xfrm>
            <a:off x="3931920" y="4361688"/>
            <a:ext cx="1188720" cy="411480"/>
          </a:xfrm>
          <a:prstGeom prst="rect">
            <a:avLst/>
          </a:prstGeom>
          <a:noFill/>
          <a:ln/>
        </p:spPr>
        <p:txBody>
          <a:bodyPr wrap="square" lIns="0" tIns="0" rIns="0" bIns="0" rtlCol="0" anchor="t"/>
          <a:lstStyle/>
          <a:p>
            <a:pPr indent="0" marL="0">
              <a:buNone/>
            </a:pPr>
            <a:r>
              <a:rPr lang="en-US" sz="1500" dirty="0">
                <a:solidFill>
                  <a:schemeClr val="tx1"/>
                </a:solidFill>
              </a:rPr>
              <a:t>1 s</a:t>
            </a:r>
            <a:endParaRPr lang="en-US" sz="1500" dirty="0"/>
          </a:p>
        </p:txBody>
      </p:sp>
      <p:sp>
        <p:nvSpPr>
          <p:cNvPr id="21" name="Card"/>
          <p:cNvSpPr/>
          <p:nvPr/>
        </p:nvSpPr>
        <p:spPr>
          <a:xfrm>
            <a:off x="5504688" y="2057400"/>
            <a:ext cx="5879592" cy="658368"/>
          </a:xfrm>
          <a:prstGeom prst="roundRect">
            <a:avLst>
              <a:gd name="adj" fmla="val 11111"/>
            </a:avLst>
          </a:prstGeom>
          <a:solidFill>
            <a:schemeClr val="bg1"/>
          </a:solidFill>
          <a:ln w="6350">
            <a:solidFill>
              <a:schemeClr val="accent4"/>
            </a:solidFill>
            <a:prstDash val="solid"/>
          </a:ln>
        </p:spPr>
      </p:sp>
      <p:sp>
        <p:nvSpPr>
          <p:cNvPr id="22" name="Text 20"/>
          <p:cNvSpPr txBox="1"/>
          <p:nvPr/>
        </p:nvSpPr>
        <p:spPr>
          <a:xfrm>
            <a:off x="5715000" y="2057400"/>
            <a:ext cx="5486400" cy="658368"/>
          </a:xfrm>
          <a:prstGeom prst="rect">
            <a:avLst/>
          </a:prstGeom>
          <a:noFill/>
          <a:ln/>
        </p:spPr>
        <p:txBody>
          <a:bodyPr wrap="square" lIns="0" tIns="0" rIns="0" bIns="0" rtlCol="0" anchor="ctr"/>
          <a:lstStyle/>
          <a:p>
            <a:pPr indent="0" marL="0">
              <a:buNone/>
            </a:pPr>
            <a:r>
              <a:rPr lang="en-US" sz="1300" b="1" dirty="0">
                <a:solidFill>
                  <a:schemeClr val="tx1"/>
                </a:solidFill>
              </a:rPr>
              <a:t>Listen to the buzzwords  </a:t>
            </a:r>
            <a:pPr indent="0" marL="0">
              <a:buNone/>
            </a:pPr>
            <a:r>
              <a:rPr lang="en-US" sz="1300" dirty="0">
                <a:solidFill>
                  <a:schemeClr val="tx2"/>
                </a:solidFill>
              </a:rPr>
              <a:t>“Zero downtime”, “I needed it yesterday”: they tell you what matters.</a:t>
            </a:r>
            <a:endParaRPr lang="en-US" sz="1300" dirty="0"/>
          </a:p>
        </p:txBody>
      </p:sp>
      <p:sp>
        <p:nvSpPr>
          <p:cNvPr id="23" name="Card"/>
          <p:cNvSpPr/>
          <p:nvPr/>
        </p:nvSpPr>
        <p:spPr>
          <a:xfrm>
            <a:off x="5504688" y="2807208"/>
            <a:ext cx="5879592" cy="658368"/>
          </a:xfrm>
          <a:prstGeom prst="roundRect">
            <a:avLst>
              <a:gd name="adj" fmla="val 11111"/>
            </a:avLst>
          </a:prstGeom>
          <a:solidFill>
            <a:schemeClr val="bg1"/>
          </a:solidFill>
          <a:ln w="6350">
            <a:solidFill>
              <a:schemeClr val="accent4"/>
            </a:solidFill>
            <a:prstDash val="solid"/>
          </a:ln>
        </p:spPr>
      </p:sp>
      <p:sp>
        <p:nvSpPr>
          <p:cNvPr id="24" name="Text 22"/>
          <p:cNvSpPr txBox="1"/>
          <p:nvPr/>
        </p:nvSpPr>
        <p:spPr>
          <a:xfrm>
            <a:off x="5715000" y="2807208"/>
            <a:ext cx="5486400" cy="658368"/>
          </a:xfrm>
          <a:prstGeom prst="rect">
            <a:avLst/>
          </a:prstGeom>
          <a:noFill/>
          <a:ln/>
        </p:spPr>
        <p:txBody>
          <a:bodyPr wrap="square" lIns="0" tIns="0" rIns="0" bIns="0" rtlCol="0" anchor="ctr"/>
          <a:lstStyle/>
          <a:p>
            <a:pPr indent="0" marL="0">
              <a:buNone/>
            </a:pPr>
            <a:r>
              <a:rPr lang="en-US" sz="1300" b="1" dirty="0">
                <a:solidFill>
                  <a:schemeClr val="tx1"/>
                </a:solidFill>
              </a:rPr>
              <a:t>Gather information first  </a:t>
            </a:r>
            <a:pPr indent="0" marL="0">
              <a:buNone/>
            </a:pPr>
            <a:r>
              <a:rPr lang="en-US" sz="1300" dirty="0">
                <a:solidFill>
                  <a:schemeClr val="tx2"/>
                </a:solidFill>
              </a:rPr>
              <a:t>Turn the nines into minutes before the meeting.</a:t>
            </a:r>
            <a:endParaRPr lang="en-US" sz="1300" dirty="0"/>
          </a:p>
        </p:txBody>
      </p:sp>
      <p:sp>
        <p:nvSpPr>
          <p:cNvPr id="25" name="Card"/>
          <p:cNvSpPr/>
          <p:nvPr/>
        </p:nvSpPr>
        <p:spPr>
          <a:xfrm>
            <a:off x="5504688" y="3557016"/>
            <a:ext cx="5879592" cy="658368"/>
          </a:xfrm>
          <a:prstGeom prst="roundRect">
            <a:avLst>
              <a:gd name="adj" fmla="val 11111"/>
            </a:avLst>
          </a:prstGeom>
          <a:solidFill>
            <a:schemeClr val="bg1"/>
          </a:solidFill>
          <a:ln w="6350">
            <a:solidFill>
              <a:schemeClr val="accent4"/>
            </a:solidFill>
            <a:prstDash val="solid"/>
          </a:ln>
        </p:spPr>
      </p:sp>
      <p:sp>
        <p:nvSpPr>
          <p:cNvPr id="26" name="Text 24"/>
          <p:cNvSpPr txBox="1"/>
          <p:nvPr/>
        </p:nvSpPr>
        <p:spPr>
          <a:xfrm>
            <a:off x="5715000" y="3557016"/>
            <a:ext cx="5486400" cy="658368"/>
          </a:xfrm>
          <a:prstGeom prst="rect">
            <a:avLst/>
          </a:prstGeom>
          <a:noFill/>
          <a:ln/>
        </p:spPr>
        <p:txBody>
          <a:bodyPr wrap="square" lIns="0" tIns="0" rIns="0" bIns="0" rtlCol="0" anchor="ctr"/>
          <a:lstStyle/>
          <a:p>
            <a:pPr indent="0" marL="0">
              <a:buNone/>
            </a:pPr>
            <a:r>
              <a:rPr lang="en-US" sz="1300" b="1" dirty="0">
                <a:solidFill>
                  <a:schemeClr val="tx1"/>
                </a:solidFill>
              </a:rPr>
              <a:t>Divide and conquer  </a:t>
            </a:r>
            <a:pPr indent="0" marL="0">
              <a:buNone/>
            </a:pPr>
            <a:r>
              <a:rPr lang="en-US" sz="1300" dirty="0">
                <a:solidFill>
                  <a:schemeClr val="tx2"/>
                </a:solidFill>
              </a:rPr>
              <a:t>Does the whole system need it, or one part?</a:t>
            </a:r>
            <a:endParaRPr lang="en-US" sz="1300" dirty="0"/>
          </a:p>
        </p:txBody>
      </p:sp>
      <p:sp>
        <p:nvSpPr>
          <p:cNvPr id="27" name="Card"/>
          <p:cNvSpPr/>
          <p:nvPr/>
        </p:nvSpPr>
        <p:spPr>
          <a:xfrm>
            <a:off x="5504688" y="4306824"/>
            <a:ext cx="5879592" cy="658368"/>
          </a:xfrm>
          <a:prstGeom prst="roundRect">
            <a:avLst>
              <a:gd name="adj" fmla="val 11111"/>
            </a:avLst>
          </a:prstGeom>
          <a:solidFill>
            <a:schemeClr val="bg1"/>
          </a:solidFill>
          <a:ln w="6350">
            <a:solidFill>
              <a:schemeClr val="accent4"/>
            </a:solidFill>
            <a:prstDash val="solid"/>
          </a:ln>
        </p:spPr>
      </p:sp>
      <p:sp>
        <p:nvSpPr>
          <p:cNvPr id="28" name="Text 26"/>
          <p:cNvSpPr txBox="1"/>
          <p:nvPr/>
        </p:nvSpPr>
        <p:spPr>
          <a:xfrm>
            <a:off x="5715000" y="4306824"/>
            <a:ext cx="5486400" cy="658368"/>
          </a:xfrm>
          <a:prstGeom prst="rect">
            <a:avLst/>
          </a:prstGeom>
          <a:noFill/>
          <a:ln/>
        </p:spPr>
        <p:txBody>
          <a:bodyPr wrap="square" lIns="0" tIns="0" rIns="0" bIns="0" rtlCol="0" anchor="ctr"/>
          <a:lstStyle/>
          <a:p>
            <a:pPr indent="0" marL="0">
              <a:buNone/>
            </a:pPr>
            <a:r>
              <a:rPr lang="en-US" sz="1300" b="1" dirty="0">
                <a:solidFill>
                  <a:schemeClr val="tx1"/>
                </a:solidFill>
              </a:rPr>
              <a:t>Cost and time come last  </a:t>
            </a:r>
            <a:pPr indent="0" marL="0">
              <a:buNone/>
            </a:pPr>
            <a:r>
              <a:rPr lang="en-US" sz="1300" dirty="0">
                <a:solidFill>
                  <a:schemeClr val="tx2"/>
                </a:solidFill>
              </a:rPr>
              <a:t>Open with them and the talk starts badly.</a:t>
            </a:r>
            <a:endParaRPr lang="en-US" sz="1300" dirty="0"/>
          </a:p>
        </p:txBody>
      </p:sp>
      <p:sp>
        <p:nvSpPr>
          <p:cNvPr id="29"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30" name="Text 28"/>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 sponsor insists on 99.999% for a trading system; the architect believes 99.9% is enough. Start by validating the concern: “I understand availability is very important.”</a:t>
            </a:r>
            <a:endParaRPr lang="en-US" sz="1400" dirty="0"/>
          </a:p>
        </p:txBody>
      </p:sp>
      <p:sp>
        <p:nvSpPr>
          <p:cNvPr id="31" name="Text 29"/>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23, p. 348–350, Table 23-1.</a:t>
            </a:r>
            <a:endParaRPr lang="en-US" sz="1100" dirty="0"/>
          </a:p>
        </p:txBody>
      </p:sp>
      <p:sp>
        <p:nvSpPr>
          <p:cNvPr id="32" name="Text 30"/>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16 / 32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DISCUSSION</a:t>
            </a:r>
            <a:endParaRPr lang="en-US" sz="1200" dirty="0"/>
          </a:p>
        </p:txBody>
      </p:sp>
      <p:sp>
        <p:nvSpPr>
          <p:cNvPr id="3" name="Text 0"/>
          <p:cNvSpPr/>
          <p:nvPr>
            <p:ph idx="100" type="title" hasCustomPrompt="1"/>
          </p:nvPr>
        </p:nvSpPr>
        <p:spPr>
          <a:xfrm>
            <a:off x="813816" y="1737360"/>
            <a:ext cx="10881360" cy="2377440"/>
          </a:xfrm>
          <a:prstGeom prst="rect">
            <a:avLst/>
          </a:prstGeom>
          <a:noFill/>
          <a:ln/>
        </p:spPr>
        <p:txBody>
          <a:bodyPr wrap="square" lIns="0" tIns="0" rIns="0" bIns="0" rtlCol="0" anchor="t"/>
          <a:lstStyle/>
          <a:p>
            <a:pPr algn="l" indent="0" marL="0">
              <a:buNone/>
            </a:pPr>
            <a:r>
              <a:rPr lang="en-US" sz="5400" b="1" dirty="0">
                <a:solidFill>
                  <a:schemeClr val="tx1"/>
                </a:solidFill>
                <a:latin typeface="IBM Plex Sans" pitchFamily="34" charset="0"/>
                <a:ea typeface="IBM Plex Sans" pitchFamily="34" charset="-122"/>
                <a:cs typeface="IBM Plex Sans" pitchFamily="34" charset="-120"/>
              </a:rPr>
              <a:t>A requirement you had to talk someone out of</a:t>
            </a:r>
            <a:endParaRPr lang="en-US" sz="5400" dirty="0"/>
          </a:p>
        </p:txBody>
      </p:sp>
      <p:sp>
        <p:nvSpPr>
          <p:cNvPr id="4" name="Text 2"/>
          <p:cNvSpPr txBox="1"/>
          <p:nvPr/>
        </p:nvSpPr>
        <p:spPr>
          <a:xfrm>
            <a:off x="813816" y="4297680"/>
            <a:ext cx="10881360" cy="411480"/>
          </a:xfrm>
          <a:prstGeom prst="rect">
            <a:avLst/>
          </a:prstGeom>
          <a:noFill/>
          <a:ln/>
        </p:spPr>
        <p:txBody>
          <a:bodyPr wrap="square" lIns="0" tIns="0" rIns="0" bIns="0" rtlCol="0" anchor="t"/>
          <a:lstStyle/>
          <a:p>
            <a:pPr indent="0" marL="0">
              <a:buNone/>
            </a:pPr>
            <a:r>
              <a:rPr lang="en-US" sz="2200" dirty="0">
                <a:solidFill>
                  <a:schemeClr val="tx1"/>
                </a:solidFill>
              </a:rPr>
              <a:t>What they asked for, what they actually needed, and what convinced them.</a:t>
            </a:r>
            <a:endParaRPr lang="en-US" sz="2200" dirty="0"/>
          </a:p>
        </p:txBody>
      </p:sp>
      <p:sp>
        <p:nvSpPr>
          <p:cNvPr id="5"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3</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17 / 32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CHANGE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Requirements will change. Plan for it</a:t>
            </a:r>
            <a:endParaRPr lang="en-US" sz="3600" dirty="0"/>
          </a:p>
        </p:txBody>
      </p:sp>
      <p:sp>
        <p:nvSpPr>
          <p:cNvPr id="4" name="Card"/>
          <p:cNvSpPr/>
          <p:nvPr/>
        </p:nvSpPr>
        <p:spPr>
          <a:xfrm>
            <a:off x="813816" y="2011680"/>
            <a:ext cx="10570464" cy="1051560"/>
          </a:xfrm>
          <a:prstGeom prst="roundRect">
            <a:avLst>
              <a:gd name="adj" fmla="val 6957"/>
            </a:avLst>
          </a:prstGeom>
          <a:solidFill>
            <a:schemeClr val="bg1"/>
          </a:solidFill>
          <a:ln w="6350">
            <a:solidFill>
              <a:schemeClr val="accent4"/>
            </a:solidFill>
            <a:prstDash val="solid"/>
          </a:ln>
        </p:spPr>
      </p:sp>
      <p:pic>
        <p:nvPicPr>
          <p:cNvPr id="5" name="Image 0" descr="fig/sommerville-fig4.19-change-management-p133.png">    </p:cNvPr>
          <p:cNvPicPr>
            <a:picLocks noChangeAspect="1"/>
          </p:cNvPicPr>
          <p:nvPr/>
        </p:nvPicPr>
        <p:blipFill>
          <a:blip r:embed="rId1"/>
          <a:stretch>
            <a:fillRect/>
          </a:stretch>
        </p:blipFill>
        <p:spPr>
          <a:xfrm>
            <a:off x="2377440" y="2103120"/>
            <a:ext cx="7406640" cy="995851"/>
          </a:xfrm>
          <a:prstGeom prst="rect">
            <a:avLst/>
          </a:prstGeom>
        </p:spPr>
      </p:pic>
      <p:sp>
        <p:nvSpPr>
          <p:cNvPr id="6" name="Card"/>
          <p:cNvSpPr/>
          <p:nvPr/>
        </p:nvSpPr>
        <p:spPr>
          <a:xfrm>
            <a:off x="813816" y="3200400"/>
            <a:ext cx="3383280" cy="1783080"/>
          </a:xfrm>
          <a:prstGeom prst="roundRect">
            <a:avLst>
              <a:gd name="adj" fmla="val 4103"/>
            </a:avLst>
          </a:prstGeom>
          <a:solidFill>
            <a:schemeClr val="bg1"/>
          </a:solidFill>
          <a:ln w="6350">
            <a:solidFill>
              <a:schemeClr val="accent4"/>
            </a:solidFill>
            <a:prstDash val="solid"/>
          </a:ln>
        </p:spPr>
      </p:sp>
      <p:sp>
        <p:nvSpPr>
          <p:cNvPr id="7" name="Text 4"/>
          <p:cNvSpPr txBox="1"/>
          <p:nvPr/>
        </p:nvSpPr>
        <p:spPr>
          <a:xfrm>
            <a:off x="1069848" y="3456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Why they change</a:t>
            </a:r>
            <a:endParaRPr lang="en-US" sz="1200" dirty="0"/>
          </a:p>
        </p:txBody>
      </p:sp>
      <p:sp>
        <p:nvSpPr>
          <p:cNvPr id="8" name="Text 5"/>
          <p:cNvSpPr txBox="1"/>
          <p:nvPr/>
        </p:nvSpPr>
        <p:spPr>
          <a:xfrm>
            <a:off x="1069848" y="3803904"/>
            <a:ext cx="2871216" cy="996696"/>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problem can't be fully defined; business and law move; those who pay are not those who use.</a:t>
            </a:r>
            <a:endParaRPr lang="en-US" sz="1300" dirty="0"/>
          </a:p>
        </p:txBody>
      </p:sp>
      <p:sp>
        <p:nvSpPr>
          <p:cNvPr id="9" name="Card"/>
          <p:cNvSpPr/>
          <p:nvPr/>
        </p:nvSpPr>
        <p:spPr>
          <a:xfrm>
            <a:off x="4407408" y="3200400"/>
            <a:ext cx="3383280" cy="1783080"/>
          </a:xfrm>
          <a:prstGeom prst="roundRect">
            <a:avLst>
              <a:gd name="adj" fmla="val 4103"/>
            </a:avLst>
          </a:prstGeom>
          <a:solidFill>
            <a:schemeClr val="bg1"/>
          </a:solidFill>
          <a:ln w="6350">
            <a:solidFill>
              <a:schemeClr val="accent4"/>
            </a:solidFill>
            <a:prstDash val="solid"/>
          </a:ln>
        </p:spPr>
      </p:sp>
      <p:sp>
        <p:nvSpPr>
          <p:cNvPr id="10" name="Text 7"/>
          <p:cNvSpPr txBox="1"/>
          <p:nvPr/>
        </p:nvSpPr>
        <p:spPr>
          <a:xfrm>
            <a:off x="4663440" y="3456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Enduring vs volatile</a:t>
            </a:r>
            <a:endParaRPr lang="en-US" sz="1200" dirty="0"/>
          </a:p>
        </p:txBody>
      </p:sp>
      <p:sp>
        <p:nvSpPr>
          <p:cNvPr id="11" name="Text 8"/>
          <p:cNvSpPr txBox="1"/>
          <p:nvPr/>
        </p:nvSpPr>
        <p:spPr>
          <a:xfrm>
            <a:off x="4663440" y="3803904"/>
            <a:ext cx="2871216" cy="996696"/>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Core work activities change slowly. How the organization supports them changes often.</a:t>
            </a:r>
            <a:endParaRPr lang="en-US" sz="1300" dirty="0"/>
          </a:p>
        </p:txBody>
      </p:sp>
      <p:sp>
        <p:nvSpPr>
          <p:cNvPr id="12" name="Card"/>
          <p:cNvSpPr/>
          <p:nvPr/>
        </p:nvSpPr>
        <p:spPr>
          <a:xfrm>
            <a:off x="8001000" y="3200400"/>
            <a:ext cx="3383280" cy="1783080"/>
          </a:xfrm>
          <a:prstGeom prst="roundRect">
            <a:avLst>
              <a:gd name="adj" fmla="val 4103"/>
            </a:avLst>
          </a:prstGeom>
          <a:solidFill>
            <a:schemeClr val="tx1"/>
          </a:solidFill>
          <a:ln w="6350">
            <a:solidFill>
              <a:schemeClr val="tx1"/>
            </a:solidFill>
            <a:prstDash val="solid"/>
          </a:ln>
        </p:spPr>
      </p:sp>
      <p:sp>
        <p:nvSpPr>
          <p:cNvPr id="13" name="Text 10"/>
          <p:cNvSpPr txBox="1"/>
          <p:nvPr/>
        </p:nvSpPr>
        <p:spPr>
          <a:xfrm>
            <a:off x="8257032" y="3456432"/>
            <a:ext cx="287121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What you need</a:t>
            </a:r>
            <a:endParaRPr lang="en-US" sz="1200" dirty="0"/>
          </a:p>
        </p:txBody>
      </p:sp>
      <p:sp>
        <p:nvSpPr>
          <p:cNvPr id="14" name="Text 11"/>
          <p:cNvSpPr txBox="1"/>
          <p:nvPr/>
        </p:nvSpPr>
        <p:spPr>
          <a:xfrm>
            <a:off x="8257032" y="3803904"/>
            <a:ext cx="2871216" cy="996696"/>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A unique ID per requirement, traceability to design and tests, and one place where changes are decided.</a:t>
            </a:r>
            <a:endParaRPr lang="en-US" sz="1300" dirty="0"/>
          </a:p>
        </p:txBody>
      </p:sp>
      <p:sp>
        <p:nvSpPr>
          <p:cNvPr id="15"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6" name="Text 13"/>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Workshop 3 (W14) runs this loop live: a change request, analysed, costed, and delivered through your own checks.</a:t>
            </a:r>
            <a:endParaRPr lang="en-US" sz="1400" dirty="0"/>
          </a:p>
        </p:txBody>
      </p:sp>
      <p:sp>
        <p:nvSpPr>
          <p:cNvPr id="17" name="Text 14"/>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§4.6, p. 130–134, Figure 4.19.</a:t>
            </a:r>
            <a:endParaRPr lang="en-US" sz="1100" dirty="0"/>
          </a:p>
        </p:txBody>
      </p:sp>
      <p:sp>
        <p:nvSpPr>
          <p:cNvPr id="18" name="Text 15"/>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18 / 32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PART 2</a:t>
            </a:r>
            <a:endParaRPr lang="en-US" sz="1200" dirty="0"/>
          </a:p>
        </p:txBody>
      </p:sp>
      <p:sp>
        <p:nvSpPr>
          <p:cNvPr id="3" name="Text 0"/>
          <p:cNvSpPr/>
          <p:nvPr>
            <p:ph idx="100" type="title" hasCustomPrompt="1"/>
          </p:nvPr>
        </p:nvSpPr>
        <p:spPr>
          <a:xfrm>
            <a:off x="813816" y="2468880"/>
            <a:ext cx="10881360" cy="1188720"/>
          </a:xfrm>
          <a:prstGeom prst="rect">
            <a:avLst/>
          </a:prstGeom>
          <a:noFill/>
          <a:ln/>
        </p:spPr>
        <p:txBody>
          <a:bodyPr wrap="square" lIns="0" tIns="0" rIns="0" bIns="0" rtlCol="0" anchor="t"/>
          <a:lstStyle/>
          <a:p>
            <a:pPr algn="l" indent="0" marL="0">
              <a:buNone/>
            </a:pPr>
            <a:r>
              <a:rPr lang="en-US" sz="5400" b="1" dirty="0">
                <a:solidFill>
                  <a:schemeClr val="bg2"/>
                </a:solidFill>
                <a:latin typeface="IBM Plex Sans" pitchFamily="34" charset="0"/>
                <a:ea typeface="IBM Plex Sans" pitchFamily="34" charset="-122"/>
                <a:cs typeface="IBM Plex Sans" pitchFamily="34" charset="-120"/>
              </a:rPr>
              <a:t>What must it support?</a:t>
            </a:r>
            <a:endParaRPr lang="en-US" sz="5400" dirty="0"/>
          </a:p>
        </p:txBody>
      </p:sp>
      <p:sp>
        <p:nvSpPr>
          <p:cNvPr id="4" name="Text 2"/>
          <p:cNvSpPr txBox="1"/>
          <p:nvPr/>
        </p:nvSpPr>
        <p:spPr>
          <a:xfrm>
            <a:off x="813816" y="3794760"/>
            <a:ext cx="10881360" cy="457200"/>
          </a:xfrm>
          <a:prstGeom prst="rect">
            <a:avLst/>
          </a:prstGeom>
          <a:noFill/>
          <a:ln/>
        </p:spPr>
        <p:txBody>
          <a:bodyPr wrap="square" lIns="0" tIns="0" rIns="0" bIns="0" rtlCol="0" anchor="t"/>
          <a:lstStyle/>
          <a:p>
            <a:pPr indent="0" marL="0">
              <a:buNone/>
            </a:pPr>
            <a:r>
              <a:rPr lang="en-US" sz="2200" dirty="0">
                <a:solidFill>
                  <a:schemeClr val="accent5"/>
                </a:solidFill>
              </a:rPr>
              <a:t>From requirements to the few architecture characteristics that shape the structure</a:t>
            </a:r>
            <a:endParaRPr lang="en-US" sz="2200" dirty="0"/>
          </a:p>
        </p:txBody>
      </p:sp>
      <p:sp>
        <p:nvSpPr>
          <p:cNvPr id="5"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Software Engineering 2026–27 · Lecture 3</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19 / 32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SAME CONCERN, NEW NAME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Non-functional, seen by an architect</a:t>
            </a:r>
            <a:endParaRPr lang="en-US" sz="3600" dirty="0"/>
          </a:p>
        </p:txBody>
      </p:sp>
      <p:sp>
        <p:nvSpPr>
          <p:cNvPr id="4" name="Card"/>
          <p:cNvSpPr/>
          <p:nvPr/>
        </p:nvSpPr>
        <p:spPr>
          <a:xfrm>
            <a:off x="813816" y="2057400"/>
            <a:ext cx="4846320" cy="2697480"/>
          </a:xfrm>
          <a:prstGeom prst="roundRect">
            <a:avLst>
              <a:gd name="adj" fmla="val 2712"/>
            </a:avLst>
          </a:prstGeom>
          <a:solidFill>
            <a:schemeClr val="bg1"/>
          </a:solidFill>
          <a:ln w="6350">
            <a:solidFill>
              <a:schemeClr val="accent4"/>
            </a:solidFill>
            <a:prstDash val="solid"/>
          </a:ln>
        </p:spPr>
      </p:sp>
      <p:sp>
        <p:nvSpPr>
          <p:cNvPr id="5" name="Text 3"/>
          <p:cNvSpPr txBox="1"/>
          <p:nvPr/>
        </p:nvSpPr>
        <p:spPr>
          <a:xfrm>
            <a:off x="1069848" y="2313432"/>
            <a:ext cx="433425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Sommerville · requirements</a:t>
            </a:r>
            <a:endParaRPr lang="en-US" sz="1200" dirty="0"/>
          </a:p>
        </p:txBody>
      </p:sp>
      <p:sp>
        <p:nvSpPr>
          <p:cNvPr id="6" name="Text 4"/>
          <p:cNvSpPr txBox="1"/>
          <p:nvPr/>
        </p:nvSpPr>
        <p:spPr>
          <a:xfrm>
            <a:off x="1069848" y="2660904"/>
            <a:ext cx="4334256" cy="365760"/>
          </a:xfrm>
          <a:prstGeom prst="rect">
            <a:avLst/>
          </a:prstGeom>
          <a:noFill/>
          <a:ln/>
        </p:spPr>
        <p:txBody>
          <a:bodyPr wrap="square" lIns="0" tIns="0" rIns="0" bIns="0" rtlCol="0" anchor="t"/>
          <a:lstStyle/>
          <a:p>
            <a:pPr indent="0" marL="0">
              <a:buNone/>
            </a:pPr>
            <a:r>
              <a:rPr lang="en-US" sz="2000" b="1" dirty="0">
                <a:solidFill>
                  <a:schemeClr val="tx1"/>
                </a:solidFill>
              </a:rPr>
              <a:t>Non-functional requirements</a:t>
            </a:r>
            <a:endParaRPr lang="en-US" sz="2000" dirty="0"/>
          </a:p>
        </p:txBody>
      </p:sp>
      <p:sp>
        <p:nvSpPr>
          <p:cNvPr id="7" name="Text 5"/>
          <p:cNvSpPr txBox="1"/>
          <p:nvPr/>
        </p:nvSpPr>
        <p:spPr>
          <a:xfrm>
            <a:off x="1069848" y="3136392"/>
            <a:ext cx="4334256" cy="143560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Constraints on the services or functions of the system, often applying to the system as a whole.</a:t>
            </a:r>
            <a:endParaRPr lang="en-US" sz="1400" dirty="0"/>
          </a:p>
        </p:txBody>
      </p:sp>
      <p:sp>
        <p:nvSpPr>
          <p:cNvPr id="8" name="Text 6"/>
          <p:cNvSpPr txBox="1"/>
          <p:nvPr/>
        </p:nvSpPr>
        <p:spPr>
          <a:xfrm>
            <a:off x="5669280" y="3017520"/>
            <a:ext cx="822960" cy="548640"/>
          </a:xfrm>
          <a:prstGeom prst="rect">
            <a:avLst/>
          </a:prstGeom>
          <a:noFill/>
          <a:ln/>
        </p:spPr>
        <p:txBody>
          <a:bodyPr wrap="square" lIns="0" tIns="0" rIns="0" bIns="0" rtlCol="0" anchor="t"/>
          <a:lstStyle/>
          <a:p>
            <a:pPr algn="ctr" indent="0" marL="0">
              <a:buNone/>
            </a:pPr>
            <a:r>
              <a:rPr lang="en-US" sz="3000" b="1" dirty="0">
                <a:solidFill>
                  <a:schemeClr val="accent1"/>
                </a:solidFill>
              </a:rPr>
              <a:t>→</a:t>
            </a:r>
            <a:endParaRPr lang="en-US" sz="3000" dirty="0"/>
          </a:p>
        </p:txBody>
      </p:sp>
      <p:sp>
        <p:nvSpPr>
          <p:cNvPr id="9" name="Card"/>
          <p:cNvSpPr/>
          <p:nvPr/>
        </p:nvSpPr>
        <p:spPr>
          <a:xfrm>
            <a:off x="6537960" y="2057400"/>
            <a:ext cx="4846320" cy="2697480"/>
          </a:xfrm>
          <a:prstGeom prst="roundRect">
            <a:avLst>
              <a:gd name="adj" fmla="val 2712"/>
            </a:avLst>
          </a:prstGeom>
          <a:solidFill>
            <a:schemeClr val="tx1"/>
          </a:solidFill>
          <a:ln w="6350">
            <a:solidFill>
              <a:schemeClr val="tx1"/>
            </a:solidFill>
            <a:prstDash val="solid"/>
          </a:ln>
        </p:spPr>
      </p:sp>
      <p:sp>
        <p:nvSpPr>
          <p:cNvPr id="10" name="Text 8"/>
          <p:cNvSpPr txBox="1"/>
          <p:nvPr/>
        </p:nvSpPr>
        <p:spPr>
          <a:xfrm>
            <a:off x="6793992" y="2313432"/>
            <a:ext cx="433425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Richards &amp; Ford · architecture</a:t>
            </a:r>
            <a:endParaRPr lang="en-US" sz="1200" dirty="0"/>
          </a:p>
        </p:txBody>
      </p:sp>
      <p:sp>
        <p:nvSpPr>
          <p:cNvPr id="11" name="Text 9"/>
          <p:cNvSpPr txBox="1"/>
          <p:nvPr/>
        </p:nvSpPr>
        <p:spPr>
          <a:xfrm>
            <a:off x="6793992" y="2660904"/>
            <a:ext cx="4334256" cy="365760"/>
          </a:xfrm>
          <a:prstGeom prst="rect">
            <a:avLst/>
          </a:prstGeom>
          <a:noFill/>
          <a:ln/>
        </p:spPr>
        <p:txBody>
          <a:bodyPr wrap="square" lIns="0" tIns="0" rIns="0" bIns="0" rtlCol="0" anchor="t"/>
          <a:lstStyle/>
          <a:p>
            <a:pPr indent="0" marL="0">
              <a:buNone/>
            </a:pPr>
            <a:r>
              <a:rPr lang="en-US" sz="2000" b="1" dirty="0">
                <a:solidFill>
                  <a:schemeClr val="bg2"/>
                </a:solidFill>
              </a:rPr>
              <a:t>Architecture characteristics</a:t>
            </a:r>
            <a:endParaRPr lang="en-US" sz="2000" dirty="0"/>
          </a:p>
        </p:txBody>
      </p:sp>
      <p:sp>
        <p:nvSpPr>
          <p:cNvPr id="12" name="Text 10"/>
          <p:cNvSpPr txBox="1"/>
          <p:nvPr/>
        </p:nvSpPr>
        <p:spPr>
          <a:xfrm>
            <a:off x="6793992" y="3136392"/>
            <a:ext cx="4334256" cy="1435608"/>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“Nonfunctional” is self-denigrating; “quality attributes” suggests after-the-fact assessment. The authors want a name for what the design must support.</a:t>
            </a:r>
            <a:endParaRPr lang="en-US" sz="1400" dirty="0"/>
          </a:p>
        </p:txBody>
      </p:sp>
      <p:sp>
        <p:nvSpPr>
          <p:cNvPr id="13"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4" name="Text 12"/>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From here on the course uses Richards &amp; Ford's terms: the same concerns, viewed as what the structure has to support.</a:t>
            </a:r>
            <a:endParaRPr lang="en-US" sz="1400" dirty="0"/>
          </a:p>
        </p:txBody>
      </p:sp>
      <p:sp>
        <p:nvSpPr>
          <p:cNvPr id="15" name="Text 1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Sommerville, Software Engineering, 10th ed., p. 105; Richards &amp; Ford, 2020, ch. 4, p. 55–56.</a:t>
            </a:r>
            <a:endParaRPr lang="en-US" sz="1100" dirty="0"/>
          </a:p>
        </p:txBody>
      </p:sp>
      <p:sp>
        <p:nvSpPr>
          <p:cNvPr id="16" name="Text 1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20 / 32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DEFINITION · ALL THREE MUST HOLD</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When is it an architecture characteristic?</a:t>
            </a:r>
            <a:endParaRPr lang="en-US" sz="3600" dirty="0"/>
          </a:p>
        </p:txBody>
      </p:sp>
      <p:sp>
        <p:nvSpPr>
          <p:cNvPr id="4" name="Card"/>
          <p:cNvSpPr/>
          <p:nvPr/>
        </p:nvSpPr>
        <p:spPr>
          <a:xfrm>
            <a:off x="813816" y="2057400"/>
            <a:ext cx="4663440" cy="2971800"/>
          </a:xfrm>
          <a:prstGeom prst="roundRect">
            <a:avLst>
              <a:gd name="adj" fmla="val 2462"/>
            </a:avLst>
          </a:prstGeom>
          <a:solidFill>
            <a:schemeClr val="bg1"/>
          </a:solidFill>
          <a:ln w="6350">
            <a:solidFill>
              <a:schemeClr val="accent4"/>
            </a:solidFill>
            <a:prstDash val="solid"/>
          </a:ln>
        </p:spPr>
      </p:sp>
      <p:pic>
        <p:nvPicPr>
          <p:cNvPr id="5" name="Image 0" descr="fig/richards-ford-fig4-2-definitie-p56.png">    </p:cNvPr>
          <p:cNvPicPr>
            <a:picLocks noChangeAspect="1"/>
          </p:cNvPicPr>
          <p:nvPr/>
        </p:nvPicPr>
        <p:blipFill>
          <a:blip r:embed="rId1"/>
          <a:stretch>
            <a:fillRect/>
          </a:stretch>
        </p:blipFill>
        <p:spPr>
          <a:xfrm>
            <a:off x="978408" y="2286000"/>
            <a:ext cx="4334256" cy="2116366"/>
          </a:xfrm>
          <a:prstGeom prst="rect">
            <a:avLst/>
          </a:prstGeom>
        </p:spPr>
      </p:pic>
      <p:sp>
        <p:nvSpPr>
          <p:cNvPr id="6" name="Card"/>
          <p:cNvSpPr/>
          <p:nvPr/>
        </p:nvSpPr>
        <p:spPr>
          <a:xfrm>
            <a:off x="5687568" y="2057400"/>
            <a:ext cx="5696712" cy="868680"/>
          </a:xfrm>
          <a:prstGeom prst="roundRect">
            <a:avLst>
              <a:gd name="adj" fmla="val 8421"/>
            </a:avLst>
          </a:prstGeom>
          <a:solidFill>
            <a:schemeClr val="bg1"/>
          </a:solidFill>
          <a:ln w="6350">
            <a:solidFill>
              <a:schemeClr val="accent4"/>
            </a:solidFill>
            <a:prstDash val="solid"/>
          </a:ln>
        </p:spPr>
      </p:sp>
      <p:sp>
        <p:nvSpPr>
          <p:cNvPr id="7" name="Text 4"/>
          <p:cNvSpPr txBox="1"/>
          <p:nvPr/>
        </p:nvSpPr>
        <p:spPr>
          <a:xfrm>
            <a:off x="5897880" y="2167128"/>
            <a:ext cx="5303520" cy="274320"/>
          </a:xfrm>
          <a:prstGeom prst="rect">
            <a:avLst/>
          </a:prstGeom>
          <a:noFill/>
          <a:ln/>
        </p:spPr>
        <p:txBody>
          <a:bodyPr wrap="square" lIns="0" tIns="0" rIns="0" bIns="0" rtlCol="0" anchor="t"/>
          <a:lstStyle/>
          <a:p>
            <a:pPr indent="0" marL="0">
              <a:buNone/>
            </a:pPr>
            <a:r>
              <a:rPr lang="en-US" sz="1500" b="1" dirty="0">
                <a:solidFill>
                  <a:schemeClr val="tx1"/>
                </a:solidFill>
              </a:rPr>
              <a:t>1 · It isn't a feature</a:t>
            </a:r>
            <a:endParaRPr lang="en-US" sz="1500" dirty="0"/>
          </a:p>
        </p:txBody>
      </p:sp>
      <p:sp>
        <p:nvSpPr>
          <p:cNvPr id="8" name="Text 5"/>
          <p:cNvSpPr txBox="1"/>
          <p:nvPr/>
        </p:nvSpPr>
        <p:spPr>
          <a:xfrm>
            <a:off x="5897880" y="2468880"/>
            <a:ext cx="5303520" cy="411480"/>
          </a:xfrm>
          <a:prstGeom prst="rect">
            <a:avLst/>
          </a:prstGeom>
          <a:noFill/>
          <a:ln/>
        </p:spPr>
        <p:txBody>
          <a:bodyPr wrap="square" lIns="0" tIns="0" rIns="0" bIns="0" rtlCol="0" anchor="t"/>
          <a:lstStyle/>
          <a:p>
            <a:pPr indent="0" marL="0">
              <a:buNone/>
            </a:pPr>
            <a:r>
              <a:rPr lang="en-US" sz="1300" dirty="0">
                <a:solidFill>
                  <a:schemeClr val="tx2"/>
                </a:solidFill>
              </a:rPr>
              <a:t>It says how the system must behave or be built, not what it does: performance, security, “no technical debt”.</a:t>
            </a:r>
            <a:endParaRPr lang="en-US" sz="1300" dirty="0"/>
          </a:p>
        </p:txBody>
      </p:sp>
      <p:sp>
        <p:nvSpPr>
          <p:cNvPr id="9" name="Card"/>
          <p:cNvSpPr/>
          <p:nvPr/>
        </p:nvSpPr>
        <p:spPr>
          <a:xfrm>
            <a:off x="5687568" y="2994660"/>
            <a:ext cx="5696712" cy="1097280"/>
          </a:xfrm>
          <a:prstGeom prst="roundRect">
            <a:avLst>
              <a:gd name="adj" fmla="val 6667"/>
            </a:avLst>
          </a:prstGeom>
          <a:solidFill>
            <a:schemeClr val="tx1"/>
          </a:solidFill>
          <a:ln w="6350">
            <a:solidFill>
              <a:schemeClr val="tx1"/>
            </a:solidFill>
            <a:prstDash val="solid"/>
          </a:ln>
        </p:spPr>
      </p:sp>
      <p:sp>
        <p:nvSpPr>
          <p:cNvPr id="10" name="Text 7"/>
          <p:cNvSpPr txBox="1"/>
          <p:nvPr/>
        </p:nvSpPr>
        <p:spPr>
          <a:xfrm>
            <a:off x="5897880" y="3104388"/>
            <a:ext cx="5303520" cy="274320"/>
          </a:xfrm>
          <a:prstGeom prst="rect">
            <a:avLst/>
          </a:prstGeom>
          <a:noFill/>
          <a:ln/>
        </p:spPr>
        <p:txBody>
          <a:bodyPr wrap="square" lIns="0" tIns="0" rIns="0" bIns="0" rtlCol="0" anchor="t"/>
          <a:lstStyle/>
          <a:p>
            <a:pPr indent="0" marL="0">
              <a:buNone/>
            </a:pPr>
            <a:r>
              <a:rPr lang="en-US" sz="1500" b="1" dirty="0">
                <a:solidFill>
                  <a:schemeClr val="bg2"/>
                </a:solidFill>
              </a:rPr>
              <a:t>2 · It shapes the structure</a:t>
            </a:r>
            <a:endParaRPr lang="en-US" sz="1500" dirty="0"/>
          </a:p>
        </p:txBody>
      </p:sp>
      <p:sp>
        <p:nvSpPr>
          <p:cNvPr id="11" name="Text 8"/>
          <p:cNvSpPr txBox="1"/>
          <p:nvPr/>
        </p:nvSpPr>
        <p:spPr>
          <a:xfrm>
            <a:off x="5897880" y="3406140"/>
            <a:ext cx="5303520" cy="640080"/>
          </a:xfrm>
          <a:prstGeom prst="rect">
            <a:avLst/>
          </a:prstGeom>
          <a:noFill/>
          <a:ln/>
        </p:spPr>
        <p:txBody>
          <a:bodyPr wrap="square" lIns="0" tIns="0" rIns="0" bIns="0" rtlCol="0" anchor="t"/>
          <a:lstStyle/>
          <a:p>
            <a:pPr indent="0" marL="0">
              <a:buNone/>
            </a:pPr>
            <a:r>
              <a:rPr lang="en-US" sz="1300" dirty="0">
                <a:solidFill>
                  <a:schemeClr val="accent5"/>
                </a:solidFill>
              </a:rPr>
              <a:t>Payments through a third-party processor: good practice is enough. Payments processed in the app: an isolated module. Only the second is architectural.</a:t>
            </a:r>
            <a:endParaRPr lang="en-US" sz="1300" dirty="0"/>
          </a:p>
        </p:txBody>
      </p:sp>
      <p:sp>
        <p:nvSpPr>
          <p:cNvPr id="12" name="Card"/>
          <p:cNvSpPr/>
          <p:nvPr/>
        </p:nvSpPr>
        <p:spPr>
          <a:xfrm>
            <a:off x="5687568" y="4160520"/>
            <a:ext cx="5696712" cy="868680"/>
          </a:xfrm>
          <a:prstGeom prst="roundRect">
            <a:avLst>
              <a:gd name="adj" fmla="val 8421"/>
            </a:avLst>
          </a:prstGeom>
          <a:solidFill>
            <a:schemeClr val="bg1"/>
          </a:solidFill>
          <a:ln w="6350">
            <a:solidFill>
              <a:schemeClr val="accent4"/>
            </a:solidFill>
            <a:prstDash val="solid"/>
          </a:ln>
        </p:spPr>
      </p:sp>
      <p:sp>
        <p:nvSpPr>
          <p:cNvPr id="13" name="Text 10"/>
          <p:cNvSpPr txBox="1"/>
          <p:nvPr/>
        </p:nvSpPr>
        <p:spPr>
          <a:xfrm>
            <a:off x="5897880" y="4270248"/>
            <a:ext cx="5303520" cy="274320"/>
          </a:xfrm>
          <a:prstGeom prst="rect">
            <a:avLst/>
          </a:prstGeom>
          <a:noFill/>
          <a:ln/>
        </p:spPr>
        <p:txBody>
          <a:bodyPr wrap="square" lIns="0" tIns="0" rIns="0" bIns="0" rtlCol="0" anchor="t"/>
          <a:lstStyle/>
          <a:p>
            <a:pPr indent="0" marL="0">
              <a:buNone/>
            </a:pPr>
            <a:r>
              <a:rPr lang="en-US" sz="1500" b="1" dirty="0">
                <a:solidFill>
                  <a:schemeClr val="tx1"/>
                </a:solidFill>
              </a:rPr>
              <a:t>3 · Success depends on it</a:t>
            </a:r>
            <a:endParaRPr lang="en-US" sz="1500" dirty="0"/>
          </a:p>
        </p:txBody>
      </p:sp>
      <p:sp>
        <p:nvSpPr>
          <p:cNvPr id="14" name="Text 11"/>
          <p:cNvSpPr txBox="1"/>
          <p:nvPr/>
        </p:nvSpPr>
        <p:spPr>
          <a:xfrm>
            <a:off x="5897880" y="4572000"/>
            <a:ext cx="5303520" cy="411480"/>
          </a:xfrm>
          <a:prstGeom prst="rect">
            <a:avLst/>
          </a:prstGeom>
          <a:noFill/>
          <a:ln/>
        </p:spPr>
        <p:txBody>
          <a:bodyPr wrap="square" lIns="0" tIns="0" rIns="0" bIns="0" rtlCol="0" anchor="t"/>
          <a:lstStyle/>
          <a:p>
            <a:pPr indent="0" marL="0">
              <a:buNone/>
            </a:pPr>
            <a:r>
              <a:rPr lang="en-US" sz="1300" dirty="0">
                <a:solidFill>
                  <a:schemeClr val="tx2"/>
                </a:solidFill>
              </a:rPr>
              <a:t>Each one adds complexity. Keep only those the system can't succeed without.</a:t>
            </a:r>
            <a:endParaRPr lang="en-US" sz="1300" dirty="0"/>
          </a:p>
        </p:txBody>
      </p:sp>
      <p:sp>
        <p:nvSpPr>
          <p:cNvPr id="15" name="Text 12"/>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4, p. 55–57, Figure 4-2.</a:t>
            </a:r>
            <a:endParaRPr lang="en-US" sz="1100" dirty="0"/>
          </a:p>
        </p:txBody>
      </p:sp>
      <p:sp>
        <p:nvSpPr>
          <p:cNvPr id="16" name="Text 13"/>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21 / 32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A PARTIAL LIST</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Operational, structural, cross-cutting</a:t>
            </a:r>
            <a:endParaRPr lang="en-US" sz="3600" dirty="0"/>
          </a:p>
        </p:txBody>
      </p:sp>
      <p:sp>
        <p:nvSpPr>
          <p:cNvPr id="4" name="Card"/>
          <p:cNvSpPr/>
          <p:nvPr/>
        </p:nvSpPr>
        <p:spPr>
          <a:xfrm>
            <a:off x="813816" y="2057400"/>
            <a:ext cx="3383280" cy="2926080"/>
          </a:xfrm>
          <a:prstGeom prst="roundRect">
            <a:avLst>
              <a:gd name="adj" fmla="val 2500"/>
            </a:avLst>
          </a:prstGeom>
          <a:solidFill>
            <a:schemeClr val="bg1"/>
          </a:solidFill>
          <a:ln w="6350">
            <a:solidFill>
              <a:schemeClr val="accent4"/>
            </a:solidFill>
            <a:prstDash val="solid"/>
          </a:ln>
        </p:spPr>
      </p:sp>
      <p:sp>
        <p:nvSpPr>
          <p:cNvPr id="5" name="Text 3"/>
          <p:cNvSpPr txBox="1"/>
          <p:nvPr/>
        </p:nvSpPr>
        <p:spPr>
          <a:xfrm>
            <a:off x="1069848" y="2212848"/>
            <a:ext cx="28346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Operational</a:t>
            </a:r>
            <a:endParaRPr lang="en-US" sz="1200" dirty="0"/>
          </a:p>
        </p:txBody>
      </p:sp>
      <p:sp>
        <p:nvSpPr>
          <p:cNvPr id="6" name="Text 4"/>
          <p:cNvSpPr txBox="1"/>
          <p:nvPr/>
        </p:nvSpPr>
        <p:spPr>
          <a:xfrm>
            <a:off x="1069848" y="2514600"/>
            <a:ext cx="2834640" cy="320040"/>
          </a:xfrm>
          <a:prstGeom prst="rect">
            <a:avLst/>
          </a:prstGeom>
          <a:noFill/>
          <a:ln/>
        </p:spPr>
        <p:txBody>
          <a:bodyPr wrap="square" lIns="0" tIns="0" rIns="0" bIns="0" rtlCol="0" anchor="t"/>
          <a:lstStyle/>
          <a:p>
            <a:pPr indent="0" marL="0">
              <a:buNone/>
            </a:pPr>
            <a:r>
              <a:rPr lang="en-US" sz="1600" b="1" dirty="0">
                <a:solidFill>
                  <a:schemeClr val="tx1"/>
                </a:solidFill>
              </a:rPr>
              <a:t>How the system runs</a:t>
            </a:r>
            <a:endParaRPr lang="en-US" sz="1600" dirty="0"/>
          </a:p>
        </p:txBody>
      </p:sp>
      <p:sp>
        <p:nvSpPr>
          <p:cNvPr id="7" name="Text 5"/>
          <p:cNvSpPr txBox="1"/>
          <p:nvPr/>
        </p:nvSpPr>
        <p:spPr>
          <a:xfrm>
            <a:off x="1069848" y="2926080"/>
            <a:ext cx="2880360" cy="192024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availability · continuity · performance · recoverability · reliability / safety · robustness · scalability</a:t>
            </a:r>
            <a:endParaRPr lang="en-US" sz="1400" dirty="0"/>
          </a:p>
        </p:txBody>
      </p:sp>
      <p:sp>
        <p:nvSpPr>
          <p:cNvPr id="8" name="Card"/>
          <p:cNvSpPr/>
          <p:nvPr/>
        </p:nvSpPr>
        <p:spPr>
          <a:xfrm>
            <a:off x="4407408" y="2057400"/>
            <a:ext cx="3383280" cy="2926080"/>
          </a:xfrm>
          <a:prstGeom prst="roundRect">
            <a:avLst>
              <a:gd name="adj" fmla="val 2500"/>
            </a:avLst>
          </a:prstGeom>
          <a:solidFill>
            <a:schemeClr val="bg1"/>
          </a:solidFill>
          <a:ln w="6350">
            <a:solidFill>
              <a:schemeClr val="accent4"/>
            </a:solidFill>
            <a:prstDash val="solid"/>
          </a:ln>
        </p:spPr>
      </p:sp>
      <p:sp>
        <p:nvSpPr>
          <p:cNvPr id="9" name="Text 7"/>
          <p:cNvSpPr txBox="1"/>
          <p:nvPr/>
        </p:nvSpPr>
        <p:spPr>
          <a:xfrm>
            <a:off x="4663440" y="2212848"/>
            <a:ext cx="28346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Structural</a:t>
            </a:r>
            <a:endParaRPr lang="en-US" sz="1200" dirty="0"/>
          </a:p>
        </p:txBody>
      </p:sp>
      <p:sp>
        <p:nvSpPr>
          <p:cNvPr id="10" name="Text 8"/>
          <p:cNvSpPr txBox="1"/>
          <p:nvPr/>
        </p:nvSpPr>
        <p:spPr>
          <a:xfrm>
            <a:off x="4663440" y="2514600"/>
            <a:ext cx="2834640" cy="320040"/>
          </a:xfrm>
          <a:prstGeom prst="rect">
            <a:avLst/>
          </a:prstGeom>
          <a:noFill/>
          <a:ln/>
        </p:spPr>
        <p:txBody>
          <a:bodyPr wrap="square" lIns="0" tIns="0" rIns="0" bIns="0" rtlCol="0" anchor="t"/>
          <a:lstStyle/>
          <a:p>
            <a:pPr indent="0" marL="0">
              <a:buNone/>
            </a:pPr>
            <a:r>
              <a:rPr lang="en-US" sz="1600" b="1" dirty="0">
                <a:solidFill>
                  <a:schemeClr val="tx1"/>
                </a:solidFill>
              </a:rPr>
              <a:t>How the code is built</a:t>
            </a:r>
            <a:endParaRPr lang="en-US" sz="1600" dirty="0"/>
          </a:p>
        </p:txBody>
      </p:sp>
      <p:sp>
        <p:nvSpPr>
          <p:cNvPr id="11" name="Text 9"/>
          <p:cNvSpPr txBox="1"/>
          <p:nvPr/>
        </p:nvSpPr>
        <p:spPr>
          <a:xfrm>
            <a:off x="4663440" y="2926080"/>
            <a:ext cx="2880360" cy="192024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configurability · extensibility · installability · leverageability / reuse · localization · maintainability · portability · upgradeability</a:t>
            </a:r>
            <a:endParaRPr lang="en-US" sz="1400" dirty="0"/>
          </a:p>
        </p:txBody>
      </p:sp>
      <p:sp>
        <p:nvSpPr>
          <p:cNvPr id="12" name="Card"/>
          <p:cNvSpPr/>
          <p:nvPr/>
        </p:nvSpPr>
        <p:spPr>
          <a:xfrm>
            <a:off x="8001000" y="2057400"/>
            <a:ext cx="3383280" cy="2926080"/>
          </a:xfrm>
          <a:prstGeom prst="roundRect">
            <a:avLst>
              <a:gd name="adj" fmla="val 2500"/>
            </a:avLst>
          </a:prstGeom>
          <a:solidFill>
            <a:schemeClr val="bg1"/>
          </a:solidFill>
          <a:ln w="6350">
            <a:solidFill>
              <a:schemeClr val="accent4"/>
            </a:solidFill>
            <a:prstDash val="solid"/>
          </a:ln>
        </p:spPr>
      </p:sp>
      <p:sp>
        <p:nvSpPr>
          <p:cNvPr id="13" name="Text 11"/>
          <p:cNvSpPr txBox="1"/>
          <p:nvPr/>
        </p:nvSpPr>
        <p:spPr>
          <a:xfrm>
            <a:off x="8257032" y="2212848"/>
            <a:ext cx="28346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Cross-cutting</a:t>
            </a:r>
            <a:endParaRPr lang="en-US" sz="1200" dirty="0"/>
          </a:p>
        </p:txBody>
      </p:sp>
      <p:sp>
        <p:nvSpPr>
          <p:cNvPr id="14" name="Text 12"/>
          <p:cNvSpPr txBox="1"/>
          <p:nvPr/>
        </p:nvSpPr>
        <p:spPr>
          <a:xfrm>
            <a:off x="8257032" y="2514600"/>
            <a:ext cx="2834640" cy="320040"/>
          </a:xfrm>
          <a:prstGeom prst="rect">
            <a:avLst/>
          </a:prstGeom>
          <a:noFill/>
          <a:ln/>
        </p:spPr>
        <p:txBody>
          <a:bodyPr wrap="square" lIns="0" tIns="0" rIns="0" bIns="0" rtlCol="0" anchor="t"/>
          <a:lstStyle/>
          <a:p>
            <a:pPr indent="0" marL="0">
              <a:buNone/>
            </a:pPr>
            <a:r>
              <a:rPr lang="en-US" sz="1600" b="1" dirty="0">
                <a:solidFill>
                  <a:schemeClr val="tx1"/>
                </a:solidFill>
              </a:rPr>
              <a:t>Concerns that span both</a:t>
            </a:r>
            <a:endParaRPr lang="en-US" sz="1600" dirty="0"/>
          </a:p>
        </p:txBody>
      </p:sp>
      <p:sp>
        <p:nvSpPr>
          <p:cNvPr id="15" name="Text 13"/>
          <p:cNvSpPr txBox="1"/>
          <p:nvPr/>
        </p:nvSpPr>
        <p:spPr>
          <a:xfrm>
            <a:off x="8257032" y="2926080"/>
            <a:ext cx="2880360" cy="192024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accessibility · archivability · authentication · authorization · legal · privacy · security · supportability · usability</a:t>
            </a:r>
            <a:endParaRPr lang="en-US" sz="1400" dirty="0"/>
          </a:p>
        </p:txBody>
      </p:sp>
      <p:sp>
        <p:nvSpPr>
          <p:cNvPr id="16"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7" name="Text 1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No universal standard: ISO publishes its own list, and every organization its own meanings. Agree on one vocabulary in your team.</a:t>
            </a:r>
            <a:endParaRPr lang="en-US" sz="1400" dirty="0"/>
          </a:p>
        </p:txBody>
      </p:sp>
      <p:sp>
        <p:nvSpPr>
          <p:cNvPr id="18" name="Text 16"/>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4, p. 58–63, Tables 4-1, 4-2 and 4-3.</a:t>
            </a:r>
            <a:endParaRPr lang="en-US" sz="1100" dirty="0"/>
          </a:p>
        </p:txBody>
      </p:sp>
      <p:sp>
        <p:nvSpPr>
          <p:cNvPr id="19" name="Text 17"/>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22 / 32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TRADE-OFFS</a:t>
            </a:r>
            <a:endParaRPr lang="en-US" sz="1200" dirty="0"/>
          </a:p>
        </p:txBody>
      </p:sp>
      <p:sp>
        <p:nvSpPr>
          <p:cNvPr id="3" name="Text 0"/>
          <p:cNvSpPr/>
          <p:nvPr>
            <p:ph idx="100" type="title" hasCustomPrompt="1"/>
          </p:nvPr>
        </p:nvSpPr>
        <p:spPr>
          <a:xfrm>
            <a:off x="813816" y="1828800"/>
            <a:ext cx="10881360" cy="2103120"/>
          </a:xfrm>
          <a:prstGeom prst="rect">
            <a:avLst/>
          </a:prstGeom>
          <a:noFill/>
          <a:ln/>
        </p:spPr>
        <p:txBody>
          <a:bodyPr wrap="square" lIns="0" tIns="0" rIns="0" bIns="0" rtlCol="0" anchor="t"/>
          <a:lstStyle/>
          <a:p>
            <a:pPr algn="l" indent="0" marL="0">
              <a:buNone/>
            </a:pPr>
            <a:r>
              <a:rPr lang="en-US" sz="4400" b="1" dirty="0">
                <a:solidFill>
                  <a:schemeClr val="tx1"/>
                </a:solidFill>
                <a:latin typeface="IBM Plex Sans" pitchFamily="34" charset="0"/>
                <a:ea typeface="IBM Plex Sans" pitchFamily="34" charset="-122"/>
                <a:cs typeface="IBM Plex Sans" pitchFamily="34" charset="-120"/>
              </a:rPr>
              <a:t>“Never shoot for the best architecture, but rather the least worst architecture.”</a:t>
            </a:r>
            <a:endParaRPr lang="en-US" sz="4400" dirty="0"/>
          </a:p>
        </p:txBody>
      </p:sp>
      <p:sp>
        <p:nvSpPr>
          <p:cNvPr id="4" name="Text 2"/>
          <p:cNvSpPr txBox="1"/>
          <p:nvPr/>
        </p:nvSpPr>
        <p:spPr>
          <a:xfrm>
            <a:off x="813816" y="4160520"/>
            <a:ext cx="10241280" cy="914400"/>
          </a:xfrm>
          <a:prstGeom prst="rect">
            <a:avLst/>
          </a:prstGeom>
          <a:noFill/>
          <a:ln/>
        </p:spPr>
        <p:txBody>
          <a:bodyPr wrap="square" lIns="0" tIns="0" rIns="0" bIns="0" rtlCol="0" anchor="t"/>
          <a:lstStyle/>
          <a:p>
            <a:pPr indent="0" marL="0">
              <a:buNone/>
            </a:pPr>
            <a:r>
              <a:rPr lang="en-US" sz="2000" dirty="0">
                <a:solidFill>
                  <a:schemeClr val="tx2"/>
                </a:solidFill>
              </a:rPr>
              <a:t>Each characteristic costs design effort and pulls on the others: more security usually means less performance. Like flying a helicopter, one control moves all the others.</a:t>
            </a:r>
            <a:endParaRPr lang="en-US" sz="2000" dirty="0"/>
          </a:p>
        </p:txBody>
      </p:sp>
      <p:sp>
        <p:nvSpPr>
          <p:cNvPr id="5"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4, p. 63–64.</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23 / 32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TRANSLATING THE BUSINESS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Stakeholders speak in domain concerns</a:t>
            </a:r>
            <a:endParaRPr lang="en-US" sz="3600" dirty="0"/>
          </a:p>
        </p:txBody>
      </p:sp>
      <p:sp>
        <p:nvSpPr>
          <p:cNvPr id="4" name="Card"/>
          <p:cNvSpPr/>
          <p:nvPr/>
        </p:nvSpPr>
        <p:spPr>
          <a:xfrm>
            <a:off x="813816" y="2057400"/>
            <a:ext cx="6492240" cy="2926080"/>
          </a:xfrm>
          <a:prstGeom prst="roundRect">
            <a:avLst>
              <a:gd name="adj" fmla="val 2500"/>
            </a:avLst>
          </a:prstGeom>
          <a:solidFill>
            <a:schemeClr val="bg1"/>
          </a:solidFill>
          <a:ln w="6350">
            <a:solidFill>
              <a:schemeClr val="accent4"/>
            </a:solidFill>
            <a:prstDash val="solid"/>
          </a:ln>
        </p:spPr>
      </p:sp>
      <p:sp>
        <p:nvSpPr>
          <p:cNvPr id="5" name="Text 3"/>
          <p:cNvSpPr txBox="1"/>
          <p:nvPr/>
        </p:nvSpPr>
        <p:spPr>
          <a:xfrm>
            <a:off x="1069848" y="2212848"/>
            <a:ext cx="60350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Domain concern → architecture characteristics · Table 5-1</a:t>
            </a:r>
            <a:endParaRPr lang="en-US" sz="1200" dirty="0"/>
          </a:p>
        </p:txBody>
      </p:sp>
      <p:sp>
        <p:nvSpPr>
          <p:cNvPr id="6" name="Text 4"/>
          <p:cNvSpPr txBox="1"/>
          <p:nvPr/>
        </p:nvSpPr>
        <p:spPr>
          <a:xfrm>
            <a:off x="1069848" y="2560320"/>
            <a:ext cx="2148840" cy="457200"/>
          </a:xfrm>
          <a:prstGeom prst="rect">
            <a:avLst/>
          </a:prstGeom>
          <a:noFill/>
          <a:ln/>
        </p:spPr>
        <p:txBody>
          <a:bodyPr wrap="square" lIns="0" tIns="0" rIns="0" bIns="0" rtlCol="0" anchor="t"/>
          <a:lstStyle/>
          <a:p>
            <a:pPr indent="0" marL="0">
              <a:buNone/>
            </a:pPr>
            <a:r>
              <a:rPr lang="en-US" sz="1300" b="1" dirty="0">
                <a:solidFill>
                  <a:schemeClr val="tx1"/>
                </a:solidFill>
              </a:rPr>
              <a:t>Mergers and acquisitions</a:t>
            </a:r>
            <a:endParaRPr lang="en-US" sz="1300" dirty="0"/>
          </a:p>
        </p:txBody>
      </p:sp>
      <p:sp>
        <p:nvSpPr>
          <p:cNvPr id="7" name="Text 5"/>
          <p:cNvSpPr txBox="1"/>
          <p:nvPr/>
        </p:nvSpPr>
        <p:spPr>
          <a:xfrm>
            <a:off x="3246120" y="2560320"/>
            <a:ext cx="3931920" cy="457200"/>
          </a:xfrm>
          <a:prstGeom prst="rect">
            <a:avLst/>
          </a:prstGeom>
          <a:noFill/>
          <a:ln/>
        </p:spPr>
        <p:txBody>
          <a:bodyPr wrap="square" lIns="0" tIns="0" rIns="0" bIns="0" rtlCol="0" anchor="t"/>
          <a:lstStyle/>
          <a:p>
            <a:pPr indent="0" marL="0">
              <a:buNone/>
            </a:pPr>
            <a:r>
              <a:rPr lang="en-US" sz="1250" dirty="0">
                <a:solidFill>
                  <a:schemeClr val="tx2"/>
                </a:solidFill>
              </a:rPr>
              <a:t>interoperability, scalability, adaptability, extensibility</a:t>
            </a:r>
            <a:endParaRPr lang="en-US" sz="1250" dirty="0"/>
          </a:p>
        </p:txBody>
      </p:sp>
      <p:sp>
        <p:nvSpPr>
          <p:cNvPr id="8" name="Text 6"/>
          <p:cNvSpPr txBox="1"/>
          <p:nvPr/>
        </p:nvSpPr>
        <p:spPr>
          <a:xfrm>
            <a:off x="1069848" y="3035808"/>
            <a:ext cx="2148840" cy="457200"/>
          </a:xfrm>
          <a:prstGeom prst="rect">
            <a:avLst/>
          </a:prstGeom>
          <a:noFill/>
          <a:ln/>
        </p:spPr>
        <p:txBody>
          <a:bodyPr wrap="square" lIns="0" tIns="0" rIns="0" bIns="0" rtlCol="0" anchor="t"/>
          <a:lstStyle/>
          <a:p>
            <a:pPr indent="0" marL="0">
              <a:buNone/>
            </a:pPr>
            <a:r>
              <a:rPr lang="en-US" sz="1300" b="1" dirty="0">
                <a:solidFill>
                  <a:schemeClr val="tx1"/>
                </a:solidFill>
              </a:rPr>
              <a:t>Time to market</a:t>
            </a:r>
            <a:endParaRPr lang="en-US" sz="1300" dirty="0"/>
          </a:p>
        </p:txBody>
      </p:sp>
      <p:sp>
        <p:nvSpPr>
          <p:cNvPr id="9" name="Text 7"/>
          <p:cNvSpPr txBox="1"/>
          <p:nvPr/>
        </p:nvSpPr>
        <p:spPr>
          <a:xfrm>
            <a:off x="3246120" y="3035808"/>
            <a:ext cx="3931920" cy="457200"/>
          </a:xfrm>
          <a:prstGeom prst="rect">
            <a:avLst/>
          </a:prstGeom>
          <a:noFill/>
          <a:ln/>
        </p:spPr>
        <p:txBody>
          <a:bodyPr wrap="square" lIns="0" tIns="0" rIns="0" bIns="0" rtlCol="0" anchor="t"/>
          <a:lstStyle/>
          <a:p>
            <a:pPr indent="0" marL="0">
              <a:buNone/>
            </a:pPr>
            <a:r>
              <a:rPr lang="en-US" sz="1250" dirty="0">
                <a:solidFill>
                  <a:schemeClr val="tx2"/>
                </a:solidFill>
              </a:rPr>
              <a:t>agility, testability, deployability</a:t>
            </a:r>
            <a:endParaRPr lang="en-US" sz="1250" dirty="0"/>
          </a:p>
        </p:txBody>
      </p:sp>
      <p:sp>
        <p:nvSpPr>
          <p:cNvPr id="10" name="Text 8"/>
          <p:cNvSpPr txBox="1"/>
          <p:nvPr/>
        </p:nvSpPr>
        <p:spPr>
          <a:xfrm>
            <a:off x="1069848" y="3511296"/>
            <a:ext cx="2148840" cy="457200"/>
          </a:xfrm>
          <a:prstGeom prst="rect">
            <a:avLst/>
          </a:prstGeom>
          <a:noFill/>
          <a:ln/>
        </p:spPr>
        <p:txBody>
          <a:bodyPr wrap="square" lIns="0" tIns="0" rIns="0" bIns="0" rtlCol="0" anchor="t"/>
          <a:lstStyle/>
          <a:p>
            <a:pPr indent="0" marL="0">
              <a:buNone/>
            </a:pPr>
            <a:r>
              <a:rPr lang="en-US" sz="1300" b="1" dirty="0">
                <a:solidFill>
                  <a:schemeClr val="tx1"/>
                </a:solidFill>
              </a:rPr>
              <a:t>User satisfaction</a:t>
            </a:r>
            <a:endParaRPr lang="en-US" sz="1300" dirty="0"/>
          </a:p>
        </p:txBody>
      </p:sp>
      <p:sp>
        <p:nvSpPr>
          <p:cNvPr id="11" name="Text 9"/>
          <p:cNvSpPr txBox="1"/>
          <p:nvPr/>
        </p:nvSpPr>
        <p:spPr>
          <a:xfrm>
            <a:off x="3246120" y="3511296"/>
            <a:ext cx="3931920" cy="457200"/>
          </a:xfrm>
          <a:prstGeom prst="rect">
            <a:avLst/>
          </a:prstGeom>
          <a:noFill/>
          <a:ln/>
        </p:spPr>
        <p:txBody>
          <a:bodyPr wrap="square" lIns="0" tIns="0" rIns="0" bIns="0" rtlCol="0" anchor="t"/>
          <a:lstStyle/>
          <a:p>
            <a:pPr indent="0" marL="0">
              <a:buNone/>
            </a:pPr>
            <a:r>
              <a:rPr lang="en-US" sz="1250" dirty="0">
                <a:solidFill>
                  <a:schemeClr val="tx2"/>
                </a:solidFill>
              </a:rPr>
              <a:t>performance, availability, fault tolerance, testability, deployability, agility, security</a:t>
            </a:r>
            <a:endParaRPr lang="en-US" sz="1250" dirty="0"/>
          </a:p>
        </p:txBody>
      </p:sp>
      <p:sp>
        <p:nvSpPr>
          <p:cNvPr id="12" name="Text 10"/>
          <p:cNvSpPr txBox="1"/>
          <p:nvPr/>
        </p:nvSpPr>
        <p:spPr>
          <a:xfrm>
            <a:off x="1069848" y="3986784"/>
            <a:ext cx="2148840" cy="457200"/>
          </a:xfrm>
          <a:prstGeom prst="rect">
            <a:avLst/>
          </a:prstGeom>
          <a:noFill/>
          <a:ln/>
        </p:spPr>
        <p:txBody>
          <a:bodyPr wrap="square" lIns="0" tIns="0" rIns="0" bIns="0" rtlCol="0" anchor="t"/>
          <a:lstStyle/>
          <a:p>
            <a:pPr indent="0" marL="0">
              <a:buNone/>
            </a:pPr>
            <a:r>
              <a:rPr lang="en-US" sz="1300" b="1" dirty="0">
                <a:solidFill>
                  <a:schemeClr val="tx1"/>
                </a:solidFill>
              </a:rPr>
              <a:t>Competitive advantage</a:t>
            </a:r>
            <a:endParaRPr lang="en-US" sz="1300" dirty="0"/>
          </a:p>
        </p:txBody>
      </p:sp>
      <p:sp>
        <p:nvSpPr>
          <p:cNvPr id="13" name="Text 11"/>
          <p:cNvSpPr txBox="1"/>
          <p:nvPr/>
        </p:nvSpPr>
        <p:spPr>
          <a:xfrm>
            <a:off x="3246120" y="3986784"/>
            <a:ext cx="3931920" cy="457200"/>
          </a:xfrm>
          <a:prstGeom prst="rect">
            <a:avLst/>
          </a:prstGeom>
          <a:noFill/>
          <a:ln/>
        </p:spPr>
        <p:txBody>
          <a:bodyPr wrap="square" lIns="0" tIns="0" rIns="0" bIns="0" rtlCol="0" anchor="t"/>
          <a:lstStyle/>
          <a:p>
            <a:pPr indent="0" marL="0">
              <a:buNone/>
            </a:pPr>
            <a:r>
              <a:rPr lang="en-US" sz="1250" dirty="0">
                <a:solidFill>
                  <a:schemeClr val="tx2"/>
                </a:solidFill>
              </a:rPr>
              <a:t>agility, testability, deployability, scalability, availability, fault tolerance</a:t>
            </a:r>
            <a:endParaRPr lang="en-US" sz="1250" dirty="0"/>
          </a:p>
        </p:txBody>
      </p:sp>
      <p:sp>
        <p:nvSpPr>
          <p:cNvPr id="14" name="Text 12"/>
          <p:cNvSpPr txBox="1"/>
          <p:nvPr/>
        </p:nvSpPr>
        <p:spPr>
          <a:xfrm>
            <a:off x="1069848" y="4462272"/>
            <a:ext cx="2148840" cy="457200"/>
          </a:xfrm>
          <a:prstGeom prst="rect">
            <a:avLst/>
          </a:prstGeom>
          <a:noFill/>
          <a:ln/>
        </p:spPr>
        <p:txBody>
          <a:bodyPr wrap="square" lIns="0" tIns="0" rIns="0" bIns="0" rtlCol="0" anchor="t"/>
          <a:lstStyle/>
          <a:p>
            <a:pPr indent="0" marL="0">
              <a:buNone/>
            </a:pPr>
            <a:r>
              <a:rPr lang="en-US" sz="1300" b="1" dirty="0">
                <a:solidFill>
                  <a:schemeClr val="tx1"/>
                </a:solidFill>
              </a:rPr>
              <a:t>Time and budget</a:t>
            </a:r>
            <a:endParaRPr lang="en-US" sz="1300" dirty="0"/>
          </a:p>
        </p:txBody>
      </p:sp>
      <p:sp>
        <p:nvSpPr>
          <p:cNvPr id="15" name="Text 13"/>
          <p:cNvSpPr txBox="1"/>
          <p:nvPr/>
        </p:nvSpPr>
        <p:spPr>
          <a:xfrm>
            <a:off x="3246120" y="4462272"/>
            <a:ext cx="3931920" cy="457200"/>
          </a:xfrm>
          <a:prstGeom prst="rect">
            <a:avLst/>
          </a:prstGeom>
          <a:noFill/>
          <a:ln/>
        </p:spPr>
        <p:txBody>
          <a:bodyPr wrap="square" lIns="0" tIns="0" rIns="0" bIns="0" rtlCol="0" anchor="t"/>
          <a:lstStyle/>
          <a:p>
            <a:pPr indent="0" marL="0">
              <a:buNone/>
            </a:pPr>
            <a:r>
              <a:rPr lang="en-US" sz="1250" dirty="0">
                <a:solidFill>
                  <a:schemeClr val="tx2"/>
                </a:solidFill>
              </a:rPr>
              <a:t>simplicity, feasibility</a:t>
            </a:r>
            <a:endParaRPr lang="en-US" sz="1250" dirty="0"/>
          </a:p>
        </p:txBody>
      </p:sp>
      <p:sp>
        <p:nvSpPr>
          <p:cNvPr id="16" name="Card"/>
          <p:cNvSpPr/>
          <p:nvPr/>
        </p:nvSpPr>
        <p:spPr>
          <a:xfrm>
            <a:off x="7516368" y="2057400"/>
            <a:ext cx="3867912" cy="2926080"/>
          </a:xfrm>
          <a:prstGeom prst="roundRect">
            <a:avLst>
              <a:gd name="adj" fmla="val 2500"/>
            </a:avLst>
          </a:prstGeom>
          <a:solidFill>
            <a:schemeClr val="tx1"/>
          </a:solidFill>
          <a:ln w="6350">
            <a:solidFill>
              <a:schemeClr val="tx1"/>
            </a:solidFill>
            <a:prstDash val="solid"/>
          </a:ln>
        </p:spPr>
      </p:sp>
      <p:sp>
        <p:nvSpPr>
          <p:cNvPr id="17" name="Text 15"/>
          <p:cNvSpPr txBox="1"/>
          <p:nvPr/>
        </p:nvSpPr>
        <p:spPr>
          <a:xfrm>
            <a:off x="7772400" y="2313432"/>
            <a:ext cx="3355848"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The trap</a:t>
            </a:r>
            <a:endParaRPr lang="en-US" sz="1200" dirty="0"/>
          </a:p>
        </p:txBody>
      </p:sp>
      <p:sp>
        <p:nvSpPr>
          <p:cNvPr id="18" name="Text 16"/>
          <p:cNvSpPr txBox="1"/>
          <p:nvPr/>
        </p:nvSpPr>
        <p:spPr>
          <a:xfrm>
            <a:off x="7772400" y="2660904"/>
            <a:ext cx="3355848" cy="557784"/>
          </a:xfrm>
          <a:prstGeom prst="rect">
            <a:avLst/>
          </a:prstGeom>
          <a:noFill/>
          <a:ln/>
        </p:spPr>
        <p:txBody>
          <a:bodyPr wrap="square" lIns="0" tIns="0" rIns="0" bIns="0" rtlCol="0" anchor="t"/>
          <a:lstStyle/>
          <a:p>
            <a:pPr indent="0" marL="0">
              <a:buNone/>
            </a:pPr>
            <a:r>
              <a:rPr lang="en-US" sz="1600" b="1" dirty="0">
                <a:solidFill>
                  <a:schemeClr val="bg2"/>
                </a:solidFill>
              </a:rPr>
              <a:t>“End-of-day fund pricing must finish on time”</a:t>
            </a:r>
            <a:endParaRPr lang="en-US" sz="1600" dirty="0"/>
          </a:p>
        </p:txBody>
      </p:sp>
      <p:sp>
        <p:nvSpPr>
          <p:cNvPr id="19" name="Text 17"/>
          <p:cNvSpPr txBox="1"/>
          <p:nvPr/>
        </p:nvSpPr>
        <p:spPr>
          <a:xfrm>
            <a:off x="7772400" y="3328416"/>
            <a:ext cx="3355848" cy="1472184"/>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Not just performance: also availability, scalability, reliability, recoverability, auditability. Likewise, time to market is agility + testability + deployability.</a:t>
            </a:r>
            <a:endParaRPr lang="en-US" sz="1300" dirty="0"/>
          </a:p>
        </p:txBody>
      </p:sp>
      <p:sp>
        <p:nvSpPr>
          <p:cNvPr id="20" name="Text 18"/>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5, p. 65–67, Table 5-1.</a:t>
            </a:r>
            <a:endParaRPr lang="en-US" sz="1100" dirty="0"/>
          </a:p>
        </p:txBody>
      </p:sp>
      <p:sp>
        <p:nvSpPr>
          <p:cNvPr id="21" name="Text 19"/>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24 / 32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KEEP THE LIST SHORT</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The Vasa: a ship asked to be everything</a:t>
            </a:r>
            <a:endParaRPr lang="en-US" sz="3600" dirty="0"/>
          </a:p>
        </p:txBody>
      </p:sp>
      <p:sp>
        <p:nvSpPr>
          <p:cNvPr id="4" name="Card"/>
          <p:cNvSpPr/>
          <p:nvPr/>
        </p:nvSpPr>
        <p:spPr>
          <a:xfrm>
            <a:off x="813816" y="2057400"/>
            <a:ext cx="4526280" cy="3017520"/>
          </a:xfrm>
          <a:prstGeom prst="roundRect">
            <a:avLst>
              <a:gd name="adj" fmla="val 2424"/>
            </a:avLst>
          </a:prstGeom>
          <a:solidFill>
            <a:schemeClr val="bg1"/>
          </a:solidFill>
          <a:ln w="6350">
            <a:solidFill>
              <a:schemeClr val="accent4"/>
            </a:solidFill>
            <a:prstDash val="solid"/>
          </a:ln>
        </p:spPr>
      </p:sp>
      <p:pic>
        <p:nvPicPr>
          <p:cNvPr id="5" name="Image 0" descr="fig/vasa-JavierKohen-CC-BY-SA-3.0.jpg">    </p:cNvPr>
          <p:cNvPicPr>
            <a:picLocks noChangeAspect="1"/>
          </p:cNvPicPr>
          <p:nvPr/>
        </p:nvPicPr>
        <p:blipFill>
          <a:blip r:embed="rId1"/>
          <a:srcRect l="0" r="0" t="0" b="0"/>
          <a:stretch/>
        </p:blipFill>
        <p:spPr>
          <a:xfrm>
            <a:off x="905256" y="2148840"/>
            <a:ext cx="4343400" cy="2834640"/>
          </a:xfrm>
          <a:prstGeom prst="rect">
            <a:avLst/>
          </a:prstGeom>
        </p:spPr>
      </p:pic>
      <p:sp>
        <p:nvSpPr>
          <p:cNvPr id="6" name="Card"/>
          <p:cNvSpPr/>
          <p:nvPr/>
        </p:nvSpPr>
        <p:spPr>
          <a:xfrm>
            <a:off x="5504688" y="2057400"/>
            <a:ext cx="3383280" cy="3017520"/>
          </a:xfrm>
          <a:prstGeom prst="roundRect">
            <a:avLst>
              <a:gd name="adj" fmla="val 2424"/>
            </a:avLst>
          </a:prstGeom>
          <a:solidFill>
            <a:schemeClr val="bg1"/>
          </a:solidFill>
          <a:ln w="6350">
            <a:solidFill>
              <a:schemeClr val="accent4"/>
            </a:solidFill>
            <a:prstDash val="solid"/>
          </a:ln>
        </p:spPr>
      </p:sp>
      <p:sp>
        <p:nvSpPr>
          <p:cNvPr id="7" name="Text 4"/>
          <p:cNvSpPr txBox="1"/>
          <p:nvPr/>
        </p:nvSpPr>
        <p:spPr>
          <a:xfrm>
            <a:off x="5760720" y="2313432"/>
            <a:ext cx="287121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Sweden, 1626–1628</a:t>
            </a:r>
            <a:endParaRPr lang="en-US" sz="1200" dirty="0"/>
          </a:p>
        </p:txBody>
      </p:sp>
      <p:sp>
        <p:nvSpPr>
          <p:cNvPr id="8" name="Text 5"/>
          <p:cNvSpPr txBox="1"/>
          <p:nvPr/>
        </p:nvSpPr>
        <p:spPr>
          <a:xfrm>
            <a:off x="5760720" y="2660904"/>
            <a:ext cx="2871216" cy="589788"/>
          </a:xfrm>
          <a:prstGeom prst="rect">
            <a:avLst/>
          </a:prstGeom>
          <a:noFill/>
          <a:ln/>
        </p:spPr>
        <p:txBody>
          <a:bodyPr wrap="square" lIns="0" tIns="0" rIns="0" bIns="0" rtlCol="0" anchor="t"/>
          <a:lstStyle/>
          <a:p>
            <a:pPr indent="0" marL="0">
              <a:buNone/>
            </a:pPr>
            <a:r>
              <a:rPr lang="en-US" sz="1700" b="1" dirty="0">
                <a:solidFill>
                  <a:schemeClr val="tx1"/>
                </a:solidFill>
              </a:rPr>
              <a:t>Troop ship and gunship in one</a:t>
            </a:r>
            <a:endParaRPr lang="en-US" sz="1700" dirty="0"/>
          </a:p>
        </p:txBody>
      </p:sp>
      <p:sp>
        <p:nvSpPr>
          <p:cNvPr id="9" name="Text 6"/>
          <p:cNvSpPr txBox="1"/>
          <p:nvPr/>
        </p:nvSpPr>
        <p:spPr>
          <a:xfrm>
            <a:off x="5760720" y="3360420"/>
            <a:ext cx="2871216" cy="1531620"/>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Two gun decks, cannons twice the usual size. The builders had doubts but couldn't say no to the king. Top-heavy, it capsized in the harbour.</a:t>
            </a:r>
            <a:endParaRPr lang="en-US" sz="1300" dirty="0"/>
          </a:p>
        </p:txBody>
      </p:sp>
      <p:sp>
        <p:nvSpPr>
          <p:cNvPr id="10" name="Card"/>
          <p:cNvSpPr/>
          <p:nvPr/>
        </p:nvSpPr>
        <p:spPr>
          <a:xfrm>
            <a:off x="9052560" y="2057400"/>
            <a:ext cx="2331720" cy="3017520"/>
          </a:xfrm>
          <a:prstGeom prst="roundRect">
            <a:avLst>
              <a:gd name="adj" fmla="val 3137"/>
            </a:avLst>
          </a:prstGeom>
          <a:solidFill>
            <a:schemeClr val="tx1"/>
          </a:solidFill>
          <a:ln w="6350">
            <a:solidFill>
              <a:schemeClr val="tx1"/>
            </a:solidFill>
            <a:prstDash val="solid"/>
          </a:ln>
        </p:spPr>
      </p:sp>
      <p:sp>
        <p:nvSpPr>
          <p:cNvPr id="11" name="Text 8"/>
          <p:cNvSpPr txBox="1"/>
          <p:nvPr/>
        </p:nvSpPr>
        <p:spPr>
          <a:xfrm>
            <a:off x="9253728" y="2148840"/>
            <a:ext cx="1371600" cy="1051560"/>
          </a:xfrm>
          <a:prstGeom prst="rect">
            <a:avLst/>
          </a:prstGeom>
          <a:noFill/>
          <a:ln/>
        </p:spPr>
        <p:txBody>
          <a:bodyPr wrap="square" lIns="0" tIns="0" rIns="0" bIns="0" rtlCol="0" anchor="t"/>
          <a:lstStyle/>
          <a:p>
            <a:pPr indent="0" marL="0">
              <a:buNone/>
            </a:pPr>
            <a:r>
              <a:rPr lang="en-US" sz="6600" b="1" dirty="0">
                <a:solidFill>
                  <a:schemeClr val="accent2"/>
                </a:solidFill>
              </a:rPr>
              <a:t>3</a:t>
            </a:r>
            <a:endParaRPr lang="en-US" sz="6600" dirty="0"/>
          </a:p>
        </p:txBody>
      </p:sp>
      <p:sp>
        <p:nvSpPr>
          <p:cNvPr id="12" name="Text 9"/>
          <p:cNvSpPr txBox="1"/>
          <p:nvPr/>
        </p:nvSpPr>
        <p:spPr>
          <a:xfrm>
            <a:off x="9253728" y="3246120"/>
            <a:ext cx="1965960" cy="914400"/>
          </a:xfrm>
          <a:prstGeom prst="rect">
            <a:avLst/>
          </a:prstGeom>
          <a:noFill/>
          <a:ln/>
        </p:spPr>
        <p:txBody>
          <a:bodyPr wrap="square" lIns="0" tIns="0" rIns="0" bIns="0" rtlCol="0" anchor="t"/>
          <a:lstStyle/>
          <a:p>
            <a:pPr indent="0" marL="0">
              <a:buNone/>
            </a:pPr>
            <a:r>
              <a:rPr lang="en-US" sz="1400" dirty="0">
                <a:solidFill>
                  <a:schemeClr val="bg2"/>
                </a:solidFill>
              </a:rPr>
              <a:t>characteristics, picked by the stakeholders, in any order</a:t>
            </a:r>
            <a:endParaRPr lang="en-US" sz="1400" dirty="0"/>
          </a:p>
        </p:txBody>
      </p:sp>
      <p:sp>
        <p:nvSpPr>
          <p:cNvPr id="13" name="Text 10"/>
          <p:cNvSpPr txBox="1"/>
          <p:nvPr/>
        </p:nvSpPr>
        <p:spPr>
          <a:xfrm>
            <a:off x="9253728" y="4206240"/>
            <a:ext cx="1965960" cy="731520"/>
          </a:xfrm>
          <a:prstGeom prst="rect">
            <a:avLst/>
          </a:prstGeom>
          <a:noFill/>
          <a:ln/>
        </p:spPr>
        <p:txBody>
          <a:bodyPr wrap="square" lIns="0" tIns="0" rIns="0" bIns="0" rtlCol="0" anchor="t"/>
          <a:lstStyle/>
          <a:p>
            <a:pPr indent="0" marL="0">
              <a:buNone/>
            </a:pPr>
            <a:r>
              <a:rPr lang="en-US" sz="1200" dirty="0">
                <a:solidFill>
                  <a:schemeClr val="accent5"/>
                </a:solidFill>
              </a:rPr>
              <a:t>Ranking the full list rarely reaches agreement.</a:t>
            </a:r>
            <a:endParaRPr lang="en-US" sz="1200" dirty="0"/>
          </a:p>
        </p:txBody>
      </p:sp>
      <p:sp>
        <p:nvSpPr>
          <p:cNvPr id="14" name="Text 11"/>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2020, ch. 5, p. 65–66. Photo: JavierKohen, Wikimedia Commons, CC BY-SA 3.0.</a:t>
            </a:r>
            <a:endParaRPr lang="en-US" sz="1100" dirty="0"/>
          </a:p>
        </p:txBody>
      </p:sp>
      <p:sp>
        <p:nvSpPr>
          <p:cNvPr id="15" name="Text 12"/>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25 / 32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EXPLICIT AND IMPLICIT</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1,000 students, 10 hours, the last 10 minutes</a:t>
            </a:r>
            <a:endParaRPr lang="en-US" sz="3600" dirty="0"/>
          </a:p>
        </p:txBody>
      </p:sp>
      <p:sp>
        <p:nvSpPr>
          <p:cNvPr id="4" name="Card"/>
          <p:cNvSpPr/>
          <p:nvPr/>
        </p:nvSpPr>
        <p:spPr>
          <a:xfrm>
            <a:off x="813816" y="2057400"/>
            <a:ext cx="4480560" cy="2926080"/>
          </a:xfrm>
          <a:prstGeom prst="roundRect">
            <a:avLst>
              <a:gd name="adj" fmla="val 2500"/>
            </a:avLst>
          </a:prstGeom>
          <a:solidFill>
            <a:schemeClr val="tx1"/>
          </a:solidFill>
          <a:ln w="6350">
            <a:solidFill>
              <a:schemeClr val="tx1"/>
            </a:solidFill>
            <a:prstDash val="solid"/>
          </a:ln>
        </p:spPr>
      </p:sp>
      <p:sp>
        <p:nvSpPr>
          <p:cNvPr id="5" name="Text 3"/>
          <p:cNvSpPr txBox="1"/>
          <p:nvPr/>
        </p:nvSpPr>
        <p:spPr>
          <a:xfrm>
            <a:off x="1069848" y="2194560"/>
            <a:ext cx="4023360" cy="1051560"/>
          </a:xfrm>
          <a:prstGeom prst="rect">
            <a:avLst/>
          </a:prstGeom>
          <a:noFill/>
          <a:ln/>
        </p:spPr>
        <p:txBody>
          <a:bodyPr wrap="square" lIns="0" tIns="0" rIns="0" bIns="0" rtlCol="0" anchor="t"/>
          <a:lstStyle/>
          <a:p>
            <a:pPr indent="0" marL="0">
              <a:buNone/>
            </a:pPr>
            <a:r>
              <a:rPr lang="en-US" sz="6600" b="1" dirty="0">
                <a:solidFill>
                  <a:schemeClr val="accent2"/>
                </a:solidFill>
              </a:rPr>
              <a:t>1,000</a:t>
            </a:r>
            <a:endParaRPr lang="en-US" sz="6600" dirty="0"/>
          </a:p>
        </p:txBody>
      </p:sp>
      <p:sp>
        <p:nvSpPr>
          <p:cNvPr id="6" name="Text 4"/>
          <p:cNvSpPr txBox="1"/>
          <p:nvPr/>
        </p:nvSpPr>
        <p:spPr>
          <a:xfrm>
            <a:off x="1069848" y="3291840"/>
            <a:ext cx="4023360" cy="1600200"/>
          </a:xfrm>
          <a:prstGeom prst="rect">
            <a:avLst/>
          </a:prstGeom>
          <a:noFill/>
          <a:ln/>
        </p:spPr>
        <p:txBody>
          <a:bodyPr wrap="square" lIns="0" tIns="0" rIns="0" bIns="0" rtlCol="0" anchor="t"/>
          <a:lstStyle/>
          <a:p>
            <a:pPr indent="0" marL="0">
              <a:buNone/>
            </a:pPr>
            <a:r>
              <a:rPr lang="en-US" sz="1500" dirty="0">
                <a:solidFill>
                  <a:schemeClr val="bg2"/>
                </a:solidFill>
              </a:rPr>
              <a:t>students register for courses within 10 hours. Spread evenly, or all in the last 10 minutes? Anyone who knows students knows the answer. It won't be in the requirements.</a:t>
            </a:r>
            <a:endParaRPr lang="en-US" sz="1500" dirty="0"/>
          </a:p>
        </p:txBody>
      </p:sp>
      <p:sp>
        <p:nvSpPr>
          <p:cNvPr id="7" name="Card"/>
          <p:cNvSpPr/>
          <p:nvPr/>
        </p:nvSpPr>
        <p:spPr>
          <a:xfrm>
            <a:off x="5504688" y="2057400"/>
            <a:ext cx="5879592" cy="1371600"/>
          </a:xfrm>
          <a:prstGeom prst="roundRect">
            <a:avLst>
              <a:gd name="adj" fmla="val 5333"/>
            </a:avLst>
          </a:prstGeom>
          <a:solidFill>
            <a:schemeClr val="bg1"/>
          </a:solidFill>
          <a:ln w="6350">
            <a:solidFill>
              <a:schemeClr val="accent4"/>
            </a:solidFill>
            <a:prstDash val="solid"/>
          </a:ln>
        </p:spPr>
      </p:sp>
      <p:sp>
        <p:nvSpPr>
          <p:cNvPr id="8" name="Text 6"/>
          <p:cNvSpPr txBox="1"/>
          <p:nvPr/>
        </p:nvSpPr>
        <p:spPr>
          <a:xfrm>
            <a:off x="5760720" y="2313432"/>
            <a:ext cx="536752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Explicit</a:t>
            </a:r>
            <a:endParaRPr lang="en-US" sz="1200" dirty="0"/>
          </a:p>
        </p:txBody>
      </p:sp>
      <p:sp>
        <p:nvSpPr>
          <p:cNvPr id="9" name="Text 7"/>
          <p:cNvSpPr txBox="1"/>
          <p:nvPr/>
        </p:nvSpPr>
        <p:spPr>
          <a:xfrm>
            <a:off x="5760720" y="2660904"/>
            <a:ext cx="5367528" cy="58521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Stated in the requirements: expected number of users, scale, a response time someone asked for.</a:t>
            </a:r>
            <a:endParaRPr lang="en-US" sz="1400" dirty="0"/>
          </a:p>
        </p:txBody>
      </p:sp>
      <p:sp>
        <p:nvSpPr>
          <p:cNvPr id="10" name="Card"/>
          <p:cNvSpPr/>
          <p:nvPr/>
        </p:nvSpPr>
        <p:spPr>
          <a:xfrm>
            <a:off x="5504688" y="3611880"/>
            <a:ext cx="5879592" cy="1371600"/>
          </a:xfrm>
          <a:prstGeom prst="roundRect">
            <a:avLst>
              <a:gd name="adj" fmla="val 5333"/>
            </a:avLst>
          </a:prstGeom>
          <a:solidFill>
            <a:schemeClr val="bg1"/>
          </a:solidFill>
          <a:ln w="6350">
            <a:solidFill>
              <a:schemeClr val="accent4"/>
            </a:solidFill>
            <a:prstDash val="solid"/>
          </a:ln>
        </p:spPr>
      </p:sp>
      <p:sp>
        <p:nvSpPr>
          <p:cNvPr id="11" name="Text 9"/>
          <p:cNvSpPr txBox="1"/>
          <p:nvPr/>
        </p:nvSpPr>
        <p:spPr>
          <a:xfrm>
            <a:off x="5760720" y="3867912"/>
            <a:ext cx="536752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Implicit</a:t>
            </a:r>
            <a:endParaRPr lang="en-US" sz="1200" dirty="0"/>
          </a:p>
        </p:txBody>
      </p:sp>
      <p:sp>
        <p:nvSpPr>
          <p:cNvPr id="12" name="Text 10"/>
          <p:cNvSpPr txBox="1"/>
          <p:nvPr/>
        </p:nvSpPr>
        <p:spPr>
          <a:xfrm>
            <a:off x="5760720" y="4215384"/>
            <a:ext cx="5367528" cy="58521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Rarely written, still necessary: availability, reliability, security, and load shapes like this one. Found through domain knowledge.</a:t>
            </a:r>
            <a:endParaRPr lang="en-US" sz="1400" dirty="0"/>
          </a:p>
        </p:txBody>
      </p:sp>
      <p:sp>
        <p:nvSpPr>
          <p:cNvPr id="13" name="Callout"/>
          <p:cNvSpPr/>
          <p:nvPr/>
        </p:nvSpPr>
        <p:spPr>
          <a:xfrm>
            <a:off x="813816" y="5138928"/>
            <a:ext cx="10570464" cy="566928"/>
          </a:xfrm>
          <a:prstGeom prst="roundRect">
            <a:avLst>
              <a:gd name="adj" fmla="val 9677"/>
            </a:avLst>
          </a:prstGeom>
          <a:solidFill>
            <a:schemeClr val="tx1"/>
          </a:solidFill>
          <a:ln w="6350">
            <a:solidFill>
              <a:schemeClr val="tx1"/>
            </a:solidFill>
            <a:prstDash val="solid"/>
          </a:ln>
        </p:spPr>
      </p:sp>
      <p:sp>
        <p:nvSpPr>
          <p:cNvPr id="14" name="Text 12"/>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You know this domain from the inside: exam-session sign-ups, a Moodle deadline at 23:59.</a:t>
            </a:r>
            <a:endParaRPr lang="en-US" sz="1400" dirty="0"/>
          </a:p>
        </p:txBody>
      </p:sp>
      <p:sp>
        <p:nvSpPr>
          <p:cNvPr id="15" name="Text 1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4, p. 57; ch. 5, p. 67–68. Callout: course content.</a:t>
            </a:r>
            <a:endParaRPr lang="en-US" sz="1100" dirty="0"/>
          </a:p>
        </p:txBody>
      </p:sp>
      <p:sp>
        <p:nvSpPr>
          <p:cNvPr id="16" name="Text 1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26 / 32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WORKED EXAMPLE · ARCHITECTURE KATA</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Silicon Sandwiches, worked through</a:t>
            </a:r>
            <a:endParaRPr lang="en-US" sz="3600" dirty="0"/>
          </a:p>
        </p:txBody>
      </p:sp>
      <p:sp>
        <p:nvSpPr>
          <p:cNvPr id="4" name="Card"/>
          <p:cNvSpPr/>
          <p:nvPr/>
        </p:nvSpPr>
        <p:spPr>
          <a:xfrm>
            <a:off x="813816" y="2011680"/>
            <a:ext cx="5303520" cy="3017520"/>
          </a:xfrm>
          <a:prstGeom prst="roundRect">
            <a:avLst>
              <a:gd name="adj" fmla="val 2424"/>
            </a:avLst>
          </a:prstGeom>
          <a:solidFill>
            <a:schemeClr val="bg1"/>
          </a:solidFill>
          <a:ln w="6350">
            <a:solidFill>
              <a:schemeClr val="accent4"/>
            </a:solidFill>
            <a:prstDash val="solid"/>
          </a:ln>
        </p:spPr>
      </p:sp>
      <p:sp>
        <p:nvSpPr>
          <p:cNvPr id="5" name="Text 3"/>
          <p:cNvSpPr txBox="1"/>
          <p:nvPr/>
        </p:nvSpPr>
        <p:spPr>
          <a:xfrm>
            <a:off x="1024128" y="2148840"/>
            <a:ext cx="1463040" cy="237744"/>
          </a:xfrm>
          <a:prstGeom prst="rect">
            <a:avLst/>
          </a:prstGeom>
          <a:noFill/>
          <a:ln/>
        </p:spPr>
        <p:txBody>
          <a:bodyPr wrap="square" lIns="0" tIns="0" rIns="0" bIns="0" rtlCol="0" anchor="t"/>
          <a:lstStyle/>
          <a:p>
            <a:pPr indent="0" marL="0">
              <a:buNone/>
            </a:pPr>
            <a:r>
              <a:rPr lang="en-US" sz="1100" dirty="0">
                <a:solidFill>
                  <a:schemeClr val="accent1"/>
                </a:solidFill>
                <a:latin typeface="JetBrains Mono" pitchFamily="34" charset="0"/>
                <a:ea typeface="JetBrains Mono" pitchFamily="34" charset="-122"/>
                <a:cs typeface="JetBrains Mono" pitchFamily="34" charset="-120"/>
              </a:rPr>
              <a:t>Description</a:t>
            </a:r>
            <a:endParaRPr lang="en-US" sz="1100" dirty="0"/>
          </a:p>
        </p:txBody>
      </p:sp>
      <p:sp>
        <p:nvSpPr>
          <p:cNvPr id="6" name="Text 4"/>
          <p:cNvSpPr txBox="1"/>
          <p:nvPr/>
        </p:nvSpPr>
        <p:spPr>
          <a:xfrm>
            <a:off x="2514600" y="2121408"/>
            <a:ext cx="3474720" cy="274320"/>
          </a:xfrm>
          <a:prstGeom prst="rect">
            <a:avLst/>
          </a:prstGeom>
          <a:noFill/>
          <a:ln/>
        </p:spPr>
        <p:txBody>
          <a:bodyPr wrap="square" lIns="0" tIns="0" rIns="0" bIns="0" rtlCol="0" anchor="t"/>
          <a:lstStyle/>
          <a:p>
            <a:pPr indent="0" marL="0">
              <a:buNone/>
            </a:pPr>
            <a:r>
              <a:rPr lang="en-US" sz="1300" dirty="0">
                <a:solidFill>
                  <a:schemeClr val="tx1"/>
                </a:solidFill>
              </a:rPr>
              <a:t>A sandwich chain adds online ordering.</a:t>
            </a:r>
            <a:endParaRPr lang="en-US" sz="1300" dirty="0"/>
          </a:p>
        </p:txBody>
      </p:sp>
      <p:sp>
        <p:nvSpPr>
          <p:cNvPr id="7" name="Text 5"/>
          <p:cNvSpPr txBox="1"/>
          <p:nvPr/>
        </p:nvSpPr>
        <p:spPr>
          <a:xfrm>
            <a:off x="1024128" y="2606040"/>
            <a:ext cx="1463040" cy="237744"/>
          </a:xfrm>
          <a:prstGeom prst="rect">
            <a:avLst/>
          </a:prstGeom>
          <a:noFill/>
          <a:ln/>
        </p:spPr>
        <p:txBody>
          <a:bodyPr wrap="square" lIns="0" tIns="0" rIns="0" bIns="0" rtlCol="0" anchor="t"/>
          <a:lstStyle/>
          <a:p>
            <a:pPr indent="0" marL="0">
              <a:buNone/>
            </a:pPr>
            <a:r>
              <a:rPr lang="en-US" sz="1100" dirty="0">
                <a:solidFill>
                  <a:schemeClr val="accent1"/>
                </a:solidFill>
                <a:latin typeface="JetBrains Mono" pitchFamily="34" charset="0"/>
                <a:ea typeface="JetBrains Mono" pitchFamily="34" charset="-122"/>
                <a:cs typeface="JetBrains Mono" pitchFamily="34" charset="-120"/>
              </a:rPr>
              <a:t>Users</a:t>
            </a:r>
            <a:endParaRPr lang="en-US" sz="1100" dirty="0"/>
          </a:p>
        </p:txBody>
      </p:sp>
      <p:sp>
        <p:nvSpPr>
          <p:cNvPr id="8" name="Text 6"/>
          <p:cNvSpPr txBox="1"/>
          <p:nvPr/>
        </p:nvSpPr>
        <p:spPr>
          <a:xfrm>
            <a:off x="2514600" y="2578608"/>
            <a:ext cx="3474720" cy="274320"/>
          </a:xfrm>
          <a:prstGeom prst="rect">
            <a:avLst/>
          </a:prstGeom>
          <a:noFill/>
          <a:ln/>
        </p:spPr>
        <p:txBody>
          <a:bodyPr wrap="square" lIns="0" tIns="0" rIns="0" bIns="0" rtlCol="0" anchor="t"/>
          <a:lstStyle/>
          <a:p>
            <a:pPr indent="0" marL="0">
              <a:buNone/>
            </a:pPr>
            <a:r>
              <a:rPr lang="en-US" sz="1300" dirty="0">
                <a:solidFill>
                  <a:schemeClr val="tx1"/>
                </a:solidFill>
              </a:rPr>
              <a:t>Thousands, perhaps one day millions.</a:t>
            </a:r>
            <a:endParaRPr lang="en-US" sz="1300" dirty="0"/>
          </a:p>
        </p:txBody>
      </p:sp>
      <p:sp>
        <p:nvSpPr>
          <p:cNvPr id="9" name="Text 7"/>
          <p:cNvSpPr txBox="1"/>
          <p:nvPr/>
        </p:nvSpPr>
        <p:spPr>
          <a:xfrm>
            <a:off x="1024128" y="3063240"/>
            <a:ext cx="1463040" cy="237744"/>
          </a:xfrm>
          <a:prstGeom prst="rect">
            <a:avLst/>
          </a:prstGeom>
          <a:noFill/>
          <a:ln/>
        </p:spPr>
        <p:txBody>
          <a:bodyPr wrap="square" lIns="0" tIns="0" rIns="0" bIns="0" rtlCol="0" anchor="t"/>
          <a:lstStyle/>
          <a:p>
            <a:pPr indent="0" marL="0">
              <a:buNone/>
            </a:pPr>
            <a:r>
              <a:rPr lang="en-US" sz="1100" dirty="0">
                <a:solidFill>
                  <a:schemeClr val="accent1"/>
                </a:solidFill>
                <a:latin typeface="JetBrains Mono" pitchFamily="34" charset="0"/>
                <a:ea typeface="JetBrains Mono" pitchFamily="34" charset="-122"/>
                <a:cs typeface="JetBrains Mono" pitchFamily="34" charset="-120"/>
              </a:rPr>
              <a:t>Requirements</a:t>
            </a:r>
            <a:endParaRPr lang="en-US" sz="1100" dirty="0"/>
          </a:p>
        </p:txBody>
      </p:sp>
      <p:sp>
        <p:nvSpPr>
          <p:cNvPr id="10" name="Text 8"/>
          <p:cNvSpPr txBox="1"/>
          <p:nvPr/>
        </p:nvSpPr>
        <p:spPr>
          <a:xfrm>
            <a:off x="2514600" y="3035808"/>
            <a:ext cx="3474720" cy="822960"/>
          </a:xfrm>
          <a:prstGeom prst="rect">
            <a:avLst/>
          </a:prstGeom>
          <a:noFill/>
          <a:ln/>
        </p:spPr>
        <p:txBody>
          <a:bodyPr wrap="square" lIns="0" tIns="0" rIns="0" bIns="0" rtlCol="0" anchor="t"/>
          <a:lstStyle/>
          <a:p>
            <a:pPr indent="0" marL="0">
              <a:buNone/>
            </a:pPr>
            <a:r>
              <a:rPr lang="en-US" sz="1300" dirty="0">
                <a:solidFill>
                  <a:schemeClr val="tx1"/>
                </a:solidFill>
              </a:rPr>
              <a:t>Pickup time and directions (external traffic maps); delivery; mobile access; national and local specials; pay online, in shop or on delivery.</a:t>
            </a:r>
            <a:endParaRPr lang="en-US" sz="1300" dirty="0"/>
          </a:p>
        </p:txBody>
      </p:sp>
      <p:sp>
        <p:nvSpPr>
          <p:cNvPr id="11" name="Text 9"/>
          <p:cNvSpPr txBox="1"/>
          <p:nvPr/>
        </p:nvSpPr>
        <p:spPr>
          <a:xfrm>
            <a:off x="1024128" y="4069080"/>
            <a:ext cx="1463040" cy="237744"/>
          </a:xfrm>
          <a:prstGeom prst="rect">
            <a:avLst/>
          </a:prstGeom>
          <a:noFill/>
          <a:ln/>
        </p:spPr>
        <p:txBody>
          <a:bodyPr wrap="square" lIns="0" tIns="0" rIns="0" bIns="0" rtlCol="0" anchor="t"/>
          <a:lstStyle/>
          <a:p>
            <a:pPr indent="0" marL="0">
              <a:buNone/>
            </a:pPr>
            <a:r>
              <a:rPr lang="en-US" sz="1100" dirty="0">
                <a:solidFill>
                  <a:schemeClr val="accent1"/>
                </a:solidFill>
                <a:latin typeface="JetBrains Mono" pitchFamily="34" charset="0"/>
                <a:ea typeface="JetBrains Mono" pitchFamily="34" charset="-122"/>
                <a:cs typeface="JetBrains Mono" pitchFamily="34" charset="-120"/>
              </a:rPr>
              <a:t>Context</a:t>
            </a:r>
            <a:endParaRPr lang="en-US" sz="1100" dirty="0"/>
          </a:p>
        </p:txBody>
      </p:sp>
      <p:sp>
        <p:nvSpPr>
          <p:cNvPr id="12" name="Text 10"/>
          <p:cNvSpPr txBox="1"/>
          <p:nvPr/>
        </p:nvSpPr>
        <p:spPr>
          <a:xfrm>
            <a:off x="2514600" y="4041648"/>
            <a:ext cx="3474720" cy="502920"/>
          </a:xfrm>
          <a:prstGeom prst="rect">
            <a:avLst/>
          </a:prstGeom>
          <a:noFill/>
          <a:ln/>
        </p:spPr>
        <p:txBody>
          <a:bodyPr wrap="square" lIns="0" tIns="0" rIns="0" bIns="0" rtlCol="0" anchor="t"/>
          <a:lstStyle/>
          <a:p>
            <a:pPr indent="0" marL="0">
              <a:buNone/>
            </a:pPr>
            <a:r>
              <a:rPr lang="en-US" sz="1300" dirty="0">
                <a:solidFill>
                  <a:schemeClr val="tx1"/>
                </a:solidFill>
              </a:rPr>
              <a:t>Franchises, different owners; overseas soon; cheap labour.</a:t>
            </a:r>
            <a:endParaRPr lang="en-US" sz="1300" dirty="0"/>
          </a:p>
        </p:txBody>
      </p:sp>
      <p:sp>
        <p:nvSpPr>
          <p:cNvPr id="13" name="Card"/>
          <p:cNvSpPr/>
          <p:nvPr/>
        </p:nvSpPr>
        <p:spPr>
          <a:xfrm>
            <a:off x="6327648" y="2011680"/>
            <a:ext cx="5056632" cy="438912"/>
          </a:xfrm>
          <a:prstGeom prst="roundRect">
            <a:avLst>
              <a:gd name="adj" fmla="val 16667"/>
            </a:avLst>
          </a:prstGeom>
          <a:solidFill>
            <a:schemeClr val="bg1"/>
          </a:solidFill>
          <a:ln w="6350">
            <a:solidFill>
              <a:schemeClr val="accent4"/>
            </a:solidFill>
            <a:prstDash val="solid"/>
          </a:ln>
        </p:spPr>
      </p:sp>
      <p:sp>
        <p:nvSpPr>
          <p:cNvPr id="14" name="Text 12"/>
          <p:cNvSpPr txBox="1"/>
          <p:nvPr/>
        </p:nvSpPr>
        <p:spPr>
          <a:xfrm>
            <a:off x="6510528" y="2011680"/>
            <a:ext cx="4754880" cy="438912"/>
          </a:xfrm>
          <a:prstGeom prst="rect">
            <a:avLst/>
          </a:prstGeom>
          <a:noFill/>
          <a:ln/>
        </p:spPr>
        <p:txBody>
          <a:bodyPr wrap="square" lIns="0" tIns="0" rIns="0" bIns="0" rtlCol="0" anchor="ctr"/>
          <a:lstStyle/>
          <a:p>
            <a:pPr indent="0" marL="0">
              <a:buNone/>
            </a:pPr>
            <a:r>
              <a:rPr lang="en-US" sz="1250" b="1" dirty="0">
                <a:solidFill>
                  <a:schemeClr val="tx1"/>
                </a:solidFill>
              </a:rPr>
              <a:t>Scalability  </a:t>
            </a:r>
            <a:pPr indent="0" marL="0">
              <a:buNone/>
            </a:pPr>
            <a:r>
              <a:rPr lang="en-US" sz="1250" dirty="0">
                <a:solidFill>
                  <a:schemeClr val="tx2"/>
                </a:solidFill>
              </a:rPr>
              <a:t>“perhaps one day millions”</a:t>
            </a:r>
            <a:endParaRPr lang="en-US" sz="1250" dirty="0"/>
          </a:p>
        </p:txBody>
      </p:sp>
      <p:sp>
        <p:nvSpPr>
          <p:cNvPr id="15" name="Card"/>
          <p:cNvSpPr/>
          <p:nvPr/>
        </p:nvSpPr>
        <p:spPr>
          <a:xfrm>
            <a:off x="6327648" y="2523744"/>
            <a:ext cx="5056632" cy="438912"/>
          </a:xfrm>
          <a:prstGeom prst="roundRect">
            <a:avLst>
              <a:gd name="adj" fmla="val 16667"/>
            </a:avLst>
          </a:prstGeom>
          <a:solidFill>
            <a:schemeClr val="bg1"/>
          </a:solidFill>
          <a:ln w="6350">
            <a:solidFill>
              <a:schemeClr val="accent4"/>
            </a:solidFill>
            <a:prstDash val="solid"/>
          </a:ln>
        </p:spPr>
      </p:sp>
      <p:sp>
        <p:nvSpPr>
          <p:cNvPr id="16" name="Text 14"/>
          <p:cNvSpPr txBox="1"/>
          <p:nvPr/>
        </p:nvSpPr>
        <p:spPr>
          <a:xfrm>
            <a:off x="6510528" y="2523744"/>
            <a:ext cx="4754880" cy="438912"/>
          </a:xfrm>
          <a:prstGeom prst="rect">
            <a:avLst/>
          </a:prstGeom>
          <a:noFill/>
          <a:ln/>
        </p:spPr>
        <p:txBody>
          <a:bodyPr wrap="square" lIns="0" tIns="0" rIns="0" bIns="0" rtlCol="0" anchor="ctr"/>
          <a:lstStyle/>
          <a:p>
            <a:pPr indent="0" marL="0">
              <a:buNone/>
            </a:pPr>
            <a:r>
              <a:rPr lang="en-US" sz="1250" b="1" dirty="0">
                <a:solidFill>
                  <a:schemeClr val="tx1"/>
                </a:solidFill>
              </a:rPr>
              <a:t>Elasticity  </a:t>
            </a:r>
            <a:pPr indent="0" marL="0">
              <a:buNone/>
            </a:pPr>
            <a:r>
              <a:rPr lang="en-US" sz="1250" dirty="0">
                <a:solidFill>
                  <a:schemeClr val="tx2"/>
                </a:solidFill>
              </a:rPr>
              <a:t>lunchtime bursts: in the domain, not the brief</a:t>
            </a:r>
            <a:endParaRPr lang="en-US" sz="1250" dirty="0"/>
          </a:p>
        </p:txBody>
      </p:sp>
      <p:sp>
        <p:nvSpPr>
          <p:cNvPr id="17" name="Card"/>
          <p:cNvSpPr/>
          <p:nvPr/>
        </p:nvSpPr>
        <p:spPr>
          <a:xfrm>
            <a:off x="6327648" y="3035808"/>
            <a:ext cx="5056632" cy="438912"/>
          </a:xfrm>
          <a:prstGeom prst="roundRect">
            <a:avLst>
              <a:gd name="adj" fmla="val 16667"/>
            </a:avLst>
          </a:prstGeom>
          <a:solidFill>
            <a:schemeClr val="bg1"/>
          </a:solidFill>
          <a:ln w="6350">
            <a:solidFill>
              <a:schemeClr val="accent4"/>
            </a:solidFill>
            <a:prstDash val="solid"/>
          </a:ln>
        </p:spPr>
      </p:sp>
      <p:sp>
        <p:nvSpPr>
          <p:cNvPr id="18" name="Text 16"/>
          <p:cNvSpPr txBox="1"/>
          <p:nvPr/>
        </p:nvSpPr>
        <p:spPr>
          <a:xfrm>
            <a:off x="6510528" y="3035808"/>
            <a:ext cx="4754880" cy="438912"/>
          </a:xfrm>
          <a:prstGeom prst="rect">
            <a:avLst/>
          </a:prstGeom>
          <a:noFill/>
          <a:ln/>
        </p:spPr>
        <p:txBody>
          <a:bodyPr wrap="square" lIns="0" tIns="0" rIns="0" bIns="0" rtlCol="0" anchor="ctr"/>
          <a:lstStyle/>
          <a:p>
            <a:pPr indent="0" marL="0">
              <a:buNone/>
            </a:pPr>
            <a:r>
              <a:rPr lang="en-US" sz="1250" b="1" dirty="0">
                <a:solidFill>
                  <a:schemeClr val="tx1"/>
                </a:solidFill>
              </a:rPr>
              <a:t>Performance  </a:t>
            </a:r>
            <a:pPr indent="0" marL="0">
              <a:buNone/>
            </a:pPr>
            <a:r>
              <a:rPr lang="en-US" sz="1250" dirty="0">
                <a:solidFill>
                  <a:schemeClr val="tx2"/>
                </a:solidFill>
              </a:rPr>
              <a:t>nobody waits at peak time</a:t>
            </a:r>
            <a:endParaRPr lang="en-US" sz="1250" dirty="0"/>
          </a:p>
        </p:txBody>
      </p:sp>
      <p:sp>
        <p:nvSpPr>
          <p:cNvPr id="19" name="Card"/>
          <p:cNvSpPr/>
          <p:nvPr/>
        </p:nvSpPr>
        <p:spPr>
          <a:xfrm>
            <a:off x="6327648" y="3547872"/>
            <a:ext cx="5056632" cy="438912"/>
          </a:xfrm>
          <a:prstGeom prst="roundRect">
            <a:avLst>
              <a:gd name="adj" fmla="val 16667"/>
            </a:avLst>
          </a:prstGeom>
          <a:solidFill>
            <a:schemeClr val="bg1"/>
          </a:solidFill>
          <a:ln w="6350">
            <a:solidFill>
              <a:schemeClr val="accent4"/>
            </a:solidFill>
            <a:prstDash val="solid"/>
          </a:ln>
        </p:spPr>
      </p:sp>
      <p:sp>
        <p:nvSpPr>
          <p:cNvPr id="20" name="Text 18"/>
          <p:cNvSpPr txBox="1"/>
          <p:nvPr/>
        </p:nvSpPr>
        <p:spPr>
          <a:xfrm>
            <a:off x="6510528" y="3547872"/>
            <a:ext cx="4754880" cy="438912"/>
          </a:xfrm>
          <a:prstGeom prst="rect">
            <a:avLst/>
          </a:prstGeom>
          <a:noFill/>
          <a:ln/>
        </p:spPr>
        <p:txBody>
          <a:bodyPr wrap="square" lIns="0" tIns="0" rIns="0" bIns="0" rtlCol="0" anchor="ctr"/>
          <a:lstStyle/>
          <a:p>
            <a:pPr indent="0" marL="0">
              <a:buNone/>
            </a:pPr>
            <a:r>
              <a:rPr lang="en-US" sz="1250" b="1" dirty="0">
                <a:solidFill>
                  <a:schemeClr val="tx1"/>
                </a:solidFill>
              </a:rPr>
              <a:t>Availability, reliability  </a:t>
            </a:r>
            <a:pPr indent="0" marL="0">
              <a:buNone/>
            </a:pPr>
            <a:r>
              <a:rPr lang="en-US" sz="1250" dirty="0">
                <a:solidFill>
                  <a:schemeClr val="tx2"/>
                </a:solidFill>
              </a:rPr>
              <a:t>implicit</a:t>
            </a:r>
            <a:endParaRPr lang="en-US" sz="1250" dirty="0"/>
          </a:p>
        </p:txBody>
      </p:sp>
      <p:sp>
        <p:nvSpPr>
          <p:cNvPr id="21" name="Card"/>
          <p:cNvSpPr/>
          <p:nvPr/>
        </p:nvSpPr>
        <p:spPr>
          <a:xfrm>
            <a:off x="6327648" y="4059936"/>
            <a:ext cx="5056632" cy="438912"/>
          </a:xfrm>
          <a:prstGeom prst="roundRect">
            <a:avLst>
              <a:gd name="adj" fmla="val 16667"/>
            </a:avLst>
          </a:prstGeom>
          <a:solidFill>
            <a:schemeClr val="bg1"/>
          </a:solidFill>
          <a:ln w="6350">
            <a:solidFill>
              <a:schemeClr val="accent4"/>
            </a:solidFill>
            <a:prstDash val="solid"/>
          </a:ln>
        </p:spPr>
      </p:sp>
      <p:sp>
        <p:nvSpPr>
          <p:cNvPr id="22" name="Text 20"/>
          <p:cNvSpPr txBox="1"/>
          <p:nvPr/>
        </p:nvSpPr>
        <p:spPr>
          <a:xfrm>
            <a:off x="6510528" y="4059936"/>
            <a:ext cx="4754880" cy="438912"/>
          </a:xfrm>
          <a:prstGeom prst="rect">
            <a:avLst/>
          </a:prstGeom>
          <a:noFill/>
          <a:ln/>
        </p:spPr>
        <p:txBody>
          <a:bodyPr wrap="square" lIns="0" tIns="0" rIns="0" bIns="0" rtlCol="0" anchor="ctr"/>
          <a:lstStyle/>
          <a:p>
            <a:pPr indent="0" marL="0">
              <a:buNone/>
            </a:pPr>
            <a:r>
              <a:rPr lang="en-US" sz="1250" b="1" dirty="0">
                <a:solidFill>
                  <a:schemeClr val="tx1"/>
                </a:solidFill>
              </a:rPr>
              <a:t>Customizability  </a:t>
            </a:r>
            <a:pPr indent="0" marL="0">
              <a:buNone/>
            </a:pPr>
            <a:r>
              <a:rPr lang="en-US" sz="1250" dirty="0">
                <a:solidFill>
                  <a:schemeClr val="tx2"/>
                </a:solidFill>
              </a:rPr>
              <a:t>national + local specials, local directions</a:t>
            </a:r>
            <a:endParaRPr lang="en-US" sz="1250" dirty="0"/>
          </a:p>
        </p:txBody>
      </p:sp>
      <p:sp>
        <p:nvSpPr>
          <p:cNvPr id="23" name="Card"/>
          <p:cNvSpPr/>
          <p:nvPr/>
        </p:nvSpPr>
        <p:spPr>
          <a:xfrm>
            <a:off x="6327648" y="4572000"/>
            <a:ext cx="5056632" cy="438912"/>
          </a:xfrm>
          <a:prstGeom prst="roundRect">
            <a:avLst>
              <a:gd name="adj" fmla="val 16667"/>
            </a:avLst>
          </a:prstGeom>
          <a:solidFill>
            <a:schemeClr val="tx1"/>
          </a:solidFill>
          <a:ln w="6350">
            <a:solidFill>
              <a:schemeClr val="tx1"/>
            </a:solidFill>
            <a:prstDash val="solid"/>
          </a:ln>
        </p:spPr>
      </p:sp>
      <p:sp>
        <p:nvSpPr>
          <p:cNvPr id="24" name="Text 22"/>
          <p:cNvSpPr txBox="1"/>
          <p:nvPr/>
        </p:nvSpPr>
        <p:spPr>
          <a:xfrm>
            <a:off x="6510528" y="4572000"/>
            <a:ext cx="4754880" cy="438912"/>
          </a:xfrm>
          <a:prstGeom prst="rect">
            <a:avLst/>
          </a:prstGeom>
          <a:noFill/>
          <a:ln/>
        </p:spPr>
        <p:txBody>
          <a:bodyPr wrap="square" lIns="0" tIns="0" rIns="0" bIns="0" rtlCol="0" anchor="ctr"/>
          <a:lstStyle/>
          <a:p>
            <a:pPr indent="0" marL="0">
              <a:buNone/>
            </a:pPr>
            <a:r>
              <a:rPr lang="en-US" sz="1250" b="1" dirty="0">
                <a:solidFill>
                  <a:schemeClr val="bg2"/>
                </a:solidFill>
              </a:rPr>
              <a:t>Design only  </a:t>
            </a:r>
            <a:pPr indent="0" marL="0">
              <a:buNone/>
            </a:pPr>
            <a:r>
              <a:rPr lang="en-US" sz="1250" dirty="0">
                <a:solidFill>
                  <a:schemeClr val="accent5"/>
                </a:solidFill>
              </a:rPr>
              <a:t>payment security via a third party, i18n, usability</a:t>
            </a:r>
            <a:endParaRPr lang="en-US" sz="1250" dirty="0"/>
          </a:p>
        </p:txBody>
      </p:sp>
      <p:sp>
        <p:nvSpPr>
          <p:cNvPr id="25" name="Callout"/>
          <p:cNvSpPr/>
          <p:nvPr/>
        </p:nvSpPr>
        <p:spPr>
          <a:xfrm>
            <a:off x="813816" y="5193792"/>
            <a:ext cx="10570464" cy="640080"/>
          </a:xfrm>
          <a:prstGeom prst="roundRect">
            <a:avLst>
              <a:gd name="adj" fmla="val 8571"/>
            </a:avLst>
          </a:prstGeom>
          <a:solidFill>
            <a:schemeClr val="tx1"/>
          </a:solidFill>
          <a:ln w="6350">
            <a:solidFill>
              <a:schemeClr val="tx1"/>
            </a:solidFill>
            <a:prstDash val="solid"/>
          </a:ln>
        </p:spPr>
      </p:sp>
      <p:sp>
        <p:nvSpPr>
          <p:cNvPr id="26" name="Text 24"/>
          <p:cNvSpPr txBox="1"/>
          <p:nvPr/>
        </p:nvSpPr>
        <p:spPr>
          <a:xfrm>
            <a:off x="1069848" y="5193792"/>
            <a:ext cx="10058400" cy="640080"/>
          </a:xfrm>
          <a:prstGeom prst="rect">
            <a:avLst/>
          </a:prstGeom>
          <a:noFill/>
          <a:ln/>
        </p:spPr>
        <p:txBody>
          <a:bodyPr wrap="square" lIns="0" tIns="0" rIns="0" bIns="0" rtlCol="0" anchor="ctr"/>
          <a:lstStyle/>
          <a:p>
            <a:pPr indent="0" marL="0">
              <a:buNone/>
            </a:pPr>
            <a:r>
              <a:rPr lang="en-US" sz="1400" dirty="0">
                <a:solidFill>
                  <a:schemeClr val="bg2"/>
                </a:solidFill>
              </a:rPr>
              <a:t>Customizability: a microkernel style, or the Template Method pattern? Architecture or design is itself a trade-off. “There are no wrong answers in architecture, only expensive ones.”</a:t>
            </a:r>
            <a:endParaRPr lang="en-US" sz="1400" dirty="0"/>
          </a:p>
        </p:txBody>
      </p:sp>
      <p:sp>
        <p:nvSpPr>
          <p:cNvPr id="27" name="Text 25"/>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5, p. 68–75.</a:t>
            </a:r>
            <a:endParaRPr lang="en-US" sz="1100" dirty="0"/>
          </a:p>
        </p:txBody>
      </p:sp>
      <p:sp>
        <p:nvSpPr>
          <p:cNvPr id="28" name="Text 26"/>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27 / 32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SCALABILITY IS NOT ELASTICITY</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Many users, or many users at once?</a:t>
            </a:r>
            <a:endParaRPr lang="en-US" sz="3600" dirty="0"/>
          </a:p>
        </p:txBody>
      </p:sp>
      <p:sp>
        <p:nvSpPr>
          <p:cNvPr id="4" name="Card"/>
          <p:cNvSpPr/>
          <p:nvPr/>
        </p:nvSpPr>
        <p:spPr>
          <a:xfrm>
            <a:off x="813816" y="2011680"/>
            <a:ext cx="5175504" cy="3017520"/>
          </a:xfrm>
          <a:prstGeom prst="roundRect">
            <a:avLst>
              <a:gd name="adj" fmla="val 2424"/>
            </a:avLst>
          </a:prstGeom>
          <a:solidFill>
            <a:schemeClr val="bg1"/>
          </a:solidFill>
          <a:ln w="6350">
            <a:solidFill>
              <a:schemeClr val="accent4"/>
            </a:solidFill>
            <a:prstDash val="solid"/>
          </a:ln>
        </p:spPr>
      </p:sp>
      <p:pic>
        <p:nvPicPr>
          <p:cNvPr id="5" name="Image 0" descr="fig/richards-ford-fig5-1-scalability-p70.png">    </p:cNvPr>
          <p:cNvPicPr>
            <a:picLocks noChangeAspect="1"/>
          </p:cNvPicPr>
          <p:nvPr/>
        </p:nvPicPr>
        <p:blipFill>
          <a:blip r:embed="rId1"/>
          <a:stretch>
            <a:fillRect/>
          </a:stretch>
        </p:blipFill>
        <p:spPr>
          <a:xfrm>
            <a:off x="1709928" y="2121408"/>
            <a:ext cx="3383280" cy="2050657"/>
          </a:xfrm>
          <a:prstGeom prst="rect">
            <a:avLst/>
          </a:prstGeom>
        </p:spPr>
      </p:pic>
      <p:sp>
        <p:nvSpPr>
          <p:cNvPr id="6" name="Text 3"/>
          <p:cNvSpPr txBox="1"/>
          <p:nvPr/>
        </p:nvSpPr>
        <p:spPr>
          <a:xfrm>
            <a:off x="1069848" y="4270248"/>
            <a:ext cx="4663440" cy="685800"/>
          </a:xfrm>
          <a:prstGeom prst="rect">
            <a:avLst/>
          </a:prstGeom>
          <a:noFill/>
          <a:ln/>
        </p:spPr>
        <p:txBody>
          <a:bodyPr wrap="square" lIns="0" tIns="0" rIns="0" bIns="0" rtlCol="0" anchor="t"/>
          <a:lstStyle/>
          <a:p>
            <a:pPr indent="0" marL="0">
              <a:buNone/>
            </a:pPr>
            <a:r>
              <a:rPr lang="en-US" sz="1300" b="1" dirty="0">
                <a:solidFill>
                  <a:schemeClr val="tx1"/>
                </a:solidFill>
              </a:rPr>
              <a:t>Scalability  </a:t>
            </a:r>
            <a:pPr indent="0" marL="0">
              <a:buNone/>
            </a:pPr>
            <a:r>
              <a:rPr lang="en-US" sz="1300" dirty="0">
                <a:solidFill>
                  <a:schemeClr val="tx2"/>
                </a:solidFill>
              </a:rPr>
              <a:t>Performance holds as concurrent users grow. A hotel reservation system.</a:t>
            </a:r>
            <a:endParaRPr lang="en-US" sz="1300" dirty="0"/>
          </a:p>
        </p:txBody>
      </p:sp>
      <p:sp>
        <p:nvSpPr>
          <p:cNvPr id="7" name="Card"/>
          <p:cNvSpPr/>
          <p:nvPr/>
        </p:nvSpPr>
        <p:spPr>
          <a:xfrm>
            <a:off x="6208776" y="2011680"/>
            <a:ext cx="5175504" cy="3017520"/>
          </a:xfrm>
          <a:prstGeom prst="roundRect">
            <a:avLst>
              <a:gd name="adj" fmla="val 2424"/>
            </a:avLst>
          </a:prstGeom>
          <a:solidFill>
            <a:schemeClr val="bg1"/>
          </a:solidFill>
          <a:ln w="6350">
            <a:solidFill>
              <a:schemeClr val="accent4"/>
            </a:solidFill>
            <a:prstDash val="solid"/>
          </a:ln>
        </p:spPr>
      </p:sp>
      <p:pic>
        <p:nvPicPr>
          <p:cNvPr id="8" name="Image 1" descr="fig/richards-ford-fig5-2-elasticity-p71.png">    </p:cNvPr>
          <p:cNvPicPr>
            <a:picLocks noChangeAspect="1"/>
          </p:cNvPicPr>
          <p:nvPr/>
        </p:nvPicPr>
        <p:blipFill>
          <a:blip r:embed="rId2"/>
          <a:stretch>
            <a:fillRect/>
          </a:stretch>
        </p:blipFill>
        <p:spPr>
          <a:xfrm>
            <a:off x="7104888" y="2121408"/>
            <a:ext cx="3383280" cy="2067560"/>
          </a:xfrm>
          <a:prstGeom prst="rect">
            <a:avLst/>
          </a:prstGeom>
        </p:spPr>
      </p:pic>
      <p:sp>
        <p:nvSpPr>
          <p:cNvPr id="9" name="Text 5"/>
          <p:cNvSpPr txBox="1"/>
          <p:nvPr/>
        </p:nvSpPr>
        <p:spPr>
          <a:xfrm>
            <a:off x="6464808" y="4270248"/>
            <a:ext cx="4663440" cy="685800"/>
          </a:xfrm>
          <a:prstGeom prst="rect">
            <a:avLst/>
          </a:prstGeom>
          <a:noFill/>
          <a:ln/>
        </p:spPr>
        <p:txBody>
          <a:bodyPr wrap="square" lIns="0" tIns="0" rIns="0" bIns="0" rtlCol="0" anchor="t"/>
          <a:lstStyle/>
          <a:p>
            <a:pPr indent="0" marL="0">
              <a:buNone/>
            </a:pPr>
            <a:r>
              <a:rPr lang="en-US" sz="1300" b="1" dirty="0">
                <a:solidFill>
                  <a:schemeClr val="tx1"/>
                </a:solidFill>
              </a:rPr>
              <a:t>Elasticity  </a:t>
            </a:r>
            <a:pPr indent="0" marL="0">
              <a:buNone/>
            </a:pPr>
            <a:r>
              <a:rPr lang="en-US" sz="1300" dirty="0">
                <a:solidFill>
                  <a:schemeClr val="tx2"/>
                </a:solidFill>
              </a:rPr>
              <a:t>Withstands bursts. A concert ticket sale, or a sandwich shop at lunch.</a:t>
            </a:r>
            <a:endParaRPr lang="en-US" sz="1300" dirty="0"/>
          </a:p>
        </p:txBody>
      </p:sp>
      <p:sp>
        <p:nvSpPr>
          <p:cNvPr id="10" name="Callout"/>
          <p:cNvSpPr/>
          <p:nvPr/>
        </p:nvSpPr>
        <p:spPr>
          <a:xfrm>
            <a:off x="813816" y="5193792"/>
            <a:ext cx="10570464" cy="566928"/>
          </a:xfrm>
          <a:prstGeom prst="roundRect">
            <a:avLst>
              <a:gd name="adj" fmla="val 9677"/>
            </a:avLst>
          </a:prstGeom>
          <a:solidFill>
            <a:schemeClr val="tx1"/>
          </a:solidFill>
          <a:ln w="6350">
            <a:solidFill>
              <a:schemeClr val="tx1"/>
            </a:solidFill>
            <a:prstDash val="solid"/>
          </a:ln>
        </p:spPr>
      </p:sp>
      <p:sp>
        <p:nvSpPr>
          <p:cNvPr id="11" name="Text 7"/>
          <p:cNvSpPr txBox="1"/>
          <p:nvPr/>
        </p:nvSpPr>
        <p:spPr>
          <a:xfrm>
            <a:off x="1069848" y="5193792"/>
            <a:ext cx="10058400" cy="566928"/>
          </a:xfrm>
          <a:prstGeom prst="rect">
            <a:avLst/>
          </a:prstGeom>
          <a:noFill/>
          <a:ln/>
        </p:spPr>
        <p:txBody>
          <a:bodyPr wrap="square" lIns="0" tIns="0" rIns="0" bIns="0" rtlCol="0" anchor="ctr"/>
          <a:lstStyle/>
          <a:p>
            <a:pPr indent="0" marL="0">
              <a:buNone/>
            </a:pPr>
            <a:r>
              <a:rPr lang="en-US" sz="1400" dirty="0">
                <a:solidFill>
                  <a:schemeClr val="bg2"/>
                </a:solidFill>
              </a:rPr>
              <a:t>Often lumped together, with different constraints. Elastic systems usually need to scale too, not the other way round.</a:t>
            </a:r>
            <a:endParaRPr lang="en-US" sz="1400" dirty="0"/>
          </a:p>
        </p:txBody>
      </p:sp>
      <p:sp>
        <p:nvSpPr>
          <p:cNvPr id="12" name="Text 8"/>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5, p. 70–71, Figures 5-1 and 5-2.</a:t>
            </a:r>
            <a:endParaRPr lang="en-US" sz="1100" dirty="0"/>
          </a:p>
        </p:txBody>
      </p:sp>
      <p:sp>
        <p:nvSpPr>
          <p:cNvPr id="13" name="Text 9"/>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28 / 32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CASE · WHEN ELASTICITY IS NOT ENOUGH</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Ticketmaster: let them in at a rate</a:t>
            </a:r>
            <a:endParaRPr lang="en-US" sz="3600" dirty="0"/>
          </a:p>
        </p:txBody>
      </p:sp>
      <p:sp>
        <p:nvSpPr>
          <p:cNvPr id="4" name="Card"/>
          <p:cNvSpPr/>
          <p:nvPr/>
        </p:nvSpPr>
        <p:spPr>
          <a:xfrm>
            <a:off x="813816" y="2057400"/>
            <a:ext cx="3108960" cy="3017520"/>
          </a:xfrm>
          <a:prstGeom prst="roundRect">
            <a:avLst>
              <a:gd name="adj" fmla="val 2424"/>
            </a:avLst>
          </a:prstGeom>
          <a:solidFill>
            <a:schemeClr val="tx1"/>
          </a:solidFill>
          <a:ln w="6350">
            <a:solidFill>
              <a:schemeClr val="tx1"/>
            </a:solidFill>
            <a:prstDash val="solid"/>
          </a:ln>
        </p:spPr>
      </p:sp>
      <p:sp>
        <p:nvSpPr>
          <p:cNvPr id="5" name="Text 3"/>
          <p:cNvSpPr txBox="1"/>
          <p:nvPr/>
        </p:nvSpPr>
        <p:spPr>
          <a:xfrm>
            <a:off x="1024128" y="2194560"/>
            <a:ext cx="2743200" cy="914400"/>
          </a:xfrm>
          <a:prstGeom prst="rect">
            <a:avLst/>
          </a:prstGeom>
          <a:noFill/>
          <a:ln/>
        </p:spPr>
        <p:txBody>
          <a:bodyPr wrap="square" lIns="0" tIns="0" rIns="0" bIns="0" rtlCol="0" anchor="t"/>
          <a:lstStyle/>
          <a:p>
            <a:pPr indent="0" marL="0">
              <a:buNone/>
            </a:pPr>
            <a:r>
              <a:rPr lang="en-US" sz="5400" b="1" dirty="0">
                <a:solidFill>
                  <a:schemeClr val="accent2"/>
                </a:solidFill>
              </a:rPr>
              <a:t>3.5 bn</a:t>
            </a:r>
            <a:endParaRPr lang="en-US" sz="5400" dirty="0"/>
          </a:p>
        </p:txBody>
      </p:sp>
      <p:sp>
        <p:nvSpPr>
          <p:cNvPr id="6" name="Text 4"/>
          <p:cNvSpPr txBox="1"/>
          <p:nvPr/>
        </p:nvSpPr>
        <p:spPr>
          <a:xfrm>
            <a:off x="1024128" y="3200400"/>
            <a:ext cx="2697480" cy="1737360"/>
          </a:xfrm>
          <a:prstGeom prst="rect">
            <a:avLst/>
          </a:prstGeom>
          <a:noFill/>
          <a:ln/>
        </p:spPr>
        <p:txBody>
          <a:bodyPr wrap="square" lIns="0" tIns="0" rIns="0" bIns="0" rtlCol="0" anchor="t"/>
          <a:lstStyle/>
          <a:p>
            <a:pPr indent="0" marL="0">
              <a:buNone/>
            </a:pPr>
            <a:r>
              <a:rPr lang="en-US" sz="1400" dirty="0">
                <a:solidFill>
                  <a:schemeClr val="bg2"/>
                </a:solidFill>
              </a:rPr>
              <a:t>system requests in one presale, 4× the previous peak: Taylor Swift's Eras Tour, 15 Nov 2022.</a:t>
            </a:r>
            <a:endParaRPr lang="en-US" sz="1400" dirty="0"/>
          </a:p>
        </p:txBody>
      </p:sp>
      <p:sp>
        <p:nvSpPr>
          <p:cNvPr id="7" name="Card"/>
          <p:cNvSpPr/>
          <p:nvPr/>
        </p:nvSpPr>
        <p:spPr>
          <a:xfrm>
            <a:off x="4114800" y="2057400"/>
            <a:ext cx="3520440" cy="3017520"/>
          </a:xfrm>
          <a:prstGeom prst="roundRect">
            <a:avLst>
              <a:gd name="adj" fmla="val 2424"/>
            </a:avLst>
          </a:prstGeom>
          <a:solidFill>
            <a:schemeClr val="bg1"/>
          </a:solidFill>
          <a:ln w="6350">
            <a:solidFill>
              <a:schemeClr val="accent4"/>
            </a:solidFill>
            <a:prstDash val="solid"/>
          </a:ln>
        </p:spPr>
      </p:sp>
      <p:sp>
        <p:nvSpPr>
          <p:cNvPr id="8" name="Text 6"/>
          <p:cNvSpPr txBox="1"/>
          <p:nvPr/>
        </p:nvSpPr>
        <p:spPr>
          <a:xfrm>
            <a:off x="4370832" y="2313432"/>
            <a:ext cx="300837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Planned vs happened</a:t>
            </a:r>
            <a:endParaRPr lang="en-US" sz="1200" dirty="0"/>
          </a:p>
        </p:txBody>
      </p:sp>
      <p:sp>
        <p:nvSpPr>
          <p:cNvPr id="9" name="Text 7"/>
          <p:cNvSpPr txBox="1"/>
          <p:nvPr/>
        </p:nvSpPr>
        <p:spPr>
          <a:xfrm>
            <a:off x="4370832" y="2660904"/>
            <a:ext cx="3008376" cy="2231136"/>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1.5 million fans invited with codes, 2 million more on a waiting list. Bots and fans without codes flooded the site anyway: hours of queueing, lost places, and the general sale was cancelled. Bot traffic: 3× anything seen before.</a:t>
            </a:r>
            <a:endParaRPr lang="en-US" sz="1300" dirty="0"/>
          </a:p>
        </p:txBody>
      </p:sp>
      <p:sp>
        <p:nvSpPr>
          <p:cNvPr id="10" name="Card"/>
          <p:cNvSpPr/>
          <p:nvPr/>
        </p:nvSpPr>
        <p:spPr>
          <a:xfrm>
            <a:off x="7836408" y="2057400"/>
            <a:ext cx="3547872" cy="3017520"/>
          </a:xfrm>
          <a:prstGeom prst="roundRect">
            <a:avLst>
              <a:gd name="adj" fmla="val 2424"/>
            </a:avLst>
          </a:prstGeom>
          <a:solidFill>
            <a:schemeClr val="bg1"/>
          </a:solidFill>
          <a:ln w="6350">
            <a:solidFill>
              <a:schemeClr val="accent4"/>
            </a:solidFill>
            <a:prstDash val="solid"/>
          </a:ln>
        </p:spPr>
      </p:sp>
      <p:sp>
        <p:nvSpPr>
          <p:cNvPr id="11" name="Text 9"/>
          <p:cNvSpPr txBox="1"/>
          <p:nvPr/>
        </p:nvSpPr>
        <p:spPr>
          <a:xfrm>
            <a:off x="8092440" y="2313432"/>
            <a:ext cx="303580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The pattern: a waiting room</a:t>
            </a:r>
            <a:endParaRPr lang="en-US" sz="1200" dirty="0"/>
          </a:p>
        </p:txBody>
      </p:sp>
      <p:sp>
        <p:nvSpPr>
          <p:cNvPr id="12" name="Text 10"/>
          <p:cNvSpPr txBox="1"/>
          <p:nvPr/>
        </p:nvSpPr>
        <p:spPr>
          <a:xfrm>
            <a:off x="8092440" y="2660904"/>
            <a:ext cx="3035808" cy="2231136"/>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Everyone waits in a virtual queue; only a few hundred shop at once, admitted as places free up. Early arrivals can be shuffled at the start. Checkout sees a steady flow, not the burst.</a:t>
            </a:r>
            <a:endParaRPr lang="en-US" sz="1300" dirty="0"/>
          </a:p>
        </p:txBody>
      </p:sp>
      <p:sp>
        <p:nvSpPr>
          <p:cNvPr id="13" name="Callout"/>
          <p:cNvSpPr/>
          <p:nvPr/>
        </p:nvSpPr>
        <p:spPr>
          <a:xfrm>
            <a:off x="813816" y="5193792"/>
            <a:ext cx="10570464" cy="566928"/>
          </a:xfrm>
          <a:prstGeom prst="roundRect">
            <a:avLst>
              <a:gd name="adj" fmla="val 9677"/>
            </a:avLst>
          </a:prstGeom>
          <a:solidFill>
            <a:schemeClr val="tx1"/>
          </a:solidFill>
          <a:ln w="6350">
            <a:solidFill>
              <a:schemeClr val="tx1"/>
            </a:solidFill>
            <a:prstDash val="solid"/>
          </a:ln>
        </p:spPr>
      </p:sp>
      <p:sp>
        <p:nvSpPr>
          <p:cNvPr id="14" name="Text 12"/>
          <p:cNvSpPr txBox="1"/>
          <p:nvPr/>
        </p:nvSpPr>
        <p:spPr>
          <a:xfrm>
            <a:off x="1069848" y="5193792"/>
            <a:ext cx="10058400" cy="566928"/>
          </a:xfrm>
          <a:prstGeom prst="rect">
            <a:avLst/>
          </a:prstGeom>
          <a:noFill/>
          <a:ln/>
        </p:spPr>
        <p:txBody>
          <a:bodyPr wrap="square" lIns="0" tIns="0" rIns="0" bIns="0" rtlCol="0" anchor="ctr"/>
          <a:lstStyle/>
          <a:p>
            <a:pPr indent="0" marL="0">
              <a:buNone/>
            </a:pPr>
            <a:r>
              <a:rPr lang="en-US" sz="1400" dirty="0">
                <a:solidFill>
                  <a:schemeClr val="bg2"/>
                </a:solidFill>
              </a:rPr>
              <a:t>Instead of scaling everything to the peak, shape the peak: users wait longer, the system stays up. A trade-off, chosen on purpose.</a:t>
            </a:r>
            <a:endParaRPr lang="en-US" sz="1400" dirty="0"/>
          </a:p>
        </p:txBody>
      </p:sp>
      <p:sp>
        <p:nvSpPr>
          <p:cNvPr id="15" name="Text 1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Ticketmaster via NBC Chicago, 17 Nov 2022; Semafor, 24 Jan 2023; Ticketmaster Smart Queue guide; Queue-it docs.</a:t>
            </a:r>
            <a:endParaRPr lang="en-US" sz="1100" dirty="0"/>
          </a:p>
        </p:txBody>
      </p:sp>
      <p:sp>
        <p:nvSpPr>
          <p:cNvPr id="16" name="Text 1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29 / 32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TO READ</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Reading for this lecture</a:t>
            </a:r>
            <a:endParaRPr lang="en-US" sz="3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813816" y="2011680"/>
          <a:ext cx="10570464" cy="914400"/>
        </p:xfrm>
        <a:graphic>
          <a:graphicData uri="http://schemas.openxmlformats.org/drawingml/2006/table">
            <a:tbl>
              <a:tblPr/>
              <a:tblGrid>
                <a:gridCol w="2194560"/>
                <a:gridCol w="6729984"/>
                <a:gridCol w="1645920"/>
              </a:tblGrid>
              <a:tr h="347472">
                <a:tc>
                  <a:txBody>
                    <a:bodyPr/>
                    <a:lstStyle/>
                    <a:p>
                      <a:pPr indent="0" marL="0">
                        <a:buNone/>
                      </a:pPr>
                      <a:r>
                        <a:rPr lang="en-US" sz="1300" b="1" dirty="0">
                          <a:solidFill>
                            <a:schemeClr val="accent3"/>
                          </a:solidFill>
                          <a:latin typeface="IBM Plex Sans" pitchFamily="34" charset="0"/>
                          <a:ea typeface="IBM Plex Sans" pitchFamily="34" charset="-122"/>
                          <a:cs typeface="IBM Plex Sans" pitchFamily="34" charset="-120"/>
                        </a:rPr>
                        <a:t>Book</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latin typeface="IBM Plex Sans" pitchFamily="34" charset="0"/>
                          <a:ea typeface="IBM Plex Sans" pitchFamily="34" charset="-122"/>
                          <a:cs typeface="IBM Plex Sans" pitchFamily="34" charset="-120"/>
                        </a:rPr>
                        <a:t>Section</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latin typeface="IBM Plex Sans" pitchFamily="34" charset="0"/>
                          <a:ea typeface="IBM Plex Sans" pitchFamily="34" charset="-122"/>
                          <a:cs typeface="IBM Plex Sans" pitchFamily="34" charset="-120"/>
                        </a:rPr>
                        <a:t>Pages</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1"/>
                          </a:solidFill>
                          <a:latin typeface="IBM Plex Sans" pitchFamily="34" charset="0"/>
                          <a:ea typeface="IBM Plex Sans" pitchFamily="34" charset="-122"/>
                          <a:cs typeface="IBM Plex Sans" pitchFamily="34" charset="-120"/>
                        </a:rPr>
                        <a:t>Sommerville</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4.1 Functional and non-functional requirements</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105–111</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4.4 Requirements specification (4.4.1, 4.4.2, 4.4.4)</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120–124, 126</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4.5 Requirements validation · 4.6 Requirements change</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129–134</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8.3.1 Requirements-based testing</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245–246</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1"/>
                          </a:solidFill>
                          <a:latin typeface="IBM Plex Sans" pitchFamily="34" charset="0"/>
                          <a:ea typeface="IBM Plex Sans" pitchFamily="34" charset="-122"/>
                          <a:cs typeface="IBM Plex Sans" pitchFamily="34" charset="-120"/>
                        </a:rPr>
                        <a:t>Richards &amp; Ford</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Ch. 4 Architecture Characteristics Defined</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55–64</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Ch. 5 Identifying Architectural Characteristics</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65–76</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347472">
                <a:tc>
                  <a:txBody>
                    <a:bodyPr/>
                    <a:lstStyle/>
                    <a:p>
                      <a:pPr indent="0" marL="0">
                        <a:buNone/>
                      </a:pP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Ch. 23 Negotiating with Business Stakeholders</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IBM Plex Sans" pitchFamily="34" charset="0"/>
                          <a:ea typeface="IBM Plex Sans" pitchFamily="34" charset="-122"/>
                          <a:cs typeface="IBM Plex Sans" pitchFamily="34" charset="-120"/>
                        </a:rPr>
                        <a:t>348–350</a:t>
                      </a:r>
                      <a:endParaRPr lang="en-US" sz="1300" dirty="0">
                        <a:latin typeface="IBM Plex Sans" charset="0"/>
                        <a:ea typeface="IBM Plex Sans" charset="0"/>
                        <a:cs typeface="IBM Plex Sans" charset="0"/>
                      </a:endParaRPr>
                    </a:p>
                  </a:txBody>
                  <a:tcPr marL="101600" marR="101600" marT="25400" marB="25400"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813816" y="4983480"/>
            <a:ext cx="10570464" cy="548640"/>
          </a:xfrm>
          <a:prstGeom prst="rect">
            <a:avLst/>
          </a:prstGeom>
          <a:noFill/>
          <a:ln/>
        </p:spPr>
        <p:txBody>
          <a:bodyPr wrap="square" lIns="0" tIns="0" rIns="0" bIns="0" rtlCol="0" anchor="t"/>
          <a:lstStyle/>
          <a:p>
            <a:pPr indent="0" marL="0">
              <a:buNone/>
            </a:pPr>
            <a:r>
              <a:rPr lang="en-US" sz="1400" dirty="0">
                <a:solidFill>
                  <a:schemeClr val="tx2"/>
                </a:solidFill>
              </a:rPr>
              <a:t>These pages are what the quiz questions and the project rubric for specification and architecture characteristics are built on.</a:t>
            </a:r>
            <a:endParaRPr lang="en-US" sz="1400" dirty="0"/>
          </a:p>
        </p:txBody>
      </p:sp>
      <p:sp>
        <p:nvSpPr>
          <p:cNvPr id="6"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3</a:t>
            </a:r>
            <a:endParaRPr lang="en-US" sz="1100" dirty="0"/>
          </a:p>
        </p:txBody>
      </p:sp>
      <p:sp>
        <p:nvSpPr>
          <p:cNvPr id="7"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30 / 32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OPTIONAL · NOT GRADED</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latin typeface="IBM Plex Sans" pitchFamily="34" charset="0"/>
                <a:ea typeface="IBM Plex Sans" pitchFamily="34" charset="-122"/>
                <a:cs typeface="IBM Plex Sans" pitchFamily="34" charset="-120"/>
              </a:rPr>
              <a:t>Before workshop 1: the direction sheet</a:t>
            </a:r>
            <a:endParaRPr lang="en-US" sz="3600" dirty="0"/>
          </a:p>
        </p:txBody>
      </p:sp>
      <p:sp>
        <p:nvSpPr>
          <p:cNvPr id="4" name="Card"/>
          <p:cNvSpPr/>
          <p:nvPr/>
        </p:nvSpPr>
        <p:spPr>
          <a:xfrm>
            <a:off x="813816" y="2057400"/>
            <a:ext cx="5175504" cy="2834640"/>
          </a:xfrm>
          <a:prstGeom prst="roundRect">
            <a:avLst>
              <a:gd name="adj" fmla="val 2581"/>
            </a:avLst>
          </a:prstGeom>
          <a:solidFill>
            <a:schemeClr val="bg1"/>
          </a:solidFill>
          <a:ln w="6350">
            <a:solidFill>
              <a:schemeClr val="accent4"/>
            </a:solidFill>
            <a:prstDash val="solid"/>
          </a:ln>
        </p:spPr>
      </p:sp>
      <p:sp>
        <p:nvSpPr>
          <p:cNvPr id="5" name="Text 3"/>
          <p:cNvSpPr txBox="1"/>
          <p:nvPr/>
        </p:nvSpPr>
        <p:spPr>
          <a:xfrm>
            <a:off x="1069848" y="231343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Section 7 · after today</a:t>
            </a:r>
            <a:endParaRPr lang="en-US" sz="1200" dirty="0"/>
          </a:p>
        </p:txBody>
      </p:sp>
      <p:sp>
        <p:nvSpPr>
          <p:cNvPr id="6" name="Text 4"/>
          <p:cNvSpPr txBox="1"/>
          <p:nvPr/>
        </p:nvSpPr>
        <p:spPr>
          <a:xfrm>
            <a:off x="1069848" y="2660904"/>
            <a:ext cx="4663440" cy="365760"/>
          </a:xfrm>
          <a:prstGeom prst="rect">
            <a:avLst/>
          </a:prstGeom>
          <a:noFill/>
          <a:ln/>
        </p:spPr>
        <p:txBody>
          <a:bodyPr wrap="square" lIns="0" tIns="0" rIns="0" bIns="0" rtlCol="0" anchor="t"/>
          <a:lstStyle/>
          <a:p>
            <a:pPr indent="0" marL="0">
              <a:buNone/>
            </a:pPr>
            <a:r>
              <a:rPr lang="en-US" sz="2000" b="1" dirty="0">
                <a:solidFill>
                  <a:schemeClr val="tx1"/>
                </a:solidFill>
              </a:rPr>
              <a:t>5 to 10 candidate requirements</a:t>
            </a:r>
            <a:endParaRPr lang="en-US" sz="2000" dirty="0"/>
          </a:p>
        </p:txBody>
      </p:sp>
      <p:sp>
        <p:nvSpPr>
          <p:cNvPr id="7" name="Text 5"/>
          <p:cNvSpPr txBox="1"/>
          <p:nvPr/>
        </p:nvSpPr>
        <p:spPr>
          <a:xfrm>
            <a:off x="1069848" y="3136392"/>
            <a:ext cx="4663440" cy="1572768"/>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Priority: must, should, could, won't. Type: functional, product, organizational, external. Source and rationale. How you will check it: a test, or a measure with a threshold.</a:t>
            </a:r>
            <a:endParaRPr lang="en-US" sz="1400" dirty="0"/>
          </a:p>
        </p:txBody>
      </p:sp>
      <p:sp>
        <p:nvSpPr>
          <p:cNvPr id="8" name="Card"/>
          <p:cNvSpPr/>
          <p:nvPr/>
        </p:nvSpPr>
        <p:spPr>
          <a:xfrm>
            <a:off x="6208776" y="2057400"/>
            <a:ext cx="5175504" cy="2834640"/>
          </a:xfrm>
          <a:prstGeom prst="roundRect">
            <a:avLst>
              <a:gd name="adj" fmla="val 2581"/>
            </a:avLst>
          </a:prstGeom>
          <a:solidFill>
            <a:schemeClr val="tx1"/>
          </a:solidFill>
          <a:ln w="6350">
            <a:solidFill>
              <a:schemeClr val="tx1"/>
            </a:solidFill>
            <a:prstDash val="solid"/>
          </a:ln>
        </p:spPr>
      </p:sp>
      <p:sp>
        <p:nvSpPr>
          <p:cNvPr id="9" name="Text 7"/>
          <p:cNvSpPr txBox="1"/>
          <p:nvPr/>
        </p:nvSpPr>
        <p:spPr>
          <a:xfrm>
            <a:off x="6464808" y="2313432"/>
            <a:ext cx="466344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If you get this far</a:t>
            </a:r>
            <a:endParaRPr lang="en-US" sz="1200" dirty="0"/>
          </a:p>
        </p:txBody>
      </p:sp>
      <p:sp>
        <p:nvSpPr>
          <p:cNvPr id="10" name="Text 8"/>
          <p:cNvSpPr txBox="1"/>
          <p:nvPr/>
        </p:nvSpPr>
        <p:spPr>
          <a:xfrm>
            <a:off x="6464808" y="2660904"/>
            <a:ext cx="4663440" cy="685800"/>
          </a:xfrm>
          <a:prstGeom prst="rect">
            <a:avLst/>
          </a:prstGeom>
          <a:noFill/>
          <a:ln/>
        </p:spPr>
        <p:txBody>
          <a:bodyPr wrap="square" lIns="0" tIns="0" rIns="0" bIns="0" rtlCol="0" anchor="t"/>
          <a:lstStyle/>
          <a:p>
            <a:pPr indent="0" marL="0">
              <a:buNone/>
            </a:pPr>
            <a:r>
              <a:rPr lang="en-US" sz="2000" b="1" dirty="0">
                <a:solidFill>
                  <a:schemeClr val="bg2"/>
                </a:solidFill>
              </a:rPr>
              <a:t>Your top three architecture characteristics</a:t>
            </a:r>
            <a:endParaRPr lang="en-US" sz="2000" dirty="0"/>
          </a:p>
        </p:txBody>
      </p:sp>
      <p:sp>
        <p:nvSpPr>
          <p:cNvPr id="11" name="Text 9"/>
          <p:cNvSpPr txBox="1"/>
          <p:nvPr/>
        </p:nvSpPr>
        <p:spPr>
          <a:xfrm>
            <a:off x="6464808" y="3456432"/>
            <a:ext cx="4663440" cy="1252728"/>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Each with the requirement or domain concern it comes from. Implicit ones count.</a:t>
            </a:r>
            <a:endParaRPr lang="en-US" sz="1400" dirty="0"/>
          </a:p>
        </p:txBody>
      </p:sp>
      <p:sp>
        <p:nvSpPr>
          <p:cNvPr id="12" name="Callout"/>
          <p:cNvSpPr/>
          <p:nvPr/>
        </p:nvSpPr>
        <p:spPr>
          <a:xfrm>
            <a:off x="813816" y="5074920"/>
            <a:ext cx="10570464" cy="685800"/>
          </a:xfrm>
          <a:prstGeom prst="roundRect">
            <a:avLst>
              <a:gd name="adj" fmla="val 8000"/>
            </a:avLst>
          </a:prstGeom>
          <a:solidFill>
            <a:schemeClr val="tx1"/>
          </a:solidFill>
          <a:ln w="6350">
            <a:solidFill>
              <a:schemeClr val="tx1"/>
            </a:solidFill>
            <a:prstDash val="solid"/>
          </a:ln>
        </p:spPr>
      </p:sp>
      <p:sp>
        <p:nvSpPr>
          <p:cNvPr id="13" name="Text 11"/>
          <p:cNvSpPr txBox="1"/>
          <p:nvPr/>
        </p:nvSpPr>
        <p:spPr>
          <a:xfrm>
            <a:off x="1069848" y="5074920"/>
            <a:ext cx="10058400" cy="685800"/>
          </a:xfrm>
          <a:prstGeom prst="rect">
            <a:avLst/>
          </a:prstGeom>
          <a:noFill/>
          <a:ln/>
        </p:spPr>
        <p:txBody>
          <a:bodyPr wrap="square" lIns="0" tIns="0" rIns="0" bIns="0" rtlCol="0" anchor="ctr"/>
          <a:lstStyle/>
          <a:p>
            <a:pPr indent="0" marL="0">
              <a:buNone/>
            </a:pPr>
            <a:r>
              <a:rPr lang="en-US" sz="1400" dirty="0">
                <a:solidFill>
                  <a:schemeClr val="bg2"/>
                </a:solidFill>
              </a:rPr>
              <a:t>Workshop 1 · W5 · 26–30 Oct: we will post a calendar, and each team books its own slot in the 4-hour window, with Rareș and Petru. Bring DIRECTIE.md in your repository.</a:t>
            </a:r>
            <a:endParaRPr lang="en-US" sz="1400" dirty="0"/>
          </a:p>
        </p:txBody>
      </p:sp>
      <p:sp>
        <p:nvSpPr>
          <p:cNvPr id="14" name="Text 12"/>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3</a:t>
            </a:r>
            <a:endParaRPr lang="en-US" sz="1100" dirty="0"/>
          </a:p>
        </p:txBody>
      </p:sp>
      <p:sp>
        <p:nvSpPr>
          <p:cNvPr id="15" name="Text 13"/>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31 / 32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LECTURE 3 · W4</a:t>
            </a:r>
            <a:endParaRPr lang="en-US" sz="1200" dirty="0"/>
          </a:p>
        </p:txBody>
      </p:sp>
      <p:sp>
        <p:nvSpPr>
          <p:cNvPr id="3" name="Text 0"/>
          <p:cNvSpPr/>
          <p:nvPr>
            <p:ph idx="100" type="title" hasCustomPrompt="1"/>
          </p:nvPr>
        </p:nvSpPr>
        <p:spPr>
          <a:xfrm>
            <a:off x="813816" y="2468880"/>
            <a:ext cx="10881360" cy="1188720"/>
          </a:xfrm>
          <a:prstGeom prst="rect">
            <a:avLst/>
          </a:prstGeom>
          <a:noFill/>
          <a:ln/>
        </p:spPr>
        <p:txBody>
          <a:bodyPr wrap="square" lIns="0" tIns="0" rIns="0" bIns="0" rtlCol="0" anchor="t"/>
          <a:lstStyle/>
          <a:p>
            <a:pPr algn="l" indent="0" marL="0">
              <a:buNone/>
            </a:pPr>
            <a:r>
              <a:rPr lang="en-US" sz="5400" b="1" dirty="0">
                <a:solidFill>
                  <a:schemeClr val="bg2"/>
                </a:solidFill>
                <a:latin typeface="IBM Plex Sans" pitchFamily="34" charset="0"/>
                <a:ea typeface="IBM Plex Sans" pitchFamily="34" charset="-122"/>
                <a:cs typeface="IBM Plex Sans" pitchFamily="34" charset="-120"/>
              </a:rPr>
              <a:t>Questions?</a:t>
            </a:r>
            <a:endParaRPr lang="en-US" sz="5400" dirty="0"/>
          </a:p>
        </p:txBody>
      </p:sp>
      <p:sp>
        <p:nvSpPr>
          <p:cNvPr id="4" name="Text 2"/>
          <p:cNvSpPr txBox="1"/>
          <p:nvPr/>
        </p:nvSpPr>
        <p:spPr>
          <a:xfrm>
            <a:off x="813816" y="3794760"/>
            <a:ext cx="10881360" cy="731520"/>
          </a:xfrm>
          <a:prstGeom prst="rect">
            <a:avLst/>
          </a:prstGeom>
          <a:noFill/>
          <a:ln/>
        </p:spPr>
        <p:txBody>
          <a:bodyPr wrap="square" lIns="0" tIns="0" rIns="0" bIns="0" rtlCol="0" anchor="t"/>
          <a:lstStyle/>
          <a:p>
            <a:pPr indent="0" marL="0">
              <a:buNone/>
            </a:pPr>
            <a:r>
              <a:rPr lang="en-US" sz="2200" dirty="0">
                <a:solidFill>
                  <a:schemeClr val="accent5"/>
                </a:solidFill>
              </a:rPr>
              <a:t>Architecture continues in W6: styles, the LLM component, measuring characteristics.</a:t>
            </a:r>
            <a:endParaRPr lang="en-US" sz="2200" dirty="0"/>
          </a:p>
        </p:txBody>
      </p:sp>
      <p:sp>
        <p:nvSpPr>
          <p:cNvPr id="5" name="Text 3"/>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Software Engineering 2026–27 · Lecture 3</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32 / 32</a:t>
            </a:r>
            <a:endParaRPr lang="en-US" sz="1100" dirty="0"/>
          </a:p>
        </p:txBody>
      </p:sp>
    </p:spTree>
  </p:cSld>
  <p:clrMapOvr>
    <a:masterClrMapping/>
  </p:clrMapOvr>
</p:sld>
</file>

<file path=ppt/theme/theme1.xml><?xml version="1.0" encoding="utf-8"?>
<a:theme xmlns:a="http://schemas.openxmlformats.org/drawingml/2006/main" name="SE 2026-27">
  <a:themeElements>
    <a:clrScheme name="SE 2026-27">
      <a:dk1>
        <a:srgbClr val="101820"/>
      </a:dk1>
      <a:lt1>
        <a:srgbClr val="FFFDF8"/>
      </a:lt1>
      <a:dk2>
        <a:srgbClr val="46505C"/>
      </a:dk2>
      <a:lt2>
        <a:srgbClr val="F6F4EE"/>
      </a:lt2>
      <a:accent1>
        <a:srgbClr val="B8400A"/>
      </a:accent1>
      <a:accent2>
        <a:srgbClr val="FFB454"/>
      </a:accent2>
      <a:accent3>
        <a:srgbClr val="5F6B77"/>
      </a:accent3>
      <a:accent4>
        <a:srgbClr val="D9D3C5"/>
      </a:accent4>
      <a:accent5>
        <a:srgbClr val="B9C4CF"/>
      </a:accent5>
      <a:accent6>
        <a:srgbClr val="ECE8DD"/>
      </a:accent6>
      <a:hlink>
        <a:srgbClr val="B8400A"/>
      </a:hlink>
      <a:folHlink>
        <a:srgbClr val="5F6B77"/>
      </a:folHlink>
    </a:clrScheme>
    <a:fontScheme name="SE 2026-27">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85DF9904942542B875D072E27B4714" ma:contentTypeVersion="3" ma:contentTypeDescription="Create a new document." ma:contentTypeScope="" ma:versionID="8250e6376b3912942418301e7a2f30e3">
  <xsd:schema xmlns:xsd="http://www.w3.org/2001/XMLSchema" xmlns:xs="http://www.w3.org/2001/XMLSchema" xmlns:p="http://schemas.microsoft.com/office/2006/metadata/properties" xmlns:ns2="1e1288f1-694e-4aca-9a4c-52a213d010cd" targetNamespace="http://schemas.microsoft.com/office/2006/metadata/properties" ma:root="true" ma:fieldsID="baa1eb851d8289e3719488fa6df9a8d1" ns2:_="">
    <xsd:import namespace="1e1288f1-694e-4aca-9a4c-52a213d010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1288f1-694e-4aca-9a4c-52a213d01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4419E0-9594-403D-9F2A-AED0F4C2EC55}"/>
</file>

<file path=customXml/itemProps2.xml><?xml version="1.0" encoding="utf-8"?>
<ds:datastoreItem xmlns:ds="http://schemas.openxmlformats.org/officeDocument/2006/customXml" ds:itemID="{CB3DE9AC-40B6-4142-ADEC-D7AFEBC6CDB5}"/>
</file>

<file path=customXml/itemProps3.xml><?xml version="1.0" encoding="utf-8"?>
<ds:datastoreItem xmlns:ds="http://schemas.openxmlformats.org/officeDocument/2006/customXml" ds:itemID="{3055873E-8CB6-4ADB-82D2-7186BE6562A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2026–27 — Lecture 3</dc:title>
  <dc:subject>PptxGenJS Presentation</dc:subject>
  <dc:creator>Rareș Cristea</dc:creator>
  <cp:lastModifiedBy>Rareș Cristea</cp:lastModifiedBy>
  <cp:revision>1</cp:revision>
  <dcterms:created xsi:type="dcterms:W3CDTF">2026-10-18T18:57:13Z</dcterms:created>
  <dcterms:modified xsi:type="dcterms:W3CDTF">2026-10-18T18:57:13Z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0x010100A185DF9904942542B875D072E27B4714</vt:lpwstr>
  </property>
</Properties>
</file>