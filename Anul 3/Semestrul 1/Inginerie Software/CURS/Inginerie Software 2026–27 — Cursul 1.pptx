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D31C44-9AAA-F04F-8899-3A4B021D3071}" v="3" dt="2026-10-05T10:58:00.2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56"/>
    <p:restoredTop sz="96266"/>
  </p:normalViewPr>
  <p:slideViewPr>
    <p:cSldViewPr snapToGrid="0" snapToObjects="1">
      <p:cViewPr varScale="1">
        <p:scale>
          <a:sx n="122" d="100"/>
          <a:sy n="122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Relationship Id="rId30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res Cristea" userId="f9d253b3ed5feb74" providerId="LiveId" clId="{C4B632BC-AE1B-534C-967E-75DA383991FD}"/>
    <pc:docChg chg="modSld sldOrd">
      <pc:chgData name="Rares Cristea" userId="f9d253b3ed5feb74" providerId="LiveId" clId="{C4B632BC-AE1B-534C-967E-75DA383991FD}" dt="2026-10-08T08:23:38.861" v="82" actId="20577"/>
      <pc:docMkLst>
        <pc:docMk/>
      </pc:docMkLst>
      <pc:sldChg chg="modSp mod ord">
        <pc:chgData name="Rares Cristea" userId="f9d253b3ed5feb74" providerId="LiveId" clId="{C4B632BC-AE1B-534C-967E-75DA383991FD}" dt="2026-10-05T10:44:31.864" v="6" actId="20578"/>
        <pc:sldMkLst>
          <pc:docMk/>
          <pc:sldMk cId="0" sldId="263"/>
        </pc:sldMkLst>
        <pc:graphicFrameChg chg="modGraphic">
          <ac:chgData name="Rares Cristea" userId="f9d253b3ed5feb74" providerId="LiveId" clId="{C4B632BC-AE1B-534C-967E-75DA383991FD}" dt="2026-10-05T10:44:20.800" v="5" actId="20577"/>
          <ac:graphicFrameMkLst>
            <pc:docMk/>
            <pc:sldMk cId="0" sldId="263"/>
            <ac:graphicFrameMk id="4" creationId="{00000000-0000-0000-0000-000000000000}"/>
          </ac:graphicFrameMkLst>
        </pc:graphicFrameChg>
      </pc:sldChg>
      <pc:sldChg chg="addSp modSp mod">
        <pc:chgData name="Rares Cristea" userId="f9d253b3ed5feb74" providerId="LiveId" clId="{C4B632BC-AE1B-534C-967E-75DA383991FD}" dt="2026-10-05T10:58:19.227" v="80" actId="20577"/>
        <pc:sldMkLst>
          <pc:docMk/>
          <pc:sldMk cId="0" sldId="264"/>
        </pc:sldMkLst>
        <pc:spChg chg="mod">
          <ac:chgData name="Rares Cristea" userId="f9d253b3ed5feb74" providerId="LiveId" clId="{C4B632BC-AE1B-534C-967E-75DA383991FD}" dt="2026-10-05T10:56:57.395" v="47" actId="20577"/>
          <ac:spMkLst>
            <pc:docMk/>
            <pc:sldMk cId="0" sldId="264"/>
            <ac:spMk id="5" creationId="{00000000-0000-0000-0000-000000000000}"/>
          </ac:spMkLst>
        </pc:spChg>
        <pc:spChg chg="mod">
          <ac:chgData name="Rares Cristea" userId="f9d253b3ed5feb74" providerId="LiveId" clId="{C4B632BC-AE1B-534C-967E-75DA383991FD}" dt="2026-10-05T10:56:00.524" v="46" actId="20577"/>
          <ac:spMkLst>
            <pc:docMk/>
            <pc:sldMk cId="0" sldId="264"/>
            <ac:spMk id="13" creationId="{00000000-0000-0000-0000-000000000000}"/>
          </ac:spMkLst>
        </pc:spChg>
        <pc:spChg chg="mod">
          <ac:chgData name="Rares Cristea" userId="f9d253b3ed5feb74" providerId="LiveId" clId="{C4B632BC-AE1B-534C-967E-75DA383991FD}" dt="2026-10-05T10:58:19.227" v="80" actId="20577"/>
          <ac:spMkLst>
            <pc:docMk/>
            <pc:sldMk cId="0" sldId="264"/>
            <ac:spMk id="18" creationId="{00000000-0000-0000-0000-000000000000}"/>
          </ac:spMkLst>
        </pc:spChg>
        <pc:picChg chg="add mod">
          <ac:chgData name="Rares Cristea" userId="f9d253b3ed5feb74" providerId="LiveId" clId="{C4B632BC-AE1B-534C-967E-75DA383991FD}" dt="2026-10-05T10:57:10.236" v="52" actId="14100"/>
          <ac:picMkLst>
            <pc:docMk/>
            <pc:sldMk cId="0" sldId="264"/>
            <ac:picMk id="26" creationId="{FC74BAE8-604C-BACD-B5B5-26BB2E0CB160}"/>
          </ac:picMkLst>
        </pc:picChg>
        <pc:picChg chg="add mod">
          <ac:chgData name="Rares Cristea" userId="f9d253b3ed5feb74" providerId="LiveId" clId="{C4B632BC-AE1B-534C-967E-75DA383991FD}" dt="2026-10-05T10:57:44.910" v="56" actId="14100"/>
          <ac:picMkLst>
            <pc:docMk/>
            <pc:sldMk cId="0" sldId="264"/>
            <ac:picMk id="27" creationId="{7B60D5B8-E0D2-AECB-0577-B5A5B39A87CD}"/>
          </ac:picMkLst>
        </pc:picChg>
        <pc:picChg chg="add mod">
          <ac:chgData name="Rares Cristea" userId="f9d253b3ed5feb74" providerId="LiveId" clId="{C4B632BC-AE1B-534C-967E-75DA383991FD}" dt="2026-10-05T10:58:08.209" v="60" actId="14100"/>
          <ac:picMkLst>
            <pc:docMk/>
            <pc:sldMk cId="0" sldId="264"/>
            <ac:picMk id="28" creationId="{EFEC7FE3-B9FF-39B0-8561-6B96D64E0A6A}"/>
          </ac:picMkLst>
        </pc:picChg>
      </pc:sldChg>
      <pc:sldChg chg="modSp mod">
        <pc:chgData name="Rares Cristea" userId="f9d253b3ed5feb74" providerId="LiveId" clId="{C4B632BC-AE1B-534C-967E-75DA383991FD}" dt="2026-10-08T08:23:38.861" v="82" actId="20577"/>
        <pc:sldMkLst>
          <pc:docMk/>
          <pc:sldMk cId="0" sldId="267"/>
        </pc:sldMkLst>
        <pc:spChg chg="mod">
          <ac:chgData name="Rares Cristea" userId="f9d253b3ed5feb74" providerId="LiveId" clId="{C4B632BC-AE1B-534C-967E-75DA383991FD}" dt="2026-10-08T08:23:38.861" v="82" actId="20577"/>
          <ac:spMkLst>
            <pc:docMk/>
            <pc:sldMk cId="0" sldId="267"/>
            <ac:spMk id="4" creationId="{00000000-0000-0000-0000-000000000000}"/>
          </ac:spMkLst>
        </pc:spChg>
      </pc:sldChg>
      <pc:sldChg chg="modSp mod">
        <pc:chgData name="Rares Cristea" userId="f9d253b3ed5feb74" providerId="LiveId" clId="{C4B632BC-AE1B-534C-967E-75DA383991FD}" dt="2026-10-05T10:45:32.534" v="20" actId="20577"/>
        <pc:sldMkLst>
          <pc:docMk/>
          <pc:sldMk cId="0" sldId="269"/>
        </pc:sldMkLst>
        <pc:spChg chg="mod">
          <ac:chgData name="Rares Cristea" userId="f9d253b3ed5feb74" providerId="LiveId" clId="{C4B632BC-AE1B-534C-967E-75DA383991FD}" dt="2026-10-05T10:45:32.534" v="20" actId="20577"/>
          <ac:spMkLst>
            <pc:docMk/>
            <pc:sldMk cId="0" sldId="269"/>
            <ac:spMk id="3" creationId="{00000000-0000-0000-0000-000000000000}"/>
          </ac:spMkLst>
        </pc:spChg>
      </pc:sldChg>
      <pc:sldChg chg="modSp mod">
        <pc:chgData name="Rares Cristea" userId="f9d253b3ed5feb74" providerId="LiveId" clId="{C4B632BC-AE1B-534C-967E-75DA383991FD}" dt="2026-10-08T08:23:18.269" v="81" actId="20577"/>
        <pc:sldMkLst>
          <pc:docMk/>
          <pc:sldMk cId="0" sldId="274"/>
        </pc:sldMkLst>
        <pc:spChg chg="mod">
          <ac:chgData name="Rares Cristea" userId="f9d253b3ed5feb74" providerId="LiveId" clId="{C4B632BC-AE1B-534C-967E-75DA383991FD}" dt="2026-10-08T08:23:18.269" v="81" actId="20577"/>
          <ac:spMkLst>
            <pc:docMk/>
            <pc:sldMk cId="0" sldId="274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1599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Bun venit. Azi e mai ales despre cum funcționează cursul, dar pornim de la întrebarea de pe slide: e firul roșu al întregului semestru.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Machetă ilustrativă: de înlocuit cu un PR real din proiectul demo al cursului, când va exista. Cere un vot cu mâna: cine face merge? Apoi arată ce au ratat testele. Ideea: totul e verde pe ecran și PR-ul tot nu e de acceptat.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Când același agent scrie și codul, și testele, amândouă pot pleca de la aceeași neînțelegere. Cineva tot trebuie să decidă dacă asta s-a cerut. Acel cineva e omul care aprobă și face merge.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Aceleași șase etape din SDLC pe care le știți. Scrisul codului a devenit ieftin; analiza, testabilitatea, review-ul și mentenanța au rămas în urmă și primesc mai mult de dus. Rândurile de sus sunt o schemă, nu date. Cifrele de jos sunt dintr-un singur studiu (METR, iulie 2025): dezvoltatori cu experiență, pe propriile repo-uri, cu Cursor Pro și Claude 3.5/3.7 Sonnet. Se așteptau la un spor, au simțit un spor și au fost măsurabil mai lenți. Lecția e despre percepție versus măsurare, nu o lege a naturii; uneltele s-au schimbat de atunci.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Teza: oricât de bun ar fi codul generat, rămâne o bucată de răspundere umană care nu se poate elimina. Medicină: nouă experimente în Journal of Consumer Research; oamenii simt că un sistem automat le ignoră particularitățile și acceptă mai ușor AI-ul când decizia finală e a unui medic. Drept: sancțiune din 22 iunie 2023, tribunal federal din New York; avocatul răspunde pentru ce semnează. Software: noua directivă privind răspunderea pentru produse tratează software-ul ca produs. „Algorithm aversion”: studiu din Journal of Experimental Psychology despre prognoze, nu despre chirurgie. Atenție: nu există dovezi că oamenii se tem de chirurgi-roboți cu o rată de eșec mai mică; roboții chirurgicali de azi sunt controlați de chirurg.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repetăm MDS: fără introducere în agenți, fără UML, Scrum sau git de bază. Știți deja să produceți cod cu AI. Aici exersați să judecați ce s-a produs.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Aceleași trei cuvinte sunt criteriile de la prezentarea finală a proiectului: a rămas sistemul corect, sigur și mentenabil?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 examinatori: amândoi suntem prezenți la prezentarea finală a fiecărei echipe. Mentorii nu sunt încă confirmați; până atunci, orele de proiect sunt cu noi. De completat: fotografiile și experiența profesională a fiecăruia.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Spus direct: sfaturile de anul trecut despre cum se strâng punctele nu se mai aplică. Nu mai sunt puncte de prezență la curs. Jumătate din notă e individuală: o întrebare la oral despre propria contribuție și un quiz dat în laborator. Rămâne la fel: lucrăm prin GitHub Classroom.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Primul curs e în săptămâna a doua de școală. Săptămâna cu 30 noiembrie și 1 decembrie cade dacă orarul ne pune luni sau marți; dacă ne pune joi sau vineri, cade în schimb săptămâna 13 (21–23 decembrie). În ambele cazuri sunt 13 întâlniri. Cursul de drept depinde de confirmarea invitatului.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 e un proiect de funcționalități. Echipa vine la atelierul 1 cu direcția în care duce proiectul, iar acolo o confirmăm; direcția confirmată e și plafonul. La final ne uităm la un singur lucru: după ce l-ați schimbat, sistemul a rămas corect, sigur și mentenabil?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GitHub Classroom ne dă acces garantat la fiecare repo. De ce licența: codul scris împreună la MDS aparține tuturor autorilor, deci toți trebuie să fie de acord cu refolosirea lui. Proiectul de rezervă e unul dintre cele mai bune de anul trecut (două-trei, dacă sunt multe echipe fără proiect). Nu e o scurtătură: e codul altcuiva, cu exact aceleași cerințe. După curs, vă puteți clona proiectul înapoi în conturile voastre.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Individuală înseamnă că un coleg prezent nu acoperă restul echipei. Penalizarea e pe punctajul de proiect al celui absent, nu pe al echipei: 5 puncte pe atelier, cel mult 15. Recuperarea prin întrebări suplimentare la quiz e încă în discuție. Cross-team review: repo-urile se alocă din timp, review-ul se scrie și se primește înainte de atelier, iar în sală se discută. Change request-ul e pregătit de noi pentru fiecare sistem în 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Jumătate din notă e proiectul echipei, jumătate e individuală. Două condiții de promovare, ambele obligatorii: 45 de puncte în total și cel puțin 25 din cele 50 de la proiect. Ce se reia la restanță se anunță la cursul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Amândoi examinatorii sunt prezenți la fiecare echipă. Nicio notă nu e dată de o unealtă: AI-ul pregătește întrebări, un profesor decide. Cine nu are nicio contribuție în repo primește întrebarea din modulul central al echipei.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Explicabil e partea care contează: poți explica, fără AI, orice schimbare pe care ai acceptat-o și orice decizie pe care ai luat-o. Despre unelte plătite, spus cinstit: un model mai scump poate face un audit sau un review mai bun. Nu putem egaliza accesul, dar scope-ul are plafon, volumul nu aduce puncte, iar jumătate din notă se ia fără nicio unealtă. Nu puneți secrete sau date personale ale altora în conturi AI de consum.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Formatul: unealta, ce a făcut, cât a intervenit omul (generat ca atare, editat, scris de mână și verificat cu AI, deloc). Mulți agenți adaugă singuri și o linie Co-Authored-By în commit; e în regulă, dar nu ține loc de linia AI-assisted. Cine nu folosește pull request-uri și merge-uri pune declarația în mesajele de commit. A declara mult e în regulă. Problema e să nu declari nimic și să nu-ți poți explica propriul cod.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Preferăm să petrecem semestrul predând, nu prinzând oameni. Designul face treaba: jumătatea individuală a notei vine din explicarea propriei contribuții și dintr-un quiz dat în laborator.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Cursul următor: cerințe verificabile, formularul de înscriere a echipelor și onboarding-ul pe GitHub Classroom. Tot atunci fixăm versiunea finală a regulilor de azi.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138561"/>
            <a:ext cx="10566400" cy="39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2138561"/>
            <a:ext cx="10566400" cy="3906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INGINERIE SOFTWARE · ANUL III · FMI-UB · 2026–27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359668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Cine răspunde când codul e generat?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545088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Cursul 1: disciplina, proiectul, regulile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 Cristea · Petru Soviyani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/ 19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 PULL REQUEST DESCHIS DE UN AGENT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face "</a:t>
            </a:r>
            <a:r>
              <a:rPr lang="en-US" sz="3600" b="1" i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merge"</a:t>
            </a: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10560050" cy="2491383"/>
          </a:xfrm>
          <a:prstGeom prst="roundRect">
            <a:avLst>
              <a:gd name="adj" fmla="val 39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398911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2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#482 Add pagination to search results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3150" y="2800152"/>
            <a:ext cx="10347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opened by coding-agent · 9 files changed · +214 −12</a:t>
            </a:r>
            <a:endParaRPr lang="en-US" sz="1200" dirty="0"/>
          </a:p>
        </p:txBody>
      </p:sp>
      <p:pic>
        <p:nvPicPr>
          <p:cNvPr id="7" name="Image 0" descr="lin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73150" y="3165872"/>
            <a:ext cx="10045700" cy="6350"/>
          </a:xfrm>
          <a:prstGeom prst="rect">
            <a:avLst/>
          </a:prstGeom>
        </p:spPr>
      </p:pic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3150" y="3334742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03350" y="3324622"/>
            <a:ext cx="12778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build: passed</a:t>
            </a:r>
            <a:endParaRPr lang="en-US" sz="14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3150" y="3735983"/>
            <a:ext cx="228600" cy="2286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03350" y="3725863"/>
            <a:ext cx="199751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 tests: 47 passed</a:t>
            </a:r>
            <a:endParaRPr lang="en-US" sz="1400" dirty="0"/>
          </a:p>
        </p:txBody>
      </p:sp>
      <p:pic>
        <p:nvPicPr>
          <p:cNvPr id="12" name="Image 3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73150" y="4137223"/>
            <a:ext cx="22860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03350" y="4127103"/>
            <a:ext cx="110525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lint: passed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Inginerie Software 2026–27 · Cursul 1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/ 19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17934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Testele verzi spun că codul e de acord cu testele lui.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408434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Nu spun că vreunul dintre ele face ce ai vrut tu.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Inginerie Software 2026–27 · Cursul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/ 19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SOFTWARE DEVELOPMENT LIFECYCLE, CU 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Implementarea s-a comprimat. Restul, nu.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420640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Înainte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238375" y="2226965"/>
            <a:ext cx="10858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381375" y="2226965"/>
            <a:ext cx="12128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51375" y="2226965"/>
            <a:ext cx="12128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21375" y="2226965"/>
            <a:ext cx="2863850" cy="600670"/>
          </a:xfrm>
          <a:prstGeom prst="roundRect">
            <a:avLst>
              <a:gd name="adj" fmla="val 7929"/>
            </a:avLst>
          </a:prstGeom>
          <a:solidFill>
            <a:srgbClr val="FFB454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11197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42375" y="2226965"/>
            <a:ext cx="12382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37775" y="2226965"/>
            <a:ext cx="12382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2800" y="3131840"/>
            <a:ext cx="14224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 AI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38375" y="2938165"/>
            <a:ext cx="10858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Analysis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1375" y="2938165"/>
            <a:ext cx="12128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51375" y="2938165"/>
            <a:ext cx="1212850" cy="600670"/>
          </a:xfrm>
          <a:prstGeom prst="roundRect">
            <a:avLst>
              <a:gd name="adj" fmla="val 792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Design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21375" y="2938165"/>
            <a:ext cx="704850" cy="600670"/>
          </a:xfrm>
          <a:prstGeom prst="roundRect">
            <a:avLst>
              <a:gd name="adj" fmla="val 7929"/>
            </a:avLst>
          </a:prstGeom>
          <a:solidFill>
            <a:srgbClr val="FFB454"/>
          </a:solidFill>
          <a:ln w="6350">
            <a:solidFill>
              <a:srgbClr val="D9D3C5"/>
            </a:solidFill>
            <a:prstDash val="solid"/>
          </a:ln>
        </p:spPr>
        <p:txBody>
          <a:bodyPr wrap="none" lIns="90826" tIns="179726" rIns="40026" bIns="154326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80200" y="2941340"/>
            <a:ext cx="2324100" cy="594320"/>
          </a:xfrm>
          <a:prstGeom prst="roundRect">
            <a:avLst>
              <a:gd name="adj" fmla="val 8548"/>
            </a:avLst>
          </a:prstGeom>
          <a:solidFill>
            <a:srgbClr val="101820"/>
          </a:solidFill>
          <a:ln/>
        </p:spPr>
        <p:txBody>
          <a:bodyPr wrap="none" lIns="86721" tIns="175621" rIns="23094" bIns="1502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Testing, review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055100" y="2941340"/>
            <a:ext cx="2324100" cy="594320"/>
          </a:xfrm>
          <a:prstGeom prst="roundRect">
            <a:avLst>
              <a:gd name="adj" fmla="val 8548"/>
            </a:avLst>
          </a:prstGeom>
          <a:solidFill>
            <a:srgbClr val="101820"/>
          </a:solidFill>
          <a:ln/>
        </p:spPr>
        <p:txBody>
          <a:bodyPr wrap="none" lIns="86721" tIns="175621" rIns="23094" bIns="150221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Maintenance, operare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12800" y="36957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Schemă, nu măsurătoare: timpul scos din scrisul codului se mută în verificare, integrare și întreținere.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15975" y="4194175"/>
            <a:ext cx="3378200" cy="1390650"/>
          </a:xfrm>
          <a:prstGeom prst="roundRect">
            <a:avLst>
              <a:gd name="adj" fmla="val 707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73150" y="4375150"/>
            <a:ext cx="294976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+24%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1073150" y="4928791"/>
            <a:ext cx="294976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 rapid: ce se așteptau dezvoltatorii înainte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403725" y="4194175"/>
            <a:ext cx="3378200" cy="1390650"/>
          </a:xfrm>
          <a:prstGeom prst="roundRect">
            <a:avLst>
              <a:gd name="adj" fmla="val 707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60900" y="4375150"/>
            <a:ext cx="2949766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+20%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660900" y="4928791"/>
            <a:ext cx="294976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 rapid: ce au crezut după ce au terminat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88300" y="4191000"/>
            <a:ext cx="3390900" cy="1397000"/>
          </a:xfrm>
          <a:prstGeom prst="roundRect">
            <a:avLst>
              <a:gd name="adj" fmla="val 7273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242300" y="4368800"/>
            <a:ext cx="2969387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FFB4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−19%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242300" y="4922441"/>
            <a:ext cx="29693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 lent: ce a măsurat cronometrul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Sursa cifrelor: METR (2025), studiu randomizat, 16 dezvoltatori open-source cu experiență, 246 de sarcini.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 / 19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CHIAR DACĂ SOFTWARE-UL GENERAT AR FI PERFECT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Răspunderea nu se poate genera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3378200" cy="2597150"/>
          </a:xfrm>
          <a:prstGeom prst="roundRect">
            <a:avLst>
              <a:gd name="adj" fmla="val 3790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294976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Medicină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894310"/>
            <a:ext cx="2949766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Pacienții evită AI-ul medical. Rezistența scade când AI-ul doar sprijină decizia, iar ea rămâne a unui medic.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435233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Longoni, Bonezzi, Morewedge, 2019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03725" y="2225675"/>
            <a:ext cx="3378200" cy="2597150"/>
          </a:xfrm>
          <a:prstGeom prst="roundRect">
            <a:avLst>
              <a:gd name="adj" fmla="val 3790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0900" y="2482850"/>
            <a:ext cx="294976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Drept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60900" y="2894310"/>
            <a:ext cx="29497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Avocați au depus în instanță cazuri inventate de ChatGPT. Amenda de 5.000 USD au primit-o ei.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0900" y="435233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Mata v. Avianca, New York, 2023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91475" y="2225675"/>
            <a:ext cx="3384550" cy="2597150"/>
          </a:xfrm>
          <a:prstGeom prst="roundRect">
            <a:avLst>
              <a:gd name="adj" fmla="val 3790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8650" y="2482850"/>
            <a:ext cx="295630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48650" y="2894310"/>
            <a:ext cx="295630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În UE, software-ul și sistemele AI devin „produse”: producătorul răspunde pentru defecte.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48650" y="4139009"/>
            <a:ext cx="295630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Directiva (UE) 2024/2853, transpunere până la 9 dec. 2026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12800" y="4978400"/>
            <a:ext cx="10566400" cy="553641"/>
          </a:xfrm>
          <a:prstGeom prst="roundRect">
            <a:avLst>
              <a:gd name="adj" fmla="val 18351"/>
            </a:avLst>
          </a:prstGeom>
          <a:solidFill>
            <a:srgbClr val="101820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Oamenii aleg adesea omul chiar după ce au văzut algoritmul prezicând mai bine decât el. (Dietvorst, Simmons, Massey, 2015)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Inginerie Software 2026–27 · Cursul 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 / 19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 LA MDS LA INGINERIE SOFTWARE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Anul trecut ați construit. Acum garantați.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5175250" cy="2660650"/>
          </a:xfrm>
          <a:prstGeom prst="roundRect">
            <a:avLst>
              <a:gd name="adj" fmla="val 369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MDS · anul II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823170"/>
            <a:ext cx="4800727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 construiești software în echipă, cu AI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620691"/>
            <a:ext cx="480072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Agenți, user stories, sprinturi, livrat funcționalități.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97600" y="2222500"/>
            <a:ext cx="5181600" cy="2667000"/>
          </a:xfrm>
          <a:prstGeom prst="roundRect">
            <a:avLst>
              <a:gd name="adj" fmla="val 3810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51600" y="24765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Inginerie Software · anul III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51600" y="2816820"/>
            <a:ext cx="4813808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 faci ca software-ul să rămână corect, sigur și mentenabil când codul e ieftin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451600" y="3949601"/>
            <a:ext cx="48138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Arhitectură și decizii, verificare, securitate, operarea și schimbarea unui sistem care există deja.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Inginerie Software 2026–27 · Cursul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6 / 19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B4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9137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10182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TREI ÎNTREBĂRI, TOT SEMESTRUL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19570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corect?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29095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sigur?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862090"/>
            <a:ext cx="10883392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300"/>
              </a:lnSpc>
              <a:buNone/>
            </a:pPr>
            <a:r>
              <a:rPr lang="en-US" sz="60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 mentenabil?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812800" y="481459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Fiecare curs, fiecare atelier și fiecare punct din notă răspunde la una dintre ele.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7 / 19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 CINE LUCRAȚI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Echipa de predare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5175250" cy="1657350"/>
          </a:xfrm>
          <a:prstGeom prst="roundRect">
            <a:avLst>
              <a:gd name="adj" fmla="val 593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25525" y="2435225"/>
            <a:ext cx="1174750" cy="1174750"/>
          </a:xfrm>
          <a:prstGeom prst="roundRect">
            <a:avLst>
              <a:gd name="adj" fmla="val 6216"/>
            </a:avLst>
          </a:prstGeom>
          <a:solidFill>
            <a:srgbClr val="ECE8DD"/>
          </a:solidFill>
          <a:ln w="6350">
            <a:solidFill>
              <a:srgbClr val="5F6B77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406650" y="2432050"/>
            <a:ext cx="34795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 Cristea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406650" y="2818110"/>
            <a:ext cx="3479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Titular · cursuri, ateliere, examinator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06650" y="3082230"/>
            <a:ext cx="34795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Architect și Tech Lead la Bookster. Director Transformare Digitală la UB.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00775" y="2225675"/>
            <a:ext cx="5175250" cy="1657350"/>
          </a:xfrm>
          <a:prstGeom prst="roundRect">
            <a:avLst>
              <a:gd name="adj" fmla="val 593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10325" y="2435225"/>
            <a:ext cx="1174750" cy="1174750"/>
          </a:xfrm>
          <a:prstGeom prst="roundRect">
            <a:avLst>
              <a:gd name="adj" fmla="val 6216"/>
            </a:avLst>
          </a:prstGeom>
          <a:solidFill>
            <a:srgbClr val="ECE8DD"/>
          </a:solidFill>
          <a:ln w="6350">
            <a:solidFill>
              <a:srgbClr val="5F6B77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Foto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91450" y="2432050"/>
            <a:ext cx="34795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Petru Soviyani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91450" y="2818110"/>
            <a:ext cx="3479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cursuri · examinator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91450" y="3082230"/>
            <a:ext cx="3479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 End Senior Developer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5975" y="4003675"/>
            <a:ext cx="5175250" cy="1657350"/>
          </a:xfrm>
          <a:prstGeom prst="roundRect">
            <a:avLst>
              <a:gd name="adj" fmla="val 593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25525" y="4213225"/>
            <a:ext cx="1174750" cy="1174750"/>
          </a:xfrm>
          <a:prstGeom prst="roundRect">
            <a:avLst>
              <a:gd name="adj" fmla="val 6216"/>
            </a:avLst>
          </a:prstGeom>
          <a:solidFill>
            <a:srgbClr val="ECE8DD"/>
          </a:solidFill>
          <a:ln w="6350">
            <a:solidFill>
              <a:srgbClr val="5F6B77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Foto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06650" y="4210050"/>
            <a:ext cx="34795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Majeri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406650" y="4596110"/>
            <a:ext cx="3479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 invitat · DevOps și Kubernetes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06650" y="4860230"/>
            <a:ext cx="34795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Administrează centrul de calcul al Universității. PhD in Physics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00775" y="4003675"/>
            <a:ext cx="5175250" cy="1657350"/>
          </a:xfrm>
          <a:prstGeom prst="roundRect">
            <a:avLst>
              <a:gd name="adj" fmla="val 5939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410325" y="4213225"/>
            <a:ext cx="1174750" cy="1174750"/>
          </a:xfrm>
          <a:prstGeom prst="roundRect">
            <a:avLst>
              <a:gd name="adj" fmla="val 6216"/>
            </a:avLst>
          </a:prstGeom>
          <a:solidFill>
            <a:srgbClr val="ECE8DD"/>
          </a:solidFill>
          <a:ln w="6350">
            <a:solidFill>
              <a:srgbClr val="5F6B77"/>
            </a:solidFill>
            <a:prstDash val="dash"/>
          </a:ln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Foto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91450" y="4210050"/>
            <a:ext cx="347954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Mentori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791450" y="4596110"/>
            <a:ext cx="347954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Ore de proiect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91450" y="4860230"/>
            <a:ext cx="347954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Masteranzi care au făcut cursul anul trecut. Vor fi anunțați.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Inginerie Software 2026–27 · Cursul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 / 19</a:t>
            </a:r>
            <a:endParaRPr lang="en-US" sz="1200" dirty="0"/>
          </a:p>
        </p:txBody>
      </p:sp>
      <p:pic>
        <p:nvPicPr>
          <p:cNvPr id="26" name="Picture 25" descr="Profile image">
            <a:extLst>
              <a:ext uri="{FF2B5EF4-FFF2-40B4-BE49-F238E27FC236}">
                <a16:creationId xmlns:a16="http://schemas.microsoft.com/office/drawing/2014/main" id="{FC74BAE8-604C-BACD-B5B5-26BB2E0CB1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760" y="2443460"/>
            <a:ext cx="1166515" cy="1166515"/>
          </a:xfrm>
          <a:prstGeom prst="rect">
            <a:avLst/>
          </a:prstGeom>
        </p:spPr>
      </p:pic>
      <p:pic>
        <p:nvPicPr>
          <p:cNvPr id="27" name="Picture 26" descr="Profile image">
            <a:extLst>
              <a:ext uri="{FF2B5EF4-FFF2-40B4-BE49-F238E27FC236}">
                <a16:creationId xmlns:a16="http://schemas.microsoft.com/office/drawing/2014/main" id="{7B60D5B8-E0D2-AECB-0577-B5A5B39A8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6" y="2432282"/>
            <a:ext cx="1174750" cy="1174750"/>
          </a:xfrm>
          <a:prstGeom prst="rect">
            <a:avLst/>
          </a:prstGeom>
        </p:spPr>
      </p:pic>
      <p:pic>
        <p:nvPicPr>
          <p:cNvPr id="28" name="Picture 27" descr="Profile image">
            <a:extLst>
              <a:ext uri="{FF2B5EF4-FFF2-40B4-BE49-F238E27FC236}">
                <a16:creationId xmlns:a16="http://schemas.microsoft.com/office/drawing/2014/main" id="{EFEC7FE3-B9FF-39B0-8561-6B96D64E0A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760" y="4210050"/>
            <a:ext cx="1174750" cy="11747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DACĂ ȘTIȚI CURSUL DE LA COLEGII MAI MARI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s-a schimbat față de anul trecut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189405"/>
              </p:ext>
            </p:extLst>
          </p:nvPr>
        </p:nvGraphicFramePr>
        <p:xfrm>
          <a:off x="825500" y="2151261"/>
          <a:ext cx="10553700" cy="2701727"/>
        </p:xfrm>
        <a:graphic>
          <a:graphicData uri="http://schemas.openxmlformats.org/drawingml/2006/table">
            <a:tbl>
              <a:tblPr/>
              <a:tblGrid>
                <a:gridCol w="21107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21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Anul trecut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Anul acesta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Echipe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4–6 studenți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4–5 studenți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Proiect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continuare MDS sau proiect nou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continuarea proiectului de la MDS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Punctaj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80 proiect + 30 quiz, maximum 110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50 proiect + 30 oral + 20 quiz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Quiz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Kahoot la fiecare curs, cu puncte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unul singur, în laborator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Prezență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prin punctele de quiz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obligatorie la cele 3 ateliere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Individual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doar quiz-ul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întrebare la oral + quiz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8 / 19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HARTA SEMESTRULUI · S = SĂPTĂMÂNA DE ȘCOALĂ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întâlniri, dintre care 3 ateliere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41736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20750" y="224651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S2 · 5–9 oct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20750" y="2497931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Cursul și regulile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20750" y="272653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949575" y="2141736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054350" y="224651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S3 · 12–16 oct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054350" y="2497931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Cerințe verificabile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54350" y="272653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83175" y="2141736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187950" y="224651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S4 · 19–23 oct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87950" y="2497931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Arhitectură, LLM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87950" y="272653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13600" y="2138561"/>
            <a:ext cx="2032000" cy="909241"/>
          </a:xfrm>
          <a:prstGeom prst="roundRect">
            <a:avLst>
              <a:gd name="adj" fmla="val 8381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2240161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S5 · 26–30 oct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2491581"/>
            <a:ext cx="18836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Direcție și audit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0" y="2720181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Atelier obligatoriu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350375" y="2141736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55150" y="224651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S6 · 2–6 nov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455150" y="2497931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Decizii, datorie tehnică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455150" y="2726531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15975" y="315257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20750" y="325735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S7 · 9–13 nov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0750" y="3508772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Verificarea codului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0750" y="373737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Petru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949575" y="315257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054350" y="325735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S8 · 16–20 nov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54350" y="3508772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UI/UX, accesibilitate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54350" y="373737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Petru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80000" y="3149402"/>
            <a:ext cx="2032000" cy="909241"/>
          </a:xfrm>
          <a:prstGeom prst="roundRect">
            <a:avLst>
              <a:gd name="adj" fmla="val 8381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181600" y="3251002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S9 · 23–27 nov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181600" y="3502422"/>
            <a:ext cx="18836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Cross-team review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181600" y="3731022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Atelier obligatoriu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216775" y="315257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ECE8DD"/>
          </a:solidFill>
          <a:ln w="6350">
            <a:solidFill>
              <a:srgbClr val="5F6B77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321550" y="325735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S10 · 30 nov–4 dec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21550" y="3508772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Fără curs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321550" y="373737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Zile libere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350375" y="315257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9455150" y="325735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S11 · 7–11 dec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455150" y="3508772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Securitate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9455150" y="373737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Rareș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815975" y="416341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920750" y="426819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S12 · 14–18 dec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20750" y="4519613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DevOps, Kubernetes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0750" y="4748213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Gabriel Majeri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949575" y="416341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054350" y="426819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S13 · 21–23 dec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3054350" y="4519613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Drept: AI Act, licențe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054350" y="4748213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Invitat, de confirmat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080000" y="4160242"/>
            <a:ext cx="2032000" cy="909241"/>
          </a:xfrm>
          <a:prstGeom prst="roundRect">
            <a:avLst>
              <a:gd name="adj" fmla="val 8381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5181600" y="4261842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S14 · 11–15 ian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181600" y="4513263"/>
            <a:ext cx="1883664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change request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181600" y="4741863"/>
            <a:ext cx="188366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Atelier obligatoriu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7216775" y="4163417"/>
            <a:ext cx="2025650" cy="902891"/>
          </a:xfrm>
          <a:prstGeom prst="roundRect">
            <a:avLst>
              <a:gd name="adj" fmla="val 8088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7321550" y="4268192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S15 · 18–22 ian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7321550" y="4519613"/>
            <a:ext cx="1870583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Măsurare, recapitulare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321550" y="4748213"/>
            <a:ext cx="187058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Petru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9448800" y="4261842"/>
            <a:ext cx="1883664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Ziua exactă: după orar. Ordinea cursurilor se mai poate schimba.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Vacanță: 24 dec – 10 ian · Sesiune: 25 ian – 14 feb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 / 19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PROIECTUL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Continuați sistemul de la MDS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3378200" cy="2152650"/>
          </a:xfrm>
          <a:prstGeom prst="roundRect">
            <a:avLst>
              <a:gd name="adj" fmla="val 4572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Înțelegeți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772370"/>
            <a:ext cx="29497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Aflați ce este de fapt sistemul. Până la atelierul 1 aveți direcția în care îl duceți; la atelier o confirmăm.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3725" y="2225675"/>
            <a:ext cx="3378200" cy="2152650"/>
          </a:xfrm>
          <a:prstGeom prst="roundRect">
            <a:avLst>
              <a:gd name="adj" fmla="val 4572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0900" y="248285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Întăriți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660900" y="2772370"/>
            <a:ext cx="29497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Teste care pot pica, verificări în CI, probleme de securitate reparate, loguri din care se vede ce face.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1475" y="2225675"/>
            <a:ext cx="3384550" cy="2152650"/>
          </a:xfrm>
          <a:prstGeom prst="roundRect">
            <a:avLst>
              <a:gd name="adj" fmla="val 4572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48650" y="2482850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Schimbați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48650" y="2772370"/>
            <a:ext cx="295630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change request primit live la atelierul 3, făcut în siguranță, prin propriile voastre verificări.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12800" y="4584700"/>
            <a:ext cx="10566400" cy="802481"/>
          </a:xfrm>
          <a:prstGeom prst="roundRect">
            <a:avLst>
              <a:gd name="adj" fmla="val 12661"/>
            </a:avLst>
          </a:prstGeom>
          <a:solidFill>
            <a:srgbClr val="101820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 notează o singură dată, la prezentarea finală. Nu se dau puncte pe linii de cod, commit-uri sau funcționalități peste direcția confirmată.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11 / 19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ECHIPE ȘI REPOSITORY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Lucrăm prin GitHub Classroom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91032" y="2138561"/>
            <a:ext cx="6454648" cy="25138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Echipe de 4 sau 5, formate liber, și între grupe sau serii.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Repo-ul echipei se creează prin GitHub Classroom. Ce nu e în el nu există la evaluare.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Aduceți în el proiectul de la MDS, cu tot cu istoric. Onboarding-ul îl facem la cursul 2.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Echipa de la MDS s-a spart? Ambele echipe noi pot porni de la același cod.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Dacă proiectul de la MDS chiar nu poate fi continuat, verificăm noi asta și primiți ca bază un proiect bun de anul trecut.</a:t>
            </a:r>
            <a:endParaRPr lang="en-US" sz="1400" dirty="0"/>
          </a:p>
          <a:p>
            <a:pPr marL="175768" indent="-175768" algn="l">
              <a:lnSpc>
                <a:spcPts val="1960"/>
              </a:lnSpc>
              <a:buSzPct val="100000"/>
              <a:buChar char="•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Fiecare lucrează din contul propriu </a:t>
            </a:r>
            <a:r>
              <a:rPr lang="en-US" sz="140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GitHub.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569200" y="2222500"/>
            <a:ext cx="3810000" cy="2667000"/>
          </a:xfrm>
          <a:prstGeom prst="roundRect">
            <a:avLst>
              <a:gd name="adj" fmla="val 3810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823200" y="247650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Până duminică, 18 octombrie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823200" y="2791420"/>
            <a:ext cx="340106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Echipa înscrisă în formular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23200" y="3141861"/>
            <a:ext cx="340106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Repo-ul creat în Classroom, cu același nume de echipă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23200" y="3741142"/>
            <a:ext cx="340106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Licență open-source în repo, acceptată de toți coautorii de la MDS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12 / 19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PREZENȚĂ OBLIGATORIE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Cele trei ateliere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3378200" cy="2533650"/>
          </a:xfrm>
          <a:prstGeom prst="roundRect">
            <a:avLst>
              <a:gd name="adj" fmla="val 388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Săptămâna 5 · 26–30 oct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772370"/>
            <a:ext cx="294976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Direcție și audit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183830"/>
            <a:ext cx="29497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Veniți cu direcția în care duceți proiectul. La atelier o confirmăm.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3725" y="2225675"/>
            <a:ext cx="3378200" cy="2533650"/>
          </a:xfrm>
          <a:prstGeom prst="roundRect">
            <a:avLst>
              <a:gd name="adj" fmla="val 388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0900" y="2482850"/>
            <a:ext cx="29497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Săptămâna 9 · 23–27 nov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660900" y="2772370"/>
            <a:ext cx="294976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Cross-team review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0900" y="3183830"/>
            <a:ext cx="29497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Înainte de atelier faceți review altei echipe și îl primiți pe al vostru. La atelier le discutăm.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1475" y="2225675"/>
            <a:ext cx="3384550" cy="2533650"/>
          </a:xfrm>
          <a:prstGeom prst="roundRect">
            <a:avLst>
              <a:gd name="adj" fmla="val 388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8650" y="2482850"/>
            <a:ext cx="29563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Săptămâna 14 · 11–15 ian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48650" y="2772370"/>
            <a:ext cx="295630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change request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48650" y="3183830"/>
            <a:ext cx="295630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Primiți o cerere de schimbare pentru sistemul vostru, îi scrieți testele și o livrați în sală.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902200"/>
            <a:ext cx="10566400" cy="802481"/>
          </a:xfrm>
          <a:prstGeom prst="roundRect">
            <a:avLst>
              <a:gd name="adj" fmla="val 12661"/>
            </a:avLst>
          </a:prstGeom>
          <a:solidFill>
            <a:srgbClr val="101820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Prezența e individuală. Un atelier lipsă te costă 5 din cele 50 de puncte de proiect. Punctele se pot recupera prin întrebări suplimentare la quiz-ul final.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13 / 19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CE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NOTARE · 100 DE PUNCTE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Trei probe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3378200" cy="2470150"/>
          </a:xfrm>
          <a:prstGeom prst="roundRect">
            <a:avLst>
              <a:gd name="adj" fmla="val 398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294976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73150" y="3321050"/>
            <a:ext cx="294976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Proiect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73150" y="3732510"/>
            <a:ext cx="29497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 echipă. Prezentat o singură dată, în sesiune.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3725" y="2225675"/>
            <a:ext cx="3378200" cy="2470150"/>
          </a:xfrm>
          <a:prstGeom prst="roundRect">
            <a:avLst>
              <a:gd name="adj" fmla="val 398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0900" y="2482850"/>
            <a:ext cx="294976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30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4660900" y="3321050"/>
            <a:ext cx="294976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Oral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0900" y="3732510"/>
            <a:ext cx="294976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Individual. O întrebare despre contribuția 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1475" y="2225675"/>
            <a:ext cx="3384550" cy="2470150"/>
          </a:xfrm>
          <a:prstGeom prst="roundRect">
            <a:avLst>
              <a:gd name="adj" fmla="val 398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248650" y="2482850"/>
            <a:ext cx="2956306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8248650" y="3321050"/>
            <a:ext cx="2956306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Quiz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248650" y="3732510"/>
            <a:ext cx="2956306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Individual. Moodle, în laboratorul facultății, fără AI.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902200"/>
            <a:ext cx="10566400" cy="553641"/>
          </a:xfrm>
          <a:prstGeom prst="roundRect">
            <a:avLst>
              <a:gd name="adj" fmla="val 18351"/>
            </a:avLst>
          </a:prstGeom>
          <a:solidFill>
            <a:srgbClr val="101820"/>
          </a:solidFill>
          <a:ln/>
        </p:spPr>
        <p:txBody>
          <a:bodyPr wrap="square" lIns="224242" tIns="122642" rIns="0" bIns="97242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Promovezi cu minimum 45 de puncte în total, dintre care minimum 25 la proiect. Nu există punct din oficiu.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14 / 19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SESIUNE · 25 IANUARIE – 14 FEBRUARIE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Cum decurge evaluarea finală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5175250" cy="1581150"/>
          </a:xfrm>
          <a:prstGeom prst="roundRect">
            <a:avLst>
              <a:gd name="adj" fmla="val 622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Intervalul echipei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73150" y="2772370"/>
            <a:ext cx="480072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Echipa prezintă sistemul. Verificăm dacă a rămas corect, sigur și mentenabil.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2225675"/>
            <a:ext cx="5175250" cy="1581150"/>
          </a:xfrm>
          <a:prstGeom prst="roundRect">
            <a:avLst>
              <a:gd name="adj" fmla="val 622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57950" y="248285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Același interval, fiecare membru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57950" y="2772370"/>
            <a:ext cx="480072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 întrebare despre ceva la care ai contribuit, luată din repo. Răspunzi fără AI.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965575"/>
            <a:ext cx="5175250" cy="1581150"/>
          </a:xfrm>
          <a:prstGeom prst="roundRect">
            <a:avLst>
              <a:gd name="adj" fmla="val 6225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3150" y="4222750"/>
            <a:ext cx="480072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· Quiz-ul, în aceeași zi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73150" y="4512270"/>
            <a:ext cx="4800727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 așezi la un calculator din laborator, faci quiz-ul în Moodle, pleci. Un singur drum la facultate.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7600" y="3962400"/>
            <a:ext cx="5181600" cy="1587500"/>
          </a:xfrm>
          <a:prstGeom prst="roundRect">
            <a:avLst>
              <a:gd name="adj" fmla="val 6400"/>
            </a:avLst>
          </a:prstGeom>
          <a:solidFill>
            <a:srgbClr val="1018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51600" y="4216400"/>
            <a:ext cx="481380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Cum se scriu întrebările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51600" y="4505920"/>
            <a:ext cx="4813808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AI-ul propune întrebări pornind de la commit-urile tale. Un examinator alege, reformulează și notează.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15 / 19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POLITICA AI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Permis. Declarat. Explicabil.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51261"/>
          <a:ext cx="10553700" cy="2315766"/>
        </p:xfrm>
        <a:graphic>
          <a:graphicData uri="http://schemas.openxmlformats.org/drawingml/2006/table">
            <a:tbl>
              <a:tblPr/>
              <a:tblGrid>
                <a:gridCol w="35882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18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6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Unde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AI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6F4E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Condiție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Proiect: cod, teste, documente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Permis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Declarat în fiecare commit sau PR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de cod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Permis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Verdictul e al tău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Ateliere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Permis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Rezultatul se face în sală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Întrebarea de la oral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Indisponibil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Tu și repo-ul tău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Quiz-ul din laborator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Interzis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82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Calculatorul din laborator, doar Moodle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3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71827"/>
            <a:ext cx="1088339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model mai bun poate produce un proiect mai bun. De aceea 50 de puncte se dau fără unelte, iar la proiect notăm ce poți explica și apăra.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Reguli în lucru. Versiunea finală: la cursul 2.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16 / 19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CE ÎNSEAMNĂ „DECLARAT”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Atribuirea AI-ului, în trei locuri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10560050" cy="1200150"/>
          </a:xfrm>
          <a:prstGeom prst="roundRect">
            <a:avLst>
              <a:gd name="adj" fmla="val 820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06650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· Mesajul de commit: obligatoriu dacă nu lucrați cu pull request-uri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3150" y="2706291"/>
            <a:ext cx="10347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Add pagination to search results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73150" y="2970411"/>
            <a:ext cx="10347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AI-assisted: Claude Code · generated, then edited (fixed page boundary)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5975" y="3533775"/>
            <a:ext cx="10560050" cy="1200150"/>
          </a:xfrm>
          <a:prstGeom prst="roundRect">
            <a:avLst>
              <a:gd name="adj" fmla="val 820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3150" y="3714750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· Pull request: o linie în descriere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3150" y="4014391"/>
            <a:ext cx="10347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AI-assisted: Copilot · generated the adapter and its tests · edited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73150" y="4278511"/>
            <a:ext cx="10347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AI-assisted: none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5975" y="4841875"/>
            <a:ext cx="10560050" cy="882650"/>
          </a:xfrm>
          <a:prstGeom prst="roundRect">
            <a:avLst>
              <a:gd name="adj" fmla="val 11151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3150" y="5022850"/>
            <a:ext cx="1034707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· La predarea finală: declarația echipei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3150" y="5322491"/>
            <a:ext cx="1034707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unelte, pentru ce și ce ați schimbat în ce au produs.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Declarația nu se notează și nu se folosește împotriva ta. E contextul pentru întrebarea de la oral.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17 / 19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FFB45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FAIR PLAY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6F4E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Cinstit pentru toți, fără poliție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225675"/>
            <a:ext cx="3378200" cy="2660650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465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073150" y="2482850"/>
            <a:ext cx="311785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B4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Verificăm cu ce există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3150" y="2894310"/>
            <a:ext cx="29497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Orice afirmație care aduce un avantaj se verifică în repo sau la oral.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403725" y="2225675"/>
            <a:ext cx="3378200" cy="2660650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465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660900" y="2482850"/>
            <a:ext cx="311785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B4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Fără detectoare de AI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660900" y="2894310"/>
            <a:ext cx="294976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Fără detectoare și fără anchete. Dacă ne îndoim că ceva e al tău, te rugăm să explici.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991475" y="2225675"/>
            <a:ext cx="3384550" cy="2660650"/>
          </a:xfrm>
          <a:prstGeom prst="roundRect">
            <a:avLst>
              <a:gd name="adj" fmla="val 3699"/>
            </a:avLst>
          </a:prstGeom>
          <a:noFill/>
          <a:ln w="6350">
            <a:solidFill>
              <a:srgbClr val="4650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248650" y="2482850"/>
            <a:ext cx="2956306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B45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făcut merge, e al tău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48650" y="3229570"/>
            <a:ext cx="2956306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B9C4C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„L-a scris modelul” nu e un răspuns. Codul pe care l-ai aprobat e codul tău.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B9C4C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18 / 19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B8400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PÂNĂ LA CURSUL URMĂTOR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3309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aveți de făcut săptămâna asta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69652" y="2138561"/>
            <a:ext cx="6083598" cy="1020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97148" indent="-197148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Formați o echipă de 4 sau 5.</a:t>
            </a:r>
            <a:endParaRPr lang="en-US" sz="1400" dirty="0"/>
          </a:p>
          <a:p>
            <a:pPr marL="197148" indent="-197148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Alegeți proiectul de la MDS pe care îl continuați.</a:t>
            </a:r>
            <a:endParaRPr lang="en-US" sz="1400" dirty="0"/>
          </a:p>
          <a:p>
            <a:pPr marL="197148" indent="-197148" algn="l">
              <a:lnSpc>
                <a:spcPts val="1960"/>
              </a:lnSpc>
              <a:buSzPct val="100000"/>
              <a:buFontTx/>
              <a:buAutoNum type="arabicPeriod"/>
            </a:pPr>
            <a:r>
              <a:rPr lang="en-US" sz="1400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Cereți acordul tuturor coautorilor de la MDS pentru licența open-source.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91375" y="2225675"/>
            <a:ext cx="4184650" cy="2152650"/>
          </a:xfrm>
          <a:prstGeom prst="roundRect">
            <a:avLst>
              <a:gd name="adj" fmla="val 4572"/>
            </a:avLst>
          </a:prstGeom>
          <a:solidFill>
            <a:srgbClr val="FFFDF8"/>
          </a:solidFill>
          <a:ln w="6350">
            <a:solidFill>
              <a:srgbClr val="D9D3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48550" y="2482850"/>
            <a:ext cx="3780409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82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Blocați la proiect?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48550" y="2919710"/>
            <a:ext cx="3780409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6505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Veniți la orele de proiect din orar, cu repo-ul și o întrebare concretă. Până anunțăm mentorii, ne întrebați pe noi.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Inginerie Software 2026–27 · Cursul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12400" y="6238280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6B77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19 / 19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ginerie Software 2026–27 — Cursul 1">
  <a:themeElements>
    <a:clrScheme name="Inginerie Software 2026–27 — Cursul 1">
      <a:dk1>
        <a:srgbClr val="101820"/>
      </a:dk1>
      <a:lt1>
        <a:srgbClr val="F6F4EE"/>
      </a:lt1>
      <a:dk2>
        <a:srgbClr val="4A4F54"/>
      </a:dk2>
      <a:lt2>
        <a:srgbClr val="DFDED9"/>
      </a:lt2>
      <a:accent1>
        <a:srgbClr val="B8400A"/>
      </a:accent1>
      <a:accent2>
        <a:srgbClr val="FFB454"/>
      </a:accent2>
      <a:accent3>
        <a:srgbClr val="5F6B77"/>
      </a:accent3>
      <a:accent4>
        <a:srgbClr val="46505C"/>
      </a:accent4>
      <a:accent5>
        <a:srgbClr val="B9C4CF"/>
      </a:accent5>
      <a:accent6>
        <a:srgbClr val="9AA0A6"/>
      </a:accent6>
      <a:hlink>
        <a:srgbClr val="0563C1"/>
      </a:hlink>
      <a:folHlink>
        <a:srgbClr val="954F72"/>
      </a:folHlink>
    </a:clrScheme>
    <a:fontScheme name="Inginerie Software 2026–27 — Cursul 1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185DF9904942542B875D072E27B4714" ma:contentTypeVersion="3" ma:contentTypeDescription="Create a new document." ma:contentTypeScope="" ma:versionID="8250e6376b3912942418301e7a2f30e3">
  <xsd:schema xmlns:xsd="http://www.w3.org/2001/XMLSchema" xmlns:xs="http://www.w3.org/2001/XMLSchema" xmlns:p="http://schemas.microsoft.com/office/2006/metadata/properties" xmlns:ns2="1e1288f1-694e-4aca-9a4c-52a213d010cd" targetNamespace="http://schemas.microsoft.com/office/2006/metadata/properties" ma:root="true" ma:fieldsID="baa1eb851d8289e3719488fa6df9a8d1" ns2:_="">
    <xsd:import namespace="1e1288f1-694e-4aca-9a4c-52a213d010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1288f1-694e-4aca-9a4c-52a213d010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DFEF38-5CE9-4F39-86C6-36AE0F155C94}"/>
</file>

<file path=customXml/itemProps2.xml><?xml version="1.0" encoding="utf-8"?>
<ds:datastoreItem xmlns:ds="http://schemas.openxmlformats.org/officeDocument/2006/customXml" ds:itemID="{F5834DAD-64C3-44B1-9424-675F05A1AEF4}"/>
</file>

<file path=customXml/itemProps3.xml><?xml version="1.0" encoding="utf-8"?>
<ds:datastoreItem xmlns:ds="http://schemas.openxmlformats.org/officeDocument/2006/customXml" ds:itemID="{3D35499B-A486-462F-828A-210AC8463643}"/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2899</Words>
  <Application>Microsoft Macintosh PowerPoint</Application>
  <PresentationFormat>Widescreen</PresentationFormat>
  <Paragraphs>319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IBM Plex Sans</vt:lpstr>
      <vt:lpstr>JetBrains Mono</vt:lpstr>
      <vt:lpstr>Inginerie Software 2026–27 — Cursul 1</vt:lpstr>
      <vt:lpstr>Cine răspunde când codul e generat?</vt:lpstr>
      <vt:lpstr>Ai face "merge"?</vt:lpstr>
      <vt:lpstr>Testele verzi spun că codul e de acord cu testele lui.</vt:lpstr>
      <vt:lpstr>Implementarea s-a comprimat. Restul, nu.</vt:lpstr>
      <vt:lpstr>Răspunderea nu se poate genera</vt:lpstr>
      <vt:lpstr>Anul trecut ați construit. Acum garantați.</vt:lpstr>
      <vt:lpstr>PowerPoint Presentation</vt:lpstr>
      <vt:lpstr>Echipa de predare</vt:lpstr>
      <vt:lpstr>Ce s-a schimbat față de anul trecut</vt:lpstr>
      <vt:lpstr>13 întâlniri, dintre care 3 ateliere</vt:lpstr>
      <vt:lpstr>Continuați sistemul de la MDS</vt:lpstr>
      <vt:lpstr>Lucrăm prin GitHub Classroom</vt:lpstr>
      <vt:lpstr>Cele trei ateliere</vt:lpstr>
      <vt:lpstr>Trei probe</vt:lpstr>
      <vt:lpstr>Cum decurge evaluarea finală</vt:lpstr>
      <vt:lpstr>Permis. Declarat. Explicabil.</vt:lpstr>
      <vt:lpstr>Atribuirea AI-ului, în trei locuri</vt:lpstr>
      <vt:lpstr>Cinstit pentru toți, fără poliție</vt:lpstr>
      <vt:lpstr>Ce aveți de făcut săptămâna asta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Inginerie Software 2026–27 — Cursul 1</dc:title>
  <dc:subject/>
  <dc:creator/>
  <cp:lastModifiedBy>Rares Cristea</cp:lastModifiedBy>
  <cp:revision>1</cp:revision>
  <dcterms:created xsi:type="dcterms:W3CDTF">2026-10-03T18:00:49Z</dcterms:created>
  <dcterms:modified xsi:type="dcterms:W3CDTF">2026-10-08T08:23:41Z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0x010100A185DF9904942542B875D072E27B4714</vt:lpwstr>
  </property>
</Properties>
</file>